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9.jpg" ContentType="image/jpeg"/>
  <Override PartName="/ppt/media/image10.jpg" ContentType="image/jpeg"/>
  <Override PartName="/ppt/media/image17.jpg" ContentType="image/jpeg"/>
  <Override PartName="/ppt/media/image19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3"/>
  </p:notesMasterIdLst>
  <p:sldIdLst>
    <p:sldId id="256" r:id="rId2"/>
    <p:sldId id="292" r:id="rId3"/>
    <p:sldId id="293" r:id="rId4"/>
    <p:sldId id="294" r:id="rId5"/>
    <p:sldId id="295" r:id="rId6"/>
    <p:sldId id="296" r:id="rId7"/>
    <p:sldId id="297" r:id="rId8"/>
    <p:sldId id="298" r:id="rId9"/>
    <p:sldId id="299" r:id="rId10"/>
    <p:sldId id="257" r:id="rId11"/>
    <p:sldId id="259" r:id="rId12"/>
    <p:sldId id="260" r:id="rId13"/>
    <p:sldId id="261" r:id="rId14"/>
    <p:sldId id="262" r:id="rId15"/>
    <p:sldId id="263" r:id="rId16"/>
    <p:sldId id="515" r:id="rId17"/>
    <p:sldId id="51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501" r:id="rId29"/>
    <p:sldId id="275" r:id="rId30"/>
    <p:sldId id="499" r:id="rId31"/>
    <p:sldId id="276" r:id="rId32"/>
    <p:sldId id="502" r:id="rId33"/>
    <p:sldId id="277" r:id="rId34"/>
    <p:sldId id="498" r:id="rId35"/>
    <p:sldId id="500" r:id="rId36"/>
    <p:sldId id="278" r:id="rId37"/>
    <p:sldId id="279" r:id="rId38"/>
    <p:sldId id="281" r:id="rId39"/>
    <p:sldId id="289" r:id="rId40"/>
    <p:sldId id="290" r:id="rId41"/>
    <p:sldId id="291" r:id="rId42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92"/>
    <p:restoredTop sz="94694"/>
  </p:normalViewPr>
  <p:slideViewPr>
    <p:cSldViewPr>
      <p:cViewPr varScale="1">
        <p:scale>
          <a:sx n="107" d="100"/>
          <a:sy n="107" d="100"/>
        </p:scale>
        <p:origin x="1792" y="1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A4BE16-D347-0146-9EEF-19BC2CF84219}" type="datetimeFigureOut">
              <a:rPr lang="en-US" smtClean="0"/>
              <a:t>1/19/26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5D410E-B3BF-F346-B6E3-47A487898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324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5D410E-B3BF-F346-B6E3-47A487898D7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709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1" i="0">
                <a:solidFill>
                  <a:srgbClr val="00206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rgbClr val="292934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315"/>
              </a:lnSpc>
            </a:pPr>
            <a:r>
              <a:rPr spc="-10" dirty="0"/>
              <a:t>Fall</a:t>
            </a:r>
            <a:r>
              <a:rPr spc="-40" dirty="0"/>
              <a:t> </a:t>
            </a:r>
            <a:r>
              <a:rPr spc="-25" dirty="0"/>
              <a:t>2023</a:t>
            </a:r>
            <a:r>
              <a:rPr spc="-50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spc="-20" dirty="0"/>
              <a:t>University</a:t>
            </a:r>
            <a:r>
              <a:rPr spc="-4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10" dirty="0"/>
              <a:t>Virginia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©</a:t>
            </a:r>
            <a:r>
              <a:rPr spc="-50" dirty="0"/>
              <a:t> </a:t>
            </a:r>
            <a:r>
              <a:rPr spc="-65" dirty="0"/>
              <a:t>Praphamontripong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1" i="0">
                <a:solidFill>
                  <a:srgbClr val="00206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rgbClr val="292934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315"/>
              </a:lnSpc>
            </a:pPr>
            <a:r>
              <a:rPr spc="-10" dirty="0"/>
              <a:t>Fall</a:t>
            </a:r>
            <a:r>
              <a:rPr spc="-40" dirty="0"/>
              <a:t> </a:t>
            </a:r>
            <a:r>
              <a:rPr spc="-25" dirty="0"/>
              <a:t>2023</a:t>
            </a:r>
            <a:r>
              <a:rPr spc="-50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spc="-20" dirty="0"/>
              <a:t>University</a:t>
            </a:r>
            <a:r>
              <a:rPr spc="-4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10" dirty="0"/>
              <a:t>Virginia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©</a:t>
            </a:r>
            <a:r>
              <a:rPr spc="-50" dirty="0"/>
              <a:t> </a:t>
            </a:r>
            <a:r>
              <a:rPr spc="-65" dirty="0"/>
              <a:t>Praphamontripong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1" i="0">
                <a:solidFill>
                  <a:srgbClr val="00206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315"/>
              </a:lnSpc>
            </a:pPr>
            <a:r>
              <a:rPr spc="-10" dirty="0"/>
              <a:t>Fall</a:t>
            </a:r>
            <a:r>
              <a:rPr spc="-40" dirty="0"/>
              <a:t> </a:t>
            </a:r>
            <a:r>
              <a:rPr spc="-25" dirty="0"/>
              <a:t>2023</a:t>
            </a:r>
            <a:r>
              <a:rPr spc="-50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spc="-20" dirty="0"/>
              <a:t>University</a:t>
            </a:r>
            <a:r>
              <a:rPr spc="-4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10" dirty="0"/>
              <a:t>Virginia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©</a:t>
            </a:r>
            <a:r>
              <a:rPr spc="-50" dirty="0"/>
              <a:t> </a:t>
            </a:r>
            <a:r>
              <a:rPr spc="-65" dirty="0"/>
              <a:t>Praphamontripong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1" i="0">
                <a:solidFill>
                  <a:srgbClr val="00206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315"/>
              </a:lnSpc>
            </a:pPr>
            <a:r>
              <a:rPr spc="-10" dirty="0"/>
              <a:t>Fall</a:t>
            </a:r>
            <a:r>
              <a:rPr spc="-40" dirty="0"/>
              <a:t> </a:t>
            </a:r>
            <a:r>
              <a:rPr spc="-25" dirty="0"/>
              <a:t>2023</a:t>
            </a:r>
            <a:r>
              <a:rPr spc="-50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spc="-20" dirty="0"/>
              <a:t>University</a:t>
            </a:r>
            <a:r>
              <a:rPr spc="-4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10" dirty="0"/>
              <a:t>Virginia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©</a:t>
            </a:r>
            <a:r>
              <a:rPr spc="-50" dirty="0"/>
              <a:t> </a:t>
            </a:r>
            <a:r>
              <a:rPr spc="-65" dirty="0"/>
              <a:t>Praphamontripong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315"/>
              </a:lnSpc>
            </a:pPr>
            <a:r>
              <a:rPr spc="-10" dirty="0"/>
              <a:t>Fall</a:t>
            </a:r>
            <a:r>
              <a:rPr spc="-40" dirty="0"/>
              <a:t> </a:t>
            </a:r>
            <a:r>
              <a:rPr spc="-25" dirty="0"/>
              <a:t>2023</a:t>
            </a:r>
            <a:r>
              <a:rPr spc="-50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spc="-20" dirty="0"/>
              <a:t>University</a:t>
            </a:r>
            <a:r>
              <a:rPr spc="-4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10" dirty="0"/>
              <a:t>Virginia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©</a:t>
            </a:r>
            <a:r>
              <a:rPr spc="-50" dirty="0"/>
              <a:t> </a:t>
            </a:r>
            <a:r>
              <a:rPr spc="-65" dirty="0"/>
              <a:t>Praphamontripong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2400" y="7251192"/>
            <a:ext cx="9753600" cy="292735"/>
          </a:xfrm>
          <a:custGeom>
            <a:avLst/>
            <a:gdLst/>
            <a:ahLst/>
            <a:cxnLst/>
            <a:rect l="l" t="t" r="r" b="b"/>
            <a:pathLst>
              <a:path w="9753600" h="292734">
                <a:moveTo>
                  <a:pt x="9753600" y="0"/>
                </a:moveTo>
                <a:lnTo>
                  <a:pt x="0" y="0"/>
                </a:lnTo>
                <a:lnTo>
                  <a:pt x="0" y="292607"/>
                </a:lnTo>
                <a:lnTo>
                  <a:pt x="9753600" y="292607"/>
                </a:lnTo>
                <a:lnTo>
                  <a:pt x="9753600" y="0"/>
                </a:lnTo>
                <a:close/>
              </a:path>
            </a:pathLst>
          </a:custGeom>
          <a:solidFill>
            <a:srgbClr val="0012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2400" y="1121718"/>
            <a:ext cx="9753600" cy="0"/>
          </a:xfrm>
          <a:custGeom>
            <a:avLst/>
            <a:gdLst/>
            <a:ahLst/>
            <a:cxnLst/>
            <a:rect l="l" t="t" r="r" b="b"/>
            <a:pathLst>
              <a:path w="9753600">
                <a:moveTo>
                  <a:pt x="0" y="0"/>
                </a:moveTo>
                <a:lnTo>
                  <a:pt x="9753599" y="1"/>
                </a:lnTo>
              </a:path>
            </a:pathLst>
          </a:custGeom>
          <a:ln w="30479">
            <a:solidFill>
              <a:srgbClr val="431F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52400" y="228600"/>
            <a:ext cx="9753600" cy="878205"/>
          </a:xfrm>
          <a:custGeom>
            <a:avLst/>
            <a:gdLst/>
            <a:ahLst/>
            <a:cxnLst/>
            <a:rect l="l" t="t" r="r" b="b"/>
            <a:pathLst>
              <a:path w="9753600" h="878205">
                <a:moveTo>
                  <a:pt x="9753600" y="0"/>
                </a:moveTo>
                <a:lnTo>
                  <a:pt x="0" y="0"/>
                </a:lnTo>
                <a:lnTo>
                  <a:pt x="0" y="877824"/>
                </a:lnTo>
                <a:lnTo>
                  <a:pt x="9753600" y="877824"/>
                </a:lnTo>
                <a:lnTo>
                  <a:pt x="9753600" y="0"/>
                </a:lnTo>
                <a:close/>
              </a:path>
            </a:pathLst>
          </a:custGeom>
          <a:solidFill>
            <a:srgbClr val="E6E6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2166" y="319023"/>
            <a:ext cx="9271635" cy="6807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1" i="0">
                <a:solidFill>
                  <a:srgbClr val="00206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37815" y="1213103"/>
            <a:ext cx="9032875" cy="2357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rgbClr val="292934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8515" y="7288809"/>
            <a:ext cx="1962785" cy="1816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CCD1D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315"/>
              </a:lnSpc>
            </a:pPr>
            <a:r>
              <a:rPr spc="-10" dirty="0"/>
              <a:t>Fall</a:t>
            </a:r>
            <a:r>
              <a:rPr spc="-40" dirty="0"/>
              <a:t> </a:t>
            </a:r>
            <a:r>
              <a:rPr spc="-25" dirty="0"/>
              <a:t>2023</a:t>
            </a:r>
            <a:r>
              <a:rPr spc="-50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spc="-20" dirty="0"/>
              <a:t>University</a:t>
            </a:r>
            <a:r>
              <a:rPr spc="-4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10" dirty="0"/>
              <a:t>Virginia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438225" y="7285466"/>
            <a:ext cx="1184275" cy="1879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CCD1D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©</a:t>
            </a:r>
            <a:r>
              <a:rPr spc="-50" dirty="0"/>
              <a:t> </a:t>
            </a:r>
            <a:r>
              <a:rPr spc="-65" dirty="0"/>
              <a:t>Praphamontripong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549552" y="7319289"/>
            <a:ext cx="238125" cy="1816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CCD1D9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www.cleanpng.com/png-project-management-project-manager-architectural-e-5729993/download-png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jpg"/><Relationship Id="rId4" Type="http://schemas.openxmlformats.org/officeDocument/2006/relationships/image" Target="../media/image22.png"/><Relationship Id="rId9" Type="http://schemas.openxmlformats.org/officeDocument/2006/relationships/image" Target="../media/image27.jp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8.png"/><Relationship Id="rId5" Type="http://schemas.openxmlformats.org/officeDocument/2006/relationships/image" Target="../media/image33.png"/><Relationship Id="rId10" Type="http://schemas.openxmlformats.org/officeDocument/2006/relationships/image" Target="../media/image37.png"/><Relationship Id="rId4" Type="http://schemas.openxmlformats.org/officeDocument/2006/relationships/image" Target="../media/image32.png"/><Relationship Id="rId9" Type="http://schemas.openxmlformats.org/officeDocument/2006/relationships/image" Target="../media/image36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45.png"/><Relationship Id="rId5" Type="http://schemas.openxmlformats.org/officeDocument/2006/relationships/image" Target="../media/image41.png"/><Relationship Id="rId10" Type="http://schemas.openxmlformats.org/officeDocument/2006/relationships/image" Target="../media/image24.png"/><Relationship Id="rId4" Type="http://schemas.openxmlformats.org/officeDocument/2006/relationships/image" Target="../media/image40.png"/><Relationship Id="rId9" Type="http://schemas.openxmlformats.org/officeDocument/2006/relationships/image" Target="../media/image35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786383" y="3642359"/>
            <a:ext cx="8453120" cy="0"/>
          </a:xfrm>
          <a:custGeom>
            <a:avLst/>
            <a:gdLst/>
            <a:ahLst/>
            <a:cxnLst/>
            <a:rect l="l" t="t" r="r" b="b"/>
            <a:pathLst>
              <a:path w="8453120">
                <a:moveTo>
                  <a:pt x="0" y="0"/>
                </a:moveTo>
                <a:lnTo>
                  <a:pt x="8453119" y="1"/>
                </a:lnTo>
              </a:path>
            </a:pathLst>
          </a:custGeom>
          <a:ln w="40639">
            <a:solidFill>
              <a:srgbClr val="431F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43179" rIns="0" bIns="0" rtlCol="0">
            <a:spAutoFit/>
          </a:bodyPr>
          <a:lstStyle/>
          <a:p>
            <a:pPr marL="2378075" marR="5080" indent="-1603375">
              <a:lnSpc>
                <a:spcPts val="6290"/>
              </a:lnSpc>
              <a:spcBef>
                <a:spcPts val="865"/>
              </a:spcBef>
            </a:pPr>
            <a:r>
              <a:rPr sz="5800" b="1" spc="-155" dirty="0">
                <a:solidFill>
                  <a:srgbClr val="001279"/>
                </a:solidFill>
                <a:latin typeface="Verdana"/>
                <a:cs typeface="Verdana"/>
              </a:rPr>
              <a:t>Entity-</a:t>
            </a:r>
            <a:r>
              <a:rPr sz="5800" b="1" spc="-114" dirty="0">
                <a:solidFill>
                  <a:srgbClr val="001279"/>
                </a:solidFill>
                <a:latin typeface="Verdana"/>
                <a:cs typeface="Verdana"/>
              </a:rPr>
              <a:t>Relationship </a:t>
            </a:r>
            <a:r>
              <a:rPr sz="5800" b="1" spc="-70" dirty="0">
                <a:solidFill>
                  <a:srgbClr val="001279"/>
                </a:solidFill>
                <a:latin typeface="Verdana"/>
                <a:cs typeface="Verdana"/>
              </a:rPr>
              <a:t>(ER)</a:t>
            </a:r>
            <a:r>
              <a:rPr sz="5800" b="1" spc="-420" dirty="0">
                <a:solidFill>
                  <a:srgbClr val="001279"/>
                </a:solidFill>
                <a:latin typeface="Verdana"/>
                <a:cs typeface="Verdana"/>
              </a:rPr>
              <a:t> </a:t>
            </a:r>
            <a:r>
              <a:rPr sz="5800" b="1" spc="-10" dirty="0">
                <a:solidFill>
                  <a:srgbClr val="001279"/>
                </a:solidFill>
                <a:latin typeface="Verdana"/>
                <a:cs typeface="Verdana"/>
              </a:rPr>
              <a:t>Model</a:t>
            </a:r>
            <a:endParaRPr sz="5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71454" y="3968496"/>
            <a:ext cx="5120640" cy="1211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4670"/>
              </a:lnSpc>
              <a:spcBef>
                <a:spcPts val="100"/>
              </a:spcBef>
            </a:pPr>
            <a:r>
              <a:rPr sz="4100" b="1" spc="-65" dirty="0">
                <a:solidFill>
                  <a:srgbClr val="292934"/>
                </a:solidFill>
                <a:latin typeface="Verdana"/>
                <a:cs typeface="Verdana"/>
              </a:rPr>
              <a:t>CS</a:t>
            </a:r>
            <a:r>
              <a:rPr sz="4100" b="1" spc="-2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4100" b="1" spc="-20" dirty="0">
                <a:solidFill>
                  <a:srgbClr val="292934"/>
                </a:solidFill>
                <a:latin typeface="Verdana"/>
                <a:cs typeface="Verdana"/>
              </a:rPr>
              <a:t>47</a:t>
            </a:r>
            <a:r>
              <a:rPr lang="en-US" sz="4100" b="1" spc="-20" dirty="0">
                <a:solidFill>
                  <a:srgbClr val="292934"/>
                </a:solidFill>
                <a:latin typeface="Verdana"/>
                <a:cs typeface="Verdana"/>
              </a:rPr>
              <a:t>1</a:t>
            </a:r>
            <a:r>
              <a:rPr sz="4100" b="1" spc="-20" dirty="0">
                <a:solidFill>
                  <a:srgbClr val="292934"/>
                </a:solidFill>
                <a:latin typeface="Verdana"/>
                <a:cs typeface="Verdana"/>
              </a:rPr>
              <a:t>0</a:t>
            </a:r>
            <a:endParaRPr sz="4100" dirty="0">
              <a:latin typeface="Verdana"/>
              <a:cs typeface="Verdana"/>
            </a:endParaRPr>
          </a:p>
          <a:p>
            <a:pPr algn="ctr">
              <a:lnSpc>
                <a:spcPts val="4670"/>
              </a:lnSpc>
            </a:pPr>
            <a:r>
              <a:rPr sz="4100" b="1" spc="-135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4100" b="1" spc="-2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4100" b="1" spc="-114" dirty="0">
                <a:solidFill>
                  <a:srgbClr val="292934"/>
                </a:solidFill>
                <a:latin typeface="Verdana"/>
                <a:cs typeface="Verdana"/>
              </a:rPr>
              <a:t>Systems</a:t>
            </a:r>
            <a:endParaRPr sz="41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88002" y="2270961"/>
            <a:ext cx="2272030" cy="413384"/>
            <a:chOff x="6088002" y="2270961"/>
            <a:chExt cx="2272030" cy="413384"/>
          </a:xfrm>
        </p:grpSpPr>
        <p:sp>
          <p:nvSpPr>
            <p:cNvPr id="3" name="object 3"/>
            <p:cNvSpPr/>
            <p:nvPr/>
          </p:nvSpPr>
          <p:spPr>
            <a:xfrm>
              <a:off x="6102096" y="2285055"/>
              <a:ext cx="2243455" cy="384810"/>
            </a:xfrm>
            <a:custGeom>
              <a:avLst/>
              <a:gdLst/>
              <a:ahLst/>
              <a:cxnLst/>
              <a:rect l="l" t="t" r="r" b="b"/>
              <a:pathLst>
                <a:path w="2243454" h="384810">
                  <a:moveTo>
                    <a:pt x="2179217" y="0"/>
                  </a:moveTo>
                  <a:lnTo>
                    <a:pt x="64110" y="0"/>
                  </a:lnTo>
                  <a:lnTo>
                    <a:pt x="39155" y="5038"/>
                  </a:lnTo>
                  <a:lnTo>
                    <a:pt x="18777" y="18777"/>
                  </a:lnTo>
                  <a:lnTo>
                    <a:pt x="5038" y="39155"/>
                  </a:lnTo>
                  <a:lnTo>
                    <a:pt x="0" y="64109"/>
                  </a:lnTo>
                  <a:lnTo>
                    <a:pt x="0" y="320537"/>
                  </a:lnTo>
                  <a:lnTo>
                    <a:pt x="5038" y="345492"/>
                  </a:lnTo>
                  <a:lnTo>
                    <a:pt x="18777" y="365871"/>
                  </a:lnTo>
                  <a:lnTo>
                    <a:pt x="39155" y="379610"/>
                  </a:lnTo>
                  <a:lnTo>
                    <a:pt x="64110" y="384648"/>
                  </a:lnTo>
                  <a:lnTo>
                    <a:pt x="2179217" y="384648"/>
                  </a:lnTo>
                  <a:lnTo>
                    <a:pt x="2204172" y="379610"/>
                  </a:lnTo>
                  <a:lnTo>
                    <a:pt x="2224550" y="365871"/>
                  </a:lnTo>
                  <a:lnTo>
                    <a:pt x="2238289" y="345492"/>
                  </a:lnTo>
                  <a:lnTo>
                    <a:pt x="2243328" y="320537"/>
                  </a:lnTo>
                  <a:lnTo>
                    <a:pt x="2243328" y="64109"/>
                  </a:lnTo>
                  <a:lnTo>
                    <a:pt x="2238289" y="39155"/>
                  </a:lnTo>
                  <a:lnTo>
                    <a:pt x="2224550" y="18777"/>
                  </a:lnTo>
                  <a:lnTo>
                    <a:pt x="2204172" y="5038"/>
                  </a:lnTo>
                  <a:lnTo>
                    <a:pt x="2179217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102096" y="2285055"/>
              <a:ext cx="2243455" cy="384810"/>
            </a:xfrm>
            <a:custGeom>
              <a:avLst/>
              <a:gdLst/>
              <a:ahLst/>
              <a:cxnLst/>
              <a:rect l="l" t="t" r="r" b="b"/>
              <a:pathLst>
                <a:path w="2243454" h="384810">
                  <a:moveTo>
                    <a:pt x="0" y="64110"/>
                  </a:moveTo>
                  <a:lnTo>
                    <a:pt x="5038" y="39155"/>
                  </a:lnTo>
                  <a:lnTo>
                    <a:pt x="18777" y="18777"/>
                  </a:lnTo>
                  <a:lnTo>
                    <a:pt x="39155" y="5038"/>
                  </a:lnTo>
                  <a:lnTo>
                    <a:pt x="64110" y="0"/>
                  </a:lnTo>
                  <a:lnTo>
                    <a:pt x="2179217" y="0"/>
                  </a:lnTo>
                  <a:lnTo>
                    <a:pt x="2204172" y="5038"/>
                  </a:lnTo>
                  <a:lnTo>
                    <a:pt x="2224550" y="18777"/>
                  </a:lnTo>
                  <a:lnTo>
                    <a:pt x="2238289" y="39155"/>
                  </a:lnTo>
                  <a:lnTo>
                    <a:pt x="2243327" y="64110"/>
                  </a:lnTo>
                  <a:lnTo>
                    <a:pt x="2243327" y="320538"/>
                  </a:lnTo>
                  <a:lnTo>
                    <a:pt x="2238289" y="345493"/>
                  </a:lnTo>
                  <a:lnTo>
                    <a:pt x="2224550" y="365871"/>
                  </a:lnTo>
                  <a:lnTo>
                    <a:pt x="2204172" y="379611"/>
                  </a:lnTo>
                  <a:lnTo>
                    <a:pt x="2179217" y="384649"/>
                  </a:lnTo>
                  <a:lnTo>
                    <a:pt x="64110" y="384649"/>
                  </a:lnTo>
                  <a:lnTo>
                    <a:pt x="39155" y="379611"/>
                  </a:lnTo>
                  <a:lnTo>
                    <a:pt x="18777" y="365871"/>
                  </a:lnTo>
                  <a:lnTo>
                    <a:pt x="5038" y="345493"/>
                  </a:lnTo>
                  <a:lnTo>
                    <a:pt x="0" y="320538"/>
                  </a:lnTo>
                  <a:lnTo>
                    <a:pt x="0" y="64110"/>
                  </a:lnTo>
                  <a:close/>
                </a:path>
              </a:pathLst>
            </a:custGeom>
            <a:ln w="28186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48073" y="418083"/>
            <a:ext cx="957453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100" dirty="0"/>
              <a:t>S</a:t>
            </a:r>
            <a:r>
              <a:rPr sz="3400" spc="-105" dirty="0"/>
              <a:t>u</a:t>
            </a:r>
            <a:r>
              <a:rPr sz="3400" spc="-100" dirty="0"/>
              <a:t>pe</a:t>
            </a:r>
            <a:r>
              <a:rPr sz="3400" dirty="0"/>
              <a:t>r</a:t>
            </a:r>
            <a:r>
              <a:rPr sz="3400" spc="-204" dirty="0"/>
              <a:t> </a:t>
            </a:r>
            <a:r>
              <a:rPr sz="3400" spc="-105" dirty="0"/>
              <a:t>K</a:t>
            </a:r>
            <a:r>
              <a:rPr sz="3400" spc="-100" dirty="0"/>
              <a:t>e</a:t>
            </a:r>
            <a:r>
              <a:rPr sz="3400" dirty="0"/>
              <a:t>y</a:t>
            </a:r>
            <a:r>
              <a:rPr sz="3400" spc="-190" dirty="0"/>
              <a:t> </a:t>
            </a:r>
            <a:r>
              <a:rPr sz="3400" dirty="0"/>
              <a:t>–</a:t>
            </a:r>
            <a:r>
              <a:rPr sz="3400" spc="-195" dirty="0"/>
              <a:t> </a:t>
            </a:r>
            <a:r>
              <a:rPr sz="3400" spc="-105" dirty="0"/>
              <a:t>C</a:t>
            </a:r>
            <a:r>
              <a:rPr sz="3400" spc="-100" dirty="0"/>
              <a:t>a</a:t>
            </a:r>
            <a:r>
              <a:rPr sz="3400" spc="-105" dirty="0"/>
              <a:t>n</a:t>
            </a:r>
            <a:r>
              <a:rPr sz="3400" spc="-100" dirty="0"/>
              <a:t>d</a:t>
            </a:r>
            <a:r>
              <a:rPr sz="3400" spc="-95" dirty="0"/>
              <a:t>i</a:t>
            </a:r>
            <a:r>
              <a:rPr sz="3400" spc="-100" dirty="0"/>
              <a:t>dat</a:t>
            </a:r>
            <a:r>
              <a:rPr sz="3400" dirty="0"/>
              <a:t>e</a:t>
            </a:r>
            <a:r>
              <a:rPr sz="3400" spc="-195" dirty="0"/>
              <a:t> </a:t>
            </a:r>
            <a:r>
              <a:rPr sz="3400" spc="-105" dirty="0"/>
              <a:t>K</a:t>
            </a:r>
            <a:r>
              <a:rPr sz="3400" spc="-100" dirty="0"/>
              <a:t>e</a:t>
            </a:r>
            <a:r>
              <a:rPr sz="3400" dirty="0"/>
              <a:t>y</a:t>
            </a:r>
            <a:r>
              <a:rPr sz="3400" spc="-195" dirty="0"/>
              <a:t> </a:t>
            </a:r>
            <a:r>
              <a:rPr sz="3400" dirty="0"/>
              <a:t>-</a:t>
            </a:r>
            <a:r>
              <a:rPr sz="3400" spc="-195" dirty="0"/>
              <a:t> </a:t>
            </a:r>
            <a:r>
              <a:rPr sz="3400" spc="-95" dirty="0"/>
              <a:t>P</a:t>
            </a:r>
            <a:r>
              <a:rPr sz="3400" spc="-105" dirty="0"/>
              <a:t>r</a:t>
            </a:r>
            <a:r>
              <a:rPr sz="3400" spc="-95" dirty="0"/>
              <a:t>i</a:t>
            </a:r>
            <a:r>
              <a:rPr sz="3400" spc="-90" dirty="0"/>
              <a:t>m</a:t>
            </a:r>
            <a:r>
              <a:rPr sz="3400" spc="-100" dirty="0"/>
              <a:t>a</a:t>
            </a:r>
            <a:r>
              <a:rPr sz="3400" spc="-105" dirty="0"/>
              <a:t>r</a:t>
            </a:r>
            <a:r>
              <a:rPr sz="3400" dirty="0"/>
              <a:t>y</a:t>
            </a:r>
            <a:r>
              <a:rPr sz="3400" spc="-190" dirty="0"/>
              <a:t> </a:t>
            </a:r>
            <a:r>
              <a:rPr sz="3400" spc="-105" dirty="0"/>
              <a:t>K</a:t>
            </a:r>
            <a:r>
              <a:rPr sz="3400" spc="-100" dirty="0"/>
              <a:t>e</a:t>
            </a:r>
            <a:r>
              <a:rPr sz="3400" dirty="0"/>
              <a:t>y</a:t>
            </a:r>
            <a:endParaRPr sz="3400"/>
          </a:p>
        </p:txBody>
      </p:sp>
      <p:sp>
        <p:nvSpPr>
          <p:cNvPr id="6" name="object 6"/>
          <p:cNvSpPr txBox="1"/>
          <p:nvPr/>
        </p:nvSpPr>
        <p:spPr>
          <a:xfrm>
            <a:off x="437815" y="1247647"/>
            <a:ext cx="8509635" cy="1384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Super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key</a:t>
            </a:r>
            <a:r>
              <a:rPr sz="2100" spc="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any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attribute(s)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uniquely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identify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tuple</a:t>
            </a:r>
            <a:endParaRPr sz="2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85"/>
              </a:spcBef>
            </a:pP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Candidate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 key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minimal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super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 key</a:t>
            </a:r>
            <a:endParaRPr sz="2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55"/>
              </a:spcBef>
            </a:pP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Primary</a:t>
            </a:r>
            <a:r>
              <a:rPr sz="21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key</a:t>
            </a:r>
            <a:r>
              <a:rPr sz="2100" spc="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candidate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most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important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3194" y="3077464"/>
            <a:ext cx="151511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5" dirty="0">
                <a:solidFill>
                  <a:srgbClr val="292934"/>
                </a:solidFill>
                <a:latin typeface="Arial MT"/>
                <a:cs typeface="Arial MT"/>
              </a:rPr>
              <a:t>Students_info</a:t>
            </a:r>
            <a:endParaRPr sz="1900">
              <a:latin typeface="Arial MT"/>
              <a:cs typeface="Arial MT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13923" y="3432607"/>
          <a:ext cx="5469255" cy="23408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3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3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30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14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computingID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0E6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b="1" spc="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SSN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0E6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0E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14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spc="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mi1y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R="1016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spc="-8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111-11-1111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spc="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Mickey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14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spc="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mi2e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spc="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222-22-2222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Minnie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14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spc="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do3d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spc="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333-33-3333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spc="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Donald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14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spc="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da4y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spc="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444-44-4444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spc="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Daisy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14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spc="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do5d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spc="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555-55-5555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spc="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Donald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6488350" y="3096767"/>
            <a:ext cx="22536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Identify</a:t>
            </a:r>
            <a:r>
              <a:rPr sz="17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primary</a:t>
            </a:r>
            <a:r>
              <a:rPr sz="1700" spc="-5" dirty="0">
                <a:solidFill>
                  <a:srgbClr val="C00000"/>
                </a:solidFill>
                <a:latin typeface="Verdana"/>
                <a:cs typeface="Verdana"/>
              </a:rPr>
              <a:t> key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03245" y="3429234"/>
            <a:ext cx="3576320" cy="2435225"/>
          </a:xfrm>
          <a:prstGeom prst="rect">
            <a:avLst/>
          </a:prstGeom>
          <a:ln w="20319">
            <a:solidFill>
              <a:srgbClr val="A6A6A6"/>
            </a:solidFill>
          </a:ln>
        </p:spPr>
        <p:txBody>
          <a:bodyPr vert="horz" wrap="square" lIns="0" tIns="243205" rIns="0" bIns="0" rtlCol="0">
            <a:spAutoFit/>
          </a:bodyPr>
          <a:lstStyle/>
          <a:p>
            <a:pPr marL="241935">
              <a:lnSpc>
                <a:spcPct val="100000"/>
              </a:lnSpc>
              <a:spcBef>
                <a:spcPts val="1915"/>
              </a:spcBef>
            </a:pP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computingID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94549" y="6362996"/>
            <a:ext cx="1383665" cy="27813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1800" dirty="0">
                <a:solidFill>
                  <a:srgbClr val="004DD6"/>
                </a:solidFill>
                <a:latin typeface="Verdana"/>
                <a:cs typeface="Verdana"/>
              </a:rPr>
              <a:t>Primary</a:t>
            </a:r>
            <a:r>
              <a:rPr sz="1800" spc="-40" dirty="0">
                <a:solidFill>
                  <a:srgbClr val="004DD6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004DD6"/>
                </a:solidFill>
                <a:latin typeface="Verdana"/>
                <a:cs typeface="Verdana"/>
              </a:rPr>
              <a:t>key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43691" y="5900139"/>
            <a:ext cx="5342890" cy="1169035"/>
          </a:xfrm>
          <a:custGeom>
            <a:avLst/>
            <a:gdLst/>
            <a:ahLst/>
            <a:cxnLst/>
            <a:rect l="l" t="t" r="r" b="b"/>
            <a:pathLst>
              <a:path w="5342890" h="1169034">
                <a:moveTo>
                  <a:pt x="5342806" y="0"/>
                </a:moveTo>
                <a:lnTo>
                  <a:pt x="0" y="0"/>
                </a:lnTo>
                <a:lnTo>
                  <a:pt x="0" y="1168626"/>
                </a:lnTo>
                <a:lnTo>
                  <a:pt x="5342806" y="1168626"/>
                </a:lnTo>
                <a:lnTo>
                  <a:pt x="53428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8107" y="418083"/>
            <a:ext cx="310388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95" dirty="0"/>
              <a:t>P</a:t>
            </a:r>
            <a:r>
              <a:rPr sz="3400" spc="-105" dirty="0"/>
              <a:t>r</a:t>
            </a:r>
            <a:r>
              <a:rPr sz="3400" spc="-95" dirty="0"/>
              <a:t>i</a:t>
            </a:r>
            <a:r>
              <a:rPr sz="3400" spc="-90" dirty="0"/>
              <a:t>m</a:t>
            </a:r>
            <a:r>
              <a:rPr sz="3400" spc="-100" dirty="0"/>
              <a:t>a</a:t>
            </a:r>
            <a:r>
              <a:rPr sz="3400" spc="-105" dirty="0"/>
              <a:t>r</a:t>
            </a:r>
            <a:r>
              <a:rPr sz="3400" dirty="0"/>
              <a:t>y</a:t>
            </a:r>
            <a:r>
              <a:rPr sz="3400" spc="-190" dirty="0"/>
              <a:t> </a:t>
            </a:r>
            <a:r>
              <a:rPr sz="3400" spc="-105" dirty="0"/>
              <a:t>K</a:t>
            </a:r>
            <a:r>
              <a:rPr sz="3400" spc="-100" dirty="0"/>
              <a:t>e</a:t>
            </a:r>
            <a:r>
              <a:rPr sz="3400" spc="-95" dirty="0"/>
              <a:t>ys</a:t>
            </a:r>
            <a:endParaRPr sz="34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601644" y="2351798"/>
          <a:ext cx="4894578" cy="14305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44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31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12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58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763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70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title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length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genre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63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Gone</a:t>
                      </a:r>
                      <a:r>
                        <a:rPr sz="17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with</a:t>
                      </a:r>
                      <a:r>
                        <a:rPr sz="17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sz="17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wind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8894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1939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8894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231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8894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drama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8894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63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Star</a:t>
                      </a:r>
                      <a:r>
                        <a:rPr sz="1700" spc="-3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wars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1977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124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sciFi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63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7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Wayne’s</a:t>
                      </a:r>
                      <a:r>
                        <a:rPr sz="1700" spc="-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world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1992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95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comedy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37815" y="1265935"/>
            <a:ext cx="7759700" cy="1047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relation’s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primary</a:t>
            </a:r>
            <a:r>
              <a:rPr sz="2100" spc="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key</a:t>
            </a:r>
            <a:r>
              <a:rPr sz="2100" spc="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uniquely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identifies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single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tuple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650">
              <a:latin typeface="Verdana"/>
              <a:cs typeface="Verdana"/>
            </a:endParaRPr>
          </a:p>
          <a:p>
            <a:pPr marL="2158365">
              <a:lnSpc>
                <a:spcPct val="100000"/>
              </a:lnSpc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movies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01733" y="2273655"/>
            <a:ext cx="3063240" cy="1600200"/>
          </a:xfrm>
          <a:custGeom>
            <a:avLst/>
            <a:gdLst/>
            <a:ahLst/>
            <a:cxnLst/>
            <a:rect l="l" t="t" r="r" b="b"/>
            <a:pathLst>
              <a:path w="3063240" h="1600200">
                <a:moveTo>
                  <a:pt x="0" y="266703"/>
                </a:moveTo>
                <a:lnTo>
                  <a:pt x="4296" y="218763"/>
                </a:lnTo>
                <a:lnTo>
                  <a:pt x="16685" y="173642"/>
                </a:lnTo>
                <a:lnTo>
                  <a:pt x="36412" y="132093"/>
                </a:lnTo>
                <a:lnTo>
                  <a:pt x="62725" y="94869"/>
                </a:lnTo>
                <a:lnTo>
                  <a:pt x="94869" y="62725"/>
                </a:lnTo>
                <a:lnTo>
                  <a:pt x="132093" y="36412"/>
                </a:lnTo>
                <a:lnTo>
                  <a:pt x="173642" y="16685"/>
                </a:lnTo>
                <a:lnTo>
                  <a:pt x="218763" y="4296"/>
                </a:lnTo>
                <a:lnTo>
                  <a:pt x="266703" y="0"/>
                </a:lnTo>
                <a:lnTo>
                  <a:pt x="2796536" y="0"/>
                </a:lnTo>
                <a:lnTo>
                  <a:pt x="2844476" y="4296"/>
                </a:lnTo>
                <a:lnTo>
                  <a:pt x="2889597" y="16685"/>
                </a:lnTo>
                <a:lnTo>
                  <a:pt x="2931146" y="36412"/>
                </a:lnTo>
                <a:lnTo>
                  <a:pt x="2968369" y="62725"/>
                </a:lnTo>
                <a:lnTo>
                  <a:pt x="3000514" y="94869"/>
                </a:lnTo>
                <a:lnTo>
                  <a:pt x="3026826" y="132093"/>
                </a:lnTo>
                <a:lnTo>
                  <a:pt x="3046553" y="173642"/>
                </a:lnTo>
                <a:lnTo>
                  <a:pt x="3058942" y="218763"/>
                </a:lnTo>
                <a:lnTo>
                  <a:pt x="3063239" y="266703"/>
                </a:lnTo>
                <a:lnTo>
                  <a:pt x="3063239" y="1333491"/>
                </a:lnTo>
                <a:lnTo>
                  <a:pt x="3058942" y="1381431"/>
                </a:lnTo>
                <a:lnTo>
                  <a:pt x="3046553" y="1426553"/>
                </a:lnTo>
                <a:lnTo>
                  <a:pt x="3026826" y="1468102"/>
                </a:lnTo>
                <a:lnTo>
                  <a:pt x="3000514" y="1505325"/>
                </a:lnTo>
                <a:lnTo>
                  <a:pt x="2968369" y="1537469"/>
                </a:lnTo>
                <a:lnTo>
                  <a:pt x="2931146" y="1563782"/>
                </a:lnTo>
                <a:lnTo>
                  <a:pt x="2889597" y="1583509"/>
                </a:lnTo>
                <a:lnTo>
                  <a:pt x="2844476" y="1595898"/>
                </a:lnTo>
                <a:lnTo>
                  <a:pt x="2796536" y="1600195"/>
                </a:lnTo>
                <a:lnTo>
                  <a:pt x="266703" y="1600195"/>
                </a:lnTo>
                <a:lnTo>
                  <a:pt x="218763" y="1595898"/>
                </a:lnTo>
                <a:lnTo>
                  <a:pt x="173642" y="1583509"/>
                </a:lnTo>
                <a:lnTo>
                  <a:pt x="132093" y="1563782"/>
                </a:lnTo>
                <a:lnTo>
                  <a:pt x="94869" y="1537469"/>
                </a:lnTo>
                <a:lnTo>
                  <a:pt x="62725" y="1505325"/>
                </a:lnTo>
                <a:lnTo>
                  <a:pt x="36412" y="1468102"/>
                </a:lnTo>
                <a:lnTo>
                  <a:pt x="16685" y="1426553"/>
                </a:lnTo>
                <a:lnTo>
                  <a:pt x="4296" y="1381431"/>
                </a:lnTo>
                <a:lnTo>
                  <a:pt x="0" y="1333491"/>
                </a:lnTo>
                <a:lnTo>
                  <a:pt x="0" y="266703"/>
                </a:lnTo>
                <a:close/>
              </a:path>
            </a:pathLst>
          </a:custGeom>
          <a:ln w="2818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35979" y="5516879"/>
            <a:ext cx="2650490" cy="513080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528955" marR="5080" indent="-516890">
              <a:lnSpc>
                <a:spcPts val="1800"/>
              </a:lnSpc>
              <a:spcBef>
                <a:spcPts val="359"/>
              </a:spcBef>
            </a:pPr>
            <a:r>
              <a:rPr sz="1700" b="1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00" b="1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b="1" dirty="0">
                <a:solidFill>
                  <a:srgbClr val="292934"/>
                </a:solidFill>
                <a:latin typeface="Verdana"/>
                <a:cs typeface="Verdana"/>
              </a:rPr>
              <a:t>characteristics</a:t>
            </a:r>
            <a:r>
              <a:rPr sz="1700" b="1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b="1" dirty="0">
                <a:solidFill>
                  <a:srgbClr val="292934"/>
                </a:solidFill>
                <a:latin typeface="Verdana"/>
                <a:cs typeface="Verdana"/>
              </a:rPr>
              <a:t>of </a:t>
            </a:r>
            <a:r>
              <a:rPr sz="1700" b="1" spc="-5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b="1" spc="5" dirty="0">
                <a:solidFill>
                  <a:srgbClr val="292934"/>
                </a:solidFill>
                <a:latin typeface="Verdana"/>
                <a:cs typeface="Verdana"/>
              </a:rPr>
              <a:t>primary</a:t>
            </a:r>
            <a:r>
              <a:rPr sz="1700" b="1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b="1" dirty="0">
                <a:solidFill>
                  <a:srgbClr val="292934"/>
                </a:solidFill>
                <a:latin typeface="Verdana"/>
                <a:cs typeface="Verdana"/>
              </a:rPr>
              <a:t>keys</a:t>
            </a:r>
            <a:endParaRPr sz="1700">
              <a:latin typeface="Verdana"/>
              <a:cs typeface="Verdan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690278" y="4941423"/>
            <a:ext cx="1997710" cy="495300"/>
            <a:chOff x="4690278" y="4941423"/>
            <a:chExt cx="1997710" cy="495300"/>
          </a:xfrm>
        </p:grpSpPr>
        <p:sp>
          <p:nvSpPr>
            <p:cNvPr id="8" name="object 8"/>
            <p:cNvSpPr/>
            <p:nvPr/>
          </p:nvSpPr>
          <p:spPr>
            <a:xfrm>
              <a:off x="4700438" y="4951583"/>
              <a:ext cx="1977389" cy="474980"/>
            </a:xfrm>
            <a:custGeom>
              <a:avLst/>
              <a:gdLst/>
              <a:ahLst/>
              <a:cxnLst/>
              <a:rect l="l" t="t" r="r" b="b"/>
              <a:pathLst>
                <a:path w="1977390" h="474979">
                  <a:moveTo>
                    <a:pt x="1898166" y="0"/>
                  </a:moveTo>
                  <a:lnTo>
                    <a:pt x="79093" y="0"/>
                  </a:lnTo>
                  <a:lnTo>
                    <a:pt x="48306" y="6215"/>
                  </a:lnTo>
                  <a:lnTo>
                    <a:pt x="23165" y="23165"/>
                  </a:lnTo>
                  <a:lnTo>
                    <a:pt x="6215" y="48306"/>
                  </a:lnTo>
                  <a:lnTo>
                    <a:pt x="0" y="79093"/>
                  </a:lnTo>
                  <a:lnTo>
                    <a:pt x="0" y="395457"/>
                  </a:lnTo>
                  <a:lnTo>
                    <a:pt x="6215" y="426243"/>
                  </a:lnTo>
                  <a:lnTo>
                    <a:pt x="23165" y="451384"/>
                  </a:lnTo>
                  <a:lnTo>
                    <a:pt x="48306" y="468334"/>
                  </a:lnTo>
                  <a:lnTo>
                    <a:pt x="79093" y="474549"/>
                  </a:lnTo>
                  <a:lnTo>
                    <a:pt x="1898166" y="474549"/>
                  </a:lnTo>
                  <a:lnTo>
                    <a:pt x="1928951" y="468334"/>
                  </a:lnTo>
                  <a:lnTo>
                    <a:pt x="1954092" y="451384"/>
                  </a:lnTo>
                  <a:lnTo>
                    <a:pt x="1971042" y="426243"/>
                  </a:lnTo>
                  <a:lnTo>
                    <a:pt x="1977257" y="395457"/>
                  </a:lnTo>
                  <a:lnTo>
                    <a:pt x="1977257" y="79093"/>
                  </a:lnTo>
                  <a:lnTo>
                    <a:pt x="1971042" y="48306"/>
                  </a:lnTo>
                  <a:lnTo>
                    <a:pt x="1954092" y="23165"/>
                  </a:lnTo>
                  <a:lnTo>
                    <a:pt x="1928951" y="6215"/>
                  </a:lnTo>
                  <a:lnTo>
                    <a:pt x="1898166" y="0"/>
                  </a:lnTo>
                  <a:close/>
                </a:path>
              </a:pathLst>
            </a:custGeom>
            <a:solidFill>
              <a:srgbClr val="C4F8E5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700438" y="4951583"/>
              <a:ext cx="1977389" cy="474980"/>
            </a:xfrm>
            <a:custGeom>
              <a:avLst/>
              <a:gdLst/>
              <a:ahLst/>
              <a:cxnLst/>
              <a:rect l="l" t="t" r="r" b="b"/>
              <a:pathLst>
                <a:path w="1977390" h="474979">
                  <a:moveTo>
                    <a:pt x="0" y="79092"/>
                  </a:moveTo>
                  <a:lnTo>
                    <a:pt x="6215" y="48306"/>
                  </a:lnTo>
                  <a:lnTo>
                    <a:pt x="23165" y="23165"/>
                  </a:lnTo>
                  <a:lnTo>
                    <a:pt x="48306" y="6215"/>
                  </a:lnTo>
                  <a:lnTo>
                    <a:pt x="79092" y="0"/>
                  </a:lnTo>
                  <a:lnTo>
                    <a:pt x="329542" y="0"/>
                  </a:lnTo>
                  <a:lnTo>
                    <a:pt x="981233" y="0"/>
                  </a:lnTo>
                  <a:lnTo>
                    <a:pt x="823857" y="0"/>
                  </a:lnTo>
                  <a:lnTo>
                    <a:pt x="1898165" y="0"/>
                  </a:lnTo>
                  <a:lnTo>
                    <a:pt x="1928951" y="6215"/>
                  </a:lnTo>
                  <a:lnTo>
                    <a:pt x="1954091" y="23165"/>
                  </a:lnTo>
                  <a:lnTo>
                    <a:pt x="1971042" y="48306"/>
                  </a:lnTo>
                  <a:lnTo>
                    <a:pt x="1977257" y="79092"/>
                  </a:lnTo>
                  <a:lnTo>
                    <a:pt x="1977257" y="197728"/>
                  </a:lnTo>
                  <a:lnTo>
                    <a:pt x="1977257" y="395457"/>
                  </a:lnTo>
                  <a:lnTo>
                    <a:pt x="1971042" y="426244"/>
                  </a:lnTo>
                  <a:lnTo>
                    <a:pt x="1954091" y="451384"/>
                  </a:lnTo>
                  <a:lnTo>
                    <a:pt x="1928951" y="468334"/>
                  </a:lnTo>
                  <a:lnTo>
                    <a:pt x="1898165" y="474550"/>
                  </a:lnTo>
                  <a:lnTo>
                    <a:pt x="823857" y="474550"/>
                  </a:lnTo>
                  <a:lnTo>
                    <a:pt x="329542" y="474550"/>
                  </a:lnTo>
                  <a:lnTo>
                    <a:pt x="79092" y="474550"/>
                  </a:lnTo>
                  <a:lnTo>
                    <a:pt x="48306" y="468334"/>
                  </a:lnTo>
                  <a:lnTo>
                    <a:pt x="23165" y="451384"/>
                  </a:lnTo>
                  <a:lnTo>
                    <a:pt x="6215" y="426244"/>
                  </a:lnTo>
                  <a:lnTo>
                    <a:pt x="0" y="395457"/>
                  </a:lnTo>
                  <a:lnTo>
                    <a:pt x="0" y="197728"/>
                  </a:lnTo>
                  <a:lnTo>
                    <a:pt x="0" y="79092"/>
                  </a:lnTo>
                  <a:close/>
                </a:path>
              </a:pathLst>
            </a:custGeom>
            <a:ln w="20319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57174" y="5033264"/>
            <a:ext cx="6769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Un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i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qu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endParaRPr sz="150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690278" y="5559609"/>
            <a:ext cx="1997710" cy="1113155"/>
            <a:chOff x="4690278" y="5559609"/>
            <a:chExt cx="1997710" cy="1113155"/>
          </a:xfrm>
        </p:grpSpPr>
        <p:sp>
          <p:nvSpPr>
            <p:cNvPr id="12" name="object 12"/>
            <p:cNvSpPr/>
            <p:nvPr/>
          </p:nvSpPr>
          <p:spPr>
            <a:xfrm>
              <a:off x="4700438" y="5569769"/>
              <a:ext cx="1977389" cy="474980"/>
            </a:xfrm>
            <a:custGeom>
              <a:avLst/>
              <a:gdLst/>
              <a:ahLst/>
              <a:cxnLst/>
              <a:rect l="l" t="t" r="r" b="b"/>
              <a:pathLst>
                <a:path w="1977390" h="474979">
                  <a:moveTo>
                    <a:pt x="1898166" y="0"/>
                  </a:moveTo>
                  <a:lnTo>
                    <a:pt x="79093" y="0"/>
                  </a:lnTo>
                  <a:lnTo>
                    <a:pt x="48306" y="6215"/>
                  </a:lnTo>
                  <a:lnTo>
                    <a:pt x="23165" y="23165"/>
                  </a:lnTo>
                  <a:lnTo>
                    <a:pt x="6215" y="48306"/>
                  </a:lnTo>
                  <a:lnTo>
                    <a:pt x="0" y="79093"/>
                  </a:lnTo>
                  <a:lnTo>
                    <a:pt x="0" y="395457"/>
                  </a:lnTo>
                  <a:lnTo>
                    <a:pt x="6215" y="426244"/>
                  </a:lnTo>
                  <a:lnTo>
                    <a:pt x="23165" y="451384"/>
                  </a:lnTo>
                  <a:lnTo>
                    <a:pt x="48306" y="468335"/>
                  </a:lnTo>
                  <a:lnTo>
                    <a:pt x="79093" y="474550"/>
                  </a:lnTo>
                  <a:lnTo>
                    <a:pt x="1898166" y="474550"/>
                  </a:lnTo>
                  <a:lnTo>
                    <a:pt x="1928951" y="468335"/>
                  </a:lnTo>
                  <a:lnTo>
                    <a:pt x="1954092" y="451384"/>
                  </a:lnTo>
                  <a:lnTo>
                    <a:pt x="1971042" y="426244"/>
                  </a:lnTo>
                  <a:lnTo>
                    <a:pt x="1977257" y="395457"/>
                  </a:lnTo>
                  <a:lnTo>
                    <a:pt x="1977257" y="79093"/>
                  </a:lnTo>
                  <a:lnTo>
                    <a:pt x="1971042" y="48306"/>
                  </a:lnTo>
                  <a:lnTo>
                    <a:pt x="1954092" y="23165"/>
                  </a:lnTo>
                  <a:lnTo>
                    <a:pt x="1928951" y="6215"/>
                  </a:lnTo>
                  <a:lnTo>
                    <a:pt x="1898166" y="0"/>
                  </a:lnTo>
                  <a:close/>
                </a:path>
              </a:pathLst>
            </a:custGeom>
            <a:solidFill>
              <a:srgbClr val="C4F8E5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700438" y="5569769"/>
              <a:ext cx="1977389" cy="474980"/>
            </a:xfrm>
            <a:custGeom>
              <a:avLst/>
              <a:gdLst/>
              <a:ahLst/>
              <a:cxnLst/>
              <a:rect l="l" t="t" r="r" b="b"/>
              <a:pathLst>
                <a:path w="1977390" h="474979">
                  <a:moveTo>
                    <a:pt x="0" y="79092"/>
                  </a:moveTo>
                  <a:lnTo>
                    <a:pt x="6215" y="48306"/>
                  </a:lnTo>
                  <a:lnTo>
                    <a:pt x="23165" y="23165"/>
                  </a:lnTo>
                  <a:lnTo>
                    <a:pt x="48306" y="6215"/>
                  </a:lnTo>
                  <a:lnTo>
                    <a:pt x="79092" y="0"/>
                  </a:lnTo>
                  <a:lnTo>
                    <a:pt x="329542" y="0"/>
                  </a:lnTo>
                  <a:lnTo>
                    <a:pt x="981233" y="0"/>
                  </a:lnTo>
                  <a:lnTo>
                    <a:pt x="823857" y="0"/>
                  </a:lnTo>
                  <a:lnTo>
                    <a:pt x="1898165" y="0"/>
                  </a:lnTo>
                  <a:lnTo>
                    <a:pt x="1928951" y="6215"/>
                  </a:lnTo>
                  <a:lnTo>
                    <a:pt x="1954091" y="23165"/>
                  </a:lnTo>
                  <a:lnTo>
                    <a:pt x="1971042" y="48306"/>
                  </a:lnTo>
                  <a:lnTo>
                    <a:pt x="1977257" y="79092"/>
                  </a:lnTo>
                  <a:lnTo>
                    <a:pt x="1977257" y="197728"/>
                  </a:lnTo>
                  <a:lnTo>
                    <a:pt x="1977257" y="395457"/>
                  </a:lnTo>
                  <a:lnTo>
                    <a:pt x="1971042" y="426244"/>
                  </a:lnTo>
                  <a:lnTo>
                    <a:pt x="1954091" y="451384"/>
                  </a:lnTo>
                  <a:lnTo>
                    <a:pt x="1928951" y="468334"/>
                  </a:lnTo>
                  <a:lnTo>
                    <a:pt x="1898165" y="474550"/>
                  </a:lnTo>
                  <a:lnTo>
                    <a:pt x="823857" y="474550"/>
                  </a:lnTo>
                  <a:lnTo>
                    <a:pt x="329542" y="474550"/>
                  </a:lnTo>
                  <a:lnTo>
                    <a:pt x="79092" y="474550"/>
                  </a:lnTo>
                  <a:lnTo>
                    <a:pt x="48306" y="468334"/>
                  </a:lnTo>
                  <a:lnTo>
                    <a:pt x="23165" y="451384"/>
                  </a:lnTo>
                  <a:lnTo>
                    <a:pt x="6215" y="426244"/>
                  </a:lnTo>
                  <a:lnTo>
                    <a:pt x="0" y="395457"/>
                  </a:lnTo>
                  <a:lnTo>
                    <a:pt x="0" y="197728"/>
                  </a:lnTo>
                  <a:lnTo>
                    <a:pt x="0" y="79092"/>
                  </a:lnTo>
                  <a:close/>
                </a:path>
              </a:pathLst>
            </a:custGeom>
            <a:ln w="20319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700438" y="6187955"/>
              <a:ext cx="1977389" cy="474980"/>
            </a:xfrm>
            <a:custGeom>
              <a:avLst/>
              <a:gdLst/>
              <a:ahLst/>
              <a:cxnLst/>
              <a:rect l="l" t="t" r="r" b="b"/>
              <a:pathLst>
                <a:path w="1977390" h="474979">
                  <a:moveTo>
                    <a:pt x="1898166" y="0"/>
                  </a:moveTo>
                  <a:lnTo>
                    <a:pt x="79093" y="0"/>
                  </a:lnTo>
                  <a:lnTo>
                    <a:pt x="48306" y="6215"/>
                  </a:lnTo>
                  <a:lnTo>
                    <a:pt x="23165" y="23165"/>
                  </a:lnTo>
                  <a:lnTo>
                    <a:pt x="6215" y="48306"/>
                  </a:lnTo>
                  <a:lnTo>
                    <a:pt x="0" y="79093"/>
                  </a:lnTo>
                  <a:lnTo>
                    <a:pt x="0" y="395457"/>
                  </a:lnTo>
                  <a:lnTo>
                    <a:pt x="6215" y="426244"/>
                  </a:lnTo>
                  <a:lnTo>
                    <a:pt x="23165" y="451384"/>
                  </a:lnTo>
                  <a:lnTo>
                    <a:pt x="48306" y="468334"/>
                  </a:lnTo>
                  <a:lnTo>
                    <a:pt x="79093" y="474550"/>
                  </a:lnTo>
                  <a:lnTo>
                    <a:pt x="1898166" y="474550"/>
                  </a:lnTo>
                  <a:lnTo>
                    <a:pt x="1928951" y="468334"/>
                  </a:lnTo>
                  <a:lnTo>
                    <a:pt x="1954092" y="451384"/>
                  </a:lnTo>
                  <a:lnTo>
                    <a:pt x="1971042" y="426244"/>
                  </a:lnTo>
                  <a:lnTo>
                    <a:pt x="1977257" y="395457"/>
                  </a:lnTo>
                  <a:lnTo>
                    <a:pt x="1977257" y="79093"/>
                  </a:lnTo>
                  <a:lnTo>
                    <a:pt x="1971042" y="48306"/>
                  </a:lnTo>
                  <a:lnTo>
                    <a:pt x="1954092" y="23165"/>
                  </a:lnTo>
                  <a:lnTo>
                    <a:pt x="1928951" y="6215"/>
                  </a:lnTo>
                  <a:lnTo>
                    <a:pt x="1898166" y="0"/>
                  </a:lnTo>
                  <a:close/>
                </a:path>
              </a:pathLst>
            </a:custGeom>
            <a:solidFill>
              <a:srgbClr val="C4F8E5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700438" y="6187955"/>
              <a:ext cx="1977389" cy="474980"/>
            </a:xfrm>
            <a:custGeom>
              <a:avLst/>
              <a:gdLst/>
              <a:ahLst/>
              <a:cxnLst/>
              <a:rect l="l" t="t" r="r" b="b"/>
              <a:pathLst>
                <a:path w="1977390" h="474979">
                  <a:moveTo>
                    <a:pt x="0" y="79092"/>
                  </a:moveTo>
                  <a:lnTo>
                    <a:pt x="6215" y="48306"/>
                  </a:lnTo>
                  <a:lnTo>
                    <a:pt x="23165" y="23165"/>
                  </a:lnTo>
                  <a:lnTo>
                    <a:pt x="48306" y="6215"/>
                  </a:lnTo>
                  <a:lnTo>
                    <a:pt x="79092" y="0"/>
                  </a:lnTo>
                  <a:lnTo>
                    <a:pt x="329542" y="0"/>
                  </a:lnTo>
                  <a:lnTo>
                    <a:pt x="981233" y="0"/>
                  </a:lnTo>
                  <a:lnTo>
                    <a:pt x="823857" y="0"/>
                  </a:lnTo>
                  <a:lnTo>
                    <a:pt x="1898165" y="0"/>
                  </a:lnTo>
                  <a:lnTo>
                    <a:pt x="1928951" y="6215"/>
                  </a:lnTo>
                  <a:lnTo>
                    <a:pt x="1954091" y="23165"/>
                  </a:lnTo>
                  <a:lnTo>
                    <a:pt x="1971042" y="48306"/>
                  </a:lnTo>
                  <a:lnTo>
                    <a:pt x="1977257" y="79092"/>
                  </a:lnTo>
                  <a:lnTo>
                    <a:pt x="1977257" y="197728"/>
                  </a:lnTo>
                  <a:lnTo>
                    <a:pt x="1977257" y="395457"/>
                  </a:lnTo>
                  <a:lnTo>
                    <a:pt x="1971042" y="426244"/>
                  </a:lnTo>
                  <a:lnTo>
                    <a:pt x="1954091" y="451384"/>
                  </a:lnTo>
                  <a:lnTo>
                    <a:pt x="1928951" y="468334"/>
                  </a:lnTo>
                  <a:lnTo>
                    <a:pt x="1898165" y="474550"/>
                  </a:lnTo>
                  <a:lnTo>
                    <a:pt x="823857" y="474550"/>
                  </a:lnTo>
                  <a:lnTo>
                    <a:pt x="329542" y="474550"/>
                  </a:lnTo>
                  <a:lnTo>
                    <a:pt x="79092" y="474550"/>
                  </a:lnTo>
                  <a:lnTo>
                    <a:pt x="48306" y="468334"/>
                  </a:lnTo>
                  <a:lnTo>
                    <a:pt x="23165" y="451384"/>
                  </a:lnTo>
                  <a:lnTo>
                    <a:pt x="6215" y="426244"/>
                  </a:lnTo>
                  <a:lnTo>
                    <a:pt x="0" y="395457"/>
                  </a:lnTo>
                  <a:lnTo>
                    <a:pt x="0" y="197728"/>
                  </a:lnTo>
                  <a:lnTo>
                    <a:pt x="0" y="79092"/>
                  </a:lnTo>
                  <a:close/>
                </a:path>
              </a:pathLst>
            </a:custGeom>
            <a:ln w="20319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965167" y="5560567"/>
            <a:ext cx="1461770" cy="106172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97485" marR="203835" algn="ctr">
              <a:lnSpc>
                <a:spcPts val="1510"/>
              </a:lnSpc>
              <a:spcBef>
                <a:spcPts val="390"/>
              </a:spcBef>
            </a:pP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500" spc="-10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30" dirty="0">
                <a:solidFill>
                  <a:srgbClr val="292934"/>
                </a:solidFill>
                <a:latin typeface="Verdana"/>
                <a:cs typeface="Verdana"/>
              </a:rPr>
              <a:t>empty, </a:t>
            </a:r>
            <a:r>
              <a:rPr sz="1500" spc="-5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5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NULL</a:t>
            </a: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500">
              <a:latin typeface="Verdana"/>
              <a:cs typeface="Verdana"/>
            </a:endParaRPr>
          </a:p>
          <a:p>
            <a:pPr marR="5080" algn="ctr">
              <a:lnSpc>
                <a:spcPts val="1490"/>
              </a:lnSpc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Most</a:t>
            </a:r>
            <a:r>
              <a:rPr sz="1500" spc="-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important </a:t>
            </a:r>
            <a:r>
              <a:rPr sz="1500" spc="-50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candidate</a:t>
            </a:r>
            <a:r>
              <a:rPr sz="15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endParaRPr sz="1500">
              <a:latin typeface="Verdana"/>
              <a:cs typeface="Verdan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915749" y="4941423"/>
            <a:ext cx="1997710" cy="495300"/>
            <a:chOff x="6915749" y="4941423"/>
            <a:chExt cx="1997710" cy="495300"/>
          </a:xfrm>
        </p:grpSpPr>
        <p:sp>
          <p:nvSpPr>
            <p:cNvPr id="18" name="object 18"/>
            <p:cNvSpPr/>
            <p:nvPr/>
          </p:nvSpPr>
          <p:spPr>
            <a:xfrm>
              <a:off x="6925909" y="4951583"/>
              <a:ext cx="1977389" cy="474980"/>
            </a:xfrm>
            <a:custGeom>
              <a:avLst/>
              <a:gdLst/>
              <a:ahLst/>
              <a:cxnLst/>
              <a:rect l="l" t="t" r="r" b="b"/>
              <a:pathLst>
                <a:path w="1977390" h="474979">
                  <a:moveTo>
                    <a:pt x="1898164" y="0"/>
                  </a:moveTo>
                  <a:lnTo>
                    <a:pt x="79091" y="0"/>
                  </a:lnTo>
                  <a:lnTo>
                    <a:pt x="48306" y="6215"/>
                  </a:lnTo>
                  <a:lnTo>
                    <a:pt x="23165" y="23165"/>
                  </a:lnTo>
                  <a:lnTo>
                    <a:pt x="6215" y="48306"/>
                  </a:lnTo>
                  <a:lnTo>
                    <a:pt x="0" y="79093"/>
                  </a:lnTo>
                  <a:lnTo>
                    <a:pt x="0" y="395457"/>
                  </a:lnTo>
                  <a:lnTo>
                    <a:pt x="6215" y="426243"/>
                  </a:lnTo>
                  <a:lnTo>
                    <a:pt x="23165" y="451384"/>
                  </a:lnTo>
                  <a:lnTo>
                    <a:pt x="48306" y="468334"/>
                  </a:lnTo>
                  <a:lnTo>
                    <a:pt x="79091" y="474549"/>
                  </a:lnTo>
                  <a:lnTo>
                    <a:pt x="1898164" y="474549"/>
                  </a:lnTo>
                  <a:lnTo>
                    <a:pt x="1928951" y="468334"/>
                  </a:lnTo>
                  <a:lnTo>
                    <a:pt x="1954092" y="451384"/>
                  </a:lnTo>
                  <a:lnTo>
                    <a:pt x="1971042" y="426243"/>
                  </a:lnTo>
                  <a:lnTo>
                    <a:pt x="1977257" y="395457"/>
                  </a:lnTo>
                  <a:lnTo>
                    <a:pt x="1977257" y="79093"/>
                  </a:lnTo>
                  <a:lnTo>
                    <a:pt x="1971042" y="48306"/>
                  </a:lnTo>
                  <a:lnTo>
                    <a:pt x="1954092" y="23165"/>
                  </a:lnTo>
                  <a:lnTo>
                    <a:pt x="1928951" y="6215"/>
                  </a:lnTo>
                  <a:lnTo>
                    <a:pt x="1898164" y="0"/>
                  </a:lnTo>
                  <a:close/>
                </a:path>
              </a:pathLst>
            </a:custGeom>
            <a:solidFill>
              <a:srgbClr val="C4F8E5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925909" y="4951583"/>
              <a:ext cx="1977389" cy="474980"/>
            </a:xfrm>
            <a:custGeom>
              <a:avLst/>
              <a:gdLst/>
              <a:ahLst/>
              <a:cxnLst/>
              <a:rect l="l" t="t" r="r" b="b"/>
              <a:pathLst>
                <a:path w="1977390" h="474979">
                  <a:moveTo>
                    <a:pt x="0" y="79092"/>
                  </a:moveTo>
                  <a:lnTo>
                    <a:pt x="6215" y="48306"/>
                  </a:lnTo>
                  <a:lnTo>
                    <a:pt x="23165" y="23165"/>
                  </a:lnTo>
                  <a:lnTo>
                    <a:pt x="48306" y="6215"/>
                  </a:lnTo>
                  <a:lnTo>
                    <a:pt x="79092" y="0"/>
                  </a:lnTo>
                  <a:lnTo>
                    <a:pt x="329542" y="0"/>
                  </a:lnTo>
                  <a:lnTo>
                    <a:pt x="981233" y="0"/>
                  </a:lnTo>
                  <a:lnTo>
                    <a:pt x="823857" y="0"/>
                  </a:lnTo>
                  <a:lnTo>
                    <a:pt x="1898165" y="0"/>
                  </a:lnTo>
                  <a:lnTo>
                    <a:pt x="1928951" y="6215"/>
                  </a:lnTo>
                  <a:lnTo>
                    <a:pt x="1954091" y="23165"/>
                  </a:lnTo>
                  <a:lnTo>
                    <a:pt x="1971042" y="48306"/>
                  </a:lnTo>
                  <a:lnTo>
                    <a:pt x="1977257" y="79092"/>
                  </a:lnTo>
                  <a:lnTo>
                    <a:pt x="1977257" y="197728"/>
                  </a:lnTo>
                  <a:lnTo>
                    <a:pt x="1977257" y="395457"/>
                  </a:lnTo>
                  <a:lnTo>
                    <a:pt x="1971042" y="426244"/>
                  </a:lnTo>
                  <a:lnTo>
                    <a:pt x="1954091" y="451384"/>
                  </a:lnTo>
                  <a:lnTo>
                    <a:pt x="1928951" y="468334"/>
                  </a:lnTo>
                  <a:lnTo>
                    <a:pt x="1898165" y="474550"/>
                  </a:lnTo>
                  <a:lnTo>
                    <a:pt x="823857" y="474550"/>
                  </a:lnTo>
                  <a:lnTo>
                    <a:pt x="329542" y="474550"/>
                  </a:lnTo>
                  <a:lnTo>
                    <a:pt x="79092" y="474550"/>
                  </a:lnTo>
                  <a:lnTo>
                    <a:pt x="48306" y="468334"/>
                  </a:lnTo>
                  <a:lnTo>
                    <a:pt x="23165" y="451384"/>
                  </a:lnTo>
                  <a:lnTo>
                    <a:pt x="6215" y="426244"/>
                  </a:lnTo>
                  <a:lnTo>
                    <a:pt x="0" y="395457"/>
                  </a:lnTo>
                  <a:lnTo>
                    <a:pt x="0" y="197728"/>
                  </a:lnTo>
                  <a:lnTo>
                    <a:pt x="0" y="79092"/>
                  </a:lnTo>
                  <a:close/>
                </a:path>
              </a:pathLst>
            </a:custGeom>
            <a:ln w="20319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174549" y="5033264"/>
            <a:ext cx="149479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Every</a:t>
            </a:r>
            <a:r>
              <a:rPr sz="15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tuple</a:t>
            </a:r>
            <a:r>
              <a:rPr sz="15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has</a:t>
            </a:r>
            <a:endParaRPr sz="150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915749" y="5559609"/>
            <a:ext cx="1997710" cy="495300"/>
            <a:chOff x="6915749" y="5559609"/>
            <a:chExt cx="1997710" cy="495300"/>
          </a:xfrm>
        </p:grpSpPr>
        <p:sp>
          <p:nvSpPr>
            <p:cNvPr id="22" name="object 22"/>
            <p:cNvSpPr/>
            <p:nvPr/>
          </p:nvSpPr>
          <p:spPr>
            <a:xfrm>
              <a:off x="6925909" y="5569769"/>
              <a:ext cx="1977389" cy="474980"/>
            </a:xfrm>
            <a:custGeom>
              <a:avLst/>
              <a:gdLst/>
              <a:ahLst/>
              <a:cxnLst/>
              <a:rect l="l" t="t" r="r" b="b"/>
              <a:pathLst>
                <a:path w="1977390" h="474979">
                  <a:moveTo>
                    <a:pt x="1898164" y="0"/>
                  </a:moveTo>
                  <a:lnTo>
                    <a:pt x="79091" y="0"/>
                  </a:lnTo>
                  <a:lnTo>
                    <a:pt x="48306" y="6215"/>
                  </a:lnTo>
                  <a:lnTo>
                    <a:pt x="23165" y="23165"/>
                  </a:lnTo>
                  <a:lnTo>
                    <a:pt x="6215" y="48306"/>
                  </a:lnTo>
                  <a:lnTo>
                    <a:pt x="0" y="79093"/>
                  </a:lnTo>
                  <a:lnTo>
                    <a:pt x="0" y="395457"/>
                  </a:lnTo>
                  <a:lnTo>
                    <a:pt x="6215" y="426244"/>
                  </a:lnTo>
                  <a:lnTo>
                    <a:pt x="23165" y="451384"/>
                  </a:lnTo>
                  <a:lnTo>
                    <a:pt x="48306" y="468335"/>
                  </a:lnTo>
                  <a:lnTo>
                    <a:pt x="79091" y="474550"/>
                  </a:lnTo>
                  <a:lnTo>
                    <a:pt x="1898164" y="474550"/>
                  </a:lnTo>
                  <a:lnTo>
                    <a:pt x="1928951" y="468335"/>
                  </a:lnTo>
                  <a:lnTo>
                    <a:pt x="1954092" y="451384"/>
                  </a:lnTo>
                  <a:lnTo>
                    <a:pt x="1971042" y="426244"/>
                  </a:lnTo>
                  <a:lnTo>
                    <a:pt x="1977257" y="395457"/>
                  </a:lnTo>
                  <a:lnTo>
                    <a:pt x="1977257" y="79093"/>
                  </a:lnTo>
                  <a:lnTo>
                    <a:pt x="1971042" y="48306"/>
                  </a:lnTo>
                  <a:lnTo>
                    <a:pt x="1954092" y="23165"/>
                  </a:lnTo>
                  <a:lnTo>
                    <a:pt x="1928951" y="6215"/>
                  </a:lnTo>
                  <a:lnTo>
                    <a:pt x="1898164" y="0"/>
                  </a:lnTo>
                  <a:close/>
                </a:path>
              </a:pathLst>
            </a:custGeom>
            <a:solidFill>
              <a:srgbClr val="C4F8E5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925909" y="5569769"/>
              <a:ext cx="1977389" cy="474980"/>
            </a:xfrm>
            <a:custGeom>
              <a:avLst/>
              <a:gdLst/>
              <a:ahLst/>
              <a:cxnLst/>
              <a:rect l="l" t="t" r="r" b="b"/>
              <a:pathLst>
                <a:path w="1977390" h="474979">
                  <a:moveTo>
                    <a:pt x="0" y="79092"/>
                  </a:moveTo>
                  <a:lnTo>
                    <a:pt x="6215" y="48306"/>
                  </a:lnTo>
                  <a:lnTo>
                    <a:pt x="23165" y="23165"/>
                  </a:lnTo>
                  <a:lnTo>
                    <a:pt x="48306" y="6215"/>
                  </a:lnTo>
                  <a:lnTo>
                    <a:pt x="79092" y="0"/>
                  </a:lnTo>
                  <a:lnTo>
                    <a:pt x="329542" y="0"/>
                  </a:lnTo>
                  <a:lnTo>
                    <a:pt x="981233" y="0"/>
                  </a:lnTo>
                  <a:lnTo>
                    <a:pt x="823857" y="0"/>
                  </a:lnTo>
                  <a:lnTo>
                    <a:pt x="1898165" y="0"/>
                  </a:lnTo>
                  <a:lnTo>
                    <a:pt x="1928951" y="6215"/>
                  </a:lnTo>
                  <a:lnTo>
                    <a:pt x="1954091" y="23165"/>
                  </a:lnTo>
                  <a:lnTo>
                    <a:pt x="1971042" y="48306"/>
                  </a:lnTo>
                  <a:lnTo>
                    <a:pt x="1977257" y="79092"/>
                  </a:lnTo>
                  <a:lnTo>
                    <a:pt x="1977257" y="197728"/>
                  </a:lnTo>
                  <a:lnTo>
                    <a:pt x="1977257" y="395457"/>
                  </a:lnTo>
                  <a:lnTo>
                    <a:pt x="1971042" y="426244"/>
                  </a:lnTo>
                  <a:lnTo>
                    <a:pt x="1954091" y="451384"/>
                  </a:lnTo>
                  <a:lnTo>
                    <a:pt x="1928951" y="468334"/>
                  </a:lnTo>
                  <a:lnTo>
                    <a:pt x="1898165" y="474550"/>
                  </a:lnTo>
                  <a:lnTo>
                    <a:pt x="823857" y="474550"/>
                  </a:lnTo>
                  <a:lnTo>
                    <a:pt x="329542" y="474550"/>
                  </a:lnTo>
                  <a:lnTo>
                    <a:pt x="79092" y="474550"/>
                  </a:lnTo>
                  <a:lnTo>
                    <a:pt x="48306" y="468334"/>
                  </a:lnTo>
                  <a:lnTo>
                    <a:pt x="23165" y="451384"/>
                  </a:lnTo>
                  <a:lnTo>
                    <a:pt x="6215" y="426244"/>
                  </a:lnTo>
                  <a:lnTo>
                    <a:pt x="0" y="395457"/>
                  </a:lnTo>
                  <a:lnTo>
                    <a:pt x="0" y="197728"/>
                  </a:lnTo>
                  <a:lnTo>
                    <a:pt x="0" y="79092"/>
                  </a:lnTo>
                  <a:close/>
                </a:path>
              </a:pathLst>
            </a:custGeom>
            <a:ln w="20319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7410771" y="5652007"/>
            <a:ext cx="1020444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No</a:t>
            </a:r>
            <a:r>
              <a:rPr sz="15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change</a:t>
            </a:r>
            <a:endParaRPr sz="1500">
              <a:latin typeface="Verdana"/>
              <a:cs typeface="Verdan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915749" y="6177795"/>
            <a:ext cx="1997710" cy="495300"/>
            <a:chOff x="6915749" y="6177795"/>
            <a:chExt cx="1997710" cy="495300"/>
          </a:xfrm>
        </p:grpSpPr>
        <p:sp>
          <p:nvSpPr>
            <p:cNvPr id="26" name="object 26"/>
            <p:cNvSpPr/>
            <p:nvPr/>
          </p:nvSpPr>
          <p:spPr>
            <a:xfrm>
              <a:off x="6925909" y="6187955"/>
              <a:ext cx="1977389" cy="474980"/>
            </a:xfrm>
            <a:custGeom>
              <a:avLst/>
              <a:gdLst/>
              <a:ahLst/>
              <a:cxnLst/>
              <a:rect l="l" t="t" r="r" b="b"/>
              <a:pathLst>
                <a:path w="1977390" h="474979">
                  <a:moveTo>
                    <a:pt x="1898164" y="0"/>
                  </a:moveTo>
                  <a:lnTo>
                    <a:pt x="79091" y="0"/>
                  </a:lnTo>
                  <a:lnTo>
                    <a:pt x="48306" y="6215"/>
                  </a:lnTo>
                  <a:lnTo>
                    <a:pt x="23165" y="23165"/>
                  </a:lnTo>
                  <a:lnTo>
                    <a:pt x="6215" y="48306"/>
                  </a:lnTo>
                  <a:lnTo>
                    <a:pt x="0" y="79093"/>
                  </a:lnTo>
                  <a:lnTo>
                    <a:pt x="0" y="395457"/>
                  </a:lnTo>
                  <a:lnTo>
                    <a:pt x="6215" y="426244"/>
                  </a:lnTo>
                  <a:lnTo>
                    <a:pt x="23165" y="451384"/>
                  </a:lnTo>
                  <a:lnTo>
                    <a:pt x="48306" y="468334"/>
                  </a:lnTo>
                  <a:lnTo>
                    <a:pt x="79091" y="474550"/>
                  </a:lnTo>
                  <a:lnTo>
                    <a:pt x="1898164" y="474550"/>
                  </a:lnTo>
                  <a:lnTo>
                    <a:pt x="1928951" y="468334"/>
                  </a:lnTo>
                  <a:lnTo>
                    <a:pt x="1954092" y="451384"/>
                  </a:lnTo>
                  <a:lnTo>
                    <a:pt x="1971042" y="426244"/>
                  </a:lnTo>
                  <a:lnTo>
                    <a:pt x="1977257" y="395457"/>
                  </a:lnTo>
                  <a:lnTo>
                    <a:pt x="1977257" y="79093"/>
                  </a:lnTo>
                  <a:lnTo>
                    <a:pt x="1971042" y="48306"/>
                  </a:lnTo>
                  <a:lnTo>
                    <a:pt x="1954092" y="23165"/>
                  </a:lnTo>
                  <a:lnTo>
                    <a:pt x="1928951" y="6215"/>
                  </a:lnTo>
                  <a:lnTo>
                    <a:pt x="1898164" y="0"/>
                  </a:lnTo>
                  <a:close/>
                </a:path>
              </a:pathLst>
            </a:custGeom>
            <a:solidFill>
              <a:srgbClr val="C4F8E5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925909" y="6187955"/>
              <a:ext cx="1977389" cy="474980"/>
            </a:xfrm>
            <a:custGeom>
              <a:avLst/>
              <a:gdLst/>
              <a:ahLst/>
              <a:cxnLst/>
              <a:rect l="l" t="t" r="r" b="b"/>
              <a:pathLst>
                <a:path w="1977390" h="474979">
                  <a:moveTo>
                    <a:pt x="0" y="79092"/>
                  </a:moveTo>
                  <a:lnTo>
                    <a:pt x="6215" y="48306"/>
                  </a:lnTo>
                  <a:lnTo>
                    <a:pt x="23165" y="23165"/>
                  </a:lnTo>
                  <a:lnTo>
                    <a:pt x="48306" y="6215"/>
                  </a:lnTo>
                  <a:lnTo>
                    <a:pt x="79092" y="0"/>
                  </a:lnTo>
                  <a:lnTo>
                    <a:pt x="329542" y="0"/>
                  </a:lnTo>
                  <a:lnTo>
                    <a:pt x="981233" y="0"/>
                  </a:lnTo>
                  <a:lnTo>
                    <a:pt x="823857" y="0"/>
                  </a:lnTo>
                  <a:lnTo>
                    <a:pt x="1898165" y="0"/>
                  </a:lnTo>
                  <a:lnTo>
                    <a:pt x="1928951" y="6215"/>
                  </a:lnTo>
                  <a:lnTo>
                    <a:pt x="1954091" y="23165"/>
                  </a:lnTo>
                  <a:lnTo>
                    <a:pt x="1971042" y="48306"/>
                  </a:lnTo>
                  <a:lnTo>
                    <a:pt x="1977257" y="79092"/>
                  </a:lnTo>
                  <a:lnTo>
                    <a:pt x="1977257" y="197728"/>
                  </a:lnTo>
                  <a:lnTo>
                    <a:pt x="1977257" y="395457"/>
                  </a:lnTo>
                  <a:lnTo>
                    <a:pt x="1971042" y="426244"/>
                  </a:lnTo>
                  <a:lnTo>
                    <a:pt x="1954091" y="451384"/>
                  </a:lnTo>
                  <a:lnTo>
                    <a:pt x="1928951" y="468334"/>
                  </a:lnTo>
                  <a:lnTo>
                    <a:pt x="1898165" y="474550"/>
                  </a:lnTo>
                  <a:lnTo>
                    <a:pt x="823857" y="474550"/>
                  </a:lnTo>
                  <a:lnTo>
                    <a:pt x="329542" y="474550"/>
                  </a:lnTo>
                  <a:lnTo>
                    <a:pt x="79092" y="474550"/>
                  </a:lnTo>
                  <a:lnTo>
                    <a:pt x="48306" y="468334"/>
                  </a:lnTo>
                  <a:lnTo>
                    <a:pt x="23165" y="451384"/>
                  </a:lnTo>
                  <a:lnTo>
                    <a:pt x="6215" y="426244"/>
                  </a:lnTo>
                  <a:lnTo>
                    <a:pt x="0" y="395457"/>
                  </a:lnTo>
                  <a:lnTo>
                    <a:pt x="0" y="197728"/>
                  </a:lnTo>
                  <a:lnTo>
                    <a:pt x="0" y="79092"/>
                  </a:lnTo>
                  <a:close/>
                </a:path>
              </a:pathLst>
            </a:custGeom>
            <a:ln w="20319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7396378" y="6270752"/>
            <a:ext cx="104965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Meaningful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424753" y="4729403"/>
            <a:ext cx="4739640" cy="2157095"/>
          </a:xfrm>
          <a:custGeom>
            <a:avLst/>
            <a:gdLst/>
            <a:ahLst/>
            <a:cxnLst/>
            <a:rect l="l" t="t" r="r" b="b"/>
            <a:pathLst>
              <a:path w="4739640" h="2157095">
                <a:moveTo>
                  <a:pt x="0" y="0"/>
                </a:moveTo>
                <a:lnTo>
                  <a:pt x="4739426" y="0"/>
                </a:lnTo>
                <a:lnTo>
                  <a:pt x="4739426" y="2156781"/>
                </a:lnTo>
                <a:lnTo>
                  <a:pt x="0" y="2156781"/>
                </a:lnTo>
                <a:lnTo>
                  <a:pt x="0" y="0"/>
                </a:lnTo>
                <a:close/>
              </a:path>
            </a:pathLst>
          </a:custGeom>
          <a:ln w="13546">
            <a:solidFill>
              <a:srgbClr val="8A8A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0" name="object 30"/>
          <p:cNvGrpSpPr/>
          <p:nvPr/>
        </p:nvGrpSpPr>
        <p:grpSpPr>
          <a:xfrm>
            <a:off x="3932725" y="5492017"/>
            <a:ext cx="334010" cy="675005"/>
            <a:chOff x="3932725" y="5492017"/>
            <a:chExt cx="334010" cy="675005"/>
          </a:xfrm>
        </p:grpSpPr>
        <p:sp>
          <p:nvSpPr>
            <p:cNvPr id="31" name="object 31"/>
            <p:cNvSpPr/>
            <p:nvPr/>
          </p:nvSpPr>
          <p:spPr>
            <a:xfrm>
              <a:off x="3946818" y="5506110"/>
              <a:ext cx="306070" cy="647065"/>
            </a:xfrm>
            <a:custGeom>
              <a:avLst/>
              <a:gdLst/>
              <a:ahLst/>
              <a:cxnLst/>
              <a:rect l="l" t="t" r="r" b="b"/>
              <a:pathLst>
                <a:path w="306070" h="647064">
                  <a:moveTo>
                    <a:pt x="152853" y="0"/>
                  </a:moveTo>
                  <a:lnTo>
                    <a:pt x="152853" y="161645"/>
                  </a:lnTo>
                  <a:lnTo>
                    <a:pt x="0" y="161645"/>
                  </a:lnTo>
                  <a:lnTo>
                    <a:pt x="0" y="484935"/>
                  </a:lnTo>
                  <a:lnTo>
                    <a:pt x="152853" y="484935"/>
                  </a:lnTo>
                  <a:lnTo>
                    <a:pt x="152853" y="646579"/>
                  </a:lnTo>
                  <a:lnTo>
                    <a:pt x="305705" y="323289"/>
                  </a:lnTo>
                  <a:lnTo>
                    <a:pt x="152853" y="0"/>
                  </a:lnTo>
                  <a:close/>
                </a:path>
              </a:pathLst>
            </a:custGeom>
            <a:solidFill>
              <a:srgbClr val="93A2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946818" y="5506110"/>
              <a:ext cx="306070" cy="647065"/>
            </a:xfrm>
            <a:custGeom>
              <a:avLst/>
              <a:gdLst/>
              <a:ahLst/>
              <a:cxnLst/>
              <a:rect l="l" t="t" r="r" b="b"/>
              <a:pathLst>
                <a:path w="306070" h="647064">
                  <a:moveTo>
                    <a:pt x="0" y="161645"/>
                  </a:moveTo>
                  <a:lnTo>
                    <a:pt x="152853" y="161645"/>
                  </a:lnTo>
                  <a:lnTo>
                    <a:pt x="152853" y="0"/>
                  </a:lnTo>
                  <a:lnTo>
                    <a:pt x="305705" y="323290"/>
                  </a:lnTo>
                  <a:lnTo>
                    <a:pt x="152853" y="646580"/>
                  </a:lnTo>
                  <a:lnTo>
                    <a:pt x="152853" y="484935"/>
                  </a:lnTo>
                  <a:lnTo>
                    <a:pt x="0" y="484935"/>
                  </a:lnTo>
                  <a:lnTo>
                    <a:pt x="0" y="161645"/>
                  </a:lnTo>
                  <a:close/>
                </a:path>
              </a:pathLst>
            </a:custGeom>
            <a:ln w="28186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4245" y="337311"/>
            <a:ext cx="392493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Pri</a:t>
            </a:r>
            <a:r>
              <a:rPr spc="-140" dirty="0"/>
              <a:t>m</a:t>
            </a:r>
            <a:r>
              <a:rPr spc="-125" dirty="0"/>
              <a:t>ar</a:t>
            </a:r>
            <a:r>
              <a:rPr dirty="0"/>
              <a:t>y</a:t>
            </a:r>
            <a:r>
              <a:rPr spc="-260" dirty="0"/>
              <a:t> </a:t>
            </a:r>
            <a:r>
              <a:rPr spc="-130" dirty="0"/>
              <a:t>K</a:t>
            </a:r>
            <a:r>
              <a:rPr spc="-125" dirty="0"/>
              <a:t>e</a:t>
            </a:r>
            <a:r>
              <a:rPr spc="-135" dirty="0"/>
              <a:t>y</a:t>
            </a:r>
            <a:r>
              <a:rPr dirty="0"/>
              <a:t>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232493" y="3773575"/>
          <a:ext cx="5777863" cy="14305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6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48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72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763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title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length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genre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63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123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Gone</a:t>
                      </a:r>
                      <a:r>
                        <a:rPr sz="17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with</a:t>
                      </a:r>
                      <a:r>
                        <a:rPr sz="17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sz="17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wind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1939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231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drama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63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456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953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Star</a:t>
                      </a:r>
                      <a:r>
                        <a:rPr sz="1700" spc="-3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wars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953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1977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953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124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953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sciFi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953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63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789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Wayne’s</a:t>
                      </a:r>
                      <a:r>
                        <a:rPr sz="1700" spc="-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world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1992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95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comedy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37815" y="1265935"/>
            <a:ext cx="9020810" cy="245300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25"/>
              </a:spcBef>
            </a:pP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Some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DBMSs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automatically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create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internal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primary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if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none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defined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Auto-generation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unique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integer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primary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keys:</a:t>
            </a:r>
            <a:endParaRPr sz="2100">
              <a:latin typeface="Verdana"/>
              <a:cs typeface="Verdana"/>
            </a:endParaRPr>
          </a:p>
          <a:p>
            <a:pPr marL="515620" indent="-244475">
              <a:lnSpc>
                <a:spcPct val="100000"/>
              </a:lnSpc>
              <a:spcBef>
                <a:spcPts val="1395"/>
              </a:spcBef>
              <a:buClr>
                <a:srgbClr val="292934"/>
              </a:buClr>
              <a:buSzPct val="85714"/>
              <a:buFont typeface="Arial MT"/>
              <a:buChar char="•"/>
              <a:tabLst>
                <a:tab pos="515620" algn="l"/>
                <a:tab pos="516255" algn="l"/>
              </a:tabLst>
            </a:pP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SEQUENCE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(SQL: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2003)</a:t>
            </a:r>
            <a:endParaRPr sz="2100">
              <a:latin typeface="Verdana"/>
              <a:cs typeface="Verdana"/>
            </a:endParaRPr>
          </a:p>
          <a:p>
            <a:pPr marL="1795780">
              <a:lnSpc>
                <a:spcPct val="100000"/>
              </a:lnSpc>
              <a:spcBef>
                <a:spcPts val="1805"/>
              </a:spcBef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movies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87449" y="3702545"/>
            <a:ext cx="826135" cy="1600200"/>
          </a:xfrm>
          <a:custGeom>
            <a:avLst/>
            <a:gdLst/>
            <a:ahLst/>
            <a:cxnLst/>
            <a:rect l="l" t="t" r="r" b="b"/>
            <a:pathLst>
              <a:path w="826135" h="1600200">
                <a:moveTo>
                  <a:pt x="0" y="137670"/>
                </a:moveTo>
                <a:lnTo>
                  <a:pt x="7018" y="94155"/>
                </a:lnTo>
                <a:lnTo>
                  <a:pt x="26562" y="56364"/>
                </a:lnTo>
                <a:lnTo>
                  <a:pt x="56364" y="26562"/>
                </a:lnTo>
                <a:lnTo>
                  <a:pt x="94155" y="7018"/>
                </a:lnTo>
                <a:lnTo>
                  <a:pt x="137670" y="0"/>
                </a:lnTo>
                <a:lnTo>
                  <a:pt x="688336" y="0"/>
                </a:lnTo>
                <a:lnTo>
                  <a:pt x="731851" y="7018"/>
                </a:lnTo>
                <a:lnTo>
                  <a:pt x="769643" y="26562"/>
                </a:lnTo>
                <a:lnTo>
                  <a:pt x="799445" y="56364"/>
                </a:lnTo>
                <a:lnTo>
                  <a:pt x="818988" y="94155"/>
                </a:lnTo>
                <a:lnTo>
                  <a:pt x="826007" y="137670"/>
                </a:lnTo>
                <a:lnTo>
                  <a:pt x="826007" y="1462524"/>
                </a:lnTo>
                <a:lnTo>
                  <a:pt x="818988" y="1506039"/>
                </a:lnTo>
                <a:lnTo>
                  <a:pt x="799445" y="1543831"/>
                </a:lnTo>
                <a:lnTo>
                  <a:pt x="769643" y="1573632"/>
                </a:lnTo>
                <a:lnTo>
                  <a:pt x="731851" y="1593176"/>
                </a:lnTo>
                <a:lnTo>
                  <a:pt x="688336" y="1600195"/>
                </a:lnTo>
                <a:lnTo>
                  <a:pt x="137670" y="1600195"/>
                </a:lnTo>
                <a:lnTo>
                  <a:pt x="94155" y="1593176"/>
                </a:lnTo>
                <a:lnTo>
                  <a:pt x="56364" y="1573632"/>
                </a:lnTo>
                <a:lnTo>
                  <a:pt x="26562" y="1543831"/>
                </a:lnTo>
                <a:lnTo>
                  <a:pt x="7018" y="1506039"/>
                </a:lnTo>
                <a:lnTo>
                  <a:pt x="0" y="1462524"/>
                </a:lnTo>
                <a:lnTo>
                  <a:pt x="0" y="137670"/>
                </a:lnTo>
                <a:close/>
              </a:path>
            </a:pathLst>
          </a:custGeom>
          <a:ln w="2818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97233" y="5853176"/>
            <a:ext cx="411162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6540" indent="-243840">
              <a:lnSpc>
                <a:spcPct val="100000"/>
              </a:lnSpc>
              <a:spcBef>
                <a:spcPts val="100"/>
              </a:spcBef>
              <a:buClr>
                <a:srgbClr val="292934"/>
              </a:buClr>
              <a:buSzPct val="85714"/>
              <a:buFont typeface="Arial MT"/>
              <a:buChar char="•"/>
              <a:tabLst>
                <a:tab pos="255904" algn="l"/>
                <a:tab pos="256540" algn="l"/>
              </a:tabLst>
            </a:pP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AUTO_INCREMENT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(MySQL)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6739" y="337311"/>
            <a:ext cx="382079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0" dirty="0"/>
              <a:t>For</a:t>
            </a:r>
            <a:r>
              <a:rPr spc="-120" dirty="0"/>
              <a:t>e</a:t>
            </a:r>
            <a:r>
              <a:rPr spc="-125" dirty="0"/>
              <a:t>ig</a:t>
            </a:r>
            <a:r>
              <a:rPr dirty="0"/>
              <a:t>n</a:t>
            </a:r>
            <a:r>
              <a:rPr spc="-254" dirty="0"/>
              <a:t> </a:t>
            </a:r>
            <a:r>
              <a:rPr spc="-130" dirty="0"/>
              <a:t>K</a:t>
            </a:r>
            <a:r>
              <a:rPr spc="-120" dirty="0"/>
              <a:t>e</a:t>
            </a:r>
            <a:r>
              <a:rPr spc="-135" dirty="0"/>
              <a:t>y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815" y="1247647"/>
            <a:ext cx="8803640" cy="67500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25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foreign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key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specifies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an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attribute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from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one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has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to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map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tuple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another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endParaRPr sz="2100">
              <a:latin typeface="Verdana"/>
              <a:cs typeface="Verdan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158573" y="2556169"/>
          <a:ext cx="3571240" cy="14305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6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3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1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763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70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R="34925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country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63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123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Mickey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1992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USA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63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456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Minnie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1992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USA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63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789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953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Donald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953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1994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953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USA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953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5162803" y="2203196"/>
            <a:ext cx="35534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Artist(</a:t>
            </a:r>
            <a:r>
              <a:rPr sz="18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id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18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292934"/>
                </a:solidFill>
                <a:latin typeface="Verdana"/>
                <a:cs typeface="Verdana"/>
              </a:rPr>
              <a:t>name,</a:t>
            </a:r>
            <a:r>
              <a:rPr sz="18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292934"/>
                </a:solidFill>
                <a:latin typeface="Verdana"/>
                <a:cs typeface="Verdana"/>
              </a:rPr>
              <a:t>year,</a:t>
            </a:r>
            <a:r>
              <a:rPr sz="18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292934"/>
                </a:solidFill>
                <a:latin typeface="Verdana"/>
                <a:cs typeface="Verdana"/>
              </a:rPr>
              <a:t>country)</a:t>
            </a:r>
            <a:endParaRPr sz="1800">
              <a:latin typeface="Verdana"/>
              <a:cs typeface="Verdan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364826" y="4936066"/>
          <a:ext cx="4697728" cy="14305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8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9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4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51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763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artists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63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700" spc="-13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11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Mickey’s</a:t>
                      </a:r>
                      <a:r>
                        <a:rPr sz="17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Club</a:t>
                      </a:r>
                      <a:r>
                        <a:rPr sz="17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House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123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1993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63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22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Awesome</a:t>
                      </a:r>
                      <a:r>
                        <a:rPr sz="1700" spc="-4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Minnie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456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1994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63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33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Most</a:t>
                      </a:r>
                      <a:r>
                        <a:rPr sz="1700" spc="-3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wanted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789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1995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4349497" y="5658103"/>
            <a:ext cx="826135" cy="361950"/>
          </a:xfrm>
          <a:custGeom>
            <a:avLst/>
            <a:gdLst/>
            <a:ahLst/>
            <a:cxnLst/>
            <a:rect l="l" t="t" r="r" b="b"/>
            <a:pathLst>
              <a:path w="826135" h="361950">
                <a:moveTo>
                  <a:pt x="0" y="60283"/>
                </a:moveTo>
                <a:lnTo>
                  <a:pt x="4737" y="36818"/>
                </a:lnTo>
                <a:lnTo>
                  <a:pt x="17656" y="17656"/>
                </a:lnTo>
                <a:lnTo>
                  <a:pt x="36818" y="4737"/>
                </a:lnTo>
                <a:lnTo>
                  <a:pt x="60283" y="0"/>
                </a:lnTo>
                <a:lnTo>
                  <a:pt x="765723" y="0"/>
                </a:lnTo>
                <a:lnTo>
                  <a:pt x="789188" y="4737"/>
                </a:lnTo>
                <a:lnTo>
                  <a:pt x="808350" y="17656"/>
                </a:lnTo>
                <a:lnTo>
                  <a:pt x="821270" y="36818"/>
                </a:lnTo>
                <a:lnTo>
                  <a:pt x="826007" y="60283"/>
                </a:lnTo>
                <a:lnTo>
                  <a:pt x="826007" y="301409"/>
                </a:lnTo>
                <a:lnTo>
                  <a:pt x="821270" y="324875"/>
                </a:lnTo>
                <a:lnTo>
                  <a:pt x="808350" y="344037"/>
                </a:lnTo>
                <a:lnTo>
                  <a:pt x="789188" y="356956"/>
                </a:lnTo>
                <a:lnTo>
                  <a:pt x="765723" y="361693"/>
                </a:lnTo>
                <a:lnTo>
                  <a:pt x="60283" y="361693"/>
                </a:lnTo>
                <a:lnTo>
                  <a:pt x="36818" y="356956"/>
                </a:lnTo>
                <a:lnTo>
                  <a:pt x="17656" y="344037"/>
                </a:lnTo>
                <a:lnTo>
                  <a:pt x="4737" y="324875"/>
                </a:lnTo>
                <a:lnTo>
                  <a:pt x="0" y="301409"/>
                </a:lnTo>
                <a:lnTo>
                  <a:pt x="0" y="60283"/>
                </a:lnTo>
                <a:close/>
              </a:path>
            </a:pathLst>
          </a:custGeom>
          <a:ln w="2818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4747261" y="2481316"/>
            <a:ext cx="1000760" cy="3176905"/>
            <a:chOff x="4747261" y="2481316"/>
            <a:chExt cx="1000760" cy="3176905"/>
          </a:xfrm>
        </p:grpSpPr>
        <p:sp>
          <p:nvSpPr>
            <p:cNvPr id="9" name="object 9"/>
            <p:cNvSpPr/>
            <p:nvPr/>
          </p:nvSpPr>
          <p:spPr>
            <a:xfrm>
              <a:off x="4747261" y="3393439"/>
              <a:ext cx="412115" cy="2265045"/>
            </a:xfrm>
            <a:custGeom>
              <a:avLst/>
              <a:gdLst/>
              <a:ahLst/>
              <a:cxnLst/>
              <a:rect l="l" t="t" r="r" b="b"/>
              <a:pathLst>
                <a:path w="412114" h="2265045">
                  <a:moveTo>
                    <a:pt x="320546" y="30480"/>
                  </a:moveTo>
                  <a:lnTo>
                    <a:pt x="6823" y="30480"/>
                  </a:lnTo>
                  <a:lnTo>
                    <a:pt x="0" y="37303"/>
                  </a:lnTo>
                  <a:lnTo>
                    <a:pt x="0" y="2264664"/>
                  </a:lnTo>
                  <a:lnTo>
                    <a:pt x="30480" y="2264664"/>
                  </a:lnTo>
                  <a:lnTo>
                    <a:pt x="30480" y="60960"/>
                  </a:lnTo>
                  <a:lnTo>
                    <a:pt x="15239" y="60960"/>
                  </a:lnTo>
                  <a:lnTo>
                    <a:pt x="30480" y="45720"/>
                  </a:lnTo>
                  <a:lnTo>
                    <a:pt x="320546" y="45720"/>
                  </a:lnTo>
                  <a:lnTo>
                    <a:pt x="320546" y="30480"/>
                  </a:lnTo>
                  <a:close/>
                </a:path>
                <a:path w="412114" h="2265045">
                  <a:moveTo>
                    <a:pt x="320546" y="0"/>
                  </a:moveTo>
                  <a:lnTo>
                    <a:pt x="320546" y="91439"/>
                  </a:lnTo>
                  <a:lnTo>
                    <a:pt x="381506" y="60960"/>
                  </a:lnTo>
                  <a:lnTo>
                    <a:pt x="335786" y="60960"/>
                  </a:lnTo>
                  <a:lnTo>
                    <a:pt x="335786" y="30480"/>
                  </a:lnTo>
                  <a:lnTo>
                    <a:pt x="381506" y="30480"/>
                  </a:lnTo>
                  <a:lnTo>
                    <a:pt x="320546" y="0"/>
                  </a:lnTo>
                  <a:close/>
                </a:path>
                <a:path w="412114" h="2265045">
                  <a:moveTo>
                    <a:pt x="30480" y="45720"/>
                  </a:moveTo>
                  <a:lnTo>
                    <a:pt x="15239" y="60960"/>
                  </a:lnTo>
                  <a:lnTo>
                    <a:pt x="30480" y="60960"/>
                  </a:lnTo>
                  <a:lnTo>
                    <a:pt x="30480" y="45720"/>
                  </a:lnTo>
                  <a:close/>
                </a:path>
                <a:path w="412114" h="2265045">
                  <a:moveTo>
                    <a:pt x="320546" y="45720"/>
                  </a:moveTo>
                  <a:lnTo>
                    <a:pt x="30480" y="45720"/>
                  </a:lnTo>
                  <a:lnTo>
                    <a:pt x="30480" y="60960"/>
                  </a:lnTo>
                  <a:lnTo>
                    <a:pt x="320546" y="60960"/>
                  </a:lnTo>
                  <a:lnTo>
                    <a:pt x="320546" y="45720"/>
                  </a:lnTo>
                  <a:close/>
                </a:path>
                <a:path w="412114" h="2265045">
                  <a:moveTo>
                    <a:pt x="381506" y="30480"/>
                  </a:moveTo>
                  <a:lnTo>
                    <a:pt x="335786" y="30480"/>
                  </a:lnTo>
                  <a:lnTo>
                    <a:pt x="335786" y="60960"/>
                  </a:lnTo>
                  <a:lnTo>
                    <a:pt x="381506" y="60960"/>
                  </a:lnTo>
                  <a:lnTo>
                    <a:pt x="411986" y="45720"/>
                  </a:lnTo>
                  <a:lnTo>
                    <a:pt x="381506" y="3048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173696" y="2495410"/>
              <a:ext cx="560070" cy="1562735"/>
            </a:xfrm>
            <a:custGeom>
              <a:avLst/>
              <a:gdLst/>
              <a:ahLst/>
              <a:cxnLst/>
              <a:rect l="l" t="t" r="r" b="b"/>
              <a:pathLst>
                <a:path w="560070" h="1562735">
                  <a:moveTo>
                    <a:pt x="0" y="93322"/>
                  </a:moveTo>
                  <a:lnTo>
                    <a:pt x="7333" y="56997"/>
                  </a:lnTo>
                  <a:lnTo>
                    <a:pt x="27333" y="27333"/>
                  </a:lnTo>
                  <a:lnTo>
                    <a:pt x="56997" y="7333"/>
                  </a:lnTo>
                  <a:lnTo>
                    <a:pt x="93322" y="0"/>
                  </a:lnTo>
                  <a:lnTo>
                    <a:pt x="466606" y="0"/>
                  </a:lnTo>
                  <a:lnTo>
                    <a:pt x="502932" y="7333"/>
                  </a:lnTo>
                  <a:lnTo>
                    <a:pt x="532596" y="27333"/>
                  </a:lnTo>
                  <a:lnTo>
                    <a:pt x="552595" y="56997"/>
                  </a:lnTo>
                  <a:lnTo>
                    <a:pt x="559929" y="93322"/>
                  </a:lnTo>
                  <a:lnTo>
                    <a:pt x="559929" y="1469058"/>
                  </a:lnTo>
                  <a:lnTo>
                    <a:pt x="552595" y="1505383"/>
                  </a:lnTo>
                  <a:lnTo>
                    <a:pt x="532596" y="1535047"/>
                  </a:lnTo>
                  <a:lnTo>
                    <a:pt x="502932" y="1555046"/>
                  </a:lnTo>
                  <a:lnTo>
                    <a:pt x="466606" y="1562380"/>
                  </a:lnTo>
                  <a:lnTo>
                    <a:pt x="93322" y="1562380"/>
                  </a:lnTo>
                  <a:lnTo>
                    <a:pt x="56997" y="1555046"/>
                  </a:lnTo>
                  <a:lnTo>
                    <a:pt x="27333" y="1535047"/>
                  </a:lnTo>
                  <a:lnTo>
                    <a:pt x="7333" y="1505383"/>
                  </a:lnTo>
                  <a:lnTo>
                    <a:pt x="0" y="1469058"/>
                  </a:lnTo>
                  <a:lnTo>
                    <a:pt x="0" y="93322"/>
                  </a:lnTo>
                  <a:close/>
                </a:path>
              </a:pathLst>
            </a:custGeom>
            <a:ln w="28186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385313" y="4028947"/>
            <a:ext cx="4948555" cy="854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4DD6"/>
                </a:solidFill>
                <a:latin typeface="Verdana"/>
                <a:cs typeface="Verdana"/>
              </a:rPr>
              <a:t>Primary</a:t>
            </a:r>
            <a:r>
              <a:rPr sz="1800" spc="-35" dirty="0">
                <a:solidFill>
                  <a:srgbClr val="004DD6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004DD6"/>
                </a:solidFill>
                <a:latin typeface="Verdana"/>
                <a:cs typeface="Verdana"/>
              </a:rPr>
              <a:t>key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Album(</a:t>
            </a:r>
            <a:r>
              <a:rPr sz="18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id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18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292934"/>
                </a:solidFill>
                <a:latin typeface="Verdana"/>
                <a:cs typeface="Verdana"/>
              </a:rPr>
              <a:t>name,</a:t>
            </a:r>
            <a:r>
              <a:rPr sz="18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292934"/>
                </a:solidFill>
                <a:latin typeface="Verdana"/>
                <a:cs typeface="Verdana"/>
              </a:rPr>
              <a:t>artists,</a:t>
            </a:r>
            <a:r>
              <a:rPr sz="18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year)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01893" y="6351523"/>
            <a:ext cx="13671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4DD6"/>
                </a:solidFill>
                <a:latin typeface="Verdana"/>
                <a:cs typeface="Verdana"/>
              </a:rPr>
              <a:t>Foreign</a:t>
            </a:r>
            <a:r>
              <a:rPr sz="1800" spc="-60" dirty="0">
                <a:solidFill>
                  <a:srgbClr val="004DD6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004DD6"/>
                </a:solidFill>
                <a:latin typeface="Verdana"/>
                <a:cs typeface="Verdana"/>
              </a:rPr>
              <a:t>key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615" y="2371344"/>
            <a:ext cx="4126991" cy="1743455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582433" y="2388071"/>
            <a:ext cx="3625850" cy="1322070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164465" rIns="0" bIns="0" rtlCol="0">
            <a:spAutoFit/>
          </a:bodyPr>
          <a:lstStyle/>
          <a:p>
            <a:pPr marL="248285" marR="230504" indent="1270" algn="ctr">
              <a:lnSpc>
                <a:spcPct val="102899"/>
              </a:lnSpc>
              <a:spcBef>
                <a:spcPts val="1295"/>
              </a:spcBef>
            </a:pP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Attribute(s)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that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uniquely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identify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row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another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table</a:t>
            </a:r>
            <a:endParaRPr sz="210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160306" y="5241418"/>
            <a:ext cx="3061970" cy="880110"/>
            <a:chOff x="6160306" y="5241418"/>
            <a:chExt cx="3061970" cy="880110"/>
          </a:xfrm>
        </p:grpSpPr>
        <p:sp>
          <p:nvSpPr>
            <p:cNvPr id="16" name="object 16"/>
            <p:cNvSpPr/>
            <p:nvPr/>
          </p:nvSpPr>
          <p:spPr>
            <a:xfrm>
              <a:off x="6174399" y="5255511"/>
              <a:ext cx="3034030" cy="851535"/>
            </a:xfrm>
            <a:custGeom>
              <a:avLst/>
              <a:gdLst/>
              <a:ahLst/>
              <a:cxnLst/>
              <a:rect l="l" t="t" r="r" b="b"/>
              <a:pathLst>
                <a:path w="3034029" h="851535">
                  <a:moveTo>
                    <a:pt x="2910517" y="0"/>
                  </a:moveTo>
                  <a:lnTo>
                    <a:pt x="682092" y="0"/>
                  </a:lnTo>
                  <a:lnTo>
                    <a:pt x="634196" y="9669"/>
                  </a:lnTo>
                  <a:lnTo>
                    <a:pt x="595084" y="36040"/>
                  </a:lnTo>
                  <a:lnTo>
                    <a:pt x="568713" y="75152"/>
                  </a:lnTo>
                  <a:lnTo>
                    <a:pt x="559043" y="123049"/>
                  </a:lnTo>
                  <a:lnTo>
                    <a:pt x="559043" y="430663"/>
                  </a:lnTo>
                  <a:lnTo>
                    <a:pt x="0" y="851421"/>
                  </a:lnTo>
                  <a:lnTo>
                    <a:pt x="559043" y="615229"/>
                  </a:lnTo>
                  <a:lnTo>
                    <a:pt x="3033567" y="615229"/>
                  </a:lnTo>
                  <a:lnTo>
                    <a:pt x="3033567" y="123049"/>
                  </a:lnTo>
                  <a:lnTo>
                    <a:pt x="3023897" y="75152"/>
                  </a:lnTo>
                  <a:lnTo>
                    <a:pt x="2997527" y="36040"/>
                  </a:lnTo>
                  <a:lnTo>
                    <a:pt x="2958414" y="9669"/>
                  </a:lnTo>
                  <a:lnTo>
                    <a:pt x="2910517" y="0"/>
                  </a:lnTo>
                  <a:close/>
                </a:path>
                <a:path w="3034029" h="851535">
                  <a:moveTo>
                    <a:pt x="3033567" y="615229"/>
                  </a:moveTo>
                  <a:lnTo>
                    <a:pt x="559043" y="615229"/>
                  </a:lnTo>
                  <a:lnTo>
                    <a:pt x="568713" y="663125"/>
                  </a:lnTo>
                  <a:lnTo>
                    <a:pt x="595084" y="702238"/>
                  </a:lnTo>
                  <a:lnTo>
                    <a:pt x="634196" y="728609"/>
                  </a:lnTo>
                  <a:lnTo>
                    <a:pt x="682092" y="738278"/>
                  </a:lnTo>
                  <a:lnTo>
                    <a:pt x="2910517" y="738278"/>
                  </a:lnTo>
                  <a:lnTo>
                    <a:pt x="2958414" y="728609"/>
                  </a:lnTo>
                  <a:lnTo>
                    <a:pt x="2997527" y="702238"/>
                  </a:lnTo>
                  <a:lnTo>
                    <a:pt x="3023897" y="663125"/>
                  </a:lnTo>
                  <a:lnTo>
                    <a:pt x="3033567" y="615229"/>
                  </a:lnTo>
                  <a:close/>
                </a:path>
              </a:pathLst>
            </a:custGeom>
            <a:solidFill>
              <a:srgbClr val="000E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74399" y="5255511"/>
              <a:ext cx="3034030" cy="851535"/>
            </a:xfrm>
            <a:custGeom>
              <a:avLst/>
              <a:gdLst/>
              <a:ahLst/>
              <a:cxnLst/>
              <a:rect l="l" t="t" r="r" b="b"/>
              <a:pathLst>
                <a:path w="3034029" h="851535">
                  <a:moveTo>
                    <a:pt x="559043" y="123049"/>
                  </a:moveTo>
                  <a:lnTo>
                    <a:pt x="568713" y="75153"/>
                  </a:lnTo>
                  <a:lnTo>
                    <a:pt x="595084" y="36040"/>
                  </a:lnTo>
                  <a:lnTo>
                    <a:pt x="634196" y="9669"/>
                  </a:lnTo>
                  <a:lnTo>
                    <a:pt x="682093" y="0"/>
                  </a:lnTo>
                  <a:lnTo>
                    <a:pt x="971464" y="0"/>
                  </a:lnTo>
                  <a:lnTo>
                    <a:pt x="1590095" y="0"/>
                  </a:lnTo>
                  <a:lnTo>
                    <a:pt x="2910517" y="0"/>
                  </a:lnTo>
                  <a:lnTo>
                    <a:pt x="2958414" y="9669"/>
                  </a:lnTo>
                  <a:lnTo>
                    <a:pt x="2997527" y="36040"/>
                  </a:lnTo>
                  <a:lnTo>
                    <a:pt x="3023897" y="75153"/>
                  </a:lnTo>
                  <a:lnTo>
                    <a:pt x="3033567" y="123049"/>
                  </a:lnTo>
                  <a:lnTo>
                    <a:pt x="3033567" y="430663"/>
                  </a:lnTo>
                  <a:lnTo>
                    <a:pt x="3033567" y="615232"/>
                  </a:lnTo>
                  <a:lnTo>
                    <a:pt x="3023897" y="663126"/>
                  </a:lnTo>
                  <a:lnTo>
                    <a:pt x="2997527" y="702239"/>
                  </a:lnTo>
                  <a:lnTo>
                    <a:pt x="2958414" y="728609"/>
                  </a:lnTo>
                  <a:lnTo>
                    <a:pt x="2910517" y="738279"/>
                  </a:lnTo>
                  <a:lnTo>
                    <a:pt x="1590095" y="738279"/>
                  </a:lnTo>
                  <a:lnTo>
                    <a:pt x="971464" y="738279"/>
                  </a:lnTo>
                  <a:lnTo>
                    <a:pt x="682093" y="738279"/>
                  </a:lnTo>
                  <a:lnTo>
                    <a:pt x="634196" y="728609"/>
                  </a:lnTo>
                  <a:lnTo>
                    <a:pt x="595084" y="702239"/>
                  </a:lnTo>
                  <a:lnTo>
                    <a:pt x="568713" y="663126"/>
                  </a:lnTo>
                  <a:lnTo>
                    <a:pt x="559043" y="615229"/>
                  </a:lnTo>
                  <a:lnTo>
                    <a:pt x="0" y="851421"/>
                  </a:lnTo>
                  <a:lnTo>
                    <a:pt x="559043" y="430663"/>
                  </a:lnTo>
                  <a:lnTo>
                    <a:pt x="559043" y="123049"/>
                  </a:lnTo>
                  <a:close/>
                </a:path>
              </a:pathLst>
            </a:custGeom>
            <a:ln w="28186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024978" y="5377688"/>
            <a:ext cx="1892935" cy="44640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04470" marR="5080" indent="-192405">
              <a:lnSpc>
                <a:spcPts val="1510"/>
              </a:lnSpc>
              <a:spcBef>
                <a:spcPts val="390"/>
              </a:spcBef>
            </a:pP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How</a:t>
            </a:r>
            <a:r>
              <a:rPr sz="15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about</a:t>
            </a:r>
            <a:r>
              <a:rPr sz="15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FFFFFF"/>
                </a:solidFill>
                <a:latin typeface="Verdana"/>
                <a:cs typeface="Verdana"/>
              </a:rPr>
              <a:t>2</a:t>
            </a:r>
            <a:r>
              <a:rPr sz="15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artists </a:t>
            </a:r>
            <a:r>
              <a:rPr sz="1500" spc="-509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(123</a:t>
            </a:r>
            <a:r>
              <a:rPr sz="15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150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789)?</a:t>
            </a:r>
            <a:endParaRPr sz="1500">
              <a:latin typeface="Verdana"/>
              <a:cs typeface="Verdana"/>
            </a:endParaRPr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6637156" y="6123921"/>
          <a:ext cx="3078478" cy="698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7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2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10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89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Most</a:t>
                      </a:r>
                      <a:r>
                        <a:rPr sz="1500" spc="-4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wanted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123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1995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50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Most</a:t>
                      </a:r>
                      <a:r>
                        <a:rPr sz="1500" spc="-4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wanted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789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1995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6739" y="337311"/>
            <a:ext cx="382079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0" dirty="0"/>
              <a:t>For</a:t>
            </a:r>
            <a:r>
              <a:rPr spc="-120" dirty="0"/>
              <a:t>e</a:t>
            </a:r>
            <a:r>
              <a:rPr spc="-125" dirty="0"/>
              <a:t>ig</a:t>
            </a:r>
            <a:r>
              <a:rPr dirty="0"/>
              <a:t>n</a:t>
            </a:r>
            <a:r>
              <a:rPr spc="-254" dirty="0"/>
              <a:t> </a:t>
            </a:r>
            <a:r>
              <a:rPr spc="-130" dirty="0"/>
              <a:t>K</a:t>
            </a:r>
            <a:r>
              <a:rPr spc="-120" dirty="0"/>
              <a:t>e</a:t>
            </a:r>
            <a:r>
              <a:rPr spc="-135" dirty="0"/>
              <a:t>y</a:t>
            </a:r>
            <a:r>
              <a:rPr dirty="0"/>
              <a:t>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239851" y="2296073"/>
          <a:ext cx="3571240" cy="14305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6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3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1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763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70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country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63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123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953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Mickey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953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1992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953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USA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953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63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456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Minnie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1992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USA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63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789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Donald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1994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USA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5244084" y="1944115"/>
            <a:ext cx="35534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Artist(</a:t>
            </a:r>
            <a:r>
              <a:rPr sz="18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id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18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292934"/>
                </a:solidFill>
                <a:latin typeface="Verdana"/>
                <a:cs typeface="Verdana"/>
              </a:rPr>
              <a:t>name,</a:t>
            </a:r>
            <a:r>
              <a:rPr sz="18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292934"/>
                </a:solidFill>
                <a:latin typeface="Verdana"/>
                <a:cs typeface="Verdana"/>
              </a:rPr>
              <a:t>year,</a:t>
            </a:r>
            <a:r>
              <a:rPr sz="18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292934"/>
                </a:solidFill>
                <a:latin typeface="Verdana"/>
                <a:cs typeface="Verdana"/>
              </a:rPr>
              <a:t>country)</a:t>
            </a:r>
            <a:endParaRPr sz="1800">
              <a:latin typeface="Verdana"/>
              <a:cs typeface="Verdan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597313" y="4867430"/>
          <a:ext cx="3803648" cy="14305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8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9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51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7631">
                <a:tc>
                  <a:txBody>
                    <a:bodyPr/>
                    <a:lstStyle/>
                    <a:p>
                      <a:pPr marR="41910"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70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48894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48894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48894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631">
                <a:tc>
                  <a:txBody>
                    <a:bodyPr/>
                    <a:lstStyle/>
                    <a:p>
                      <a:pPr marR="27940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700" spc="-13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11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Mickey’s</a:t>
                      </a:r>
                      <a:r>
                        <a:rPr sz="17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Club</a:t>
                      </a:r>
                      <a:r>
                        <a:rPr sz="17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House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1993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63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22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Awesome</a:t>
                      </a:r>
                      <a:r>
                        <a:rPr sz="1700" spc="-4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Minnie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1994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63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33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8894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Most</a:t>
                      </a:r>
                      <a:r>
                        <a:rPr sz="1700" spc="-3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wanted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8894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1995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8894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3617800" y="4513579"/>
            <a:ext cx="26562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Album(</a:t>
            </a:r>
            <a:r>
              <a:rPr sz="18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id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18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292934"/>
                </a:solidFill>
                <a:latin typeface="Verdana"/>
                <a:cs typeface="Verdana"/>
              </a:rPr>
              <a:t>name,</a:t>
            </a:r>
            <a:r>
              <a:rPr sz="18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year)</a:t>
            </a:r>
            <a:endParaRPr sz="1800">
              <a:latin typeface="Verdana"/>
              <a:cs typeface="Verdan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779610" y="2307254"/>
          <a:ext cx="2552700" cy="17881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6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5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763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artist_id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album_id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63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123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700" spc="-13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11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63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123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953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33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953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63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789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33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63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456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22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2273287" y="2189479"/>
            <a:ext cx="2197100" cy="12700"/>
          </a:xfrm>
          <a:custGeom>
            <a:avLst/>
            <a:gdLst/>
            <a:ahLst/>
            <a:cxnLst/>
            <a:rect l="l" t="t" r="r" b="b"/>
            <a:pathLst>
              <a:path w="2197100" h="12700">
                <a:moveTo>
                  <a:pt x="965200" y="0"/>
                </a:moveTo>
                <a:lnTo>
                  <a:pt x="0" y="0"/>
                </a:lnTo>
                <a:lnTo>
                  <a:pt x="0" y="12700"/>
                </a:lnTo>
                <a:lnTo>
                  <a:pt x="965200" y="12700"/>
                </a:lnTo>
                <a:lnTo>
                  <a:pt x="965200" y="0"/>
                </a:lnTo>
                <a:close/>
              </a:path>
              <a:path w="2197100" h="12700">
                <a:moveTo>
                  <a:pt x="2197100" y="0"/>
                </a:moveTo>
                <a:lnTo>
                  <a:pt x="1130300" y="0"/>
                </a:lnTo>
                <a:lnTo>
                  <a:pt x="1130300" y="12700"/>
                </a:lnTo>
                <a:lnTo>
                  <a:pt x="2197100" y="12700"/>
                </a:lnTo>
                <a:lnTo>
                  <a:pt x="2197100" y="0"/>
                </a:lnTo>
                <a:close/>
              </a:path>
            </a:pathLst>
          </a:custGeom>
          <a:solidFill>
            <a:srgbClr val="2929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00097" y="1922779"/>
            <a:ext cx="3775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ArtistAlbum(artist_id,</a:t>
            </a:r>
            <a:r>
              <a:rPr sz="18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album_id)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238184" y="1416302"/>
            <a:ext cx="3902075" cy="3111500"/>
            <a:chOff x="2238184" y="1416302"/>
            <a:chExt cx="3902075" cy="3111500"/>
          </a:xfrm>
        </p:grpSpPr>
        <p:sp>
          <p:nvSpPr>
            <p:cNvPr id="11" name="object 11"/>
            <p:cNvSpPr/>
            <p:nvPr/>
          </p:nvSpPr>
          <p:spPr>
            <a:xfrm>
              <a:off x="3918205" y="2244344"/>
              <a:ext cx="705485" cy="2283460"/>
            </a:xfrm>
            <a:custGeom>
              <a:avLst/>
              <a:gdLst/>
              <a:ahLst/>
              <a:cxnLst/>
              <a:rect l="l" t="t" r="r" b="b"/>
              <a:pathLst>
                <a:path w="705485" h="2283460">
                  <a:moveTo>
                    <a:pt x="644199" y="2191623"/>
                  </a:moveTo>
                  <a:lnTo>
                    <a:pt x="613719" y="2191623"/>
                  </a:lnTo>
                  <a:lnTo>
                    <a:pt x="659439" y="2283063"/>
                  </a:lnTo>
                  <a:lnTo>
                    <a:pt x="697539" y="2206863"/>
                  </a:lnTo>
                  <a:lnTo>
                    <a:pt x="644199" y="2206863"/>
                  </a:lnTo>
                  <a:lnTo>
                    <a:pt x="644199" y="2191623"/>
                  </a:lnTo>
                  <a:close/>
                </a:path>
                <a:path w="705485" h="2283460">
                  <a:moveTo>
                    <a:pt x="644199" y="1141531"/>
                  </a:moveTo>
                  <a:lnTo>
                    <a:pt x="644199" y="2206863"/>
                  </a:lnTo>
                  <a:lnTo>
                    <a:pt x="674679" y="2206863"/>
                  </a:lnTo>
                  <a:lnTo>
                    <a:pt x="674679" y="1156771"/>
                  </a:lnTo>
                  <a:lnTo>
                    <a:pt x="659439" y="1156771"/>
                  </a:lnTo>
                  <a:lnTo>
                    <a:pt x="644199" y="1141531"/>
                  </a:lnTo>
                  <a:close/>
                </a:path>
                <a:path w="705485" h="2283460">
                  <a:moveTo>
                    <a:pt x="705159" y="2191623"/>
                  </a:moveTo>
                  <a:lnTo>
                    <a:pt x="674679" y="2191623"/>
                  </a:lnTo>
                  <a:lnTo>
                    <a:pt x="674679" y="2206863"/>
                  </a:lnTo>
                  <a:lnTo>
                    <a:pt x="697539" y="2206863"/>
                  </a:lnTo>
                  <a:lnTo>
                    <a:pt x="705159" y="2191623"/>
                  </a:lnTo>
                  <a:close/>
                </a:path>
                <a:path w="705485" h="2283460">
                  <a:moveTo>
                    <a:pt x="30479" y="0"/>
                  </a:moveTo>
                  <a:lnTo>
                    <a:pt x="0" y="0"/>
                  </a:lnTo>
                  <a:lnTo>
                    <a:pt x="0" y="1149948"/>
                  </a:lnTo>
                  <a:lnTo>
                    <a:pt x="6822" y="1156771"/>
                  </a:lnTo>
                  <a:lnTo>
                    <a:pt x="644199" y="1156771"/>
                  </a:lnTo>
                  <a:lnTo>
                    <a:pt x="644199" y="1141531"/>
                  </a:lnTo>
                  <a:lnTo>
                    <a:pt x="30479" y="1141531"/>
                  </a:lnTo>
                  <a:lnTo>
                    <a:pt x="15239" y="1126291"/>
                  </a:lnTo>
                  <a:lnTo>
                    <a:pt x="30479" y="1126291"/>
                  </a:lnTo>
                  <a:lnTo>
                    <a:pt x="30479" y="0"/>
                  </a:lnTo>
                  <a:close/>
                </a:path>
                <a:path w="705485" h="2283460">
                  <a:moveTo>
                    <a:pt x="667856" y="1126291"/>
                  </a:moveTo>
                  <a:lnTo>
                    <a:pt x="30479" y="1126291"/>
                  </a:lnTo>
                  <a:lnTo>
                    <a:pt x="30479" y="1141531"/>
                  </a:lnTo>
                  <a:lnTo>
                    <a:pt x="644199" y="1141531"/>
                  </a:lnTo>
                  <a:lnTo>
                    <a:pt x="659439" y="1156771"/>
                  </a:lnTo>
                  <a:lnTo>
                    <a:pt x="674679" y="1156771"/>
                  </a:lnTo>
                  <a:lnTo>
                    <a:pt x="674679" y="1133114"/>
                  </a:lnTo>
                  <a:lnTo>
                    <a:pt x="667856" y="1126291"/>
                  </a:lnTo>
                  <a:close/>
                </a:path>
                <a:path w="705485" h="2283460">
                  <a:moveTo>
                    <a:pt x="30479" y="1126291"/>
                  </a:moveTo>
                  <a:lnTo>
                    <a:pt x="15239" y="1126291"/>
                  </a:lnTo>
                  <a:lnTo>
                    <a:pt x="30479" y="1141531"/>
                  </a:lnTo>
                  <a:lnTo>
                    <a:pt x="30479" y="1126291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374136" y="1902967"/>
              <a:ext cx="1118870" cy="341630"/>
            </a:xfrm>
            <a:custGeom>
              <a:avLst/>
              <a:gdLst/>
              <a:ahLst/>
              <a:cxnLst/>
              <a:rect l="l" t="t" r="r" b="b"/>
              <a:pathLst>
                <a:path w="1118870" h="341630">
                  <a:moveTo>
                    <a:pt x="0" y="56897"/>
                  </a:moveTo>
                  <a:lnTo>
                    <a:pt x="4471" y="34750"/>
                  </a:lnTo>
                  <a:lnTo>
                    <a:pt x="16664" y="16664"/>
                  </a:lnTo>
                  <a:lnTo>
                    <a:pt x="34750" y="4471"/>
                  </a:lnTo>
                  <a:lnTo>
                    <a:pt x="56897" y="0"/>
                  </a:lnTo>
                  <a:lnTo>
                    <a:pt x="1061717" y="0"/>
                  </a:lnTo>
                  <a:lnTo>
                    <a:pt x="1083863" y="4471"/>
                  </a:lnTo>
                  <a:lnTo>
                    <a:pt x="1101949" y="16664"/>
                  </a:lnTo>
                  <a:lnTo>
                    <a:pt x="1114143" y="34750"/>
                  </a:lnTo>
                  <a:lnTo>
                    <a:pt x="1118614" y="56897"/>
                  </a:lnTo>
                  <a:lnTo>
                    <a:pt x="1118614" y="284478"/>
                  </a:lnTo>
                  <a:lnTo>
                    <a:pt x="1114143" y="306625"/>
                  </a:lnTo>
                  <a:lnTo>
                    <a:pt x="1101949" y="324711"/>
                  </a:lnTo>
                  <a:lnTo>
                    <a:pt x="1083863" y="336904"/>
                  </a:lnTo>
                  <a:lnTo>
                    <a:pt x="1061717" y="341375"/>
                  </a:lnTo>
                  <a:lnTo>
                    <a:pt x="56897" y="341375"/>
                  </a:lnTo>
                  <a:lnTo>
                    <a:pt x="34750" y="336904"/>
                  </a:lnTo>
                  <a:lnTo>
                    <a:pt x="16664" y="324711"/>
                  </a:lnTo>
                  <a:lnTo>
                    <a:pt x="4471" y="306625"/>
                  </a:lnTo>
                  <a:lnTo>
                    <a:pt x="0" y="284478"/>
                  </a:lnTo>
                  <a:lnTo>
                    <a:pt x="0" y="56897"/>
                  </a:lnTo>
                  <a:close/>
                </a:path>
              </a:pathLst>
            </a:custGeom>
            <a:ln w="28186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40149" y="1416302"/>
              <a:ext cx="3399790" cy="519430"/>
            </a:xfrm>
            <a:custGeom>
              <a:avLst/>
              <a:gdLst/>
              <a:ahLst/>
              <a:cxnLst/>
              <a:rect l="l" t="t" r="r" b="b"/>
              <a:pathLst>
                <a:path w="3399790" h="519430">
                  <a:moveTo>
                    <a:pt x="3338577" y="427738"/>
                  </a:moveTo>
                  <a:lnTo>
                    <a:pt x="3308097" y="427738"/>
                  </a:lnTo>
                  <a:lnTo>
                    <a:pt x="3353817" y="519178"/>
                  </a:lnTo>
                  <a:lnTo>
                    <a:pt x="3391917" y="442978"/>
                  </a:lnTo>
                  <a:lnTo>
                    <a:pt x="3338577" y="442978"/>
                  </a:lnTo>
                  <a:lnTo>
                    <a:pt x="3338577" y="427738"/>
                  </a:lnTo>
                  <a:close/>
                </a:path>
                <a:path w="3399790" h="519430">
                  <a:moveTo>
                    <a:pt x="3362234" y="0"/>
                  </a:moveTo>
                  <a:lnTo>
                    <a:pt x="6822" y="0"/>
                  </a:lnTo>
                  <a:lnTo>
                    <a:pt x="0" y="6822"/>
                  </a:lnTo>
                  <a:lnTo>
                    <a:pt x="0" y="470410"/>
                  </a:lnTo>
                  <a:lnTo>
                    <a:pt x="30479" y="470410"/>
                  </a:lnTo>
                  <a:lnTo>
                    <a:pt x="30479" y="30479"/>
                  </a:lnTo>
                  <a:lnTo>
                    <a:pt x="15239" y="30479"/>
                  </a:lnTo>
                  <a:lnTo>
                    <a:pt x="30479" y="15239"/>
                  </a:lnTo>
                  <a:lnTo>
                    <a:pt x="3369057" y="15239"/>
                  </a:lnTo>
                  <a:lnTo>
                    <a:pt x="3369057" y="6822"/>
                  </a:lnTo>
                  <a:lnTo>
                    <a:pt x="3362234" y="0"/>
                  </a:lnTo>
                  <a:close/>
                </a:path>
                <a:path w="3399790" h="519430">
                  <a:moveTo>
                    <a:pt x="3338577" y="15239"/>
                  </a:moveTo>
                  <a:lnTo>
                    <a:pt x="3338577" y="442978"/>
                  </a:lnTo>
                  <a:lnTo>
                    <a:pt x="3369057" y="442978"/>
                  </a:lnTo>
                  <a:lnTo>
                    <a:pt x="3369057" y="30479"/>
                  </a:lnTo>
                  <a:lnTo>
                    <a:pt x="3353817" y="30479"/>
                  </a:lnTo>
                  <a:lnTo>
                    <a:pt x="3338577" y="15239"/>
                  </a:lnTo>
                  <a:close/>
                </a:path>
                <a:path w="3399790" h="519430">
                  <a:moveTo>
                    <a:pt x="3399537" y="427738"/>
                  </a:moveTo>
                  <a:lnTo>
                    <a:pt x="3369057" y="427738"/>
                  </a:lnTo>
                  <a:lnTo>
                    <a:pt x="3369057" y="442978"/>
                  </a:lnTo>
                  <a:lnTo>
                    <a:pt x="3391917" y="442978"/>
                  </a:lnTo>
                  <a:lnTo>
                    <a:pt x="3399537" y="427738"/>
                  </a:lnTo>
                  <a:close/>
                </a:path>
                <a:path w="3399790" h="519430">
                  <a:moveTo>
                    <a:pt x="30479" y="15239"/>
                  </a:moveTo>
                  <a:lnTo>
                    <a:pt x="15239" y="30479"/>
                  </a:lnTo>
                  <a:lnTo>
                    <a:pt x="30479" y="30479"/>
                  </a:lnTo>
                  <a:lnTo>
                    <a:pt x="30479" y="15239"/>
                  </a:lnTo>
                  <a:close/>
                </a:path>
                <a:path w="3399790" h="519430">
                  <a:moveTo>
                    <a:pt x="3338577" y="15239"/>
                  </a:moveTo>
                  <a:lnTo>
                    <a:pt x="30479" y="15239"/>
                  </a:lnTo>
                  <a:lnTo>
                    <a:pt x="30479" y="30479"/>
                  </a:lnTo>
                  <a:lnTo>
                    <a:pt x="3338577" y="30479"/>
                  </a:lnTo>
                  <a:lnTo>
                    <a:pt x="3338577" y="15239"/>
                  </a:lnTo>
                  <a:close/>
                </a:path>
                <a:path w="3399790" h="519430">
                  <a:moveTo>
                    <a:pt x="3369057" y="15239"/>
                  </a:moveTo>
                  <a:lnTo>
                    <a:pt x="3338577" y="15239"/>
                  </a:lnTo>
                  <a:lnTo>
                    <a:pt x="3353817" y="30479"/>
                  </a:lnTo>
                  <a:lnTo>
                    <a:pt x="3369057" y="30479"/>
                  </a:lnTo>
                  <a:lnTo>
                    <a:pt x="3369057" y="15239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252472" y="1902969"/>
              <a:ext cx="1014730" cy="341630"/>
            </a:xfrm>
            <a:custGeom>
              <a:avLst/>
              <a:gdLst/>
              <a:ahLst/>
              <a:cxnLst/>
              <a:rect l="l" t="t" r="r" b="b"/>
              <a:pathLst>
                <a:path w="1014729" h="341630">
                  <a:moveTo>
                    <a:pt x="0" y="56896"/>
                  </a:moveTo>
                  <a:lnTo>
                    <a:pt x="4471" y="34749"/>
                  </a:lnTo>
                  <a:lnTo>
                    <a:pt x="16664" y="16664"/>
                  </a:lnTo>
                  <a:lnTo>
                    <a:pt x="34749" y="4471"/>
                  </a:lnTo>
                  <a:lnTo>
                    <a:pt x="56896" y="0"/>
                  </a:lnTo>
                  <a:lnTo>
                    <a:pt x="957477" y="0"/>
                  </a:lnTo>
                  <a:lnTo>
                    <a:pt x="979624" y="4471"/>
                  </a:lnTo>
                  <a:lnTo>
                    <a:pt x="997709" y="16664"/>
                  </a:lnTo>
                  <a:lnTo>
                    <a:pt x="1009903" y="34749"/>
                  </a:lnTo>
                  <a:lnTo>
                    <a:pt x="1014374" y="56896"/>
                  </a:lnTo>
                  <a:lnTo>
                    <a:pt x="1014374" y="284479"/>
                  </a:lnTo>
                  <a:lnTo>
                    <a:pt x="1009903" y="306626"/>
                  </a:lnTo>
                  <a:lnTo>
                    <a:pt x="997709" y="324711"/>
                  </a:lnTo>
                  <a:lnTo>
                    <a:pt x="979624" y="336904"/>
                  </a:lnTo>
                  <a:lnTo>
                    <a:pt x="957477" y="341375"/>
                  </a:lnTo>
                  <a:lnTo>
                    <a:pt x="56896" y="341375"/>
                  </a:lnTo>
                  <a:lnTo>
                    <a:pt x="34749" y="336904"/>
                  </a:lnTo>
                  <a:lnTo>
                    <a:pt x="16664" y="324711"/>
                  </a:lnTo>
                  <a:lnTo>
                    <a:pt x="4471" y="306626"/>
                  </a:lnTo>
                  <a:lnTo>
                    <a:pt x="0" y="284479"/>
                  </a:lnTo>
                  <a:lnTo>
                    <a:pt x="0" y="56896"/>
                  </a:lnTo>
                  <a:close/>
                </a:path>
              </a:pathLst>
            </a:custGeom>
            <a:ln w="28186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429108" y="4752522"/>
            <a:ext cx="1837689" cy="1115695"/>
            <a:chOff x="429108" y="4752522"/>
            <a:chExt cx="1837689" cy="1115695"/>
          </a:xfrm>
        </p:grpSpPr>
        <p:sp>
          <p:nvSpPr>
            <p:cNvPr id="16" name="object 16"/>
            <p:cNvSpPr/>
            <p:nvPr/>
          </p:nvSpPr>
          <p:spPr>
            <a:xfrm>
              <a:off x="443202" y="4766614"/>
              <a:ext cx="1809750" cy="1087120"/>
            </a:xfrm>
            <a:custGeom>
              <a:avLst/>
              <a:gdLst/>
              <a:ahLst/>
              <a:cxnLst/>
              <a:rect l="l" t="t" r="r" b="b"/>
              <a:pathLst>
                <a:path w="1809750" h="1087120">
                  <a:moveTo>
                    <a:pt x="1686219" y="348794"/>
                  </a:moveTo>
                  <a:lnTo>
                    <a:pt x="123049" y="348794"/>
                  </a:lnTo>
                  <a:lnTo>
                    <a:pt x="75153" y="358463"/>
                  </a:lnTo>
                  <a:lnTo>
                    <a:pt x="36040" y="384834"/>
                  </a:lnTo>
                  <a:lnTo>
                    <a:pt x="9669" y="423947"/>
                  </a:lnTo>
                  <a:lnTo>
                    <a:pt x="1" y="471839"/>
                  </a:lnTo>
                  <a:lnTo>
                    <a:pt x="0" y="964023"/>
                  </a:lnTo>
                  <a:lnTo>
                    <a:pt x="9669" y="1011920"/>
                  </a:lnTo>
                  <a:lnTo>
                    <a:pt x="36040" y="1051032"/>
                  </a:lnTo>
                  <a:lnTo>
                    <a:pt x="75153" y="1077403"/>
                  </a:lnTo>
                  <a:lnTo>
                    <a:pt x="123049" y="1087073"/>
                  </a:lnTo>
                  <a:lnTo>
                    <a:pt x="1686219" y="1087073"/>
                  </a:lnTo>
                  <a:lnTo>
                    <a:pt x="1734116" y="1077403"/>
                  </a:lnTo>
                  <a:lnTo>
                    <a:pt x="1773228" y="1051032"/>
                  </a:lnTo>
                  <a:lnTo>
                    <a:pt x="1799598" y="1011920"/>
                  </a:lnTo>
                  <a:lnTo>
                    <a:pt x="1809268" y="964023"/>
                  </a:lnTo>
                  <a:lnTo>
                    <a:pt x="1809267" y="471839"/>
                  </a:lnTo>
                  <a:lnTo>
                    <a:pt x="1799598" y="423947"/>
                  </a:lnTo>
                  <a:lnTo>
                    <a:pt x="1773228" y="384834"/>
                  </a:lnTo>
                  <a:lnTo>
                    <a:pt x="1734116" y="358463"/>
                  </a:lnTo>
                  <a:lnTo>
                    <a:pt x="1686219" y="348794"/>
                  </a:lnTo>
                  <a:close/>
                </a:path>
                <a:path w="1809750" h="1087120">
                  <a:moveTo>
                    <a:pt x="842249" y="0"/>
                  </a:moveTo>
                  <a:lnTo>
                    <a:pt x="301544" y="348794"/>
                  </a:lnTo>
                  <a:lnTo>
                    <a:pt x="753862" y="348794"/>
                  </a:lnTo>
                  <a:lnTo>
                    <a:pt x="842249" y="0"/>
                  </a:lnTo>
                  <a:close/>
                </a:path>
              </a:pathLst>
            </a:custGeom>
            <a:solidFill>
              <a:srgbClr val="000E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43202" y="4766615"/>
              <a:ext cx="1809750" cy="1087120"/>
            </a:xfrm>
            <a:custGeom>
              <a:avLst/>
              <a:gdLst/>
              <a:ahLst/>
              <a:cxnLst/>
              <a:rect l="l" t="t" r="r" b="b"/>
              <a:pathLst>
                <a:path w="1809750" h="1087120">
                  <a:moveTo>
                    <a:pt x="0" y="471843"/>
                  </a:moveTo>
                  <a:lnTo>
                    <a:pt x="9669" y="423946"/>
                  </a:lnTo>
                  <a:lnTo>
                    <a:pt x="36040" y="384833"/>
                  </a:lnTo>
                  <a:lnTo>
                    <a:pt x="75153" y="358463"/>
                  </a:lnTo>
                  <a:lnTo>
                    <a:pt x="123049" y="348793"/>
                  </a:lnTo>
                  <a:lnTo>
                    <a:pt x="301544" y="348793"/>
                  </a:lnTo>
                  <a:lnTo>
                    <a:pt x="842250" y="0"/>
                  </a:lnTo>
                  <a:lnTo>
                    <a:pt x="753862" y="348793"/>
                  </a:lnTo>
                  <a:lnTo>
                    <a:pt x="1686219" y="348793"/>
                  </a:lnTo>
                  <a:lnTo>
                    <a:pt x="1734116" y="358463"/>
                  </a:lnTo>
                  <a:lnTo>
                    <a:pt x="1773228" y="384833"/>
                  </a:lnTo>
                  <a:lnTo>
                    <a:pt x="1799599" y="423946"/>
                  </a:lnTo>
                  <a:lnTo>
                    <a:pt x="1809269" y="471843"/>
                  </a:lnTo>
                  <a:lnTo>
                    <a:pt x="1809269" y="656409"/>
                  </a:lnTo>
                  <a:lnTo>
                    <a:pt x="1809269" y="964023"/>
                  </a:lnTo>
                  <a:lnTo>
                    <a:pt x="1799599" y="1011919"/>
                  </a:lnTo>
                  <a:lnTo>
                    <a:pt x="1773228" y="1051032"/>
                  </a:lnTo>
                  <a:lnTo>
                    <a:pt x="1734116" y="1077402"/>
                  </a:lnTo>
                  <a:lnTo>
                    <a:pt x="1686219" y="1087072"/>
                  </a:lnTo>
                  <a:lnTo>
                    <a:pt x="753862" y="1087072"/>
                  </a:lnTo>
                  <a:lnTo>
                    <a:pt x="301544" y="1087072"/>
                  </a:lnTo>
                  <a:lnTo>
                    <a:pt x="123049" y="1087072"/>
                  </a:lnTo>
                  <a:lnTo>
                    <a:pt x="75153" y="1077402"/>
                  </a:lnTo>
                  <a:lnTo>
                    <a:pt x="36040" y="1051032"/>
                  </a:lnTo>
                  <a:lnTo>
                    <a:pt x="9669" y="1011919"/>
                  </a:lnTo>
                  <a:lnTo>
                    <a:pt x="0" y="964023"/>
                  </a:lnTo>
                  <a:lnTo>
                    <a:pt x="0" y="656409"/>
                  </a:lnTo>
                  <a:lnTo>
                    <a:pt x="0" y="471839"/>
                  </a:lnTo>
                  <a:close/>
                </a:path>
              </a:pathLst>
            </a:custGeom>
            <a:ln w="28186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11210" y="5237479"/>
            <a:ext cx="1273810" cy="44640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 marR="5080" indent="23495">
              <a:lnSpc>
                <a:spcPts val="1510"/>
              </a:lnSpc>
              <a:spcBef>
                <a:spcPts val="390"/>
              </a:spcBef>
            </a:pP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How about </a:t>
            </a:r>
            <a:r>
              <a:rPr sz="1500" dirty="0">
                <a:solidFill>
                  <a:srgbClr val="FFFFFF"/>
                </a:solidFill>
                <a:latin typeface="Verdana"/>
                <a:cs typeface="Verdana"/>
              </a:rPr>
              <a:t>a </a:t>
            </a:r>
            <a:r>
              <a:rPr sz="1500" spc="-5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primary</a:t>
            </a:r>
            <a:r>
              <a:rPr sz="15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key?</a:t>
            </a:r>
            <a:endParaRPr sz="1500">
              <a:latin typeface="Verdana"/>
              <a:cs typeface="Verdan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26289" y="3042821"/>
            <a:ext cx="2844800" cy="691515"/>
            <a:chOff x="626289" y="3042821"/>
            <a:chExt cx="2844800" cy="691515"/>
          </a:xfrm>
        </p:grpSpPr>
        <p:sp>
          <p:nvSpPr>
            <p:cNvPr id="20" name="object 20"/>
            <p:cNvSpPr/>
            <p:nvPr/>
          </p:nvSpPr>
          <p:spPr>
            <a:xfrm>
              <a:off x="640381" y="3056914"/>
              <a:ext cx="2816225" cy="662940"/>
            </a:xfrm>
            <a:custGeom>
              <a:avLst/>
              <a:gdLst/>
              <a:ahLst/>
              <a:cxnLst/>
              <a:rect l="l" t="t" r="r" b="b"/>
              <a:pathLst>
                <a:path w="2816225" h="662939">
                  <a:moveTo>
                    <a:pt x="2705725" y="0"/>
                  </a:moveTo>
                  <a:lnTo>
                    <a:pt x="110454" y="0"/>
                  </a:lnTo>
                  <a:lnTo>
                    <a:pt x="67460" y="8680"/>
                  </a:lnTo>
                  <a:lnTo>
                    <a:pt x="32351" y="32351"/>
                  </a:lnTo>
                  <a:lnTo>
                    <a:pt x="8680" y="67461"/>
                  </a:lnTo>
                  <a:lnTo>
                    <a:pt x="0" y="110455"/>
                  </a:lnTo>
                  <a:lnTo>
                    <a:pt x="0" y="552268"/>
                  </a:lnTo>
                  <a:lnTo>
                    <a:pt x="8680" y="595262"/>
                  </a:lnTo>
                  <a:lnTo>
                    <a:pt x="32351" y="630371"/>
                  </a:lnTo>
                  <a:lnTo>
                    <a:pt x="67460" y="654042"/>
                  </a:lnTo>
                  <a:lnTo>
                    <a:pt x="110454" y="662722"/>
                  </a:lnTo>
                  <a:lnTo>
                    <a:pt x="2705725" y="662722"/>
                  </a:lnTo>
                  <a:lnTo>
                    <a:pt x="2748719" y="654042"/>
                  </a:lnTo>
                  <a:lnTo>
                    <a:pt x="2783828" y="630371"/>
                  </a:lnTo>
                  <a:lnTo>
                    <a:pt x="2807499" y="595262"/>
                  </a:lnTo>
                  <a:lnTo>
                    <a:pt x="2816179" y="552268"/>
                  </a:lnTo>
                  <a:lnTo>
                    <a:pt x="2816179" y="110455"/>
                  </a:lnTo>
                  <a:lnTo>
                    <a:pt x="2807499" y="67461"/>
                  </a:lnTo>
                  <a:lnTo>
                    <a:pt x="2783828" y="32351"/>
                  </a:lnTo>
                  <a:lnTo>
                    <a:pt x="2748719" y="8680"/>
                  </a:lnTo>
                  <a:lnTo>
                    <a:pt x="2705725" y="0"/>
                  </a:lnTo>
                  <a:close/>
                </a:path>
              </a:pathLst>
            </a:custGeom>
            <a:solidFill>
              <a:srgbClr val="FFFF00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40381" y="3056914"/>
              <a:ext cx="2816225" cy="662940"/>
            </a:xfrm>
            <a:custGeom>
              <a:avLst/>
              <a:gdLst/>
              <a:ahLst/>
              <a:cxnLst/>
              <a:rect l="l" t="t" r="r" b="b"/>
              <a:pathLst>
                <a:path w="2816225" h="662939">
                  <a:moveTo>
                    <a:pt x="0" y="110454"/>
                  </a:moveTo>
                  <a:lnTo>
                    <a:pt x="8680" y="67460"/>
                  </a:lnTo>
                  <a:lnTo>
                    <a:pt x="32351" y="32351"/>
                  </a:lnTo>
                  <a:lnTo>
                    <a:pt x="67460" y="8680"/>
                  </a:lnTo>
                  <a:lnTo>
                    <a:pt x="110454" y="0"/>
                  </a:lnTo>
                  <a:lnTo>
                    <a:pt x="2705725" y="0"/>
                  </a:lnTo>
                  <a:lnTo>
                    <a:pt x="2748719" y="8680"/>
                  </a:lnTo>
                  <a:lnTo>
                    <a:pt x="2783829" y="32351"/>
                  </a:lnTo>
                  <a:lnTo>
                    <a:pt x="2807500" y="67460"/>
                  </a:lnTo>
                  <a:lnTo>
                    <a:pt x="2816180" y="110454"/>
                  </a:lnTo>
                  <a:lnTo>
                    <a:pt x="2816180" y="552267"/>
                  </a:lnTo>
                  <a:lnTo>
                    <a:pt x="2807500" y="595261"/>
                  </a:lnTo>
                  <a:lnTo>
                    <a:pt x="2783829" y="630370"/>
                  </a:lnTo>
                  <a:lnTo>
                    <a:pt x="2748719" y="654042"/>
                  </a:lnTo>
                  <a:lnTo>
                    <a:pt x="2705725" y="662722"/>
                  </a:lnTo>
                  <a:lnTo>
                    <a:pt x="110454" y="662722"/>
                  </a:lnTo>
                  <a:lnTo>
                    <a:pt x="67460" y="654042"/>
                  </a:lnTo>
                  <a:lnTo>
                    <a:pt x="32351" y="630370"/>
                  </a:lnTo>
                  <a:lnTo>
                    <a:pt x="8680" y="595261"/>
                  </a:lnTo>
                  <a:lnTo>
                    <a:pt x="0" y="552267"/>
                  </a:lnTo>
                  <a:lnTo>
                    <a:pt x="0" y="110454"/>
                  </a:lnTo>
                  <a:close/>
                </a:path>
              </a:pathLst>
            </a:custGeom>
            <a:ln w="28185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3511159" y="5955767"/>
            <a:ext cx="3980179" cy="363220"/>
            <a:chOff x="3511159" y="5955767"/>
            <a:chExt cx="3980179" cy="363220"/>
          </a:xfrm>
        </p:grpSpPr>
        <p:sp>
          <p:nvSpPr>
            <p:cNvPr id="23" name="object 23"/>
            <p:cNvSpPr/>
            <p:nvPr/>
          </p:nvSpPr>
          <p:spPr>
            <a:xfrm>
              <a:off x="3525252" y="5969859"/>
              <a:ext cx="3951604" cy="335280"/>
            </a:xfrm>
            <a:custGeom>
              <a:avLst/>
              <a:gdLst/>
              <a:ahLst/>
              <a:cxnLst/>
              <a:rect l="l" t="t" r="r" b="b"/>
              <a:pathLst>
                <a:path w="3951604" h="335279">
                  <a:moveTo>
                    <a:pt x="3895613" y="0"/>
                  </a:moveTo>
                  <a:lnTo>
                    <a:pt x="55813" y="0"/>
                  </a:lnTo>
                  <a:lnTo>
                    <a:pt x="34089" y="4386"/>
                  </a:lnTo>
                  <a:lnTo>
                    <a:pt x="16347" y="16347"/>
                  </a:lnTo>
                  <a:lnTo>
                    <a:pt x="4386" y="34088"/>
                  </a:lnTo>
                  <a:lnTo>
                    <a:pt x="0" y="55813"/>
                  </a:lnTo>
                  <a:lnTo>
                    <a:pt x="0" y="279059"/>
                  </a:lnTo>
                  <a:lnTo>
                    <a:pt x="4386" y="300785"/>
                  </a:lnTo>
                  <a:lnTo>
                    <a:pt x="16347" y="318526"/>
                  </a:lnTo>
                  <a:lnTo>
                    <a:pt x="34089" y="330487"/>
                  </a:lnTo>
                  <a:lnTo>
                    <a:pt x="55813" y="334873"/>
                  </a:lnTo>
                  <a:lnTo>
                    <a:pt x="3895613" y="334873"/>
                  </a:lnTo>
                  <a:lnTo>
                    <a:pt x="3917338" y="330487"/>
                  </a:lnTo>
                  <a:lnTo>
                    <a:pt x="3935079" y="318526"/>
                  </a:lnTo>
                  <a:lnTo>
                    <a:pt x="3947041" y="300785"/>
                  </a:lnTo>
                  <a:lnTo>
                    <a:pt x="3951427" y="279059"/>
                  </a:lnTo>
                  <a:lnTo>
                    <a:pt x="3951427" y="55813"/>
                  </a:lnTo>
                  <a:lnTo>
                    <a:pt x="3947041" y="34088"/>
                  </a:lnTo>
                  <a:lnTo>
                    <a:pt x="3935079" y="16347"/>
                  </a:lnTo>
                  <a:lnTo>
                    <a:pt x="3917338" y="4386"/>
                  </a:lnTo>
                  <a:lnTo>
                    <a:pt x="3895613" y="0"/>
                  </a:lnTo>
                  <a:close/>
                </a:path>
              </a:pathLst>
            </a:custGeom>
            <a:solidFill>
              <a:srgbClr val="FFFF00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525252" y="5969859"/>
              <a:ext cx="3951604" cy="335280"/>
            </a:xfrm>
            <a:custGeom>
              <a:avLst/>
              <a:gdLst/>
              <a:ahLst/>
              <a:cxnLst/>
              <a:rect l="l" t="t" r="r" b="b"/>
              <a:pathLst>
                <a:path w="3951604" h="335279">
                  <a:moveTo>
                    <a:pt x="0" y="55814"/>
                  </a:moveTo>
                  <a:lnTo>
                    <a:pt x="4386" y="34088"/>
                  </a:lnTo>
                  <a:lnTo>
                    <a:pt x="16347" y="16347"/>
                  </a:lnTo>
                  <a:lnTo>
                    <a:pt x="34088" y="4386"/>
                  </a:lnTo>
                  <a:lnTo>
                    <a:pt x="55814" y="0"/>
                  </a:lnTo>
                  <a:lnTo>
                    <a:pt x="3895612" y="0"/>
                  </a:lnTo>
                  <a:lnTo>
                    <a:pt x="3917338" y="4386"/>
                  </a:lnTo>
                  <a:lnTo>
                    <a:pt x="3935079" y="16347"/>
                  </a:lnTo>
                  <a:lnTo>
                    <a:pt x="3947040" y="34088"/>
                  </a:lnTo>
                  <a:lnTo>
                    <a:pt x="3951427" y="55814"/>
                  </a:lnTo>
                  <a:lnTo>
                    <a:pt x="3951427" y="279059"/>
                  </a:lnTo>
                  <a:lnTo>
                    <a:pt x="3947040" y="300784"/>
                  </a:lnTo>
                  <a:lnTo>
                    <a:pt x="3935079" y="318525"/>
                  </a:lnTo>
                  <a:lnTo>
                    <a:pt x="3917338" y="330487"/>
                  </a:lnTo>
                  <a:lnTo>
                    <a:pt x="3895612" y="334873"/>
                  </a:lnTo>
                  <a:lnTo>
                    <a:pt x="55814" y="334873"/>
                  </a:lnTo>
                  <a:lnTo>
                    <a:pt x="34088" y="330487"/>
                  </a:lnTo>
                  <a:lnTo>
                    <a:pt x="16347" y="318525"/>
                  </a:lnTo>
                  <a:lnTo>
                    <a:pt x="4386" y="300784"/>
                  </a:lnTo>
                  <a:lnTo>
                    <a:pt x="0" y="279059"/>
                  </a:lnTo>
                  <a:lnTo>
                    <a:pt x="0" y="55814"/>
                  </a:lnTo>
                  <a:close/>
                </a:path>
              </a:pathLst>
            </a:custGeom>
            <a:ln w="28185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337324" y="3755135"/>
            <a:ext cx="30607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004DD6"/>
                </a:solidFill>
                <a:latin typeface="Verdana"/>
                <a:cs typeface="Verdana"/>
              </a:rPr>
              <a:t>PK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647616" y="6309360"/>
            <a:ext cx="30607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004DD6"/>
                </a:solidFill>
                <a:latin typeface="Verdana"/>
                <a:cs typeface="Verdana"/>
              </a:rPr>
              <a:t>PK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854186" y="4325111"/>
            <a:ext cx="30607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004DD6"/>
                </a:solidFill>
                <a:latin typeface="Verdana"/>
                <a:cs typeface="Verdana"/>
              </a:rPr>
              <a:t>PK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86381" y="4164182"/>
            <a:ext cx="2552700" cy="151765"/>
          </a:xfrm>
          <a:custGeom>
            <a:avLst/>
            <a:gdLst/>
            <a:ahLst/>
            <a:cxnLst/>
            <a:rect l="l" t="t" r="r" b="b"/>
            <a:pathLst>
              <a:path w="2552700" h="151764">
                <a:moveTo>
                  <a:pt x="2552190" y="0"/>
                </a:moveTo>
                <a:lnTo>
                  <a:pt x="2551197" y="59031"/>
                </a:lnTo>
                <a:lnTo>
                  <a:pt x="2548489" y="107238"/>
                </a:lnTo>
                <a:lnTo>
                  <a:pt x="2544472" y="139739"/>
                </a:lnTo>
                <a:lnTo>
                  <a:pt x="2539552" y="151657"/>
                </a:lnTo>
                <a:lnTo>
                  <a:pt x="12637" y="151657"/>
                </a:lnTo>
                <a:lnTo>
                  <a:pt x="7718" y="139739"/>
                </a:lnTo>
                <a:lnTo>
                  <a:pt x="3701" y="107238"/>
                </a:lnTo>
                <a:lnTo>
                  <a:pt x="993" y="59031"/>
                </a:lnTo>
                <a:lnTo>
                  <a:pt x="0" y="0"/>
                </a:lnTo>
              </a:path>
            </a:pathLst>
          </a:custGeom>
          <a:ln w="20319"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7719" y="319023"/>
            <a:ext cx="844296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(</a:t>
            </a:r>
            <a:r>
              <a:rPr spc="-145" dirty="0"/>
              <a:t>A</a:t>
            </a:r>
            <a:r>
              <a:rPr spc="-130" dirty="0"/>
              <a:t>ddi</a:t>
            </a:r>
            <a:r>
              <a:rPr spc="-120" dirty="0"/>
              <a:t>t</a:t>
            </a:r>
            <a:r>
              <a:rPr spc="-125" dirty="0"/>
              <a:t>io</a:t>
            </a:r>
            <a:r>
              <a:rPr spc="-135" dirty="0"/>
              <a:t>n</a:t>
            </a:r>
            <a:r>
              <a:rPr spc="-130" dirty="0"/>
              <a:t>al</a:t>
            </a:r>
            <a:r>
              <a:rPr dirty="0"/>
              <a:t>)</a:t>
            </a:r>
            <a:r>
              <a:rPr spc="-254" dirty="0"/>
              <a:t> </a:t>
            </a:r>
            <a:r>
              <a:rPr spc="-130" dirty="0"/>
              <a:t>Pra</a:t>
            </a:r>
            <a:r>
              <a:rPr spc="-135" dirty="0"/>
              <a:t>c</a:t>
            </a:r>
            <a:r>
              <a:rPr spc="-120" dirty="0"/>
              <a:t>t</a:t>
            </a:r>
            <a:r>
              <a:rPr spc="-125" dirty="0"/>
              <a:t>i</a:t>
            </a:r>
            <a:r>
              <a:rPr spc="-135" dirty="0"/>
              <a:t>c</a:t>
            </a:r>
            <a:r>
              <a:rPr dirty="0"/>
              <a:t>e</a:t>
            </a:r>
            <a:r>
              <a:rPr spc="-250" dirty="0"/>
              <a:t> </a:t>
            </a:r>
            <a:r>
              <a:rPr spc="-145" dirty="0"/>
              <a:t>A</a:t>
            </a:r>
            <a:r>
              <a:rPr spc="-135" dirty="0"/>
              <a:t>c</a:t>
            </a:r>
            <a:r>
              <a:rPr spc="-120" dirty="0"/>
              <a:t>t</a:t>
            </a:r>
            <a:r>
              <a:rPr spc="-125" dirty="0"/>
              <a:t>i</a:t>
            </a:r>
            <a:r>
              <a:rPr spc="-130" dirty="0"/>
              <a:t>vi</a:t>
            </a:r>
            <a:r>
              <a:rPr spc="-120" dirty="0"/>
              <a:t>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9795" y="1875535"/>
            <a:ext cx="9401175" cy="268351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1899"/>
              </a:lnSpc>
              <a:spcBef>
                <a:spcPts val="50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This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open-ended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activity,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consisting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3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relations.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each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relation, think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about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stored.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40" dirty="0">
                <a:solidFill>
                  <a:srgbClr val="292934"/>
                </a:solidFill>
                <a:latin typeface="Verdana"/>
                <a:cs typeface="Verdana"/>
              </a:rPr>
              <a:t>You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should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also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consider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type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data.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Write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schema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relation.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Feel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free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make </a:t>
            </a:r>
            <a:r>
              <a:rPr sz="2100" spc="-7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any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reasonable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assumption.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150">
              <a:latin typeface="Verdana"/>
              <a:cs typeface="Verdana"/>
            </a:endParaRPr>
          </a:p>
          <a:p>
            <a:pPr marL="12700" marR="24130">
              <a:lnSpc>
                <a:spcPct val="100000"/>
              </a:lnSpc>
              <a:spcBef>
                <a:spcPts val="5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Consider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following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description.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Write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schemas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represent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2100" spc="-7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models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given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description.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4846" y="319023"/>
            <a:ext cx="955929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(</a:t>
            </a:r>
            <a:r>
              <a:rPr spc="-145" dirty="0"/>
              <a:t>A</a:t>
            </a:r>
            <a:r>
              <a:rPr spc="-130" dirty="0"/>
              <a:t>ddi</a:t>
            </a:r>
            <a:r>
              <a:rPr spc="-120" dirty="0"/>
              <a:t>t</a:t>
            </a:r>
            <a:r>
              <a:rPr spc="-125" dirty="0"/>
              <a:t>io</a:t>
            </a:r>
            <a:r>
              <a:rPr spc="-135" dirty="0"/>
              <a:t>n</a:t>
            </a:r>
            <a:r>
              <a:rPr spc="-130" dirty="0"/>
              <a:t>al</a:t>
            </a:r>
            <a:r>
              <a:rPr dirty="0"/>
              <a:t>)</a:t>
            </a:r>
            <a:r>
              <a:rPr spc="-254" dirty="0"/>
              <a:t> </a:t>
            </a:r>
            <a:r>
              <a:rPr spc="-130" dirty="0"/>
              <a:t>Pra</a:t>
            </a:r>
            <a:r>
              <a:rPr spc="-135" dirty="0"/>
              <a:t>c</a:t>
            </a:r>
            <a:r>
              <a:rPr spc="-120" dirty="0"/>
              <a:t>t</a:t>
            </a:r>
            <a:r>
              <a:rPr spc="-125" dirty="0"/>
              <a:t>i</a:t>
            </a:r>
            <a:r>
              <a:rPr spc="-135" dirty="0"/>
              <a:t>c</a:t>
            </a:r>
            <a:r>
              <a:rPr dirty="0"/>
              <a:t>e</a:t>
            </a:r>
            <a:r>
              <a:rPr spc="-250" dirty="0"/>
              <a:t> </a:t>
            </a:r>
            <a:r>
              <a:rPr spc="-145" dirty="0"/>
              <a:t>A</a:t>
            </a:r>
            <a:r>
              <a:rPr spc="-135" dirty="0"/>
              <a:t>c</a:t>
            </a:r>
            <a:r>
              <a:rPr spc="-120" dirty="0"/>
              <a:t>t</a:t>
            </a:r>
            <a:r>
              <a:rPr spc="-125" dirty="0"/>
              <a:t>i</a:t>
            </a:r>
            <a:r>
              <a:rPr spc="-130" dirty="0"/>
              <a:t>vi</a:t>
            </a:r>
            <a:r>
              <a:rPr spc="-120" dirty="0"/>
              <a:t>t</a:t>
            </a:r>
            <a:r>
              <a:rPr dirty="0"/>
              <a:t>y</a:t>
            </a:r>
            <a:r>
              <a:rPr spc="-260" dirty="0"/>
              <a:t> </a:t>
            </a:r>
            <a:r>
              <a:rPr spc="-125" dirty="0"/>
              <a:t>(</a:t>
            </a:r>
            <a:r>
              <a:rPr spc="-130" dirty="0"/>
              <a:t>2</a:t>
            </a:r>
            <a:r>
              <a:rPr dirty="0"/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9795" y="1207008"/>
            <a:ext cx="9365615" cy="5840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Relation: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spc="20" dirty="0">
                <a:solidFill>
                  <a:srgbClr val="292934"/>
                </a:solidFill>
                <a:latin typeface="Verdana"/>
                <a:cs typeface="Verdana"/>
              </a:rPr>
              <a:t>Movies</a:t>
            </a:r>
            <a:endParaRPr sz="2300">
              <a:latin typeface="Verdana"/>
              <a:cs typeface="Verdana"/>
            </a:endParaRPr>
          </a:p>
          <a:p>
            <a:pPr marL="12700" marR="80010">
              <a:lnSpc>
                <a:spcPct val="102099"/>
              </a:lnSpc>
              <a:spcBef>
                <a:spcPts val="1480"/>
              </a:spcBef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movie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has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i="1" spc="5" dirty="0">
                <a:solidFill>
                  <a:srgbClr val="292934"/>
                </a:solidFill>
                <a:latin typeface="Verdana"/>
                <a:cs typeface="Verdana"/>
              </a:rPr>
              <a:t>title</a:t>
            </a:r>
            <a:r>
              <a:rPr sz="1900" i="1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i="1" spc="5" dirty="0">
                <a:solidFill>
                  <a:srgbClr val="292934"/>
                </a:solidFill>
                <a:latin typeface="Verdana"/>
                <a:cs typeface="Verdana"/>
              </a:rPr>
              <a:t>year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;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i="1" spc="5" dirty="0">
                <a:solidFill>
                  <a:srgbClr val="292934"/>
                </a:solidFill>
                <a:latin typeface="Verdana"/>
                <a:cs typeface="Verdana"/>
              </a:rPr>
              <a:t>title</a:t>
            </a:r>
            <a:r>
              <a:rPr sz="1900" i="1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i="1" spc="5" dirty="0">
                <a:solidFill>
                  <a:srgbClr val="292934"/>
                </a:solidFill>
                <a:latin typeface="Verdana"/>
                <a:cs typeface="Verdana"/>
              </a:rPr>
              <a:t>year</a:t>
            </a:r>
            <a:r>
              <a:rPr sz="1900" i="1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together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uniquely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identify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movie.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i="1" spc="5" dirty="0">
                <a:solidFill>
                  <a:srgbClr val="292934"/>
                </a:solidFill>
                <a:latin typeface="Verdana"/>
                <a:cs typeface="Verdana"/>
              </a:rPr>
              <a:t>Length</a:t>
            </a:r>
            <a:r>
              <a:rPr sz="1900" i="1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i="1" spc="5" dirty="0">
                <a:solidFill>
                  <a:srgbClr val="292934"/>
                </a:solidFill>
                <a:latin typeface="Verdana"/>
                <a:cs typeface="Verdana"/>
              </a:rPr>
              <a:t>genre</a:t>
            </a:r>
            <a:r>
              <a:rPr sz="1900" i="1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maintained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movie.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movie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is </a:t>
            </a:r>
            <a:r>
              <a:rPr sz="1900" spc="-6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associated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i="1" spc="5" dirty="0">
                <a:solidFill>
                  <a:srgbClr val="292934"/>
                </a:solidFill>
                <a:latin typeface="Verdana"/>
                <a:cs typeface="Verdana"/>
              </a:rPr>
              <a:t>studioName</a:t>
            </a:r>
            <a:r>
              <a:rPr sz="1900" i="1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which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tells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us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studio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owns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movie,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i="1" spc="5" dirty="0">
                <a:solidFill>
                  <a:srgbClr val="292934"/>
                </a:solidFill>
                <a:latin typeface="Verdana"/>
                <a:cs typeface="Verdana"/>
              </a:rPr>
              <a:t>producerC#</a:t>
            </a:r>
            <a:r>
              <a:rPr sz="1900" i="1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which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an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integer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represents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producer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of </a:t>
            </a:r>
            <a:r>
              <a:rPr sz="1900" spc="-6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movie.</a:t>
            </a: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Relation: </a:t>
            </a:r>
            <a:r>
              <a:rPr sz="2300" b="1" spc="20" dirty="0">
                <a:solidFill>
                  <a:srgbClr val="292934"/>
                </a:solidFill>
                <a:latin typeface="Verdana"/>
                <a:cs typeface="Verdana"/>
              </a:rPr>
              <a:t>MovieStar</a:t>
            </a:r>
            <a:endParaRPr sz="2300">
              <a:latin typeface="Verdana"/>
              <a:cs typeface="Verdana"/>
            </a:endParaRPr>
          </a:p>
          <a:p>
            <a:pPr marL="12700" marR="327660">
              <a:lnSpc>
                <a:spcPct val="101099"/>
              </a:lnSpc>
              <a:spcBef>
                <a:spcPts val="1530"/>
              </a:spcBef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This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tells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us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something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about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stars.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It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maintains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i="1" spc="5" dirty="0">
                <a:solidFill>
                  <a:srgbClr val="292934"/>
                </a:solidFill>
                <a:latin typeface="Verdana"/>
                <a:cs typeface="Verdana"/>
              </a:rPr>
              <a:t>name</a:t>
            </a:r>
            <a:r>
              <a:rPr sz="1900" i="1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1900" spc="-6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movie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star,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address,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35" dirty="0">
                <a:solidFill>
                  <a:srgbClr val="292934"/>
                </a:solidFill>
                <a:latin typeface="Verdana"/>
                <a:cs typeface="Verdana"/>
              </a:rPr>
              <a:t>gender,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birthdate.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gender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single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character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(</a:t>
            </a:r>
            <a:r>
              <a:rPr sz="1900" i="1" dirty="0">
                <a:solidFill>
                  <a:srgbClr val="292934"/>
                </a:solidFill>
                <a:latin typeface="Verdana"/>
                <a:cs typeface="Verdana"/>
              </a:rPr>
              <a:t>M</a:t>
            </a:r>
            <a:r>
              <a:rPr sz="1900" i="1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or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i="1" dirty="0">
                <a:solidFill>
                  <a:srgbClr val="292934"/>
                </a:solidFill>
                <a:latin typeface="Verdana"/>
                <a:cs typeface="Verdana"/>
              </a:rPr>
              <a:t>F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).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Birthday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type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“date,”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which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might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character </a:t>
            </a:r>
            <a:r>
              <a:rPr sz="1900" spc="-6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string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special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form.</a:t>
            </a: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Relation:</a:t>
            </a: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spc="15" dirty="0">
                <a:solidFill>
                  <a:srgbClr val="292934"/>
                </a:solidFill>
                <a:latin typeface="Verdana"/>
                <a:cs typeface="Verdana"/>
              </a:rPr>
              <a:t>StarsIn</a:t>
            </a:r>
            <a:endParaRPr sz="2300">
              <a:latin typeface="Verdana"/>
              <a:cs typeface="Verdana"/>
            </a:endParaRPr>
          </a:p>
          <a:p>
            <a:pPr marL="12700" marR="5080">
              <a:lnSpc>
                <a:spcPct val="101099"/>
              </a:lnSpc>
              <a:spcBef>
                <a:spcPts val="1530"/>
              </a:spcBef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This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connects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movies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stars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movie,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likewise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connects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stars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movies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which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they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appeared.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star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might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appear </a:t>
            </a:r>
            <a:r>
              <a:rPr sz="1900" spc="-6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multiple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movies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one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year.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23331" y="3389488"/>
            <a:ext cx="9175750" cy="0"/>
          </a:xfrm>
          <a:custGeom>
            <a:avLst/>
            <a:gdLst/>
            <a:ahLst/>
            <a:cxnLst/>
            <a:rect l="l" t="t" r="r" b="b"/>
            <a:pathLst>
              <a:path w="9175750">
                <a:moveTo>
                  <a:pt x="0" y="0"/>
                </a:moveTo>
                <a:lnTo>
                  <a:pt x="9175609" y="1"/>
                </a:lnTo>
              </a:path>
            </a:pathLst>
          </a:custGeom>
          <a:ln w="10159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3331" y="5430520"/>
            <a:ext cx="9175750" cy="0"/>
          </a:xfrm>
          <a:custGeom>
            <a:avLst/>
            <a:gdLst/>
            <a:ahLst/>
            <a:cxnLst/>
            <a:rect l="l" t="t" r="r" b="b"/>
            <a:pathLst>
              <a:path w="9175750">
                <a:moveTo>
                  <a:pt x="0" y="0"/>
                </a:moveTo>
                <a:lnTo>
                  <a:pt x="9175609" y="1"/>
                </a:lnTo>
              </a:path>
            </a:pathLst>
          </a:custGeom>
          <a:ln w="10159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B6316-6B40-1085-4CE6-640002E2AD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</p:spPr>
        <p:txBody>
          <a:bodyPr wrap="square">
            <a:normAutofit/>
          </a:bodyPr>
          <a:lstStyle/>
          <a:p>
            <a:r>
              <a:rPr lang="en-US" dirty="0"/>
              <a:t>Intro to ER Diagram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466F996-9EBB-C04B-8FBE-187838BF36D8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223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15">
              <a:lnSpc>
                <a:spcPct val="100000"/>
              </a:lnSpc>
              <a:spcBef>
                <a:spcPts val="100"/>
              </a:spcBef>
            </a:pPr>
            <a:r>
              <a:rPr spc="-110" dirty="0">
                <a:solidFill>
                  <a:srgbClr val="292934"/>
                </a:solidFill>
              </a:rPr>
              <a:t>I’ve</a:t>
            </a:r>
            <a:r>
              <a:rPr spc="-260" dirty="0">
                <a:solidFill>
                  <a:srgbClr val="292934"/>
                </a:solidFill>
              </a:rPr>
              <a:t> </a:t>
            </a:r>
            <a:r>
              <a:rPr spc="-85" dirty="0">
                <a:solidFill>
                  <a:srgbClr val="292934"/>
                </a:solidFill>
              </a:rPr>
              <a:t>Got</a:t>
            </a:r>
            <a:r>
              <a:rPr spc="-285" dirty="0">
                <a:solidFill>
                  <a:srgbClr val="292934"/>
                </a:solidFill>
              </a:rPr>
              <a:t> </a:t>
            </a:r>
            <a:r>
              <a:rPr spc="-105" dirty="0">
                <a:solidFill>
                  <a:srgbClr val="292934"/>
                </a:solidFill>
              </a:rPr>
              <a:t>Great</a:t>
            </a:r>
            <a:r>
              <a:rPr spc="-265" dirty="0">
                <a:solidFill>
                  <a:srgbClr val="292934"/>
                </a:solidFill>
              </a:rPr>
              <a:t> </a:t>
            </a:r>
            <a:r>
              <a:rPr spc="-114" dirty="0">
                <a:solidFill>
                  <a:srgbClr val="292934"/>
                </a:solidFill>
              </a:rPr>
              <a:t>Ideas</a:t>
            </a:r>
            <a:r>
              <a:rPr spc="-254" dirty="0">
                <a:solidFill>
                  <a:srgbClr val="292934"/>
                </a:solidFill>
              </a:rPr>
              <a:t> </a:t>
            </a:r>
            <a:r>
              <a:rPr spc="-90" dirty="0">
                <a:solidFill>
                  <a:srgbClr val="292934"/>
                </a:solidFill>
              </a:rPr>
              <a:t>for</a:t>
            </a:r>
            <a:r>
              <a:rPr spc="-275" dirty="0">
                <a:solidFill>
                  <a:srgbClr val="292934"/>
                </a:solidFill>
              </a:rPr>
              <a:t> </a:t>
            </a:r>
            <a:r>
              <a:rPr spc="-35" dirty="0">
                <a:solidFill>
                  <a:srgbClr val="292934"/>
                </a:solidFill>
              </a:rPr>
              <a:t>An</a:t>
            </a:r>
            <a:r>
              <a:rPr spc="-275" dirty="0">
                <a:solidFill>
                  <a:srgbClr val="292934"/>
                </a:solidFill>
              </a:rPr>
              <a:t> </a:t>
            </a:r>
            <a:r>
              <a:rPr spc="-25" dirty="0">
                <a:solidFill>
                  <a:srgbClr val="292934"/>
                </a:solidFill>
              </a:rPr>
              <a:t>App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9075" y="7013447"/>
            <a:ext cx="879856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solidFill>
                  <a:srgbClr val="292934"/>
                </a:solidFill>
                <a:latin typeface="Arial MT"/>
                <a:cs typeface="Arial MT"/>
              </a:rPr>
              <a:t>[modified</a:t>
            </a:r>
            <a:r>
              <a:rPr sz="1100" spc="9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292934"/>
                </a:solidFill>
                <a:latin typeface="Arial MT"/>
                <a:cs typeface="Arial MT"/>
              </a:rPr>
              <a:t>from</a:t>
            </a:r>
            <a:r>
              <a:rPr sz="1100" spc="10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292934"/>
                </a:solidFill>
                <a:latin typeface="Arial MT"/>
                <a:cs typeface="Arial MT"/>
              </a:rPr>
              <a:t>image</a:t>
            </a:r>
            <a:r>
              <a:rPr sz="1100" spc="1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92934"/>
                </a:solidFill>
                <a:latin typeface="Arial MT"/>
                <a:cs typeface="Arial MT"/>
              </a:rPr>
              <a:t>by</a:t>
            </a:r>
            <a:r>
              <a:rPr sz="1100" spc="1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292934"/>
                </a:solidFill>
                <a:latin typeface="Arial MT"/>
                <a:cs typeface="Arial MT"/>
              </a:rPr>
              <a:t>Janetti,</a:t>
            </a:r>
            <a:r>
              <a:rPr sz="1100" spc="1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100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</a:rPr>
              <a:t>https://</a:t>
            </a:r>
            <a:r>
              <a:rPr sz="1100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www.cleanpng.com/png-</a:t>
            </a:r>
            <a:r>
              <a:rPr sz="11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project-</a:t>
            </a:r>
            <a:r>
              <a:rPr sz="1100" u="sng" spc="-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management-</a:t>
            </a:r>
            <a:r>
              <a:rPr sz="11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project-</a:t>
            </a:r>
            <a:r>
              <a:rPr sz="1100" u="sng" spc="-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manager-</a:t>
            </a:r>
            <a:r>
              <a:rPr sz="11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architectural-</a:t>
            </a:r>
            <a:r>
              <a:rPr sz="1100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e-</a:t>
            </a:r>
            <a:r>
              <a:rPr sz="1100" u="sng" spc="-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5729993/download-</a:t>
            </a:r>
            <a:r>
              <a:rPr sz="11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png.html</a:t>
            </a:r>
            <a:r>
              <a:rPr sz="1100" u="sng" spc="-10" dirty="0">
                <a:solidFill>
                  <a:srgbClr val="292934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</a:rPr>
              <a:t>]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46591" y="1312331"/>
            <a:ext cx="1355090" cy="595630"/>
            <a:chOff x="946591" y="1312331"/>
            <a:chExt cx="1355090" cy="595630"/>
          </a:xfrm>
        </p:grpSpPr>
        <p:sp>
          <p:nvSpPr>
            <p:cNvPr id="5" name="object 5"/>
            <p:cNvSpPr/>
            <p:nvPr/>
          </p:nvSpPr>
          <p:spPr>
            <a:xfrm>
              <a:off x="953576" y="1319316"/>
              <a:ext cx="1341120" cy="581660"/>
            </a:xfrm>
            <a:custGeom>
              <a:avLst/>
              <a:gdLst/>
              <a:ahLst/>
              <a:cxnLst/>
              <a:rect l="l" t="t" r="r" b="b"/>
              <a:pathLst>
                <a:path w="1341120" h="581660">
                  <a:moveTo>
                    <a:pt x="1244230" y="0"/>
                  </a:moveTo>
                  <a:lnTo>
                    <a:pt x="96889" y="0"/>
                  </a:lnTo>
                  <a:lnTo>
                    <a:pt x="59175" y="7614"/>
                  </a:lnTo>
                  <a:lnTo>
                    <a:pt x="28378" y="28378"/>
                  </a:lnTo>
                  <a:lnTo>
                    <a:pt x="7614" y="59175"/>
                  </a:lnTo>
                  <a:lnTo>
                    <a:pt x="0" y="96889"/>
                  </a:lnTo>
                  <a:lnTo>
                    <a:pt x="0" y="484442"/>
                  </a:lnTo>
                  <a:lnTo>
                    <a:pt x="7614" y="522154"/>
                  </a:lnTo>
                  <a:lnTo>
                    <a:pt x="28378" y="552951"/>
                  </a:lnTo>
                  <a:lnTo>
                    <a:pt x="59175" y="573715"/>
                  </a:lnTo>
                  <a:lnTo>
                    <a:pt x="96889" y="581329"/>
                  </a:lnTo>
                  <a:lnTo>
                    <a:pt x="1244230" y="581329"/>
                  </a:lnTo>
                  <a:lnTo>
                    <a:pt x="1281944" y="573715"/>
                  </a:lnTo>
                  <a:lnTo>
                    <a:pt x="1333506" y="522154"/>
                  </a:lnTo>
                  <a:lnTo>
                    <a:pt x="1341119" y="484442"/>
                  </a:lnTo>
                  <a:lnTo>
                    <a:pt x="1341120" y="96889"/>
                  </a:lnTo>
                  <a:lnTo>
                    <a:pt x="1333506" y="59175"/>
                  </a:lnTo>
                  <a:lnTo>
                    <a:pt x="1312742" y="28378"/>
                  </a:lnTo>
                  <a:lnTo>
                    <a:pt x="1281944" y="7614"/>
                  </a:lnTo>
                  <a:lnTo>
                    <a:pt x="1244230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53576" y="1319316"/>
              <a:ext cx="1341120" cy="581660"/>
            </a:xfrm>
            <a:custGeom>
              <a:avLst/>
              <a:gdLst/>
              <a:ahLst/>
              <a:cxnLst/>
              <a:rect l="l" t="t" r="r" b="b"/>
              <a:pathLst>
                <a:path w="1341120" h="581660">
                  <a:moveTo>
                    <a:pt x="0" y="96889"/>
                  </a:moveTo>
                  <a:lnTo>
                    <a:pt x="7614" y="59175"/>
                  </a:lnTo>
                  <a:lnTo>
                    <a:pt x="28378" y="28378"/>
                  </a:lnTo>
                  <a:lnTo>
                    <a:pt x="59175" y="7614"/>
                  </a:lnTo>
                  <a:lnTo>
                    <a:pt x="96889" y="0"/>
                  </a:lnTo>
                  <a:lnTo>
                    <a:pt x="782319" y="0"/>
                  </a:lnTo>
                  <a:lnTo>
                    <a:pt x="1117599" y="0"/>
                  </a:lnTo>
                  <a:lnTo>
                    <a:pt x="1244230" y="0"/>
                  </a:lnTo>
                  <a:lnTo>
                    <a:pt x="1281944" y="7614"/>
                  </a:lnTo>
                  <a:lnTo>
                    <a:pt x="1312741" y="28378"/>
                  </a:lnTo>
                  <a:lnTo>
                    <a:pt x="1333505" y="59175"/>
                  </a:lnTo>
                  <a:lnTo>
                    <a:pt x="1341119" y="96889"/>
                  </a:lnTo>
                  <a:lnTo>
                    <a:pt x="1341119" y="339109"/>
                  </a:lnTo>
                  <a:lnTo>
                    <a:pt x="1341119" y="484442"/>
                  </a:lnTo>
                  <a:lnTo>
                    <a:pt x="1333505" y="522154"/>
                  </a:lnTo>
                  <a:lnTo>
                    <a:pt x="1312741" y="552951"/>
                  </a:lnTo>
                  <a:lnTo>
                    <a:pt x="1281944" y="573716"/>
                  </a:lnTo>
                  <a:lnTo>
                    <a:pt x="1244230" y="581330"/>
                  </a:lnTo>
                  <a:lnTo>
                    <a:pt x="1117599" y="581330"/>
                  </a:lnTo>
                  <a:lnTo>
                    <a:pt x="873685" y="581330"/>
                  </a:lnTo>
                  <a:lnTo>
                    <a:pt x="782319" y="581330"/>
                  </a:lnTo>
                  <a:lnTo>
                    <a:pt x="96889" y="581330"/>
                  </a:lnTo>
                  <a:lnTo>
                    <a:pt x="59175" y="573716"/>
                  </a:lnTo>
                  <a:lnTo>
                    <a:pt x="28378" y="552951"/>
                  </a:lnTo>
                  <a:lnTo>
                    <a:pt x="7614" y="522154"/>
                  </a:lnTo>
                  <a:lnTo>
                    <a:pt x="0" y="484440"/>
                  </a:lnTo>
                  <a:lnTo>
                    <a:pt x="0" y="339109"/>
                  </a:lnTo>
                  <a:lnTo>
                    <a:pt x="0" y="96889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233823" y="1331467"/>
            <a:ext cx="782955" cy="52578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 indent="104139" algn="just">
              <a:lnSpc>
                <a:spcPct val="86700"/>
              </a:lnSpc>
              <a:spcBef>
                <a:spcPts val="29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How</a:t>
            </a:r>
            <a:r>
              <a:rPr sz="12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the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customer explained</a:t>
            </a:r>
            <a:r>
              <a:rPr sz="1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514136" y="1312331"/>
            <a:ext cx="1355090" cy="595630"/>
            <a:chOff x="2514136" y="1312331"/>
            <a:chExt cx="1355090" cy="595630"/>
          </a:xfrm>
        </p:grpSpPr>
        <p:sp>
          <p:nvSpPr>
            <p:cNvPr id="9" name="object 9"/>
            <p:cNvSpPr/>
            <p:nvPr/>
          </p:nvSpPr>
          <p:spPr>
            <a:xfrm>
              <a:off x="2521121" y="1319316"/>
              <a:ext cx="1341120" cy="581660"/>
            </a:xfrm>
            <a:custGeom>
              <a:avLst/>
              <a:gdLst/>
              <a:ahLst/>
              <a:cxnLst/>
              <a:rect l="l" t="t" r="r" b="b"/>
              <a:pathLst>
                <a:path w="1341120" h="581660">
                  <a:moveTo>
                    <a:pt x="1244230" y="0"/>
                  </a:moveTo>
                  <a:lnTo>
                    <a:pt x="96889" y="0"/>
                  </a:lnTo>
                  <a:lnTo>
                    <a:pt x="59175" y="7614"/>
                  </a:lnTo>
                  <a:lnTo>
                    <a:pt x="28377" y="28378"/>
                  </a:lnTo>
                  <a:lnTo>
                    <a:pt x="7613" y="59175"/>
                  </a:lnTo>
                  <a:lnTo>
                    <a:pt x="0" y="96889"/>
                  </a:lnTo>
                  <a:lnTo>
                    <a:pt x="0" y="484442"/>
                  </a:lnTo>
                  <a:lnTo>
                    <a:pt x="7613" y="522154"/>
                  </a:lnTo>
                  <a:lnTo>
                    <a:pt x="28377" y="552951"/>
                  </a:lnTo>
                  <a:lnTo>
                    <a:pt x="59175" y="573715"/>
                  </a:lnTo>
                  <a:lnTo>
                    <a:pt x="96889" y="581329"/>
                  </a:lnTo>
                  <a:lnTo>
                    <a:pt x="1244230" y="581329"/>
                  </a:lnTo>
                  <a:lnTo>
                    <a:pt x="1281944" y="573715"/>
                  </a:lnTo>
                  <a:lnTo>
                    <a:pt x="1333505" y="522154"/>
                  </a:lnTo>
                  <a:lnTo>
                    <a:pt x="1341119" y="484442"/>
                  </a:lnTo>
                  <a:lnTo>
                    <a:pt x="1341120" y="96889"/>
                  </a:lnTo>
                  <a:lnTo>
                    <a:pt x="1333505" y="59175"/>
                  </a:lnTo>
                  <a:lnTo>
                    <a:pt x="1312741" y="28378"/>
                  </a:lnTo>
                  <a:lnTo>
                    <a:pt x="1281944" y="7614"/>
                  </a:lnTo>
                  <a:lnTo>
                    <a:pt x="1244230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521121" y="1319316"/>
              <a:ext cx="1341120" cy="581660"/>
            </a:xfrm>
            <a:custGeom>
              <a:avLst/>
              <a:gdLst/>
              <a:ahLst/>
              <a:cxnLst/>
              <a:rect l="l" t="t" r="r" b="b"/>
              <a:pathLst>
                <a:path w="1341120" h="581660">
                  <a:moveTo>
                    <a:pt x="0" y="96889"/>
                  </a:moveTo>
                  <a:lnTo>
                    <a:pt x="7614" y="59175"/>
                  </a:lnTo>
                  <a:lnTo>
                    <a:pt x="28378" y="28378"/>
                  </a:lnTo>
                  <a:lnTo>
                    <a:pt x="59175" y="7614"/>
                  </a:lnTo>
                  <a:lnTo>
                    <a:pt x="96889" y="0"/>
                  </a:lnTo>
                  <a:lnTo>
                    <a:pt x="782319" y="0"/>
                  </a:lnTo>
                  <a:lnTo>
                    <a:pt x="1117599" y="0"/>
                  </a:lnTo>
                  <a:lnTo>
                    <a:pt x="1244230" y="0"/>
                  </a:lnTo>
                  <a:lnTo>
                    <a:pt x="1281944" y="7614"/>
                  </a:lnTo>
                  <a:lnTo>
                    <a:pt x="1312741" y="28378"/>
                  </a:lnTo>
                  <a:lnTo>
                    <a:pt x="1333505" y="59175"/>
                  </a:lnTo>
                  <a:lnTo>
                    <a:pt x="1341119" y="96889"/>
                  </a:lnTo>
                  <a:lnTo>
                    <a:pt x="1341119" y="339109"/>
                  </a:lnTo>
                  <a:lnTo>
                    <a:pt x="1341119" y="484442"/>
                  </a:lnTo>
                  <a:lnTo>
                    <a:pt x="1333505" y="522154"/>
                  </a:lnTo>
                  <a:lnTo>
                    <a:pt x="1312741" y="552951"/>
                  </a:lnTo>
                  <a:lnTo>
                    <a:pt x="1281944" y="573716"/>
                  </a:lnTo>
                  <a:lnTo>
                    <a:pt x="1244230" y="581330"/>
                  </a:lnTo>
                  <a:lnTo>
                    <a:pt x="1117599" y="581330"/>
                  </a:lnTo>
                  <a:lnTo>
                    <a:pt x="873685" y="581330"/>
                  </a:lnTo>
                  <a:lnTo>
                    <a:pt x="782319" y="581330"/>
                  </a:lnTo>
                  <a:lnTo>
                    <a:pt x="96889" y="581330"/>
                  </a:lnTo>
                  <a:lnTo>
                    <a:pt x="59175" y="573716"/>
                  </a:lnTo>
                  <a:lnTo>
                    <a:pt x="28378" y="552951"/>
                  </a:lnTo>
                  <a:lnTo>
                    <a:pt x="7614" y="522154"/>
                  </a:lnTo>
                  <a:lnTo>
                    <a:pt x="0" y="484440"/>
                  </a:lnTo>
                  <a:lnTo>
                    <a:pt x="0" y="339109"/>
                  </a:lnTo>
                  <a:lnTo>
                    <a:pt x="0" y="96889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661667" y="1331467"/>
            <a:ext cx="1060450" cy="52578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 algn="ctr">
              <a:lnSpc>
                <a:spcPct val="86700"/>
              </a:lnSpc>
              <a:spcBef>
                <a:spcPts val="29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How</a:t>
            </a:r>
            <a:r>
              <a:rPr sz="12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2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project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leader understood</a:t>
            </a:r>
            <a:r>
              <a:rPr sz="12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046846" y="1312331"/>
            <a:ext cx="1355090" cy="595630"/>
            <a:chOff x="4046846" y="1312331"/>
            <a:chExt cx="1355090" cy="595630"/>
          </a:xfrm>
        </p:grpSpPr>
        <p:sp>
          <p:nvSpPr>
            <p:cNvPr id="13" name="object 13"/>
            <p:cNvSpPr/>
            <p:nvPr/>
          </p:nvSpPr>
          <p:spPr>
            <a:xfrm>
              <a:off x="4053831" y="1319316"/>
              <a:ext cx="1341120" cy="581660"/>
            </a:xfrm>
            <a:custGeom>
              <a:avLst/>
              <a:gdLst/>
              <a:ahLst/>
              <a:cxnLst/>
              <a:rect l="l" t="t" r="r" b="b"/>
              <a:pathLst>
                <a:path w="1341120" h="581660">
                  <a:moveTo>
                    <a:pt x="1244230" y="0"/>
                  </a:moveTo>
                  <a:lnTo>
                    <a:pt x="96889" y="0"/>
                  </a:lnTo>
                  <a:lnTo>
                    <a:pt x="59175" y="7614"/>
                  </a:lnTo>
                  <a:lnTo>
                    <a:pt x="28378" y="28378"/>
                  </a:lnTo>
                  <a:lnTo>
                    <a:pt x="7614" y="59175"/>
                  </a:lnTo>
                  <a:lnTo>
                    <a:pt x="0" y="96889"/>
                  </a:lnTo>
                  <a:lnTo>
                    <a:pt x="0" y="484442"/>
                  </a:lnTo>
                  <a:lnTo>
                    <a:pt x="7614" y="522154"/>
                  </a:lnTo>
                  <a:lnTo>
                    <a:pt x="28378" y="552951"/>
                  </a:lnTo>
                  <a:lnTo>
                    <a:pt x="59175" y="573715"/>
                  </a:lnTo>
                  <a:lnTo>
                    <a:pt x="96889" y="581329"/>
                  </a:lnTo>
                  <a:lnTo>
                    <a:pt x="1244230" y="581329"/>
                  </a:lnTo>
                  <a:lnTo>
                    <a:pt x="1281944" y="573715"/>
                  </a:lnTo>
                  <a:lnTo>
                    <a:pt x="1333506" y="522154"/>
                  </a:lnTo>
                  <a:lnTo>
                    <a:pt x="1341119" y="484442"/>
                  </a:lnTo>
                  <a:lnTo>
                    <a:pt x="1341120" y="96889"/>
                  </a:lnTo>
                  <a:lnTo>
                    <a:pt x="1333506" y="59175"/>
                  </a:lnTo>
                  <a:lnTo>
                    <a:pt x="1312742" y="28378"/>
                  </a:lnTo>
                  <a:lnTo>
                    <a:pt x="1281944" y="7614"/>
                  </a:lnTo>
                  <a:lnTo>
                    <a:pt x="1244230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053831" y="1319316"/>
              <a:ext cx="1341120" cy="581660"/>
            </a:xfrm>
            <a:custGeom>
              <a:avLst/>
              <a:gdLst/>
              <a:ahLst/>
              <a:cxnLst/>
              <a:rect l="l" t="t" r="r" b="b"/>
              <a:pathLst>
                <a:path w="1341120" h="581660">
                  <a:moveTo>
                    <a:pt x="0" y="96889"/>
                  </a:moveTo>
                  <a:lnTo>
                    <a:pt x="7614" y="59175"/>
                  </a:lnTo>
                  <a:lnTo>
                    <a:pt x="28378" y="28378"/>
                  </a:lnTo>
                  <a:lnTo>
                    <a:pt x="59175" y="7614"/>
                  </a:lnTo>
                  <a:lnTo>
                    <a:pt x="96889" y="0"/>
                  </a:lnTo>
                  <a:lnTo>
                    <a:pt x="782319" y="0"/>
                  </a:lnTo>
                  <a:lnTo>
                    <a:pt x="1117599" y="0"/>
                  </a:lnTo>
                  <a:lnTo>
                    <a:pt x="1244230" y="0"/>
                  </a:lnTo>
                  <a:lnTo>
                    <a:pt x="1281944" y="7614"/>
                  </a:lnTo>
                  <a:lnTo>
                    <a:pt x="1312741" y="28378"/>
                  </a:lnTo>
                  <a:lnTo>
                    <a:pt x="1333505" y="59175"/>
                  </a:lnTo>
                  <a:lnTo>
                    <a:pt x="1341119" y="96889"/>
                  </a:lnTo>
                  <a:lnTo>
                    <a:pt x="1341119" y="339109"/>
                  </a:lnTo>
                  <a:lnTo>
                    <a:pt x="1341119" y="484442"/>
                  </a:lnTo>
                  <a:lnTo>
                    <a:pt x="1333505" y="522154"/>
                  </a:lnTo>
                  <a:lnTo>
                    <a:pt x="1312741" y="552951"/>
                  </a:lnTo>
                  <a:lnTo>
                    <a:pt x="1281944" y="573716"/>
                  </a:lnTo>
                  <a:lnTo>
                    <a:pt x="1244230" y="581330"/>
                  </a:lnTo>
                  <a:lnTo>
                    <a:pt x="1117599" y="581330"/>
                  </a:lnTo>
                  <a:lnTo>
                    <a:pt x="873685" y="581330"/>
                  </a:lnTo>
                  <a:lnTo>
                    <a:pt x="782319" y="581330"/>
                  </a:lnTo>
                  <a:lnTo>
                    <a:pt x="96889" y="581330"/>
                  </a:lnTo>
                  <a:lnTo>
                    <a:pt x="59175" y="573716"/>
                  </a:lnTo>
                  <a:lnTo>
                    <a:pt x="28378" y="552951"/>
                  </a:lnTo>
                  <a:lnTo>
                    <a:pt x="7614" y="522154"/>
                  </a:lnTo>
                  <a:lnTo>
                    <a:pt x="0" y="484440"/>
                  </a:lnTo>
                  <a:lnTo>
                    <a:pt x="0" y="339109"/>
                  </a:lnTo>
                  <a:lnTo>
                    <a:pt x="0" y="96889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181678" y="1410715"/>
            <a:ext cx="1085850" cy="37338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81610" marR="5080" indent="-169545">
              <a:lnSpc>
                <a:spcPts val="1300"/>
              </a:lnSpc>
              <a:spcBef>
                <a:spcPts val="26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How</a:t>
            </a:r>
            <a:r>
              <a:rPr sz="12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2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analyst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designed</a:t>
            </a:r>
            <a:r>
              <a:rPr sz="1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046843" y="5980115"/>
            <a:ext cx="1355090" cy="595630"/>
            <a:chOff x="4046843" y="5980115"/>
            <a:chExt cx="1355090" cy="595630"/>
          </a:xfrm>
        </p:grpSpPr>
        <p:sp>
          <p:nvSpPr>
            <p:cNvPr id="17" name="object 17"/>
            <p:cNvSpPr/>
            <p:nvPr/>
          </p:nvSpPr>
          <p:spPr>
            <a:xfrm>
              <a:off x="4053828" y="5987100"/>
              <a:ext cx="1341120" cy="581660"/>
            </a:xfrm>
            <a:custGeom>
              <a:avLst/>
              <a:gdLst/>
              <a:ahLst/>
              <a:cxnLst/>
              <a:rect l="l" t="t" r="r" b="b"/>
              <a:pathLst>
                <a:path w="1341120" h="581659">
                  <a:moveTo>
                    <a:pt x="1244230" y="0"/>
                  </a:moveTo>
                  <a:lnTo>
                    <a:pt x="96889" y="0"/>
                  </a:lnTo>
                  <a:lnTo>
                    <a:pt x="59175" y="7614"/>
                  </a:lnTo>
                  <a:lnTo>
                    <a:pt x="28378" y="28378"/>
                  </a:lnTo>
                  <a:lnTo>
                    <a:pt x="7614" y="59175"/>
                  </a:lnTo>
                  <a:lnTo>
                    <a:pt x="0" y="96889"/>
                  </a:lnTo>
                  <a:lnTo>
                    <a:pt x="0" y="484442"/>
                  </a:lnTo>
                  <a:lnTo>
                    <a:pt x="7614" y="522154"/>
                  </a:lnTo>
                  <a:lnTo>
                    <a:pt x="28378" y="552951"/>
                  </a:lnTo>
                  <a:lnTo>
                    <a:pt x="59175" y="573716"/>
                  </a:lnTo>
                  <a:lnTo>
                    <a:pt x="96889" y="581330"/>
                  </a:lnTo>
                  <a:lnTo>
                    <a:pt x="1244230" y="581330"/>
                  </a:lnTo>
                  <a:lnTo>
                    <a:pt x="1281944" y="573716"/>
                  </a:lnTo>
                  <a:lnTo>
                    <a:pt x="1333506" y="522154"/>
                  </a:lnTo>
                  <a:lnTo>
                    <a:pt x="1341119" y="484442"/>
                  </a:lnTo>
                  <a:lnTo>
                    <a:pt x="1341120" y="96889"/>
                  </a:lnTo>
                  <a:lnTo>
                    <a:pt x="1333506" y="59175"/>
                  </a:lnTo>
                  <a:lnTo>
                    <a:pt x="1312742" y="28378"/>
                  </a:lnTo>
                  <a:lnTo>
                    <a:pt x="1281944" y="7614"/>
                  </a:lnTo>
                  <a:lnTo>
                    <a:pt x="1244230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053828" y="5987100"/>
              <a:ext cx="1341120" cy="581660"/>
            </a:xfrm>
            <a:custGeom>
              <a:avLst/>
              <a:gdLst/>
              <a:ahLst/>
              <a:cxnLst/>
              <a:rect l="l" t="t" r="r" b="b"/>
              <a:pathLst>
                <a:path w="1341120" h="581659">
                  <a:moveTo>
                    <a:pt x="0" y="96889"/>
                  </a:moveTo>
                  <a:lnTo>
                    <a:pt x="7614" y="59175"/>
                  </a:lnTo>
                  <a:lnTo>
                    <a:pt x="28378" y="28378"/>
                  </a:lnTo>
                  <a:lnTo>
                    <a:pt x="59175" y="7614"/>
                  </a:lnTo>
                  <a:lnTo>
                    <a:pt x="96889" y="0"/>
                  </a:lnTo>
                  <a:lnTo>
                    <a:pt x="782319" y="0"/>
                  </a:lnTo>
                  <a:lnTo>
                    <a:pt x="1117599" y="0"/>
                  </a:lnTo>
                  <a:lnTo>
                    <a:pt x="1244230" y="0"/>
                  </a:lnTo>
                  <a:lnTo>
                    <a:pt x="1281944" y="7614"/>
                  </a:lnTo>
                  <a:lnTo>
                    <a:pt x="1312741" y="28378"/>
                  </a:lnTo>
                  <a:lnTo>
                    <a:pt x="1333505" y="59175"/>
                  </a:lnTo>
                  <a:lnTo>
                    <a:pt x="1341119" y="96889"/>
                  </a:lnTo>
                  <a:lnTo>
                    <a:pt x="1341119" y="339109"/>
                  </a:lnTo>
                  <a:lnTo>
                    <a:pt x="1341119" y="484442"/>
                  </a:lnTo>
                  <a:lnTo>
                    <a:pt x="1333505" y="522154"/>
                  </a:lnTo>
                  <a:lnTo>
                    <a:pt x="1312741" y="552951"/>
                  </a:lnTo>
                  <a:lnTo>
                    <a:pt x="1281944" y="573716"/>
                  </a:lnTo>
                  <a:lnTo>
                    <a:pt x="1244230" y="581330"/>
                  </a:lnTo>
                  <a:lnTo>
                    <a:pt x="1117599" y="581330"/>
                  </a:lnTo>
                  <a:lnTo>
                    <a:pt x="873685" y="581330"/>
                  </a:lnTo>
                  <a:lnTo>
                    <a:pt x="782319" y="581330"/>
                  </a:lnTo>
                  <a:lnTo>
                    <a:pt x="96889" y="581330"/>
                  </a:lnTo>
                  <a:lnTo>
                    <a:pt x="59175" y="573716"/>
                  </a:lnTo>
                  <a:lnTo>
                    <a:pt x="28378" y="552951"/>
                  </a:lnTo>
                  <a:lnTo>
                    <a:pt x="7614" y="522154"/>
                  </a:lnTo>
                  <a:lnTo>
                    <a:pt x="0" y="484440"/>
                  </a:lnTo>
                  <a:lnTo>
                    <a:pt x="0" y="339109"/>
                  </a:lnTo>
                  <a:lnTo>
                    <a:pt x="0" y="96889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207075" y="5997955"/>
            <a:ext cx="1035685" cy="52578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 indent="635" algn="ctr">
              <a:lnSpc>
                <a:spcPct val="86700"/>
              </a:lnSpc>
              <a:spcBef>
                <a:spcPts val="290"/>
              </a:spcBef>
            </a:pP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What</a:t>
            </a:r>
            <a:r>
              <a:rPr sz="12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the </a:t>
            </a: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customer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really needed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918747" y="1917301"/>
            <a:ext cx="4544695" cy="4660265"/>
            <a:chOff x="918747" y="1917301"/>
            <a:chExt cx="4544695" cy="4660265"/>
          </a:xfrm>
        </p:grpSpPr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8747" y="1917301"/>
              <a:ext cx="4544517" cy="406742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503703" y="5988792"/>
              <a:ext cx="1341120" cy="581660"/>
            </a:xfrm>
            <a:custGeom>
              <a:avLst/>
              <a:gdLst/>
              <a:ahLst/>
              <a:cxnLst/>
              <a:rect l="l" t="t" r="r" b="b"/>
              <a:pathLst>
                <a:path w="1341120" h="581659">
                  <a:moveTo>
                    <a:pt x="1244230" y="0"/>
                  </a:moveTo>
                  <a:lnTo>
                    <a:pt x="96889" y="0"/>
                  </a:lnTo>
                  <a:lnTo>
                    <a:pt x="59175" y="7614"/>
                  </a:lnTo>
                  <a:lnTo>
                    <a:pt x="28378" y="28378"/>
                  </a:lnTo>
                  <a:lnTo>
                    <a:pt x="7614" y="59175"/>
                  </a:lnTo>
                  <a:lnTo>
                    <a:pt x="0" y="96889"/>
                  </a:lnTo>
                  <a:lnTo>
                    <a:pt x="0" y="484442"/>
                  </a:lnTo>
                  <a:lnTo>
                    <a:pt x="7614" y="522154"/>
                  </a:lnTo>
                  <a:lnTo>
                    <a:pt x="28378" y="552951"/>
                  </a:lnTo>
                  <a:lnTo>
                    <a:pt x="59175" y="573716"/>
                  </a:lnTo>
                  <a:lnTo>
                    <a:pt x="96889" y="581330"/>
                  </a:lnTo>
                  <a:lnTo>
                    <a:pt x="1244230" y="581330"/>
                  </a:lnTo>
                  <a:lnTo>
                    <a:pt x="1281944" y="573716"/>
                  </a:lnTo>
                  <a:lnTo>
                    <a:pt x="1333505" y="522154"/>
                  </a:lnTo>
                  <a:lnTo>
                    <a:pt x="1341119" y="484442"/>
                  </a:lnTo>
                  <a:lnTo>
                    <a:pt x="1341120" y="96889"/>
                  </a:lnTo>
                  <a:lnTo>
                    <a:pt x="1333505" y="59175"/>
                  </a:lnTo>
                  <a:lnTo>
                    <a:pt x="1312741" y="28378"/>
                  </a:lnTo>
                  <a:lnTo>
                    <a:pt x="1281944" y="7614"/>
                  </a:lnTo>
                  <a:lnTo>
                    <a:pt x="1244230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503703" y="5988792"/>
              <a:ext cx="1341120" cy="581660"/>
            </a:xfrm>
            <a:custGeom>
              <a:avLst/>
              <a:gdLst/>
              <a:ahLst/>
              <a:cxnLst/>
              <a:rect l="l" t="t" r="r" b="b"/>
              <a:pathLst>
                <a:path w="1341120" h="581659">
                  <a:moveTo>
                    <a:pt x="0" y="96889"/>
                  </a:moveTo>
                  <a:lnTo>
                    <a:pt x="7614" y="59175"/>
                  </a:lnTo>
                  <a:lnTo>
                    <a:pt x="28378" y="28378"/>
                  </a:lnTo>
                  <a:lnTo>
                    <a:pt x="59175" y="7614"/>
                  </a:lnTo>
                  <a:lnTo>
                    <a:pt x="96889" y="0"/>
                  </a:lnTo>
                  <a:lnTo>
                    <a:pt x="782319" y="0"/>
                  </a:lnTo>
                  <a:lnTo>
                    <a:pt x="1117599" y="0"/>
                  </a:lnTo>
                  <a:lnTo>
                    <a:pt x="1244230" y="0"/>
                  </a:lnTo>
                  <a:lnTo>
                    <a:pt x="1281944" y="7614"/>
                  </a:lnTo>
                  <a:lnTo>
                    <a:pt x="1312741" y="28378"/>
                  </a:lnTo>
                  <a:lnTo>
                    <a:pt x="1333505" y="59175"/>
                  </a:lnTo>
                  <a:lnTo>
                    <a:pt x="1341119" y="96889"/>
                  </a:lnTo>
                  <a:lnTo>
                    <a:pt x="1341119" y="339109"/>
                  </a:lnTo>
                  <a:lnTo>
                    <a:pt x="1341119" y="484442"/>
                  </a:lnTo>
                  <a:lnTo>
                    <a:pt x="1333505" y="522154"/>
                  </a:lnTo>
                  <a:lnTo>
                    <a:pt x="1312741" y="552951"/>
                  </a:lnTo>
                  <a:lnTo>
                    <a:pt x="1281944" y="573716"/>
                  </a:lnTo>
                  <a:lnTo>
                    <a:pt x="1244230" y="581330"/>
                  </a:lnTo>
                  <a:lnTo>
                    <a:pt x="1117599" y="581330"/>
                  </a:lnTo>
                  <a:lnTo>
                    <a:pt x="873685" y="581330"/>
                  </a:lnTo>
                  <a:lnTo>
                    <a:pt x="782319" y="581330"/>
                  </a:lnTo>
                  <a:lnTo>
                    <a:pt x="96889" y="581330"/>
                  </a:lnTo>
                  <a:lnTo>
                    <a:pt x="59175" y="573716"/>
                  </a:lnTo>
                  <a:lnTo>
                    <a:pt x="28378" y="552951"/>
                  </a:lnTo>
                  <a:lnTo>
                    <a:pt x="7614" y="522154"/>
                  </a:lnTo>
                  <a:lnTo>
                    <a:pt x="0" y="484440"/>
                  </a:lnTo>
                  <a:lnTo>
                    <a:pt x="0" y="339109"/>
                  </a:lnTo>
                  <a:lnTo>
                    <a:pt x="0" y="96889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730610" y="6001003"/>
            <a:ext cx="889635" cy="52578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065" marR="5080" algn="ctr">
              <a:lnSpc>
                <a:spcPct val="86700"/>
              </a:lnSpc>
              <a:spcBef>
                <a:spcPts val="29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How</a:t>
            </a:r>
            <a:r>
              <a:rPr sz="12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2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sale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executive described</a:t>
            </a:r>
            <a:r>
              <a:rPr sz="1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946806" y="5980330"/>
            <a:ext cx="1355090" cy="594995"/>
            <a:chOff x="946806" y="5980330"/>
            <a:chExt cx="1355090" cy="594995"/>
          </a:xfrm>
        </p:grpSpPr>
        <p:sp>
          <p:nvSpPr>
            <p:cNvPr id="26" name="object 26"/>
            <p:cNvSpPr/>
            <p:nvPr/>
          </p:nvSpPr>
          <p:spPr>
            <a:xfrm>
              <a:off x="953579" y="5987104"/>
              <a:ext cx="1341120" cy="581660"/>
            </a:xfrm>
            <a:custGeom>
              <a:avLst/>
              <a:gdLst/>
              <a:ahLst/>
              <a:cxnLst/>
              <a:rect l="l" t="t" r="r" b="b"/>
              <a:pathLst>
                <a:path w="1341120" h="581659">
                  <a:moveTo>
                    <a:pt x="1244230" y="0"/>
                  </a:moveTo>
                  <a:lnTo>
                    <a:pt x="96889" y="0"/>
                  </a:lnTo>
                  <a:lnTo>
                    <a:pt x="59175" y="7613"/>
                  </a:lnTo>
                  <a:lnTo>
                    <a:pt x="28378" y="28377"/>
                  </a:lnTo>
                  <a:lnTo>
                    <a:pt x="7614" y="59175"/>
                  </a:lnTo>
                  <a:lnTo>
                    <a:pt x="0" y="96889"/>
                  </a:lnTo>
                  <a:lnTo>
                    <a:pt x="0" y="484441"/>
                  </a:lnTo>
                  <a:lnTo>
                    <a:pt x="7614" y="522154"/>
                  </a:lnTo>
                  <a:lnTo>
                    <a:pt x="28378" y="552951"/>
                  </a:lnTo>
                  <a:lnTo>
                    <a:pt x="59175" y="573715"/>
                  </a:lnTo>
                  <a:lnTo>
                    <a:pt x="96889" y="581329"/>
                  </a:lnTo>
                  <a:lnTo>
                    <a:pt x="1244230" y="581329"/>
                  </a:lnTo>
                  <a:lnTo>
                    <a:pt x="1281944" y="573715"/>
                  </a:lnTo>
                  <a:lnTo>
                    <a:pt x="1333505" y="522154"/>
                  </a:lnTo>
                  <a:lnTo>
                    <a:pt x="1341119" y="484441"/>
                  </a:lnTo>
                  <a:lnTo>
                    <a:pt x="1341119" y="96889"/>
                  </a:lnTo>
                  <a:lnTo>
                    <a:pt x="1333505" y="59175"/>
                  </a:lnTo>
                  <a:lnTo>
                    <a:pt x="1312741" y="28377"/>
                  </a:lnTo>
                  <a:lnTo>
                    <a:pt x="1281944" y="7613"/>
                  </a:lnTo>
                  <a:lnTo>
                    <a:pt x="1244230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53579" y="5987104"/>
              <a:ext cx="1341120" cy="581660"/>
            </a:xfrm>
            <a:custGeom>
              <a:avLst/>
              <a:gdLst/>
              <a:ahLst/>
              <a:cxnLst/>
              <a:rect l="l" t="t" r="r" b="b"/>
              <a:pathLst>
                <a:path w="1341120" h="581659">
                  <a:moveTo>
                    <a:pt x="0" y="96889"/>
                  </a:moveTo>
                  <a:lnTo>
                    <a:pt x="7614" y="59175"/>
                  </a:lnTo>
                  <a:lnTo>
                    <a:pt x="28378" y="28378"/>
                  </a:lnTo>
                  <a:lnTo>
                    <a:pt x="59175" y="7614"/>
                  </a:lnTo>
                  <a:lnTo>
                    <a:pt x="96889" y="0"/>
                  </a:lnTo>
                  <a:lnTo>
                    <a:pt x="782319" y="0"/>
                  </a:lnTo>
                  <a:lnTo>
                    <a:pt x="1117599" y="0"/>
                  </a:lnTo>
                  <a:lnTo>
                    <a:pt x="1244230" y="0"/>
                  </a:lnTo>
                  <a:lnTo>
                    <a:pt x="1281944" y="7614"/>
                  </a:lnTo>
                  <a:lnTo>
                    <a:pt x="1312741" y="28378"/>
                  </a:lnTo>
                  <a:lnTo>
                    <a:pt x="1333505" y="59175"/>
                  </a:lnTo>
                  <a:lnTo>
                    <a:pt x="1341119" y="96889"/>
                  </a:lnTo>
                  <a:lnTo>
                    <a:pt x="1341119" y="339109"/>
                  </a:lnTo>
                  <a:lnTo>
                    <a:pt x="1341119" y="484442"/>
                  </a:lnTo>
                  <a:lnTo>
                    <a:pt x="1333505" y="522154"/>
                  </a:lnTo>
                  <a:lnTo>
                    <a:pt x="1312741" y="552951"/>
                  </a:lnTo>
                  <a:lnTo>
                    <a:pt x="1281944" y="573716"/>
                  </a:lnTo>
                  <a:lnTo>
                    <a:pt x="1244230" y="581330"/>
                  </a:lnTo>
                  <a:lnTo>
                    <a:pt x="1117599" y="581330"/>
                  </a:lnTo>
                  <a:lnTo>
                    <a:pt x="873685" y="581330"/>
                  </a:lnTo>
                  <a:lnTo>
                    <a:pt x="782319" y="581330"/>
                  </a:lnTo>
                  <a:lnTo>
                    <a:pt x="96889" y="581330"/>
                  </a:lnTo>
                  <a:lnTo>
                    <a:pt x="59175" y="573716"/>
                  </a:lnTo>
                  <a:lnTo>
                    <a:pt x="28378" y="552951"/>
                  </a:lnTo>
                  <a:lnTo>
                    <a:pt x="7614" y="522154"/>
                  </a:lnTo>
                  <a:lnTo>
                    <a:pt x="0" y="484440"/>
                  </a:lnTo>
                  <a:lnTo>
                    <a:pt x="0" y="339109"/>
                  </a:lnTo>
                  <a:lnTo>
                    <a:pt x="0" y="96889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068726" y="6077203"/>
            <a:ext cx="1113155" cy="37592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 indent="269240">
              <a:lnSpc>
                <a:spcPts val="1320"/>
              </a:lnSpc>
              <a:spcBef>
                <a:spcPts val="24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How</a:t>
            </a:r>
            <a:r>
              <a:rPr sz="12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the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developer</a:t>
            </a:r>
            <a:r>
              <a:rPr sz="12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built</a:t>
            </a:r>
            <a:r>
              <a:rPr sz="12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29" name="object 2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48400" y="4218432"/>
            <a:ext cx="3361944" cy="1429512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6354944" y="4212591"/>
            <a:ext cx="3204210" cy="1118235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61594" rIns="0" bIns="0" rtlCol="0">
            <a:spAutoFit/>
          </a:bodyPr>
          <a:lstStyle/>
          <a:p>
            <a:pPr marL="383540" marR="362585" algn="ctr">
              <a:lnSpc>
                <a:spcPct val="102899"/>
              </a:lnSpc>
              <a:spcBef>
                <a:spcPts val="484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need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way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to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communicate</a:t>
            </a:r>
            <a:r>
              <a:rPr sz="2100" spc="2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our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ideas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849090" y="2119376"/>
            <a:ext cx="3688079" cy="143700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07645" marR="521334" indent="-195580">
              <a:lnSpc>
                <a:spcPts val="2280"/>
              </a:lnSpc>
              <a:spcBef>
                <a:spcPts val="375"/>
              </a:spcBef>
              <a:buSzPct val="85714"/>
              <a:buFont typeface="Arial MT"/>
              <a:buChar char="•"/>
              <a:tabLst>
                <a:tab pos="207645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design,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communication</a:t>
            </a:r>
            <a:r>
              <a:rPr sz="2100" spc="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100" spc="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endParaRPr sz="2100">
              <a:latin typeface="Verdana"/>
              <a:cs typeface="Verdana"/>
            </a:endParaRPr>
          </a:p>
          <a:p>
            <a:pPr marL="207645" marR="5080" indent="-195580">
              <a:lnSpc>
                <a:spcPts val="2300"/>
              </a:lnSpc>
              <a:spcBef>
                <a:spcPts val="1710"/>
              </a:spcBef>
              <a:buSzPct val="85714"/>
              <a:buFont typeface="Arial MT"/>
              <a:buChar char="•"/>
              <a:tabLst>
                <a:tab pos="207645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Many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people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involved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design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process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2940">
              <a:lnSpc>
                <a:spcPct val="100000"/>
              </a:lnSpc>
              <a:spcBef>
                <a:spcPts val="100"/>
              </a:spcBef>
            </a:pPr>
            <a:r>
              <a:rPr spc="-135" dirty="0">
                <a:solidFill>
                  <a:srgbClr val="292934"/>
                </a:solidFill>
              </a:rPr>
              <a:t>Overview:</a:t>
            </a:r>
            <a:r>
              <a:rPr spc="-220" dirty="0">
                <a:solidFill>
                  <a:srgbClr val="292934"/>
                </a:solidFill>
              </a:rPr>
              <a:t> </a:t>
            </a:r>
            <a:r>
              <a:rPr spc="-135" dirty="0">
                <a:solidFill>
                  <a:srgbClr val="292934"/>
                </a:solidFill>
              </a:rPr>
              <a:t>Creating</a:t>
            </a:r>
            <a:r>
              <a:rPr spc="-229" dirty="0">
                <a:solidFill>
                  <a:srgbClr val="292934"/>
                </a:solidFill>
              </a:rPr>
              <a:t> </a:t>
            </a:r>
            <a:r>
              <a:rPr spc="-60" dirty="0">
                <a:solidFill>
                  <a:srgbClr val="292934"/>
                </a:solidFill>
              </a:rPr>
              <a:t>DB</a:t>
            </a:r>
            <a:r>
              <a:rPr spc="-235" dirty="0">
                <a:solidFill>
                  <a:srgbClr val="292934"/>
                </a:solidFill>
              </a:rPr>
              <a:t> </a:t>
            </a:r>
            <a:r>
              <a:rPr spc="-25" dirty="0">
                <a:solidFill>
                  <a:srgbClr val="292934"/>
                </a:solidFill>
              </a:rPr>
              <a:t>App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1677" y="1387025"/>
            <a:ext cx="3596640" cy="838835"/>
          </a:xfrm>
          <a:prstGeom prst="rect">
            <a:avLst/>
          </a:prstGeom>
          <a:solidFill>
            <a:srgbClr val="E8F2FF"/>
          </a:solidFill>
          <a:ln w="10159">
            <a:solidFill>
              <a:srgbClr val="7F7F7F"/>
            </a:solidFill>
          </a:ln>
        </p:spPr>
        <p:txBody>
          <a:bodyPr vert="horz" wrap="square" lIns="0" tIns="2736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155"/>
              </a:spcBef>
            </a:pP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Design</a:t>
            </a:r>
            <a:r>
              <a:rPr sz="19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database</a:t>
            </a:r>
            <a:r>
              <a:rPr sz="19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Arial MT"/>
                <a:cs typeface="Arial MT"/>
              </a:rPr>
              <a:t>schema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3462" y="2744494"/>
            <a:ext cx="3596640" cy="838835"/>
          </a:xfrm>
          <a:prstGeom prst="rect">
            <a:avLst/>
          </a:prstGeom>
          <a:solidFill>
            <a:srgbClr val="FFF9F4"/>
          </a:solidFill>
          <a:ln w="10159">
            <a:solidFill>
              <a:srgbClr val="7F7F7F"/>
            </a:solidFill>
          </a:ln>
        </p:spPr>
        <p:txBody>
          <a:bodyPr vert="horz" wrap="square" lIns="0" tIns="122555" rIns="0" bIns="0" rtlCol="0">
            <a:spAutoFit/>
          </a:bodyPr>
          <a:lstStyle/>
          <a:p>
            <a:pPr marL="916940" marR="307340" indent="-670560">
              <a:lnSpc>
                <a:spcPct val="101099"/>
              </a:lnSpc>
              <a:spcBef>
                <a:spcPts val="965"/>
              </a:spcBef>
            </a:pP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Design</a:t>
            </a:r>
            <a:r>
              <a:rPr sz="19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program</a:t>
            </a:r>
            <a:r>
              <a:rPr sz="19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that </a:t>
            </a:r>
            <a:r>
              <a:rPr sz="1900" spc="-10" dirty="0">
                <a:solidFill>
                  <a:srgbClr val="292934"/>
                </a:solidFill>
                <a:latin typeface="Arial MT"/>
                <a:cs typeface="Arial MT"/>
              </a:rPr>
              <a:t>access 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and</a:t>
            </a:r>
            <a:r>
              <a:rPr sz="19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update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20" dirty="0">
                <a:solidFill>
                  <a:srgbClr val="292934"/>
                </a:solidFill>
                <a:latin typeface="Arial MT"/>
                <a:cs typeface="Arial MT"/>
              </a:rPr>
              <a:t>data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19383" y="4083220"/>
            <a:ext cx="3596640" cy="838835"/>
          </a:xfrm>
          <a:prstGeom prst="rect">
            <a:avLst/>
          </a:prstGeom>
          <a:solidFill>
            <a:srgbClr val="F6F2EE">
              <a:alpha val="52159"/>
            </a:srgbClr>
          </a:solidFill>
          <a:ln w="10159">
            <a:solidFill>
              <a:srgbClr val="7F7F7F"/>
            </a:solidFill>
          </a:ln>
        </p:spPr>
        <p:txBody>
          <a:bodyPr vert="horz" wrap="square" lIns="0" tIns="121920" rIns="0" bIns="0" rtlCol="0">
            <a:spAutoFit/>
          </a:bodyPr>
          <a:lstStyle/>
          <a:p>
            <a:pPr marL="612140" marR="395605" indent="-278130">
              <a:lnSpc>
                <a:spcPct val="101099"/>
              </a:lnSpc>
              <a:spcBef>
                <a:spcPts val="960"/>
              </a:spcBef>
            </a:pP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Design</a:t>
            </a:r>
            <a:r>
              <a:rPr sz="19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security</a:t>
            </a:r>
            <a:r>
              <a:rPr sz="19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schema</a:t>
            </a:r>
            <a:r>
              <a:rPr sz="19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25" dirty="0">
                <a:solidFill>
                  <a:srgbClr val="292934"/>
                </a:solidFill>
                <a:latin typeface="Arial MT"/>
                <a:cs typeface="Arial MT"/>
              </a:rPr>
              <a:t>to 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control</a:t>
            </a:r>
            <a:r>
              <a:rPr sz="19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access of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20" dirty="0">
                <a:solidFill>
                  <a:srgbClr val="292934"/>
                </a:solidFill>
                <a:latin typeface="Arial MT"/>
                <a:cs typeface="Arial MT"/>
              </a:rPr>
              <a:t>data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15501" y="2263140"/>
            <a:ext cx="21844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292934"/>
                </a:solidFill>
                <a:latin typeface="Arial MT"/>
                <a:cs typeface="Arial MT"/>
              </a:rPr>
              <a:t>+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15501" y="3601211"/>
            <a:ext cx="21844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292934"/>
                </a:solidFill>
                <a:latin typeface="Arial MT"/>
                <a:cs typeface="Arial MT"/>
              </a:rPr>
              <a:t>+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18675" y="1420708"/>
            <a:ext cx="1576070" cy="838835"/>
          </a:xfrm>
          <a:prstGeom prst="rect">
            <a:avLst/>
          </a:prstGeom>
          <a:solidFill>
            <a:srgbClr val="E8F2FF"/>
          </a:solidFill>
          <a:ln w="10159">
            <a:solidFill>
              <a:srgbClr val="7F7F7F"/>
            </a:solidFill>
          </a:ln>
        </p:spPr>
        <p:txBody>
          <a:bodyPr vert="horz" wrap="square" lIns="0" tIns="273050" rIns="0" bIns="0" rtlCol="0">
            <a:spAutoFit/>
          </a:bodyPr>
          <a:lstStyle/>
          <a:p>
            <a:pPr marL="150495">
              <a:lnSpc>
                <a:spcPct val="100000"/>
              </a:lnSpc>
              <a:spcBef>
                <a:spcPts val="2150"/>
              </a:spcBef>
            </a:pP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Ideas</a:t>
            </a:r>
            <a:r>
              <a:rPr sz="19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/</a:t>
            </a:r>
            <a:r>
              <a:rPr sz="19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20" dirty="0">
                <a:solidFill>
                  <a:srgbClr val="292934"/>
                </a:solidFill>
                <a:latin typeface="Arial MT"/>
                <a:cs typeface="Arial MT"/>
              </a:rPr>
              <a:t>data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18675" y="2802462"/>
            <a:ext cx="1576070" cy="838835"/>
          </a:xfrm>
          <a:prstGeom prst="rect">
            <a:avLst/>
          </a:prstGeom>
          <a:solidFill>
            <a:srgbClr val="E8F2FF"/>
          </a:solidFill>
          <a:ln w="10159">
            <a:solidFill>
              <a:srgbClr val="7F7F7F"/>
            </a:solidFill>
          </a:ln>
        </p:spPr>
        <p:txBody>
          <a:bodyPr vert="horz" wrap="square" lIns="0" tIns="122555" rIns="0" bIns="0" rtlCol="0">
            <a:spAutoFit/>
          </a:bodyPr>
          <a:lstStyle/>
          <a:p>
            <a:pPr marL="428625" marR="272415" indent="-217170">
              <a:lnSpc>
                <a:spcPct val="101099"/>
              </a:lnSpc>
              <a:spcBef>
                <a:spcPts val="965"/>
              </a:spcBef>
            </a:pPr>
            <a:r>
              <a:rPr sz="1900" spc="-10" dirty="0">
                <a:solidFill>
                  <a:srgbClr val="292934"/>
                </a:solidFill>
                <a:latin typeface="Arial MT"/>
                <a:cs typeface="Arial MT"/>
              </a:rPr>
              <a:t>High-</a:t>
            </a:r>
            <a:r>
              <a:rPr sz="1900" spc="-20" dirty="0">
                <a:solidFill>
                  <a:srgbClr val="292934"/>
                </a:solidFill>
                <a:latin typeface="Arial MT"/>
                <a:cs typeface="Arial MT"/>
              </a:rPr>
              <a:t>level </a:t>
            </a:r>
            <a:r>
              <a:rPr sz="1900" spc="-10" dirty="0">
                <a:solidFill>
                  <a:srgbClr val="292934"/>
                </a:solidFill>
                <a:latin typeface="Arial MT"/>
                <a:cs typeface="Arial MT"/>
              </a:rPr>
              <a:t>design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18675" y="4193256"/>
            <a:ext cx="1576070" cy="838835"/>
          </a:xfrm>
          <a:prstGeom prst="rect">
            <a:avLst/>
          </a:prstGeom>
          <a:solidFill>
            <a:srgbClr val="E8F2FF"/>
          </a:solidFill>
          <a:ln w="10159">
            <a:solidFill>
              <a:srgbClr val="7F7F7F"/>
            </a:solidFill>
          </a:ln>
        </p:spPr>
        <p:txBody>
          <a:bodyPr vert="horz" wrap="square" lIns="0" tIns="121920" rIns="0" bIns="0" rtlCol="0">
            <a:spAutoFit/>
          </a:bodyPr>
          <a:lstStyle/>
          <a:p>
            <a:pPr marL="455295" marR="259079" indent="-189865">
              <a:lnSpc>
                <a:spcPct val="101099"/>
              </a:lnSpc>
              <a:spcBef>
                <a:spcPts val="960"/>
              </a:spcBef>
            </a:pPr>
            <a:r>
              <a:rPr sz="1900" spc="-10" dirty="0">
                <a:solidFill>
                  <a:srgbClr val="292934"/>
                </a:solidFill>
                <a:latin typeface="Arial MT"/>
                <a:cs typeface="Arial MT"/>
              </a:rPr>
              <a:t>Database model</a:t>
            </a:r>
            <a:endParaRPr sz="19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976341" y="1229926"/>
            <a:ext cx="2856230" cy="4012565"/>
            <a:chOff x="5976341" y="1229926"/>
            <a:chExt cx="2856230" cy="4012565"/>
          </a:xfrm>
        </p:grpSpPr>
        <p:sp>
          <p:nvSpPr>
            <p:cNvPr id="12" name="object 12"/>
            <p:cNvSpPr/>
            <p:nvPr/>
          </p:nvSpPr>
          <p:spPr>
            <a:xfrm>
              <a:off x="7354405" y="2350871"/>
              <a:ext cx="110489" cy="1748789"/>
            </a:xfrm>
            <a:custGeom>
              <a:avLst/>
              <a:gdLst/>
              <a:ahLst/>
              <a:cxnLst/>
              <a:rect l="l" t="t" r="r" b="b"/>
              <a:pathLst>
                <a:path w="110490" h="1748789">
                  <a:moveTo>
                    <a:pt x="110299" y="1653971"/>
                  </a:moveTo>
                  <a:lnTo>
                    <a:pt x="109232" y="1649818"/>
                  </a:lnTo>
                  <a:lnTo>
                    <a:pt x="102793" y="1646008"/>
                  </a:lnTo>
                  <a:lnTo>
                    <a:pt x="98640" y="1647075"/>
                  </a:lnTo>
                  <a:lnTo>
                    <a:pt x="61633" y="1709648"/>
                  </a:lnTo>
                  <a:lnTo>
                    <a:pt x="61518" y="1720875"/>
                  </a:lnTo>
                  <a:lnTo>
                    <a:pt x="61595" y="1709737"/>
                  </a:lnTo>
                  <a:lnTo>
                    <a:pt x="63576" y="1377899"/>
                  </a:lnTo>
                  <a:lnTo>
                    <a:pt x="50025" y="1377810"/>
                  </a:lnTo>
                  <a:lnTo>
                    <a:pt x="48044" y="1709648"/>
                  </a:lnTo>
                  <a:lnTo>
                    <a:pt x="11747" y="1646567"/>
                  </a:lnTo>
                  <a:lnTo>
                    <a:pt x="7607" y="1645450"/>
                  </a:lnTo>
                  <a:lnTo>
                    <a:pt x="1117" y="1649171"/>
                  </a:lnTo>
                  <a:lnTo>
                    <a:pt x="0" y="1653324"/>
                  </a:lnTo>
                  <a:lnTo>
                    <a:pt x="54584" y="1748193"/>
                  </a:lnTo>
                  <a:lnTo>
                    <a:pt x="62509" y="1734781"/>
                  </a:lnTo>
                  <a:lnTo>
                    <a:pt x="110299" y="1653971"/>
                  </a:lnTo>
                  <a:close/>
                </a:path>
                <a:path w="110490" h="1748789">
                  <a:moveTo>
                    <a:pt x="110299" y="276174"/>
                  </a:moveTo>
                  <a:lnTo>
                    <a:pt x="109232" y="272008"/>
                  </a:lnTo>
                  <a:lnTo>
                    <a:pt x="102793" y="268211"/>
                  </a:lnTo>
                  <a:lnTo>
                    <a:pt x="98640" y="269278"/>
                  </a:lnTo>
                  <a:lnTo>
                    <a:pt x="61633" y="331838"/>
                  </a:lnTo>
                  <a:lnTo>
                    <a:pt x="61518" y="343065"/>
                  </a:lnTo>
                  <a:lnTo>
                    <a:pt x="61595" y="331927"/>
                  </a:lnTo>
                  <a:lnTo>
                    <a:pt x="63576" y="88"/>
                  </a:lnTo>
                  <a:lnTo>
                    <a:pt x="50025" y="0"/>
                  </a:lnTo>
                  <a:lnTo>
                    <a:pt x="48044" y="331838"/>
                  </a:lnTo>
                  <a:lnTo>
                    <a:pt x="11747" y="268757"/>
                  </a:lnTo>
                  <a:lnTo>
                    <a:pt x="7607" y="267639"/>
                  </a:lnTo>
                  <a:lnTo>
                    <a:pt x="1117" y="271373"/>
                  </a:lnTo>
                  <a:lnTo>
                    <a:pt x="0" y="275513"/>
                  </a:lnTo>
                  <a:lnTo>
                    <a:pt x="54584" y="370382"/>
                  </a:lnTo>
                  <a:lnTo>
                    <a:pt x="62509" y="356971"/>
                  </a:lnTo>
                  <a:lnTo>
                    <a:pt x="110299" y="276174"/>
                  </a:lnTo>
                  <a:close/>
                </a:path>
              </a:pathLst>
            </a:custGeom>
            <a:solidFill>
              <a:srgbClr val="3E46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986501" y="1240086"/>
              <a:ext cx="2835910" cy="3992245"/>
            </a:xfrm>
            <a:custGeom>
              <a:avLst/>
              <a:gdLst/>
              <a:ahLst/>
              <a:cxnLst/>
              <a:rect l="l" t="t" r="r" b="b"/>
              <a:pathLst>
                <a:path w="2835909" h="3992245">
                  <a:moveTo>
                    <a:pt x="0" y="472636"/>
                  </a:moveTo>
                  <a:lnTo>
                    <a:pt x="2440" y="424312"/>
                  </a:lnTo>
                  <a:lnTo>
                    <a:pt x="9602" y="377383"/>
                  </a:lnTo>
                  <a:lnTo>
                    <a:pt x="21248" y="332088"/>
                  </a:lnTo>
                  <a:lnTo>
                    <a:pt x="37142" y="288665"/>
                  </a:lnTo>
                  <a:lnTo>
                    <a:pt x="57044" y="247349"/>
                  </a:lnTo>
                  <a:lnTo>
                    <a:pt x="80718" y="208381"/>
                  </a:lnTo>
                  <a:lnTo>
                    <a:pt x="107927" y="171995"/>
                  </a:lnTo>
                  <a:lnTo>
                    <a:pt x="138432" y="138432"/>
                  </a:lnTo>
                  <a:lnTo>
                    <a:pt x="171995" y="107927"/>
                  </a:lnTo>
                  <a:lnTo>
                    <a:pt x="208381" y="80718"/>
                  </a:lnTo>
                  <a:lnTo>
                    <a:pt x="247350" y="57044"/>
                  </a:lnTo>
                  <a:lnTo>
                    <a:pt x="288665" y="37142"/>
                  </a:lnTo>
                  <a:lnTo>
                    <a:pt x="332089" y="21248"/>
                  </a:lnTo>
                  <a:lnTo>
                    <a:pt x="377384" y="9602"/>
                  </a:lnTo>
                  <a:lnTo>
                    <a:pt x="424312" y="2440"/>
                  </a:lnTo>
                  <a:lnTo>
                    <a:pt x="472637" y="0"/>
                  </a:lnTo>
                  <a:lnTo>
                    <a:pt x="2363128" y="0"/>
                  </a:lnTo>
                  <a:lnTo>
                    <a:pt x="2411452" y="2440"/>
                  </a:lnTo>
                  <a:lnTo>
                    <a:pt x="2458381" y="9602"/>
                  </a:lnTo>
                  <a:lnTo>
                    <a:pt x="2503676" y="21248"/>
                  </a:lnTo>
                  <a:lnTo>
                    <a:pt x="2547100" y="37142"/>
                  </a:lnTo>
                  <a:lnTo>
                    <a:pt x="2588415" y="57044"/>
                  </a:lnTo>
                  <a:lnTo>
                    <a:pt x="2627384" y="80718"/>
                  </a:lnTo>
                  <a:lnTo>
                    <a:pt x="2663769" y="107927"/>
                  </a:lnTo>
                  <a:lnTo>
                    <a:pt x="2697333" y="138432"/>
                  </a:lnTo>
                  <a:lnTo>
                    <a:pt x="2727838" y="171995"/>
                  </a:lnTo>
                  <a:lnTo>
                    <a:pt x="2755046" y="208381"/>
                  </a:lnTo>
                  <a:lnTo>
                    <a:pt x="2778720" y="247349"/>
                  </a:lnTo>
                  <a:lnTo>
                    <a:pt x="2798623" y="288665"/>
                  </a:lnTo>
                  <a:lnTo>
                    <a:pt x="2814516" y="332088"/>
                  </a:lnTo>
                  <a:lnTo>
                    <a:pt x="2826163" y="377383"/>
                  </a:lnTo>
                  <a:lnTo>
                    <a:pt x="2833325" y="424312"/>
                  </a:lnTo>
                  <a:lnTo>
                    <a:pt x="2835765" y="472636"/>
                  </a:lnTo>
                  <a:lnTo>
                    <a:pt x="2835765" y="3519114"/>
                  </a:lnTo>
                  <a:lnTo>
                    <a:pt x="2833325" y="3567439"/>
                  </a:lnTo>
                  <a:lnTo>
                    <a:pt x="2826163" y="3614367"/>
                  </a:lnTo>
                  <a:lnTo>
                    <a:pt x="2814516" y="3659662"/>
                  </a:lnTo>
                  <a:lnTo>
                    <a:pt x="2798623" y="3703086"/>
                  </a:lnTo>
                  <a:lnTo>
                    <a:pt x="2778720" y="3744401"/>
                  </a:lnTo>
                  <a:lnTo>
                    <a:pt x="2755046" y="3783370"/>
                  </a:lnTo>
                  <a:lnTo>
                    <a:pt x="2727838" y="3819755"/>
                  </a:lnTo>
                  <a:lnTo>
                    <a:pt x="2697333" y="3853319"/>
                  </a:lnTo>
                  <a:lnTo>
                    <a:pt x="2663769" y="3883824"/>
                  </a:lnTo>
                  <a:lnTo>
                    <a:pt x="2627384" y="3911032"/>
                  </a:lnTo>
                  <a:lnTo>
                    <a:pt x="2588415" y="3934706"/>
                  </a:lnTo>
                  <a:lnTo>
                    <a:pt x="2547100" y="3954609"/>
                  </a:lnTo>
                  <a:lnTo>
                    <a:pt x="2503676" y="3970502"/>
                  </a:lnTo>
                  <a:lnTo>
                    <a:pt x="2458381" y="3982149"/>
                  </a:lnTo>
                  <a:lnTo>
                    <a:pt x="2411452" y="3989311"/>
                  </a:lnTo>
                  <a:lnTo>
                    <a:pt x="2363128" y="3991751"/>
                  </a:lnTo>
                  <a:lnTo>
                    <a:pt x="472637" y="3991751"/>
                  </a:lnTo>
                  <a:lnTo>
                    <a:pt x="424312" y="3989311"/>
                  </a:lnTo>
                  <a:lnTo>
                    <a:pt x="377384" y="3982149"/>
                  </a:lnTo>
                  <a:lnTo>
                    <a:pt x="332089" y="3970502"/>
                  </a:lnTo>
                  <a:lnTo>
                    <a:pt x="288665" y="3954609"/>
                  </a:lnTo>
                  <a:lnTo>
                    <a:pt x="247350" y="3934706"/>
                  </a:lnTo>
                  <a:lnTo>
                    <a:pt x="208381" y="3911032"/>
                  </a:lnTo>
                  <a:lnTo>
                    <a:pt x="171995" y="3883824"/>
                  </a:lnTo>
                  <a:lnTo>
                    <a:pt x="138432" y="3853319"/>
                  </a:lnTo>
                  <a:lnTo>
                    <a:pt x="107927" y="3819755"/>
                  </a:lnTo>
                  <a:lnTo>
                    <a:pt x="80718" y="3783370"/>
                  </a:lnTo>
                  <a:lnTo>
                    <a:pt x="57044" y="3744401"/>
                  </a:lnTo>
                  <a:lnTo>
                    <a:pt x="37142" y="3703086"/>
                  </a:lnTo>
                  <a:lnTo>
                    <a:pt x="21248" y="3659662"/>
                  </a:lnTo>
                  <a:lnTo>
                    <a:pt x="9602" y="3614367"/>
                  </a:lnTo>
                  <a:lnTo>
                    <a:pt x="2440" y="3567439"/>
                  </a:lnTo>
                  <a:lnTo>
                    <a:pt x="0" y="3519114"/>
                  </a:lnTo>
                  <a:lnTo>
                    <a:pt x="0" y="472636"/>
                  </a:lnTo>
                  <a:close/>
                </a:path>
              </a:pathLst>
            </a:custGeom>
            <a:ln w="20319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4848578" y="1817116"/>
            <a:ext cx="993775" cy="110489"/>
          </a:xfrm>
          <a:custGeom>
            <a:avLst/>
            <a:gdLst/>
            <a:ahLst/>
            <a:cxnLst/>
            <a:rect l="l" t="t" r="r" b="b"/>
            <a:pathLst>
              <a:path w="993775" h="110489">
                <a:moveTo>
                  <a:pt x="13547" y="48374"/>
                </a:moveTo>
                <a:lnTo>
                  <a:pt x="0" y="48374"/>
                </a:lnTo>
                <a:lnTo>
                  <a:pt x="0" y="61921"/>
                </a:lnTo>
                <a:lnTo>
                  <a:pt x="13547" y="61921"/>
                </a:lnTo>
                <a:lnTo>
                  <a:pt x="13547" y="48374"/>
                </a:lnTo>
                <a:close/>
              </a:path>
              <a:path w="993775" h="110489">
                <a:moveTo>
                  <a:pt x="40639" y="48374"/>
                </a:moveTo>
                <a:lnTo>
                  <a:pt x="27092" y="48374"/>
                </a:lnTo>
                <a:lnTo>
                  <a:pt x="27092" y="61921"/>
                </a:lnTo>
                <a:lnTo>
                  <a:pt x="40639" y="61921"/>
                </a:lnTo>
                <a:lnTo>
                  <a:pt x="40639" y="48374"/>
                </a:lnTo>
                <a:close/>
              </a:path>
              <a:path w="993775" h="110489">
                <a:moveTo>
                  <a:pt x="67732" y="48374"/>
                </a:moveTo>
                <a:lnTo>
                  <a:pt x="54187" y="48374"/>
                </a:lnTo>
                <a:lnTo>
                  <a:pt x="54187" y="61921"/>
                </a:lnTo>
                <a:lnTo>
                  <a:pt x="67732" y="61921"/>
                </a:lnTo>
                <a:lnTo>
                  <a:pt x="67732" y="48374"/>
                </a:lnTo>
                <a:close/>
              </a:path>
              <a:path w="993775" h="110489">
                <a:moveTo>
                  <a:pt x="94827" y="48374"/>
                </a:moveTo>
                <a:lnTo>
                  <a:pt x="81279" y="48374"/>
                </a:lnTo>
                <a:lnTo>
                  <a:pt x="81279" y="61921"/>
                </a:lnTo>
                <a:lnTo>
                  <a:pt x="94827" y="61921"/>
                </a:lnTo>
                <a:lnTo>
                  <a:pt x="94827" y="48374"/>
                </a:lnTo>
                <a:close/>
              </a:path>
              <a:path w="993775" h="110489">
                <a:moveTo>
                  <a:pt x="121919" y="48374"/>
                </a:moveTo>
                <a:lnTo>
                  <a:pt x="108372" y="48374"/>
                </a:lnTo>
                <a:lnTo>
                  <a:pt x="108372" y="61921"/>
                </a:lnTo>
                <a:lnTo>
                  <a:pt x="121919" y="61921"/>
                </a:lnTo>
                <a:lnTo>
                  <a:pt x="121919" y="48374"/>
                </a:lnTo>
                <a:close/>
              </a:path>
              <a:path w="993775" h="110489">
                <a:moveTo>
                  <a:pt x="149012" y="48374"/>
                </a:moveTo>
                <a:lnTo>
                  <a:pt x="135467" y="48374"/>
                </a:lnTo>
                <a:lnTo>
                  <a:pt x="135467" y="61921"/>
                </a:lnTo>
                <a:lnTo>
                  <a:pt x="149012" y="61921"/>
                </a:lnTo>
                <a:lnTo>
                  <a:pt x="149012" y="48374"/>
                </a:lnTo>
                <a:close/>
              </a:path>
              <a:path w="993775" h="110489">
                <a:moveTo>
                  <a:pt x="162560" y="48374"/>
                </a:moveTo>
                <a:lnTo>
                  <a:pt x="162560" y="61921"/>
                </a:lnTo>
                <a:lnTo>
                  <a:pt x="176107" y="61921"/>
                </a:lnTo>
                <a:lnTo>
                  <a:pt x="176107" y="48375"/>
                </a:lnTo>
                <a:lnTo>
                  <a:pt x="162560" y="48374"/>
                </a:lnTo>
                <a:close/>
              </a:path>
              <a:path w="993775" h="110489">
                <a:moveTo>
                  <a:pt x="203200" y="48375"/>
                </a:moveTo>
                <a:lnTo>
                  <a:pt x="189652" y="48375"/>
                </a:lnTo>
                <a:lnTo>
                  <a:pt x="189652" y="61921"/>
                </a:lnTo>
                <a:lnTo>
                  <a:pt x="203200" y="61921"/>
                </a:lnTo>
                <a:lnTo>
                  <a:pt x="203200" y="48375"/>
                </a:lnTo>
                <a:close/>
              </a:path>
              <a:path w="993775" h="110489">
                <a:moveTo>
                  <a:pt x="230292" y="48375"/>
                </a:moveTo>
                <a:lnTo>
                  <a:pt x="216747" y="48375"/>
                </a:lnTo>
                <a:lnTo>
                  <a:pt x="216747" y="61921"/>
                </a:lnTo>
                <a:lnTo>
                  <a:pt x="230292" y="61921"/>
                </a:lnTo>
                <a:lnTo>
                  <a:pt x="230292" y="48375"/>
                </a:lnTo>
                <a:close/>
              </a:path>
              <a:path w="993775" h="110489">
                <a:moveTo>
                  <a:pt x="257387" y="48375"/>
                </a:moveTo>
                <a:lnTo>
                  <a:pt x="243839" y="48375"/>
                </a:lnTo>
                <a:lnTo>
                  <a:pt x="243839" y="61921"/>
                </a:lnTo>
                <a:lnTo>
                  <a:pt x="257387" y="61921"/>
                </a:lnTo>
                <a:lnTo>
                  <a:pt x="257387" y="48375"/>
                </a:lnTo>
                <a:close/>
              </a:path>
              <a:path w="993775" h="110489">
                <a:moveTo>
                  <a:pt x="284479" y="48375"/>
                </a:moveTo>
                <a:lnTo>
                  <a:pt x="270932" y="48375"/>
                </a:lnTo>
                <a:lnTo>
                  <a:pt x="270932" y="61921"/>
                </a:lnTo>
                <a:lnTo>
                  <a:pt x="284479" y="61921"/>
                </a:lnTo>
                <a:lnTo>
                  <a:pt x="284479" y="48375"/>
                </a:lnTo>
                <a:close/>
              </a:path>
              <a:path w="993775" h="110489">
                <a:moveTo>
                  <a:pt x="311572" y="48375"/>
                </a:moveTo>
                <a:lnTo>
                  <a:pt x="298027" y="48375"/>
                </a:lnTo>
                <a:lnTo>
                  <a:pt x="298027" y="61921"/>
                </a:lnTo>
                <a:lnTo>
                  <a:pt x="311572" y="61921"/>
                </a:lnTo>
                <a:lnTo>
                  <a:pt x="311572" y="48375"/>
                </a:lnTo>
                <a:close/>
              </a:path>
              <a:path w="993775" h="110489">
                <a:moveTo>
                  <a:pt x="338667" y="48375"/>
                </a:moveTo>
                <a:lnTo>
                  <a:pt x="325119" y="48375"/>
                </a:lnTo>
                <a:lnTo>
                  <a:pt x="325119" y="61921"/>
                </a:lnTo>
                <a:lnTo>
                  <a:pt x="338667" y="61921"/>
                </a:lnTo>
                <a:lnTo>
                  <a:pt x="338667" y="48375"/>
                </a:lnTo>
                <a:close/>
              </a:path>
              <a:path w="993775" h="110489">
                <a:moveTo>
                  <a:pt x="365760" y="48375"/>
                </a:moveTo>
                <a:lnTo>
                  <a:pt x="352212" y="48375"/>
                </a:lnTo>
                <a:lnTo>
                  <a:pt x="352212" y="61921"/>
                </a:lnTo>
                <a:lnTo>
                  <a:pt x="365760" y="61921"/>
                </a:lnTo>
                <a:lnTo>
                  <a:pt x="365760" y="48375"/>
                </a:lnTo>
                <a:close/>
              </a:path>
              <a:path w="993775" h="110489">
                <a:moveTo>
                  <a:pt x="392852" y="48375"/>
                </a:moveTo>
                <a:lnTo>
                  <a:pt x="379307" y="48375"/>
                </a:lnTo>
                <a:lnTo>
                  <a:pt x="379307" y="61921"/>
                </a:lnTo>
                <a:lnTo>
                  <a:pt x="392852" y="61921"/>
                </a:lnTo>
                <a:lnTo>
                  <a:pt x="392852" y="48375"/>
                </a:lnTo>
                <a:close/>
              </a:path>
              <a:path w="993775" h="110489">
                <a:moveTo>
                  <a:pt x="419947" y="48375"/>
                </a:moveTo>
                <a:lnTo>
                  <a:pt x="406400" y="48375"/>
                </a:lnTo>
                <a:lnTo>
                  <a:pt x="406400" y="61921"/>
                </a:lnTo>
                <a:lnTo>
                  <a:pt x="419947" y="61921"/>
                </a:lnTo>
                <a:lnTo>
                  <a:pt x="419947" y="48375"/>
                </a:lnTo>
                <a:close/>
              </a:path>
              <a:path w="993775" h="110489">
                <a:moveTo>
                  <a:pt x="447039" y="48375"/>
                </a:moveTo>
                <a:lnTo>
                  <a:pt x="433492" y="48375"/>
                </a:lnTo>
                <a:lnTo>
                  <a:pt x="433492" y="61921"/>
                </a:lnTo>
                <a:lnTo>
                  <a:pt x="447039" y="61921"/>
                </a:lnTo>
                <a:lnTo>
                  <a:pt x="447039" y="48375"/>
                </a:lnTo>
                <a:close/>
              </a:path>
              <a:path w="993775" h="110489">
                <a:moveTo>
                  <a:pt x="474132" y="48375"/>
                </a:moveTo>
                <a:lnTo>
                  <a:pt x="460587" y="48375"/>
                </a:lnTo>
                <a:lnTo>
                  <a:pt x="460587" y="61921"/>
                </a:lnTo>
                <a:lnTo>
                  <a:pt x="474132" y="61921"/>
                </a:lnTo>
                <a:lnTo>
                  <a:pt x="474132" y="48375"/>
                </a:lnTo>
                <a:close/>
              </a:path>
              <a:path w="993775" h="110489">
                <a:moveTo>
                  <a:pt x="501227" y="48375"/>
                </a:moveTo>
                <a:lnTo>
                  <a:pt x="487679" y="48375"/>
                </a:lnTo>
                <a:lnTo>
                  <a:pt x="487679" y="61921"/>
                </a:lnTo>
                <a:lnTo>
                  <a:pt x="501227" y="61921"/>
                </a:lnTo>
                <a:lnTo>
                  <a:pt x="501227" y="48375"/>
                </a:lnTo>
                <a:close/>
              </a:path>
              <a:path w="993775" h="110489">
                <a:moveTo>
                  <a:pt x="528319" y="48375"/>
                </a:moveTo>
                <a:lnTo>
                  <a:pt x="514772" y="48375"/>
                </a:lnTo>
                <a:lnTo>
                  <a:pt x="514772" y="61921"/>
                </a:lnTo>
                <a:lnTo>
                  <a:pt x="528319" y="61921"/>
                </a:lnTo>
                <a:lnTo>
                  <a:pt x="528319" y="48375"/>
                </a:lnTo>
                <a:close/>
              </a:path>
              <a:path w="993775" h="110489">
                <a:moveTo>
                  <a:pt x="555412" y="48375"/>
                </a:moveTo>
                <a:lnTo>
                  <a:pt x="541867" y="48375"/>
                </a:lnTo>
                <a:lnTo>
                  <a:pt x="541867" y="61921"/>
                </a:lnTo>
                <a:lnTo>
                  <a:pt x="555412" y="61921"/>
                </a:lnTo>
                <a:lnTo>
                  <a:pt x="555412" y="48375"/>
                </a:lnTo>
                <a:close/>
              </a:path>
              <a:path w="993775" h="110489">
                <a:moveTo>
                  <a:pt x="582507" y="48375"/>
                </a:moveTo>
                <a:lnTo>
                  <a:pt x="568960" y="48375"/>
                </a:lnTo>
                <a:lnTo>
                  <a:pt x="568960" y="61922"/>
                </a:lnTo>
                <a:lnTo>
                  <a:pt x="582507" y="61922"/>
                </a:lnTo>
                <a:lnTo>
                  <a:pt x="582507" y="48375"/>
                </a:lnTo>
                <a:close/>
              </a:path>
              <a:path w="993775" h="110489">
                <a:moveTo>
                  <a:pt x="609600" y="48375"/>
                </a:moveTo>
                <a:lnTo>
                  <a:pt x="596052" y="48375"/>
                </a:lnTo>
                <a:lnTo>
                  <a:pt x="596052" y="61922"/>
                </a:lnTo>
                <a:lnTo>
                  <a:pt x="609600" y="61922"/>
                </a:lnTo>
                <a:lnTo>
                  <a:pt x="609600" y="48375"/>
                </a:lnTo>
                <a:close/>
              </a:path>
              <a:path w="993775" h="110489">
                <a:moveTo>
                  <a:pt x="636692" y="48375"/>
                </a:moveTo>
                <a:lnTo>
                  <a:pt x="623147" y="48375"/>
                </a:lnTo>
                <a:lnTo>
                  <a:pt x="623147" y="61922"/>
                </a:lnTo>
                <a:lnTo>
                  <a:pt x="636692" y="61922"/>
                </a:lnTo>
                <a:lnTo>
                  <a:pt x="636692" y="48375"/>
                </a:lnTo>
                <a:close/>
              </a:path>
              <a:path w="993775" h="110489">
                <a:moveTo>
                  <a:pt x="663787" y="48375"/>
                </a:moveTo>
                <a:lnTo>
                  <a:pt x="650239" y="48375"/>
                </a:lnTo>
                <a:lnTo>
                  <a:pt x="650239" y="61922"/>
                </a:lnTo>
                <a:lnTo>
                  <a:pt x="663787" y="61922"/>
                </a:lnTo>
                <a:lnTo>
                  <a:pt x="663787" y="48375"/>
                </a:lnTo>
                <a:close/>
              </a:path>
              <a:path w="993775" h="110489">
                <a:moveTo>
                  <a:pt x="690879" y="48375"/>
                </a:moveTo>
                <a:lnTo>
                  <a:pt x="677332" y="48375"/>
                </a:lnTo>
                <a:lnTo>
                  <a:pt x="677332" y="61922"/>
                </a:lnTo>
                <a:lnTo>
                  <a:pt x="690879" y="61922"/>
                </a:lnTo>
                <a:lnTo>
                  <a:pt x="690879" y="48375"/>
                </a:lnTo>
                <a:close/>
              </a:path>
              <a:path w="993775" h="110489">
                <a:moveTo>
                  <a:pt x="717972" y="48375"/>
                </a:moveTo>
                <a:lnTo>
                  <a:pt x="704427" y="48375"/>
                </a:lnTo>
                <a:lnTo>
                  <a:pt x="704427" y="61922"/>
                </a:lnTo>
                <a:lnTo>
                  <a:pt x="717972" y="61922"/>
                </a:lnTo>
                <a:lnTo>
                  <a:pt x="717972" y="48375"/>
                </a:lnTo>
                <a:close/>
              </a:path>
              <a:path w="993775" h="110489">
                <a:moveTo>
                  <a:pt x="745067" y="48375"/>
                </a:moveTo>
                <a:lnTo>
                  <a:pt x="731519" y="48375"/>
                </a:lnTo>
                <a:lnTo>
                  <a:pt x="731519" y="61922"/>
                </a:lnTo>
                <a:lnTo>
                  <a:pt x="745067" y="61922"/>
                </a:lnTo>
                <a:lnTo>
                  <a:pt x="745067" y="48375"/>
                </a:lnTo>
                <a:close/>
              </a:path>
              <a:path w="993775" h="110489">
                <a:moveTo>
                  <a:pt x="772160" y="48375"/>
                </a:moveTo>
                <a:lnTo>
                  <a:pt x="758612" y="48375"/>
                </a:lnTo>
                <a:lnTo>
                  <a:pt x="758612" y="61922"/>
                </a:lnTo>
                <a:lnTo>
                  <a:pt x="772160" y="61922"/>
                </a:lnTo>
                <a:lnTo>
                  <a:pt x="772160" y="48375"/>
                </a:lnTo>
                <a:close/>
              </a:path>
              <a:path w="993775" h="110489">
                <a:moveTo>
                  <a:pt x="799252" y="48375"/>
                </a:moveTo>
                <a:lnTo>
                  <a:pt x="785707" y="48375"/>
                </a:lnTo>
                <a:lnTo>
                  <a:pt x="785707" y="61922"/>
                </a:lnTo>
                <a:lnTo>
                  <a:pt x="799252" y="61922"/>
                </a:lnTo>
                <a:lnTo>
                  <a:pt x="799252" y="48375"/>
                </a:lnTo>
                <a:close/>
              </a:path>
              <a:path w="993775" h="110489">
                <a:moveTo>
                  <a:pt x="826347" y="48375"/>
                </a:moveTo>
                <a:lnTo>
                  <a:pt x="812800" y="48375"/>
                </a:lnTo>
                <a:lnTo>
                  <a:pt x="812800" y="61922"/>
                </a:lnTo>
                <a:lnTo>
                  <a:pt x="826347" y="61922"/>
                </a:lnTo>
                <a:lnTo>
                  <a:pt x="826347" y="48375"/>
                </a:lnTo>
                <a:close/>
              </a:path>
              <a:path w="993775" h="110489">
                <a:moveTo>
                  <a:pt x="853439" y="48375"/>
                </a:moveTo>
                <a:lnTo>
                  <a:pt x="839892" y="48375"/>
                </a:lnTo>
                <a:lnTo>
                  <a:pt x="839892" y="61922"/>
                </a:lnTo>
                <a:lnTo>
                  <a:pt x="853439" y="61922"/>
                </a:lnTo>
                <a:lnTo>
                  <a:pt x="853439" y="48375"/>
                </a:lnTo>
                <a:close/>
              </a:path>
              <a:path w="993775" h="110489">
                <a:moveTo>
                  <a:pt x="880532" y="48375"/>
                </a:moveTo>
                <a:lnTo>
                  <a:pt x="866987" y="48375"/>
                </a:lnTo>
                <a:lnTo>
                  <a:pt x="866987" y="61922"/>
                </a:lnTo>
                <a:lnTo>
                  <a:pt x="880532" y="61922"/>
                </a:lnTo>
                <a:lnTo>
                  <a:pt x="880532" y="48375"/>
                </a:lnTo>
                <a:close/>
              </a:path>
              <a:path w="993775" h="110489">
                <a:moveTo>
                  <a:pt x="961812" y="57923"/>
                </a:moveTo>
                <a:lnTo>
                  <a:pt x="892086" y="98596"/>
                </a:lnTo>
                <a:lnTo>
                  <a:pt x="890995" y="102744"/>
                </a:lnTo>
                <a:lnTo>
                  <a:pt x="894764" y="109206"/>
                </a:lnTo>
                <a:lnTo>
                  <a:pt x="898912" y="110298"/>
                </a:lnTo>
                <a:lnTo>
                  <a:pt x="981842" y="61922"/>
                </a:lnTo>
                <a:lnTo>
                  <a:pt x="961812" y="61922"/>
                </a:lnTo>
                <a:lnTo>
                  <a:pt x="961812" y="57923"/>
                </a:lnTo>
                <a:close/>
              </a:path>
              <a:path w="993775" h="110489">
                <a:moveTo>
                  <a:pt x="907627" y="48375"/>
                </a:moveTo>
                <a:lnTo>
                  <a:pt x="894079" y="48375"/>
                </a:lnTo>
                <a:lnTo>
                  <a:pt x="894079" y="61922"/>
                </a:lnTo>
                <a:lnTo>
                  <a:pt x="907627" y="61922"/>
                </a:lnTo>
                <a:lnTo>
                  <a:pt x="907627" y="48375"/>
                </a:lnTo>
                <a:close/>
              </a:path>
              <a:path w="993775" h="110489">
                <a:moveTo>
                  <a:pt x="934719" y="48375"/>
                </a:moveTo>
                <a:lnTo>
                  <a:pt x="921172" y="48375"/>
                </a:lnTo>
                <a:lnTo>
                  <a:pt x="921172" y="61922"/>
                </a:lnTo>
                <a:lnTo>
                  <a:pt x="934719" y="61922"/>
                </a:lnTo>
                <a:lnTo>
                  <a:pt x="934719" y="48375"/>
                </a:lnTo>
                <a:close/>
              </a:path>
              <a:path w="993775" h="110489">
                <a:moveTo>
                  <a:pt x="954956" y="48375"/>
                </a:moveTo>
                <a:lnTo>
                  <a:pt x="948267" y="48375"/>
                </a:lnTo>
                <a:lnTo>
                  <a:pt x="948267" y="61922"/>
                </a:lnTo>
                <a:lnTo>
                  <a:pt x="954956" y="61922"/>
                </a:lnTo>
                <a:lnTo>
                  <a:pt x="961812" y="57923"/>
                </a:lnTo>
                <a:lnTo>
                  <a:pt x="961812" y="52374"/>
                </a:lnTo>
                <a:lnTo>
                  <a:pt x="954956" y="48375"/>
                </a:lnTo>
                <a:close/>
              </a:path>
              <a:path w="993775" h="110489">
                <a:moveTo>
                  <a:pt x="966569" y="55149"/>
                </a:moveTo>
                <a:lnTo>
                  <a:pt x="961812" y="57923"/>
                </a:lnTo>
                <a:lnTo>
                  <a:pt x="961812" y="61922"/>
                </a:lnTo>
                <a:lnTo>
                  <a:pt x="975360" y="61922"/>
                </a:lnTo>
                <a:lnTo>
                  <a:pt x="975360" y="60277"/>
                </a:lnTo>
                <a:lnTo>
                  <a:pt x="966569" y="55149"/>
                </a:lnTo>
                <a:close/>
              </a:path>
              <a:path w="993775" h="110489">
                <a:moveTo>
                  <a:pt x="975360" y="60277"/>
                </a:moveTo>
                <a:lnTo>
                  <a:pt x="975360" y="61922"/>
                </a:lnTo>
                <a:lnTo>
                  <a:pt x="980010" y="61922"/>
                </a:lnTo>
                <a:lnTo>
                  <a:pt x="980010" y="60999"/>
                </a:lnTo>
                <a:lnTo>
                  <a:pt x="976598" y="60999"/>
                </a:lnTo>
                <a:lnTo>
                  <a:pt x="975360" y="60277"/>
                </a:lnTo>
                <a:close/>
              </a:path>
              <a:path w="993775" h="110489">
                <a:moveTo>
                  <a:pt x="981840" y="48375"/>
                </a:moveTo>
                <a:lnTo>
                  <a:pt x="980010" y="48375"/>
                </a:lnTo>
                <a:lnTo>
                  <a:pt x="980010" y="61922"/>
                </a:lnTo>
                <a:lnTo>
                  <a:pt x="981842" y="61922"/>
                </a:lnTo>
                <a:lnTo>
                  <a:pt x="993453" y="55149"/>
                </a:lnTo>
                <a:lnTo>
                  <a:pt x="981840" y="48375"/>
                </a:lnTo>
                <a:close/>
              </a:path>
              <a:path w="993775" h="110489">
                <a:moveTo>
                  <a:pt x="976598" y="49298"/>
                </a:moveTo>
                <a:lnTo>
                  <a:pt x="975360" y="50021"/>
                </a:lnTo>
                <a:lnTo>
                  <a:pt x="975360" y="60277"/>
                </a:lnTo>
                <a:lnTo>
                  <a:pt x="976598" y="60999"/>
                </a:lnTo>
                <a:lnTo>
                  <a:pt x="976598" y="49298"/>
                </a:lnTo>
                <a:close/>
              </a:path>
              <a:path w="993775" h="110489">
                <a:moveTo>
                  <a:pt x="980010" y="49298"/>
                </a:moveTo>
                <a:lnTo>
                  <a:pt x="976598" y="49298"/>
                </a:lnTo>
                <a:lnTo>
                  <a:pt x="976598" y="60999"/>
                </a:lnTo>
                <a:lnTo>
                  <a:pt x="980010" y="60999"/>
                </a:lnTo>
                <a:lnTo>
                  <a:pt x="980010" y="49298"/>
                </a:lnTo>
                <a:close/>
              </a:path>
              <a:path w="993775" h="110489">
                <a:moveTo>
                  <a:pt x="975360" y="50021"/>
                </a:moveTo>
                <a:lnTo>
                  <a:pt x="966569" y="55149"/>
                </a:lnTo>
                <a:lnTo>
                  <a:pt x="975360" y="60277"/>
                </a:lnTo>
                <a:lnTo>
                  <a:pt x="975360" y="50021"/>
                </a:lnTo>
                <a:close/>
              </a:path>
              <a:path w="993775" h="110489">
                <a:moveTo>
                  <a:pt x="975360" y="48375"/>
                </a:moveTo>
                <a:lnTo>
                  <a:pt x="961812" y="48375"/>
                </a:lnTo>
                <a:lnTo>
                  <a:pt x="961812" y="52374"/>
                </a:lnTo>
                <a:lnTo>
                  <a:pt x="966569" y="55149"/>
                </a:lnTo>
                <a:lnTo>
                  <a:pt x="975360" y="50021"/>
                </a:lnTo>
                <a:lnTo>
                  <a:pt x="975360" y="48375"/>
                </a:lnTo>
                <a:close/>
              </a:path>
              <a:path w="993775" h="110489">
                <a:moveTo>
                  <a:pt x="898912" y="0"/>
                </a:moveTo>
                <a:lnTo>
                  <a:pt x="894764" y="1092"/>
                </a:lnTo>
                <a:lnTo>
                  <a:pt x="890995" y="7553"/>
                </a:lnTo>
                <a:lnTo>
                  <a:pt x="892086" y="11701"/>
                </a:lnTo>
                <a:lnTo>
                  <a:pt x="961812" y="52374"/>
                </a:lnTo>
                <a:lnTo>
                  <a:pt x="961812" y="48375"/>
                </a:lnTo>
                <a:lnTo>
                  <a:pt x="981840" y="48375"/>
                </a:lnTo>
                <a:lnTo>
                  <a:pt x="898912" y="0"/>
                </a:lnTo>
                <a:close/>
              </a:path>
              <a:path w="993775" h="110489">
                <a:moveTo>
                  <a:pt x="980010" y="48375"/>
                </a:moveTo>
                <a:lnTo>
                  <a:pt x="975360" y="48375"/>
                </a:lnTo>
                <a:lnTo>
                  <a:pt x="975360" y="50021"/>
                </a:lnTo>
                <a:lnTo>
                  <a:pt x="976598" y="49298"/>
                </a:lnTo>
                <a:lnTo>
                  <a:pt x="980010" y="49298"/>
                </a:lnTo>
                <a:lnTo>
                  <a:pt x="980010" y="48375"/>
                </a:lnTo>
                <a:close/>
              </a:path>
            </a:pathLst>
          </a:custGeom>
          <a:solidFill>
            <a:srgbClr val="3E465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3880" y="5650991"/>
            <a:ext cx="8948928" cy="1606296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768415" y="5620558"/>
            <a:ext cx="8522335" cy="1267460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144780" rIns="0" bIns="0" rtlCol="0">
            <a:spAutoFit/>
          </a:bodyPr>
          <a:lstStyle/>
          <a:p>
            <a:pPr marL="13335" algn="ctr">
              <a:lnSpc>
                <a:spcPct val="100000"/>
              </a:lnSpc>
              <a:spcBef>
                <a:spcPts val="1140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2100" spc="11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design</a:t>
            </a:r>
            <a:r>
              <a:rPr sz="2100" spc="1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2100" spc="1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process</a:t>
            </a:r>
            <a:r>
              <a:rPr sz="2100" spc="11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organizing</a:t>
            </a:r>
            <a:r>
              <a:rPr sz="2100" spc="1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2100" spc="1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into</a:t>
            </a:r>
            <a:r>
              <a:rPr sz="2100" spc="1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endParaRPr sz="2100">
              <a:latin typeface="Verdana"/>
              <a:cs typeface="Verdana"/>
            </a:endParaRPr>
          </a:p>
          <a:p>
            <a:pPr marL="330835" marR="306070" algn="ctr">
              <a:lnSpc>
                <a:spcPct val="102899"/>
              </a:lnSpc>
              <a:spcBef>
                <a:spcPts val="20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2100" spc="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model</a:t>
            </a:r>
            <a:r>
              <a:rPr sz="2100" spc="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210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considering</a:t>
            </a:r>
            <a:r>
              <a:rPr sz="210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data</a:t>
            </a:r>
            <a:r>
              <a:rPr sz="2100" spc="10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to</a:t>
            </a:r>
            <a:r>
              <a:rPr sz="2100" spc="10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be</a:t>
            </a:r>
            <a:r>
              <a:rPr sz="2100" spc="10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stored</a:t>
            </a:r>
            <a:r>
              <a:rPr sz="2100" spc="11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100" spc="10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interrelationship</a:t>
            </a:r>
            <a:r>
              <a:rPr sz="2100" spc="18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of</a:t>
            </a:r>
            <a:r>
              <a:rPr sz="2100" spc="15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the</a:t>
            </a:r>
            <a:r>
              <a:rPr sz="2100" spc="17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-20" dirty="0">
                <a:solidFill>
                  <a:srgbClr val="C00000"/>
                </a:solidFill>
                <a:latin typeface="Verdana"/>
                <a:cs typeface="Verdana"/>
              </a:rPr>
              <a:t>data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7837" y="2206484"/>
            <a:ext cx="9629140" cy="1217930"/>
            <a:chOff x="207837" y="2206484"/>
            <a:chExt cx="9629140" cy="1217930"/>
          </a:xfrm>
        </p:grpSpPr>
        <p:sp>
          <p:nvSpPr>
            <p:cNvPr id="3" name="object 3"/>
            <p:cNvSpPr/>
            <p:nvPr/>
          </p:nvSpPr>
          <p:spPr>
            <a:xfrm>
              <a:off x="223077" y="2221724"/>
              <a:ext cx="9598660" cy="1187450"/>
            </a:xfrm>
            <a:custGeom>
              <a:avLst/>
              <a:gdLst/>
              <a:ahLst/>
              <a:cxnLst/>
              <a:rect l="l" t="t" r="r" b="b"/>
              <a:pathLst>
                <a:path w="9598660" h="1187450">
                  <a:moveTo>
                    <a:pt x="9598107" y="0"/>
                  </a:moveTo>
                  <a:lnTo>
                    <a:pt x="0" y="0"/>
                  </a:lnTo>
                  <a:lnTo>
                    <a:pt x="0" y="1187397"/>
                  </a:lnTo>
                  <a:lnTo>
                    <a:pt x="9598107" y="1187397"/>
                  </a:lnTo>
                  <a:lnTo>
                    <a:pt x="9598107" y="0"/>
                  </a:lnTo>
                  <a:close/>
                </a:path>
              </a:pathLst>
            </a:custGeom>
            <a:solidFill>
              <a:srgbClr val="FFF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23077" y="2221724"/>
              <a:ext cx="9598660" cy="1187450"/>
            </a:xfrm>
            <a:custGeom>
              <a:avLst/>
              <a:gdLst/>
              <a:ahLst/>
              <a:cxnLst/>
              <a:rect l="l" t="t" r="r" b="b"/>
              <a:pathLst>
                <a:path w="9598660" h="1187450">
                  <a:moveTo>
                    <a:pt x="0" y="0"/>
                  </a:moveTo>
                  <a:lnTo>
                    <a:pt x="9598107" y="0"/>
                  </a:lnTo>
                  <a:lnTo>
                    <a:pt x="9598107" y="1187397"/>
                  </a:lnTo>
                  <a:lnTo>
                    <a:pt x="0" y="1187397"/>
                  </a:lnTo>
                  <a:lnTo>
                    <a:pt x="0" y="0"/>
                  </a:lnTo>
                  <a:close/>
                </a:path>
              </a:pathLst>
            </a:custGeom>
            <a:ln w="3047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25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solidFill>
                  <a:srgbClr val="292934"/>
                </a:solidFill>
              </a:rPr>
              <a:t>Database</a:t>
            </a:r>
            <a:r>
              <a:rPr spc="-200" dirty="0">
                <a:solidFill>
                  <a:srgbClr val="292934"/>
                </a:solidFill>
              </a:rPr>
              <a:t> </a:t>
            </a:r>
            <a:r>
              <a:rPr spc="-120" dirty="0">
                <a:solidFill>
                  <a:srgbClr val="292934"/>
                </a:solidFill>
              </a:rPr>
              <a:t>Design</a:t>
            </a:r>
            <a:r>
              <a:rPr spc="-204" dirty="0">
                <a:solidFill>
                  <a:srgbClr val="292934"/>
                </a:solidFill>
              </a:rPr>
              <a:t> </a:t>
            </a:r>
            <a:r>
              <a:rPr spc="-75" dirty="0">
                <a:solidFill>
                  <a:srgbClr val="292934"/>
                </a:solidFill>
              </a:rPr>
              <a:t>Process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05512" y="1196896"/>
            <a:ext cx="4378960" cy="878205"/>
          </a:xfrm>
          <a:prstGeom prst="rect">
            <a:avLst/>
          </a:prstGeom>
          <a:solidFill>
            <a:srgbClr val="E8F2FF"/>
          </a:solidFill>
          <a:ln w="10159">
            <a:solidFill>
              <a:srgbClr val="7F7F7F"/>
            </a:solidFill>
          </a:ln>
        </p:spPr>
        <p:txBody>
          <a:bodyPr vert="horz" wrap="square" lIns="0" tIns="166370" rIns="0" bIns="0" rtlCol="0">
            <a:spAutoFit/>
          </a:bodyPr>
          <a:lstStyle/>
          <a:p>
            <a:pPr marL="915669" marR="121920" indent="-853440">
              <a:lnSpc>
                <a:spcPts val="2090"/>
              </a:lnSpc>
              <a:spcBef>
                <a:spcPts val="1310"/>
              </a:spcBef>
            </a:pP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Interact with</a:t>
            </a:r>
            <a:r>
              <a:rPr sz="19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users</a:t>
            </a:r>
            <a:r>
              <a:rPr sz="19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and</a:t>
            </a:r>
            <a:r>
              <a:rPr sz="19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domain</a:t>
            </a:r>
            <a:r>
              <a:rPr sz="19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Arial MT"/>
                <a:cs typeface="Arial MT"/>
              </a:rPr>
              <a:t>experts 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to characterize</a:t>
            </a:r>
            <a:r>
              <a:rPr sz="19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19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20" dirty="0">
                <a:solidFill>
                  <a:srgbClr val="292934"/>
                </a:solidFill>
                <a:latin typeface="Arial MT"/>
                <a:cs typeface="Arial MT"/>
              </a:rPr>
              <a:t>data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7581" y="2385846"/>
            <a:ext cx="4378960" cy="878205"/>
          </a:xfrm>
          <a:prstGeom prst="rect">
            <a:avLst/>
          </a:prstGeom>
          <a:solidFill>
            <a:srgbClr val="E8F2FF"/>
          </a:solidFill>
          <a:ln w="10159">
            <a:solidFill>
              <a:srgbClr val="7F7F7F"/>
            </a:solidFill>
          </a:ln>
        </p:spPr>
        <p:txBody>
          <a:bodyPr vert="horz" wrap="square" lIns="0" tIns="166370" rIns="0" bIns="0" rtlCol="0">
            <a:spAutoFit/>
          </a:bodyPr>
          <a:lstStyle/>
          <a:p>
            <a:pPr marL="373380" marR="366395" indent="302260">
              <a:lnSpc>
                <a:spcPts val="2090"/>
              </a:lnSpc>
              <a:spcBef>
                <a:spcPts val="1310"/>
              </a:spcBef>
            </a:pP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Translate</a:t>
            </a:r>
            <a:r>
              <a:rPr sz="19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requirements</a:t>
            </a:r>
            <a:r>
              <a:rPr sz="19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20" dirty="0">
                <a:solidFill>
                  <a:srgbClr val="292934"/>
                </a:solidFill>
                <a:latin typeface="Arial MT"/>
                <a:cs typeface="Arial MT"/>
              </a:rPr>
              <a:t>into </a:t>
            </a:r>
            <a:r>
              <a:rPr sz="1900" dirty="0">
                <a:solidFill>
                  <a:srgbClr val="C00000"/>
                </a:solidFill>
                <a:latin typeface="Arial MT"/>
                <a:cs typeface="Arial MT"/>
              </a:rPr>
              <a:t>conceptual</a:t>
            </a:r>
            <a:r>
              <a:rPr sz="1900" spc="-1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C00000"/>
                </a:solidFill>
                <a:latin typeface="Arial MT"/>
                <a:cs typeface="Arial MT"/>
              </a:rPr>
              <a:t>model</a:t>
            </a:r>
            <a:r>
              <a:rPr sz="1900" spc="-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(E-R</a:t>
            </a:r>
            <a:r>
              <a:rPr sz="19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Arial MT"/>
                <a:cs typeface="Arial MT"/>
              </a:rPr>
              <a:t>diagrams)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5513" y="3641178"/>
            <a:ext cx="4378960" cy="878205"/>
          </a:xfrm>
          <a:prstGeom prst="rect">
            <a:avLst/>
          </a:prstGeom>
          <a:solidFill>
            <a:srgbClr val="E8F2FF"/>
          </a:solidFill>
          <a:ln w="10159">
            <a:solidFill>
              <a:srgbClr val="7F7F7F"/>
            </a:solidFill>
          </a:ln>
        </p:spPr>
        <p:txBody>
          <a:bodyPr vert="horz" wrap="square" lIns="0" tIns="166370" rIns="0" bIns="0" rtlCol="0">
            <a:spAutoFit/>
          </a:bodyPr>
          <a:lstStyle/>
          <a:p>
            <a:pPr marL="820419" marR="155575" indent="-657225">
              <a:lnSpc>
                <a:spcPts val="2090"/>
              </a:lnSpc>
              <a:spcBef>
                <a:spcPts val="1310"/>
              </a:spcBef>
            </a:pP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Convert</a:t>
            </a:r>
            <a:r>
              <a:rPr sz="19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19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model</a:t>
            </a:r>
            <a:r>
              <a:rPr sz="19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to </a:t>
            </a:r>
            <a:r>
              <a:rPr sz="1900" dirty="0">
                <a:solidFill>
                  <a:srgbClr val="C00000"/>
                </a:solidFill>
                <a:latin typeface="Arial MT"/>
                <a:cs typeface="Arial MT"/>
              </a:rPr>
              <a:t>relational</a:t>
            </a:r>
            <a:r>
              <a:rPr sz="1900" spc="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C00000"/>
                </a:solidFill>
                <a:latin typeface="Arial MT"/>
                <a:cs typeface="Arial MT"/>
              </a:rPr>
              <a:t>model 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(schema</a:t>
            </a:r>
            <a:r>
              <a:rPr sz="19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and</a:t>
            </a:r>
            <a:r>
              <a:rPr sz="19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Arial MT"/>
                <a:cs typeface="Arial MT"/>
              </a:rPr>
              <a:t>constraints)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7581" y="4905511"/>
            <a:ext cx="4378960" cy="878205"/>
          </a:xfrm>
          <a:prstGeom prst="rect">
            <a:avLst/>
          </a:prstGeom>
          <a:solidFill>
            <a:srgbClr val="E8F2FF"/>
          </a:solidFill>
          <a:ln w="10159">
            <a:solidFill>
              <a:srgbClr val="7F7F7F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644525" marR="706755" indent="1270" algn="ctr">
              <a:lnSpc>
                <a:spcPct val="92100"/>
              </a:lnSpc>
              <a:spcBef>
                <a:spcPts val="215"/>
              </a:spcBef>
            </a:pP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Normalize and</a:t>
            </a:r>
            <a:r>
              <a:rPr sz="19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Arial MT"/>
                <a:cs typeface="Arial MT"/>
              </a:rPr>
              <a:t>develop </a:t>
            </a:r>
            <a:r>
              <a:rPr sz="1900" dirty="0">
                <a:solidFill>
                  <a:srgbClr val="C00000"/>
                </a:solidFill>
                <a:latin typeface="Arial MT"/>
                <a:cs typeface="Arial MT"/>
              </a:rPr>
              <a:t>conceptual</a:t>
            </a:r>
            <a:r>
              <a:rPr sz="1900" spc="-3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C00000"/>
                </a:solidFill>
                <a:latin typeface="Arial MT"/>
                <a:cs typeface="Arial MT"/>
              </a:rPr>
              <a:t>(logical)</a:t>
            </a:r>
            <a:r>
              <a:rPr sz="1900" spc="-2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C00000"/>
                </a:solidFill>
                <a:latin typeface="Arial MT"/>
                <a:cs typeface="Arial MT"/>
              </a:rPr>
              <a:t>schema 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of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the </a:t>
            </a:r>
            <a:r>
              <a:rPr sz="1900" spc="-10" dirty="0">
                <a:solidFill>
                  <a:srgbClr val="292934"/>
                </a:solidFill>
                <a:latin typeface="Arial MT"/>
                <a:cs typeface="Arial MT"/>
              </a:rPr>
              <a:t>database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7581" y="6173827"/>
            <a:ext cx="4378960" cy="878205"/>
          </a:xfrm>
          <a:prstGeom prst="rect">
            <a:avLst/>
          </a:prstGeom>
          <a:solidFill>
            <a:srgbClr val="E8F2FF"/>
          </a:solidFill>
          <a:ln w="10159">
            <a:solidFill>
              <a:srgbClr val="7F7F7F"/>
            </a:solidFill>
          </a:ln>
        </p:spPr>
        <p:txBody>
          <a:bodyPr vert="horz" wrap="square" lIns="0" tIns="167005" rIns="0" bIns="0" rtlCol="0">
            <a:spAutoFit/>
          </a:bodyPr>
          <a:lstStyle/>
          <a:p>
            <a:pPr marL="786765" marR="778510" indent="-13970">
              <a:lnSpc>
                <a:spcPts val="2090"/>
              </a:lnSpc>
              <a:spcBef>
                <a:spcPts val="1315"/>
              </a:spcBef>
            </a:pP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Develop</a:t>
            </a:r>
            <a:r>
              <a:rPr sz="19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C00000"/>
                </a:solidFill>
                <a:latin typeface="Arial MT"/>
                <a:cs typeface="Arial MT"/>
              </a:rPr>
              <a:t>physical</a:t>
            </a:r>
            <a:r>
              <a:rPr sz="1900" spc="-2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C00000"/>
                </a:solidFill>
                <a:latin typeface="Arial MT"/>
                <a:cs typeface="Arial MT"/>
              </a:rPr>
              <a:t>schema 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(partitioning and</a:t>
            </a:r>
            <a:r>
              <a:rPr sz="19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Arial MT"/>
                <a:cs typeface="Arial MT"/>
              </a:rPr>
              <a:t>indexing)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441145" y="4518964"/>
            <a:ext cx="110489" cy="386715"/>
          </a:xfrm>
          <a:custGeom>
            <a:avLst/>
            <a:gdLst/>
            <a:ahLst/>
            <a:cxnLst/>
            <a:rect l="l" t="t" r="r" b="b"/>
            <a:pathLst>
              <a:path w="110489" h="386714">
                <a:moveTo>
                  <a:pt x="7510" y="284375"/>
                </a:moveTo>
                <a:lnTo>
                  <a:pt x="1068" y="288179"/>
                </a:lnTo>
                <a:lnTo>
                  <a:pt x="0" y="292333"/>
                </a:lnTo>
                <a:lnTo>
                  <a:pt x="55653" y="386577"/>
                </a:lnTo>
                <a:lnTo>
                  <a:pt x="63377" y="373172"/>
                </a:lnTo>
                <a:lnTo>
                  <a:pt x="48808" y="373172"/>
                </a:lnTo>
                <a:lnTo>
                  <a:pt x="48736" y="359693"/>
                </a:lnTo>
                <a:lnTo>
                  <a:pt x="48631" y="348046"/>
                </a:lnTo>
                <a:lnTo>
                  <a:pt x="11663" y="285445"/>
                </a:lnTo>
                <a:lnTo>
                  <a:pt x="7510" y="284375"/>
                </a:lnTo>
                <a:close/>
              </a:path>
              <a:path w="110489" h="386714">
                <a:moveTo>
                  <a:pt x="48674" y="348118"/>
                </a:moveTo>
                <a:lnTo>
                  <a:pt x="48808" y="373172"/>
                </a:lnTo>
                <a:lnTo>
                  <a:pt x="62354" y="373100"/>
                </a:lnTo>
                <a:lnTo>
                  <a:pt x="62336" y="369754"/>
                </a:lnTo>
                <a:lnTo>
                  <a:pt x="49712" y="369754"/>
                </a:lnTo>
                <a:lnTo>
                  <a:pt x="55509" y="359693"/>
                </a:lnTo>
                <a:lnTo>
                  <a:pt x="48674" y="348118"/>
                </a:lnTo>
                <a:close/>
              </a:path>
              <a:path w="110489" h="386714">
                <a:moveTo>
                  <a:pt x="102699" y="283866"/>
                </a:moveTo>
                <a:lnTo>
                  <a:pt x="98558" y="284980"/>
                </a:lnTo>
                <a:lnTo>
                  <a:pt x="62220" y="348046"/>
                </a:lnTo>
                <a:lnTo>
                  <a:pt x="62354" y="373100"/>
                </a:lnTo>
                <a:lnTo>
                  <a:pt x="48808" y="373172"/>
                </a:lnTo>
                <a:lnTo>
                  <a:pt x="63377" y="373172"/>
                </a:lnTo>
                <a:lnTo>
                  <a:pt x="110295" y="291743"/>
                </a:lnTo>
                <a:lnTo>
                  <a:pt x="109181" y="287601"/>
                </a:lnTo>
                <a:lnTo>
                  <a:pt x="102699" y="283866"/>
                </a:lnTo>
                <a:close/>
              </a:path>
              <a:path w="110489" h="386714">
                <a:moveTo>
                  <a:pt x="55509" y="359693"/>
                </a:moveTo>
                <a:lnTo>
                  <a:pt x="49712" y="369754"/>
                </a:lnTo>
                <a:lnTo>
                  <a:pt x="61413" y="369690"/>
                </a:lnTo>
                <a:lnTo>
                  <a:pt x="55509" y="359693"/>
                </a:lnTo>
                <a:close/>
              </a:path>
              <a:path w="110489" h="386714">
                <a:moveTo>
                  <a:pt x="62220" y="348046"/>
                </a:moveTo>
                <a:lnTo>
                  <a:pt x="55509" y="359693"/>
                </a:lnTo>
                <a:lnTo>
                  <a:pt x="61413" y="369690"/>
                </a:lnTo>
                <a:lnTo>
                  <a:pt x="49712" y="369754"/>
                </a:lnTo>
                <a:lnTo>
                  <a:pt x="62336" y="369754"/>
                </a:lnTo>
                <a:lnTo>
                  <a:pt x="62220" y="348046"/>
                </a:lnTo>
                <a:close/>
              </a:path>
              <a:path w="110489" h="386714">
                <a:moveTo>
                  <a:pt x="60358" y="0"/>
                </a:moveTo>
                <a:lnTo>
                  <a:pt x="46812" y="72"/>
                </a:lnTo>
                <a:lnTo>
                  <a:pt x="48674" y="348118"/>
                </a:lnTo>
                <a:lnTo>
                  <a:pt x="55509" y="359693"/>
                </a:lnTo>
                <a:lnTo>
                  <a:pt x="62220" y="348046"/>
                </a:lnTo>
                <a:lnTo>
                  <a:pt x="60358" y="0"/>
                </a:lnTo>
                <a:close/>
              </a:path>
            </a:pathLst>
          </a:custGeom>
          <a:solidFill>
            <a:srgbClr val="3E46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441651" y="5783333"/>
            <a:ext cx="110489" cy="390525"/>
          </a:xfrm>
          <a:custGeom>
            <a:avLst/>
            <a:gdLst/>
            <a:ahLst/>
            <a:cxnLst/>
            <a:rect l="l" t="t" r="r" b="b"/>
            <a:pathLst>
              <a:path w="110489" h="390525">
                <a:moveTo>
                  <a:pt x="7553" y="288066"/>
                </a:moveTo>
                <a:lnTo>
                  <a:pt x="1090" y="291835"/>
                </a:lnTo>
                <a:lnTo>
                  <a:pt x="0" y="295983"/>
                </a:lnTo>
                <a:lnTo>
                  <a:pt x="55148" y="390523"/>
                </a:lnTo>
                <a:lnTo>
                  <a:pt x="62989" y="377082"/>
                </a:lnTo>
                <a:lnTo>
                  <a:pt x="48375" y="377082"/>
                </a:lnTo>
                <a:lnTo>
                  <a:pt x="48375" y="352027"/>
                </a:lnTo>
                <a:lnTo>
                  <a:pt x="11700" y="289157"/>
                </a:lnTo>
                <a:lnTo>
                  <a:pt x="7553" y="288066"/>
                </a:lnTo>
                <a:close/>
              </a:path>
              <a:path w="110489" h="390525">
                <a:moveTo>
                  <a:pt x="48375" y="352027"/>
                </a:moveTo>
                <a:lnTo>
                  <a:pt x="48375" y="377082"/>
                </a:lnTo>
                <a:lnTo>
                  <a:pt x="61921" y="377082"/>
                </a:lnTo>
                <a:lnTo>
                  <a:pt x="61921" y="373668"/>
                </a:lnTo>
                <a:lnTo>
                  <a:pt x="49297" y="373668"/>
                </a:lnTo>
                <a:lnTo>
                  <a:pt x="55148" y="363638"/>
                </a:lnTo>
                <a:lnTo>
                  <a:pt x="48375" y="352027"/>
                </a:lnTo>
                <a:close/>
              </a:path>
              <a:path w="110489" h="390525">
                <a:moveTo>
                  <a:pt x="102743" y="288066"/>
                </a:moveTo>
                <a:lnTo>
                  <a:pt x="98596" y="289157"/>
                </a:lnTo>
                <a:lnTo>
                  <a:pt x="61921" y="352027"/>
                </a:lnTo>
                <a:lnTo>
                  <a:pt x="61921" y="377082"/>
                </a:lnTo>
                <a:lnTo>
                  <a:pt x="62989" y="377082"/>
                </a:lnTo>
                <a:lnTo>
                  <a:pt x="110296" y="295983"/>
                </a:lnTo>
                <a:lnTo>
                  <a:pt x="109206" y="291835"/>
                </a:lnTo>
                <a:lnTo>
                  <a:pt x="102743" y="288066"/>
                </a:lnTo>
                <a:close/>
              </a:path>
              <a:path w="110489" h="390525">
                <a:moveTo>
                  <a:pt x="55148" y="363638"/>
                </a:moveTo>
                <a:lnTo>
                  <a:pt x="49297" y="373668"/>
                </a:lnTo>
                <a:lnTo>
                  <a:pt x="60999" y="373668"/>
                </a:lnTo>
                <a:lnTo>
                  <a:pt x="55148" y="363638"/>
                </a:lnTo>
                <a:close/>
              </a:path>
              <a:path w="110489" h="390525">
                <a:moveTo>
                  <a:pt x="61921" y="352027"/>
                </a:moveTo>
                <a:lnTo>
                  <a:pt x="55148" y="363638"/>
                </a:lnTo>
                <a:lnTo>
                  <a:pt x="60999" y="373668"/>
                </a:lnTo>
                <a:lnTo>
                  <a:pt x="61921" y="373668"/>
                </a:lnTo>
                <a:lnTo>
                  <a:pt x="61921" y="352027"/>
                </a:lnTo>
                <a:close/>
              </a:path>
              <a:path w="110489" h="390525">
                <a:moveTo>
                  <a:pt x="61921" y="0"/>
                </a:moveTo>
                <a:lnTo>
                  <a:pt x="48374" y="0"/>
                </a:lnTo>
                <a:lnTo>
                  <a:pt x="48375" y="352027"/>
                </a:lnTo>
                <a:lnTo>
                  <a:pt x="55148" y="363638"/>
                </a:lnTo>
                <a:lnTo>
                  <a:pt x="61921" y="352027"/>
                </a:lnTo>
                <a:lnTo>
                  <a:pt x="61921" y="0"/>
                </a:lnTo>
                <a:close/>
              </a:path>
            </a:pathLst>
          </a:custGeom>
          <a:solidFill>
            <a:srgbClr val="3E465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5385240" y="3783616"/>
          <a:ext cx="1425573" cy="647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7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2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2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C5A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C5A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C5A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C5A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7408212" y="3783616"/>
          <a:ext cx="1069339" cy="647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7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2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3DB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3DB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3DB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1EE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1EE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1EE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3DB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3DB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3DB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5" name="object 15"/>
          <p:cNvGrpSpPr/>
          <p:nvPr/>
        </p:nvGrpSpPr>
        <p:grpSpPr>
          <a:xfrm>
            <a:off x="2440100" y="2074674"/>
            <a:ext cx="6198870" cy="1724025"/>
            <a:chOff x="2440100" y="2074674"/>
            <a:chExt cx="6198870" cy="1724025"/>
          </a:xfrm>
        </p:grpSpPr>
        <p:sp>
          <p:nvSpPr>
            <p:cNvPr id="16" name="object 16"/>
            <p:cNvSpPr/>
            <p:nvPr/>
          </p:nvSpPr>
          <p:spPr>
            <a:xfrm>
              <a:off x="2440089" y="2074684"/>
              <a:ext cx="111760" cy="1566545"/>
            </a:xfrm>
            <a:custGeom>
              <a:avLst/>
              <a:gdLst/>
              <a:ahLst/>
              <a:cxnLst/>
              <a:rect l="l" t="t" r="r" b="b"/>
              <a:pathLst>
                <a:path w="111760" h="1566545">
                  <a:moveTo>
                    <a:pt x="110299" y="1472298"/>
                  </a:moveTo>
                  <a:lnTo>
                    <a:pt x="109232" y="1468145"/>
                  </a:lnTo>
                  <a:lnTo>
                    <a:pt x="102793" y="1464335"/>
                  </a:lnTo>
                  <a:lnTo>
                    <a:pt x="98640" y="1465402"/>
                  </a:lnTo>
                  <a:lnTo>
                    <a:pt x="61658" y="1528000"/>
                  </a:lnTo>
                  <a:lnTo>
                    <a:pt x="61556" y="1538973"/>
                  </a:lnTo>
                  <a:lnTo>
                    <a:pt x="61620" y="1528076"/>
                  </a:lnTo>
                  <a:lnTo>
                    <a:pt x="63474" y="1189024"/>
                  </a:lnTo>
                  <a:lnTo>
                    <a:pt x="49936" y="1188948"/>
                  </a:lnTo>
                  <a:lnTo>
                    <a:pt x="48069" y="1528000"/>
                  </a:lnTo>
                  <a:lnTo>
                    <a:pt x="11747" y="1464932"/>
                  </a:lnTo>
                  <a:lnTo>
                    <a:pt x="7607" y="1463814"/>
                  </a:lnTo>
                  <a:lnTo>
                    <a:pt x="1117" y="1467548"/>
                  </a:lnTo>
                  <a:lnTo>
                    <a:pt x="0" y="1471688"/>
                  </a:lnTo>
                  <a:lnTo>
                    <a:pt x="54635" y="1566532"/>
                  </a:lnTo>
                  <a:lnTo>
                    <a:pt x="62560" y="1553121"/>
                  </a:lnTo>
                  <a:lnTo>
                    <a:pt x="110299" y="1472298"/>
                  </a:lnTo>
                  <a:close/>
                </a:path>
                <a:path w="111760" h="1566545">
                  <a:moveTo>
                    <a:pt x="111226" y="216293"/>
                  </a:moveTo>
                  <a:lnTo>
                    <a:pt x="110109" y="212153"/>
                  </a:lnTo>
                  <a:lnTo>
                    <a:pt x="103619" y="208419"/>
                  </a:lnTo>
                  <a:lnTo>
                    <a:pt x="99479" y="209550"/>
                  </a:lnTo>
                  <a:lnTo>
                    <a:pt x="63220" y="272656"/>
                  </a:lnTo>
                  <a:lnTo>
                    <a:pt x="61404" y="0"/>
                  </a:lnTo>
                  <a:lnTo>
                    <a:pt x="47866" y="88"/>
                  </a:lnTo>
                  <a:lnTo>
                    <a:pt x="49669" y="272745"/>
                  </a:lnTo>
                  <a:lnTo>
                    <a:pt x="12585" y="210121"/>
                  </a:lnTo>
                  <a:lnTo>
                    <a:pt x="8432" y="209054"/>
                  </a:lnTo>
                  <a:lnTo>
                    <a:pt x="1993" y="212877"/>
                  </a:lnTo>
                  <a:lnTo>
                    <a:pt x="927" y="217030"/>
                  </a:lnTo>
                  <a:lnTo>
                    <a:pt x="56705" y="311200"/>
                  </a:lnTo>
                  <a:lnTo>
                    <a:pt x="64401" y="297802"/>
                  </a:lnTo>
                  <a:lnTo>
                    <a:pt x="111226" y="216293"/>
                  </a:lnTo>
                  <a:close/>
                </a:path>
              </a:pathLst>
            </a:custGeom>
            <a:solidFill>
              <a:srgbClr val="3E46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950365" y="2822519"/>
              <a:ext cx="648335" cy="281305"/>
            </a:xfrm>
            <a:custGeom>
              <a:avLst/>
              <a:gdLst/>
              <a:ahLst/>
              <a:cxnLst/>
              <a:rect l="l" t="t" r="r" b="b"/>
              <a:pathLst>
                <a:path w="648334" h="281305">
                  <a:moveTo>
                    <a:pt x="648227" y="0"/>
                  </a:moveTo>
                  <a:lnTo>
                    <a:pt x="0" y="0"/>
                  </a:lnTo>
                  <a:lnTo>
                    <a:pt x="0" y="280682"/>
                  </a:lnTo>
                  <a:lnTo>
                    <a:pt x="648227" y="280682"/>
                  </a:lnTo>
                  <a:lnTo>
                    <a:pt x="648227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950365" y="2822519"/>
              <a:ext cx="648335" cy="281305"/>
            </a:xfrm>
            <a:custGeom>
              <a:avLst/>
              <a:gdLst/>
              <a:ahLst/>
              <a:cxnLst/>
              <a:rect l="l" t="t" r="r" b="b"/>
              <a:pathLst>
                <a:path w="648334" h="281305">
                  <a:moveTo>
                    <a:pt x="0" y="0"/>
                  </a:moveTo>
                  <a:lnTo>
                    <a:pt x="648227" y="0"/>
                  </a:lnTo>
                  <a:lnTo>
                    <a:pt x="648227" y="280682"/>
                  </a:lnTo>
                  <a:lnTo>
                    <a:pt x="0" y="280682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860729" y="2822519"/>
              <a:ext cx="648335" cy="281305"/>
            </a:xfrm>
            <a:custGeom>
              <a:avLst/>
              <a:gdLst/>
              <a:ahLst/>
              <a:cxnLst/>
              <a:rect l="l" t="t" r="r" b="b"/>
              <a:pathLst>
                <a:path w="648334" h="281305">
                  <a:moveTo>
                    <a:pt x="648227" y="0"/>
                  </a:moveTo>
                  <a:lnTo>
                    <a:pt x="0" y="0"/>
                  </a:lnTo>
                  <a:lnTo>
                    <a:pt x="0" y="280682"/>
                  </a:lnTo>
                  <a:lnTo>
                    <a:pt x="648227" y="280682"/>
                  </a:lnTo>
                  <a:lnTo>
                    <a:pt x="648227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860729" y="2822519"/>
              <a:ext cx="648335" cy="281305"/>
            </a:xfrm>
            <a:custGeom>
              <a:avLst/>
              <a:gdLst/>
              <a:ahLst/>
              <a:cxnLst/>
              <a:rect l="l" t="t" r="r" b="b"/>
              <a:pathLst>
                <a:path w="648334" h="281305">
                  <a:moveTo>
                    <a:pt x="0" y="0"/>
                  </a:moveTo>
                  <a:lnTo>
                    <a:pt x="648227" y="0"/>
                  </a:lnTo>
                  <a:lnTo>
                    <a:pt x="648227" y="280682"/>
                  </a:lnTo>
                  <a:lnTo>
                    <a:pt x="0" y="280682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86010" y="2809165"/>
              <a:ext cx="675005" cy="318135"/>
            </a:xfrm>
            <a:custGeom>
              <a:avLst/>
              <a:gdLst/>
              <a:ahLst/>
              <a:cxnLst/>
              <a:rect l="l" t="t" r="r" b="b"/>
              <a:pathLst>
                <a:path w="675004" h="318135">
                  <a:moveTo>
                    <a:pt x="337403" y="0"/>
                  </a:moveTo>
                  <a:lnTo>
                    <a:pt x="0" y="158779"/>
                  </a:lnTo>
                  <a:lnTo>
                    <a:pt x="337403" y="317557"/>
                  </a:lnTo>
                  <a:lnTo>
                    <a:pt x="674806" y="158779"/>
                  </a:lnTo>
                  <a:lnTo>
                    <a:pt x="33740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886010" y="2809165"/>
              <a:ext cx="675005" cy="318135"/>
            </a:xfrm>
            <a:custGeom>
              <a:avLst/>
              <a:gdLst/>
              <a:ahLst/>
              <a:cxnLst/>
              <a:rect l="l" t="t" r="r" b="b"/>
              <a:pathLst>
                <a:path w="675004" h="318135">
                  <a:moveTo>
                    <a:pt x="0" y="158778"/>
                  </a:moveTo>
                  <a:lnTo>
                    <a:pt x="337403" y="0"/>
                  </a:lnTo>
                  <a:lnTo>
                    <a:pt x="674806" y="158778"/>
                  </a:lnTo>
                  <a:lnTo>
                    <a:pt x="337403" y="317557"/>
                  </a:lnTo>
                  <a:lnTo>
                    <a:pt x="0" y="158778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597767" y="2523357"/>
              <a:ext cx="401320" cy="206375"/>
            </a:xfrm>
            <a:custGeom>
              <a:avLst/>
              <a:gdLst/>
              <a:ahLst/>
              <a:cxnLst/>
              <a:rect l="l" t="t" r="r" b="b"/>
              <a:pathLst>
                <a:path w="401320" h="206375">
                  <a:moveTo>
                    <a:pt x="200421" y="0"/>
                  </a:moveTo>
                  <a:lnTo>
                    <a:pt x="137072" y="5245"/>
                  </a:lnTo>
                  <a:lnTo>
                    <a:pt x="82055" y="19851"/>
                  </a:lnTo>
                  <a:lnTo>
                    <a:pt x="38669" y="42124"/>
                  </a:lnTo>
                  <a:lnTo>
                    <a:pt x="10217" y="70368"/>
                  </a:lnTo>
                  <a:lnTo>
                    <a:pt x="0" y="102889"/>
                  </a:lnTo>
                  <a:lnTo>
                    <a:pt x="10217" y="135410"/>
                  </a:lnTo>
                  <a:lnTo>
                    <a:pt x="38669" y="163654"/>
                  </a:lnTo>
                  <a:lnTo>
                    <a:pt x="82055" y="185926"/>
                  </a:lnTo>
                  <a:lnTo>
                    <a:pt x="137072" y="200532"/>
                  </a:lnTo>
                  <a:lnTo>
                    <a:pt x="200421" y="205778"/>
                  </a:lnTo>
                  <a:lnTo>
                    <a:pt x="263770" y="200532"/>
                  </a:lnTo>
                  <a:lnTo>
                    <a:pt x="318788" y="185926"/>
                  </a:lnTo>
                  <a:lnTo>
                    <a:pt x="362173" y="163654"/>
                  </a:lnTo>
                  <a:lnTo>
                    <a:pt x="390626" y="135410"/>
                  </a:lnTo>
                  <a:lnTo>
                    <a:pt x="400843" y="102889"/>
                  </a:lnTo>
                  <a:lnTo>
                    <a:pt x="390626" y="70368"/>
                  </a:lnTo>
                  <a:lnTo>
                    <a:pt x="362173" y="42124"/>
                  </a:lnTo>
                  <a:lnTo>
                    <a:pt x="318788" y="19851"/>
                  </a:lnTo>
                  <a:lnTo>
                    <a:pt x="263770" y="5245"/>
                  </a:lnTo>
                  <a:lnTo>
                    <a:pt x="200421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597767" y="2523357"/>
              <a:ext cx="401320" cy="206375"/>
            </a:xfrm>
            <a:custGeom>
              <a:avLst/>
              <a:gdLst/>
              <a:ahLst/>
              <a:cxnLst/>
              <a:rect l="l" t="t" r="r" b="b"/>
              <a:pathLst>
                <a:path w="401320" h="206375">
                  <a:moveTo>
                    <a:pt x="0" y="102889"/>
                  </a:moveTo>
                  <a:lnTo>
                    <a:pt x="38669" y="42124"/>
                  </a:lnTo>
                  <a:lnTo>
                    <a:pt x="82055" y="19851"/>
                  </a:lnTo>
                  <a:lnTo>
                    <a:pt x="137073" y="5245"/>
                  </a:lnTo>
                  <a:lnTo>
                    <a:pt x="200421" y="0"/>
                  </a:lnTo>
                  <a:lnTo>
                    <a:pt x="263770" y="5245"/>
                  </a:lnTo>
                  <a:lnTo>
                    <a:pt x="318788" y="19851"/>
                  </a:lnTo>
                  <a:lnTo>
                    <a:pt x="362173" y="42124"/>
                  </a:lnTo>
                  <a:lnTo>
                    <a:pt x="390626" y="70368"/>
                  </a:lnTo>
                  <a:lnTo>
                    <a:pt x="400843" y="102889"/>
                  </a:lnTo>
                  <a:lnTo>
                    <a:pt x="390626" y="135409"/>
                  </a:lnTo>
                  <a:lnTo>
                    <a:pt x="362173" y="163654"/>
                  </a:lnTo>
                  <a:lnTo>
                    <a:pt x="318788" y="185926"/>
                  </a:lnTo>
                  <a:lnTo>
                    <a:pt x="263770" y="200532"/>
                  </a:lnTo>
                  <a:lnTo>
                    <a:pt x="200421" y="205778"/>
                  </a:lnTo>
                  <a:lnTo>
                    <a:pt x="137073" y="200532"/>
                  </a:lnTo>
                  <a:lnTo>
                    <a:pt x="82055" y="185926"/>
                  </a:lnTo>
                  <a:lnTo>
                    <a:pt x="38669" y="163654"/>
                  </a:lnTo>
                  <a:lnTo>
                    <a:pt x="10217" y="135409"/>
                  </a:lnTo>
                  <a:lnTo>
                    <a:pt x="0" y="102889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052429" y="2443970"/>
              <a:ext cx="401320" cy="206375"/>
            </a:xfrm>
            <a:custGeom>
              <a:avLst/>
              <a:gdLst/>
              <a:ahLst/>
              <a:cxnLst/>
              <a:rect l="l" t="t" r="r" b="b"/>
              <a:pathLst>
                <a:path w="401320" h="206375">
                  <a:moveTo>
                    <a:pt x="200421" y="0"/>
                  </a:moveTo>
                  <a:lnTo>
                    <a:pt x="137072" y="5245"/>
                  </a:lnTo>
                  <a:lnTo>
                    <a:pt x="82055" y="19851"/>
                  </a:lnTo>
                  <a:lnTo>
                    <a:pt x="38669" y="42124"/>
                  </a:lnTo>
                  <a:lnTo>
                    <a:pt x="10217" y="70368"/>
                  </a:lnTo>
                  <a:lnTo>
                    <a:pt x="0" y="102889"/>
                  </a:lnTo>
                  <a:lnTo>
                    <a:pt x="10217" y="135410"/>
                  </a:lnTo>
                  <a:lnTo>
                    <a:pt x="38669" y="163654"/>
                  </a:lnTo>
                  <a:lnTo>
                    <a:pt x="82055" y="185926"/>
                  </a:lnTo>
                  <a:lnTo>
                    <a:pt x="137072" y="200532"/>
                  </a:lnTo>
                  <a:lnTo>
                    <a:pt x="200421" y="205778"/>
                  </a:lnTo>
                  <a:lnTo>
                    <a:pt x="263770" y="200532"/>
                  </a:lnTo>
                  <a:lnTo>
                    <a:pt x="318788" y="185926"/>
                  </a:lnTo>
                  <a:lnTo>
                    <a:pt x="362173" y="163654"/>
                  </a:lnTo>
                  <a:lnTo>
                    <a:pt x="390626" y="135410"/>
                  </a:lnTo>
                  <a:lnTo>
                    <a:pt x="400843" y="102889"/>
                  </a:lnTo>
                  <a:lnTo>
                    <a:pt x="390626" y="70368"/>
                  </a:lnTo>
                  <a:lnTo>
                    <a:pt x="362173" y="42124"/>
                  </a:lnTo>
                  <a:lnTo>
                    <a:pt x="318788" y="19851"/>
                  </a:lnTo>
                  <a:lnTo>
                    <a:pt x="263770" y="5245"/>
                  </a:lnTo>
                  <a:lnTo>
                    <a:pt x="200421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052429" y="2443970"/>
              <a:ext cx="401320" cy="206375"/>
            </a:xfrm>
            <a:custGeom>
              <a:avLst/>
              <a:gdLst/>
              <a:ahLst/>
              <a:cxnLst/>
              <a:rect l="l" t="t" r="r" b="b"/>
              <a:pathLst>
                <a:path w="401320" h="206375">
                  <a:moveTo>
                    <a:pt x="0" y="102889"/>
                  </a:moveTo>
                  <a:lnTo>
                    <a:pt x="38669" y="42124"/>
                  </a:lnTo>
                  <a:lnTo>
                    <a:pt x="82055" y="19851"/>
                  </a:lnTo>
                  <a:lnTo>
                    <a:pt x="137073" y="5245"/>
                  </a:lnTo>
                  <a:lnTo>
                    <a:pt x="200421" y="0"/>
                  </a:lnTo>
                  <a:lnTo>
                    <a:pt x="263770" y="5245"/>
                  </a:lnTo>
                  <a:lnTo>
                    <a:pt x="318788" y="19851"/>
                  </a:lnTo>
                  <a:lnTo>
                    <a:pt x="362173" y="42124"/>
                  </a:lnTo>
                  <a:lnTo>
                    <a:pt x="390626" y="70368"/>
                  </a:lnTo>
                  <a:lnTo>
                    <a:pt x="400843" y="102889"/>
                  </a:lnTo>
                  <a:lnTo>
                    <a:pt x="390626" y="135409"/>
                  </a:lnTo>
                  <a:lnTo>
                    <a:pt x="362173" y="163654"/>
                  </a:lnTo>
                  <a:lnTo>
                    <a:pt x="318788" y="185926"/>
                  </a:lnTo>
                  <a:lnTo>
                    <a:pt x="263770" y="200532"/>
                  </a:lnTo>
                  <a:lnTo>
                    <a:pt x="200421" y="205778"/>
                  </a:lnTo>
                  <a:lnTo>
                    <a:pt x="137073" y="200532"/>
                  </a:lnTo>
                  <a:lnTo>
                    <a:pt x="82055" y="185926"/>
                  </a:lnTo>
                  <a:lnTo>
                    <a:pt x="38669" y="163654"/>
                  </a:lnTo>
                  <a:lnTo>
                    <a:pt x="10217" y="135409"/>
                  </a:lnTo>
                  <a:lnTo>
                    <a:pt x="0" y="102889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488536" y="2523357"/>
              <a:ext cx="401320" cy="206375"/>
            </a:xfrm>
            <a:custGeom>
              <a:avLst/>
              <a:gdLst/>
              <a:ahLst/>
              <a:cxnLst/>
              <a:rect l="l" t="t" r="r" b="b"/>
              <a:pathLst>
                <a:path w="401320" h="206375">
                  <a:moveTo>
                    <a:pt x="200421" y="0"/>
                  </a:moveTo>
                  <a:lnTo>
                    <a:pt x="137072" y="5245"/>
                  </a:lnTo>
                  <a:lnTo>
                    <a:pt x="82055" y="19851"/>
                  </a:lnTo>
                  <a:lnTo>
                    <a:pt x="38669" y="42124"/>
                  </a:lnTo>
                  <a:lnTo>
                    <a:pt x="10217" y="70368"/>
                  </a:lnTo>
                  <a:lnTo>
                    <a:pt x="0" y="102889"/>
                  </a:lnTo>
                  <a:lnTo>
                    <a:pt x="10217" y="135410"/>
                  </a:lnTo>
                  <a:lnTo>
                    <a:pt x="38669" y="163654"/>
                  </a:lnTo>
                  <a:lnTo>
                    <a:pt x="82055" y="185926"/>
                  </a:lnTo>
                  <a:lnTo>
                    <a:pt x="137072" y="200532"/>
                  </a:lnTo>
                  <a:lnTo>
                    <a:pt x="200421" y="205778"/>
                  </a:lnTo>
                  <a:lnTo>
                    <a:pt x="263770" y="200532"/>
                  </a:lnTo>
                  <a:lnTo>
                    <a:pt x="318788" y="185926"/>
                  </a:lnTo>
                  <a:lnTo>
                    <a:pt x="362173" y="163654"/>
                  </a:lnTo>
                  <a:lnTo>
                    <a:pt x="390626" y="135410"/>
                  </a:lnTo>
                  <a:lnTo>
                    <a:pt x="400843" y="102889"/>
                  </a:lnTo>
                  <a:lnTo>
                    <a:pt x="390626" y="70368"/>
                  </a:lnTo>
                  <a:lnTo>
                    <a:pt x="362173" y="42124"/>
                  </a:lnTo>
                  <a:lnTo>
                    <a:pt x="318788" y="19851"/>
                  </a:lnTo>
                  <a:lnTo>
                    <a:pt x="263770" y="5245"/>
                  </a:lnTo>
                  <a:lnTo>
                    <a:pt x="200421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488536" y="2523357"/>
              <a:ext cx="401320" cy="206375"/>
            </a:xfrm>
            <a:custGeom>
              <a:avLst/>
              <a:gdLst/>
              <a:ahLst/>
              <a:cxnLst/>
              <a:rect l="l" t="t" r="r" b="b"/>
              <a:pathLst>
                <a:path w="401320" h="206375">
                  <a:moveTo>
                    <a:pt x="0" y="102889"/>
                  </a:moveTo>
                  <a:lnTo>
                    <a:pt x="38669" y="42124"/>
                  </a:lnTo>
                  <a:lnTo>
                    <a:pt x="82055" y="19851"/>
                  </a:lnTo>
                  <a:lnTo>
                    <a:pt x="137073" y="5245"/>
                  </a:lnTo>
                  <a:lnTo>
                    <a:pt x="200421" y="0"/>
                  </a:lnTo>
                  <a:lnTo>
                    <a:pt x="263770" y="5245"/>
                  </a:lnTo>
                  <a:lnTo>
                    <a:pt x="318788" y="19851"/>
                  </a:lnTo>
                  <a:lnTo>
                    <a:pt x="362173" y="42124"/>
                  </a:lnTo>
                  <a:lnTo>
                    <a:pt x="390626" y="70368"/>
                  </a:lnTo>
                  <a:lnTo>
                    <a:pt x="400843" y="102889"/>
                  </a:lnTo>
                  <a:lnTo>
                    <a:pt x="390626" y="135409"/>
                  </a:lnTo>
                  <a:lnTo>
                    <a:pt x="362173" y="163654"/>
                  </a:lnTo>
                  <a:lnTo>
                    <a:pt x="318788" y="185926"/>
                  </a:lnTo>
                  <a:lnTo>
                    <a:pt x="263770" y="200532"/>
                  </a:lnTo>
                  <a:lnTo>
                    <a:pt x="200421" y="205778"/>
                  </a:lnTo>
                  <a:lnTo>
                    <a:pt x="137073" y="200532"/>
                  </a:lnTo>
                  <a:lnTo>
                    <a:pt x="82055" y="185926"/>
                  </a:lnTo>
                  <a:lnTo>
                    <a:pt x="38669" y="163654"/>
                  </a:lnTo>
                  <a:lnTo>
                    <a:pt x="10217" y="135409"/>
                  </a:lnTo>
                  <a:lnTo>
                    <a:pt x="0" y="102889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731894" y="2491604"/>
              <a:ext cx="401320" cy="206375"/>
            </a:xfrm>
            <a:custGeom>
              <a:avLst/>
              <a:gdLst/>
              <a:ahLst/>
              <a:cxnLst/>
              <a:rect l="l" t="t" r="r" b="b"/>
              <a:pathLst>
                <a:path w="401320" h="206375">
                  <a:moveTo>
                    <a:pt x="200421" y="0"/>
                  </a:moveTo>
                  <a:lnTo>
                    <a:pt x="137072" y="5245"/>
                  </a:lnTo>
                  <a:lnTo>
                    <a:pt x="82055" y="19851"/>
                  </a:lnTo>
                  <a:lnTo>
                    <a:pt x="38669" y="42124"/>
                  </a:lnTo>
                  <a:lnTo>
                    <a:pt x="10217" y="70368"/>
                  </a:lnTo>
                  <a:lnTo>
                    <a:pt x="0" y="102889"/>
                  </a:lnTo>
                  <a:lnTo>
                    <a:pt x="10217" y="135409"/>
                  </a:lnTo>
                  <a:lnTo>
                    <a:pt x="38669" y="163653"/>
                  </a:lnTo>
                  <a:lnTo>
                    <a:pt x="82055" y="185926"/>
                  </a:lnTo>
                  <a:lnTo>
                    <a:pt x="137072" y="200532"/>
                  </a:lnTo>
                  <a:lnTo>
                    <a:pt x="200421" y="205778"/>
                  </a:lnTo>
                  <a:lnTo>
                    <a:pt x="263769" y="200532"/>
                  </a:lnTo>
                  <a:lnTo>
                    <a:pt x="318787" y="185926"/>
                  </a:lnTo>
                  <a:lnTo>
                    <a:pt x="362172" y="163653"/>
                  </a:lnTo>
                  <a:lnTo>
                    <a:pt x="390624" y="135409"/>
                  </a:lnTo>
                  <a:lnTo>
                    <a:pt x="400842" y="102889"/>
                  </a:lnTo>
                  <a:lnTo>
                    <a:pt x="390624" y="70368"/>
                  </a:lnTo>
                  <a:lnTo>
                    <a:pt x="362172" y="42124"/>
                  </a:lnTo>
                  <a:lnTo>
                    <a:pt x="318787" y="19851"/>
                  </a:lnTo>
                  <a:lnTo>
                    <a:pt x="263769" y="5245"/>
                  </a:lnTo>
                  <a:lnTo>
                    <a:pt x="200421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731894" y="2491604"/>
              <a:ext cx="401320" cy="206375"/>
            </a:xfrm>
            <a:custGeom>
              <a:avLst/>
              <a:gdLst/>
              <a:ahLst/>
              <a:cxnLst/>
              <a:rect l="l" t="t" r="r" b="b"/>
              <a:pathLst>
                <a:path w="401320" h="206375">
                  <a:moveTo>
                    <a:pt x="0" y="102889"/>
                  </a:moveTo>
                  <a:lnTo>
                    <a:pt x="38669" y="42124"/>
                  </a:lnTo>
                  <a:lnTo>
                    <a:pt x="82055" y="19851"/>
                  </a:lnTo>
                  <a:lnTo>
                    <a:pt x="137073" y="5245"/>
                  </a:lnTo>
                  <a:lnTo>
                    <a:pt x="200421" y="0"/>
                  </a:lnTo>
                  <a:lnTo>
                    <a:pt x="263770" y="5245"/>
                  </a:lnTo>
                  <a:lnTo>
                    <a:pt x="318788" y="19851"/>
                  </a:lnTo>
                  <a:lnTo>
                    <a:pt x="362173" y="42124"/>
                  </a:lnTo>
                  <a:lnTo>
                    <a:pt x="390626" y="70368"/>
                  </a:lnTo>
                  <a:lnTo>
                    <a:pt x="400843" y="102889"/>
                  </a:lnTo>
                  <a:lnTo>
                    <a:pt x="390626" y="135409"/>
                  </a:lnTo>
                  <a:lnTo>
                    <a:pt x="362173" y="163654"/>
                  </a:lnTo>
                  <a:lnTo>
                    <a:pt x="318788" y="185926"/>
                  </a:lnTo>
                  <a:lnTo>
                    <a:pt x="263770" y="200532"/>
                  </a:lnTo>
                  <a:lnTo>
                    <a:pt x="200421" y="205778"/>
                  </a:lnTo>
                  <a:lnTo>
                    <a:pt x="137073" y="200532"/>
                  </a:lnTo>
                  <a:lnTo>
                    <a:pt x="82055" y="185926"/>
                  </a:lnTo>
                  <a:lnTo>
                    <a:pt x="38669" y="163654"/>
                  </a:lnTo>
                  <a:lnTo>
                    <a:pt x="10217" y="135409"/>
                  </a:lnTo>
                  <a:lnTo>
                    <a:pt x="0" y="102889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232948" y="2491604"/>
              <a:ext cx="401320" cy="206375"/>
            </a:xfrm>
            <a:custGeom>
              <a:avLst/>
              <a:gdLst/>
              <a:ahLst/>
              <a:cxnLst/>
              <a:rect l="l" t="t" r="r" b="b"/>
              <a:pathLst>
                <a:path w="401320" h="206375">
                  <a:moveTo>
                    <a:pt x="200422" y="0"/>
                  </a:moveTo>
                  <a:lnTo>
                    <a:pt x="137073" y="5245"/>
                  </a:lnTo>
                  <a:lnTo>
                    <a:pt x="82055" y="19851"/>
                  </a:lnTo>
                  <a:lnTo>
                    <a:pt x="38669" y="42124"/>
                  </a:lnTo>
                  <a:lnTo>
                    <a:pt x="10217" y="70368"/>
                  </a:lnTo>
                  <a:lnTo>
                    <a:pt x="0" y="102889"/>
                  </a:lnTo>
                  <a:lnTo>
                    <a:pt x="10217" y="135409"/>
                  </a:lnTo>
                  <a:lnTo>
                    <a:pt x="38669" y="163653"/>
                  </a:lnTo>
                  <a:lnTo>
                    <a:pt x="82055" y="185926"/>
                  </a:lnTo>
                  <a:lnTo>
                    <a:pt x="137073" y="200532"/>
                  </a:lnTo>
                  <a:lnTo>
                    <a:pt x="200422" y="205778"/>
                  </a:lnTo>
                  <a:lnTo>
                    <a:pt x="263771" y="200532"/>
                  </a:lnTo>
                  <a:lnTo>
                    <a:pt x="318788" y="185926"/>
                  </a:lnTo>
                  <a:lnTo>
                    <a:pt x="362174" y="163653"/>
                  </a:lnTo>
                  <a:lnTo>
                    <a:pt x="390626" y="135409"/>
                  </a:lnTo>
                  <a:lnTo>
                    <a:pt x="400843" y="102889"/>
                  </a:lnTo>
                  <a:lnTo>
                    <a:pt x="390626" y="70368"/>
                  </a:lnTo>
                  <a:lnTo>
                    <a:pt x="362174" y="42124"/>
                  </a:lnTo>
                  <a:lnTo>
                    <a:pt x="318788" y="19851"/>
                  </a:lnTo>
                  <a:lnTo>
                    <a:pt x="263771" y="5245"/>
                  </a:lnTo>
                  <a:lnTo>
                    <a:pt x="200422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232948" y="2491604"/>
              <a:ext cx="401320" cy="206375"/>
            </a:xfrm>
            <a:custGeom>
              <a:avLst/>
              <a:gdLst/>
              <a:ahLst/>
              <a:cxnLst/>
              <a:rect l="l" t="t" r="r" b="b"/>
              <a:pathLst>
                <a:path w="401320" h="206375">
                  <a:moveTo>
                    <a:pt x="0" y="102889"/>
                  </a:moveTo>
                  <a:lnTo>
                    <a:pt x="38669" y="42124"/>
                  </a:lnTo>
                  <a:lnTo>
                    <a:pt x="82055" y="19851"/>
                  </a:lnTo>
                  <a:lnTo>
                    <a:pt x="137073" y="5245"/>
                  </a:lnTo>
                  <a:lnTo>
                    <a:pt x="200421" y="0"/>
                  </a:lnTo>
                  <a:lnTo>
                    <a:pt x="263770" y="5245"/>
                  </a:lnTo>
                  <a:lnTo>
                    <a:pt x="318788" y="19851"/>
                  </a:lnTo>
                  <a:lnTo>
                    <a:pt x="362173" y="42124"/>
                  </a:lnTo>
                  <a:lnTo>
                    <a:pt x="390626" y="70368"/>
                  </a:lnTo>
                  <a:lnTo>
                    <a:pt x="400843" y="102889"/>
                  </a:lnTo>
                  <a:lnTo>
                    <a:pt x="390626" y="135409"/>
                  </a:lnTo>
                  <a:lnTo>
                    <a:pt x="362173" y="163654"/>
                  </a:lnTo>
                  <a:lnTo>
                    <a:pt x="318788" y="185926"/>
                  </a:lnTo>
                  <a:lnTo>
                    <a:pt x="263770" y="200532"/>
                  </a:lnTo>
                  <a:lnTo>
                    <a:pt x="200421" y="205778"/>
                  </a:lnTo>
                  <a:lnTo>
                    <a:pt x="137073" y="200532"/>
                  </a:lnTo>
                  <a:lnTo>
                    <a:pt x="82055" y="185926"/>
                  </a:lnTo>
                  <a:lnTo>
                    <a:pt x="38669" y="163654"/>
                  </a:lnTo>
                  <a:lnTo>
                    <a:pt x="10217" y="135409"/>
                  </a:lnTo>
                  <a:lnTo>
                    <a:pt x="0" y="102889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598590" y="2962860"/>
              <a:ext cx="287655" cy="5080"/>
            </a:xfrm>
            <a:custGeom>
              <a:avLst/>
              <a:gdLst/>
              <a:ahLst/>
              <a:cxnLst/>
              <a:rect l="l" t="t" r="r" b="b"/>
              <a:pathLst>
                <a:path w="287654" h="5080">
                  <a:moveTo>
                    <a:pt x="0" y="0"/>
                  </a:moveTo>
                  <a:lnTo>
                    <a:pt x="287420" y="5083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560817" y="2962860"/>
              <a:ext cx="300355" cy="5080"/>
            </a:xfrm>
            <a:custGeom>
              <a:avLst/>
              <a:gdLst/>
              <a:ahLst/>
              <a:cxnLst/>
              <a:rect l="l" t="t" r="r" b="b"/>
              <a:pathLst>
                <a:path w="300354" h="5080">
                  <a:moveTo>
                    <a:pt x="0" y="5083"/>
                  </a:moveTo>
                  <a:lnTo>
                    <a:pt x="299911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932315" y="2697380"/>
              <a:ext cx="252729" cy="125730"/>
            </a:xfrm>
            <a:custGeom>
              <a:avLst/>
              <a:gdLst/>
              <a:ahLst/>
              <a:cxnLst/>
              <a:rect l="l" t="t" r="r" b="b"/>
              <a:pathLst>
                <a:path w="252729" h="125730">
                  <a:moveTo>
                    <a:pt x="0" y="0"/>
                  </a:moveTo>
                  <a:lnTo>
                    <a:pt x="252527" y="125137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84843" y="2697380"/>
              <a:ext cx="248920" cy="125730"/>
            </a:xfrm>
            <a:custGeom>
              <a:avLst/>
              <a:gdLst/>
              <a:ahLst/>
              <a:cxnLst/>
              <a:rect l="l" t="t" r="r" b="b"/>
              <a:pathLst>
                <a:path w="248920" h="125730">
                  <a:moveTo>
                    <a:pt x="248527" y="0"/>
                  </a:moveTo>
                  <a:lnTo>
                    <a:pt x="0" y="125137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274478" y="2699001"/>
              <a:ext cx="273050" cy="123825"/>
            </a:xfrm>
            <a:custGeom>
              <a:avLst/>
              <a:gdLst/>
              <a:ahLst/>
              <a:cxnLst/>
              <a:rect l="l" t="t" r="r" b="b"/>
              <a:pathLst>
                <a:path w="273050" h="123825">
                  <a:moveTo>
                    <a:pt x="272760" y="0"/>
                  </a:moveTo>
                  <a:lnTo>
                    <a:pt x="0" y="123517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252852" y="2649748"/>
              <a:ext cx="22225" cy="173355"/>
            </a:xfrm>
            <a:custGeom>
              <a:avLst/>
              <a:gdLst/>
              <a:ahLst/>
              <a:cxnLst/>
              <a:rect l="l" t="t" r="r" b="b"/>
              <a:pathLst>
                <a:path w="22225" h="173355">
                  <a:moveTo>
                    <a:pt x="0" y="0"/>
                  </a:moveTo>
                  <a:lnTo>
                    <a:pt x="21625" y="17277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939909" y="2699001"/>
              <a:ext cx="334645" cy="123825"/>
            </a:xfrm>
            <a:custGeom>
              <a:avLst/>
              <a:gdLst/>
              <a:ahLst/>
              <a:cxnLst/>
              <a:rect l="l" t="t" r="r" b="b"/>
              <a:pathLst>
                <a:path w="334645" h="123825">
                  <a:moveTo>
                    <a:pt x="0" y="0"/>
                  </a:moveTo>
                  <a:lnTo>
                    <a:pt x="334568" y="123517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251055" y="3558504"/>
              <a:ext cx="1381125" cy="240665"/>
            </a:xfrm>
            <a:custGeom>
              <a:avLst/>
              <a:gdLst/>
              <a:ahLst/>
              <a:cxnLst/>
              <a:rect l="l" t="t" r="r" b="b"/>
              <a:pathLst>
                <a:path w="1381125" h="240664">
                  <a:moveTo>
                    <a:pt x="697618" y="0"/>
                  </a:moveTo>
                  <a:lnTo>
                    <a:pt x="633103" y="1305"/>
                  </a:lnTo>
                  <a:lnTo>
                    <a:pt x="569109" y="5086"/>
                  </a:lnTo>
                  <a:lnTo>
                    <a:pt x="506129" y="11177"/>
                  </a:lnTo>
                  <a:lnTo>
                    <a:pt x="444647" y="19417"/>
                  </a:lnTo>
                  <a:lnTo>
                    <a:pt x="385152" y="29644"/>
                  </a:lnTo>
                  <a:lnTo>
                    <a:pt x="328131" y="41701"/>
                  </a:lnTo>
                  <a:lnTo>
                    <a:pt x="274062" y="55435"/>
                  </a:lnTo>
                  <a:lnTo>
                    <a:pt x="223424" y="70698"/>
                  </a:lnTo>
                  <a:lnTo>
                    <a:pt x="176900" y="87262"/>
                  </a:lnTo>
                  <a:lnTo>
                    <a:pt x="134556" y="105153"/>
                  </a:lnTo>
                  <a:lnTo>
                    <a:pt x="97020" y="124214"/>
                  </a:lnTo>
                  <a:lnTo>
                    <a:pt x="50670" y="154961"/>
                  </a:lnTo>
                  <a:lnTo>
                    <a:pt x="17668" y="188776"/>
                  </a:lnTo>
                  <a:lnTo>
                    <a:pt x="1242" y="224953"/>
                  </a:lnTo>
                  <a:lnTo>
                    <a:pt x="0" y="237224"/>
                  </a:lnTo>
                  <a:lnTo>
                    <a:pt x="30345" y="240093"/>
                  </a:lnTo>
                  <a:lnTo>
                    <a:pt x="31081" y="232300"/>
                  </a:lnTo>
                  <a:lnTo>
                    <a:pt x="30836" y="232300"/>
                  </a:lnTo>
                  <a:lnTo>
                    <a:pt x="31334" y="229623"/>
                  </a:lnTo>
                  <a:lnTo>
                    <a:pt x="31586" y="229623"/>
                  </a:lnTo>
                  <a:lnTo>
                    <a:pt x="33127" y="224125"/>
                  </a:lnTo>
                  <a:lnTo>
                    <a:pt x="32927" y="224125"/>
                  </a:lnTo>
                  <a:lnTo>
                    <a:pt x="33764" y="221851"/>
                  </a:lnTo>
                  <a:lnTo>
                    <a:pt x="33976" y="221851"/>
                  </a:lnTo>
                  <a:lnTo>
                    <a:pt x="37730" y="213716"/>
                  </a:lnTo>
                  <a:lnTo>
                    <a:pt x="43347" y="205195"/>
                  </a:lnTo>
                  <a:lnTo>
                    <a:pt x="70539" y="178074"/>
                  </a:lnTo>
                  <a:lnTo>
                    <a:pt x="112513" y="150463"/>
                  </a:lnTo>
                  <a:lnTo>
                    <a:pt x="147820" y="132596"/>
                  </a:lnTo>
                  <a:lnTo>
                    <a:pt x="188319" y="115523"/>
                  </a:lnTo>
                  <a:lnTo>
                    <a:pt x="233640" y="99414"/>
                  </a:lnTo>
                  <a:lnTo>
                    <a:pt x="282848" y="84621"/>
                  </a:lnTo>
                  <a:lnTo>
                    <a:pt x="335626" y="71245"/>
                  </a:lnTo>
                  <a:lnTo>
                    <a:pt x="391452" y="59466"/>
                  </a:lnTo>
                  <a:lnTo>
                    <a:pt x="449806" y="49457"/>
                  </a:lnTo>
                  <a:lnTo>
                    <a:pt x="510172" y="41388"/>
                  </a:lnTo>
                  <a:lnTo>
                    <a:pt x="572039" y="35424"/>
                  </a:lnTo>
                  <a:lnTo>
                    <a:pt x="634895" y="31732"/>
                  </a:lnTo>
                  <a:lnTo>
                    <a:pt x="698229" y="30473"/>
                  </a:lnTo>
                  <a:lnTo>
                    <a:pt x="1023799" y="30473"/>
                  </a:lnTo>
                  <a:lnTo>
                    <a:pt x="1009973" y="27732"/>
                  </a:lnTo>
                  <a:lnTo>
                    <a:pt x="950523" y="18152"/>
                  </a:lnTo>
                  <a:lnTo>
                    <a:pt x="889074" y="10435"/>
                  </a:lnTo>
                  <a:lnTo>
                    <a:pt x="826115" y="4734"/>
                  </a:lnTo>
                  <a:lnTo>
                    <a:pt x="762135" y="1203"/>
                  </a:lnTo>
                  <a:lnTo>
                    <a:pt x="697618" y="0"/>
                  </a:lnTo>
                  <a:close/>
                </a:path>
                <a:path w="1381125" h="240664">
                  <a:moveTo>
                    <a:pt x="31334" y="229623"/>
                  </a:moveTo>
                  <a:lnTo>
                    <a:pt x="30836" y="232300"/>
                  </a:lnTo>
                  <a:lnTo>
                    <a:pt x="31206" y="230981"/>
                  </a:lnTo>
                  <a:lnTo>
                    <a:pt x="31334" y="229623"/>
                  </a:lnTo>
                  <a:close/>
                </a:path>
                <a:path w="1381125" h="240664">
                  <a:moveTo>
                    <a:pt x="31206" y="230981"/>
                  </a:moveTo>
                  <a:lnTo>
                    <a:pt x="30836" y="232300"/>
                  </a:lnTo>
                  <a:lnTo>
                    <a:pt x="31081" y="232300"/>
                  </a:lnTo>
                  <a:lnTo>
                    <a:pt x="31206" y="230981"/>
                  </a:lnTo>
                  <a:close/>
                </a:path>
                <a:path w="1381125" h="240664">
                  <a:moveTo>
                    <a:pt x="31586" y="229623"/>
                  </a:moveTo>
                  <a:lnTo>
                    <a:pt x="31334" y="229623"/>
                  </a:lnTo>
                  <a:lnTo>
                    <a:pt x="31206" y="230981"/>
                  </a:lnTo>
                  <a:lnTo>
                    <a:pt x="31586" y="229623"/>
                  </a:lnTo>
                  <a:close/>
                </a:path>
                <a:path w="1381125" h="240664">
                  <a:moveTo>
                    <a:pt x="1313232" y="161160"/>
                  </a:moveTo>
                  <a:lnTo>
                    <a:pt x="1289776" y="178328"/>
                  </a:lnTo>
                  <a:lnTo>
                    <a:pt x="1380676" y="225112"/>
                  </a:lnTo>
                  <a:lnTo>
                    <a:pt x="1371942" y="173675"/>
                  </a:lnTo>
                  <a:lnTo>
                    <a:pt x="1324216" y="173675"/>
                  </a:lnTo>
                  <a:lnTo>
                    <a:pt x="1313232" y="161160"/>
                  </a:lnTo>
                  <a:close/>
                </a:path>
                <a:path w="1381125" h="240664">
                  <a:moveTo>
                    <a:pt x="33764" y="221851"/>
                  </a:moveTo>
                  <a:lnTo>
                    <a:pt x="32927" y="224125"/>
                  </a:lnTo>
                  <a:lnTo>
                    <a:pt x="33435" y="223024"/>
                  </a:lnTo>
                  <a:lnTo>
                    <a:pt x="33764" y="221851"/>
                  </a:lnTo>
                  <a:close/>
                </a:path>
                <a:path w="1381125" h="240664">
                  <a:moveTo>
                    <a:pt x="33435" y="223024"/>
                  </a:moveTo>
                  <a:lnTo>
                    <a:pt x="32927" y="224125"/>
                  </a:lnTo>
                  <a:lnTo>
                    <a:pt x="33127" y="224125"/>
                  </a:lnTo>
                  <a:lnTo>
                    <a:pt x="33435" y="223024"/>
                  </a:lnTo>
                  <a:close/>
                </a:path>
                <a:path w="1381125" h="240664">
                  <a:moveTo>
                    <a:pt x="33976" y="221851"/>
                  </a:moveTo>
                  <a:lnTo>
                    <a:pt x="33764" y="221851"/>
                  </a:lnTo>
                  <a:lnTo>
                    <a:pt x="33435" y="223024"/>
                  </a:lnTo>
                  <a:lnTo>
                    <a:pt x="33976" y="221851"/>
                  </a:lnTo>
                  <a:close/>
                </a:path>
                <a:path w="1381125" h="240664">
                  <a:moveTo>
                    <a:pt x="1313689" y="160825"/>
                  </a:moveTo>
                  <a:lnTo>
                    <a:pt x="1313232" y="161160"/>
                  </a:lnTo>
                  <a:lnTo>
                    <a:pt x="1324216" y="173675"/>
                  </a:lnTo>
                  <a:lnTo>
                    <a:pt x="1338658" y="161000"/>
                  </a:lnTo>
                  <a:lnTo>
                    <a:pt x="1313969" y="161000"/>
                  </a:lnTo>
                  <a:lnTo>
                    <a:pt x="1313689" y="160825"/>
                  </a:lnTo>
                  <a:close/>
                </a:path>
                <a:path w="1381125" h="240664">
                  <a:moveTo>
                    <a:pt x="1363562" y="124321"/>
                  </a:moveTo>
                  <a:lnTo>
                    <a:pt x="1337924" y="143087"/>
                  </a:lnTo>
                  <a:lnTo>
                    <a:pt x="1347124" y="153570"/>
                  </a:lnTo>
                  <a:lnTo>
                    <a:pt x="1324216" y="173675"/>
                  </a:lnTo>
                  <a:lnTo>
                    <a:pt x="1371942" y="173675"/>
                  </a:lnTo>
                  <a:lnTo>
                    <a:pt x="1363562" y="124321"/>
                  </a:lnTo>
                  <a:close/>
                </a:path>
                <a:path w="1381125" h="240664">
                  <a:moveTo>
                    <a:pt x="1312037" y="159798"/>
                  </a:moveTo>
                  <a:lnTo>
                    <a:pt x="1313232" y="161160"/>
                  </a:lnTo>
                  <a:lnTo>
                    <a:pt x="1313689" y="160825"/>
                  </a:lnTo>
                  <a:lnTo>
                    <a:pt x="1312037" y="159798"/>
                  </a:lnTo>
                  <a:close/>
                </a:path>
                <a:path w="1381125" h="240664">
                  <a:moveTo>
                    <a:pt x="1313729" y="160796"/>
                  </a:moveTo>
                  <a:lnTo>
                    <a:pt x="1313969" y="161000"/>
                  </a:lnTo>
                  <a:lnTo>
                    <a:pt x="1313729" y="160796"/>
                  </a:lnTo>
                  <a:close/>
                </a:path>
                <a:path w="1381125" h="240664">
                  <a:moveTo>
                    <a:pt x="1337924" y="143087"/>
                  </a:moveTo>
                  <a:lnTo>
                    <a:pt x="1313729" y="160796"/>
                  </a:lnTo>
                  <a:lnTo>
                    <a:pt x="1313969" y="161000"/>
                  </a:lnTo>
                  <a:lnTo>
                    <a:pt x="1338658" y="161000"/>
                  </a:lnTo>
                  <a:lnTo>
                    <a:pt x="1347124" y="153570"/>
                  </a:lnTo>
                  <a:lnTo>
                    <a:pt x="1337924" y="143087"/>
                  </a:lnTo>
                  <a:close/>
                </a:path>
                <a:path w="1381125" h="240664">
                  <a:moveTo>
                    <a:pt x="1310547" y="158101"/>
                  </a:moveTo>
                  <a:lnTo>
                    <a:pt x="1312037" y="159798"/>
                  </a:lnTo>
                  <a:lnTo>
                    <a:pt x="1313689" y="160825"/>
                  </a:lnTo>
                  <a:lnTo>
                    <a:pt x="1310547" y="158101"/>
                  </a:lnTo>
                  <a:close/>
                </a:path>
                <a:path w="1381125" h="240664">
                  <a:moveTo>
                    <a:pt x="1317411" y="158101"/>
                  </a:moveTo>
                  <a:lnTo>
                    <a:pt x="1310547" y="158101"/>
                  </a:lnTo>
                  <a:lnTo>
                    <a:pt x="1313729" y="160796"/>
                  </a:lnTo>
                  <a:lnTo>
                    <a:pt x="1317411" y="158101"/>
                  </a:lnTo>
                  <a:close/>
                </a:path>
                <a:path w="1381125" h="240664">
                  <a:moveTo>
                    <a:pt x="1023799" y="30473"/>
                  </a:moveTo>
                  <a:lnTo>
                    <a:pt x="698229" y="30473"/>
                  </a:lnTo>
                  <a:lnTo>
                    <a:pt x="761561" y="31678"/>
                  </a:lnTo>
                  <a:lnTo>
                    <a:pt x="824431" y="35167"/>
                  </a:lnTo>
                  <a:lnTo>
                    <a:pt x="886321" y="40791"/>
                  </a:lnTo>
                  <a:lnTo>
                    <a:pt x="946721" y="48394"/>
                  </a:lnTo>
                  <a:lnTo>
                    <a:pt x="1005119" y="57823"/>
                  </a:lnTo>
                  <a:lnTo>
                    <a:pt x="1061003" y="68922"/>
                  </a:lnTo>
                  <a:lnTo>
                    <a:pt x="1113859" y="81531"/>
                  </a:lnTo>
                  <a:lnTo>
                    <a:pt x="1163170" y="95487"/>
                  </a:lnTo>
                  <a:lnTo>
                    <a:pt x="1208408" y="110623"/>
                  </a:lnTo>
                  <a:lnTo>
                    <a:pt x="1248826" y="126669"/>
                  </a:lnTo>
                  <a:lnTo>
                    <a:pt x="1284265" y="143565"/>
                  </a:lnTo>
                  <a:lnTo>
                    <a:pt x="1312037" y="159798"/>
                  </a:lnTo>
                  <a:lnTo>
                    <a:pt x="1310547" y="158101"/>
                  </a:lnTo>
                  <a:lnTo>
                    <a:pt x="1317411" y="158101"/>
                  </a:lnTo>
                  <a:lnTo>
                    <a:pt x="1337924" y="143087"/>
                  </a:lnTo>
                  <a:lnTo>
                    <a:pt x="1297898" y="116305"/>
                  </a:lnTo>
                  <a:lnTo>
                    <a:pt x="1260494" y="98512"/>
                  </a:lnTo>
                  <a:lnTo>
                    <a:pt x="1218068" y="81714"/>
                  </a:lnTo>
                  <a:lnTo>
                    <a:pt x="1171463" y="66158"/>
                  </a:lnTo>
                  <a:lnTo>
                    <a:pt x="1120926" y="51882"/>
                  </a:lnTo>
                  <a:lnTo>
                    <a:pt x="1066935" y="39024"/>
                  </a:lnTo>
                  <a:lnTo>
                    <a:pt x="1023799" y="30473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41" name="object 41"/>
          <p:cNvGraphicFramePr>
            <a:graphicFrameLocks noGrp="1"/>
          </p:cNvGraphicFramePr>
          <p:nvPr/>
        </p:nvGraphicFramePr>
        <p:xfrm>
          <a:off x="5385237" y="5016953"/>
          <a:ext cx="1425573" cy="647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7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2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2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C5A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C5A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C5A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C5A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2" name="object 42"/>
          <p:cNvGraphicFramePr>
            <a:graphicFrameLocks noGrp="1"/>
          </p:cNvGraphicFramePr>
          <p:nvPr/>
        </p:nvGraphicFramePr>
        <p:xfrm>
          <a:off x="7408205" y="5016953"/>
          <a:ext cx="1069339" cy="647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7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2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3DB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3DB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3DB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1EE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1EE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1EE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3DB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3DB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3DB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3" name="object 43"/>
          <p:cNvGraphicFramePr>
            <a:graphicFrameLocks noGrp="1"/>
          </p:cNvGraphicFramePr>
          <p:nvPr/>
        </p:nvGraphicFramePr>
        <p:xfrm>
          <a:off x="8618377" y="5016953"/>
          <a:ext cx="713105" cy="647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7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3DB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3DB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1EE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1EE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3DB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3DB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4" name="object 44"/>
          <p:cNvSpPr/>
          <p:nvPr/>
        </p:nvSpPr>
        <p:spPr>
          <a:xfrm>
            <a:off x="6945362" y="5273752"/>
            <a:ext cx="351155" cy="121920"/>
          </a:xfrm>
          <a:custGeom>
            <a:avLst/>
            <a:gdLst/>
            <a:ahLst/>
            <a:cxnLst/>
            <a:rect l="l" t="t" r="r" b="b"/>
            <a:pathLst>
              <a:path w="351154" h="121920">
                <a:moveTo>
                  <a:pt x="229210" y="0"/>
                </a:moveTo>
                <a:lnTo>
                  <a:pt x="229209" y="121919"/>
                </a:lnTo>
                <a:lnTo>
                  <a:pt x="310492" y="81280"/>
                </a:lnTo>
                <a:lnTo>
                  <a:pt x="249530" y="81280"/>
                </a:lnTo>
                <a:lnTo>
                  <a:pt x="249530" y="40639"/>
                </a:lnTo>
                <a:lnTo>
                  <a:pt x="310489" y="40639"/>
                </a:lnTo>
                <a:lnTo>
                  <a:pt x="229210" y="0"/>
                </a:lnTo>
                <a:close/>
              </a:path>
              <a:path w="351154" h="121920">
                <a:moveTo>
                  <a:pt x="229210" y="40639"/>
                </a:moveTo>
                <a:lnTo>
                  <a:pt x="1" y="40639"/>
                </a:lnTo>
                <a:lnTo>
                  <a:pt x="0" y="81280"/>
                </a:lnTo>
                <a:lnTo>
                  <a:pt x="229210" y="81280"/>
                </a:lnTo>
                <a:lnTo>
                  <a:pt x="229210" y="40639"/>
                </a:lnTo>
                <a:close/>
              </a:path>
              <a:path w="351154" h="121920">
                <a:moveTo>
                  <a:pt x="310489" y="40639"/>
                </a:moveTo>
                <a:lnTo>
                  <a:pt x="249530" y="40639"/>
                </a:lnTo>
                <a:lnTo>
                  <a:pt x="249530" y="81280"/>
                </a:lnTo>
                <a:lnTo>
                  <a:pt x="310492" y="81280"/>
                </a:lnTo>
                <a:lnTo>
                  <a:pt x="351130" y="60961"/>
                </a:lnTo>
                <a:lnTo>
                  <a:pt x="310489" y="40639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5" name="object 4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4929" y="6197575"/>
            <a:ext cx="2729645" cy="738390"/>
          </a:xfrm>
          <a:prstGeom prst="rect">
            <a:avLst/>
          </a:prstGeom>
        </p:spPr>
      </p:pic>
      <p:graphicFrame>
        <p:nvGraphicFramePr>
          <p:cNvPr id="46" name="object 46"/>
          <p:cNvGraphicFramePr>
            <a:graphicFrameLocks noGrp="1"/>
          </p:cNvGraphicFramePr>
          <p:nvPr/>
        </p:nvGraphicFramePr>
        <p:xfrm>
          <a:off x="5391914" y="6133667"/>
          <a:ext cx="1425573" cy="4857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7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2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2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C5A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C5A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C5A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C5A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7" name="object 47"/>
          <p:cNvGraphicFramePr>
            <a:graphicFrameLocks noGrp="1"/>
          </p:cNvGraphicFramePr>
          <p:nvPr/>
        </p:nvGraphicFramePr>
        <p:xfrm>
          <a:off x="5391914" y="6731292"/>
          <a:ext cx="1425573" cy="3594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7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2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2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97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C5A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C5A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C5A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C5A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7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7460" y="319023"/>
            <a:ext cx="753935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0">
                <a:solidFill>
                  <a:srgbClr val="292934"/>
                </a:solidFill>
              </a:rPr>
              <a:t>Entity-</a:t>
            </a:r>
            <a:r>
              <a:rPr spc="-135" dirty="0">
                <a:solidFill>
                  <a:srgbClr val="292934"/>
                </a:solidFill>
              </a:rPr>
              <a:t>Relationship</a:t>
            </a:r>
            <a:r>
              <a:rPr spc="-114" dirty="0">
                <a:solidFill>
                  <a:srgbClr val="292934"/>
                </a:solidFill>
              </a:rPr>
              <a:t> </a:t>
            </a:r>
            <a:r>
              <a:rPr spc="-55" dirty="0">
                <a:solidFill>
                  <a:srgbClr val="292934"/>
                </a:solidFill>
              </a:rPr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815" y="1211071"/>
            <a:ext cx="9103360" cy="67818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07645" marR="5080" indent="-195580">
              <a:lnSpc>
                <a:spcPct val="103800"/>
              </a:lnSpc>
              <a:spcBef>
                <a:spcPts val="5"/>
              </a:spcBef>
              <a:buClr>
                <a:srgbClr val="292934"/>
              </a:buClr>
              <a:buSzPct val="85714"/>
              <a:buFont typeface="Arial MT"/>
              <a:buChar char="•"/>
              <a:tabLst>
                <a:tab pos="207645" algn="l"/>
              </a:tabLst>
            </a:pPr>
            <a:r>
              <a:rPr sz="2100" b="1" dirty="0">
                <a:solidFill>
                  <a:srgbClr val="C00000"/>
                </a:solidFill>
                <a:latin typeface="Verdana"/>
                <a:cs typeface="Verdana"/>
              </a:rPr>
              <a:t>E-R</a:t>
            </a:r>
            <a:r>
              <a:rPr sz="2100" b="1" spc="8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b="1" dirty="0">
                <a:solidFill>
                  <a:srgbClr val="C00000"/>
                </a:solidFill>
                <a:latin typeface="Verdana"/>
                <a:cs typeface="Verdana"/>
              </a:rPr>
              <a:t>diagram</a:t>
            </a:r>
            <a:r>
              <a:rPr sz="2100" b="1" spc="9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21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high-level</a:t>
            </a:r>
            <a:r>
              <a:rPr sz="21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design</a:t>
            </a:r>
            <a:r>
              <a:rPr sz="21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model</a:t>
            </a:r>
            <a:r>
              <a:rPr sz="21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representing</a:t>
            </a:r>
            <a:r>
              <a:rPr sz="21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database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as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collection</a:t>
            </a:r>
            <a:r>
              <a:rPr sz="2100" spc="4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of</a:t>
            </a:r>
            <a:r>
              <a:rPr sz="2100" spc="4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entities</a:t>
            </a:r>
            <a:r>
              <a:rPr sz="2100" spc="4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and</a:t>
            </a:r>
            <a:r>
              <a:rPr sz="2100" spc="5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relationships</a:t>
            </a:r>
            <a:r>
              <a:rPr sz="2100" spc="4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among</a:t>
            </a:r>
            <a:r>
              <a:rPr sz="21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entities</a:t>
            </a:r>
            <a:endParaRPr sz="21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1867" y="2526939"/>
            <a:ext cx="7561816" cy="356139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602232" y="3575303"/>
            <a:ext cx="74803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product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47330" y="3575303"/>
            <a:ext cx="90424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company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16809" y="3581400"/>
            <a:ext cx="66357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makes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21688" y="2947415"/>
            <a:ext cx="31369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5" dirty="0">
                <a:solidFill>
                  <a:srgbClr val="292934"/>
                </a:solidFill>
                <a:latin typeface="Arial MT"/>
                <a:cs typeface="Arial MT"/>
              </a:rPr>
              <a:t>pid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89852" y="2633471"/>
            <a:ext cx="56769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0" dirty="0">
                <a:solidFill>
                  <a:srgbClr val="292934"/>
                </a:solidFill>
                <a:latin typeface="Arial MT"/>
                <a:cs typeface="Arial MT"/>
              </a:rPr>
              <a:t>name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00818" y="2642615"/>
            <a:ext cx="56769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0" dirty="0">
                <a:solidFill>
                  <a:srgbClr val="292934"/>
                </a:solidFill>
                <a:latin typeface="Arial MT"/>
                <a:cs typeface="Arial MT"/>
              </a:rPr>
              <a:t>name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44462" y="4892040"/>
            <a:ext cx="6877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person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38202" y="4367784"/>
            <a:ext cx="4826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0" dirty="0">
                <a:solidFill>
                  <a:srgbClr val="292934"/>
                </a:solidFill>
                <a:latin typeface="Arial MT"/>
                <a:cs typeface="Arial MT"/>
              </a:rPr>
              <a:t>buys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03977" y="5629655"/>
            <a:ext cx="1924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5" dirty="0">
                <a:solidFill>
                  <a:srgbClr val="292934"/>
                </a:solidFill>
                <a:latin typeface="Arial MT"/>
                <a:cs typeface="Arial MT"/>
              </a:rPr>
              <a:t>id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46662" y="5693664"/>
            <a:ext cx="56769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0" dirty="0">
                <a:solidFill>
                  <a:srgbClr val="292934"/>
                </a:solidFill>
                <a:latin typeface="Arial MT"/>
                <a:cs typeface="Arial MT"/>
              </a:rPr>
              <a:t>name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58990" y="4367784"/>
            <a:ext cx="91694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works-</a:t>
            </a:r>
            <a:r>
              <a:rPr sz="1700" spc="-25" dirty="0">
                <a:solidFill>
                  <a:srgbClr val="292934"/>
                </a:solidFill>
                <a:latin typeface="Arial MT"/>
                <a:cs typeface="Arial MT"/>
              </a:rPr>
              <a:t>for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08778" y="2892552"/>
            <a:ext cx="10725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description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761024" y="2636520"/>
            <a:ext cx="79565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address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51308" y="5535167"/>
            <a:ext cx="79565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address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91603" y="1231127"/>
            <a:ext cx="9247505" cy="3183255"/>
            <a:chOff x="391603" y="1231127"/>
            <a:chExt cx="9247505" cy="3183255"/>
          </a:xfrm>
        </p:grpSpPr>
        <p:sp>
          <p:nvSpPr>
            <p:cNvPr id="3" name="object 3"/>
            <p:cNvSpPr/>
            <p:nvPr/>
          </p:nvSpPr>
          <p:spPr>
            <a:xfrm>
              <a:off x="406843" y="1246367"/>
              <a:ext cx="9217025" cy="3152775"/>
            </a:xfrm>
            <a:custGeom>
              <a:avLst/>
              <a:gdLst/>
              <a:ahLst/>
              <a:cxnLst/>
              <a:rect l="l" t="t" r="r" b="b"/>
              <a:pathLst>
                <a:path w="9217025" h="3152775">
                  <a:moveTo>
                    <a:pt x="8691053" y="0"/>
                  </a:moveTo>
                  <a:lnTo>
                    <a:pt x="525389" y="0"/>
                  </a:lnTo>
                  <a:lnTo>
                    <a:pt x="477568" y="2147"/>
                  </a:lnTo>
                  <a:lnTo>
                    <a:pt x="430950" y="8464"/>
                  </a:lnTo>
                  <a:lnTo>
                    <a:pt x="385720" y="18767"/>
                  </a:lnTo>
                  <a:lnTo>
                    <a:pt x="342064" y="32869"/>
                  </a:lnTo>
                  <a:lnTo>
                    <a:pt x="300167" y="50585"/>
                  </a:lnTo>
                  <a:lnTo>
                    <a:pt x="260215" y="71730"/>
                  </a:lnTo>
                  <a:lnTo>
                    <a:pt x="222393" y="96119"/>
                  </a:lnTo>
                  <a:lnTo>
                    <a:pt x="186887" y="123564"/>
                  </a:lnTo>
                  <a:lnTo>
                    <a:pt x="153883" y="153882"/>
                  </a:lnTo>
                  <a:lnTo>
                    <a:pt x="123565" y="186887"/>
                  </a:lnTo>
                  <a:lnTo>
                    <a:pt x="96119" y="222393"/>
                  </a:lnTo>
                  <a:lnTo>
                    <a:pt x="71731" y="260215"/>
                  </a:lnTo>
                  <a:lnTo>
                    <a:pt x="50586" y="300167"/>
                  </a:lnTo>
                  <a:lnTo>
                    <a:pt x="32869" y="342064"/>
                  </a:lnTo>
                  <a:lnTo>
                    <a:pt x="18767" y="385720"/>
                  </a:lnTo>
                  <a:lnTo>
                    <a:pt x="8464" y="430950"/>
                  </a:lnTo>
                  <a:lnTo>
                    <a:pt x="2147" y="477568"/>
                  </a:lnTo>
                  <a:lnTo>
                    <a:pt x="0" y="525390"/>
                  </a:lnTo>
                  <a:lnTo>
                    <a:pt x="0" y="2626859"/>
                  </a:lnTo>
                  <a:lnTo>
                    <a:pt x="2147" y="2674680"/>
                  </a:lnTo>
                  <a:lnTo>
                    <a:pt x="8464" y="2721298"/>
                  </a:lnTo>
                  <a:lnTo>
                    <a:pt x="18767" y="2766528"/>
                  </a:lnTo>
                  <a:lnTo>
                    <a:pt x="32869" y="2810184"/>
                  </a:lnTo>
                  <a:lnTo>
                    <a:pt x="50586" y="2852081"/>
                  </a:lnTo>
                  <a:lnTo>
                    <a:pt x="71731" y="2892033"/>
                  </a:lnTo>
                  <a:lnTo>
                    <a:pt x="96119" y="2929855"/>
                  </a:lnTo>
                  <a:lnTo>
                    <a:pt x="123565" y="2965361"/>
                  </a:lnTo>
                  <a:lnTo>
                    <a:pt x="153883" y="2998365"/>
                  </a:lnTo>
                  <a:lnTo>
                    <a:pt x="186887" y="3028683"/>
                  </a:lnTo>
                  <a:lnTo>
                    <a:pt x="222393" y="3056129"/>
                  </a:lnTo>
                  <a:lnTo>
                    <a:pt x="260215" y="3080517"/>
                  </a:lnTo>
                  <a:lnTo>
                    <a:pt x="300167" y="3101663"/>
                  </a:lnTo>
                  <a:lnTo>
                    <a:pt x="342064" y="3119379"/>
                  </a:lnTo>
                  <a:lnTo>
                    <a:pt x="385720" y="3133481"/>
                  </a:lnTo>
                  <a:lnTo>
                    <a:pt x="430950" y="3143784"/>
                  </a:lnTo>
                  <a:lnTo>
                    <a:pt x="477568" y="3150102"/>
                  </a:lnTo>
                  <a:lnTo>
                    <a:pt x="525389" y="3152249"/>
                  </a:lnTo>
                  <a:lnTo>
                    <a:pt x="8691053" y="3152249"/>
                  </a:lnTo>
                  <a:lnTo>
                    <a:pt x="8738875" y="3150102"/>
                  </a:lnTo>
                  <a:lnTo>
                    <a:pt x="8785493" y="3143784"/>
                  </a:lnTo>
                  <a:lnTo>
                    <a:pt x="8830723" y="3133481"/>
                  </a:lnTo>
                  <a:lnTo>
                    <a:pt x="8874379" y="3119379"/>
                  </a:lnTo>
                  <a:lnTo>
                    <a:pt x="8916276" y="3101663"/>
                  </a:lnTo>
                  <a:lnTo>
                    <a:pt x="8956227" y="3080517"/>
                  </a:lnTo>
                  <a:lnTo>
                    <a:pt x="8994049" y="3056129"/>
                  </a:lnTo>
                  <a:lnTo>
                    <a:pt x="9029555" y="3028683"/>
                  </a:lnTo>
                  <a:lnTo>
                    <a:pt x="9062560" y="2998365"/>
                  </a:lnTo>
                  <a:lnTo>
                    <a:pt x="9092878" y="2965361"/>
                  </a:lnTo>
                  <a:lnTo>
                    <a:pt x="9120323" y="2929855"/>
                  </a:lnTo>
                  <a:lnTo>
                    <a:pt x="9144711" y="2892033"/>
                  </a:lnTo>
                  <a:lnTo>
                    <a:pt x="9165856" y="2852081"/>
                  </a:lnTo>
                  <a:lnTo>
                    <a:pt x="9183573" y="2810184"/>
                  </a:lnTo>
                  <a:lnTo>
                    <a:pt x="9197675" y="2766528"/>
                  </a:lnTo>
                  <a:lnTo>
                    <a:pt x="9207978" y="2721298"/>
                  </a:lnTo>
                  <a:lnTo>
                    <a:pt x="9214295" y="2674680"/>
                  </a:lnTo>
                  <a:lnTo>
                    <a:pt x="9216442" y="2626859"/>
                  </a:lnTo>
                  <a:lnTo>
                    <a:pt x="9216442" y="525390"/>
                  </a:lnTo>
                  <a:lnTo>
                    <a:pt x="9214295" y="477568"/>
                  </a:lnTo>
                  <a:lnTo>
                    <a:pt x="9207978" y="430950"/>
                  </a:lnTo>
                  <a:lnTo>
                    <a:pt x="9197675" y="385720"/>
                  </a:lnTo>
                  <a:lnTo>
                    <a:pt x="9183573" y="342064"/>
                  </a:lnTo>
                  <a:lnTo>
                    <a:pt x="9165856" y="300167"/>
                  </a:lnTo>
                  <a:lnTo>
                    <a:pt x="9144711" y="260215"/>
                  </a:lnTo>
                  <a:lnTo>
                    <a:pt x="9120323" y="222393"/>
                  </a:lnTo>
                  <a:lnTo>
                    <a:pt x="9092878" y="186887"/>
                  </a:lnTo>
                  <a:lnTo>
                    <a:pt x="9062560" y="153882"/>
                  </a:lnTo>
                  <a:lnTo>
                    <a:pt x="9029555" y="123564"/>
                  </a:lnTo>
                  <a:lnTo>
                    <a:pt x="8994049" y="96119"/>
                  </a:lnTo>
                  <a:lnTo>
                    <a:pt x="8956227" y="71730"/>
                  </a:lnTo>
                  <a:lnTo>
                    <a:pt x="8916276" y="50585"/>
                  </a:lnTo>
                  <a:lnTo>
                    <a:pt x="8874379" y="32869"/>
                  </a:lnTo>
                  <a:lnTo>
                    <a:pt x="8830723" y="18767"/>
                  </a:lnTo>
                  <a:lnTo>
                    <a:pt x="8785493" y="8464"/>
                  </a:lnTo>
                  <a:lnTo>
                    <a:pt x="8738875" y="2147"/>
                  </a:lnTo>
                  <a:lnTo>
                    <a:pt x="8691053" y="0"/>
                  </a:lnTo>
                  <a:close/>
                </a:path>
              </a:pathLst>
            </a:custGeom>
            <a:solidFill>
              <a:srgbClr val="FFF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06843" y="1246367"/>
              <a:ext cx="9217025" cy="3152775"/>
            </a:xfrm>
            <a:custGeom>
              <a:avLst/>
              <a:gdLst/>
              <a:ahLst/>
              <a:cxnLst/>
              <a:rect l="l" t="t" r="r" b="b"/>
              <a:pathLst>
                <a:path w="9217025" h="3152775">
                  <a:moveTo>
                    <a:pt x="0" y="525390"/>
                  </a:moveTo>
                  <a:lnTo>
                    <a:pt x="2147" y="477568"/>
                  </a:lnTo>
                  <a:lnTo>
                    <a:pt x="8464" y="430950"/>
                  </a:lnTo>
                  <a:lnTo>
                    <a:pt x="18767" y="385720"/>
                  </a:lnTo>
                  <a:lnTo>
                    <a:pt x="32869" y="342064"/>
                  </a:lnTo>
                  <a:lnTo>
                    <a:pt x="50586" y="300167"/>
                  </a:lnTo>
                  <a:lnTo>
                    <a:pt x="71731" y="260215"/>
                  </a:lnTo>
                  <a:lnTo>
                    <a:pt x="96119" y="222393"/>
                  </a:lnTo>
                  <a:lnTo>
                    <a:pt x="123565" y="186887"/>
                  </a:lnTo>
                  <a:lnTo>
                    <a:pt x="153883" y="153883"/>
                  </a:lnTo>
                  <a:lnTo>
                    <a:pt x="186887" y="123565"/>
                  </a:lnTo>
                  <a:lnTo>
                    <a:pt x="222393" y="96119"/>
                  </a:lnTo>
                  <a:lnTo>
                    <a:pt x="260215" y="71731"/>
                  </a:lnTo>
                  <a:lnTo>
                    <a:pt x="300167" y="50586"/>
                  </a:lnTo>
                  <a:lnTo>
                    <a:pt x="342064" y="32869"/>
                  </a:lnTo>
                  <a:lnTo>
                    <a:pt x="385720" y="18767"/>
                  </a:lnTo>
                  <a:lnTo>
                    <a:pt x="430950" y="8464"/>
                  </a:lnTo>
                  <a:lnTo>
                    <a:pt x="477568" y="2147"/>
                  </a:lnTo>
                  <a:lnTo>
                    <a:pt x="525389" y="0"/>
                  </a:lnTo>
                  <a:lnTo>
                    <a:pt x="8691053" y="0"/>
                  </a:lnTo>
                  <a:lnTo>
                    <a:pt x="8738875" y="2147"/>
                  </a:lnTo>
                  <a:lnTo>
                    <a:pt x="8785493" y="8464"/>
                  </a:lnTo>
                  <a:lnTo>
                    <a:pt x="8830723" y="18767"/>
                  </a:lnTo>
                  <a:lnTo>
                    <a:pt x="8874379" y="32869"/>
                  </a:lnTo>
                  <a:lnTo>
                    <a:pt x="8916276" y="50586"/>
                  </a:lnTo>
                  <a:lnTo>
                    <a:pt x="8956228" y="71731"/>
                  </a:lnTo>
                  <a:lnTo>
                    <a:pt x="8994050" y="96119"/>
                  </a:lnTo>
                  <a:lnTo>
                    <a:pt x="9029555" y="123565"/>
                  </a:lnTo>
                  <a:lnTo>
                    <a:pt x="9062560" y="153883"/>
                  </a:lnTo>
                  <a:lnTo>
                    <a:pt x="9092878" y="186887"/>
                  </a:lnTo>
                  <a:lnTo>
                    <a:pt x="9120324" y="222393"/>
                  </a:lnTo>
                  <a:lnTo>
                    <a:pt x="9144712" y="260215"/>
                  </a:lnTo>
                  <a:lnTo>
                    <a:pt x="9165857" y="300167"/>
                  </a:lnTo>
                  <a:lnTo>
                    <a:pt x="9183573" y="342064"/>
                  </a:lnTo>
                  <a:lnTo>
                    <a:pt x="9197676" y="385720"/>
                  </a:lnTo>
                  <a:lnTo>
                    <a:pt x="9207978" y="430950"/>
                  </a:lnTo>
                  <a:lnTo>
                    <a:pt x="9214296" y="477568"/>
                  </a:lnTo>
                  <a:lnTo>
                    <a:pt x="9216443" y="525390"/>
                  </a:lnTo>
                  <a:lnTo>
                    <a:pt x="9216443" y="2626859"/>
                  </a:lnTo>
                  <a:lnTo>
                    <a:pt x="9214296" y="2674680"/>
                  </a:lnTo>
                  <a:lnTo>
                    <a:pt x="9207978" y="2721299"/>
                  </a:lnTo>
                  <a:lnTo>
                    <a:pt x="9197676" y="2766528"/>
                  </a:lnTo>
                  <a:lnTo>
                    <a:pt x="9183573" y="2810185"/>
                  </a:lnTo>
                  <a:lnTo>
                    <a:pt x="9165857" y="2852081"/>
                  </a:lnTo>
                  <a:lnTo>
                    <a:pt x="9144712" y="2892033"/>
                  </a:lnTo>
                  <a:lnTo>
                    <a:pt x="9120324" y="2929855"/>
                  </a:lnTo>
                  <a:lnTo>
                    <a:pt x="9092878" y="2965361"/>
                  </a:lnTo>
                  <a:lnTo>
                    <a:pt x="9062560" y="2998366"/>
                  </a:lnTo>
                  <a:lnTo>
                    <a:pt x="9029555" y="3028684"/>
                  </a:lnTo>
                  <a:lnTo>
                    <a:pt x="8994050" y="3056130"/>
                  </a:lnTo>
                  <a:lnTo>
                    <a:pt x="8956228" y="3080518"/>
                  </a:lnTo>
                  <a:lnTo>
                    <a:pt x="8916276" y="3101663"/>
                  </a:lnTo>
                  <a:lnTo>
                    <a:pt x="8874379" y="3119379"/>
                  </a:lnTo>
                  <a:lnTo>
                    <a:pt x="8830723" y="3133482"/>
                  </a:lnTo>
                  <a:lnTo>
                    <a:pt x="8785493" y="3143784"/>
                  </a:lnTo>
                  <a:lnTo>
                    <a:pt x="8738875" y="3150102"/>
                  </a:lnTo>
                  <a:lnTo>
                    <a:pt x="8691053" y="3152249"/>
                  </a:lnTo>
                  <a:lnTo>
                    <a:pt x="525389" y="3152249"/>
                  </a:lnTo>
                  <a:lnTo>
                    <a:pt x="477568" y="3150102"/>
                  </a:lnTo>
                  <a:lnTo>
                    <a:pt x="430950" y="3143784"/>
                  </a:lnTo>
                  <a:lnTo>
                    <a:pt x="385720" y="3133482"/>
                  </a:lnTo>
                  <a:lnTo>
                    <a:pt x="342064" y="3119379"/>
                  </a:lnTo>
                  <a:lnTo>
                    <a:pt x="300167" y="3101663"/>
                  </a:lnTo>
                  <a:lnTo>
                    <a:pt x="260215" y="3080518"/>
                  </a:lnTo>
                  <a:lnTo>
                    <a:pt x="222393" y="3056130"/>
                  </a:lnTo>
                  <a:lnTo>
                    <a:pt x="186887" y="3028684"/>
                  </a:lnTo>
                  <a:lnTo>
                    <a:pt x="153883" y="2998366"/>
                  </a:lnTo>
                  <a:lnTo>
                    <a:pt x="123565" y="2965361"/>
                  </a:lnTo>
                  <a:lnTo>
                    <a:pt x="96119" y="2929855"/>
                  </a:lnTo>
                  <a:lnTo>
                    <a:pt x="71731" y="2892033"/>
                  </a:lnTo>
                  <a:lnTo>
                    <a:pt x="50586" y="2852081"/>
                  </a:lnTo>
                  <a:lnTo>
                    <a:pt x="32869" y="2810185"/>
                  </a:lnTo>
                  <a:lnTo>
                    <a:pt x="18767" y="2766528"/>
                  </a:lnTo>
                  <a:lnTo>
                    <a:pt x="8464" y="2721299"/>
                  </a:lnTo>
                  <a:lnTo>
                    <a:pt x="2147" y="2674680"/>
                  </a:lnTo>
                  <a:lnTo>
                    <a:pt x="0" y="2626859"/>
                  </a:lnTo>
                  <a:lnTo>
                    <a:pt x="0" y="525390"/>
                  </a:lnTo>
                  <a:close/>
                </a:path>
              </a:pathLst>
            </a:custGeom>
            <a:ln w="3047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968010" y="1410873"/>
              <a:ext cx="1285240" cy="669925"/>
            </a:xfrm>
            <a:custGeom>
              <a:avLst/>
              <a:gdLst/>
              <a:ahLst/>
              <a:cxnLst/>
              <a:rect l="l" t="t" r="r" b="b"/>
              <a:pathLst>
                <a:path w="1285239" h="669925">
                  <a:moveTo>
                    <a:pt x="1285049" y="0"/>
                  </a:moveTo>
                  <a:lnTo>
                    <a:pt x="0" y="0"/>
                  </a:lnTo>
                  <a:lnTo>
                    <a:pt x="0" y="669905"/>
                  </a:lnTo>
                  <a:lnTo>
                    <a:pt x="1285049" y="669905"/>
                  </a:lnTo>
                  <a:lnTo>
                    <a:pt x="1285049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68010" y="1410873"/>
              <a:ext cx="1285240" cy="669925"/>
            </a:xfrm>
            <a:custGeom>
              <a:avLst/>
              <a:gdLst/>
              <a:ahLst/>
              <a:cxnLst/>
              <a:rect l="l" t="t" r="r" b="b"/>
              <a:pathLst>
                <a:path w="1285239" h="669925">
                  <a:moveTo>
                    <a:pt x="0" y="0"/>
                  </a:moveTo>
                  <a:lnTo>
                    <a:pt x="1285050" y="0"/>
                  </a:lnTo>
                  <a:lnTo>
                    <a:pt x="1285050" y="669906"/>
                  </a:lnTo>
                  <a:lnTo>
                    <a:pt x="0" y="669906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004070" y="2562764"/>
              <a:ext cx="1219200" cy="546735"/>
            </a:xfrm>
            <a:custGeom>
              <a:avLst/>
              <a:gdLst/>
              <a:ahLst/>
              <a:cxnLst/>
              <a:rect l="l" t="t" r="r" b="b"/>
              <a:pathLst>
                <a:path w="1219200" h="546735">
                  <a:moveTo>
                    <a:pt x="609353" y="0"/>
                  </a:moveTo>
                  <a:lnTo>
                    <a:pt x="542957" y="1602"/>
                  </a:lnTo>
                  <a:lnTo>
                    <a:pt x="478632" y="6298"/>
                  </a:lnTo>
                  <a:lnTo>
                    <a:pt x="416750" y="13922"/>
                  </a:lnTo>
                  <a:lnTo>
                    <a:pt x="357682" y="24307"/>
                  </a:lnTo>
                  <a:lnTo>
                    <a:pt x="301800" y="37286"/>
                  </a:lnTo>
                  <a:lnTo>
                    <a:pt x="249477" y="52692"/>
                  </a:lnTo>
                  <a:lnTo>
                    <a:pt x="201082" y="70359"/>
                  </a:lnTo>
                  <a:lnTo>
                    <a:pt x="156989" y="90121"/>
                  </a:lnTo>
                  <a:lnTo>
                    <a:pt x="117569" y="111810"/>
                  </a:lnTo>
                  <a:lnTo>
                    <a:pt x="83194" y="135261"/>
                  </a:lnTo>
                  <a:lnTo>
                    <a:pt x="54235" y="160306"/>
                  </a:lnTo>
                  <a:lnTo>
                    <a:pt x="14054" y="214514"/>
                  </a:lnTo>
                  <a:lnTo>
                    <a:pt x="0" y="273100"/>
                  </a:lnTo>
                  <a:lnTo>
                    <a:pt x="3575" y="302858"/>
                  </a:lnTo>
                  <a:lnTo>
                    <a:pt x="31065" y="359421"/>
                  </a:lnTo>
                  <a:lnTo>
                    <a:pt x="83194" y="410939"/>
                  </a:lnTo>
                  <a:lnTo>
                    <a:pt x="117569" y="434390"/>
                  </a:lnTo>
                  <a:lnTo>
                    <a:pt x="156989" y="456079"/>
                  </a:lnTo>
                  <a:lnTo>
                    <a:pt x="201082" y="475841"/>
                  </a:lnTo>
                  <a:lnTo>
                    <a:pt x="249477" y="493508"/>
                  </a:lnTo>
                  <a:lnTo>
                    <a:pt x="301800" y="508915"/>
                  </a:lnTo>
                  <a:lnTo>
                    <a:pt x="357682" y="521894"/>
                  </a:lnTo>
                  <a:lnTo>
                    <a:pt x="416750" y="532278"/>
                  </a:lnTo>
                  <a:lnTo>
                    <a:pt x="478632" y="539902"/>
                  </a:lnTo>
                  <a:lnTo>
                    <a:pt x="542957" y="544599"/>
                  </a:lnTo>
                  <a:lnTo>
                    <a:pt x="609353" y="546201"/>
                  </a:lnTo>
                  <a:lnTo>
                    <a:pt x="675749" y="544599"/>
                  </a:lnTo>
                  <a:lnTo>
                    <a:pt x="740074" y="539902"/>
                  </a:lnTo>
                  <a:lnTo>
                    <a:pt x="801956" y="532278"/>
                  </a:lnTo>
                  <a:lnTo>
                    <a:pt x="861024" y="521894"/>
                  </a:lnTo>
                  <a:lnTo>
                    <a:pt x="916906" y="508915"/>
                  </a:lnTo>
                  <a:lnTo>
                    <a:pt x="969230" y="493508"/>
                  </a:lnTo>
                  <a:lnTo>
                    <a:pt x="1017625" y="475841"/>
                  </a:lnTo>
                  <a:lnTo>
                    <a:pt x="1061718" y="456079"/>
                  </a:lnTo>
                  <a:lnTo>
                    <a:pt x="1101138" y="434390"/>
                  </a:lnTo>
                  <a:lnTo>
                    <a:pt x="1135513" y="410939"/>
                  </a:lnTo>
                  <a:lnTo>
                    <a:pt x="1164472" y="385894"/>
                  </a:lnTo>
                  <a:lnTo>
                    <a:pt x="1204653" y="331687"/>
                  </a:lnTo>
                  <a:lnTo>
                    <a:pt x="1218708" y="273100"/>
                  </a:lnTo>
                  <a:lnTo>
                    <a:pt x="1215132" y="243343"/>
                  </a:lnTo>
                  <a:lnTo>
                    <a:pt x="1187643" y="186779"/>
                  </a:lnTo>
                  <a:lnTo>
                    <a:pt x="1135513" y="135261"/>
                  </a:lnTo>
                  <a:lnTo>
                    <a:pt x="1101138" y="111810"/>
                  </a:lnTo>
                  <a:lnTo>
                    <a:pt x="1061718" y="90121"/>
                  </a:lnTo>
                  <a:lnTo>
                    <a:pt x="1017625" y="70359"/>
                  </a:lnTo>
                  <a:lnTo>
                    <a:pt x="969230" y="52692"/>
                  </a:lnTo>
                  <a:lnTo>
                    <a:pt x="916906" y="37286"/>
                  </a:lnTo>
                  <a:lnTo>
                    <a:pt x="861024" y="24307"/>
                  </a:lnTo>
                  <a:lnTo>
                    <a:pt x="801956" y="13922"/>
                  </a:lnTo>
                  <a:lnTo>
                    <a:pt x="740074" y="6298"/>
                  </a:lnTo>
                  <a:lnTo>
                    <a:pt x="675749" y="1602"/>
                  </a:lnTo>
                  <a:lnTo>
                    <a:pt x="609353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04070" y="2562764"/>
              <a:ext cx="1219200" cy="546735"/>
            </a:xfrm>
            <a:custGeom>
              <a:avLst/>
              <a:gdLst/>
              <a:ahLst/>
              <a:cxnLst/>
              <a:rect l="l" t="t" r="r" b="b"/>
              <a:pathLst>
                <a:path w="1219200" h="546735">
                  <a:moveTo>
                    <a:pt x="0" y="273100"/>
                  </a:moveTo>
                  <a:lnTo>
                    <a:pt x="14054" y="214514"/>
                  </a:lnTo>
                  <a:lnTo>
                    <a:pt x="54235" y="160306"/>
                  </a:lnTo>
                  <a:lnTo>
                    <a:pt x="83194" y="135261"/>
                  </a:lnTo>
                  <a:lnTo>
                    <a:pt x="117570" y="111810"/>
                  </a:lnTo>
                  <a:lnTo>
                    <a:pt x="156990" y="90121"/>
                  </a:lnTo>
                  <a:lnTo>
                    <a:pt x="201083" y="70359"/>
                  </a:lnTo>
                  <a:lnTo>
                    <a:pt x="249477" y="52692"/>
                  </a:lnTo>
                  <a:lnTo>
                    <a:pt x="301801" y="37286"/>
                  </a:lnTo>
                  <a:lnTo>
                    <a:pt x="357683" y="24307"/>
                  </a:lnTo>
                  <a:lnTo>
                    <a:pt x="416751" y="13922"/>
                  </a:lnTo>
                  <a:lnTo>
                    <a:pt x="478633" y="6299"/>
                  </a:lnTo>
                  <a:lnTo>
                    <a:pt x="542958" y="1602"/>
                  </a:lnTo>
                  <a:lnTo>
                    <a:pt x="609354" y="0"/>
                  </a:lnTo>
                  <a:lnTo>
                    <a:pt x="675749" y="1602"/>
                  </a:lnTo>
                  <a:lnTo>
                    <a:pt x="740074" y="6299"/>
                  </a:lnTo>
                  <a:lnTo>
                    <a:pt x="801957" y="13922"/>
                  </a:lnTo>
                  <a:lnTo>
                    <a:pt x="861025" y="24307"/>
                  </a:lnTo>
                  <a:lnTo>
                    <a:pt x="916906" y="37286"/>
                  </a:lnTo>
                  <a:lnTo>
                    <a:pt x="969230" y="52692"/>
                  </a:lnTo>
                  <a:lnTo>
                    <a:pt x="1017625" y="70359"/>
                  </a:lnTo>
                  <a:lnTo>
                    <a:pt x="1061718" y="90121"/>
                  </a:lnTo>
                  <a:lnTo>
                    <a:pt x="1101138" y="111810"/>
                  </a:lnTo>
                  <a:lnTo>
                    <a:pt x="1135513" y="135261"/>
                  </a:lnTo>
                  <a:lnTo>
                    <a:pt x="1164472" y="160306"/>
                  </a:lnTo>
                  <a:lnTo>
                    <a:pt x="1204653" y="214514"/>
                  </a:lnTo>
                  <a:lnTo>
                    <a:pt x="1218708" y="273100"/>
                  </a:lnTo>
                  <a:lnTo>
                    <a:pt x="1215132" y="302858"/>
                  </a:lnTo>
                  <a:lnTo>
                    <a:pt x="1187642" y="359421"/>
                  </a:lnTo>
                  <a:lnTo>
                    <a:pt x="1135513" y="410940"/>
                  </a:lnTo>
                  <a:lnTo>
                    <a:pt x="1101138" y="434390"/>
                  </a:lnTo>
                  <a:lnTo>
                    <a:pt x="1061718" y="456080"/>
                  </a:lnTo>
                  <a:lnTo>
                    <a:pt x="1017625" y="475841"/>
                  </a:lnTo>
                  <a:lnTo>
                    <a:pt x="969230" y="493508"/>
                  </a:lnTo>
                  <a:lnTo>
                    <a:pt x="916906" y="508915"/>
                  </a:lnTo>
                  <a:lnTo>
                    <a:pt x="861025" y="521894"/>
                  </a:lnTo>
                  <a:lnTo>
                    <a:pt x="801957" y="532278"/>
                  </a:lnTo>
                  <a:lnTo>
                    <a:pt x="740074" y="539902"/>
                  </a:lnTo>
                  <a:lnTo>
                    <a:pt x="675749" y="544599"/>
                  </a:lnTo>
                  <a:lnTo>
                    <a:pt x="609354" y="546201"/>
                  </a:lnTo>
                  <a:lnTo>
                    <a:pt x="542958" y="544599"/>
                  </a:lnTo>
                  <a:lnTo>
                    <a:pt x="478633" y="539902"/>
                  </a:lnTo>
                  <a:lnTo>
                    <a:pt x="416751" y="532278"/>
                  </a:lnTo>
                  <a:lnTo>
                    <a:pt x="357683" y="521894"/>
                  </a:lnTo>
                  <a:lnTo>
                    <a:pt x="301801" y="508915"/>
                  </a:lnTo>
                  <a:lnTo>
                    <a:pt x="249477" y="493508"/>
                  </a:lnTo>
                  <a:lnTo>
                    <a:pt x="201083" y="475841"/>
                  </a:lnTo>
                  <a:lnTo>
                    <a:pt x="156990" y="456080"/>
                  </a:lnTo>
                  <a:lnTo>
                    <a:pt x="117570" y="434390"/>
                  </a:lnTo>
                  <a:lnTo>
                    <a:pt x="83194" y="410940"/>
                  </a:lnTo>
                  <a:lnTo>
                    <a:pt x="54235" y="385894"/>
                  </a:lnTo>
                  <a:lnTo>
                    <a:pt x="14054" y="331687"/>
                  </a:lnTo>
                  <a:lnTo>
                    <a:pt x="0" y="27310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774759" y="3539191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7"/>
                  </a:lnTo>
                  <a:lnTo>
                    <a:pt x="838809" y="678534"/>
                  </a:lnTo>
                  <a:lnTo>
                    <a:pt x="1677619" y="339267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774759" y="3539191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765386" y="319023"/>
            <a:ext cx="854456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0">
                <a:solidFill>
                  <a:srgbClr val="292934"/>
                </a:solidFill>
              </a:rPr>
              <a:t>E-</a:t>
            </a:r>
            <a:r>
              <a:rPr dirty="0">
                <a:solidFill>
                  <a:srgbClr val="292934"/>
                </a:solidFill>
              </a:rPr>
              <a:t>R</a:t>
            </a:r>
            <a:r>
              <a:rPr spc="-215" dirty="0">
                <a:solidFill>
                  <a:srgbClr val="292934"/>
                </a:solidFill>
              </a:rPr>
              <a:t> </a:t>
            </a:r>
            <a:r>
              <a:rPr spc="-140" dirty="0">
                <a:solidFill>
                  <a:srgbClr val="292934"/>
                </a:solidFill>
              </a:rPr>
              <a:t>Diagram:</a:t>
            </a:r>
            <a:r>
              <a:rPr spc="-195" dirty="0">
                <a:solidFill>
                  <a:srgbClr val="292934"/>
                </a:solidFill>
              </a:rPr>
              <a:t> </a:t>
            </a:r>
            <a:r>
              <a:rPr spc="-135" dirty="0">
                <a:solidFill>
                  <a:srgbClr val="292934"/>
                </a:solidFill>
              </a:rPr>
              <a:t>Building</a:t>
            </a:r>
            <a:r>
              <a:rPr spc="-204" dirty="0">
                <a:solidFill>
                  <a:srgbClr val="292934"/>
                </a:solidFill>
              </a:rPr>
              <a:t> </a:t>
            </a:r>
            <a:r>
              <a:rPr spc="-55" dirty="0">
                <a:solidFill>
                  <a:srgbClr val="292934"/>
                </a:solidFill>
              </a:rPr>
              <a:t>Blocks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5057764" y="5763002"/>
            <a:ext cx="1102360" cy="678180"/>
            <a:chOff x="5057764" y="5763002"/>
            <a:chExt cx="1102360" cy="678180"/>
          </a:xfrm>
        </p:grpSpPr>
        <p:sp>
          <p:nvSpPr>
            <p:cNvPr id="13" name="object 13"/>
            <p:cNvSpPr/>
            <p:nvPr/>
          </p:nvSpPr>
          <p:spPr>
            <a:xfrm>
              <a:off x="5064537" y="5769776"/>
              <a:ext cx="1089025" cy="664845"/>
            </a:xfrm>
            <a:custGeom>
              <a:avLst/>
              <a:gdLst/>
              <a:ahLst/>
              <a:cxnLst/>
              <a:rect l="l" t="t" r="r" b="b"/>
              <a:pathLst>
                <a:path w="1089025" h="664845">
                  <a:moveTo>
                    <a:pt x="544222" y="0"/>
                  </a:moveTo>
                  <a:lnTo>
                    <a:pt x="0" y="664375"/>
                  </a:lnTo>
                  <a:lnTo>
                    <a:pt x="1088445" y="664375"/>
                  </a:lnTo>
                  <a:lnTo>
                    <a:pt x="544222" y="0"/>
                  </a:lnTo>
                  <a:close/>
                </a:path>
              </a:pathLst>
            </a:custGeom>
            <a:solidFill>
              <a:srgbClr val="FFD5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064537" y="5769776"/>
              <a:ext cx="1089025" cy="664845"/>
            </a:xfrm>
            <a:custGeom>
              <a:avLst/>
              <a:gdLst/>
              <a:ahLst/>
              <a:cxnLst/>
              <a:rect l="l" t="t" r="r" b="b"/>
              <a:pathLst>
                <a:path w="1089025" h="664845">
                  <a:moveTo>
                    <a:pt x="0" y="664375"/>
                  </a:moveTo>
                  <a:lnTo>
                    <a:pt x="544222" y="0"/>
                  </a:lnTo>
                  <a:lnTo>
                    <a:pt x="1088444" y="664375"/>
                  </a:lnTo>
                  <a:lnTo>
                    <a:pt x="0" y="664375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4875693" y="4534611"/>
            <a:ext cx="4643755" cy="888365"/>
            <a:chOff x="4875693" y="4534611"/>
            <a:chExt cx="4643755" cy="888365"/>
          </a:xfrm>
        </p:grpSpPr>
        <p:sp>
          <p:nvSpPr>
            <p:cNvPr id="16" name="object 16"/>
            <p:cNvSpPr/>
            <p:nvPr/>
          </p:nvSpPr>
          <p:spPr>
            <a:xfrm>
              <a:off x="4880773" y="4576178"/>
              <a:ext cx="1463040" cy="838835"/>
            </a:xfrm>
            <a:custGeom>
              <a:avLst/>
              <a:gdLst/>
              <a:ahLst/>
              <a:cxnLst/>
              <a:rect l="l" t="t" r="r" b="b"/>
              <a:pathLst>
                <a:path w="1463039" h="838835">
                  <a:moveTo>
                    <a:pt x="0" y="0"/>
                  </a:moveTo>
                  <a:lnTo>
                    <a:pt x="1463039" y="0"/>
                  </a:lnTo>
                  <a:lnTo>
                    <a:pt x="1463039" y="838809"/>
                  </a:lnTo>
                  <a:lnTo>
                    <a:pt x="0" y="838809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968010" y="4660992"/>
              <a:ext cx="1285240" cy="669925"/>
            </a:xfrm>
            <a:custGeom>
              <a:avLst/>
              <a:gdLst/>
              <a:ahLst/>
              <a:cxnLst/>
              <a:rect l="l" t="t" r="r" b="b"/>
              <a:pathLst>
                <a:path w="1285239" h="669925">
                  <a:moveTo>
                    <a:pt x="1285049" y="0"/>
                  </a:moveTo>
                  <a:lnTo>
                    <a:pt x="0" y="0"/>
                  </a:lnTo>
                  <a:lnTo>
                    <a:pt x="0" y="669905"/>
                  </a:lnTo>
                  <a:lnTo>
                    <a:pt x="1285049" y="669905"/>
                  </a:lnTo>
                  <a:lnTo>
                    <a:pt x="1285049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968010" y="4660992"/>
              <a:ext cx="1285240" cy="669925"/>
            </a:xfrm>
            <a:custGeom>
              <a:avLst/>
              <a:gdLst/>
              <a:ahLst/>
              <a:cxnLst/>
              <a:rect l="l" t="t" r="r" b="b"/>
              <a:pathLst>
                <a:path w="1285239" h="669925">
                  <a:moveTo>
                    <a:pt x="0" y="0"/>
                  </a:moveTo>
                  <a:lnTo>
                    <a:pt x="1285050" y="0"/>
                  </a:lnTo>
                  <a:lnTo>
                    <a:pt x="1285050" y="669906"/>
                  </a:lnTo>
                  <a:lnTo>
                    <a:pt x="0" y="669906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851288" y="4539691"/>
              <a:ext cx="2157095" cy="878205"/>
            </a:xfrm>
            <a:custGeom>
              <a:avLst/>
              <a:gdLst/>
              <a:ahLst/>
              <a:cxnLst/>
              <a:rect l="l" t="t" r="r" b="b"/>
              <a:pathLst>
                <a:path w="2157095" h="878204">
                  <a:moveTo>
                    <a:pt x="0" y="438911"/>
                  </a:moveTo>
                  <a:lnTo>
                    <a:pt x="1078470" y="0"/>
                  </a:lnTo>
                  <a:lnTo>
                    <a:pt x="2156939" y="438911"/>
                  </a:lnTo>
                  <a:lnTo>
                    <a:pt x="1078470" y="877823"/>
                  </a:lnTo>
                  <a:lnTo>
                    <a:pt x="0" y="438911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091593" y="4640409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6"/>
                  </a:lnTo>
                  <a:lnTo>
                    <a:pt x="838809" y="678533"/>
                  </a:lnTo>
                  <a:lnTo>
                    <a:pt x="1677619" y="339266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091593" y="4640409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43813" y="4978602"/>
              <a:ext cx="508000" cy="17145"/>
            </a:xfrm>
            <a:custGeom>
              <a:avLst/>
              <a:gdLst/>
              <a:ahLst/>
              <a:cxnLst/>
              <a:rect l="l" t="t" r="r" b="b"/>
              <a:pathLst>
                <a:path w="508000" h="17145">
                  <a:moveTo>
                    <a:pt x="0" y="16980"/>
                  </a:moveTo>
                  <a:lnTo>
                    <a:pt x="507474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008228" y="4925388"/>
              <a:ext cx="511809" cy="106680"/>
            </a:xfrm>
            <a:custGeom>
              <a:avLst/>
              <a:gdLst/>
              <a:ahLst/>
              <a:cxnLst/>
              <a:rect l="l" t="t" r="r" b="b"/>
              <a:pathLst>
                <a:path w="511809" h="106679">
                  <a:moveTo>
                    <a:pt x="419963" y="0"/>
                  </a:moveTo>
                  <a:lnTo>
                    <a:pt x="416853" y="819"/>
                  </a:lnTo>
                  <a:lnTo>
                    <a:pt x="414026" y="5665"/>
                  </a:lnTo>
                  <a:lnTo>
                    <a:pt x="414844" y="8775"/>
                  </a:lnTo>
                  <a:lnTo>
                    <a:pt x="482318" y="48135"/>
                  </a:lnTo>
                  <a:lnTo>
                    <a:pt x="501107" y="48135"/>
                  </a:lnTo>
                  <a:lnTo>
                    <a:pt x="501107" y="58295"/>
                  </a:lnTo>
                  <a:lnTo>
                    <a:pt x="482317" y="58295"/>
                  </a:lnTo>
                  <a:lnTo>
                    <a:pt x="414844" y="97654"/>
                  </a:lnTo>
                  <a:lnTo>
                    <a:pt x="414026" y="100764"/>
                  </a:lnTo>
                  <a:lnTo>
                    <a:pt x="416853" y="105611"/>
                  </a:lnTo>
                  <a:lnTo>
                    <a:pt x="419963" y="106429"/>
                  </a:lnTo>
                  <a:lnTo>
                    <a:pt x="502481" y="58295"/>
                  </a:lnTo>
                  <a:lnTo>
                    <a:pt x="501107" y="58295"/>
                  </a:lnTo>
                  <a:lnTo>
                    <a:pt x="502483" y="58294"/>
                  </a:lnTo>
                  <a:lnTo>
                    <a:pt x="511190" y="53215"/>
                  </a:lnTo>
                  <a:lnTo>
                    <a:pt x="419963" y="0"/>
                  </a:lnTo>
                  <a:close/>
                </a:path>
                <a:path w="511809" h="106679">
                  <a:moveTo>
                    <a:pt x="491026" y="53215"/>
                  </a:moveTo>
                  <a:lnTo>
                    <a:pt x="482317" y="58295"/>
                  </a:lnTo>
                  <a:lnTo>
                    <a:pt x="501107" y="58295"/>
                  </a:lnTo>
                  <a:lnTo>
                    <a:pt x="501107" y="57603"/>
                  </a:lnTo>
                  <a:lnTo>
                    <a:pt x="498548" y="57603"/>
                  </a:lnTo>
                  <a:lnTo>
                    <a:pt x="491026" y="53215"/>
                  </a:lnTo>
                  <a:close/>
                </a:path>
                <a:path w="511809" h="106679">
                  <a:moveTo>
                    <a:pt x="0" y="48134"/>
                  </a:moveTo>
                  <a:lnTo>
                    <a:pt x="0" y="58294"/>
                  </a:lnTo>
                  <a:lnTo>
                    <a:pt x="482319" y="58294"/>
                  </a:lnTo>
                  <a:lnTo>
                    <a:pt x="491026" y="53215"/>
                  </a:lnTo>
                  <a:lnTo>
                    <a:pt x="482318" y="48135"/>
                  </a:lnTo>
                  <a:lnTo>
                    <a:pt x="0" y="48134"/>
                  </a:lnTo>
                  <a:close/>
                </a:path>
                <a:path w="511809" h="106679">
                  <a:moveTo>
                    <a:pt x="498548" y="48827"/>
                  </a:moveTo>
                  <a:lnTo>
                    <a:pt x="491026" y="53215"/>
                  </a:lnTo>
                  <a:lnTo>
                    <a:pt x="498548" y="57603"/>
                  </a:lnTo>
                  <a:lnTo>
                    <a:pt x="498548" y="48827"/>
                  </a:lnTo>
                  <a:close/>
                </a:path>
                <a:path w="511809" h="106679">
                  <a:moveTo>
                    <a:pt x="501107" y="48827"/>
                  </a:moveTo>
                  <a:lnTo>
                    <a:pt x="498548" y="48827"/>
                  </a:lnTo>
                  <a:lnTo>
                    <a:pt x="498548" y="57603"/>
                  </a:lnTo>
                  <a:lnTo>
                    <a:pt x="501107" y="57603"/>
                  </a:lnTo>
                  <a:lnTo>
                    <a:pt x="501107" y="48827"/>
                  </a:lnTo>
                  <a:close/>
                </a:path>
                <a:path w="511809" h="106679">
                  <a:moveTo>
                    <a:pt x="482318" y="48135"/>
                  </a:moveTo>
                  <a:lnTo>
                    <a:pt x="491026" y="53215"/>
                  </a:lnTo>
                  <a:lnTo>
                    <a:pt x="498548" y="48827"/>
                  </a:lnTo>
                  <a:lnTo>
                    <a:pt x="501107" y="48827"/>
                  </a:lnTo>
                  <a:lnTo>
                    <a:pt x="501107" y="48135"/>
                  </a:lnTo>
                  <a:lnTo>
                    <a:pt x="482318" y="48135"/>
                  </a:lnTo>
                  <a:close/>
                </a:path>
              </a:pathLst>
            </a:custGeom>
            <a:solidFill>
              <a:srgbClr val="3B3B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403602" y="6046216"/>
            <a:ext cx="40386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is </a:t>
            </a:r>
            <a:r>
              <a:rPr sz="1900" spc="-60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99043" y="1552447"/>
            <a:ext cx="2525395" cy="2390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(strong)</a:t>
            </a:r>
            <a:r>
              <a:rPr sz="21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2100" spc="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endParaRPr sz="2100">
              <a:latin typeface="Verdana"/>
              <a:cs typeface="Verdana"/>
            </a:endParaRPr>
          </a:p>
          <a:p>
            <a:pPr marL="12700" marR="855980">
              <a:lnSpc>
                <a:spcPct val="309500"/>
              </a:lnSpc>
              <a:spcBef>
                <a:spcPts val="505"/>
              </a:spcBef>
            </a:pP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Attribute Relationship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99043" y="4829047"/>
            <a:ext cx="163576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Weak</a:t>
            </a:r>
            <a:r>
              <a:rPr sz="21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99043" y="6036055"/>
            <a:ext cx="120713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Subclass</a:t>
            </a:r>
            <a:endParaRPr sz="2100">
              <a:latin typeface="Verdana"/>
              <a:cs typeface="Verdan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49249" y="2329732"/>
            <a:ext cx="9168765" cy="2056764"/>
            <a:chOff x="449249" y="2329732"/>
            <a:chExt cx="9168765" cy="2056764"/>
          </a:xfrm>
        </p:grpSpPr>
        <p:sp>
          <p:nvSpPr>
            <p:cNvPr id="29" name="object 29"/>
            <p:cNvSpPr/>
            <p:nvPr/>
          </p:nvSpPr>
          <p:spPr>
            <a:xfrm>
              <a:off x="449249" y="2334812"/>
              <a:ext cx="9168765" cy="0"/>
            </a:xfrm>
            <a:custGeom>
              <a:avLst/>
              <a:gdLst/>
              <a:ahLst/>
              <a:cxnLst/>
              <a:rect l="l" t="t" r="r" b="b"/>
              <a:pathLst>
                <a:path w="9168765">
                  <a:moveTo>
                    <a:pt x="0" y="0"/>
                  </a:moveTo>
                  <a:lnTo>
                    <a:pt x="9168383" y="1"/>
                  </a:lnTo>
                </a:path>
              </a:pathLst>
            </a:custGeom>
            <a:ln w="10159">
              <a:solidFill>
                <a:srgbClr val="93A2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49249" y="3317239"/>
              <a:ext cx="9168765" cy="0"/>
            </a:xfrm>
            <a:custGeom>
              <a:avLst/>
              <a:gdLst/>
              <a:ahLst/>
              <a:cxnLst/>
              <a:rect l="l" t="t" r="r" b="b"/>
              <a:pathLst>
                <a:path w="9168765">
                  <a:moveTo>
                    <a:pt x="0" y="0"/>
                  </a:moveTo>
                  <a:lnTo>
                    <a:pt x="9168383" y="1"/>
                  </a:lnTo>
                </a:path>
              </a:pathLst>
            </a:custGeom>
            <a:ln w="10159">
              <a:solidFill>
                <a:srgbClr val="93A2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49249" y="4380947"/>
              <a:ext cx="9168765" cy="0"/>
            </a:xfrm>
            <a:custGeom>
              <a:avLst/>
              <a:gdLst/>
              <a:ahLst/>
              <a:cxnLst/>
              <a:rect l="l" t="t" r="r" b="b"/>
              <a:pathLst>
                <a:path w="9168765">
                  <a:moveTo>
                    <a:pt x="0" y="0"/>
                  </a:moveTo>
                  <a:lnTo>
                    <a:pt x="9168383" y="1"/>
                  </a:lnTo>
                </a:path>
              </a:pathLst>
            </a:custGeom>
            <a:ln w="10159">
              <a:solidFill>
                <a:srgbClr val="93A2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/>
          <p:nvPr/>
        </p:nvSpPr>
        <p:spPr>
          <a:xfrm>
            <a:off x="449249" y="5617815"/>
            <a:ext cx="9168765" cy="0"/>
          </a:xfrm>
          <a:custGeom>
            <a:avLst/>
            <a:gdLst/>
            <a:ahLst/>
            <a:cxnLst/>
            <a:rect l="l" t="t" r="r" b="b"/>
            <a:pathLst>
              <a:path w="9168765">
                <a:moveTo>
                  <a:pt x="0" y="0"/>
                </a:moveTo>
                <a:lnTo>
                  <a:pt x="9168383" y="1"/>
                </a:lnTo>
              </a:path>
            </a:pathLst>
          </a:custGeom>
          <a:ln w="10159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362721" y="7009383"/>
            <a:ext cx="714629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Note:</a:t>
            </a:r>
            <a:r>
              <a:rPr sz="13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colors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3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part</a:t>
            </a:r>
            <a:r>
              <a:rPr sz="13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3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E-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Diagram.</a:t>
            </a:r>
            <a:r>
              <a:rPr sz="13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They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simply</a:t>
            </a:r>
            <a:r>
              <a:rPr sz="13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used</a:t>
            </a:r>
            <a:r>
              <a:rPr sz="13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increase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readability.</a:t>
            </a:r>
            <a:endParaRPr sz="1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79600" y="319023"/>
            <a:ext cx="631698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>
                <a:solidFill>
                  <a:srgbClr val="292934"/>
                </a:solidFill>
              </a:rPr>
              <a:t>Entity</a:t>
            </a:r>
            <a:r>
              <a:rPr spc="-245" dirty="0">
                <a:solidFill>
                  <a:srgbClr val="292934"/>
                </a:solidFill>
              </a:rPr>
              <a:t> </a:t>
            </a:r>
            <a:r>
              <a:rPr spc="-110" dirty="0">
                <a:solidFill>
                  <a:srgbClr val="292934"/>
                </a:solidFill>
              </a:rPr>
              <a:t>and</a:t>
            </a:r>
            <a:r>
              <a:rPr spc="-245" dirty="0">
                <a:solidFill>
                  <a:srgbClr val="292934"/>
                </a:solidFill>
              </a:rPr>
              <a:t> </a:t>
            </a:r>
            <a:r>
              <a:rPr spc="-120" dirty="0">
                <a:solidFill>
                  <a:srgbClr val="292934"/>
                </a:solidFill>
              </a:rPr>
              <a:t>Entity</a:t>
            </a:r>
            <a:r>
              <a:rPr spc="-240" dirty="0">
                <a:solidFill>
                  <a:srgbClr val="292934"/>
                </a:solidFill>
              </a:rPr>
              <a:t> </a:t>
            </a:r>
            <a:r>
              <a:rPr spc="-30" dirty="0">
                <a:solidFill>
                  <a:srgbClr val="292934"/>
                </a:solidFill>
              </a:rPr>
              <a:t>Sets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815" y="1069847"/>
            <a:ext cx="9149715" cy="1381760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205740" indent="-193040">
              <a:lnSpc>
                <a:spcPct val="100000"/>
              </a:lnSpc>
              <a:spcBef>
                <a:spcPts val="1225"/>
              </a:spcBef>
              <a:buClr>
                <a:srgbClr val="292934"/>
              </a:buClr>
              <a:buSzPct val="86956"/>
              <a:buFont typeface="Arial MT"/>
              <a:buChar char="•"/>
              <a:tabLst>
                <a:tab pos="205740" algn="l"/>
              </a:tabLst>
            </a:pPr>
            <a:r>
              <a:rPr sz="2300" b="1" dirty="0">
                <a:solidFill>
                  <a:srgbClr val="C00000"/>
                </a:solidFill>
                <a:latin typeface="Verdana"/>
                <a:cs typeface="Verdana"/>
              </a:rPr>
              <a:t>Entity</a:t>
            </a:r>
            <a:r>
              <a:rPr sz="2300" b="1" spc="8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~an</a:t>
            </a:r>
            <a:r>
              <a:rPr sz="23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object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(thing</a:t>
            </a:r>
            <a:r>
              <a:rPr sz="23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3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keep</a:t>
            </a:r>
            <a:r>
              <a:rPr sz="23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track</a:t>
            </a:r>
            <a:r>
              <a:rPr sz="23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3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run</a:t>
            </a:r>
            <a:r>
              <a:rPr sz="23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10" dirty="0">
                <a:solidFill>
                  <a:srgbClr val="292934"/>
                </a:solidFill>
                <a:latin typeface="Verdana"/>
                <a:cs typeface="Verdana"/>
              </a:rPr>
              <a:t>business)</a:t>
            </a:r>
            <a:endParaRPr sz="2300">
              <a:latin typeface="Verdana"/>
              <a:cs typeface="Verdana"/>
            </a:endParaRPr>
          </a:p>
          <a:p>
            <a:pPr marL="205104" marR="467359" indent="-193040">
              <a:lnSpc>
                <a:spcPct val="105200"/>
              </a:lnSpc>
              <a:spcBef>
                <a:spcPts val="985"/>
              </a:spcBef>
              <a:buClr>
                <a:srgbClr val="292934"/>
              </a:buClr>
              <a:buSzPct val="86956"/>
              <a:buFont typeface="Arial MT"/>
              <a:buChar char="•"/>
              <a:tabLst>
                <a:tab pos="207645" algn="l"/>
              </a:tabLst>
            </a:pPr>
            <a:r>
              <a:rPr sz="2300" b="1" dirty="0">
                <a:solidFill>
                  <a:srgbClr val="C00000"/>
                </a:solidFill>
                <a:latin typeface="Verdana"/>
                <a:cs typeface="Verdana"/>
              </a:rPr>
              <a:t>Entity</a:t>
            </a:r>
            <a:r>
              <a:rPr sz="2300" b="1" spc="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C00000"/>
                </a:solidFill>
                <a:latin typeface="Verdana"/>
                <a:cs typeface="Verdana"/>
              </a:rPr>
              <a:t>set</a:t>
            </a:r>
            <a:r>
              <a:rPr sz="2300" b="1" spc="8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~a</a:t>
            </a:r>
            <a:r>
              <a:rPr sz="2300" spc="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class</a:t>
            </a:r>
            <a:r>
              <a:rPr sz="23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(~table,</a:t>
            </a:r>
            <a:r>
              <a:rPr sz="23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300" spc="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collection</a:t>
            </a:r>
            <a:r>
              <a:rPr sz="23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3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things</a:t>
            </a:r>
            <a:r>
              <a:rPr sz="23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3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25" dirty="0">
                <a:solidFill>
                  <a:srgbClr val="292934"/>
                </a:solidFill>
                <a:latin typeface="Verdana"/>
                <a:cs typeface="Verdana"/>
              </a:rPr>
              <a:t>the 	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same</a:t>
            </a:r>
            <a:r>
              <a:rPr sz="23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10" dirty="0">
                <a:solidFill>
                  <a:srgbClr val="292934"/>
                </a:solidFill>
                <a:latin typeface="Verdana"/>
                <a:cs typeface="Verdana"/>
              </a:rPr>
              <a:t>kind)</a:t>
            </a:r>
            <a:endParaRPr sz="23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31841" y="3709618"/>
            <a:ext cx="3096260" cy="1877695"/>
            <a:chOff x="931841" y="3709618"/>
            <a:chExt cx="3096260" cy="18776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000" y="3719778"/>
              <a:ext cx="3075585" cy="185690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36921" y="3714698"/>
              <a:ext cx="3086100" cy="1867535"/>
            </a:xfrm>
            <a:custGeom>
              <a:avLst/>
              <a:gdLst/>
              <a:ahLst/>
              <a:cxnLst/>
              <a:rect l="l" t="t" r="r" b="b"/>
              <a:pathLst>
                <a:path w="3086100" h="1867535">
                  <a:moveTo>
                    <a:pt x="0" y="0"/>
                  </a:moveTo>
                  <a:lnTo>
                    <a:pt x="3085745" y="0"/>
                  </a:lnTo>
                  <a:lnTo>
                    <a:pt x="3085745" y="1867063"/>
                  </a:lnTo>
                  <a:lnTo>
                    <a:pt x="0" y="1867063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0000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406005" y="6046229"/>
            <a:ext cx="1299845" cy="565785"/>
            <a:chOff x="406005" y="6046229"/>
            <a:chExt cx="1299845" cy="565785"/>
          </a:xfrm>
        </p:grpSpPr>
        <p:sp>
          <p:nvSpPr>
            <p:cNvPr id="8" name="object 8"/>
            <p:cNvSpPr/>
            <p:nvPr/>
          </p:nvSpPr>
          <p:spPr>
            <a:xfrm>
              <a:off x="411085" y="6051309"/>
              <a:ext cx="1289685" cy="555625"/>
            </a:xfrm>
            <a:custGeom>
              <a:avLst/>
              <a:gdLst/>
              <a:ahLst/>
              <a:cxnLst/>
              <a:rect l="l" t="t" r="r" b="b"/>
              <a:pathLst>
                <a:path w="1289685" h="555625">
                  <a:moveTo>
                    <a:pt x="1289312" y="0"/>
                  </a:moveTo>
                  <a:lnTo>
                    <a:pt x="0" y="0"/>
                  </a:lnTo>
                  <a:lnTo>
                    <a:pt x="0" y="555320"/>
                  </a:lnTo>
                  <a:lnTo>
                    <a:pt x="1289312" y="555320"/>
                  </a:lnTo>
                  <a:lnTo>
                    <a:pt x="1289312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11085" y="6051309"/>
              <a:ext cx="1289685" cy="555625"/>
            </a:xfrm>
            <a:custGeom>
              <a:avLst/>
              <a:gdLst/>
              <a:ahLst/>
              <a:cxnLst/>
              <a:rect l="l" t="t" r="r" b="b"/>
              <a:pathLst>
                <a:path w="1289685" h="555625">
                  <a:moveTo>
                    <a:pt x="0" y="0"/>
                  </a:moveTo>
                  <a:lnTo>
                    <a:pt x="1289311" y="0"/>
                  </a:lnTo>
                  <a:lnTo>
                    <a:pt x="1289311" y="555320"/>
                  </a:lnTo>
                  <a:lnTo>
                    <a:pt x="0" y="555320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94214" y="6184391"/>
            <a:ext cx="72326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Course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376602" y="5674781"/>
            <a:ext cx="1299845" cy="565785"/>
            <a:chOff x="1376602" y="5674781"/>
            <a:chExt cx="1299845" cy="565785"/>
          </a:xfrm>
        </p:grpSpPr>
        <p:sp>
          <p:nvSpPr>
            <p:cNvPr id="12" name="object 12"/>
            <p:cNvSpPr/>
            <p:nvPr/>
          </p:nvSpPr>
          <p:spPr>
            <a:xfrm>
              <a:off x="1381682" y="5679861"/>
              <a:ext cx="1289685" cy="555625"/>
            </a:xfrm>
            <a:custGeom>
              <a:avLst/>
              <a:gdLst/>
              <a:ahLst/>
              <a:cxnLst/>
              <a:rect l="l" t="t" r="r" b="b"/>
              <a:pathLst>
                <a:path w="1289685" h="555625">
                  <a:moveTo>
                    <a:pt x="1289311" y="0"/>
                  </a:moveTo>
                  <a:lnTo>
                    <a:pt x="0" y="0"/>
                  </a:lnTo>
                  <a:lnTo>
                    <a:pt x="0" y="555321"/>
                  </a:lnTo>
                  <a:lnTo>
                    <a:pt x="1289311" y="555321"/>
                  </a:lnTo>
                  <a:lnTo>
                    <a:pt x="1289311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381682" y="5679861"/>
              <a:ext cx="1289685" cy="555625"/>
            </a:xfrm>
            <a:custGeom>
              <a:avLst/>
              <a:gdLst/>
              <a:ahLst/>
              <a:cxnLst/>
              <a:rect l="l" t="t" r="r" b="b"/>
              <a:pathLst>
                <a:path w="1289685" h="555625">
                  <a:moveTo>
                    <a:pt x="0" y="0"/>
                  </a:moveTo>
                  <a:lnTo>
                    <a:pt x="1289311" y="0"/>
                  </a:lnTo>
                  <a:lnTo>
                    <a:pt x="1289311" y="555320"/>
                  </a:lnTo>
                  <a:lnTo>
                    <a:pt x="0" y="555320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640258" y="5815584"/>
            <a:ext cx="77152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Student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338857" y="6099428"/>
            <a:ext cx="1299845" cy="565785"/>
            <a:chOff x="2338857" y="6099428"/>
            <a:chExt cx="1299845" cy="565785"/>
          </a:xfrm>
        </p:grpSpPr>
        <p:sp>
          <p:nvSpPr>
            <p:cNvPr id="16" name="object 16"/>
            <p:cNvSpPr/>
            <p:nvPr/>
          </p:nvSpPr>
          <p:spPr>
            <a:xfrm>
              <a:off x="2343937" y="6104508"/>
              <a:ext cx="1289685" cy="555625"/>
            </a:xfrm>
            <a:custGeom>
              <a:avLst/>
              <a:gdLst/>
              <a:ahLst/>
              <a:cxnLst/>
              <a:rect l="l" t="t" r="r" b="b"/>
              <a:pathLst>
                <a:path w="1289685" h="555625">
                  <a:moveTo>
                    <a:pt x="1289312" y="0"/>
                  </a:moveTo>
                  <a:lnTo>
                    <a:pt x="0" y="0"/>
                  </a:lnTo>
                  <a:lnTo>
                    <a:pt x="0" y="555320"/>
                  </a:lnTo>
                  <a:lnTo>
                    <a:pt x="1289312" y="555320"/>
                  </a:lnTo>
                  <a:lnTo>
                    <a:pt x="1289312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343937" y="6104508"/>
              <a:ext cx="1289685" cy="555625"/>
            </a:xfrm>
            <a:custGeom>
              <a:avLst/>
              <a:gdLst/>
              <a:ahLst/>
              <a:cxnLst/>
              <a:rect l="l" t="t" r="r" b="b"/>
              <a:pathLst>
                <a:path w="1289685" h="555625">
                  <a:moveTo>
                    <a:pt x="0" y="0"/>
                  </a:moveTo>
                  <a:lnTo>
                    <a:pt x="1289311" y="0"/>
                  </a:lnTo>
                  <a:lnTo>
                    <a:pt x="1289311" y="555320"/>
                  </a:lnTo>
                  <a:lnTo>
                    <a:pt x="0" y="555320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627067" y="6239255"/>
            <a:ext cx="72326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Faculty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128751" y="5656341"/>
            <a:ext cx="1299845" cy="565785"/>
            <a:chOff x="3128751" y="5656341"/>
            <a:chExt cx="1299845" cy="565785"/>
          </a:xfrm>
        </p:grpSpPr>
        <p:sp>
          <p:nvSpPr>
            <p:cNvPr id="20" name="object 20"/>
            <p:cNvSpPr/>
            <p:nvPr/>
          </p:nvSpPr>
          <p:spPr>
            <a:xfrm>
              <a:off x="3133831" y="5661421"/>
              <a:ext cx="1289685" cy="555625"/>
            </a:xfrm>
            <a:custGeom>
              <a:avLst/>
              <a:gdLst/>
              <a:ahLst/>
              <a:cxnLst/>
              <a:rect l="l" t="t" r="r" b="b"/>
              <a:pathLst>
                <a:path w="1289685" h="555625">
                  <a:moveTo>
                    <a:pt x="1289311" y="0"/>
                  </a:moveTo>
                  <a:lnTo>
                    <a:pt x="0" y="0"/>
                  </a:lnTo>
                  <a:lnTo>
                    <a:pt x="0" y="555320"/>
                  </a:lnTo>
                  <a:lnTo>
                    <a:pt x="1289311" y="555320"/>
                  </a:lnTo>
                  <a:lnTo>
                    <a:pt x="1289311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133831" y="5661421"/>
              <a:ext cx="1289685" cy="555625"/>
            </a:xfrm>
            <a:custGeom>
              <a:avLst/>
              <a:gdLst/>
              <a:ahLst/>
              <a:cxnLst/>
              <a:rect l="l" t="t" r="r" b="b"/>
              <a:pathLst>
                <a:path w="1289685" h="555625">
                  <a:moveTo>
                    <a:pt x="0" y="0"/>
                  </a:moveTo>
                  <a:lnTo>
                    <a:pt x="1289311" y="0"/>
                  </a:lnTo>
                  <a:lnTo>
                    <a:pt x="1289311" y="555320"/>
                  </a:lnTo>
                  <a:lnTo>
                    <a:pt x="0" y="555320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382247" y="5794248"/>
            <a:ext cx="79248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Building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33437" y="3252215"/>
            <a:ext cx="239204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Some</a:t>
            </a:r>
            <a:r>
              <a:rPr sz="23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23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2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111383" y="3252215"/>
            <a:ext cx="144653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-10" dirty="0">
                <a:solidFill>
                  <a:srgbClr val="292934"/>
                </a:solidFill>
                <a:latin typeface="Verdana"/>
                <a:cs typeface="Verdana"/>
              </a:rPr>
              <a:t>examples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15464" y="3041787"/>
            <a:ext cx="9440545" cy="0"/>
          </a:xfrm>
          <a:custGeom>
            <a:avLst/>
            <a:gdLst/>
            <a:ahLst/>
            <a:cxnLst/>
            <a:rect l="l" t="t" r="r" b="b"/>
            <a:pathLst>
              <a:path w="9440545">
                <a:moveTo>
                  <a:pt x="0" y="0"/>
                </a:moveTo>
                <a:lnTo>
                  <a:pt x="9440479" y="1"/>
                </a:lnTo>
              </a:path>
            </a:pathLst>
          </a:custGeom>
          <a:ln w="10159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6" name="object 26"/>
          <p:cNvGrpSpPr/>
          <p:nvPr/>
        </p:nvGrpSpPr>
        <p:grpSpPr>
          <a:xfrm>
            <a:off x="5206307" y="3468937"/>
            <a:ext cx="4044315" cy="3200400"/>
            <a:chOff x="5206307" y="3468937"/>
            <a:chExt cx="4044315" cy="3200400"/>
          </a:xfrm>
        </p:grpSpPr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48828" y="3468937"/>
              <a:ext cx="3901440" cy="247904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211387" y="6108679"/>
              <a:ext cx="1289685" cy="555625"/>
            </a:xfrm>
            <a:custGeom>
              <a:avLst/>
              <a:gdLst/>
              <a:ahLst/>
              <a:cxnLst/>
              <a:rect l="l" t="t" r="r" b="b"/>
              <a:pathLst>
                <a:path w="1289685" h="555625">
                  <a:moveTo>
                    <a:pt x="1289311" y="0"/>
                  </a:moveTo>
                  <a:lnTo>
                    <a:pt x="0" y="0"/>
                  </a:lnTo>
                  <a:lnTo>
                    <a:pt x="0" y="555320"/>
                  </a:lnTo>
                  <a:lnTo>
                    <a:pt x="1289311" y="555320"/>
                  </a:lnTo>
                  <a:lnTo>
                    <a:pt x="1289311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211387" y="6108679"/>
              <a:ext cx="1289685" cy="555625"/>
            </a:xfrm>
            <a:custGeom>
              <a:avLst/>
              <a:gdLst/>
              <a:ahLst/>
              <a:cxnLst/>
              <a:rect l="l" t="t" r="r" b="b"/>
              <a:pathLst>
                <a:path w="1289685" h="555625">
                  <a:moveTo>
                    <a:pt x="0" y="0"/>
                  </a:moveTo>
                  <a:lnTo>
                    <a:pt x="1289311" y="0"/>
                  </a:lnTo>
                  <a:lnTo>
                    <a:pt x="1289311" y="555320"/>
                  </a:lnTo>
                  <a:lnTo>
                    <a:pt x="0" y="555320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506370" y="6242303"/>
            <a:ext cx="6985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Patient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253401" y="5732152"/>
            <a:ext cx="1299845" cy="565785"/>
            <a:chOff x="6253401" y="5732152"/>
            <a:chExt cx="1299845" cy="565785"/>
          </a:xfrm>
        </p:grpSpPr>
        <p:sp>
          <p:nvSpPr>
            <p:cNvPr id="32" name="object 32"/>
            <p:cNvSpPr/>
            <p:nvPr/>
          </p:nvSpPr>
          <p:spPr>
            <a:xfrm>
              <a:off x="6258481" y="5737232"/>
              <a:ext cx="1289685" cy="555625"/>
            </a:xfrm>
            <a:custGeom>
              <a:avLst/>
              <a:gdLst/>
              <a:ahLst/>
              <a:cxnLst/>
              <a:rect l="l" t="t" r="r" b="b"/>
              <a:pathLst>
                <a:path w="1289684" h="555625">
                  <a:moveTo>
                    <a:pt x="1289311" y="0"/>
                  </a:moveTo>
                  <a:lnTo>
                    <a:pt x="0" y="0"/>
                  </a:lnTo>
                  <a:lnTo>
                    <a:pt x="0" y="555320"/>
                  </a:lnTo>
                  <a:lnTo>
                    <a:pt x="1289311" y="555320"/>
                  </a:lnTo>
                  <a:lnTo>
                    <a:pt x="1289311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258481" y="5737232"/>
              <a:ext cx="1289685" cy="555625"/>
            </a:xfrm>
            <a:custGeom>
              <a:avLst/>
              <a:gdLst/>
              <a:ahLst/>
              <a:cxnLst/>
              <a:rect l="l" t="t" r="r" b="b"/>
              <a:pathLst>
                <a:path w="1289684" h="555625">
                  <a:moveTo>
                    <a:pt x="0" y="0"/>
                  </a:moveTo>
                  <a:lnTo>
                    <a:pt x="1289311" y="0"/>
                  </a:lnTo>
                  <a:lnTo>
                    <a:pt x="1289311" y="555320"/>
                  </a:lnTo>
                  <a:lnTo>
                    <a:pt x="0" y="555320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571243" y="5870448"/>
            <a:ext cx="66294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Doctor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7234780" y="6156800"/>
            <a:ext cx="1299845" cy="565785"/>
            <a:chOff x="7234780" y="6156800"/>
            <a:chExt cx="1299845" cy="565785"/>
          </a:xfrm>
        </p:grpSpPr>
        <p:sp>
          <p:nvSpPr>
            <p:cNvPr id="36" name="object 36"/>
            <p:cNvSpPr/>
            <p:nvPr/>
          </p:nvSpPr>
          <p:spPr>
            <a:xfrm>
              <a:off x="7239860" y="6161880"/>
              <a:ext cx="1289685" cy="555625"/>
            </a:xfrm>
            <a:custGeom>
              <a:avLst/>
              <a:gdLst/>
              <a:ahLst/>
              <a:cxnLst/>
              <a:rect l="l" t="t" r="r" b="b"/>
              <a:pathLst>
                <a:path w="1289684" h="555625">
                  <a:moveTo>
                    <a:pt x="1289311" y="0"/>
                  </a:moveTo>
                  <a:lnTo>
                    <a:pt x="0" y="0"/>
                  </a:lnTo>
                  <a:lnTo>
                    <a:pt x="0" y="555320"/>
                  </a:lnTo>
                  <a:lnTo>
                    <a:pt x="1289311" y="555320"/>
                  </a:lnTo>
                  <a:lnTo>
                    <a:pt x="1289311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239860" y="6161880"/>
              <a:ext cx="1289685" cy="555625"/>
            </a:xfrm>
            <a:custGeom>
              <a:avLst/>
              <a:gdLst/>
              <a:ahLst/>
              <a:cxnLst/>
              <a:rect l="l" t="t" r="r" b="b"/>
              <a:pathLst>
                <a:path w="1289684" h="555625">
                  <a:moveTo>
                    <a:pt x="0" y="0"/>
                  </a:moveTo>
                  <a:lnTo>
                    <a:pt x="1289311" y="0"/>
                  </a:lnTo>
                  <a:lnTo>
                    <a:pt x="1289311" y="555320"/>
                  </a:lnTo>
                  <a:lnTo>
                    <a:pt x="0" y="555320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7583103" y="6297167"/>
            <a:ext cx="60325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Nurse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8101171" y="5713712"/>
            <a:ext cx="1299845" cy="565785"/>
            <a:chOff x="8101171" y="5713712"/>
            <a:chExt cx="1299845" cy="565785"/>
          </a:xfrm>
        </p:grpSpPr>
        <p:sp>
          <p:nvSpPr>
            <p:cNvPr id="40" name="object 40"/>
            <p:cNvSpPr/>
            <p:nvPr/>
          </p:nvSpPr>
          <p:spPr>
            <a:xfrm>
              <a:off x="8106251" y="5718792"/>
              <a:ext cx="1289685" cy="555625"/>
            </a:xfrm>
            <a:custGeom>
              <a:avLst/>
              <a:gdLst/>
              <a:ahLst/>
              <a:cxnLst/>
              <a:rect l="l" t="t" r="r" b="b"/>
              <a:pathLst>
                <a:path w="1289684" h="555625">
                  <a:moveTo>
                    <a:pt x="1289312" y="0"/>
                  </a:moveTo>
                  <a:lnTo>
                    <a:pt x="0" y="0"/>
                  </a:lnTo>
                  <a:lnTo>
                    <a:pt x="0" y="555320"/>
                  </a:lnTo>
                  <a:lnTo>
                    <a:pt x="1289312" y="555320"/>
                  </a:lnTo>
                  <a:lnTo>
                    <a:pt x="1289312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106251" y="5718792"/>
              <a:ext cx="1289685" cy="555625"/>
            </a:xfrm>
            <a:custGeom>
              <a:avLst/>
              <a:gdLst/>
              <a:ahLst/>
              <a:cxnLst/>
              <a:rect l="l" t="t" r="r" b="b"/>
              <a:pathLst>
                <a:path w="1289684" h="555625">
                  <a:moveTo>
                    <a:pt x="0" y="0"/>
                  </a:moveTo>
                  <a:lnTo>
                    <a:pt x="1289311" y="0"/>
                  </a:lnTo>
                  <a:lnTo>
                    <a:pt x="1289311" y="555320"/>
                  </a:lnTo>
                  <a:lnTo>
                    <a:pt x="0" y="555320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8247784" y="5852160"/>
            <a:ext cx="100584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Treatment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ECE5C57F-BC42-36E8-9196-3A241D8318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10243"/>
          <a:stretch/>
        </p:blipFill>
        <p:spPr>
          <a:xfrm>
            <a:off x="476551" y="1407347"/>
            <a:ext cx="9105299" cy="4842319"/>
          </a:xfrm>
          <a:custGeom>
            <a:avLst/>
            <a:gdLst/>
            <a:ahLst/>
            <a:cxnLst/>
            <a:rect l="l" t="t" r="r" b="b"/>
            <a:pathLst>
              <a:path w="10630858" h="5869478">
                <a:moveTo>
                  <a:pt x="5791061" y="218"/>
                </a:moveTo>
                <a:cubicBezTo>
                  <a:pt x="5877327" y="-560"/>
                  <a:pt x="5971399" y="626"/>
                  <a:pt x="6073275" y="5793"/>
                </a:cubicBezTo>
                <a:cubicBezTo>
                  <a:pt x="6098744" y="7086"/>
                  <a:pt x="6121786" y="8165"/>
                  <a:pt x="6142651" y="9057"/>
                </a:cubicBezTo>
                <a:lnTo>
                  <a:pt x="6164185" y="9874"/>
                </a:lnTo>
                <a:lnTo>
                  <a:pt x="6258731" y="5793"/>
                </a:lnTo>
                <a:lnTo>
                  <a:pt x="6319194" y="2002"/>
                </a:lnTo>
                <a:lnTo>
                  <a:pt x="6413049" y="11772"/>
                </a:lnTo>
                <a:cubicBezTo>
                  <a:pt x="6592720" y="42783"/>
                  <a:pt x="6774188" y="66100"/>
                  <a:pt x="6956654" y="46745"/>
                </a:cubicBezTo>
                <a:cubicBezTo>
                  <a:pt x="7082424" y="33223"/>
                  <a:pt x="7207994" y="25294"/>
                  <a:pt x="7334364" y="25763"/>
                </a:cubicBezTo>
                <a:cubicBezTo>
                  <a:pt x="7624835" y="25763"/>
                  <a:pt x="7915502" y="28559"/>
                  <a:pt x="8205974" y="22730"/>
                </a:cubicBezTo>
                <a:cubicBezTo>
                  <a:pt x="8464499" y="17601"/>
                  <a:pt x="8722029" y="6412"/>
                  <a:pt x="8980756" y="34620"/>
                </a:cubicBezTo>
                <a:cubicBezTo>
                  <a:pt x="9362658" y="76124"/>
                  <a:pt x="9746556" y="62832"/>
                  <a:pt x="10129655" y="57937"/>
                </a:cubicBezTo>
                <a:lnTo>
                  <a:pt x="10163726" y="56766"/>
                </a:lnTo>
                <a:lnTo>
                  <a:pt x="10254950" y="73131"/>
                </a:lnTo>
                <a:lnTo>
                  <a:pt x="10311819" y="101928"/>
                </a:lnTo>
                <a:cubicBezTo>
                  <a:pt x="10479504" y="200737"/>
                  <a:pt x="10591476" y="367254"/>
                  <a:pt x="10625532" y="561669"/>
                </a:cubicBezTo>
                <a:lnTo>
                  <a:pt x="10626834" y="578090"/>
                </a:lnTo>
                <a:lnTo>
                  <a:pt x="10611964" y="734537"/>
                </a:lnTo>
                <a:cubicBezTo>
                  <a:pt x="10602387" y="823467"/>
                  <a:pt x="10587763" y="913306"/>
                  <a:pt x="10611964" y="1001326"/>
                </a:cubicBezTo>
                <a:cubicBezTo>
                  <a:pt x="10628543" y="1062669"/>
                  <a:pt x="10632231" y="1127783"/>
                  <a:pt x="10622705" y="1191154"/>
                </a:cubicBezTo>
                <a:cubicBezTo>
                  <a:pt x="10606645" y="1303627"/>
                  <a:pt x="10603293" y="1418084"/>
                  <a:pt x="10612740" y="1531572"/>
                </a:cubicBezTo>
                <a:cubicBezTo>
                  <a:pt x="10618978" y="1606398"/>
                  <a:pt x="10618020" y="1681815"/>
                  <a:pt x="10609893" y="1756397"/>
                </a:cubicBezTo>
                <a:cubicBezTo>
                  <a:pt x="10599152" y="1856690"/>
                  <a:pt x="10582457" y="1958800"/>
                  <a:pt x="10602776" y="2059394"/>
                </a:cubicBezTo>
                <a:cubicBezTo>
                  <a:pt x="10635130" y="2219226"/>
                  <a:pt x="10628659" y="2378906"/>
                  <a:pt x="10615717" y="2539949"/>
                </a:cubicBezTo>
                <a:cubicBezTo>
                  <a:pt x="10606011" y="2659785"/>
                  <a:pt x="10595269" y="2780984"/>
                  <a:pt x="10614682" y="2902183"/>
                </a:cubicBezTo>
                <a:cubicBezTo>
                  <a:pt x="10623029" y="2958418"/>
                  <a:pt x="10623029" y="3015928"/>
                  <a:pt x="10614682" y="3072165"/>
                </a:cubicBezTo>
                <a:cubicBezTo>
                  <a:pt x="10604587" y="3147914"/>
                  <a:pt x="10595010" y="3222907"/>
                  <a:pt x="10607952" y="3299413"/>
                </a:cubicBezTo>
                <a:cubicBezTo>
                  <a:pt x="10613646" y="3332743"/>
                  <a:pt x="10617917" y="3366376"/>
                  <a:pt x="10620894" y="3400009"/>
                </a:cubicBezTo>
                <a:cubicBezTo>
                  <a:pt x="10626822" y="3485877"/>
                  <a:pt x="10624699" y="3572233"/>
                  <a:pt x="10614553" y="3657556"/>
                </a:cubicBezTo>
                <a:cubicBezTo>
                  <a:pt x="10604846" y="3756637"/>
                  <a:pt x="10620635" y="3856323"/>
                  <a:pt x="10607694" y="3955100"/>
                </a:cubicBezTo>
                <a:cubicBezTo>
                  <a:pt x="10598504" y="4034653"/>
                  <a:pt x="10598155" y="4115265"/>
                  <a:pt x="10606658" y="4194923"/>
                </a:cubicBezTo>
                <a:cubicBezTo>
                  <a:pt x="10621954" y="4345512"/>
                  <a:pt x="10620998" y="4497755"/>
                  <a:pt x="10603811" y="4648057"/>
                </a:cubicBezTo>
                <a:cubicBezTo>
                  <a:pt x="10593198" y="4735775"/>
                  <a:pt x="10587116" y="4826067"/>
                  <a:pt x="10606140" y="4912119"/>
                </a:cubicBezTo>
                <a:cubicBezTo>
                  <a:pt x="10628530" y="5013245"/>
                  <a:pt x="10633189" y="5114446"/>
                  <a:pt x="10629921" y="5215515"/>
                </a:cubicBezTo>
                <a:lnTo>
                  <a:pt x="10625356" y="5273604"/>
                </a:lnTo>
                <a:lnTo>
                  <a:pt x="10624284" y="5284086"/>
                </a:lnTo>
                <a:cubicBezTo>
                  <a:pt x="10601148" y="5404993"/>
                  <a:pt x="10545219" y="5529874"/>
                  <a:pt x="10458692" y="5632218"/>
                </a:cubicBezTo>
                <a:lnTo>
                  <a:pt x="10418904" y="5670857"/>
                </a:lnTo>
                <a:lnTo>
                  <a:pt x="10417064" y="5673484"/>
                </a:lnTo>
                <a:cubicBezTo>
                  <a:pt x="10307992" y="5802550"/>
                  <a:pt x="10158402" y="5877799"/>
                  <a:pt x="9954609" y="5858572"/>
                </a:cubicBezTo>
                <a:cubicBezTo>
                  <a:pt x="9860355" y="5870096"/>
                  <a:pt x="9750551" y="5855439"/>
                  <a:pt x="9657171" y="5854061"/>
                </a:cubicBezTo>
                <a:lnTo>
                  <a:pt x="9612467" y="5856387"/>
                </a:lnTo>
                <a:lnTo>
                  <a:pt x="9279984" y="5838331"/>
                </a:lnTo>
                <a:cubicBezTo>
                  <a:pt x="9153141" y="5834280"/>
                  <a:pt x="9026273" y="5834164"/>
                  <a:pt x="8899305" y="5841275"/>
                </a:cubicBezTo>
                <a:cubicBezTo>
                  <a:pt x="8761407" y="5850940"/>
                  <a:pt x="8623304" y="5854733"/>
                  <a:pt x="8485266" y="5852671"/>
                </a:cubicBezTo>
                <a:lnTo>
                  <a:pt x="8314842" y="5842884"/>
                </a:lnTo>
                <a:lnTo>
                  <a:pt x="8193631" y="5825368"/>
                </a:lnTo>
                <a:lnTo>
                  <a:pt x="8029897" y="5818284"/>
                </a:lnTo>
                <a:lnTo>
                  <a:pt x="8028296" y="5817260"/>
                </a:lnTo>
                <a:lnTo>
                  <a:pt x="8008332" y="5817260"/>
                </a:lnTo>
                <a:lnTo>
                  <a:pt x="8006732" y="5818114"/>
                </a:lnTo>
                <a:lnTo>
                  <a:pt x="7839115" y="5825368"/>
                </a:lnTo>
                <a:lnTo>
                  <a:pt x="7801585" y="5830791"/>
                </a:lnTo>
                <a:lnTo>
                  <a:pt x="7734233" y="5834980"/>
                </a:lnTo>
                <a:lnTo>
                  <a:pt x="7482820" y="5855530"/>
                </a:lnTo>
                <a:lnTo>
                  <a:pt x="7445741" y="5854102"/>
                </a:lnTo>
                <a:lnTo>
                  <a:pt x="7403701" y="5858035"/>
                </a:lnTo>
                <a:lnTo>
                  <a:pt x="7155292" y="5854564"/>
                </a:lnTo>
                <a:cubicBezTo>
                  <a:pt x="6874805" y="5835913"/>
                  <a:pt x="6593917" y="5824488"/>
                  <a:pt x="6312830" y="5849900"/>
                </a:cubicBezTo>
                <a:lnTo>
                  <a:pt x="6232577" y="5855788"/>
                </a:lnTo>
                <a:lnTo>
                  <a:pt x="6231985" y="5855764"/>
                </a:lnTo>
                <a:lnTo>
                  <a:pt x="6166003" y="5858572"/>
                </a:lnTo>
                <a:cubicBezTo>
                  <a:pt x="6100624" y="5861901"/>
                  <a:pt x="6043822" y="5864887"/>
                  <a:pt x="5993271" y="5866513"/>
                </a:cubicBezTo>
                <a:lnTo>
                  <a:pt x="5925657" y="5866398"/>
                </a:lnTo>
                <a:lnTo>
                  <a:pt x="5833706" y="5859695"/>
                </a:lnTo>
                <a:cubicBezTo>
                  <a:pt x="5697214" y="5841788"/>
                  <a:pt x="5559607" y="5838897"/>
                  <a:pt x="5422657" y="5851067"/>
                </a:cubicBezTo>
                <a:lnTo>
                  <a:pt x="5250035" y="5858044"/>
                </a:lnTo>
                <a:lnTo>
                  <a:pt x="5151093" y="5858278"/>
                </a:lnTo>
                <a:lnTo>
                  <a:pt x="4972680" y="5851067"/>
                </a:lnTo>
                <a:cubicBezTo>
                  <a:pt x="4829141" y="5841741"/>
                  <a:pt x="4685204" y="5826120"/>
                  <a:pt x="4542066" y="5842905"/>
                </a:cubicBezTo>
                <a:cubicBezTo>
                  <a:pt x="4491758" y="5848734"/>
                  <a:pt x="4441488" y="5852626"/>
                  <a:pt x="4391242" y="5854962"/>
                </a:cubicBezTo>
                <a:lnTo>
                  <a:pt x="4246482" y="5857576"/>
                </a:lnTo>
                <a:lnTo>
                  <a:pt x="4221030" y="5856572"/>
                </a:lnTo>
                <a:lnTo>
                  <a:pt x="4218005" y="5856681"/>
                </a:lnTo>
                <a:lnTo>
                  <a:pt x="3939367" y="5844305"/>
                </a:lnTo>
                <a:cubicBezTo>
                  <a:pt x="3773470" y="5832648"/>
                  <a:pt x="3606974" y="5815626"/>
                  <a:pt x="3441875" y="5843140"/>
                </a:cubicBezTo>
                <a:cubicBezTo>
                  <a:pt x="3386806" y="5851400"/>
                  <a:pt x="3331601" y="5858126"/>
                  <a:pt x="3276306" y="5863318"/>
                </a:cubicBezTo>
                <a:lnTo>
                  <a:pt x="3225006" y="5866706"/>
                </a:lnTo>
                <a:lnTo>
                  <a:pt x="3194056" y="5866407"/>
                </a:lnTo>
                <a:lnTo>
                  <a:pt x="3082891" y="5863061"/>
                </a:lnTo>
                <a:lnTo>
                  <a:pt x="3013959" y="5869302"/>
                </a:lnTo>
                <a:cubicBezTo>
                  <a:pt x="2910698" y="5871464"/>
                  <a:pt x="2845426" y="5852913"/>
                  <a:pt x="2748311" y="5858572"/>
                </a:cubicBezTo>
                <a:cubicBezTo>
                  <a:pt x="2736171" y="5859279"/>
                  <a:pt x="2721419" y="5860082"/>
                  <a:pt x="2704411" y="5860936"/>
                </a:cubicBezTo>
                <a:lnTo>
                  <a:pt x="2650475" y="5863440"/>
                </a:lnTo>
                <a:lnTo>
                  <a:pt x="2436349" y="5854816"/>
                </a:lnTo>
                <a:cubicBezTo>
                  <a:pt x="2095150" y="5845165"/>
                  <a:pt x="1753811" y="5845122"/>
                  <a:pt x="1412584" y="5830782"/>
                </a:cubicBezTo>
                <a:cubicBezTo>
                  <a:pt x="1262458" y="5824256"/>
                  <a:pt x="1113131" y="5859227"/>
                  <a:pt x="963404" y="5861093"/>
                </a:cubicBezTo>
                <a:cubicBezTo>
                  <a:pt x="896140" y="5861967"/>
                  <a:pt x="828812" y="5861342"/>
                  <a:pt x="761431" y="5859896"/>
                </a:cubicBezTo>
                <a:lnTo>
                  <a:pt x="637698" y="5856158"/>
                </a:lnTo>
                <a:lnTo>
                  <a:pt x="592997" y="5853711"/>
                </a:lnTo>
                <a:cubicBezTo>
                  <a:pt x="391136" y="5830428"/>
                  <a:pt x="227663" y="5724844"/>
                  <a:pt x="123577" y="5564333"/>
                </a:cubicBezTo>
                <a:lnTo>
                  <a:pt x="99502" y="5518240"/>
                </a:lnTo>
                <a:lnTo>
                  <a:pt x="95609" y="5512764"/>
                </a:lnTo>
                <a:lnTo>
                  <a:pt x="86221" y="5492812"/>
                </a:lnTo>
                <a:lnTo>
                  <a:pt x="61763" y="5445986"/>
                </a:lnTo>
                <a:lnTo>
                  <a:pt x="56991" y="5430695"/>
                </a:lnTo>
                <a:lnTo>
                  <a:pt x="41922" y="5398673"/>
                </a:lnTo>
                <a:lnTo>
                  <a:pt x="25760" y="5339273"/>
                </a:lnTo>
                <a:lnTo>
                  <a:pt x="16811" y="5271956"/>
                </a:lnTo>
                <a:cubicBezTo>
                  <a:pt x="9305" y="5238090"/>
                  <a:pt x="4710" y="5203585"/>
                  <a:pt x="3092" y="5168860"/>
                </a:cubicBezTo>
                <a:cubicBezTo>
                  <a:pt x="-7132" y="5042101"/>
                  <a:pt x="10081" y="4917108"/>
                  <a:pt x="24446" y="4791844"/>
                </a:cubicBezTo>
                <a:cubicBezTo>
                  <a:pt x="34023" y="4712006"/>
                  <a:pt x="48647" y="4631352"/>
                  <a:pt x="24446" y="4552331"/>
                </a:cubicBezTo>
                <a:cubicBezTo>
                  <a:pt x="7867" y="4497261"/>
                  <a:pt x="4180" y="4438805"/>
                  <a:pt x="13705" y="4381912"/>
                </a:cubicBezTo>
                <a:cubicBezTo>
                  <a:pt x="29766" y="4280940"/>
                  <a:pt x="33117" y="4178184"/>
                  <a:pt x="23670" y="4076300"/>
                </a:cubicBezTo>
                <a:cubicBezTo>
                  <a:pt x="17432" y="4009125"/>
                  <a:pt x="18390" y="3941419"/>
                  <a:pt x="26517" y="3874462"/>
                </a:cubicBezTo>
                <a:cubicBezTo>
                  <a:pt x="37258" y="3784423"/>
                  <a:pt x="53954" y="3692752"/>
                  <a:pt x="33635" y="3602444"/>
                </a:cubicBezTo>
                <a:cubicBezTo>
                  <a:pt x="1280" y="3458954"/>
                  <a:pt x="7751" y="3315599"/>
                  <a:pt x="20694" y="3171022"/>
                </a:cubicBezTo>
                <a:cubicBezTo>
                  <a:pt x="30400" y="3063439"/>
                  <a:pt x="41141" y="2954632"/>
                  <a:pt x="21728" y="2845824"/>
                </a:cubicBezTo>
                <a:cubicBezTo>
                  <a:pt x="13381" y="2795337"/>
                  <a:pt x="13381" y="2743709"/>
                  <a:pt x="21728" y="2693221"/>
                </a:cubicBezTo>
                <a:cubicBezTo>
                  <a:pt x="31823" y="2625218"/>
                  <a:pt x="41400" y="2557892"/>
                  <a:pt x="28458" y="2489208"/>
                </a:cubicBezTo>
                <a:cubicBezTo>
                  <a:pt x="22764" y="2459285"/>
                  <a:pt x="18493" y="2429092"/>
                  <a:pt x="15516" y="2398898"/>
                </a:cubicBezTo>
                <a:cubicBezTo>
                  <a:pt x="9589" y="2321809"/>
                  <a:pt x="11711" y="2244283"/>
                  <a:pt x="21857" y="2167683"/>
                </a:cubicBezTo>
                <a:cubicBezTo>
                  <a:pt x="31564" y="2078733"/>
                  <a:pt x="15776" y="1989238"/>
                  <a:pt x="28717" y="1900560"/>
                </a:cubicBezTo>
                <a:cubicBezTo>
                  <a:pt x="37907" y="1829142"/>
                  <a:pt x="38255" y="1756772"/>
                  <a:pt x="29752" y="1685258"/>
                </a:cubicBezTo>
                <a:cubicBezTo>
                  <a:pt x="14456" y="1550065"/>
                  <a:pt x="15412" y="1413389"/>
                  <a:pt x="32599" y="1278454"/>
                </a:cubicBezTo>
                <a:cubicBezTo>
                  <a:pt x="43212" y="1199704"/>
                  <a:pt x="49294" y="1118644"/>
                  <a:pt x="30270" y="1041390"/>
                </a:cubicBezTo>
                <a:cubicBezTo>
                  <a:pt x="-14509" y="859818"/>
                  <a:pt x="11634" y="677973"/>
                  <a:pt x="30270" y="497354"/>
                </a:cubicBezTo>
                <a:lnTo>
                  <a:pt x="31725" y="472895"/>
                </a:lnTo>
                <a:lnTo>
                  <a:pt x="43781" y="427827"/>
                </a:lnTo>
                <a:lnTo>
                  <a:pt x="50994" y="413476"/>
                </a:lnTo>
                <a:lnTo>
                  <a:pt x="58372" y="387895"/>
                </a:lnTo>
                <a:cubicBezTo>
                  <a:pt x="111660" y="254431"/>
                  <a:pt x="198390" y="154469"/>
                  <a:pt x="306361" y="90092"/>
                </a:cubicBezTo>
                <a:lnTo>
                  <a:pt x="343340" y="71955"/>
                </a:lnTo>
                <a:lnTo>
                  <a:pt x="451947" y="55771"/>
                </a:lnTo>
                <a:lnTo>
                  <a:pt x="480681" y="50638"/>
                </a:lnTo>
                <a:lnTo>
                  <a:pt x="500476" y="51097"/>
                </a:lnTo>
                <a:cubicBezTo>
                  <a:pt x="614729" y="49684"/>
                  <a:pt x="728933" y="43772"/>
                  <a:pt x="843024" y="32056"/>
                </a:cubicBezTo>
                <a:cubicBezTo>
                  <a:pt x="1123212" y="7156"/>
                  <a:pt x="1404499" y="3566"/>
                  <a:pt x="1685086" y="21332"/>
                </a:cubicBezTo>
                <a:cubicBezTo>
                  <a:pt x="1938623" y="33688"/>
                  <a:pt x="2191759" y="64000"/>
                  <a:pt x="2445896" y="38121"/>
                </a:cubicBezTo>
                <a:cubicBezTo>
                  <a:pt x="2489616" y="33690"/>
                  <a:pt x="2532937" y="26111"/>
                  <a:pt x="2576333" y="19030"/>
                </a:cubicBezTo>
                <a:lnTo>
                  <a:pt x="2696353" y="4251"/>
                </a:lnTo>
                <a:lnTo>
                  <a:pt x="2745536" y="5232"/>
                </a:lnTo>
                <a:cubicBezTo>
                  <a:pt x="2818993" y="6452"/>
                  <a:pt x="2887864" y="7004"/>
                  <a:pt x="2947014" y="5793"/>
                </a:cubicBezTo>
                <a:cubicBezTo>
                  <a:pt x="3006163" y="4584"/>
                  <a:pt x="3060036" y="3178"/>
                  <a:pt x="3110399" y="1949"/>
                </a:cubicBezTo>
                <a:lnTo>
                  <a:pt x="3199002" y="221"/>
                </a:lnTo>
                <a:lnTo>
                  <a:pt x="3325015" y="3583"/>
                </a:lnTo>
                <a:cubicBezTo>
                  <a:pt x="3530714" y="12997"/>
                  <a:pt x="3736239" y="28910"/>
                  <a:pt x="3941762" y="43248"/>
                </a:cubicBezTo>
                <a:cubicBezTo>
                  <a:pt x="4091489" y="53739"/>
                  <a:pt x="4241215" y="66563"/>
                  <a:pt x="4390942" y="37886"/>
                </a:cubicBezTo>
                <a:cubicBezTo>
                  <a:pt x="4517292" y="15154"/>
                  <a:pt x="4645537" y="10467"/>
                  <a:pt x="4772844" y="23896"/>
                </a:cubicBezTo>
                <a:cubicBezTo>
                  <a:pt x="4885597" y="37327"/>
                  <a:pt x="4999052" y="40520"/>
                  <a:pt x="5112224" y="33456"/>
                </a:cubicBezTo>
                <a:lnTo>
                  <a:pt x="5477482" y="6922"/>
                </a:lnTo>
                <a:lnTo>
                  <a:pt x="5517883" y="7607"/>
                </a:lnTo>
                <a:lnTo>
                  <a:pt x="5555683" y="6426"/>
                </a:lnTo>
                <a:cubicBezTo>
                  <a:pt x="5626335" y="3737"/>
                  <a:pt x="5704795" y="995"/>
                  <a:pt x="5791061" y="218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7918136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student&#10;&#10;Description automatically generated">
            <a:extLst>
              <a:ext uri="{FF2B5EF4-FFF2-40B4-BE49-F238E27FC236}">
                <a16:creationId xmlns:a16="http://schemas.microsoft.com/office/drawing/2014/main" id="{B9BCE14F-07C9-539B-A760-95DDDB01DF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17867"/>
          <a:stretch/>
        </p:blipFill>
        <p:spPr>
          <a:xfrm>
            <a:off x="476551" y="1407347"/>
            <a:ext cx="9105299" cy="4842319"/>
          </a:xfrm>
          <a:custGeom>
            <a:avLst/>
            <a:gdLst/>
            <a:ahLst/>
            <a:cxnLst/>
            <a:rect l="l" t="t" r="r" b="b"/>
            <a:pathLst>
              <a:path w="10630858" h="5869478">
                <a:moveTo>
                  <a:pt x="5791061" y="218"/>
                </a:moveTo>
                <a:cubicBezTo>
                  <a:pt x="5877327" y="-560"/>
                  <a:pt x="5971399" y="626"/>
                  <a:pt x="6073275" y="5793"/>
                </a:cubicBezTo>
                <a:cubicBezTo>
                  <a:pt x="6098744" y="7086"/>
                  <a:pt x="6121786" y="8165"/>
                  <a:pt x="6142651" y="9057"/>
                </a:cubicBezTo>
                <a:lnTo>
                  <a:pt x="6164185" y="9874"/>
                </a:lnTo>
                <a:lnTo>
                  <a:pt x="6258731" y="5793"/>
                </a:lnTo>
                <a:lnTo>
                  <a:pt x="6319194" y="2002"/>
                </a:lnTo>
                <a:lnTo>
                  <a:pt x="6413049" y="11772"/>
                </a:lnTo>
                <a:cubicBezTo>
                  <a:pt x="6592720" y="42783"/>
                  <a:pt x="6774188" y="66100"/>
                  <a:pt x="6956654" y="46745"/>
                </a:cubicBezTo>
                <a:cubicBezTo>
                  <a:pt x="7082424" y="33223"/>
                  <a:pt x="7207994" y="25294"/>
                  <a:pt x="7334364" y="25763"/>
                </a:cubicBezTo>
                <a:cubicBezTo>
                  <a:pt x="7624835" y="25763"/>
                  <a:pt x="7915502" y="28559"/>
                  <a:pt x="8205974" y="22730"/>
                </a:cubicBezTo>
                <a:cubicBezTo>
                  <a:pt x="8464499" y="17601"/>
                  <a:pt x="8722029" y="6412"/>
                  <a:pt x="8980756" y="34620"/>
                </a:cubicBezTo>
                <a:cubicBezTo>
                  <a:pt x="9362658" y="76124"/>
                  <a:pt x="9746556" y="62832"/>
                  <a:pt x="10129655" y="57937"/>
                </a:cubicBezTo>
                <a:lnTo>
                  <a:pt x="10163726" y="56766"/>
                </a:lnTo>
                <a:lnTo>
                  <a:pt x="10254950" y="73131"/>
                </a:lnTo>
                <a:lnTo>
                  <a:pt x="10311819" y="101928"/>
                </a:lnTo>
                <a:cubicBezTo>
                  <a:pt x="10479504" y="200737"/>
                  <a:pt x="10591476" y="367254"/>
                  <a:pt x="10625532" y="561669"/>
                </a:cubicBezTo>
                <a:lnTo>
                  <a:pt x="10626834" y="578090"/>
                </a:lnTo>
                <a:lnTo>
                  <a:pt x="10611964" y="734537"/>
                </a:lnTo>
                <a:cubicBezTo>
                  <a:pt x="10602387" y="823467"/>
                  <a:pt x="10587763" y="913306"/>
                  <a:pt x="10611964" y="1001326"/>
                </a:cubicBezTo>
                <a:cubicBezTo>
                  <a:pt x="10628543" y="1062669"/>
                  <a:pt x="10632231" y="1127783"/>
                  <a:pt x="10622705" y="1191154"/>
                </a:cubicBezTo>
                <a:cubicBezTo>
                  <a:pt x="10606645" y="1303627"/>
                  <a:pt x="10603293" y="1418084"/>
                  <a:pt x="10612740" y="1531572"/>
                </a:cubicBezTo>
                <a:cubicBezTo>
                  <a:pt x="10618978" y="1606398"/>
                  <a:pt x="10618020" y="1681815"/>
                  <a:pt x="10609893" y="1756397"/>
                </a:cubicBezTo>
                <a:cubicBezTo>
                  <a:pt x="10599152" y="1856690"/>
                  <a:pt x="10582457" y="1958800"/>
                  <a:pt x="10602776" y="2059394"/>
                </a:cubicBezTo>
                <a:cubicBezTo>
                  <a:pt x="10635130" y="2219226"/>
                  <a:pt x="10628659" y="2378906"/>
                  <a:pt x="10615717" y="2539949"/>
                </a:cubicBezTo>
                <a:cubicBezTo>
                  <a:pt x="10606011" y="2659785"/>
                  <a:pt x="10595269" y="2780984"/>
                  <a:pt x="10614682" y="2902183"/>
                </a:cubicBezTo>
                <a:cubicBezTo>
                  <a:pt x="10623029" y="2958418"/>
                  <a:pt x="10623029" y="3015928"/>
                  <a:pt x="10614682" y="3072165"/>
                </a:cubicBezTo>
                <a:cubicBezTo>
                  <a:pt x="10604587" y="3147914"/>
                  <a:pt x="10595010" y="3222907"/>
                  <a:pt x="10607952" y="3299413"/>
                </a:cubicBezTo>
                <a:cubicBezTo>
                  <a:pt x="10613646" y="3332743"/>
                  <a:pt x="10617917" y="3366376"/>
                  <a:pt x="10620894" y="3400009"/>
                </a:cubicBezTo>
                <a:cubicBezTo>
                  <a:pt x="10626822" y="3485877"/>
                  <a:pt x="10624699" y="3572233"/>
                  <a:pt x="10614553" y="3657556"/>
                </a:cubicBezTo>
                <a:cubicBezTo>
                  <a:pt x="10604846" y="3756637"/>
                  <a:pt x="10620635" y="3856323"/>
                  <a:pt x="10607694" y="3955100"/>
                </a:cubicBezTo>
                <a:cubicBezTo>
                  <a:pt x="10598504" y="4034653"/>
                  <a:pt x="10598155" y="4115265"/>
                  <a:pt x="10606658" y="4194923"/>
                </a:cubicBezTo>
                <a:cubicBezTo>
                  <a:pt x="10621954" y="4345512"/>
                  <a:pt x="10620998" y="4497755"/>
                  <a:pt x="10603811" y="4648057"/>
                </a:cubicBezTo>
                <a:cubicBezTo>
                  <a:pt x="10593198" y="4735775"/>
                  <a:pt x="10587116" y="4826067"/>
                  <a:pt x="10606140" y="4912119"/>
                </a:cubicBezTo>
                <a:cubicBezTo>
                  <a:pt x="10628530" y="5013245"/>
                  <a:pt x="10633189" y="5114446"/>
                  <a:pt x="10629921" y="5215515"/>
                </a:cubicBezTo>
                <a:lnTo>
                  <a:pt x="10625356" y="5273604"/>
                </a:lnTo>
                <a:lnTo>
                  <a:pt x="10624284" y="5284086"/>
                </a:lnTo>
                <a:cubicBezTo>
                  <a:pt x="10601148" y="5404993"/>
                  <a:pt x="10545219" y="5529874"/>
                  <a:pt x="10458692" y="5632218"/>
                </a:cubicBezTo>
                <a:lnTo>
                  <a:pt x="10418904" y="5670857"/>
                </a:lnTo>
                <a:lnTo>
                  <a:pt x="10417064" y="5673484"/>
                </a:lnTo>
                <a:cubicBezTo>
                  <a:pt x="10307992" y="5802550"/>
                  <a:pt x="10158402" y="5877799"/>
                  <a:pt x="9954609" y="5858572"/>
                </a:cubicBezTo>
                <a:cubicBezTo>
                  <a:pt x="9860355" y="5870096"/>
                  <a:pt x="9750551" y="5855439"/>
                  <a:pt x="9657171" y="5854061"/>
                </a:cubicBezTo>
                <a:lnTo>
                  <a:pt x="9612467" y="5856387"/>
                </a:lnTo>
                <a:lnTo>
                  <a:pt x="9279984" y="5838331"/>
                </a:lnTo>
                <a:cubicBezTo>
                  <a:pt x="9153141" y="5834280"/>
                  <a:pt x="9026273" y="5834164"/>
                  <a:pt x="8899305" y="5841275"/>
                </a:cubicBezTo>
                <a:cubicBezTo>
                  <a:pt x="8761407" y="5850940"/>
                  <a:pt x="8623304" y="5854733"/>
                  <a:pt x="8485266" y="5852671"/>
                </a:cubicBezTo>
                <a:lnTo>
                  <a:pt x="8314842" y="5842884"/>
                </a:lnTo>
                <a:lnTo>
                  <a:pt x="8193631" y="5825368"/>
                </a:lnTo>
                <a:lnTo>
                  <a:pt x="8029897" y="5818284"/>
                </a:lnTo>
                <a:lnTo>
                  <a:pt x="8028296" y="5817260"/>
                </a:lnTo>
                <a:lnTo>
                  <a:pt x="8008332" y="5817260"/>
                </a:lnTo>
                <a:lnTo>
                  <a:pt x="8006732" y="5818114"/>
                </a:lnTo>
                <a:lnTo>
                  <a:pt x="7839115" y="5825368"/>
                </a:lnTo>
                <a:lnTo>
                  <a:pt x="7801585" y="5830791"/>
                </a:lnTo>
                <a:lnTo>
                  <a:pt x="7734233" y="5834980"/>
                </a:lnTo>
                <a:lnTo>
                  <a:pt x="7482820" y="5855530"/>
                </a:lnTo>
                <a:lnTo>
                  <a:pt x="7445741" y="5854102"/>
                </a:lnTo>
                <a:lnTo>
                  <a:pt x="7403701" y="5858035"/>
                </a:lnTo>
                <a:lnTo>
                  <a:pt x="7155292" y="5854564"/>
                </a:lnTo>
                <a:cubicBezTo>
                  <a:pt x="6874805" y="5835913"/>
                  <a:pt x="6593917" y="5824488"/>
                  <a:pt x="6312830" y="5849900"/>
                </a:cubicBezTo>
                <a:lnTo>
                  <a:pt x="6232577" y="5855788"/>
                </a:lnTo>
                <a:lnTo>
                  <a:pt x="6231985" y="5855764"/>
                </a:lnTo>
                <a:lnTo>
                  <a:pt x="6166003" y="5858572"/>
                </a:lnTo>
                <a:cubicBezTo>
                  <a:pt x="6100624" y="5861901"/>
                  <a:pt x="6043822" y="5864887"/>
                  <a:pt x="5993271" y="5866513"/>
                </a:cubicBezTo>
                <a:lnTo>
                  <a:pt x="5925657" y="5866398"/>
                </a:lnTo>
                <a:lnTo>
                  <a:pt x="5833706" y="5859695"/>
                </a:lnTo>
                <a:cubicBezTo>
                  <a:pt x="5697214" y="5841788"/>
                  <a:pt x="5559607" y="5838897"/>
                  <a:pt x="5422657" y="5851067"/>
                </a:cubicBezTo>
                <a:lnTo>
                  <a:pt x="5250035" y="5858044"/>
                </a:lnTo>
                <a:lnTo>
                  <a:pt x="5151093" y="5858278"/>
                </a:lnTo>
                <a:lnTo>
                  <a:pt x="4972680" y="5851067"/>
                </a:lnTo>
                <a:cubicBezTo>
                  <a:pt x="4829141" y="5841741"/>
                  <a:pt x="4685204" y="5826120"/>
                  <a:pt x="4542066" y="5842905"/>
                </a:cubicBezTo>
                <a:cubicBezTo>
                  <a:pt x="4491758" y="5848734"/>
                  <a:pt x="4441488" y="5852626"/>
                  <a:pt x="4391242" y="5854962"/>
                </a:cubicBezTo>
                <a:lnTo>
                  <a:pt x="4246482" y="5857576"/>
                </a:lnTo>
                <a:lnTo>
                  <a:pt x="4221030" y="5856572"/>
                </a:lnTo>
                <a:lnTo>
                  <a:pt x="4218005" y="5856681"/>
                </a:lnTo>
                <a:lnTo>
                  <a:pt x="3939367" y="5844305"/>
                </a:lnTo>
                <a:cubicBezTo>
                  <a:pt x="3773470" y="5832648"/>
                  <a:pt x="3606974" y="5815626"/>
                  <a:pt x="3441875" y="5843140"/>
                </a:cubicBezTo>
                <a:cubicBezTo>
                  <a:pt x="3386806" y="5851400"/>
                  <a:pt x="3331601" y="5858126"/>
                  <a:pt x="3276306" y="5863318"/>
                </a:cubicBezTo>
                <a:lnTo>
                  <a:pt x="3225006" y="5866706"/>
                </a:lnTo>
                <a:lnTo>
                  <a:pt x="3194056" y="5866407"/>
                </a:lnTo>
                <a:lnTo>
                  <a:pt x="3082891" y="5863061"/>
                </a:lnTo>
                <a:lnTo>
                  <a:pt x="3013959" y="5869302"/>
                </a:lnTo>
                <a:cubicBezTo>
                  <a:pt x="2910698" y="5871464"/>
                  <a:pt x="2845426" y="5852913"/>
                  <a:pt x="2748311" y="5858572"/>
                </a:cubicBezTo>
                <a:cubicBezTo>
                  <a:pt x="2736171" y="5859279"/>
                  <a:pt x="2721419" y="5860082"/>
                  <a:pt x="2704411" y="5860936"/>
                </a:cubicBezTo>
                <a:lnTo>
                  <a:pt x="2650475" y="5863440"/>
                </a:lnTo>
                <a:lnTo>
                  <a:pt x="2436349" y="5854816"/>
                </a:lnTo>
                <a:cubicBezTo>
                  <a:pt x="2095150" y="5845165"/>
                  <a:pt x="1753811" y="5845122"/>
                  <a:pt x="1412584" y="5830782"/>
                </a:cubicBezTo>
                <a:cubicBezTo>
                  <a:pt x="1262458" y="5824256"/>
                  <a:pt x="1113131" y="5859227"/>
                  <a:pt x="963404" y="5861093"/>
                </a:cubicBezTo>
                <a:cubicBezTo>
                  <a:pt x="896140" y="5861967"/>
                  <a:pt x="828812" y="5861342"/>
                  <a:pt x="761431" y="5859896"/>
                </a:cubicBezTo>
                <a:lnTo>
                  <a:pt x="637698" y="5856158"/>
                </a:lnTo>
                <a:lnTo>
                  <a:pt x="592997" y="5853711"/>
                </a:lnTo>
                <a:cubicBezTo>
                  <a:pt x="391136" y="5830428"/>
                  <a:pt x="227663" y="5724844"/>
                  <a:pt x="123577" y="5564333"/>
                </a:cubicBezTo>
                <a:lnTo>
                  <a:pt x="99502" y="5518240"/>
                </a:lnTo>
                <a:lnTo>
                  <a:pt x="95609" y="5512764"/>
                </a:lnTo>
                <a:lnTo>
                  <a:pt x="86221" y="5492812"/>
                </a:lnTo>
                <a:lnTo>
                  <a:pt x="61763" y="5445986"/>
                </a:lnTo>
                <a:lnTo>
                  <a:pt x="56991" y="5430695"/>
                </a:lnTo>
                <a:lnTo>
                  <a:pt x="41922" y="5398673"/>
                </a:lnTo>
                <a:lnTo>
                  <a:pt x="25760" y="5339273"/>
                </a:lnTo>
                <a:lnTo>
                  <a:pt x="16811" y="5271956"/>
                </a:lnTo>
                <a:cubicBezTo>
                  <a:pt x="9305" y="5238090"/>
                  <a:pt x="4710" y="5203585"/>
                  <a:pt x="3092" y="5168860"/>
                </a:cubicBezTo>
                <a:cubicBezTo>
                  <a:pt x="-7132" y="5042101"/>
                  <a:pt x="10081" y="4917108"/>
                  <a:pt x="24446" y="4791844"/>
                </a:cubicBezTo>
                <a:cubicBezTo>
                  <a:pt x="34023" y="4712006"/>
                  <a:pt x="48647" y="4631352"/>
                  <a:pt x="24446" y="4552331"/>
                </a:cubicBezTo>
                <a:cubicBezTo>
                  <a:pt x="7867" y="4497261"/>
                  <a:pt x="4180" y="4438805"/>
                  <a:pt x="13705" y="4381912"/>
                </a:cubicBezTo>
                <a:cubicBezTo>
                  <a:pt x="29766" y="4280940"/>
                  <a:pt x="33117" y="4178184"/>
                  <a:pt x="23670" y="4076300"/>
                </a:cubicBezTo>
                <a:cubicBezTo>
                  <a:pt x="17432" y="4009125"/>
                  <a:pt x="18390" y="3941419"/>
                  <a:pt x="26517" y="3874462"/>
                </a:cubicBezTo>
                <a:cubicBezTo>
                  <a:pt x="37258" y="3784423"/>
                  <a:pt x="53954" y="3692752"/>
                  <a:pt x="33635" y="3602444"/>
                </a:cubicBezTo>
                <a:cubicBezTo>
                  <a:pt x="1280" y="3458954"/>
                  <a:pt x="7751" y="3315599"/>
                  <a:pt x="20694" y="3171022"/>
                </a:cubicBezTo>
                <a:cubicBezTo>
                  <a:pt x="30400" y="3063439"/>
                  <a:pt x="41141" y="2954632"/>
                  <a:pt x="21728" y="2845824"/>
                </a:cubicBezTo>
                <a:cubicBezTo>
                  <a:pt x="13381" y="2795337"/>
                  <a:pt x="13381" y="2743709"/>
                  <a:pt x="21728" y="2693221"/>
                </a:cubicBezTo>
                <a:cubicBezTo>
                  <a:pt x="31823" y="2625218"/>
                  <a:pt x="41400" y="2557892"/>
                  <a:pt x="28458" y="2489208"/>
                </a:cubicBezTo>
                <a:cubicBezTo>
                  <a:pt x="22764" y="2459285"/>
                  <a:pt x="18493" y="2429092"/>
                  <a:pt x="15516" y="2398898"/>
                </a:cubicBezTo>
                <a:cubicBezTo>
                  <a:pt x="9589" y="2321809"/>
                  <a:pt x="11711" y="2244283"/>
                  <a:pt x="21857" y="2167683"/>
                </a:cubicBezTo>
                <a:cubicBezTo>
                  <a:pt x="31564" y="2078733"/>
                  <a:pt x="15776" y="1989238"/>
                  <a:pt x="28717" y="1900560"/>
                </a:cubicBezTo>
                <a:cubicBezTo>
                  <a:pt x="37907" y="1829142"/>
                  <a:pt x="38255" y="1756772"/>
                  <a:pt x="29752" y="1685258"/>
                </a:cubicBezTo>
                <a:cubicBezTo>
                  <a:pt x="14456" y="1550065"/>
                  <a:pt x="15412" y="1413389"/>
                  <a:pt x="32599" y="1278454"/>
                </a:cubicBezTo>
                <a:cubicBezTo>
                  <a:pt x="43212" y="1199704"/>
                  <a:pt x="49294" y="1118644"/>
                  <a:pt x="30270" y="1041390"/>
                </a:cubicBezTo>
                <a:cubicBezTo>
                  <a:pt x="-14509" y="859818"/>
                  <a:pt x="11634" y="677973"/>
                  <a:pt x="30270" y="497354"/>
                </a:cubicBezTo>
                <a:lnTo>
                  <a:pt x="31725" y="472895"/>
                </a:lnTo>
                <a:lnTo>
                  <a:pt x="43781" y="427827"/>
                </a:lnTo>
                <a:lnTo>
                  <a:pt x="50994" y="413476"/>
                </a:lnTo>
                <a:lnTo>
                  <a:pt x="58372" y="387895"/>
                </a:lnTo>
                <a:cubicBezTo>
                  <a:pt x="111660" y="254431"/>
                  <a:pt x="198390" y="154469"/>
                  <a:pt x="306361" y="90092"/>
                </a:cubicBezTo>
                <a:lnTo>
                  <a:pt x="343340" y="71955"/>
                </a:lnTo>
                <a:lnTo>
                  <a:pt x="451947" y="55771"/>
                </a:lnTo>
                <a:lnTo>
                  <a:pt x="480681" y="50638"/>
                </a:lnTo>
                <a:lnTo>
                  <a:pt x="500476" y="51097"/>
                </a:lnTo>
                <a:cubicBezTo>
                  <a:pt x="614729" y="49684"/>
                  <a:pt x="728933" y="43772"/>
                  <a:pt x="843024" y="32056"/>
                </a:cubicBezTo>
                <a:cubicBezTo>
                  <a:pt x="1123212" y="7156"/>
                  <a:pt x="1404499" y="3566"/>
                  <a:pt x="1685086" y="21332"/>
                </a:cubicBezTo>
                <a:cubicBezTo>
                  <a:pt x="1938623" y="33688"/>
                  <a:pt x="2191759" y="64000"/>
                  <a:pt x="2445896" y="38121"/>
                </a:cubicBezTo>
                <a:cubicBezTo>
                  <a:pt x="2489616" y="33690"/>
                  <a:pt x="2532937" y="26111"/>
                  <a:pt x="2576333" y="19030"/>
                </a:cubicBezTo>
                <a:lnTo>
                  <a:pt x="2696353" y="4251"/>
                </a:lnTo>
                <a:lnTo>
                  <a:pt x="2745536" y="5232"/>
                </a:lnTo>
                <a:cubicBezTo>
                  <a:pt x="2818993" y="6452"/>
                  <a:pt x="2887864" y="7004"/>
                  <a:pt x="2947014" y="5793"/>
                </a:cubicBezTo>
                <a:cubicBezTo>
                  <a:pt x="3006163" y="4584"/>
                  <a:pt x="3060036" y="3178"/>
                  <a:pt x="3110399" y="1949"/>
                </a:cubicBezTo>
                <a:lnTo>
                  <a:pt x="3199002" y="221"/>
                </a:lnTo>
                <a:lnTo>
                  <a:pt x="3325015" y="3583"/>
                </a:lnTo>
                <a:cubicBezTo>
                  <a:pt x="3530714" y="12997"/>
                  <a:pt x="3736239" y="28910"/>
                  <a:pt x="3941762" y="43248"/>
                </a:cubicBezTo>
                <a:cubicBezTo>
                  <a:pt x="4091489" y="53739"/>
                  <a:pt x="4241215" y="66563"/>
                  <a:pt x="4390942" y="37886"/>
                </a:cubicBezTo>
                <a:cubicBezTo>
                  <a:pt x="4517292" y="15154"/>
                  <a:pt x="4645537" y="10467"/>
                  <a:pt x="4772844" y="23896"/>
                </a:cubicBezTo>
                <a:cubicBezTo>
                  <a:pt x="4885597" y="37327"/>
                  <a:pt x="4999052" y="40520"/>
                  <a:pt x="5112224" y="33456"/>
                </a:cubicBezTo>
                <a:lnTo>
                  <a:pt x="5477482" y="6922"/>
                </a:lnTo>
                <a:lnTo>
                  <a:pt x="5517883" y="7607"/>
                </a:lnTo>
                <a:lnTo>
                  <a:pt x="5555683" y="6426"/>
                </a:lnTo>
                <a:cubicBezTo>
                  <a:pt x="5626335" y="3737"/>
                  <a:pt x="5704795" y="995"/>
                  <a:pt x="5791061" y="218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055943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79475">
              <a:lnSpc>
                <a:spcPct val="100000"/>
              </a:lnSpc>
              <a:spcBef>
                <a:spcPts val="100"/>
              </a:spcBef>
            </a:pPr>
            <a:r>
              <a:rPr spc="-120" dirty="0">
                <a:solidFill>
                  <a:srgbClr val="292934"/>
                </a:solidFill>
              </a:rPr>
              <a:t>Entity</a:t>
            </a:r>
            <a:r>
              <a:rPr spc="-254" dirty="0">
                <a:solidFill>
                  <a:srgbClr val="292934"/>
                </a:solidFill>
              </a:rPr>
              <a:t> </a:t>
            </a:r>
            <a:r>
              <a:rPr spc="-90" dirty="0">
                <a:solidFill>
                  <a:srgbClr val="292934"/>
                </a:solidFill>
              </a:rPr>
              <a:t>Sets</a:t>
            </a:r>
            <a:r>
              <a:rPr spc="-250" dirty="0">
                <a:solidFill>
                  <a:srgbClr val="292934"/>
                </a:solidFill>
              </a:rPr>
              <a:t> </a:t>
            </a:r>
            <a:r>
              <a:rPr spc="-110" dirty="0">
                <a:solidFill>
                  <a:srgbClr val="292934"/>
                </a:solidFill>
              </a:rPr>
              <a:t>and</a:t>
            </a:r>
            <a:r>
              <a:rPr spc="-254" dirty="0">
                <a:solidFill>
                  <a:srgbClr val="292934"/>
                </a:solidFill>
              </a:rPr>
              <a:t> </a:t>
            </a:r>
            <a:r>
              <a:rPr spc="-110" dirty="0">
                <a:solidFill>
                  <a:srgbClr val="292934"/>
                </a:solidFill>
              </a:rPr>
              <a:t>Attributes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32816" y="5379720"/>
            <a:ext cx="9309100" cy="1719580"/>
            <a:chOff x="432816" y="5379720"/>
            <a:chExt cx="9309100" cy="17195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2816" y="5379720"/>
              <a:ext cx="9308592" cy="14874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2440" y="5471160"/>
              <a:ext cx="9140952" cy="1627632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765839" y="5615321"/>
            <a:ext cx="8522335" cy="1094740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100330" rIns="0" bIns="0" rtlCol="0">
            <a:spAutoFit/>
          </a:bodyPr>
          <a:lstStyle/>
          <a:p>
            <a:pPr marL="445134" marR="423545" algn="ctr">
              <a:lnSpc>
                <a:spcPts val="2300"/>
              </a:lnSpc>
              <a:spcBef>
                <a:spcPts val="790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E-R</a:t>
            </a:r>
            <a:r>
              <a:rPr sz="2100" spc="11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model</a:t>
            </a:r>
            <a:r>
              <a:rPr sz="210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100" spc="11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11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static</a:t>
            </a:r>
            <a:r>
              <a:rPr sz="210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concept,</a:t>
            </a:r>
            <a:r>
              <a:rPr sz="210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involving</a:t>
            </a:r>
            <a:r>
              <a:rPr sz="2100" spc="1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11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structure</a:t>
            </a:r>
            <a:r>
              <a:rPr sz="210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of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2100" spc="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100" spc="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2100" spc="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operations</a:t>
            </a:r>
            <a:r>
              <a:rPr sz="2100" spc="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2100" spc="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data.</a:t>
            </a:r>
            <a:endParaRPr sz="2100">
              <a:latin typeface="Verdana"/>
              <a:cs typeface="Verdana"/>
            </a:endParaRPr>
          </a:p>
          <a:p>
            <a:pPr marL="13970" algn="ctr">
              <a:lnSpc>
                <a:spcPts val="2460"/>
              </a:lnSpc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Thus,</a:t>
            </a:r>
            <a:r>
              <a:rPr sz="210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no</a:t>
            </a:r>
            <a:r>
              <a:rPr sz="2100" spc="1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methods</a:t>
            </a:r>
            <a:r>
              <a:rPr sz="2100" spc="11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associated</a:t>
            </a:r>
            <a:r>
              <a:rPr sz="2100" spc="1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2100" spc="1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an</a:t>
            </a:r>
            <a:r>
              <a:rPr sz="2100" spc="1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2100" spc="1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14465" y="2456595"/>
            <a:ext cx="1285240" cy="669925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204470" rIns="0" bIns="0" rtlCol="0">
            <a:spAutoFit/>
          </a:bodyPr>
          <a:lstStyle/>
          <a:p>
            <a:pPr marL="311150">
              <a:lnSpc>
                <a:spcPct val="100000"/>
              </a:lnSpc>
              <a:spcBef>
                <a:spcPts val="161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person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959101" y="3381016"/>
            <a:ext cx="1229360" cy="501650"/>
            <a:chOff x="2959101" y="3381016"/>
            <a:chExt cx="1229360" cy="501650"/>
          </a:xfrm>
        </p:grpSpPr>
        <p:sp>
          <p:nvSpPr>
            <p:cNvPr id="9" name="object 9"/>
            <p:cNvSpPr/>
            <p:nvPr/>
          </p:nvSpPr>
          <p:spPr>
            <a:xfrm>
              <a:off x="2964181" y="3386096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609353" y="0"/>
                  </a:moveTo>
                  <a:lnTo>
                    <a:pt x="542957" y="1440"/>
                  </a:lnTo>
                  <a:lnTo>
                    <a:pt x="478633" y="5663"/>
                  </a:lnTo>
                  <a:lnTo>
                    <a:pt x="416751" y="12519"/>
                  </a:lnTo>
                  <a:lnTo>
                    <a:pt x="357683" y="21856"/>
                  </a:lnTo>
                  <a:lnTo>
                    <a:pt x="301801" y="33526"/>
                  </a:lnTo>
                  <a:lnTo>
                    <a:pt x="249477" y="47379"/>
                  </a:lnTo>
                  <a:lnTo>
                    <a:pt x="201083" y="63265"/>
                  </a:lnTo>
                  <a:lnTo>
                    <a:pt x="156990" y="81034"/>
                  </a:lnTo>
                  <a:lnTo>
                    <a:pt x="117570" y="100537"/>
                  </a:lnTo>
                  <a:lnTo>
                    <a:pt x="83194" y="121623"/>
                  </a:lnTo>
                  <a:lnTo>
                    <a:pt x="31065" y="167947"/>
                  </a:lnTo>
                  <a:lnTo>
                    <a:pt x="3575" y="218807"/>
                  </a:lnTo>
                  <a:lnTo>
                    <a:pt x="0" y="245564"/>
                  </a:lnTo>
                  <a:lnTo>
                    <a:pt x="3575" y="272321"/>
                  </a:lnTo>
                  <a:lnTo>
                    <a:pt x="31065" y="323182"/>
                  </a:lnTo>
                  <a:lnTo>
                    <a:pt x="83194" y="369506"/>
                  </a:lnTo>
                  <a:lnTo>
                    <a:pt x="117570" y="390592"/>
                  </a:lnTo>
                  <a:lnTo>
                    <a:pt x="156990" y="410094"/>
                  </a:lnTo>
                  <a:lnTo>
                    <a:pt x="201083" y="427863"/>
                  </a:lnTo>
                  <a:lnTo>
                    <a:pt x="249477" y="443749"/>
                  </a:lnTo>
                  <a:lnTo>
                    <a:pt x="301801" y="457602"/>
                  </a:lnTo>
                  <a:lnTo>
                    <a:pt x="357683" y="469272"/>
                  </a:lnTo>
                  <a:lnTo>
                    <a:pt x="416751" y="478610"/>
                  </a:lnTo>
                  <a:lnTo>
                    <a:pt x="478633" y="485465"/>
                  </a:lnTo>
                  <a:lnTo>
                    <a:pt x="542957" y="489688"/>
                  </a:lnTo>
                  <a:lnTo>
                    <a:pt x="609353" y="491129"/>
                  </a:lnTo>
                  <a:lnTo>
                    <a:pt x="675749" y="489688"/>
                  </a:lnTo>
                  <a:lnTo>
                    <a:pt x="740074" y="485465"/>
                  </a:lnTo>
                  <a:lnTo>
                    <a:pt x="801956" y="478610"/>
                  </a:lnTo>
                  <a:lnTo>
                    <a:pt x="861024" y="469272"/>
                  </a:lnTo>
                  <a:lnTo>
                    <a:pt x="916906" y="457602"/>
                  </a:lnTo>
                  <a:lnTo>
                    <a:pt x="969230" y="443749"/>
                  </a:lnTo>
                  <a:lnTo>
                    <a:pt x="1017625" y="427863"/>
                  </a:lnTo>
                  <a:lnTo>
                    <a:pt x="1061718" y="410094"/>
                  </a:lnTo>
                  <a:lnTo>
                    <a:pt x="1101138" y="390592"/>
                  </a:lnTo>
                  <a:lnTo>
                    <a:pt x="1135513" y="369506"/>
                  </a:lnTo>
                  <a:lnTo>
                    <a:pt x="1187643" y="323182"/>
                  </a:lnTo>
                  <a:lnTo>
                    <a:pt x="1215132" y="272321"/>
                  </a:lnTo>
                  <a:lnTo>
                    <a:pt x="1218708" y="245564"/>
                  </a:lnTo>
                  <a:lnTo>
                    <a:pt x="1215132" y="218807"/>
                  </a:lnTo>
                  <a:lnTo>
                    <a:pt x="1187643" y="167947"/>
                  </a:lnTo>
                  <a:lnTo>
                    <a:pt x="1135513" y="121623"/>
                  </a:lnTo>
                  <a:lnTo>
                    <a:pt x="1101138" y="100537"/>
                  </a:lnTo>
                  <a:lnTo>
                    <a:pt x="1061718" y="81034"/>
                  </a:lnTo>
                  <a:lnTo>
                    <a:pt x="1017625" y="63265"/>
                  </a:lnTo>
                  <a:lnTo>
                    <a:pt x="969230" y="47379"/>
                  </a:lnTo>
                  <a:lnTo>
                    <a:pt x="916906" y="33526"/>
                  </a:lnTo>
                  <a:lnTo>
                    <a:pt x="861024" y="21856"/>
                  </a:lnTo>
                  <a:lnTo>
                    <a:pt x="801956" y="12519"/>
                  </a:lnTo>
                  <a:lnTo>
                    <a:pt x="740074" y="5663"/>
                  </a:lnTo>
                  <a:lnTo>
                    <a:pt x="675749" y="1440"/>
                  </a:lnTo>
                  <a:lnTo>
                    <a:pt x="609353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64181" y="3386096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0" y="245564"/>
                  </a:moveTo>
                  <a:lnTo>
                    <a:pt x="14054" y="192885"/>
                  </a:lnTo>
                  <a:lnTo>
                    <a:pt x="54235" y="144143"/>
                  </a:lnTo>
                  <a:lnTo>
                    <a:pt x="117570" y="100537"/>
                  </a:lnTo>
                  <a:lnTo>
                    <a:pt x="156990" y="81034"/>
                  </a:lnTo>
                  <a:lnTo>
                    <a:pt x="201083" y="63265"/>
                  </a:lnTo>
                  <a:lnTo>
                    <a:pt x="249477" y="47379"/>
                  </a:lnTo>
                  <a:lnTo>
                    <a:pt x="301801" y="33526"/>
                  </a:lnTo>
                  <a:lnTo>
                    <a:pt x="357683" y="21856"/>
                  </a:lnTo>
                  <a:lnTo>
                    <a:pt x="416751" y="12519"/>
                  </a:lnTo>
                  <a:lnTo>
                    <a:pt x="478633" y="5663"/>
                  </a:lnTo>
                  <a:lnTo>
                    <a:pt x="542958" y="1440"/>
                  </a:lnTo>
                  <a:lnTo>
                    <a:pt x="609354" y="0"/>
                  </a:lnTo>
                  <a:lnTo>
                    <a:pt x="675749" y="1440"/>
                  </a:lnTo>
                  <a:lnTo>
                    <a:pt x="740074" y="5663"/>
                  </a:lnTo>
                  <a:lnTo>
                    <a:pt x="801957" y="12519"/>
                  </a:lnTo>
                  <a:lnTo>
                    <a:pt x="861025" y="21856"/>
                  </a:lnTo>
                  <a:lnTo>
                    <a:pt x="916906" y="33526"/>
                  </a:lnTo>
                  <a:lnTo>
                    <a:pt x="969230" y="47379"/>
                  </a:lnTo>
                  <a:lnTo>
                    <a:pt x="1017625" y="63265"/>
                  </a:lnTo>
                  <a:lnTo>
                    <a:pt x="1061718" y="81034"/>
                  </a:lnTo>
                  <a:lnTo>
                    <a:pt x="1101138" y="100537"/>
                  </a:lnTo>
                  <a:lnTo>
                    <a:pt x="1135513" y="121623"/>
                  </a:lnTo>
                  <a:lnTo>
                    <a:pt x="1187642" y="167947"/>
                  </a:lnTo>
                  <a:lnTo>
                    <a:pt x="1215132" y="218807"/>
                  </a:lnTo>
                  <a:lnTo>
                    <a:pt x="1218708" y="245564"/>
                  </a:lnTo>
                  <a:lnTo>
                    <a:pt x="1215132" y="272321"/>
                  </a:lnTo>
                  <a:lnTo>
                    <a:pt x="1187642" y="323182"/>
                  </a:lnTo>
                  <a:lnTo>
                    <a:pt x="1135513" y="369506"/>
                  </a:lnTo>
                  <a:lnTo>
                    <a:pt x="1101138" y="390592"/>
                  </a:lnTo>
                  <a:lnTo>
                    <a:pt x="1061718" y="410094"/>
                  </a:lnTo>
                  <a:lnTo>
                    <a:pt x="1017625" y="427863"/>
                  </a:lnTo>
                  <a:lnTo>
                    <a:pt x="969230" y="443749"/>
                  </a:lnTo>
                  <a:lnTo>
                    <a:pt x="916906" y="457602"/>
                  </a:lnTo>
                  <a:lnTo>
                    <a:pt x="861025" y="469272"/>
                  </a:lnTo>
                  <a:lnTo>
                    <a:pt x="801957" y="478610"/>
                  </a:lnTo>
                  <a:lnTo>
                    <a:pt x="740074" y="485465"/>
                  </a:lnTo>
                  <a:lnTo>
                    <a:pt x="675749" y="489688"/>
                  </a:lnTo>
                  <a:lnTo>
                    <a:pt x="609354" y="491129"/>
                  </a:lnTo>
                  <a:lnTo>
                    <a:pt x="542958" y="489688"/>
                  </a:lnTo>
                  <a:lnTo>
                    <a:pt x="478633" y="485465"/>
                  </a:lnTo>
                  <a:lnTo>
                    <a:pt x="416751" y="478610"/>
                  </a:lnTo>
                  <a:lnTo>
                    <a:pt x="357683" y="469272"/>
                  </a:lnTo>
                  <a:lnTo>
                    <a:pt x="301801" y="457602"/>
                  </a:lnTo>
                  <a:lnTo>
                    <a:pt x="249477" y="443749"/>
                  </a:lnTo>
                  <a:lnTo>
                    <a:pt x="201083" y="427863"/>
                  </a:lnTo>
                  <a:lnTo>
                    <a:pt x="156990" y="410094"/>
                  </a:lnTo>
                  <a:lnTo>
                    <a:pt x="117570" y="390592"/>
                  </a:lnTo>
                  <a:lnTo>
                    <a:pt x="83194" y="369506"/>
                  </a:lnTo>
                  <a:lnTo>
                    <a:pt x="31065" y="323182"/>
                  </a:lnTo>
                  <a:lnTo>
                    <a:pt x="3575" y="272321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477014" y="3486911"/>
            <a:ext cx="1924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u="sng" spc="-2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id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284503" y="3445986"/>
            <a:ext cx="1229360" cy="501650"/>
            <a:chOff x="4284503" y="3445986"/>
            <a:chExt cx="1229360" cy="501650"/>
          </a:xfrm>
        </p:grpSpPr>
        <p:sp>
          <p:nvSpPr>
            <p:cNvPr id="13" name="object 13"/>
            <p:cNvSpPr/>
            <p:nvPr/>
          </p:nvSpPr>
          <p:spPr>
            <a:xfrm>
              <a:off x="4289583" y="3451066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609354" y="0"/>
                  </a:moveTo>
                  <a:lnTo>
                    <a:pt x="542958" y="1440"/>
                  </a:lnTo>
                  <a:lnTo>
                    <a:pt x="478633" y="5663"/>
                  </a:lnTo>
                  <a:lnTo>
                    <a:pt x="416751" y="12519"/>
                  </a:lnTo>
                  <a:lnTo>
                    <a:pt x="357683" y="21856"/>
                  </a:lnTo>
                  <a:lnTo>
                    <a:pt x="301801" y="33526"/>
                  </a:lnTo>
                  <a:lnTo>
                    <a:pt x="249477" y="47379"/>
                  </a:lnTo>
                  <a:lnTo>
                    <a:pt x="201083" y="63265"/>
                  </a:lnTo>
                  <a:lnTo>
                    <a:pt x="156990" y="81034"/>
                  </a:lnTo>
                  <a:lnTo>
                    <a:pt x="117570" y="100537"/>
                  </a:lnTo>
                  <a:lnTo>
                    <a:pt x="83194" y="121623"/>
                  </a:lnTo>
                  <a:lnTo>
                    <a:pt x="31065" y="167947"/>
                  </a:lnTo>
                  <a:lnTo>
                    <a:pt x="3575" y="218807"/>
                  </a:lnTo>
                  <a:lnTo>
                    <a:pt x="0" y="245564"/>
                  </a:lnTo>
                  <a:lnTo>
                    <a:pt x="3575" y="272321"/>
                  </a:lnTo>
                  <a:lnTo>
                    <a:pt x="31065" y="323182"/>
                  </a:lnTo>
                  <a:lnTo>
                    <a:pt x="83194" y="369506"/>
                  </a:lnTo>
                  <a:lnTo>
                    <a:pt x="117570" y="390592"/>
                  </a:lnTo>
                  <a:lnTo>
                    <a:pt x="156990" y="410094"/>
                  </a:lnTo>
                  <a:lnTo>
                    <a:pt x="201083" y="427863"/>
                  </a:lnTo>
                  <a:lnTo>
                    <a:pt x="249477" y="443749"/>
                  </a:lnTo>
                  <a:lnTo>
                    <a:pt x="301801" y="457602"/>
                  </a:lnTo>
                  <a:lnTo>
                    <a:pt x="357683" y="469272"/>
                  </a:lnTo>
                  <a:lnTo>
                    <a:pt x="416751" y="478610"/>
                  </a:lnTo>
                  <a:lnTo>
                    <a:pt x="478633" y="485465"/>
                  </a:lnTo>
                  <a:lnTo>
                    <a:pt x="542958" y="489688"/>
                  </a:lnTo>
                  <a:lnTo>
                    <a:pt x="609354" y="491129"/>
                  </a:lnTo>
                  <a:lnTo>
                    <a:pt x="675750" y="489688"/>
                  </a:lnTo>
                  <a:lnTo>
                    <a:pt x="740075" y="485465"/>
                  </a:lnTo>
                  <a:lnTo>
                    <a:pt x="801957" y="478610"/>
                  </a:lnTo>
                  <a:lnTo>
                    <a:pt x="861025" y="469272"/>
                  </a:lnTo>
                  <a:lnTo>
                    <a:pt x="916907" y="457602"/>
                  </a:lnTo>
                  <a:lnTo>
                    <a:pt x="969230" y="443749"/>
                  </a:lnTo>
                  <a:lnTo>
                    <a:pt x="1017625" y="427863"/>
                  </a:lnTo>
                  <a:lnTo>
                    <a:pt x="1061718" y="410094"/>
                  </a:lnTo>
                  <a:lnTo>
                    <a:pt x="1101138" y="390592"/>
                  </a:lnTo>
                  <a:lnTo>
                    <a:pt x="1135513" y="369506"/>
                  </a:lnTo>
                  <a:lnTo>
                    <a:pt x="1187643" y="323182"/>
                  </a:lnTo>
                  <a:lnTo>
                    <a:pt x="1215132" y="272321"/>
                  </a:lnTo>
                  <a:lnTo>
                    <a:pt x="1218708" y="245564"/>
                  </a:lnTo>
                  <a:lnTo>
                    <a:pt x="1215132" y="218807"/>
                  </a:lnTo>
                  <a:lnTo>
                    <a:pt x="1187643" y="167947"/>
                  </a:lnTo>
                  <a:lnTo>
                    <a:pt x="1135513" y="121623"/>
                  </a:lnTo>
                  <a:lnTo>
                    <a:pt x="1101138" y="100537"/>
                  </a:lnTo>
                  <a:lnTo>
                    <a:pt x="1061718" y="81034"/>
                  </a:lnTo>
                  <a:lnTo>
                    <a:pt x="1017625" y="63265"/>
                  </a:lnTo>
                  <a:lnTo>
                    <a:pt x="969230" y="47379"/>
                  </a:lnTo>
                  <a:lnTo>
                    <a:pt x="916907" y="33526"/>
                  </a:lnTo>
                  <a:lnTo>
                    <a:pt x="861025" y="21856"/>
                  </a:lnTo>
                  <a:lnTo>
                    <a:pt x="801957" y="12519"/>
                  </a:lnTo>
                  <a:lnTo>
                    <a:pt x="740075" y="5663"/>
                  </a:lnTo>
                  <a:lnTo>
                    <a:pt x="675750" y="1440"/>
                  </a:lnTo>
                  <a:lnTo>
                    <a:pt x="609354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89583" y="3451066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0" y="245564"/>
                  </a:moveTo>
                  <a:lnTo>
                    <a:pt x="14054" y="192885"/>
                  </a:lnTo>
                  <a:lnTo>
                    <a:pt x="54235" y="144143"/>
                  </a:lnTo>
                  <a:lnTo>
                    <a:pt x="117570" y="100537"/>
                  </a:lnTo>
                  <a:lnTo>
                    <a:pt x="156990" y="81034"/>
                  </a:lnTo>
                  <a:lnTo>
                    <a:pt x="201083" y="63265"/>
                  </a:lnTo>
                  <a:lnTo>
                    <a:pt x="249477" y="47379"/>
                  </a:lnTo>
                  <a:lnTo>
                    <a:pt x="301801" y="33526"/>
                  </a:lnTo>
                  <a:lnTo>
                    <a:pt x="357683" y="21856"/>
                  </a:lnTo>
                  <a:lnTo>
                    <a:pt x="416751" y="12519"/>
                  </a:lnTo>
                  <a:lnTo>
                    <a:pt x="478633" y="5663"/>
                  </a:lnTo>
                  <a:lnTo>
                    <a:pt x="542958" y="1440"/>
                  </a:lnTo>
                  <a:lnTo>
                    <a:pt x="609354" y="0"/>
                  </a:lnTo>
                  <a:lnTo>
                    <a:pt x="675749" y="1440"/>
                  </a:lnTo>
                  <a:lnTo>
                    <a:pt x="740074" y="5663"/>
                  </a:lnTo>
                  <a:lnTo>
                    <a:pt x="801957" y="12519"/>
                  </a:lnTo>
                  <a:lnTo>
                    <a:pt x="861025" y="21856"/>
                  </a:lnTo>
                  <a:lnTo>
                    <a:pt x="916906" y="33526"/>
                  </a:lnTo>
                  <a:lnTo>
                    <a:pt x="969230" y="47379"/>
                  </a:lnTo>
                  <a:lnTo>
                    <a:pt x="1017625" y="63265"/>
                  </a:lnTo>
                  <a:lnTo>
                    <a:pt x="1061718" y="81034"/>
                  </a:lnTo>
                  <a:lnTo>
                    <a:pt x="1101138" y="100537"/>
                  </a:lnTo>
                  <a:lnTo>
                    <a:pt x="1135513" y="121623"/>
                  </a:lnTo>
                  <a:lnTo>
                    <a:pt x="1187642" y="167947"/>
                  </a:lnTo>
                  <a:lnTo>
                    <a:pt x="1215132" y="218807"/>
                  </a:lnTo>
                  <a:lnTo>
                    <a:pt x="1218708" y="245564"/>
                  </a:lnTo>
                  <a:lnTo>
                    <a:pt x="1215132" y="272321"/>
                  </a:lnTo>
                  <a:lnTo>
                    <a:pt x="1187642" y="323182"/>
                  </a:lnTo>
                  <a:lnTo>
                    <a:pt x="1135513" y="369506"/>
                  </a:lnTo>
                  <a:lnTo>
                    <a:pt x="1101138" y="390592"/>
                  </a:lnTo>
                  <a:lnTo>
                    <a:pt x="1061718" y="410094"/>
                  </a:lnTo>
                  <a:lnTo>
                    <a:pt x="1017625" y="427863"/>
                  </a:lnTo>
                  <a:lnTo>
                    <a:pt x="969230" y="443749"/>
                  </a:lnTo>
                  <a:lnTo>
                    <a:pt x="916906" y="457602"/>
                  </a:lnTo>
                  <a:lnTo>
                    <a:pt x="861025" y="469272"/>
                  </a:lnTo>
                  <a:lnTo>
                    <a:pt x="801957" y="478610"/>
                  </a:lnTo>
                  <a:lnTo>
                    <a:pt x="740074" y="485465"/>
                  </a:lnTo>
                  <a:lnTo>
                    <a:pt x="675749" y="489688"/>
                  </a:lnTo>
                  <a:lnTo>
                    <a:pt x="609354" y="491129"/>
                  </a:lnTo>
                  <a:lnTo>
                    <a:pt x="542958" y="489688"/>
                  </a:lnTo>
                  <a:lnTo>
                    <a:pt x="478633" y="485465"/>
                  </a:lnTo>
                  <a:lnTo>
                    <a:pt x="416751" y="478610"/>
                  </a:lnTo>
                  <a:lnTo>
                    <a:pt x="357683" y="469272"/>
                  </a:lnTo>
                  <a:lnTo>
                    <a:pt x="301801" y="457602"/>
                  </a:lnTo>
                  <a:lnTo>
                    <a:pt x="249477" y="443749"/>
                  </a:lnTo>
                  <a:lnTo>
                    <a:pt x="201083" y="427863"/>
                  </a:lnTo>
                  <a:lnTo>
                    <a:pt x="156990" y="410094"/>
                  </a:lnTo>
                  <a:lnTo>
                    <a:pt x="117570" y="390592"/>
                  </a:lnTo>
                  <a:lnTo>
                    <a:pt x="83194" y="369506"/>
                  </a:lnTo>
                  <a:lnTo>
                    <a:pt x="31065" y="323182"/>
                  </a:lnTo>
                  <a:lnTo>
                    <a:pt x="3575" y="272321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615304" y="3553967"/>
            <a:ext cx="56769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0" dirty="0">
                <a:solidFill>
                  <a:srgbClr val="292934"/>
                </a:solidFill>
                <a:latin typeface="Arial MT"/>
                <a:cs typeface="Arial MT"/>
              </a:rPr>
              <a:t>name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999334" y="3121420"/>
            <a:ext cx="2656205" cy="676275"/>
            <a:chOff x="3999334" y="3121420"/>
            <a:chExt cx="2656205" cy="676275"/>
          </a:xfrm>
        </p:grpSpPr>
        <p:sp>
          <p:nvSpPr>
            <p:cNvPr id="17" name="object 17"/>
            <p:cNvSpPr/>
            <p:nvPr/>
          </p:nvSpPr>
          <p:spPr>
            <a:xfrm>
              <a:off x="5564057" y="3301285"/>
              <a:ext cx="1086485" cy="491490"/>
            </a:xfrm>
            <a:custGeom>
              <a:avLst/>
              <a:gdLst/>
              <a:ahLst/>
              <a:cxnLst/>
              <a:rect l="l" t="t" r="r" b="b"/>
              <a:pathLst>
                <a:path w="1086484" h="491489">
                  <a:moveTo>
                    <a:pt x="543195" y="0"/>
                  </a:moveTo>
                  <a:lnTo>
                    <a:pt x="479847" y="1652"/>
                  </a:lnTo>
                  <a:lnTo>
                    <a:pt x="418645" y="6485"/>
                  </a:lnTo>
                  <a:lnTo>
                    <a:pt x="359997" y="14316"/>
                  </a:lnTo>
                  <a:lnTo>
                    <a:pt x="304311" y="24959"/>
                  </a:lnTo>
                  <a:lnTo>
                    <a:pt x="251994" y="38231"/>
                  </a:lnTo>
                  <a:lnTo>
                    <a:pt x="203454" y="53947"/>
                  </a:lnTo>
                  <a:lnTo>
                    <a:pt x="159097" y="71924"/>
                  </a:lnTo>
                  <a:lnTo>
                    <a:pt x="119333" y="91976"/>
                  </a:lnTo>
                  <a:lnTo>
                    <a:pt x="84568" y="113920"/>
                  </a:lnTo>
                  <a:lnTo>
                    <a:pt x="31667" y="162745"/>
                  </a:lnTo>
                  <a:lnTo>
                    <a:pt x="3654" y="216926"/>
                  </a:lnTo>
                  <a:lnTo>
                    <a:pt x="0" y="245564"/>
                  </a:lnTo>
                  <a:lnTo>
                    <a:pt x="3654" y="274202"/>
                  </a:lnTo>
                  <a:lnTo>
                    <a:pt x="31667" y="328383"/>
                  </a:lnTo>
                  <a:lnTo>
                    <a:pt x="84568" y="377209"/>
                  </a:lnTo>
                  <a:lnTo>
                    <a:pt x="119333" y="399153"/>
                  </a:lnTo>
                  <a:lnTo>
                    <a:pt x="159097" y="419205"/>
                  </a:lnTo>
                  <a:lnTo>
                    <a:pt x="203454" y="437181"/>
                  </a:lnTo>
                  <a:lnTo>
                    <a:pt x="251994" y="452897"/>
                  </a:lnTo>
                  <a:lnTo>
                    <a:pt x="304311" y="466169"/>
                  </a:lnTo>
                  <a:lnTo>
                    <a:pt x="359997" y="476813"/>
                  </a:lnTo>
                  <a:lnTo>
                    <a:pt x="418645" y="484643"/>
                  </a:lnTo>
                  <a:lnTo>
                    <a:pt x="479847" y="489477"/>
                  </a:lnTo>
                  <a:lnTo>
                    <a:pt x="543195" y="491129"/>
                  </a:lnTo>
                  <a:lnTo>
                    <a:pt x="606543" y="489477"/>
                  </a:lnTo>
                  <a:lnTo>
                    <a:pt x="667745" y="484643"/>
                  </a:lnTo>
                  <a:lnTo>
                    <a:pt x="726392" y="476813"/>
                  </a:lnTo>
                  <a:lnTo>
                    <a:pt x="782078" y="466169"/>
                  </a:lnTo>
                  <a:lnTo>
                    <a:pt x="834395" y="452897"/>
                  </a:lnTo>
                  <a:lnTo>
                    <a:pt x="882936" y="437181"/>
                  </a:lnTo>
                  <a:lnTo>
                    <a:pt x="927292" y="419205"/>
                  </a:lnTo>
                  <a:lnTo>
                    <a:pt x="967056" y="399153"/>
                  </a:lnTo>
                  <a:lnTo>
                    <a:pt x="1001821" y="377209"/>
                  </a:lnTo>
                  <a:lnTo>
                    <a:pt x="1054723" y="328383"/>
                  </a:lnTo>
                  <a:lnTo>
                    <a:pt x="1082736" y="274202"/>
                  </a:lnTo>
                  <a:lnTo>
                    <a:pt x="1086391" y="245564"/>
                  </a:lnTo>
                  <a:lnTo>
                    <a:pt x="1082736" y="216926"/>
                  </a:lnTo>
                  <a:lnTo>
                    <a:pt x="1054723" y="162745"/>
                  </a:lnTo>
                  <a:lnTo>
                    <a:pt x="1001821" y="113920"/>
                  </a:lnTo>
                  <a:lnTo>
                    <a:pt x="967056" y="91976"/>
                  </a:lnTo>
                  <a:lnTo>
                    <a:pt x="927292" y="71924"/>
                  </a:lnTo>
                  <a:lnTo>
                    <a:pt x="882936" y="53947"/>
                  </a:lnTo>
                  <a:lnTo>
                    <a:pt x="834395" y="38231"/>
                  </a:lnTo>
                  <a:lnTo>
                    <a:pt x="782078" y="24959"/>
                  </a:lnTo>
                  <a:lnTo>
                    <a:pt x="726392" y="14316"/>
                  </a:lnTo>
                  <a:lnTo>
                    <a:pt x="667745" y="6485"/>
                  </a:lnTo>
                  <a:lnTo>
                    <a:pt x="606543" y="1652"/>
                  </a:lnTo>
                  <a:lnTo>
                    <a:pt x="543195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564057" y="3301285"/>
              <a:ext cx="1086485" cy="491490"/>
            </a:xfrm>
            <a:custGeom>
              <a:avLst/>
              <a:gdLst/>
              <a:ahLst/>
              <a:cxnLst/>
              <a:rect l="l" t="t" r="r" b="b"/>
              <a:pathLst>
                <a:path w="1086484" h="491489">
                  <a:moveTo>
                    <a:pt x="0" y="245564"/>
                  </a:moveTo>
                  <a:lnTo>
                    <a:pt x="14346" y="189259"/>
                  </a:lnTo>
                  <a:lnTo>
                    <a:pt x="55211" y="137571"/>
                  </a:lnTo>
                  <a:lnTo>
                    <a:pt x="119333" y="91976"/>
                  </a:lnTo>
                  <a:lnTo>
                    <a:pt x="159098" y="71924"/>
                  </a:lnTo>
                  <a:lnTo>
                    <a:pt x="203454" y="53947"/>
                  </a:lnTo>
                  <a:lnTo>
                    <a:pt x="251994" y="38231"/>
                  </a:lnTo>
                  <a:lnTo>
                    <a:pt x="304312" y="24959"/>
                  </a:lnTo>
                  <a:lnTo>
                    <a:pt x="359998" y="14316"/>
                  </a:lnTo>
                  <a:lnTo>
                    <a:pt x="418645" y="6485"/>
                  </a:lnTo>
                  <a:lnTo>
                    <a:pt x="479847" y="1652"/>
                  </a:lnTo>
                  <a:lnTo>
                    <a:pt x="543195" y="0"/>
                  </a:lnTo>
                  <a:lnTo>
                    <a:pt x="606543" y="1652"/>
                  </a:lnTo>
                  <a:lnTo>
                    <a:pt x="667745" y="6485"/>
                  </a:lnTo>
                  <a:lnTo>
                    <a:pt x="726393" y="14316"/>
                  </a:lnTo>
                  <a:lnTo>
                    <a:pt x="782079" y="24959"/>
                  </a:lnTo>
                  <a:lnTo>
                    <a:pt x="834396" y="38231"/>
                  </a:lnTo>
                  <a:lnTo>
                    <a:pt x="882936" y="53947"/>
                  </a:lnTo>
                  <a:lnTo>
                    <a:pt x="927293" y="71924"/>
                  </a:lnTo>
                  <a:lnTo>
                    <a:pt x="967057" y="91976"/>
                  </a:lnTo>
                  <a:lnTo>
                    <a:pt x="1001822" y="113920"/>
                  </a:lnTo>
                  <a:lnTo>
                    <a:pt x="1054723" y="162745"/>
                  </a:lnTo>
                  <a:lnTo>
                    <a:pt x="1082736" y="216926"/>
                  </a:lnTo>
                  <a:lnTo>
                    <a:pt x="1086391" y="245564"/>
                  </a:lnTo>
                  <a:lnTo>
                    <a:pt x="1082736" y="274202"/>
                  </a:lnTo>
                  <a:lnTo>
                    <a:pt x="1054723" y="328383"/>
                  </a:lnTo>
                  <a:lnTo>
                    <a:pt x="1001822" y="377209"/>
                  </a:lnTo>
                  <a:lnTo>
                    <a:pt x="967057" y="399153"/>
                  </a:lnTo>
                  <a:lnTo>
                    <a:pt x="927293" y="419205"/>
                  </a:lnTo>
                  <a:lnTo>
                    <a:pt x="882936" y="437181"/>
                  </a:lnTo>
                  <a:lnTo>
                    <a:pt x="834396" y="452898"/>
                  </a:lnTo>
                  <a:lnTo>
                    <a:pt x="782079" y="466170"/>
                  </a:lnTo>
                  <a:lnTo>
                    <a:pt x="726393" y="476813"/>
                  </a:lnTo>
                  <a:lnTo>
                    <a:pt x="667745" y="484644"/>
                  </a:lnTo>
                  <a:lnTo>
                    <a:pt x="606543" y="489477"/>
                  </a:lnTo>
                  <a:lnTo>
                    <a:pt x="543195" y="491129"/>
                  </a:lnTo>
                  <a:lnTo>
                    <a:pt x="479847" y="489477"/>
                  </a:lnTo>
                  <a:lnTo>
                    <a:pt x="418645" y="484644"/>
                  </a:lnTo>
                  <a:lnTo>
                    <a:pt x="359998" y="476813"/>
                  </a:lnTo>
                  <a:lnTo>
                    <a:pt x="304312" y="466170"/>
                  </a:lnTo>
                  <a:lnTo>
                    <a:pt x="251994" y="452898"/>
                  </a:lnTo>
                  <a:lnTo>
                    <a:pt x="203454" y="437181"/>
                  </a:lnTo>
                  <a:lnTo>
                    <a:pt x="159098" y="419205"/>
                  </a:lnTo>
                  <a:lnTo>
                    <a:pt x="119333" y="399153"/>
                  </a:lnTo>
                  <a:lnTo>
                    <a:pt x="84569" y="377209"/>
                  </a:lnTo>
                  <a:lnTo>
                    <a:pt x="31667" y="328383"/>
                  </a:lnTo>
                  <a:lnTo>
                    <a:pt x="3654" y="274202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56991" y="3126500"/>
              <a:ext cx="866775" cy="247015"/>
            </a:xfrm>
            <a:custGeom>
              <a:avLst/>
              <a:gdLst/>
              <a:ahLst/>
              <a:cxnLst/>
              <a:rect l="l" t="t" r="r" b="b"/>
              <a:pathLst>
                <a:path w="866775" h="247014">
                  <a:moveTo>
                    <a:pt x="866164" y="246708"/>
                  </a:moveTo>
                  <a:lnTo>
                    <a:pt x="0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856992" y="3126500"/>
              <a:ext cx="42545" cy="325120"/>
            </a:xfrm>
            <a:custGeom>
              <a:avLst/>
              <a:gdLst/>
              <a:ahLst/>
              <a:cxnLst/>
              <a:rect l="l" t="t" r="r" b="b"/>
              <a:pathLst>
                <a:path w="42545" h="325120">
                  <a:moveTo>
                    <a:pt x="41946" y="324565"/>
                  </a:moveTo>
                  <a:lnTo>
                    <a:pt x="0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004414" y="3126500"/>
              <a:ext cx="852805" cy="332105"/>
            </a:xfrm>
            <a:custGeom>
              <a:avLst/>
              <a:gdLst/>
              <a:ahLst/>
              <a:cxnLst/>
              <a:rect l="l" t="t" r="r" b="b"/>
              <a:pathLst>
                <a:path w="852804" h="332104">
                  <a:moveTo>
                    <a:pt x="0" y="331519"/>
                  </a:moveTo>
                  <a:lnTo>
                    <a:pt x="852578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731652" y="3392423"/>
            <a:ext cx="79565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address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646982" y="1887661"/>
            <a:ext cx="3484245" cy="851535"/>
            <a:chOff x="5646982" y="1887661"/>
            <a:chExt cx="3484245" cy="851535"/>
          </a:xfrm>
        </p:grpSpPr>
        <p:sp>
          <p:nvSpPr>
            <p:cNvPr id="24" name="object 24"/>
            <p:cNvSpPr/>
            <p:nvPr/>
          </p:nvSpPr>
          <p:spPr>
            <a:xfrm>
              <a:off x="5653755" y="1894434"/>
              <a:ext cx="3470910" cy="838200"/>
            </a:xfrm>
            <a:custGeom>
              <a:avLst/>
              <a:gdLst/>
              <a:ahLst/>
              <a:cxnLst/>
              <a:rect l="l" t="t" r="r" b="b"/>
              <a:pathLst>
                <a:path w="3470909" h="838200">
                  <a:moveTo>
                    <a:pt x="3470431" y="698027"/>
                  </a:moveTo>
                  <a:lnTo>
                    <a:pt x="615026" y="698027"/>
                  </a:lnTo>
                  <a:lnTo>
                    <a:pt x="622143" y="742154"/>
                  </a:lnTo>
                  <a:lnTo>
                    <a:pt x="641962" y="780477"/>
                  </a:lnTo>
                  <a:lnTo>
                    <a:pt x="672183" y="810698"/>
                  </a:lnTo>
                  <a:lnTo>
                    <a:pt x="710507" y="830517"/>
                  </a:lnTo>
                  <a:lnTo>
                    <a:pt x="754634" y="837634"/>
                  </a:lnTo>
                  <a:lnTo>
                    <a:pt x="3330825" y="837634"/>
                  </a:lnTo>
                  <a:lnTo>
                    <a:pt x="3374951" y="830517"/>
                  </a:lnTo>
                  <a:lnTo>
                    <a:pt x="3413274" y="810698"/>
                  </a:lnTo>
                  <a:lnTo>
                    <a:pt x="3443495" y="780477"/>
                  </a:lnTo>
                  <a:lnTo>
                    <a:pt x="3463314" y="742154"/>
                  </a:lnTo>
                  <a:lnTo>
                    <a:pt x="3470431" y="698027"/>
                  </a:lnTo>
                  <a:close/>
                </a:path>
                <a:path w="3470909" h="838200">
                  <a:moveTo>
                    <a:pt x="3330825" y="0"/>
                  </a:moveTo>
                  <a:lnTo>
                    <a:pt x="754634" y="0"/>
                  </a:lnTo>
                  <a:lnTo>
                    <a:pt x="710507" y="7117"/>
                  </a:lnTo>
                  <a:lnTo>
                    <a:pt x="672183" y="26936"/>
                  </a:lnTo>
                  <a:lnTo>
                    <a:pt x="641962" y="57157"/>
                  </a:lnTo>
                  <a:lnTo>
                    <a:pt x="622143" y="95480"/>
                  </a:lnTo>
                  <a:lnTo>
                    <a:pt x="615026" y="139607"/>
                  </a:lnTo>
                  <a:lnTo>
                    <a:pt x="615026" y="488621"/>
                  </a:lnTo>
                  <a:lnTo>
                    <a:pt x="0" y="726959"/>
                  </a:lnTo>
                  <a:lnTo>
                    <a:pt x="615026" y="698027"/>
                  </a:lnTo>
                  <a:lnTo>
                    <a:pt x="3470431" y="698027"/>
                  </a:lnTo>
                  <a:lnTo>
                    <a:pt x="3470431" y="139607"/>
                  </a:lnTo>
                  <a:lnTo>
                    <a:pt x="3463314" y="95480"/>
                  </a:lnTo>
                  <a:lnTo>
                    <a:pt x="3443495" y="57157"/>
                  </a:lnTo>
                  <a:lnTo>
                    <a:pt x="3413274" y="26936"/>
                  </a:lnTo>
                  <a:lnTo>
                    <a:pt x="3374951" y="7117"/>
                  </a:lnTo>
                  <a:lnTo>
                    <a:pt x="3330825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653755" y="1894434"/>
              <a:ext cx="3470910" cy="838200"/>
            </a:xfrm>
            <a:custGeom>
              <a:avLst/>
              <a:gdLst/>
              <a:ahLst/>
              <a:cxnLst/>
              <a:rect l="l" t="t" r="r" b="b"/>
              <a:pathLst>
                <a:path w="3470909" h="838200">
                  <a:moveTo>
                    <a:pt x="615026" y="139607"/>
                  </a:moveTo>
                  <a:lnTo>
                    <a:pt x="622144" y="95480"/>
                  </a:lnTo>
                  <a:lnTo>
                    <a:pt x="641962" y="57157"/>
                  </a:lnTo>
                  <a:lnTo>
                    <a:pt x="672183" y="26936"/>
                  </a:lnTo>
                  <a:lnTo>
                    <a:pt x="710507" y="7117"/>
                  </a:lnTo>
                  <a:lnTo>
                    <a:pt x="754633" y="0"/>
                  </a:lnTo>
                  <a:lnTo>
                    <a:pt x="1090927" y="0"/>
                  </a:lnTo>
                  <a:lnTo>
                    <a:pt x="1804778" y="0"/>
                  </a:lnTo>
                  <a:lnTo>
                    <a:pt x="3330824" y="0"/>
                  </a:lnTo>
                  <a:lnTo>
                    <a:pt x="3374950" y="7117"/>
                  </a:lnTo>
                  <a:lnTo>
                    <a:pt x="3413274" y="26936"/>
                  </a:lnTo>
                  <a:lnTo>
                    <a:pt x="3443495" y="57157"/>
                  </a:lnTo>
                  <a:lnTo>
                    <a:pt x="3463314" y="95480"/>
                  </a:lnTo>
                  <a:lnTo>
                    <a:pt x="3470431" y="139607"/>
                  </a:lnTo>
                  <a:lnTo>
                    <a:pt x="3470431" y="488621"/>
                  </a:lnTo>
                  <a:lnTo>
                    <a:pt x="3470431" y="698030"/>
                  </a:lnTo>
                  <a:lnTo>
                    <a:pt x="3463314" y="742154"/>
                  </a:lnTo>
                  <a:lnTo>
                    <a:pt x="3443495" y="780478"/>
                  </a:lnTo>
                  <a:lnTo>
                    <a:pt x="3413274" y="810699"/>
                  </a:lnTo>
                  <a:lnTo>
                    <a:pt x="3374950" y="830517"/>
                  </a:lnTo>
                  <a:lnTo>
                    <a:pt x="3330824" y="837635"/>
                  </a:lnTo>
                  <a:lnTo>
                    <a:pt x="1804778" y="837635"/>
                  </a:lnTo>
                  <a:lnTo>
                    <a:pt x="1090927" y="837635"/>
                  </a:lnTo>
                  <a:lnTo>
                    <a:pt x="754633" y="837635"/>
                  </a:lnTo>
                  <a:lnTo>
                    <a:pt x="710507" y="830517"/>
                  </a:lnTo>
                  <a:lnTo>
                    <a:pt x="672183" y="810699"/>
                  </a:lnTo>
                  <a:lnTo>
                    <a:pt x="641962" y="780478"/>
                  </a:lnTo>
                  <a:lnTo>
                    <a:pt x="622144" y="742154"/>
                  </a:lnTo>
                  <a:lnTo>
                    <a:pt x="615026" y="698027"/>
                  </a:lnTo>
                  <a:lnTo>
                    <a:pt x="0" y="726959"/>
                  </a:lnTo>
                  <a:lnTo>
                    <a:pt x="615026" y="488621"/>
                  </a:lnTo>
                  <a:lnTo>
                    <a:pt x="615026" y="139607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532318" y="1966976"/>
            <a:ext cx="2329180" cy="66294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 algn="ctr">
              <a:lnSpc>
                <a:spcPts val="1610"/>
              </a:lnSpc>
              <a:spcBef>
                <a:spcPts val="310"/>
              </a:spcBef>
            </a:pP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An</a:t>
            </a:r>
            <a:r>
              <a:rPr sz="15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entity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5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an</a:t>
            </a:r>
            <a:r>
              <a:rPr sz="15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object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sz="15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Arial MT"/>
                <a:cs typeface="Arial MT"/>
              </a:rPr>
              <a:t>is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distinguishable</a:t>
            </a:r>
            <a:r>
              <a:rPr sz="15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from</a:t>
            </a:r>
            <a:r>
              <a:rPr sz="15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Arial MT"/>
                <a:cs typeface="Arial MT"/>
              </a:rPr>
              <a:t>other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types</a:t>
            </a:r>
            <a:r>
              <a:rPr sz="15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5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objects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677864" y="3580461"/>
            <a:ext cx="2711450" cy="852169"/>
            <a:chOff x="6677864" y="3580461"/>
            <a:chExt cx="2711450" cy="852169"/>
          </a:xfrm>
        </p:grpSpPr>
        <p:sp>
          <p:nvSpPr>
            <p:cNvPr id="28" name="object 28"/>
            <p:cNvSpPr/>
            <p:nvPr/>
          </p:nvSpPr>
          <p:spPr>
            <a:xfrm>
              <a:off x="6684849" y="3587446"/>
              <a:ext cx="2697480" cy="838200"/>
            </a:xfrm>
            <a:custGeom>
              <a:avLst/>
              <a:gdLst/>
              <a:ahLst/>
              <a:cxnLst/>
              <a:rect l="l" t="t" r="r" b="b"/>
              <a:pathLst>
                <a:path w="2697479" h="838200">
                  <a:moveTo>
                    <a:pt x="0" y="98733"/>
                  </a:moveTo>
                  <a:lnTo>
                    <a:pt x="478015" y="349016"/>
                  </a:lnTo>
                  <a:lnTo>
                    <a:pt x="478015" y="698026"/>
                  </a:lnTo>
                  <a:lnTo>
                    <a:pt x="485132" y="742153"/>
                  </a:lnTo>
                  <a:lnTo>
                    <a:pt x="504951" y="780477"/>
                  </a:lnTo>
                  <a:lnTo>
                    <a:pt x="535172" y="810699"/>
                  </a:lnTo>
                  <a:lnTo>
                    <a:pt x="573496" y="830518"/>
                  </a:lnTo>
                  <a:lnTo>
                    <a:pt x="617623" y="837636"/>
                  </a:lnTo>
                  <a:lnTo>
                    <a:pt x="2557703" y="837636"/>
                  </a:lnTo>
                  <a:lnTo>
                    <a:pt x="2601831" y="830518"/>
                  </a:lnTo>
                  <a:lnTo>
                    <a:pt x="2640155" y="810699"/>
                  </a:lnTo>
                  <a:lnTo>
                    <a:pt x="2670376" y="780477"/>
                  </a:lnTo>
                  <a:lnTo>
                    <a:pt x="2690196" y="742153"/>
                  </a:lnTo>
                  <a:lnTo>
                    <a:pt x="2697313" y="698026"/>
                  </a:lnTo>
                  <a:lnTo>
                    <a:pt x="2697313" y="139609"/>
                  </a:lnTo>
                  <a:lnTo>
                    <a:pt x="478015" y="139609"/>
                  </a:lnTo>
                  <a:lnTo>
                    <a:pt x="0" y="98733"/>
                  </a:lnTo>
                  <a:close/>
                </a:path>
                <a:path w="2697479" h="838200">
                  <a:moveTo>
                    <a:pt x="2557703" y="0"/>
                  </a:moveTo>
                  <a:lnTo>
                    <a:pt x="617623" y="0"/>
                  </a:lnTo>
                  <a:lnTo>
                    <a:pt x="573496" y="7117"/>
                  </a:lnTo>
                  <a:lnTo>
                    <a:pt x="535172" y="26936"/>
                  </a:lnTo>
                  <a:lnTo>
                    <a:pt x="504951" y="57158"/>
                  </a:lnTo>
                  <a:lnTo>
                    <a:pt x="485132" y="95482"/>
                  </a:lnTo>
                  <a:lnTo>
                    <a:pt x="478015" y="139609"/>
                  </a:lnTo>
                  <a:lnTo>
                    <a:pt x="2697313" y="139609"/>
                  </a:lnTo>
                  <a:lnTo>
                    <a:pt x="2690196" y="95482"/>
                  </a:lnTo>
                  <a:lnTo>
                    <a:pt x="2670376" y="57158"/>
                  </a:lnTo>
                  <a:lnTo>
                    <a:pt x="2640155" y="26936"/>
                  </a:lnTo>
                  <a:lnTo>
                    <a:pt x="2601831" y="7117"/>
                  </a:lnTo>
                  <a:lnTo>
                    <a:pt x="2557703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684849" y="3587446"/>
              <a:ext cx="2697480" cy="838200"/>
            </a:xfrm>
            <a:custGeom>
              <a:avLst/>
              <a:gdLst/>
              <a:ahLst/>
              <a:cxnLst/>
              <a:rect l="l" t="t" r="r" b="b"/>
              <a:pathLst>
                <a:path w="2697479" h="838200">
                  <a:moveTo>
                    <a:pt x="478015" y="139609"/>
                  </a:moveTo>
                  <a:lnTo>
                    <a:pt x="485132" y="95481"/>
                  </a:lnTo>
                  <a:lnTo>
                    <a:pt x="504952" y="57157"/>
                  </a:lnTo>
                  <a:lnTo>
                    <a:pt x="535173" y="26936"/>
                  </a:lnTo>
                  <a:lnTo>
                    <a:pt x="573497" y="7117"/>
                  </a:lnTo>
                  <a:lnTo>
                    <a:pt x="617624" y="0"/>
                  </a:lnTo>
                  <a:lnTo>
                    <a:pt x="847898" y="0"/>
                  </a:lnTo>
                  <a:lnTo>
                    <a:pt x="1402723" y="0"/>
                  </a:lnTo>
                  <a:lnTo>
                    <a:pt x="2557704" y="0"/>
                  </a:lnTo>
                  <a:lnTo>
                    <a:pt x="2601831" y="7117"/>
                  </a:lnTo>
                  <a:lnTo>
                    <a:pt x="2640155" y="26936"/>
                  </a:lnTo>
                  <a:lnTo>
                    <a:pt x="2670377" y="57157"/>
                  </a:lnTo>
                  <a:lnTo>
                    <a:pt x="2690196" y="95481"/>
                  </a:lnTo>
                  <a:lnTo>
                    <a:pt x="2697313" y="139609"/>
                  </a:lnTo>
                  <a:lnTo>
                    <a:pt x="2697313" y="349015"/>
                  </a:lnTo>
                  <a:lnTo>
                    <a:pt x="2697313" y="698026"/>
                  </a:lnTo>
                  <a:lnTo>
                    <a:pt x="2690196" y="742153"/>
                  </a:lnTo>
                  <a:lnTo>
                    <a:pt x="2670377" y="780477"/>
                  </a:lnTo>
                  <a:lnTo>
                    <a:pt x="2640155" y="810698"/>
                  </a:lnTo>
                  <a:lnTo>
                    <a:pt x="2601831" y="830517"/>
                  </a:lnTo>
                  <a:lnTo>
                    <a:pt x="2557704" y="837635"/>
                  </a:lnTo>
                  <a:lnTo>
                    <a:pt x="1402723" y="837635"/>
                  </a:lnTo>
                  <a:lnTo>
                    <a:pt x="847898" y="837635"/>
                  </a:lnTo>
                  <a:lnTo>
                    <a:pt x="617624" y="837635"/>
                  </a:lnTo>
                  <a:lnTo>
                    <a:pt x="573497" y="830517"/>
                  </a:lnTo>
                  <a:lnTo>
                    <a:pt x="535173" y="810698"/>
                  </a:lnTo>
                  <a:lnTo>
                    <a:pt x="504952" y="780477"/>
                  </a:lnTo>
                  <a:lnTo>
                    <a:pt x="485132" y="742153"/>
                  </a:lnTo>
                  <a:lnTo>
                    <a:pt x="478015" y="698026"/>
                  </a:lnTo>
                  <a:lnTo>
                    <a:pt x="478015" y="349015"/>
                  </a:lnTo>
                  <a:lnTo>
                    <a:pt x="0" y="98732"/>
                  </a:lnTo>
                  <a:lnTo>
                    <a:pt x="478015" y="139606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7502893" y="3661664"/>
            <a:ext cx="1539875" cy="65976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 indent="94615">
              <a:lnSpc>
                <a:spcPct val="88700"/>
              </a:lnSpc>
              <a:spcBef>
                <a:spcPts val="300"/>
              </a:spcBef>
            </a:pP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An</a:t>
            </a:r>
            <a:r>
              <a:rPr sz="15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attribute</a:t>
            </a:r>
            <a:r>
              <a:rPr sz="15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Arial MT"/>
                <a:cs typeface="Arial MT"/>
              </a:rPr>
              <a:t>has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domain</a:t>
            </a:r>
            <a:r>
              <a:rPr sz="15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specifying acceptable</a:t>
            </a:r>
            <a:r>
              <a:rPr sz="15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values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92623" y="3802224"/>
            <a:ext cx="2644775" cy="851535"/>
            <a:chOff x="492623" y="3802224"/>
            <a:chExt cx="2644775" cy="851535"/>
          </a:xfrm>
        </p:grpSpPr>
        <p:sp>
          <p:nvSpPr>
            <p:cNvPr id="32" name="object 32"/>
            <p:cNvSpPr/>
            <p:nvPr/>
          </p:nvSpPr>
          <p:spPr>
            <a:xfrm>
              <a:off x="499397" y="3808997"/>
              <a:ext cx="2630805" cy="838200"/>
            </a:xfrm>
            <a:custGeom>
              <a:avLst/>
              <a:gdLst/>
              <a:ahLst/>
              <a:cxnLst/>
              <a:rect l="l" t="t" r="r" b="b"/>
              <a:pathLst>
                <a:path w="2630805" h="838200">
                  <a:moveTo>
                    <a:pt x="2134463" y="0"/>
                  </a:moveTo>
                  <a:lnTo>
                    <a:pt x="139607" y="0"/>
                  </a:lnTo>
                  <a:lnTo>
                    <a:pt x="95480" y="7117"/>
                  </a:lnTo>
                  <a:lnTo>
                    <a:pt x="57157" y="26936"/>
                  </a:lnTo>
                  <a:lnTo>
                    <a:pt x="26936" y="57157"/>
                  </a:lnTo>
                  <a:lnTo>
                    <a:pt x="7117" y="95480"/>
                  </a:lnTo>
                  <a:lnTo>
                    <a:pt x="0" y="139606"/>
                  </a:lnTo>
                  <a:lnTo>
                    <a:pt x="0" y="698026"/>
                  </a:lnTo>
                  <a:lnTo>
                    <a:pt x="7117" y="742153"/>
                  </a:lnTo>
                  <a:lnTo>
                    <a:pt x="26936" y="780476"/>
                  </a:lnTo>
                  <a:lnTo>
                    <a:pt x="57157" y="810698"/>
                  </a:lnTo>
                  <a:lnTo>
                    <a:pt x="95480" y="830517"/>
                  </a:lnTo>
                  <a:lnTo>
                    <a:pt x="139607" y="837634"/>
                  </a:lnTo>
                  <a:lnTo>
                    <a:pt x="2134463" y="837634"/>
                  </a:lnTo>
                  <a:lnTo>
                    <a:pt x="2178590" y="830517"/>
                  </a:lnTo>
                  <a:lnTo>
                    <a:pt x="2216914" y="810698"/>
                  </a:lnTo>
                  <a:lnTo>
                    <a:pt x="2247135" y="780476"/>
                  </a:lnTo>
                  <a:lnTo>
                    <a:pt x="2266954" y="742153"/>
                  </a:lnTo>
                  <a:lnTo>
                    <a:pt x="2274071" y="698026"/>
                  </a:lnTo>
                  <a:lnTo>
                    <a:pt x="2274071" y="349015"/>
                  </a:lnTo>
                  <a:lnTo>
                    <a:pt x="2572365" y="139607"/>
                  </a:lnTo>
                  <a:lnTo>
                    <a:pt x="2274071" y="139606"/>
                  </a:lnTo>
                  <a:lnTo>
                    <a:pt x="2266954" y="95480"/>
                  </a:lnTo>
                  <a:lnTo>
                    <a:pt x="2247135" y="57157"/>
                  </a:lnTo>
                  <a:lnTo>
                    <a:pt x="2216914" y="26936"/>
                  </a:lnTo>
                  <a:lnTo>
                    <a:pt x="2178590" y="7117"/>
                  </a:lnTo>
                  <a:lnTo>
                    <a:pt x="2134463" y="0"/>
                  </a:lnTo>
                  <a:close/>
                </a:path>
                <a:path w="2630805" h="838200">
                  <a:moveTo>
                    <a:pt x="2630601" y="98724"/>
                  </a:moveTo>
                  <a:lnTo>
                    <a:pt x="2274071" y="139607"/>
                  </a:lnTo>
                  <a:lnTo>
                    <a:pt x="2572367" y="139606"/>
                  </a:lnTo>
                  <a:lnTo>
                    <a:pt x="2630601" y="98724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99397" y="3808997"/>
              <a:ext cx="2630805" cy="838200"/>
            </a:xfrm>
            <a:custGeom>
              <a:avLst/>
              <a:gdLst/>
              <a:ahLst/>
              <a:cxnLst/>
              <a:rect l="l" t="t" r="r" b="b"/>
              <a:pathLst>
                <a:path w="2630805" h="838200">
                  <a:moveTo>
                    <a:pt x="0" y="139607"/>
                  </a:moveTo>
                  <a:lnTo>
                    <a:pt x="7117" y="95480"/>
                  </a:lnTo>
                  <a:lnTo>
                    <a:pt x="26936" y="57157"/>
                  </a:lnTo>
                  <a:lnTo>
                    <a:pt x="57157" y="26936"/>
                  </a:lnTo>
                  <a:lnTo>
                    <a:pt x="95480" y="7117"/>
                  </a:lnTo>
                  <a:lnTo>
                    <a:pt x="139607" y="0"/>
                  </a:lnTo>
                  <a:lnTo>
                    <a:pt x="1326541" y="0"/>
                  </a:lnTo>
                  <a:lnTo>
                    <a:pt x="1895059" y="0"/>
                  </a:lnTo>
                  <a:lnTo>
                    <a:pt x="2134463" y="0"/>
                  </a:lnTo>
                  <a:lnTo>
                    <a:pt x="2178590" y="7117"/>
                  </a:lnTo>
                  <a:lnTo>
                    <a:pt x="2216914" y="26936"/>
                  </a:lnTo>
                  <a:lnTo>
                    <a:pt x="2247135" y="57157"/>
                  </a:lnTo>
                  <a:lnTo>
                    <a:pt x="2266954" y="95480"/>
                  </a:lnTo>
                  <a:lnTo>
                    <a:pt x="2274071" y="139607"/>
                  </a:lnTo>
                  <a:lnTo>
                    <a:pt x="2630601" y="98724"/>
                  </a:lnTo>
                  <a:lnTo>
                    <a:pt x="2274071" y="349014"/>
                  </a:lnTo>
                  <a:lnTo>
                    <a:pt x="2274071" y="698026"/>
                  </a:lnTo>
                  <a:lnTo>
                    <a:pt x="2266954" y="742153"/>
                  </a:lnTo>
                  <a:lnTo>
                    <a:pt x="2247135" y="780476"/>
                  </a:lnTo>
                  <a:lnTo>
                    <a:pt x="2216914" y="810697"/>
                  </a:lnTo>
                  <a:lnTo>
                    <a:pt x="2178590" y="830516"/>
                  </a:lnTo>
                  <a:lnTo>
                    <a:pt x="2134463" y="837634"/>
                  </a:lnTo>
                  <a:lnTo>
                    <a:pt x="1895059" y="837634"/>
                  </a:lnTo>
                  <a:lnTo>
                    <a:pt x="1326541" y="837634"/>
                  </a:lnTo>
                  <a:lnTo>
                    <a:pt x="139607" y="837634"/>
                  </a:lnTo>
                  <a:lnTo>
                    <a:pt x="95480" y="830516"/>
                  </a:lnTo>
                  <a:lnTo>
                    <a:pt x="57157" y="810697"/>
                  </a:lnTo>
                  <a:lnTo>
                    <a:pt x="26936" y="780476"/>
                  </a:lnTo>
                  <a:lnTo>
                    <a:pt x="7117" y="742153"/>
                  </a:lnTo>
                  <a:lnTo>
                    <a:pt x="0" y="698026"/>
                  </a:lnTo>
                  <a:lnTo>
                    <a:pt x="0" y="349014"/>
                  </a:lnTo>
                  <a:lnTo>
                    <a:pt x="0" y="139605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35672" y="3881120"/>
            <a:ext cx="2002155" cy="66294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 algn="ctr">
              <a:lnSpc>
                <a:spcPts val="1610"/>
              </a:lnSpc>
              <a:spcBef>
                <a:spcPts val="310"/>
              </a:spcBef>
            </a:pP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Underline</a:t>
            </a:r>
            <a:r>
              <a:rPr sz="15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indicates</a:t>
            </a:r>
            <a:r>
              <a:rPr sz="15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Arial MT"/>
                <a:cs typeface="Arial MT"/>
              </a:rPr>
              <a:t>that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5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attribute</a:t>
            </a:r>
            <a:r>
              <a:rPr sz="15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5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part</a:t>
            </a:r>
            <a:r>
              <a:rPr sz="15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Arial MT"/>
                <a:cs typeface="Arial MT"/>
              </a:rPr>
              <a:t>of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5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primary</a:t>
            </a:r>
            <a:r>
              <a:rPr sz="15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Arial MT"/>
                <a:cs typeface="Arial MT"/>
              </a:rPr>
              <a:t>key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1726567" y="1844438"/>
            <a:ext cx="2341880" cy="819785"/>
            <a:chOff x="1726567" y="1844438"/>
            <a:chExt cx="2341880" cy="819785"/>
          </a:xfrm>
        </p:grpSpPr>
        <p:sp>
          <p:nvSpPr>
            <p:cNvPr id="36" name="object 36"/>
            <p:cNvSpPr/>
            <p:nvPr/>
          </p:nvSpPr>
          <p:spPr>
            <a:xfrm>
              <a:off x="1733340" y="1851211"/>
              <a:ext cx="2328545" cy="806450"/>
            </a:xfrm>
            <a:custGeom>
              <a:avLst/>
              <a:gdLst/>
              <a:ahLst/>
              <a:cxnLst/>
              <a:rect l="l" t="t" r="r" b="b"/>
              <a:pathLst>
                <a:path w="2328545" h="806450">
                  <a:moveTo>
                    <a:pt x="1776526" y="0"/>
                  </a:moveTo>
                  <a:lnTo>
                    <a:pt x="134308" y="0"/>
                  </a:lnTo>
                  <a:lnTo>
                    <a:pt x="91856" y="6847"/>
                  </a:lnTo>
                  <a:lnTo>
                    <a:pt x="54987" y="25913"/>
                  </a:lnTo>
                  <a:lnTo>
                    <a:pt x="25913" y="54987"/>
                  </a:lnTo>
                  <a:lnTo>
                    <a:pt x="6847" y="91856"/>
                  </a:lnTo>
                  <a:lnTo>
                    <a:pt x="0" y="134307"/>
                  </a:lnTo>
                  <a:lnTo>
                    <a:pt x="0" y="671526"/>
                  </a:lnTo>
                  <a:lnTo>
                    <a:pt x="6847" y="713973"/>
                  </a:lnTo>
                  <a:lnTo>
                    <a:pt x="25913" y="750842"/>
                  </a:lnTo>
                  <a:lnTo>
                    <a:pt x="54987" y="779916"/>
                  </a:lnTo>
                  <a:lnTo>
                    <a:pt x="91856" y="798983"/>
                  </a:lnTo>
                  <a:lnTo>
                    <a:pt x="134308" y="805830"/>
                  </a:lnTo>
                  <a:lnTo>
                    <a:pt x="1776526" y="805830"/>
                  </a:lnTo>
                  <a:lnTo>
                    <a:pt x="1818978" y="798983"/>
                  </a:lnTo>
                  <a:lnTo>
                    <a:pt x="1855847" y="779916"/>
                  </a:lnTo>
                  <a:lnTo>
                    <a:pt x="1884921" y="750842"/>
                  </a:lnTo>
                  <a:lnTo>
                    <a:pt x="1903988" y="713973"/>
                  </a:lnTo>
                  <a:lnTo>
                    <a:pt x="1910835" y="671521"/>
                  </a:lnTo>
                  <a:lnTo>
                    <a:pt x="2277613" y="671521"/>
                  </a:lnTo>
                  <a:lnTo>
                    <a:pt x="1910835" y="470066"/>
                  </a:lnTo>
                  <a:lnTo>
                    <a:pt x="1910835" y="134307"/>
                  </a:lnTo>
                  <a:lnTo>
                    <a:pt x="1903988" y="91856"/>
                  </a:lnTo>
                  <a:lnTo>
                    <a:pt x="1884921" y="54987"/>
                  </a:lnTo>
                  <a:lnTo>
                    <a:pt x="1855847" y="25913"/>
                  </a:lnTo>
                  <a:lnTo>
                    <a:pt x="1818978" y="6847"/>
                  </a:lnTo>
                  <a:lnTo>
                    <a:pt x="1776526" y="0"/>
                  </a:lnTo>
                  <a:close/>
                </a:path>
                <a:path w="2328545" h="806450">
                  <a:moveTo>
                    <a:pt x="2277613" y="671521"/>
                  </a:moveTo>
                  <a:lnTo>
                    <a:pt x="1910835" y="671521"/>
                  </a:lnTo>
                  <a:lnTo>
                    <a:pt x="2328277" y="699348"/>
                  </a:lnTo>
                  <a:lnTo>
                    <a:pt x="2277613" y="671521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733340" y="1851211"/>
              <a:ext cx="2328545" cy="806450"/>
            </a:xfrm>
            <a:custGeom>
              <a:avLst/>
              <a:gdLst/>
              <a:ahLst/>
              <a:cxnLst/>
              <a:rect l="l" t="t" r="r" b="b"/>
              <a:pathLst>
                <a:path w="2328545" h="806450">
                  <a:moveTo>
                    <a:pt x="0" y="134308"/>
                  </a:moveTo>
                  <a:lnTo>
                    <a:pt x="6847" y="91856"/>
                  </a:lnTo>
                  <a:lnTo>
                    <a:pt x="25913" y="54987"/>
                  </a:lnTo>
                  <a:lnTo>
                    <a:pt x="54987" y="25913"/>
                  </a:lnTo>
                  <a:lnTo>
                    <a:pt x="91856" y="6847"/>
                  </a:lnTo>
                  <a:lnTo>
                    <a:pt x="134308" y="0"/>
                  </a:lnTo>
                  <a:lnTo>
                    <a:pt x="1114653" y="0"/>
                  </a:lnTo>
                  <a:lnTo>
                    <a:pt x="1592362" y="0"/>
                  </a:lnTo>
                  <a:lnTo>
                    <a:pt x="1776526" y="0"/>
                  </a:lnTo>
                  <a:lnTo>
                    <a:pt x="1818978" y="6847"/>
                  </a:lnTo>
                  <a:lnTo>
                    <a:pt x="1855847" y="25913"/>
                  </a:lnTo>
                  <a:lnTo>
                    <a:pt x="1884921" y="54987"/>
                  </a:lnTo>
                  <a:lnTo>
                    <a:pt x="1903988" y="91856"/>
                  </a:lnTo>
                  <a:lnTo>
                    <a:pt x="1910835" y="134308"/>
                  </a:lnTo>
                  <a:lnTo>
                    <a:pt x="1910835" y="470067"/>
                  </a:lnTo>
                  <a:lnTo>
                    <a:pt x="2328276" y="699348"/>
                  </a:lnTo>
                  <a:lnTo>
                    <a:pt x="1910835" y="671526"/>
                  </a:lnTo>
                  <a:lnTo>
                    <a:pt x="1903988" y="713973"/>
                  </a:lnTo>
                  <a:lnTo>
                    <a:pt x="1884921" y="750842"/>
                  </a:lnTo>
                  <a:lnTo>
                    <a:pt x="1855847" y="779916"/>
                  </a:lnTo>
                  <a:lnTo>
                    <a:pt x="1818978" y="798983"/>
                  </a:lnTo>
                  <a:lnTo>
                    <a:pt x="1776526" y="805830"/>
                  </a:lnTo>
                  <a:lnTo>
                    <a:pt x="1592362" y="805830"/>
                  </a:lnTo>
                  <a:lnTo>
                    <a:pt x="1114653" y="805830"/>
                  </a:lnTo>
                  <a:lnTo>
                    <a:pt x="134308" y="805830"/>
                  </a:lnTo>
                  <a:lnTo>
                    <a:pt x="91856" y="798983"/>
                  </a:lnTo>
                  <a:lnTo>
                    <a:pt x="54987" y="779916"/>
                  </a:lnTo>
                  <a:lnTo>
                    <a:pt x="25913" y="750842"/>
                  </a:lnTo>
                  <a:lnTo>
                    <a:pt x="6847" y="713973"/>
                  </a:lnTo>
                  <a:lnTo>
                    <a:pt x="0" y="671522"/>
                  </a:lnTo>
                  <a:lnTo>
                    <a:pt x="0" y="470067"/>
                  </a:lnTo>
                  <a:lnTo>
                    <a:pt x="0" y="134308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2029204" y="1909064"/>
            <a:ext cx="1319530" cy="65976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 algn="ctr">
              <a:lnSpc>
                <a:spcPct val="88700"/>
              </a:lnSpc>
              <a:spcBef>
                <a:spcPts val="300"/>
              </a:spcBef>
            </a:pP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Every</a:t>
            </a:r>
            <a:r>
              <a:rPr sz="15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entity</a:t>
            </a:r>
            <a:r>
              <a:rPr sz="15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Arial MT"/>
                <a:cs typeface="Arial MT"/>
              </a:rPr>
              <a:t>set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should</a:t>
            </a:r>
            <a:r>
              <a:rPr sz="15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have</a:t>
            </a:r>
            <a:r>
              <a:rPr sz="15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50" dirty="0">
                <a:solidFill>
                  <a:srgbClr val="FFFFFF"/>
                </a:solidFill>
                <a:latin typeface="Arial MT"/>
                <a:cs typeface="Arial MT"/>
              </a:rPr>
              <a:t>a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primary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Arial MT"/>
                <a:cs typeface="Arial MT"/>
              </a:rPr>
              <a:t>key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2935">
              <a:lnSpc>
                <a:spcPct val="100000"/>
              </a:lnSpc>
              <a:spcBef>
                <a:spcPts val="100"/>
              </a:spcBef>
            </a:pPr>
            <a:r>
              <a:rPr spc="-114" dirty="0">
                <a:solidFill>
                  <a:srgbClr val="292934"/>
                </a:solidFill>
              </a:rPr>
              <a:t>Attributes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815" y="1061719"/>
            <a:ext cx="9366885" cy="1878964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207645" indent="-194945">
              <a:lnSpc>
                <a:spcPct val="100000"/>
              </a:lnSpc>
              <a:spcBef>
                <a:spcPts val="1275"/>
              </a:spcBef>
              <a:buClr>
                <a:srgbClr val="292934"/>
              </a:buClr>
              <a:buSzPct val="85714"/>
              <a:buFont typeface="Arial MT"/>
              <a:buChar char="•"/>
              <a:tabLst>
                <a:tab pos="207645" algn="l"/>
              </a:tabLst>
            </a:pPr>
            <a:r>
              <a:rPr sz="2100" b="1" dirty="0">
                <a:solidFill>
                  <a:srgbClr val="C00000"/>
                </a:solidFill>
                <a:latin typeface="Verdana"/>
                <a:cs typeface="Verdana"/>
              </a:rPr>
              <a:t>Single-valued</a:t>
            </a:r>
            <a:r>
              <a:rPr sz="2100" b="1" spc="9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b="1" dirty="0">
                <a:solidFill>
                  <a:srgbClr val="C00000"/>
                </a:solidFill>
                <a:latin typeface="Verdana"/>
                <a:cs typeface="Verdana"/>
              </a:rPr>
              <a:t>attribute</a:t>
            </a:r>
            <a:r>
              <a:rPr sz="2100" b="1" spc="7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2100" spc="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allows</a:t>
            </a:r>
            <a:r>
              <a:rPr sz="21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single</a:t>
            </a:r>
            <a:r>
              <a:rPr sz="21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value</a:t>
            </a:r>
            <a:endParaRPr sz="2100">
              <a:latin typeface="Verdana"/>
              <a:cs typeface="Verdana"/>
            </a:endParaRPr>
          </a:p>
          <a:p>
            <a:pPr marL="207645" indent="-194945">
              <a:lnSpc>
                <a:spcPct val="100000"/>
              </a:lnSpc>
              <a:spcBef>
                <a:spcPts val="1175"/>
              </a:spcBef>
              <a:buClr>
                <a:srgbClr val="292934"/>
              </a:buClr>
              <a:buSzPct val="85714"/>
              <a:buFont typeface="Arial MT"/>
              <a:buChar char="•"/>
              <a:tabLst>
                <a:tab pos="207645" algn="l"/>
              </a:tabLst>
            </a:pPr>
            <a:r>
              <a:rPr sz="2100" b="1" dirty="0">
                <a:solidFill>
                  <a:srgbClr val="C00000"/>
                </a:solidFill>
                <a:latin typeface="Verdana"/>
                <a:cs typeface="Verdana"/>
              </a:rPr>
              <a:t>Multi-valued</a:t>
            </a:r>
            <a:r>
              <a:rPr sz="2100" b="1" spc="9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b="1" dirty="0">
                <a:solidFill>
                  <a:srgbClr val="C00000"/>
                </a:solidFill>
                <a:latin typeface="Verdana"/>
                <a:cs typeface="Verdana"/>
              </a:rPr>
              <a:t>attribute</a:t>
            </a:r>
            <a:r>
              <a:rPr sz="2100" b="1" spc="9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2100" spc="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allows</a:t>
            </a:r>
            <a:r>
              <a:rPr sz="21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multiple</a:t>
            </a:r>
            <a:r>
              <a:rPr sz="21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values</a:t>
            </a:r>
            <a:r>
              <a:rPr sz="21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at</a:t>
            </a:r>
            <a:r>
              <a:rPr sz="21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same</a:t>
            </a:r>
            <a:r>
              <a:rPr sz="21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time</a:t>
            </a:r>
            <a:endParaRPr sz="2100">
              <a:latin typeface="Verdana"/>
              <a:cs typeface="Verdana"/>
            </a:endParaRPr>
          </a:p>
          <a:p>
            <a:pPr marL="207645" indent="-194945">
              <a:lnSpc>
                <a:spcPct val="100000"/>
              </a:lnSpc>
              <a:spcBef>
                <a:spcPts val="1080"/>
              </a:spcBef>
              <a:buClr>
                <a:srgbClr val="292934"/>
              </a:buClr>
              <a:buSzPct val="85714"/>
              <a:buFont typeface="Arial MT"/>
              <a:buChar char="•"/>
              <a:tabLst>
                <a:tab pos="207645" algn="l"/>
              </a:tabLst>
            </a:pPr>
            <a:r>
              <a:rPr sz="2100" b="1" dirty="0">
                <a:solidFill>
                  <a:srgbClr val="C00000"/>
                </a:solidFill>
                <a:latin typeface="Verdana"/>
                <a:cs typeface="Verdana"/>
              </a:rPr>
              <a:t>Derived</a:t>
            </a:r>
            <a:r>
              <a:rPr sz="2100" b="1" spc="6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b="1" dirty="0">
                <a:solidFill>
                  <a:srgbClr val="C00000"/>
                </a:solidFill>
                <a:latin typeface="Verdana"/>
                <a:cs typeface="Verdana"/>
              </a:rPr>
              <a:t>attribute</a:t>
            </a:r>
            <a:r>
              <a:rPr sz="2100" b="1" spc="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–can</a:t>
            </a:r>
            <a:r>
              <a:rPr sz="21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calculated</a:t>
            </a:r>
            <a:r>
              <a:rPr sz="21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from</a:t>
            </a:r>
            <a:r>
              <a:rPr sz="2100" spc="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one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or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more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attributes</a:t>
            </a:r>
            <a:endParaRPr sz="2100">
              <a:latin typeface="Verdana"/>
              <a:cs typeface="Verdana"/>
            </a:endParaRPr>
          </a:p>
          <a:p>
            <a:pPr marL="207645" indent="-194945">
              <a:lnSpc>
                <a:spcPct val="100000"/>
              </a:lnSpc>
              <a:spcBef>
                <a:spcPts val="1080"/>
              </a:spcBef>
              <a:buClr>
                <a:srgbClr val="292934"/>
              </a:buClr>
              <a:buSzPct val="85714"/>
              <a:buFont typeface="Arial MT"/>
              <a:buChar char="•"/>
              <a:tabLst>
                <a:tab pos="207645" algn="l"/>
              </a:tabLst>
            </a:pPr>
            <a:r>
              <a:rPr sz="2100" b="1" dirty="0">
                <a:solidFill>
                  <a:srgbClr val="C00000"/>
                </a:solidFill>
                <a:latin typeface="Verdana"/>
                <a:cs typeface="Verdana"/>
              </a:rPr>
              <a:t>Composite</a:t>
            </a:r>
            <a:r>
              <a:rPr sz="2100" b="1" spc="7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b="1" dirty="0">
                <a:solidFill>
                  <a:srgbClr val="C00000"/>
                </a:solidFill>
                <a:latin typeface="Verdana"/>
                <a:cs typeface="Verdana"/>
              </a:rPr>
              <a:t>attribute</a:t>
            </a:r>
            <a:r>
              <a:rPr sz="2100" b="1" spc="8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21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consists</a:t>
            </a:r>
            <a:r>
              <a:rPr sz="21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multiple</a:t>
            </a:r>
            <a:r>
              <a:rPr sz="21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values</a:t>
            </a:r>
            <a:endParaRPr sz="21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8711" y="3671936"/>
            <a:ext cx="7523642" cy="329200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722375" y="5071872"/>
            <a:ext cx="6877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person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78313" y="5047488"/>
            <a:ext cx="1924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5" dirty="0">
                <a:solidFill>
                  <a:srgbClr val="292934"/>
                </a:solidFill>
                <a:latin typeface="Arial MT"/>
                <a:cs typeface="Arial MT"/>
              </a:rPr>
              <a:t>id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4329" y="5693664"/>
            <a:ext cx="56769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0" dirty="0">
                <a:solidFill>
                  <a:srgbClr val="292934"/>
                </a:solidFill>
                <a:latin typeface="Arial MT"/>
                <a:cs typeface="Arial MT"/>
              </a:rPr>
              <a:t>name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58190" y="6144767"/>
            <a:ext cx="49466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5" dirty="0">
                <a:solidFill>
                  <a:srgbClr val="292934"/>
                </a:solidFill>
                <a:latin typeface="Arial MT"/>
                <a:cs typeface="Arial MT"/>
              </a:rPr>
              <a:t>DOB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06838" y="5833872"/>
            <a:ext cx="3867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5" dirty="0">
                <a:solidFill>
                  <a:srgbClr val="292934"/>
                </a:solidFill>
                <a:latin typeface="Arial MT"/>
                <a:cs typeface="Arial MT"/>
              </a:rPr>
              <a:t>age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80306" y="4117847"/>
            <a:ext cx="62674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phone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58092" y="4197096"/>
            <a:ext cx="56832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street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67311" y="4770120"/>
            <a:ext cx="35052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0" dirty="0">
                <a:solidFill>
                  <a:srgbClr val="292934"/>
                </a:solidFill>
                <a:latin typeface="Arial MT"/>
                <a:cs typeface="Arial MT"/>
              </a:rPr>
              <a:t>city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694497" y="5352288"/>
            <a:ext cx="495934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state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05159" y="5108448"/>
            <a:ext cx="79565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address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85204" y="5922264"/>
            <a:ext cx="77089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zipcode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83621" y="3786632"/>
            <a:ext cx="177990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20" dirty="0">
                <a:solidFill>
                  <a:srgbClr val="FFFFFF"/>
                </a:solidFill>
                <a:latin typeface="Arial MT"/>
                <a:cs typeface="Arial MT"/>
              </a:rPr>
              <a:t>Multi-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valued</a:t>
            </a:r>
            <a:r>
              <a:rPr sz="15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attribute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04902" y="6566407"/>
            <a:ext cx="141287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Derived</a:t>
            </a:r>
            <a:r>
              <a:rPr sz="15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attribute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8003047" y="4250489"/>
            <a:ext cx="1584960" cy="650240"/>
            <a:chOff x="8003047" y="4250489"/>
            <a:chExt cx="1584960" cy="650240"/>
          </a:xfrm>
        </p:grpSpPr>
        <p:sp>
          <p:nvSpPr>
            <p:cNvPr id="19" name="object 19"/>
            <p:cNvSpPr/>
            <p:nvPr/>
          </p:nvSpPr>
          <p:spPr>
            <a:xfrm>
              <a:off x="8009820" y="4257262"/>
              <a:ext cx="1571625" cy="636270"/>
            </a:xfrm>
            <a:custGeom>
              <a:avLst/>
              <a:gdLst/>
              <a:ahLst/>
              <a:cxnLst/>
              <a:rect l="l" t="t" r="r" b="b"/>
              <a:pathLst>
                <a:path w="1571625" h="636270">
                  <a:moveTo>
                    <a:pt x="1571061" y="530084"/>
                  </a:moveTo>
                  <a:lnTo>
                    <a:pt x="306116" y="530084"/>
                  </a:lnTo>
                  <a:lnTo>
                    <a:pt x="314448" y="571351"/>
                  </a:lnTo>
                  <a:lnTo>
                    <a:pt x="337169" y="605051"/>
                  </a:lnTo>
                  <a:lnTo>
                    <a:pt x="370868" y="627772"/>
                  </a:lnTo>
                  <a:lnTo>
                    <a:pt x="412136" y="636103"/>
                  </a:lnTo>
                  <a:lnTo>
                    <a:pt x="1465041" y="636103"/>
                  </a:lnTo>
                  <a:lnTo>
                    <a:pt x="1506309" y="627772"/>
                  </a:lnTo>
                  <a:lnTo>
                    <a:pt x="1540008" y="605051"/>
                  </a:lnTo>
                  <a:lnTo>
                    <a:pt x="1562729" y="571351"/>
                  </a:lnTo>
                  <a:lnTo>
                    <a:pt x="1571061" y="530084"/>
                  </a:lnTo>
                  <a:close/>
                </a:path>
                <a:path w="1571625" h="636270">
                  <a:moveTo>
                    <a:pt x="1465041" y="0"/>
                  </a:moveTo>
                  <a:lnTo>
                    <a:pt x="412136" y="0"/>
                  </a:lnTo>
                  <a:lnTo>
                    <a:pt x="370868" y="8331"/>
                  </a:lnTo>
                  <a:lnTo>
                    <a:pt x="337169" y="31052"/>
                  </a:lnTo>
                  <a:lnTo>
                    <a:pt x="314448" y="64751"/>
                  </a:lnTo>
                  <a:lnTo>
                    <a:pt x="306116" y="106019"/>
                  </a:lnTo>
                  <a:lnTo>
                    <a:pt x="306116" y="371059"/>
                  </a:lnTo>
                  <a:lnTo>
                    <a:pt x="0" y="566628"/>
                  </a:lnTo>
                  <a:lnTo>
                    <a:pt x="306116" y="530084"/>
                  </a:lnTo>
                  <a:lnTo>
                    <a:pt x="1571061" y="530084"/>
                  </a:lnTo>
                  <a:lnTo>
                    <a:pt x="1571061" y="106019"/>
                  </a:lnTo>
                  <a:lnTo>
                    <a:pt x="1562729" y="64751"/>
                  </a:lnTo>
                  <a:lnTo>
                    <a:pt x="1540008" y="31052"/>
                  </a:lnTo>
                  <a:lnTo>
                    <a:pt x="1506309" y="8331"/>
                  </a:lnTo>
                  <a:lnTo>
                    <a:pt x="1465041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009820" y="4257262"/>
              <a:ext cx="1571625" cy="636270"/>
            </a:xfrm>
            <a:custGeom>
              <a:avLst/>
              <a:gdLst/>
              <a:ahLst/>
              <a:cxnLst/>
              <a:rect l="l" t="t" r="r" b="b"/>
              <a:pathLst>
                <a:path w="1571625" h="636270">
                  <a:moveTo>
                    <a:pt x="306116" y="106019"/>
                  </a:moveTo>
                  <a:lnTo>
                    <a:pt x="314448" y="64751"/>
                  </a:lnTo>
                  <a:lnTo>
                    <a:pt x="337169" y="31052"/>
                  </a:lnTo>
                  <a:lnTo>
                    <a:pt x="370868" y="8331"/>
                  </a:lnTo>
                  <a:lnTo>
                    <a:pt x="412135" y="0"/>
                  </a:lnTo>
                  <a:lnTo>
                    <a:pt x="516940" y="0"/>
                  </a:lnTo>
                  <a:lnTo>
                    <a:pt x="833176" y="0"/>
                  </a:lnTo>
                  <a:lnTo>
                    <a:pt x="1465041" y="0"/>
                  </a:lnTo>
                  <a:lnTo>
                    <a:pt x="1506308" y="8331"/>
                  </a:lnTo>
                  <a:lnTo>
                    <a:pt x="1540008" y="31052"/>
                  </a:lnTo>
                  <a:lnTo>
                    <a:pt x="1562729" y="64751"/>
                  </a:lnTo>
                  <a:lnTo>
                    <a:pt x="1571060" y="106019"/>
                  </a:lnTo>
                  <a:lnTo>
                    <a:pt x="1571060" y="371060"/>
                  </a:lnTo>
                  <a:lnTo>
                    <a:pt x="1571060" y="530086"/>
                  </a:lnTo>
                  <a:lnTo>
                    <a:pt x="1562729" y="571351"/>
                  </a:lnTo>
                  <a:lnTo>
                    <a:pt x="1540008" y="605051"/>
                  </a:lnTo>
                  <a:lnTo>
                    <a:pt x="1506308" y="627771"/>
                  </a:lnTo>
                  <a:lnTo>
                    <a:pt x="1465041" y="636103"/>
                  </a:lnTo>
                  <a:lnTo>
                    <a:pt x="833176" y="636103"/>
                  </a:lnTo>
                  <a:lnTo>
                    <a:pt x="516940" y="636103"/>
                  </a:lnTo>
                  <a:lnTo>
                    <a:pt x="412135" y="636103"/>
                  </a:lnTo>
                  <a:lnTo>
                    <a:pt x="370868" y="627771"/>
                  </a:lnTo>
                  <a:lnTo>
                    <a:pt x="337169" y="605051"/>
                  </a:lnTo>
                  <a:lnTo>
                    <a:pt x="314448" y="571351"/>
                  </a:lnTo>
                  <a:lnTo>
                    <a:pt x="306116" y="530084"/>
                  </a:lnTo>
                  <a:lnTo>
                    <a:pt x="0" y="566628"/>
                  </a:lnTo>
                  <a:lnTo>
                    <a:pt x="306116" y="371060"/>
                  </a:lnTo>
                  <a:lnTo>
                    <a:pt x="306116" y="106019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8483588" y="4332223"/>
            <a:ext cx="930275" cy="45847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3189" marR="5080" indent="-111125">
              <a:lnSpc>
                <a:spcPts val="1610"/>
              </a:lnSpc>
              <a:spcBef>
                <a:spcPts val="310"/>
              </a:spcBef>
            </a:pPr>
            <a:r>
              <a:rPr sz="1500" spc="-20" dirty="0">
                <a:solidFill>
                  <a:srgbClr val="FFFFFF"/>
                </a:solidFill>
                <a:latin typeface="Arial MT"/>
                <a:cs typeface="Arial MT"/>
              </a:rPr>
              <a:t>Composite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attribute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1030" y="6410959"/>
            <a:ext cx="1172845" cy="45847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244475" marR="5080" indent="-232410">
              <a:lnSpc>
                <a:spcPts val="1610"/>
              </a:lnSpc>
              <a:spcBef>
                <a:spcPts val="310"/>
              </a:spcBef>
            </a:pPr>
            <a:r>
              <a:rPr sz="1500" spc="-20" dirty="0">
                <a:solidFill>
                  <a:srgbClr val="FFFFFF"/>
                </a:solidFill>
                <a:latin typeface="Arial MT"/>
                <a:cs typeface="Arial MT"/>
              </a:rPr>
              <a:t>Single-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valued attribute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309164" y="5022652"/>
            <a:ext cx="1278890" cy="650240"/>
            <a:chOff x="8309164" y="5022652"/>
            <a:chExt cx="1278890" cy="650240"/>
          </a:xfrm>
        </p:grpSpPr>
        <p:sp>
          <p:nvSpPr>
            <p:cNvPr id="24" name="object 24"/>
            <p:cNvSpPr/>
            <p:nvPr/>
          </p:nvSpPr>
          <p:spPr>
            <a:xfrm>
              <a:off x="8315937" y="5029426"/>
              <a:ext cx="1265555" cy="636270"/>
            </a:xfrm>
            <a:custGeom>
              <a:avLst/>
              <a:gdLst/>
              <a:ahLst/>
              <a:cxnLst/>
              <a:rect l="l" t="t" r="r" b="b"/>
              <a:pathLst>
                <a:path w="1265554" h="636270">
                  <a:moveTo>
                    <a:pt x="1158924" y="0"/>
                  </a:moveTo>
                  <a:lnTo>
                    <a:pt x="106019" y="0"/>
                  </a:lnTo>
                  <a:lnTo>
                    <a:pt x="64751" y="8331"/>
                  </a:lnTo>
                  <a:lnTo>
                    <a:pt x="31052" y="31052"/>
                  </a:lnTo>
                  <a:lnTo>
                    <a:pt x="8331" y="64751"/>
                  </a:lnTo>
                  <a:lnTo>
                    <a:pt x="0" y="106017"/>
                  </a:lnTo>
                  <a:lnTo>
                    <a:pt x="0" y="530084"/>
                  </a:lnTo>
                  <a:lnTo>
                    <a:pt x="8331" y="571351"/>
                  </a:lnTo>
                  <a:lnTo>
                    <a:pt x="31052" y="605050"/>
                  </a:lnTo>
                  <a:lnTo>
                    <a:pt x="64751" y="627770"/>
                  </a:lnTo>
                  <a:lnTo>
                    <a:pt x="106019" y="636102"/>
                  </a:lnTo>
                  <a:lnTo>
                    <a:pt x="1158924" y="636102"/>
                  </a:lnTo>
                  <a:lnTo>
                    <a:pt x="1200192" y="627770"/>
                  </a:lnTo>
                  <a:lnTo>
                    <a:pt x="1233891" y="605050"/>
                  </a:lnTo>
                  <a:lnTo>
                    <a:pt x="1256612" y="571351"/>
                  </a:lnTo>
                  <a:lnTo>
                    <a:pt x="1264944" y="530084"/>
                  </a:lnTo>
                  <a:lnTo>
                    <a:pt x="1264943" y="106017"/>
                  </a:lnTo>
                  <a:lnTo>
                    <a:pt x="1256612" y="64751"/>
                  </a:lnTo>
                  <a:lnTo>
                    <a:pt x="1233891" y="31052"/>
                  </a:lnTo>
                  <a:lnTo>
                    <a:pt x="1200192" y="8331"/>
                  </a:lnTo>
                  <a:lnTo>
                    <a:pt x="1158924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315937" y="5029426"/>
              <a:ext cx="1265555" cy="636270"/>
            </a:xfrm>
            <a:custGeom>
              <a:avLst/>
              <a:gdLst/>
              <a:ahLst/>
              <a:cxnLst/>
              <a:rect l="l" t="t" r="r" b="b"/>
              <a:pathLst>
                <a:path w="1265554" h="636270">
                  <a:moveTo>
                    <a:pt x="0" y="106019"/>
                  </a:moveTo>
                  <a:lnTo>
                    <a:pt x="8331" y="64751"/>
                  </a:lnTo>
                  <a:lnTo>
                    <a:pt x="31052" y="31052"/>
                  </a:lnTo>
                  <a:lnTo>
                    <a:pt x="64751" y="8331"/>
                  </a:lnTo>
                  <a:lnTo>
                    <a:pt x="106019" y="0"/>
                  </a:lnTo>
                  <a:lnTo>
                    <a:pt x="210823" y="0"/>
                  </a:lnTo>
                  <a:lnTo>
                    <a:pt x="573082" y="0"/>
                  </a:lnTo>
                  <a:lnTo>
                    <a:pt x="527059" y="0"/>
                  </a:lnTo>
                  <a:lnTo>
                    <a:pt x="1158924" y="0"/>
                  </a:lnTo>
                  <a:lnTo>
                    <a:pt x="1200192" y="8331"/>
                  </a:lnTo>
                  <a:lnTo>
                    <a:pt x="1233891" y="31052"/>
                  </a:lnTo>
                  <a:lnTo>
                    <a:pt x="1256612" y="64751"/>
                  </a:lnTo>
                  <a:lnTo>
                    <a:pt x="1264943" y="106019"/>
                  </a:lnTo>
                  <a:lnTo>
                    <a:pt x="1264943" y="265043"/>
                  </a:lnTo>
                  <a:lnTo>
                    <a:pt x="1264943" y="530084"/>
                  </a:lnTo>
                  <a:lnTo>
                    <a:pt x="1256612" y="571351"/>
                  </a:lnTo>
                  <a:lnTo>
                    <a:pt x="1233891" y="605051"/>
                  </a:lnTo>
                  <a:lnTo>
                    <a:pt x="1200192" y="627771"/>
                  </a:lnTo>
                  <a:lnTo>
                    <a:pt x="1158924" y="636103"/>
                  </a:lnTo>
                  <a:lnTo>
                    <a:pt x="527059" y="636103"/>
                  </a:lnTo>
                  <a:lnTo>
                    <a:pt x="210823" y="636103"/>
                  </a:lnTo>
                  <a:lnTo>
                    <a:pt x="106019" y="636103"/>
                  </a:lnTo>
                  <a:lnTo>
                    <a:pt x="64751" y="627771"/>
                  </a:lnTo>
                  <a:lnTo>
                    <a:pt x="31052" y="605051"/>
                  </a:lnTo>
                  <a:lnTo>
                    <a:pt x="8331" y="571351"/>
                  </a:lnTo>
                  <a:lnTo>
                    <a:pt x="0" y="530084"/>
                  </a:lnTo>
                  <a:lnTo>
                    <a:pt x="0" y="265043"/>
                  </a:lnTo>
                  <a:lnTo>
                    <a:pt x="0" y="106017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635988" y="5103367"/>
            <a:ext cx="626110" cy="45847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33655" marR="5080" indent="-21590">
              <a:lnSpc>
                <a:spcPts val="1610"/>
              </a:lnSpc>
              <a:spcBef>
                <a:spcPts val="310"/>
              </a:spcBef>
            </a:pPr>
            <a:r>
              <a:rPr sz="1500" spc="-20" dirty="0">
                <a:solidFill>
                  <a:srgbClr val="FFFFFF"/>
                </a:solidFill>
                <a:latin typeface="Arial MT"/>
                <a:cs typeface="Arial MT"/>
              </a:rPr>
              <a:t>Ensure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atomic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2935">
              <a:lnSpc>
                <a:spcPct val="100000"/>
              </a:lnSpc>
              <a:spcBef>
                <a:spcPts val="100"/>
              </a:spcBef>
            </a:pPr>
            <a:r>
              <a:rPr spc="-114" dirty="0">
                <a:solidFill>
                  <a:srgbClr val="292934"/>
                </a:solidFill>
              </a:rPr>
              <a:t>Attributes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7314" y="1875699"/>
            <a:ext cx="9185434" cy="342023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609289" y="3727703"/>
            <a:ext cx="6877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person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5228" y="3706367"/>
            <a:ext cx="1924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5" dirty="0">
                <a:solidFill>
                  <a:srgbClr val="292934"/>
                </a:solidFill>
                <a:latin typeface="Arial MT"/>
                <a:cs typeface="Arial MT"/>
              </a:rPr>
              <a:t>id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41245" y="4349496"/>
            <a:ext cx="56769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0" dirty="0">
                <a:solidFill>
                  <a:srgbClr val="292934"/>
                </a:solidFill>
                <a:latin typeface="Arial MT"/>
                <a:cs typeface="Arial MT"/>
              </a:rPr>
              <a:t>name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45105" y="4803648"/>
            <a:ext cx="49466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5" dirty="0">
                <a:solidFill>
                  <a:srgbClr val="292934"/>
                </a:solidFill>
                <a:latin typeface="Arial MT"/>
                <a:cs typeface="Arial MT"/>
              </a:rPr>
              <a:t>DOB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93753" y="4492752"/>
            <a:ext cx="3867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5" dirty="0">
                <a:solidFill>
                  <a:srgbClr val="292934"/>
                </a:solidFill>
                <a:latin typeface="Arial MT"/>
                <a:cs typeface="Arial MT"/>
              </a:rPr>
              <a:t>age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54136" y="2718815"/>
            <a:ext cx="62674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phone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16737" y="2852928"/>
            <a:ext cx="56832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street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25956" y="3425952"/>
            <a:ext cx="35052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0" dirty="0">
                <a:solidFill>
                  <a:srgbClr val="292934"/>
                </a:solidFill>
                <a:latin typeface="Arial MT"/>
                <a:cs typeface="Arial MT"/>
              </a:rPr>
              <a:t>city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53142" y="4011167"/>
            <a:ext cx="495934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state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514239" y="2761488"/>
            <a:ext cx="56769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0" dirty="0">
                <a:solidFill>
                  <a:srgbClr val="292934"/>
                </a:solidFill>
                <a:latin typeface="Arial MT"/>
                <a:cs typeface="Arial MT"/>
              </a:rPr>
              <a:t>name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63805" y="3767328"/>
            <a:ext cx="79565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address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43849" y="4578096"/>
            <a:ext cx="77089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zipcode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7815" y="1211071"/>
            <a:ext cx="8757285" cy="1249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645" indent="-194945">
              <a:lnSpc>
                <a:spcPct val="100000"/>
              </a:lnSpc>
              <a:spcBef>
                <a:spcPts val="100"/>
              </a:spcBef>
              <a:buClr>
                <a:srgbClr val="292934"/>
              </a:buClr>
              <a:buSzPct val="85714"/>
              <a:buFont typeface="Arial MT"/>
              <a:buChar char="•"/>
              <a:tabLst>
                <a:tab pos="207645" algn="l"/>
              </a:tabLst>
            </a:pPr>
            <a:r>
              <a:rPr sz="2100" b="1" dirty="0">
                <a:solidFill>
                  <a:srgbClr val="C00000"/>
                </a:solidFill>
                <a:latin typeface="Verdana"/>
                <a:cs typeface="Verdana"/>
              </a:rPr>
              <a:t>Composite</a:t>
            </a:r>
            <a:r>
              <a:rPr sz="2100" b="1" spc="5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b="1" dirty="0">
                <a:solidFill>
                  <a:srgbClr val="C00000"/>
                </a:solidFill>
                <a:latin typeface="Verdana"/>
                <a:cs typeface="Verdana"/>
              </a:rPr>
              <a:t>attribute</a:t>
            </a:r>
            <a:r>
              <a:rPr sz="2100" b="1" spc="6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21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as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many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levels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as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needed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525"/>
              </a:spcBef>
            </a:pPr>
            <a:endParaRPr sz="210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number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247877" y="3349752"/>
            <a:ext cx="113411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apt-number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08827" y="1985681"/>
            <a:ext cx="9205595" cy="4569460"/>
            <a:chOff x="408827" y="1985681"/>
            <a:chExt cx="9205595" cy="4569460"/>
          </a:xfrm>
        </p:grpSpPr>
        <p:sp>
          <p:nvSpPr>
            <p:cNvPr id="3" name="object 3"/>
            <p:cNvSpPr/>
            <p:nvPr/>
          </p:nvSpPr>
          <p:spPr>
            <a:xfrm>
              <a:off x="2044598" y="2706014"/>
              <a:ext cx="3195955" cy="3136265"/>
            </a:xfrm>
            <a:custGeom>
              <a:avLst/>
              <a:gdLst/>
              <a:ahLst/>
              <a:cxnLst/>
              <a:rect l="l" t="t" r="r" b="b"/>
              <a:pathLst>
                <a:path w="3195954" h="3136265">
                  <a:moveTo>
                    <a:pt x="1014374" y="2804160"/>
                  </a:moveTo>
                  <a:lnTo>
                    <a:pt x="0" y="2804160"/>
                  </a:lnTo>
                  <a:lnTo>
                    <a:pt x="0" y="3135782"/>
                  </a:lnTo>
                  <a:lnTo>
                    <a:pt x="1014374" y="3135782"/>
                  </a:lnTo>
                  <a:lnTo>
                    <a:pt x="1014374" y="2804160"/>
                  </a:lnTo>
                  <a:close/>
                </a:path>
                <a:path w="3195954" h="3136265">
                  <a:moveTo>
                    <a:pt x="1873377" y="313512"/>
                  </a:moveTo>
                  <a:lnTo>
                    <a:pt x="1345996" y="313512"/>
                  </a:lnTo>
                  <a:lnTo>
                    <a:pt x="1345996" y="0"/>
                  </a:lnTo>
                  <a:lnTo>
                    <a:pt x="780288" y="0"/>
                  </a:lnTo>
                  <a:lnTo>
                    <a:pt x="780288" y="331622"/>
                  </a:lnTo>
                  <a:lnTo>
                    <a:pt x="937031" y="331622"/>
                  </a:lnTo>
                  <a:lnTo>
                    <a:pt x="937031" y="645134"/>
                  </a:lnTo>
                  <a:lnTo>
                    <a:pt x="1873377" y="645134"/>
                  </a:lnTo>
                  <a:lnTo>
                    <a:pt x="1873377" y="313512"/>
                  </a:lnTo>
                  <a:close/>
                </a:path>
                <a:path w="3195954" h="3136265">
                  <a:moveTo>
                    <a:pt x="3195701" y="313512"/>
                  </a:moveTo>
                  <a:lnTo>
                    <a:pt x="2496921" y="313512"/>
                  </a:lnTo>
                  <a:lnTo>
                    <a:pt x="2496921" y="0"/>
                  </a:lnTo>
                  <a:lnTo>
                    <a:pt x="1892198" y="0"/>
                  </a:lnTo>
                  <a:lnTo>
                    <a:pt x="1892198" y="331622"/>
                  </a:lnTo>
                  <a:lnTo>
                    <a:pt x="2434920" y="331622"/>
                  </a:lnTo>
                  <a:lnTo>
                    <a:pt x="2434920" y="645134"/>
                  </a:lnTo>
                  <a:lnTo>
                    <a:pt x="3195701" y="645134"/>
                  </a:lnTo>
                  <a:lnTo>
                    <a:pt x="3195701" y="313512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3907" y="1990761"/>
              <a:ext cx="9195435" cy="4559300"/>
            </a:xfrm>
            <a:custGeom>
              <a:avLst/>
              <a:gdLst/>
              <a:ahLst/>
              <a:cxnLst/>
              <a:rect l="l" t="t" r="r" b="b"/>
              <a:pathLst>
                <a:path w="9195435" h="4559300">
                  <a:moveTo>
                    <a:pt x="0" y="0"/>
                  </a:moveTo>
                  <a:lnTo>
                    <a:pt x="9195241" y="0"/>
                  </a:lnTo>
                  <a:lnTo>
                    <a:pt x="9195241" y="4558747"/>
                  </a:lnTo>
                  <a:lnTo>
                    <a:pt x="0" y="4558747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5350">
              <a:lnSpc>
                <a:spcPct val="100000"/>
              </a:lnSpc>
              <a:spcBef>
                <a:spcPts val="100"/>
              </a:spcBef>
            </a:pPr>
            <a:r>
              <a:rPr spc="-105" dirty="0">
                <a:solidFill>
                  <a:srgbClr val="292934"/>
                </a:solidFill>
              </a:rPr>
              <a:t>Let’s</a:t>
            </a:r>
            <a:r>
              <a:rPr spc="-235" dirty="0">
                <a:solidFill>
                  <a:srgbClr val="292934"/>
                </a:solidFill>
              </a:rPr>
              <a:t> </a:t>
            </a:r>
            <a:r>
              <a:rPr spc="-110" dirty="0">
                <a:solidFill>
                  <a:srgbClr val="292934"/>
                </a:solidFill>
              </a:rPr>
              <a:t>try:</a:t>
            </a:r>
            <a:r>
              <a:rPr spc="-225" dirty="0">
                <a:solidFill>
                  <a:srgbClr val="292934"/>
                </a:solidFill>
              </a:rPr>
              <a:t> </a:t>
            </a:r>
            <a:r>
              <a:rPr spc="-145" dirty="0">
                <a:solidFill>
                  <a:srgbClr val="292934"/>
                </a:solidFill>
              </a:rPr>
              <a:t>Movie-</a:t>
            </a:r>
            <a:r>
              <a:rPr spc="-90" dirty="0">
                <a:solidFill>
                  <a:srgbClr val="292934"/>
                </a:solidFill>
              </a:rPr>
              <a:t>Database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26081" y="5183632"/>
            <a:ext cx="730567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MovieStars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tells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us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something</a:t>
            </a:r>
            <a:r>
              <a:rPr sz="19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about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stars.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It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maintains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77575" y="5196666"/>
            <a:ext cx="761365" cy="332105"/>
          </a:xfrm>
          <a:prstGeom prst="rect">
            <a:avLst/>
          </a:prstGeom>
          <a:solidFill>
            <a:srgbClr val="A8D4A9"/>
          </a:solidFill>
        </p:spPr>
        <p:txBody>
          <a:bodyPr vert="horz" wrap="square" lIns="0" tIns="0" rIns="0" bIns="0" rtlCol="0">
            <a:spAutoFit/>
          </a:bodyPr>
          <a:lstStyle/>
          <a:p>
            <a:pPr marL="26670">
              <a:lnSpc>
                <a:spcPts val="2275"/>
              </a:lnSpc>
            </a:pPr>
            <a:r>
              <a:rPr sz="1900" i="1" spc="-20" dirty="0">
                <a:solidFill>
                  <a:srgbClr val="292934"/>
                </a:solidFill>
                <a:latin typeface="Verdana"/>
                <a:cs typeface="Verdana"/>
              </a:rPr>
              <a:t>name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60787" y="5183632"/>
            <a:ext cx="74041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90642" y="5510174"/>
            <a:ext cx="929640" cy="332105"/>
          </a:xfrm>
          <a:prstGeom prst="rect">
            <a:avLst/>
          </a:prstGeom>
          <a:solidFill>
            <a:srgbClr val="A8D4A9"/>
          </a:solidFill>
        </p:spPr>
        <p:txBody>
          <a:bodyPr vert="horz" wrap="square" lIns="0" tIns="0" rIns="0" bIns="0" rtlCol="0">
            <a:spAutoFit/>
          </a:bodyPr>
          <a:lstStyle/>
          <a:p>
            <a:pPr marL="13335">
              <a:lnSpc>
                <a:spcPts val="2115"/>
              </a:lnSpc>
            </a:pPr>
            <a:r>
              <a:rPr sz="1900" spc="-30" dirty="0">
                <a:solidFill>
                  <a:srgbClr val="292934"/>
                </a:solidFill>
                <a:latin typeface="Verdana"/>
                <a:cs typeface="Verdana"/>
              </a:rPr>
              <a:t>gender,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6081" y="5476240"/>
            <a:ext cx="403479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71240" algn="l"/>
              </a:tabLst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movie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star,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address,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	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88516" y="5510174"/>
            <a:ext cx="1261745" cy="332105"/>
          </a:xfrm>
          <a:prstGeom prst="rect">
            <a:avLst/>
          </a:prstGeom>
          <a:solidFill>
            <a:srgbClr val="A8D4A9"/>
          </a:solidFill>
        </p:spPr>
        <p:txBody>
          <a:bodyPr vert="horz" wrap="square" lIns="0" tIns="0" rIns="0" bIns="0" rtlCol="0">
            <a:spAutoFit/>
          </a:bodyPr>
          <a:lstStyle/>
          <a:p>
            <a:pPr marL="46990">
              <a:lnSpc>
                <a:spcPts val="2115"/>
              </a:lnSpc>
            </a:pP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birthdate.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11348" y="5476240"/>
            <a:ext cx="334391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gender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single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6081" y="5781040"/>
            <a:ext cx="7785734" cy="6076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75"/>
              </a:spcBef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character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(</a:t>
            </a:r>
            <a:r>
              <a:rPr sz="1900" i="1" dirty="0">
                <a:solidFill>
                  <a:srgbClr val="292934"/>
                </a:solidFill>
                <a:latin typeface="Verdana"/>
                <a:cs typeface="Verdana"/>
              </a:rPr>
              <a:t>M</a:t>
            </a:r>
            <a:r>
              <a:rPr sz="1900" i="1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or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i="1" dirty="0">
                <a:solidFill>
                  <a:srgbClr val="292934"/>
                </a:solidFill>
                <a:latin typeface="Verdana"/>
                <a:cs typeface="Verdana"/>
              </a:rPr>
              <a:t>F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). Birthday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type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“date,”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which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might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a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character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string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special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form.</a:t>
            </a:r>
            <a:endParaRPr sz="190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469622" y="1671933"/>
            <a:ext cx="1999614" cy="3183255"/>
            <a:chOff x="1469622" y="1671933"/>
            <a:chExt cx="1999614" cy="3183255"/>
          </a:xfrm>
        </p:grpSpPr>
        <p:sp>
          <p:nvSpPr>
            <p:cNvPr id="15" name="object 15"/>
            <p:cNvSpPr/>
            <p:nvPr/>
          </p:nvSpPr>
          <p:spPr>
            <a:xfrm>
              <a:off x="1476607" y="1678918"/>
              <a:ext cx="975360" cy="552450"/>
            </a:xfrm>
            <a:custGeom>
              <a:avLst/>
              <a:gdLst/>
              <a:ahLst/>
              <a:cxnLst/>
              <a:rect l="l" t="t" r="r" b="b"/>
              <a:pathLst>
                <a:path w="975360" h="552450">
                  <a:moveTo>
                    <a:pt x="406400" y="390143"/>
                  </a:moveTo>
                  <a:lnTo>
                    <a:pt x="162559" y="390143"/>
                  </a:lnTo>
                  <a:lnTo>
                    <a:pt x="57809" y="552353"/>
                  </a:lnTo>
                  <a:lnTo>
                    <a:pt x="406400" y="390143"/>
                  </a:lnTo>
                  <a:close/>
                </a:path>
                <a:path w="975360" h="552450">
                  <a:moveTo>
                    <a:pt x="910334" y="0"/>
                  </a:moveTo>
                  <a:lnTo>
                    <a:pt x="65024" y="0"/>
                  </a:lnTo>
                  <a:lnTo>
                    <a:pt x="39713" y="5109"/>
                  </a:lnTo>
                  <a:lnTo>
                    <a:pt x="19045" y="19045"/>
                  </a:lnTo>
                  <a:lnTo>
                    <a:pt x="5109" y="39714"/>
                  </a:lnTo>
                  <a:lnTo>
                    <a:pt x="0" y="65025"/>
                  </a:lnTo>
                  <a:lnTo>
                    <a:pt x="0" y="325119"/>
                  </a:lnTo>
                  <a:lnTo>
                    <a:pt x="5109" y="350429"/>
                  </a:lnTo>
                  <a:lnTo>
                    <a:pt x="19045" y="371098"/>
                  </a:lnTo>
                  <a:lnTo>
                    <a:pt x="39713" y="385033"/>
                  </a:lnTo>
                  <a:lnTo>
                    <a:pt x="65024" y="390143"/>
                  </a:lnTo>
                  <a:lnTo>
                    <a:pt x="910334" y="390143"/>
                  </a:lnTo>
                  <a:lnTo>
                    <a:pt x="956314" y="371098"/>
                  </a:lnTo>
                  <a:lnTo>
                    <a:pt x="975359" y="325119"/>
                  </a:lnTo>
                  <a:lnTo>
                    <a:pt x="975360" y="65025"/>
                  </a:lnTo>
                  <a:lnTo>
                    <a:pt x="970249" y="39714"/>
                  </a:lnTo>
                  <a:lnTo>
                    <a:pt x="956314" y="19045"/>
                  </a:lnTo>
                  <a:lnTo>
                    <a:pt x="935645" y="5109"/>
                  </a:lnTo>
                  <a:lnTo>
                    <a:pt x="910334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476607" y="1678918"/>
              <a:ext cx="975360" cy="552450"/>
            </a:xfrm>
            <a:custGeom>
              <a:avLst/>
              <a:gdLst/>
              <a:ahLst/>
              <a:cxnLst/>
              <a:rect l="l" t="t" r="r" b="b"/>
              <a:pathLst>
                <a:path w="975360" h="552450">
                  <a:moveTo>
                    <a:pt x="0" y="65025"/>
                  </a:moveTo>
                  <a:lnTo>
                    <a:pt x="5109" y="39714"/>
                  </a:lnTo>
                  <a:lnTo>
                    <a:pt x="19045" y="19045"/>
                  </a:lnTo>
                  <a:lnTo>
                    <a:pt x="39714" y="5109"/>
                  </a:lnTo>
                  <a:lnTo>
                    <a:pt x="65025" y="0"/>
                  </a:lnTo>
                  <a:lnTo>
                    <a:pt x="162559" y="0"/>
                  </a:lnTo>
                  <a:lnTo>
                    <a:pt x="406399" y="0"/>
                  </a:lnTo>
                  <a:lnTo>
                    <a:pt x="910334" y="0"/>
                  </a:lnTo>
                  <a:lnTo>
                    <a:pt x="935645" y="5109"/>
                  </a:lnTo>
                  <a:lnTo>
                    <a:pt x="956314" y="19045"/>
                  </a:lnTo>
                  <a:lnTo>
                    <a:pt x="970249" y="39714"/>
                  </a:lnTo>
                  <a:lnTo>
                    <a:pt x="975359" y="65025"/>
                  </a:lnTo>
                  <a:lnTo>
                    <a:pt x="975359" y="227583"/>
                  </a:lnTo>
                  <a:lnTo>
                    <a:pt x="975359" y="325119"/>
                  </a:lnTo>
                  <a:lnTo>
                    <a:pt x="970249" y="350429"/>
                  </a:lnTo>
                  <a:lnTo>
                    <a:pt x="956314" y="371098"/>
                  </a:lnTo>
                  <a:lnTo>
                    <a:pt x="935645" y="385033"/>
                  </a:lnTo>
                  <a:lnTo>
                    <a:pt x="910334" y="390143"/>
                  </a:lnTo>
                  <a:lnTo>
                    <a:pt x="406399" y="390143"/>
                  </a:lnTo>
                  <a:lnTo>
                    <a:pt x="57809" y="552354"/>
                  </a:lnTo>
                  <a:lnTo>
                    <a:pt x="162559" y="390143"/>
                  </a:lnTo>
                  <a:lnTo>
                    <a:pt x="65025" y="390143"/>
                  </a:lnTo>
                  <a:lnTo>
                    <a:pt x="39714" y="385033"/>
                  </a:lnTo>
                  <a:lnTo>
                    <a:pt x="19045" y="371098"/>
                  </a:lnTo>
                  <a:lnTo>
                    <a:pt x="5109" y="350429"/>
                  </a:lnTo>
                  <a:lnTo>
                    <a:pt x="0" y="325118"/>
                  </a:lnTo>
                  <a:lnTo>
                    <a:pt x="0" y="227583"/>
                  </a:lnTo>
                  <a:lnTo>
                    <a:pt x="0" y="65025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486800" y="4295756"/>
              <a:ext cx="975360" cy="552450"/>
            </a:xfrm>
            <a:custGeom>
              <a:avLst/>
              <a:gdLst/>
              <a:ahLst/>
              <a:cxnLst/>
              <a:rect l="l" t="t" r="r" b="b"/>
              <a:pathLst>
                <a:path w="975360" h="552450">
                  <a:moveTo>
                    <a:pt x="406400" y="390144"/>
                  </a:moveTo>
                  <a:lnTo>
                    <a:pt x="162559" y="390144"/>
                  </a:lnTo>
                  <a:lnTo>
                    <a:pt x="57809" y="552354"/>
                  </a:lnTo>
                  <a:lnTo>
                    <a:pt x="406400" y="390144"/>
                  </a:lnTo>
                  <a:close/>
                </a:path>
                <a:path w="975360" h="552450">
                  <a:moveTo>
                    <a:pt x="910334" y="0"/>
                  </a:moveTo>
                  <a:lnTo>
                    <a:pt x="65025" y="0"/>
                  </a:lnTo>
                  <a:lnTo>
                    <a:pt x="39714" y="5110"/>
                  </a:lnTo>
                  <a:lnTo>
                    <a:pt x="19045" y="19045"/>
                  </a:lnTo>
                  <a:lnTo>
                    <a:pt x="5109" y="39714"/>
                  </a:lnTo>
                  <a:lnTo>
                    <a:pt x="0" y="65025"/>
                  </a:lnTo>
                  <a:lnTo>
                    <a:pt x="0" y="325120"/>
                  </a:lnTo>
                  <a:lnTo>
                    <a:pt x="5109" y="350430"/>
                  </a:lnTo>
                  <a:lnTo>
                    <a:pt x="19045" y="371098"/>
                  </a:lnTo>
                  <a:lnTo>
                    <a:pt x="39714" y="385034"/>
                  </a:lnTo>
                  <a:lnTo>
                    <a:pt x="65025" y="390144"/>
                  </a:lnTo>
                  <a:lnTo>
                    <a:pt x="910334" y="390144"/>
                  </a:lnTo>
                  <a:lnTo>
                    <a:pt x="935645" y="385034"/>
                  </a:lnTo>
                  <a:lnTo>
                    <a:pt x="956314" y="371098"/>
                  </a:lnTo>
                  <a:lnTo>
                    <a:pt x="970250" y="350430"/>
                  </a:lnTo>
                  <a:lnTo>
                    <a:pt x="975360" y="325120"/>
                  </a:lnTo>
                  <a:lnTo>
                    <a:pt x="975360" y="65025"/>
                  </a:lnTo>
                  <a:lnTo>
                    <a:pt x="970250" y="39714"/>
                  </a:lnTo>
                  <a:lnTo>
                    <a:pt x="956314" y="19045"/>
                  </a:lnTo>
                  <a:lnTo>
                    <a:pt x="935645" y="5110"/>
                  </a:lnTo>
                  <a:lnTo>
                    <a:pt x="910334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486800" y="4295756"/>
              <a:ext cx="975360" cy="552450"/>
            </a:xfrm>
            <a:custGeom>
              <a:avLst/>
              <a:gdLst/>
              <a:ahLst/>
              <a:cxnLst/>
              <a:rect l="l" t="t" r="r" b="b"/>
              <a:pathLst>
                <a:path w="975360" h="552450">
                  <a:moveTo>
                    <a:pt x="0" y="65025"/>
                  </a:moveTo>
                  <a:lnTo>
                    <a:pt x="5109" y="39714"/>
                  </a:lnTo>
                  <a:lnTo>
                    <a:pt x="19045" y="19045"/>
                  </a:lnTo>
                  <a:lnTo>
                    <a:pt x="39714" y="5109"/>
                  </a:lnTo>
                  <a:lnTo>
                    <a:pt x="65025" y="0"/>
                  </a:lnTo>
                  <a:lnTo>
                    <a:pt x="162559" y="0"/>
                  </a:lnTo>
                  <a:lnTo>
                    <a:pt x="406399" y="0"/>
                  </a:lnTo>
                  <a:lnTo>
                    <a:pt x="910334" y="0"/>
                  </a:lnTo>
                  <a:lnTo>
                    <a:pt x="935645" y="5109"/>
                  </a:lnTo>
                  <a:lnTo>
                    <a:pt x="956314" y="19045"/>
                  </a:lnTo>
                  <a:lnTo>
                    <a:pt x="970249" y="39714"/>
                  </a:lnTo>
                  <a:lnTo>
                    <a:pt x="975359" y="65025"/>
                  </a:lnTo>
                  <a:lnTo>
                    <a:pt x="975359" y="227583"/>
                  </a:lnTo>
                  <a:lnTo>
                    <a:pt x="975359" y="325119"/>
                  </a:lnTo>
                  <a:lnTo>
                    <a:pt x="970249" y="350429"/>
                  </a:lnTo>
                  <a:lnTo>
                    <a:pt x="956314" y="371098"/>
                  </a:lnTo>
                  <a:lnTo>
                    <a:pt x="935645" y="385033"/>
                  </a:lnTo>
                  <a:lnTo>
                    <a:pt x="910334" y="390143"/>
                  </a:lnTo>
                  <a:lnTo>
                    <a:pt x="406399" y="390143"/>
                  </a:lnTo>
                  <a:lnTo>
                    <a:pt x="57809" y="552354"/>
                  </a:lnTo>
                  <a:lnTo>
                    <a:pt x="162559" y="390143"/>
                  </a:lnTo>
                  <a:lnTo>
                    <a:pt x="65025" y="390143"/>
                  </a:lnTo>
                  <a:lnTo>
                    <a:pt x="39714" y="385033"/>
                  </a:lnTo>
                  <a:lnTo>
                    <a:pt x="19045" y="371098"/>
                  </a:lnTo>
                  <a:lnTo>
                    <a:pt x="5109" y="350429"/>
                  </a:lnTo>
                  <a:lnTo>
                    <a:pt x="0" y="325118"/>
                  </a:lnTo>
                  <a:lnTo>
                    <a:pt x="0" y="227583"/>
                  </a:lnTo>
                  <a:lnTo>
                    <a:pt x="0" y="65025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99795" y="1207008"/>
            <a:ext cx="8747760" cy="3808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Identify</a:t>
            </a:r>
            <a:r>
              <a:rPr sz="2300" b="1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entity,</a:t>
            </a:r>
            <a:r>
              <a:rPr sz="2300" b="1" spc="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2300" b="1" spc="11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sets,</a:t>
            </a:r>
            <a:r>
              <a:rPr sz="2300" b="1" spc="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300" b="1" spc="11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spc="-10" dirty="0">
                <a:solidFill>
                  <a:srgbClr val="292934"/>
                </a:solidFill>
                <a:latin typeface="Verdana"/>
                <a:cs typeface="Verdana"/>
              </a:rPr>
              <a:t>attributes</a:t>
            </a:r>
            <a:endParaRPr sz="2300">
              <a:latin typeface="Verdana"/>
              <a:cs typeface="Verdana"/>
            </a:endParaRPr>
          </a:p>
          <a:p>
            <a:pPr marL="1290955">
              <a:lnSpc>
                <a:spcPct val="100000"/>
              </a:lnSpc>
              <a:spcBef>
                <a:spcPts val="1445"/>
              </a:spcBef>
            </a:pP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Object</a:t>
            </a:r>
            <a:endParaRPr sz="1500">
              <a:latin typeface="Arial MT"/>
              <a:cs typeface="Arial MT"/>
            </a:endParaRPr>
          </a:p>
          <a:p>
            <a:pPr marL="238760">
              <a:lnSpc>
                <a:spcPct val="100000"/>
              </a:lnSpc>
              <a:spcBef>
                <a:spcPts val="1505"/>
              </a:spcBef>
            </a:pPr>
            <a:r>
              <a:rPr sz="2300" b="1" spc="-10" dirty="0">
                <a:solidFill>
                  <a:srgbClr val="292934"/>
                </a:solidFill>
                <a:latin typeface="Verdana"/>
                <a:cs typeface="Verdana"/>
              </a:rPr>
              <a:t>Movies</a:t>
            </a:r>
            <a:endParaRPr sz="2300">
              <a:latin typeface="Verdana"/>
              <a:cs typeface="Verdana"/>
            </a:endParaRPr>
          </a:p>
          <a:p>
            <a:pPr marL="238760" marR="5080">
              <a:lnSpc>
                <a:spcPct val="101800"/>
              </a:lnSpc>
              <a:spcBef>
                <a:spcPts val="1510"/>
              </a:spcBef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movie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has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i="1" dirty="0">
                <a:solidFill>
                  <a:srgbClr val="292934"/>
                </a:solidFill>
                <a:latin typeface="Verdana"/>
                <a:cs typeface="Verdana"/>
              </a:rPr>
              <a:t>title</a:t>
            </a:r>
            <a:r>
              <a:rPr sz="1900" i="1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i="1" dirty="0">
                <a:solidFill>
                  <a:srgbClr val="292934"/>
                </a:solidFill>
                <a:latin typeface="Verdana"/>
                <a:cs typeface="Verdana"/>
              </a:rPr>
              <a:t>year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;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i="1" dirty="0">
                <a:solidFill>
                  <a:srgbClr val="292934"/>
                </a:solidFill>
                <a:latin typeface="Verdana"/>
                <a:cs typeface="Verdana"/>
              </a:rPr>
              <a:t>title</a:t>
            </a:r>
            <a:r>
              <a:rPr sz="1900" i="1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i="1" dirty="0">
                <a:solidFill>
                  <a:srgbClr val="292934"/>
                </a:solidFill>
                <a:latin typeface="Verdana"/>
                <a:cs typeface="Verdana"/>
              </a:rPr>
              <a:t>year</a:t>
            </a:r>
            <a:r>
              <a:rPr sz="1900" i="1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together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uniquely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identify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movie.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i="1" dirty="0">
                <a:solidFill>
                  <a:srgbClr val="292934"/>
                </a:solidFill>
                <a:latin typeface="Verdana"/>
                <a:cs typeface="Verdana"/>
              </a:rPr>
              <a:t>Length</a:t>
            </a:r>
            <a:r>
              <a:rPr sz="1900" i="1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9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i="1" dirty="0">
                <a:solidFill>
                  <a:srgbClr val="292934"/>
                </a:solidFill>
                <a:latin typeface="Verdana"/>
                <a:cs typeface="Verdana"/>
              </a:rPr>
              <a:t>genre</a:t>
            </a:r>
            <a:r>
              <a:rPr sz="1900" i="1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9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maintained</a:t>
            </a:r>
            <a:r>
              <a:rPr sz="19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movie.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movie</a:t>
            </a:r>
            <a:r>
              <a:rPr sz="19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900" spc="-3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u="sng" spc="-280" dirty="0">
                <a:solidFill>
                  <a:srgbClr val="292934"/>
                </a:solidFill>
                <a:uFill>
                  <a:solidFill>
                    <a:srgbClr val="C00000"/>
                  </a:solidFill>
                </a:uFill>
                <a:latin typeface="Verdana"/>
                <a:cs typeface="Verdana"/>
              </a:rPr>
              <a:t> </a:t>
            </a:r>
            <a:r>
              <a:rPr sz="1900" u="sng" dirty="0">
                <a:solidFill>
                  <a:srgbClr val="292934"/>
                </a:solidFill>
                <a:uFill>
                  <a:solidFill>
                    <a:srgbClr val="C00000"/>
                  </a:solidFill>
                </a:uFill>
                <a:latin typeface="Verdana"/>
                <a:cs typeface="Verdana"/>
              </a:rPr>
              <a:t>associated</a:t>
            </a:r>
            <a:r>
              <a:rPr sz="1900" u="sng" spc="40" dirty="0">
                <a:solidFill>
                  <a:srgbClr val="292934"/>
                </a:solidFill>
                <a:uFill>
                  <a:solidFill>
                    <a:srgbClr val="C00000"/>
                  </a:solidFill>
                </a:uFill>
                <a:latin typeface="Verdana"/>
                <a:cs typeface="Verdana"/>
              </a:rPr>
              <a:t> </a:t>
            </a:r>
            <a:r>
              <a:rPr sz="1900" u="sng" dirty="0">
                <a:solidFill>
                  <a:srgbClr val="292934"/>
                </a:solidFill>
                <a:uFill>
                  <a:solidFill>
                    <a:srgbClr val="C00000"/>
                  </a:solidFill>
                </a:uFill>
                <a:latin typeface="Verdana"/>
                <a:cs typeface="Verdana"/>
              </a:rPr>
              <a:t>with</a:t>
            </a:r>
            <a:r>
              <a:rPr sz="1900" u="sng" spc="35" dirty="0">
                <a:solidFill>
                  <a:srgbClr val="292934"/>
                </a:solidFill>
                <a:uFill>
                  <a:solidFill>
                    <a:srgbClr val="C00000"/>
                  </a:solidFill>
                </a:uFill>
                <a:latin typeface="Verdana"/>
                <a:cs typeface="Verdana"/>
              </a:rPr>
              <a:t> </a:t>
            </a:r>
            <a:r>
              <a:rPr sz="1900" u="sng" dirty="0">
                <a:solidFill>
                  <a:srgbClr val="292934"/>
                </a:solidFill>
                <a:uFill>
                  <a:solidFill>
                    <a:srgbClr val="C00000"/>
                  </a:solidFill>
                </a:uFill>
                <a:latin typeface="Verdana"/>
                <a:cs typeface="Verdana"/>
              </a:rPr>
              <a:t>a</a:t>
            </a:r>
            <a:r>
              <a:rPr sz="1900" u="sng" spc="25" dirty="0">
                <a:solidFill>
                  <a:srgbClr val="292934"/>
                </a:solidFill>
                <a:uFill>
                  <a:solidFill>
                    <a:srgbClr val="C00000"/>
                  </a:solidFill>
                </a:uFill>
                <a:latin typeface="Verdana"/>
                <a:cs typeface="Verdana"/>
              </a:rPr>
              <a:t> </a:t>
            </a:r>
            <a:r>
              <a:rPr sz="1900" i="1" u="sng" dirty="0">
                <a:solidFill>
                  <a:srgbClr val="292934"/>
                </a:solidFill>
                <a:uFill>
                  <a:solidFill>
                    <a:srgbClr val="C00000"/>
                  </a:solidFill>
                </a:uFill>
                <a:latin typeface="Verdana"/>
                <a:cs typeface="Verdana"/>
              </a:rPr>
              <a:t>studioName</a:t>
            </a:r>
            <a:r>
              <a:rPr sz="1900" i="1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which</a:t>
            </a:r>
            <a:r>
              <a:rPr sz="19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tells</a:t>
            </a:r>
            <a:r>
              <a:rPr sz="19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us</a:t>
            </a:r>
            <a:r>
              <a:rPr sz="19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studio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owns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movie,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i="1" dirty="0">
                <a:solidFill>
                  <a:srgbClr val="292934"/>
                </a:solidFill>
                <a:latin typeface="Verdana"/>
                <a:cs typeface="Verdana"/>
              </a:rPr>
              <a:t>producerC#</a:t>
            </a:r>
            <a:r>
              <a:rPr sz="1900" i="1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which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an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integer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20" dirty="0">
                <a:solidFill>
                  <a:srgbClr val="292934"/>
                </a:solidFill>
                <a:latin typeface="Verdana"/>
                <a:cs typeface="Verdana"/>
              </a:rPr>
              <a:t>that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represents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producer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movie.</a:t>
            </a:r>
            <a:endParaRPr sz="1900">
              <a:latin typeface="Verdana"/>
              <a:cs typeface="Verdana"/>
            </a:endParaRPr>
          </a:p>
          <a:p>
            <a:pPr marL="2300605">
              <a:lnSpc>
                <a:spcPct val="100000"/>
              </a:lnSpc>
              <a:spcBef>
                <a:spcPts val="1410"/>
              </a:spcBef>
            </a:pP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Object</a:t>
            </a:r>
            <a:endParaRPr sz="1500">
              <a:latin typeface="Arial MT"/>
              <a:cs typeface="Arial MT"/>
            </a:endParaRPr>
          </a:p>
          <a:p>
            <a:pPr marL="238760">
              <a:lnSpc>
                <a:spcPct val="100000"/>
              </a:lnSpc>
              <a:spcBef>
                <a:spcPts val="425"/>
              </a:spcBef>
            </a:pPr>
            <a:r>
              <a:rPr sz="2300" b="1" spc="-10" dirty="0">
                <a:solidFill>
                  <a:srgbClr val="292934"/>
                </a:solidFill>
                <a:latin typeface="Verdana"/>
                <a:cs typeface="Verdana"/>
              </a:rPr>
              <a:t>MovieStars</a:t>
            </a:r>
            <a:endParaRPr sz="2300">
              <a:latin typeface="Verdana"/>
              <a:cs typeface="Verdan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644469" y="2691921"/>
            <a:ext cx="4102735" cy="2850515"/>
            <a:chOff x="4644469" y="2691921"/>
            <a:chExt cx="4102735" cy="2850515"/>
          </a:xfrm>
        </p:grpSpPr>
        <p:sp>
          <p:nvSpPr>
            <p:cNvPr id="21" name="object 21"/>
            <p:cNvSpPr/>
            <p:nvPr/>
          </p:nvSpPr>
          <p:spPr>
            <a:xfrm>
              <a:off x="4658563" y="2706014"/>
              <a:ext cx="1741805" cy="332105"/>
            </a:xfrm>
            <a:custGeom>
              <a:avLst/>
              <a:gdLst/>
              <a:ahLst/>
              <a:cxnLst/>
              <a:rect l="l" t="t" r="r" b="b"/>
              <a:pathLst>
                <a:path w="1741804" h="332105">
                  <a:moveTo>
                    <a:pt x="0" y="55270"/>
                  </a:moveTo>
                  <a:lnTo>
                    <a:pt x="4343" y="33756"/>
                  </a:lnTo>
                  <a:lnTo>
                    <a:pt x="16188" y="16188"/>
                  </a:lnTo>
                  <a:lnTo>
                    <a:pt x="33756" y="4343"/>
                  </a:lnTo>
                  <a:lnTo>
                    <a:pt x="55270" y="0"/>
                  </a:lnTo>
                  <a:lnTo>
                    <a:pt x="1686443" y="0"/>
                  </a:lnTo>
                  <a:lnTo>
                    <a:pt x="1707957" y="4343"/>
                  </a:lnTo>
                  <a:lnTo>
                    <a:pt x="1725525" y="16188"/>
                  </a:lnTo>
                  <a:lnTo>
                    <a:pt x="1737370" y="33756"/>
                  </a:lnTo>
                  <a:lnTo>
                    <a:pt x="1741714" y="55270"/>
                  </a:lnTo>
                  <a:lnTo>
                    <a:pt x="1741714" y="276351"/>
                  </a:lnTo>
                  <a:lnTo>
                    <a:pt x="1737370" y="297865"/>
                  </a:lnTo>
                  <a:lnTo>
                    <a:pt x="1725525" y="315433"/>
                  </a:lnTo>
                  <a:lnTo>
                    <a:pt x="1707957" y="327278"/>
                  </a:lnTo>
                  <a:lnTo>
                    <a:pt x="1686443" y="331622"/>
                  </a:lnTo>
                  <a:lnTo>
                    <a:pt x="55270" y="331622"/>
                  </a:lnTo>
                  <a:lnTo>
                    <a:pt x="33756" y="327278"/>
                  </a:lnTo>
                  <a:lnTo>
                    <a:pt x="16188" y="315433"/>
                  </a:lnTo>
                  <a:lnTo>
                    <a:pt x="4343" y="297865"/>
                  </a:lnTo>
                  <a:lnTo>
                    <a:pt x="0" y="276351"/>
                  </a:lnTo>
                  <a:lnTo>
                    <a:pt x="0" y="55270"/>
                  </a:lnTo>
                  <a:close/>
                </a:path>
              </a:pathLst>
            </a:custGeom>
            <a:ln w="28186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932986" y="5196666"/>
              <a:ext cx="800100" cy="332105"/>
            </a:xfrm>
            <a:custGeom>
              <a:avLst/>
              <a:gdLst/>
              <a:ahLst/>
              <a:cxnLst/>
              <a:rect l="l" t="t" r="r" b="b"/>
              <a:pathLst>
                <a:path w="800100" h="332104">
                  <a:moveTo>
                    <a:pt x="0" y="55271"/>
                  </a:moveTo>
                  <a:lnTo>
                    <a:pt x="4343" y="33757"/>
                  </a:lnTo>
                  <a:lnTo>
                    <a:pt x="16188" y="16188"/>
                  </a:lnTo>
                  <a:lnTo>
                    <a:pt x="33757" y="4343"/>
                  </a:lnTo>
                  <a:lnTo>
                    <a:pt x="55271" y="0"/>
                  </a:lnTo>
                  <a:lnTo>
                    <a:pt x="744524" y="0"/>
                  </a:lnTo>
                  <a:lnTo>
                    <a:pt x="766038" y="4343"/>
                  </a:lnTo>
                  <a:lnTo>
                    <a:pt x="783606" y="16188"/>
                  </a:lnTo>
                  <a:lnTo>
                    <a:pt x="795451" y="33757"/>
                  </a:lnTo>
                  <a:lnTo>
                    <a:pt x="799795" y="55271"/>
                  </a:lnTo>
                  <a:lnTo>
                    <a:pt x="799795" y="276351"/>
                  </a:lnTo>
                  <a:lnTo>
                    <a:pt x="795451" y="297865"/>
                  </a:lnTo>
                  <a:lnTo>
                    <a:pt x="783606" y="315433"/>
                  </a:lnTo>
                  <a:lnTo>
                    <a:pt x="766038" y="327278"/>
                  </a:lnTo>
                  <a:lnTo>
                    <a:pt x="744524" y="331622"/>
                  </a:lnTo>
                  <a:lnTo>
                    <a:pt x="55271" y="331622"/>
                  </a:lnTo>
                  <a:lnTo>
                    <a:pt x="33757" y="327278"/>
                  </a:lnTo>
                  <a:lnTo>
                    <a:pt x="16188" y="315433"/>
                  </a:lnTo>
                  <a:lnTo>
                    <a:pt x="4343" y="297865"/>
                  </a:lnTo>
                  <a:lnTo>
                    <a:pt x="0" y="276351"/>
                  </a:lnTo>
                  <a:lnTo>
                    <a:pt x="0" y="55271"/>
                  </a:lnTo>
                  <a:close/>
                </a:path>
              </a:pathLst>
            </a:custGeom>
            <a:ln w="28186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5350">
              <a:lnSpc>
                <a:spcPct val="100000"/>
              </a:lnSpc>
              <a:spcBef>
                <a:spcPts val="100"/>
              </a:spcBef>
            </a:pPr>
            <a:r>
              <a:rPr spc="-105" dirty="0">
                <a:solidFill>
                  <a:srgbClr val="292934"/>
                </a:solidFill>
              </a:rPr>
              <a:t>Let’s</a:t>
            </a:r>
            <a:r>
              <a:rPr spc="-235" dirty="0">
                <a:solidFill>
                  <a:srgbClr val="292934"/>
                </a:solidFill>
              </a:rPr>
              <a:t> </a:t>
            </a:r>
            <a:r>
              <a:rPr spc="-110" dirty="0">
                <a:solidFill>
                  <a:srgbClr val="292934"/>
                </a:solidFill>
              </a:rPr>
              <a:t>try:</a:t>
            </a:r>
            <a:r>
              <a:rPr spc="-225" dirty="0">
                <a:solidFill>
                  <a:srgbClr val="292934"/>
                </a:solidFill>
              </a:rPr>
              <a:t> </a:t>
            </a:r>
            <a:r>
              <a:rPr spc="-145" dirty="0">
                <a:solidFill>
                  <a:srgbClr val="292934"/>
                </a:solidFill>
              </a:rPr>
              <a:t>Movie-</a:t>
            </a:r>
            <a:r>
              <a:rPr spc="-90" dirty="0">
                <a:solidFill>
                  <a:srgbClr val="292934"/>
                </a:solidFill>
              </a:rPr>
              <a:t>Database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23286" y="1537917"/>
            <a:ext cx="1285240" cy="669925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202565" rIns="0" bIns="0" rtlCol="0">
            <a:spAutoFit/>
          </a:bodyPr>
          <a:lstStyle/>
          <a:p>
            <a:pPr marL="299085">
              <a:lnSpc>
                <a:spcPct val="100000"/>
              </a:lnSpc>
              <a:spcBef>
                <a:spcPts val="1595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Movies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57987" y="2518886"/>
            <a:ext cx="1229360" cy="501650"/>
            <a:chOff x="257987" y="2518886"/>
            <a:chExt cx="1229360" cy="501650"/>
          </a:xfrm>
        </p:grpSpPr>
        <p:sp>
          <p:nvSpPr>
            <p:cNvPr id="5" name="object 5"/>
            <p:cNvSpPr/>
            <p:nvPr/>
          </p:nvSpPr>
          <p:spPr>
            <a:xfrm>
              <a:off x="263067" y="2523966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609354" y="0"/>
                  </a:moveTo>
                  <a:lnTo>
                    <a:pt x="542958" y="1440"/>
                  </a:lnTo>
                  <a:lnTo>
                    <a:pt x="478633" y="5663"/>
                  </a:lnTo>
                  <a:lnTo>
                    <a:pt x="416751" y="12519"/>
                  </a:lnTo>
                  <a:lnTo>
                    <a:pt x="357683" y="21856"/>
                  </a:lnTo>
                  <a:lnTo>
                    <a:pt x="301801" y="33526"/>
                  </a:lnTo>
                  <a:lnTo>
                    <a:pt x="249477" y="47379"/>
                  </a:lnTo>
                  <a:lnTo>
                    <a:pt x="201083" y="63265"/>
                  </a:lnTo>
                  <a:lnTo>
                    <a:pt x="156990" y="81035"/>
                  </a:lnTo>
                  <a:lnTo>
                    <a:pt x="117570" y="100537"/>
                  </a:lnTo>
                  <a:lnTo>
                    <a:pt x="83194" y="121623"/>
                  </a:lnTo>
                  <a:lnTo>
                    <a:pt x="31065" y="167947"/>
                  </a:lnTo>
                  <a:lnTo>
                    <a:pt x="3575" y="218807"/>
                  </a:lnTo>
                  <a:lnTo>
                    <a:pt x="0" y="245564"/>
                  </a:lnTo>
                  <a:lnTo>
                    <a:pt x="3575" y="272321"/>
                  </a:lnTo>
                  <a:lnTo>
                    <a:pt x="31065" y="323182"/>
                  </a:lnTo>
                  <a:lnTo>
                    <a:pt x="83194" y="369506"/>
                  </a:lnTo>
                  <a:lnTo>
                    <a:pt x="117570" y="390592"/>
                  </a:lnTo>
                  <a:lnTo>
                    <a:pt x="156990" y="410094"/>
                  </a:lnTo>
                  <a:lnTo>
                    <a:pt x="201083" y="427863"/>
                  </a:lnTo>
                  <a:lnTo>
                    <a:pt x="249477" y="443749"/>
                  </a:lnTo>
                  <a:lnTo>
                    <a:pt x="301801" y="457602"/>
                  </a:lnTo>
                  <a:lnTo>
                    <a:pt x="357683" y="469272"/>
                  </a:lnTo>
                  <a:lnTo>
                    <a:pt x="416751" y="478610"/>
                  </a:lnTo>
                  <a:lnTo>
                    <a:pt x="478633" y="485465"/>
                  </a:lnTo>
                  <a:lnTo>
                    <a:pt x="542958" y="489688"/>
                  </a:lnTo>
                  <a:lnTo>
                    <a:pt x="609354" y="491129"/>
                  </a:lnTo>
                  <a:lnTo>
                    <a:pt x="675749" y="489688"/>
                  </a:lnTo>
                  <a:lnTo>
                    <a:pt x="740074" y="485465"/>
                  </a:lnTo>
                  <a:lnTo>
                    <a:pt x="801957" y="478610"/>
                  </a:lnTo>
                  <a:lnTo>
                    <a:pt x="861025" y="469272"/>
                  </a:lnTo>
                  <a:lnTo>
                    <a:pt x="916906" y="457602"/>
                  </a:lnTo>
                  <a:lnTo>
                    <a:pt x="969230" y="443749"/>
                  </a:lnTo>
                  <a:lnTo>
                    <a:pt x="1017625" y="427863"/>
                  </a:lnTo>
                  <a:lnTo>
                    <a:pt x="1061718" y="410094"/>
                  </a:lnTo>
                  <a:lnTo>
                    <a:pt x="1101138" y="390592"/>
                  </a:lnTo>
                  <a:lnTo>
                    <a:pt x="1135513" y="369506"/>
                  </a:lnTo>
                  <a:lnTo>
                    <a:pt x="1187643" y="323182"/>
                  </a:lnTo>
                  <a:lnTo>
                    <a:pt x="1215133" y="272321"/>
                  </a:lnTo>
                  <a:lnTo>
                    <a:pt x="1218708" y="245564"/>
                  </a:lnTo>
                  <a:lnTo>
                    <a:pt x="1215133" y="218807"/>
                  </a:lnTo>
                  <a:lnTo>
                    <a:pt x="1187643" y="167947"/>
                  </a:lnTo>
                  <a:lnTo>
                    <a:pt x="1135513" y="121623"/>
                  </a:lnTo>
                  <a:lnTo>
                    <a:pt x="1101138" y="100537"/>
                  </a:lnTo>
                  <a:lnTo>
                    <a:pt x="1061718" y="81035"/>
                  </a:lnTo>
                  <a:lnTo>
                    <a:pt x="1017625" y="63265"/>
                  </a:lnTo>
                  <a:lnTo>
                    <a:pt x="969230" y="47379"/>
                  </a:lnTo>
                  <a:lnTo>
                    <a:pt x="916906" y="33526"/>
                  </a:lnTo>
                  <a:lnTo>
                    <a:pt x="861025" y="21856"/>
                  </a:lnTo>
                  <a:lnTo>
                    <a:pt x="801957" y="12519"/>
                  </a:lnTo>
                  <a:lnTo>
                    <a:pt x="740074" y="5663"/>
                  </a:lnTo>
                  <a:lnTo>
                    <a:pt x="675749" y="1440"/>
                  </a:lnTo>
                  <a:lnTo>
                    <a:pt x="609354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63067" y="2523966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0" y="245564"/>
                  </a:moveTo>
                  <a:lnTo>
                    <a:pt x="14054" y="192885"/>
                  </a:lnTo>
                  <a:lnTo>
                    <a:pt x="54235" y="144143"/>
                  </a:lnTo>
                  <a:lnTo>
                    <a:pt x="117570" y="100537"/>
                  </a:lnTo>
                  <a:lnTo>
                    <a:pt x="156990" y="81034"/>
                  </a:lnTo>
                  <a:lnTo>
                    <a:pt x="201083" y="63265"/>
                  </a:lnTo>
                  <a:lnTo>
                    <a:pt x="249477" y="47379"/>
                  </a:lnTo>
                  <a:lnTo>
                    <a:pt x="301801" y="33526"/>
                  </a:lnTo>
                  <a:lnTo>
                    <a:pt x="357683" y="21856"/>
                  </a:lnTo>
                  <a:lnTo>
                    <a:pt x="416751" y="12519"/>
                  </a:lnTo>
                  <a:lnTo>
                    <a:pt x="478633" y="5663"/>
                  </a:lnTo>
                  <a:lnTo>
                    <a:pt x="542958" y="1440"/>
                  </a:lnTo>
                  <a:lnTo>
                    <a:pt x="609354" y="0"/>
                  </a:lnTo>
                  <a:lnTo>
                    <a:pt x="675749" y="1440"/>
                  </a:lnTo>
                  <a:lnTo>
                    <a:pt x="740074" y="5663"/>
                  </a:lnTo>
                  <a:lnTo>
                    <a:pt x="801957" y="12519"/>
                  </a:lnTo>
                  <a:lnTo>
                    <a:pt x="861025" y="21856"/>
                  </a:lnTo>
                  <a:lnTo>
                    <a:pt x="916906" y="33526"/>
                  </a:lnTo>
                  <a:lnTo>
                    <a:pt x="969230" y="47379"/>
                  </a:lnTo>
                  <a:lnTo>
                    <a:pt x="1017625" y="63265"/>
                  </a:lnTo>
                  <a:lnTo>
                    <a:pt x="1061718" y="81034"/>
                  </a:lnTo>
                  <a:lnTo>
                    <a:pt x="1101138" y="100537"/>
                  </a:lnTo>
                  <a:lnTo>
                    <a:pt x="1135513" y="121623"/>
                  </a:lnTo>
                  <a:lnTo>
                    <a:pt x="1187642" y="167947"/>
                  </a:lnTo>
                  <a:lnTo>
                    <a:pt x="1215132" y="218807"/>
                  </a:lnTo>
                  <a:lnTo>
                    <a:pt x="1218708" y="245564"/>
                  </a:lnTo>
                  <a:lnTo>
                    <a:pt x="1215132" y="272321"/>
                  </a:lnTo>
                  <a:lnTo>
                    <a:pt x="1187642" y="323182"/>
                  </a:lnTo>
                  <a:lnTo>
                    <a:pt x="1135513" y="369506"/>
                  </a:lnTo>
                  <a:lnTo>
                    <a:pt x="1101138" y="390592"/>
                  </a:lnTo>
                  <a:lnTo>
                    <a:pt x="1061718" y="410094"/>
                  </a:lnTo>
                  <a:lnTo>
                    <a:pt x="1017625" y="427863"/>
                  </a:lnTo>
                  <a:lnTo>
                    <a:pt x="969230" y="443749"/>
                  </a:lnTo>
                  <a:lnTo>
                    <a:pt x="916906" y="457602"/>
                  </a:lnTo>
                  <a:lnTo>
                    <a:pt x="861025" y="469272"/>
                  </a:lnTo>
                  <a:lnTo>
                    <a:pt x="801957" y="478610"/>
                  </a:lnTo>
                  <a:lnTo>
                    <a:pt x="740074" y="485465"/>
                  </a:lnTo>
                  <a:lnTo>
                    <a:pt x="675749" y="489688"/>
                  </a:lnTo>
                  <a:lnTo>
                    <a:pt x="609354" y="491129"/>
                  </a:lnTo>
                  <a:lnTo>
                    <a:pt x="542958" y="489688"/>
                  </a:lnTo>
                  <a:lnTo>
                    <a:pt x="478633" y="485465"/>
                  </a:lnTo>
                  <a:lnTo>
                    <a:pt x="416751" y="478610"/>
                  </a:lnTo>
                  <a:lnTo>
                    <a:pt x="357683" y="469272"/>
                  </a:lnTo>
                  <a:lnTo>
                    <a:pt x="301801" y="457602"/>
                  </a:lnTo>
                  <a:lnTo>
                    <a:pt x="249477" y="443749"/>
                  </a:lnTo>
                  <a:lnTo>
                    <a:pt x="201083" y="427863"/>
                  </a:lnTo>
                  <a:lnTo>
                    <a:pt x="156990" y="410094"/>
                  </a:lnTo>
                  <a:lnTo>
                    <a:pt x="117570" y="390592"/>
                  </a:lnTo>
                  <a:lnTo>
                    <a:pt x="83194" y="369506"/>
                  </a:lnTo>
                  <a:lnTo>
                    <a:pt x="31065" y="323182"/>
                  </a:lnTo>
                  <a:lnTo>
                    <a:pt x="3575" y="272321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91234" y="2627376"/>
            <a:ext cx="36258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u="sng" spc="-1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title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400636" y="2795889"/>
            <a:ext cx="1229360" cy="501650"/>
            <a:chOff x="1400636" y="2795889"/>
            <a:chExt cx="1229360" cy="501650"/>
          </a:xfrm>
        </p:grpSpPr>
        <p:sp>
          <p:nvSpPr>
            <p:cNvPr id="9" name="object 9"/>
            <p:cNvSpPr/>
            <p:nvPr/>
          </p:nvSpPr>
          <p:spPr>
            <a:xfrm>
              <a:off x="1405716" y="2800969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609354" y="0"/>
                  </a:moveTo>
                  <a:lnTo>
                    <a:pt x="542958" y="1440"/>
                  </a:lnTo>
                  <a:lnTo>
                    <a:pt x="478633" y="5663"/>
                  </a:lnTo>
                  <a:lnTo>
                    <a:pt x="416751" y="12519"/>
                  </a:lnTo>
                  <a:lnTo>
                    <a:pt x="357683" y="21856"/>
                  </a:lnTo>
                  <a:lnTo>
                    <a:pt x="301801" y="33526"/>
                  </a:lnTo>
                  <a:lnTo>
                    <a:pt x="249477" y="47379"/>
                  </a:lnTo>
                  <a:lnTo>
                    <a:pt x="201083" y="63265"/>
                  </a:lnTo>
                  <a:lnTo>
                    <a:pt x="156990" y="81034"/>
                  </a:lnTo>
                  <a:lnTo>
                    <a:pt x="117570" y="100537"/>
                  </a:lnTo>
                  <a:lnTo>
                    <a:pt x="83194" y="121623"/>
                  </a:lnTo>
                  <a:lnTo>
                    <a:pt x="31065" y="167947"/>
                  </a:lnTo>
                  <a:lnTo>
                    <a:pt x="3575" y="218807"/>
                  </a:lnTo>
                  <a:lnTo>
                    <a:pt x="0" y="245564"/>
                  </a:lnTo>
                  <a:lnTo>
                    <a:pt x="3575" y="272321"/>
                  </a:lnTo>
                  <a:lnTo>
                    <a:pt x="31065" y="323181"/>
                  </a:lnTo>
                  <a:lnTo>
                    <a:pt x="83194" y="369505"/>
                  </a:lnTo>
                  <a:lnTo>
                    <a:pt x="117570" y="390591"/>
                  </a:lnTo>
                  <a:lnTo>
                    <a:pt x="156990" y="410094"/>
                  </a:lnTo>
                  <a:lnTo>
                    <a:pt x="201083" y="427863"/>
                  </a:lnTo>
                  <a:lnTo>
                    <a:pt x="249477" y="443749"/>
                  </a:lnTo>
                  <a:lnTo>
                    <a:pt x="301801" y="457602"/>
                  </a:lnTo>
                  <a:lnTo>
                    <a:pt x="357683" y="469272"/>
                  </a:lnTo>
                  <a:lnTo>
                    <a:pt x="416751" y="478610"/>
                  </a:lnTo>
                  <a:lnTo>
                    <a:pt x="478633" y="485465"/>
                  </a:lnTo>
                  <a:lnTo>
                    <a:pt x="542958" y="489688"/>
                  </a:lnTo>
                  <a:lnTo>
                    <a:pt x="609354" y="491129"/>
                  </a:lnTo>
                  <a:lnTo>
                    <a:pt x="675750" y="489688"/>
                  </a:lnTo>
                  <a:lnTo>
                    <a:pt x="740075" y="485465"/>
                  </a:lnTo>
                  <a:lnTo>
                    <a:pt x="801957" y="478610"/>
                  </a:lnTo>
                  <a:lnTo>
                    <a:pt x="861025" y="469272"/>
                  </a:lnTo>
                  <a:lnTo>
                    <a:pt x="916907" y="457602"/>
                  </a:lnTo>
                  <a:lnTo>
                    <a:pt x="969230" y="443749"/>
                  </a:lnTo>
                  <a:lnTo>
                    <a:pt x="1017625" y="427863"/>
                  </a:lnTo>
                  <a:lnTo>
                    <a:pt x="1061718" y="410094"/>
                  </a:lnTo>
                  <a:lnTo>
                    <a:pt x="1101138" y="390591"/>
                  </a:lnTo>
                  <a:lnTo>
                    <a:pt x="1135513" y="369505"/>
                  </a:lnTo>
                  <a:lnTo>
                    <a:pt x="1187643" y="323181"/>
                  </a:lnTo>
                  <a:lnTo>
                    <a:pt x="1215132" y="272321"/>
                  </a:lnTo>
                  <a:lnTo>
                    <a:pt x="1218708" y="245564"/>
                  </a:lnTo>
                  <a:lnTo>
                    <a:pt x="1215132" y="218807"/>
                  </a:lnTo>
                  <a:lnTo>
                    <a:pt x="1187643" y="167947"/>
                  </a:lnTo>
                  <a:lnTo>
                    <a:pt x="1135513" y="121623"/>
                  </a:lnTo>
                  <a:lnTo>
                    <a:pt x="1101138" y="100537"/>
                  </a:lnTo>
                  <a:lnTo>
                    <a:pt x="1061718" y="81034"/>
                  </a:lnTo>
                  <a:lnTo>
                    <a:pt x="1017625" y="63265"/>
                  </a:lnTo>
                  <a:lnTo>
                    <a:pt x="969230" y="47379"/>
                  </a:lnTo>
                  <a:lnTo>
                    <a:pt x="916907" y="33526"/>
                  </a:lnTo>
                  <a:lnTo>
                    <a:pt x="861025" y="21856"/>
                  </a:lnTo>
                  <a:lnTo>
                    <a:pt x="801957" y="12519"/>
                  </a:lnTo>
                  <a:lnTo>
                    <a:pt x="740075" y="5663"/>
                  </a:lnTo>
                  <a:lnTo>
                    <a:pt x="675750" y="1440"/>
                  </a:lnTo>
                  <a:lnTo>
                    <a:pt x="609354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05716" y="2800969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0" y="245564"/>
                  </a:moveTo>
                  <a:lnTo>
                    <a:pt x="14054" y="192885"/>
                  </a:lnTo>
                  <a:lnTo>
                    <a:pt x="54235" y="144143"/>
                  </a:lnTo>
                  <a:lnTo>
                    <a:pt x="117570" y="100537"/>
                  </a:lnTo>
                  <a:lnTo>
                    <a:pt x="156990" y="81034"/>
                  </a:lnTo>
                  <a:lnTo>
                    <a:pt x="201083" y="63265"/>
                  </a:lnTo>
                  <a:lnTo>
                    <a:pt x="249477" y="47379"/>
                  </a:lnTo>
                  <a:lnTo>
                    <a:pt x="301801" y="33526"/>
                  </a:lnTo>
                  <a:lnTo>
                    <a:pt x="357683" y="21856"/>
                  </a:lnTo>
                  <a:lnTo>
                    <a:pt x="416751" y="12519"/>
                  </a:lnTo>
                  <a:lnTo>
                    <a:pt x="478633" y="5663"/>
                  </a:lnTo>
                  <a:lnTo>
                    <a:pt x="542958" y="1440"/>
                  </a:lnTo>
                  <a:lnTo>
                    <a:pt x="609354" y="0"/>
                  </a:lnTo>
                  <a:lnTo>
                    <a:pt x="675749" y="1440"/>
                  </a:lnTo>
                  <a:lnTo>
                    <a:pt x="740074" y="5663"/>
                  </a:lnTo>
                  <a:lnTo>
                    <a:pt x="801957" y="12519"/>
                  </a:lnTo>
                  <a:lnTo>
                    <a:pt x="861025" y="21856"/>
                  </a:lnTo>
                  <a:lnTo>
                    <a:pt x="916906" y="33526"/>
                  </a:lnTo>
                  <a:lnTo>
                    <a:pt x="969230" y="47379"/>
                  </a:lnTo>
                  <a:lnTo>
                    <a:pt x="1017625" y="63265"/>
                  </a:lnTo>
                  <a:lnTo>
                    <a:pt x="1061718" y="81034"/>
                  </a:lnTo>
                  <a:lnTo>
                    <a:pt x="1101138" y="100537"/>
                  </a:lnTo>
                  <a:lnTo>
                    <a:pt x="1135513" y="121623"/>
                  </a:lnTo>
                  <a:lnTo>
                    <a:pt x="1187642" y="167947"/>
                  </a:lnTo>
                  <a:lnTo>
                    <a:pt x="1215132" y="218807"/>
                  </a:lnTo>
                  <a:lnTo>
                    <a:pt x="1218708" y="245564"/>
                  </a:lnTo>
                  <a:lnTo>
                    <a:pt x="1215132" y="272321"/>
                  </a:lnTo>
                  <a:lnTo>
                    <a:pt x="1187642" y="323182"/>
                  </a:lnTo>
                  <a:lnTo>
                    <a:pt x="1135513" y="369506"/>
                  </a:lnTo>
                  <a:lnTo>
                    <a:pt x="1101138" y="390592"/>
                  </a:lnTo>
                  <a:lnTo>
                    <a:pt x="1061718" y="410094"/>
                  </a:lnTo>
                  <a:lnTo>
                    <a:pt x="1017625" y="427863"/>
                  </a:lnTo>
                  <a:lnTo>
                    <a:pt x="969230" y="443749"/>
                  </a:lnTo>
                  <a:lnTo>
                    <a:pt x="916906" y="457602"/>
                  </a:lnTo>
                  <a:lnTo>
                    <a:pt x="861025" y="469272"/>
                  </a:lnTo>
                  <a:lnTo>
                    <a:pt x="801957" y="478610"/>
                  </a:lnTo>
                  <a:lnTo>
                    <a:pt x="740074" y="485465"/>
                  </a:lnTo>
                  <a:lnTo>
                    <a:pt x="675749" y="489688"/>
                  </a:lnTo>
                  <a:lnTo>
                    <a:pt x="609354" y="491129"/>
                  </a:lnTo>
                  <a:lnTo>
                    <a:pt x="542958" y="489688"/>
                  </a:lnTo>
                  <a:lnTo>
                    <a:pt x="478633" y="485465"/>
                  </a:lnTo>
                  <a:lnTo>
                    <a:pt x="416751" y="478610"/>
                  </a:lnTo>
                  <a:lnTo>
                    <a:pt x="357683" y="469272"/>
                  </a:lnTo>
                  <a:lnTo>
                    <a:pt x="301801" y="457602"/>
                  </a:lnTo>
                  <a:lnTo>
                    <a:pt x="249477" y="443749"/>
                  </a:lnTo>
                  <a:lnTo>
                    <a:pt x="201083" y="427863"/>
                  </a:lnTo>
                  <a:lnTo>
                    <a:pt x="156990" y="410094"/>
                  </a:lnTo>
                  <a:lnTo>
                    <a:pt x="117570" y="390592"/>
                  </a:lnTo>
                  <a:lnTo>
                    <a:pt x="83194" y="369506"/>
                  </a:lnTo>
                  <a:lnTo>
                    <a:pt x="31065" y="323182"/>
                  </a:lnTo>
                  <a:lnTo>
                    <a:pt x="3575" y="272321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791549" y="2901696"/>
            <a:ext cx="4464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u="sng" spc="-2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year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67342" y="2202744"/>
            <a:ext cx="3844290" cy="1114425"/>
            <a:chOff x="867342" y="2202744"/>
            <a:chExt cx="3844290" cy="1114425"/>
          </a:xfrm>
        </p:grpSpPr>
        <p:sp>
          <p:nvSpPr>
            <p:cNvPr id="13" name="object 13"/>
            <p:cNvSpPr/>
            <p:nvPr/>
          </p:nvSpPr>
          <p:spPr>
            <a:xfrm>
              <a:off x="2701897" y="2820816"/>
              <a:ext cx="1086485" cy="491490"/>
            </a:xfrm>
            <a:custGeom>
              <a:avLst/>
              <a:gdLst/>
              <a:ahLst/>
              <a:cxnLst/>
              <a:rect l="l" t="t" r="r" b="b"/>
              <a:pathLst>
                <a:path w="1086485" h="491489">
                  <a:moveTo>
                    <a:pt x="543196" y="0"/>
                  </a:moveTo>
                  <a:lnTo>
                    <a:pt x="479848" y="1652"/>
                  </a:lnTo>
                  <a:lnTo>
                    <a:pt x="418646" y="6485"/>
                  </a:lnTo>
                  <a:lnTo>
                    <a:pt x="359998" y="14316"/>
                  </a:lnTo>
                  <a:lnTo>
                    <a:pt x="304312" y="24959"/>
                  </a:lnTo>
                  <a:lnTo>
                    <a:pt x="251995" y="38231"/>
                  </a:lnTo>
                  <a:lnTo>
                    <a:pt x="203454" y="53947"/>
                  </a:lnTo>
                  <a:lnTo>
                    <a:pt x="159098" y="71924"/>
                  </a:lnTo>
                  <a:lnTo>
                    <a:pt x="119334" y="91976"/>
                  </a:lnTo>
                  <a:lnTo>
                    <a:pt x="84569" y="113920"/>
                  </a:lnTo>
                  <a:lnTo>
                    <a:pt x="31667" y="162745"/>
                  </a:lnTo>
                  <a:lnTo>
                    <a:pt x="3654" y="216926"/>
                  </a:lnTo>
                  <a:lnTo>
                    <a:pt x="0" y="245564"/>
                  </a:lnTo>
                  <a:lnTo>
                    <a:pt x="3654" y="274202"/>
                  </a:lnTo>
                  <a:lnTo>
                    <a:pt x="31667" y="328383"/>
                  </a:lnTo>
                  <a:lnTo>
                    <a:pt x="84569" y="377209"/>
                  </a:lnTo>
                  <a:lnTo>
                    <a:pt x="119334" y="399153"/>
                  </a:lnTo>
                  <a:lnTo>
                    <a:pt x="159098" y="419205"/>
                  </a:lnTo>
                  <a:lnTo>
                    <a:pt x="203454" y="437181"/>
                  </a:lnTo>
                  <a:lnTo>
                    <a:pt x="251995" y="452897"/>
                  </a:lnTo>
                  <a:lnTo>
                    <a:pt x="304312" y="466169"/>
                  </a:lnTo>
                  <a:lnTo>
                    <a:pt x="359998" y="476813"/>
                  </a:lnTo>
                  <a:lnTo>
                    <a:pt x="418646" y="484643"/>
                  </a:lnTo>
                  <a:lnTo>
                    <a:pt x="479848" y="489477"/>
                  </a:lnTo>
                  <a:lnTo>
                    <a:pt x="543196" y="491129"/>
                  </a:lnTo>
                  <a:lnTo>
                    <a:pt x="606544" y="489477"/>
                  </a:lnTo>
                  <a:lnTo>
                    <a:pt x="667746" y="484643"/>
                  </a:lnTo>
                  <a:lnTo>
                    <a:pt x="726394" y="476813"/>
                  </a:lnTo>
                  <a:lnTo>
                    <a:pt x="782080" y="466169"/>
                  </a:lnTo>
                  <a:lnTo>
                    <a:pt x="834397" y="452897"/>
                  </a:lnTo>
                  <a:lnTo>
                    <a:pt x="882937" y="437181"/>
                  </a:lnTo>
                  <a:lnTo>
                    <a:pt x="927293" y="419205"/>
                  </a:lnTo>
                  <a:lnTo>
                    <a:pt x="967058" y="399153"/>
                  </a:lnTo>
                  <a:lnTo>
                    <a:pt x="1001823" y="377209"/>
                  </a:lnTo>
                  <a:lnTo>
                    <a:pt x="1054724" y="328383"/>
                  </a:lnTo>
                  <a:lnTo>
                    <a:pt x="1082737" y="274202"/>
                  </a:lnTo>
                  <a:lnTo>
                    <a:pt x="1086392" y="245564"/>
                  </a:lnTo>
                  <a:lnTo>
                    <a:pt x="1082737" y="216926"/>
                  </a:lnTo>
                  <a:lnTo>
                    <a:pt x="1054724" y="162745"/>
                  </a:lnTo>
                  <a:lnTo>
                    <a:pt x="1001823" y="113920"/>
                  </a:lnTo>
                  <a:lnTo>
                    <a:pt x="967058" y="91976"/>
                  </a:lnTo>
                  <a:lnTo>
                    <a:pt x="927293" y="71924"/>
                  </a:lnTo>
                  <a:lnTo>
                    <a:pt x="882937" y="53947"/>
                  </a:lnTo>
                  <a:lnTo>
                    <a:pt x="834397" y="38231"/>
                  </a:lnTo>
                  <a:lnTo>
                    <a:pt x="782080" y="24959"/>
                  </a:lnTo>
                  <a:lnTo>
                    <a:pt x="726394" y="14316"/>
                  </a:lnTo>
                  <a:lnTo>
                    <a:pt x="667746" y="6485"/>
                  </a:lnTo>
                  <a:lnTo>
                    <a:pt x="606544" y="1652"/>
                  </a:lnTo>
                  <a:lnTo>
                    <a:pt x="543196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701897" y="2820816"/>
              <a:ext cx="1086485" cy="491490"/>
            </a:xfrm>
            <a:custGeom>
              <a:avLst/>
              <a:gdLst/>
              <a:ahLst/>
              <a:cxnLst/>
              <a:rect l="l" t="t" r="r" b="b"/>
              <a:pathLst>
                <a:path w="1086485" h="491489">
                  <a:moveTo>
                    <a:pt x="0" y="245564"/>
                  </a:moveTo>
                  <a:lnTo>
                    <a:pt x="14346" y="189259"/>
                  </a:lnTo>
                  <a:lnTo>
                    <a:pt x="55211" y="137571"/>
                  </a:lnTo>
                  <a:lnTo>
                    <a:pt x="119333" y="91976"/>
                  </a:lnTo>
                  <a:lnTo>
                    <a:pt x="159098" y="71924"/>
                  </a:lnTo>
                  <a:lnTo>
                    <a:pt x="203454" y="53947"/>
                  </a:lnTo>
                  <a:lnTo>
                    <a:pt x="251994" y="38231"/>
                  </a:lnTo>
                  <a:lnTo>
                    <a:pt x="304312" y="24959"/>
                  </a:lnTo>
                  <a:lnTo>
                    <a:pt x="359998" y="14316"/>
                  </a:lnTo>
                  <a:lnTo>
                    <a:pt x="418645" y="6485"/>
                  </a:lnTo>
                  <a:lnTo>
                    <a:pt x="479847" y="1652"/>
                  </a:lnTo>
                  <a:lnTo>
                    <a:pt x="543195" y="0"/>
                  </a:lnTo>
                  <a:lnTo>
                    <a:pt x="606543" y="1652"/>
                  </a:lnTo>
                  <a:lnTo>
                    <a:pt x="667745" y="6485"/>
                  </a:lnTo>
                  <a:lnTo>
                    <a:pt x="726393" y="14316"/>
                  </a:lnTo>
                  <a:lnTo>
                    <a:pt x="782079" y="24959"/>
                  </a:lnTo>
                  <a:lnTo>
                    <a:pt x="834396" y="38231"/>
                  </a:lnTo>
                  <a:lnTo>
                    <a:pt x="882936" y="53947"/>
                  </a:lnTo>
                  <a:lnTo>
                    <a:pt x="927293" y="71924"/>
                  </a:lnTo>
                  <a:lnTo>
                    <a:pt x="967057" y="91976"/>
                  </a:lnTo>
                  <a:lnTo>
                    <a:pt x="1001822" y="113920"/>
                  </a:lnTo>
                  <a:lnTo>
                    <a:pt x="1054723" y="162745"/>
                  </a:lnTo>
                  <a:lnTo>
                    <a:pt x="1082736" y="216926"/>
                  </a:lnTo>
                  <a:lnTo>
                    <a:pt x="1086391" y="245564"/>
                  </a:lnTo>
                  <a:lnTo>
                    <a:pt x="1082736" y="274202"/>
                  </a:lnTo>
                  <a:lnTo>
                    <a:pt x="1054723" y="328383"/>
                  </a:lnTo>
                  <a:lnTo>
                    <a:pt x="1001822" y="377209"/>
                  </a:lnTo>
                  <a:lnTo>
                    <a:pt x="967057" y="399153"/>
                  </a:lnTo>
                  <a:lnTo>
                    <a:pt x="927293" y="419205"/>
                  </a:lnTo>
                  <a:lnTo>
                    <a:pt x="882936" y="437181"/>
                  </a:lnTo>
                  <a:lnTo>
                    <a:pt x="834396" y="452898"/>
                  </a:lnTo>
                  <a:lnTo>
                    <a:pt x="782079" y="466170"/>
                  </a:lnTo>
                  <a:lnTo>
                    <a:pt x="726393" y="476813"/>
                  </a:lnTo>
                  <a:lnTo>
                    <a:pt x="667745" y="484644"/>
                  </a:lnTo>
                  <a:lnTo>
                    <a:pt x="606543" y="489477"/>
                  </a:lnTo>
                  <a:lnTo>
                    <a:pt x="543195" y="491129"/>
                  </a:lnTo>
                  <a:lnTo>
                    <a:pt x="479847" y="489477"/>
                  </a:lnTo>
                  <a:lnTo>
                    <a:pt x="418645" y="484644"/>
                  </a:lnTo>
                  <a:lnTo>
                    <a:pt x="359998" y="476813"/>
                  </a:lnTo>
                  <a:lnTo>
                    <a:pt x="304312" y="466170"/>
                  </a:lnTo>
                  <a:lnTo>
                    <a:pt x="251994" y="452898"/>
                  </a:lnTo>
                  <a:lnTo>
                    <a:pt x="203454" y="437181"/>
                  </a:lnTo>
                  <a:lnTo>
                    <a:pt x="159098" y="419205"/>
                  </a:lnTo>
                  <a:lnTo>
                    <a:pt x="119333" y="399153"/>
                  </a:lnTo>
                  <a:lnTo>
                    <a:pt x="84569" y="377209"/>
                  </a:lnTo>
                  <a:lnTo>
                    <a:pt x="31667" y="328383"/>
                  </a:lnTo>
                  <a:lnTo>
                    <a:pt x="3654" y="274202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565811" y="2207825"/>
              <a:ext cx="679450" cy="613410"/>
            </a:xfrm>
            <a:custGeom>
              <a:avLst/>
              <a:gdLst/>
              <a:ahLst/>
              <a:cxnLst/>
              <a:rect l="l" t="t" r="r" b="b"/>
              <a:pathLst>
                <a:path w="679450" h="613410">
                  <a:moveTo>
                    <a:pt x="679281" y="612990"/>
                  </a:moveTo>
                  <a:lnTo>
                    <a:pt x="0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015070" y="2207825"/>
              <a:ext cx="551180" cy="593725"/>
            </a:xfrm>
            <a:custGeom>
              <a:avLst/>
              <a:gdLst/>
              <a:ahLst/>
              <a:cxnLst/>
              <a:rect l="l" t="t" r="r" b="b"/>
              <a:pathLst>
                <a:path w="551180" h="593725">
                  <a:moveTo>
                    <a:pt x="0" y="593144"/>
                  </a:moveTo>
                  <a:lnTo>
                    <a:pt x="550741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72422" y="2207824"/>
              <a:ext cx="1693545" cy="316230"/>
            </a:xfrm>
            <a:custGeom>
              <a:avLst/>
              <a:gdLst/>
              <a:ahLst/>
              <a:cxnLst/>
              <a:rect l="l" t="t" r="r" b="b"/>
              <a:pathLst>
                <a:path w="1693545" h="316230">
                  <a:moveTo>
                    <a:pt x="0" y="316141"/>
                  </a:moveTo>
                  <a:lnTo>
                    <a:pt x="1693389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619671" y="2453289"/>
              <a:ext cx="1086485" cy="491490"/>
            </a:xfrm>
            <a:custGeom>
              <a:avLst/>
              <a:gdLst/>
              <a:ahLst/>
              <a:cxnLst/>
              <a:rect l="l" t="t" r="r" b="b"/>
              <a:pathLst>
                <a:path w="1086485" h="491489">
                  <a:moveTo>
                    <a:pt x="543195" y="0"/>
                  </a:moveTo>
                  <a:lnTo>
                    <a:pt x="479847" y="1652"/>
                  </a:lnTo>
                  <a:lnTo>
                    <a:pt x="418645" y="6485"/>
                  </a:lnTo>
                  <a:lnTo>
                    <a:pt x="359998" y="14316"/>
                  </a:lnTo>
                  <a:lnTo>
                    <a:pt x="304312" y="24959"/>
                  </a:lnTo>
                  <a:lnTo>
                    <a:pt x="251995" y="38231"/>
                  </a:lnTo>
                  <a:lnTo>
                    <a:pt x="203454" y="53947"/>
                  </a:lnTo>
                  <a:lnTo>
                    <a:pt x="159098" y="71924"/>
                  </a:lnTo>
                  <a:lnTo>
                    <a:pt x="119334" y="91976"/>
                  </a:lnTo>
                  <a:lnTo>
                    <a:pt x="84569" y="113920"/>
                  </a:lnTo>
                  <a:lnTo>
                    <a:pt x="31667" y="162745"/>
                  </a:lnTo>
                  <a:lnTo>
                    <a:pt x="3654" y="216926"/>
                  </a:lnTo>
                  <a:lnTo>
                    <a:pt x="0" y="245564"/>
                  </a:lnTo>
                  <a:lnTo>
                    <a:pt x="3654" y="274202"/>
                  </a:lnTo>
                  <a:lnTo>
                    <a:pt x="31667" y="328383"/>
                  </a:lnTo>
                  <a:lnTo>
                    <a:pt x="84569" y="377209"/>
                  </a:lnTo>
                  <a:lnTo>
                    <a:pt x="119334" y="399153"/>
                  </a:lnTo>
                  <a:lnTo>
                    <a:pt x="159098" y="419205"/>
                  </a:lnTo>
                  <a:lnTo>
                    <a:pt x="203454" y="437181"/>
                  </a:lnTo>
                  <a:lnTo>
                    <a:pt x="251995" y="452897"/>
                  </a:lnTo>
                  <a:lnTo>
                    <a:pt x="304312" y="466169"/>
                  </a:lnTo>
                  <a:lnTo>
                    <a:pt x="359998" y="476813"/>
                  </a:lnTo>
                  <a:lnTo>
                    <a:pt x="418645" y="484643"/>
                  </a:lnTo>
                  <a:lnTo>
                    <a:pt x="479847" y="489477"/>
                  </a:lnTo>
                  <a:lnTo>
                    <a:pt x="543195" y="491129"/>
                  </a:lnTo>
                  <a:lnTo>
                    <a:pt x="606543" y="489477"/>
                  </a:lnTo>
                  <a:lnTo>
                    <a:pt x="667745" y="484643"/>
                  </a:lnTo>
                  <a:lnTo>
                    <a:pt x="726393" y="476813"/>
                  </a:lnTo>
                  <a:lnTo>
                    <a:pt x="782079" y="466169"/>
                  </a:lnTo>
                  <a:lnTo>
                    <a:pt x="834396" y="452897"/>
                  </a:lnTo>
                  <a:lnTo>
                    <a:pt x="882936" y="437181"/>
                  </a:lnTo>
                  <a:lnTo>
                    <a:pt x="927293" y="419205"/>
                  </a:lnTo>
                  <a:lnTo>
                    <a:pt x="967057" y="399153"/>
                  </a:lnTo>
                  <a:lnTo>
                    <a:pt x="1001822" y="377209"/>
                  </a:lnTo>
                  <a:lnTo>
                    <a:pt x="1054723" y="328383"/>
                  </a:lnTo>
                  <a:lnTo>
                    <a:pt x="1082736" y="274202"/>
                  </a:lnTo>
                  <a:lnTo>
                    <a:pt x="1086391" y="245564"/>
                  </a:lnTo>
                  <a:lnTo>
                    <a:pt x="1082736" y="216926"/>
                  </a:lnTo>
                  <a:lnTo>
                    <a:pt x="1054723" y="162745"/>
                  </a:lnTo>
                  <a:lnTo>
                    <a:pt x="1001822" y="113920"/>
                  </a:lnTo>
                  <a:lnTo>
                    <a:pt x="967057" y="91976"/>
                  </a:lnTo>
                  <a:lnTo>
                    <a:pt x="927293" y="71924"/>
                  </a:lnTo>
                  <a:lnTo>
                    <a:pt x="882936" y="53947"/>
                  </a:lnTo>
                  <a:lnTo>
                    <a:pt x="834396" y="38231"/>
                  </a:lnTo>
                  <a:lnTo>
                    <a:pt x="782079" y="24959"/>
                  </a:lnTo>
                  <a:lnTo>
                    <a:pt x="726393" y="14316"/>
                  </a:lnTo>
                  <a:lnTo>
                    <a:pt x="667745" y="6485"/>
                  </a:lnTo>
                  <a:lnTo>
                    <a:pt x="606543" y="1652"/>
                  </a:lnTo>
                  <a:lnTo>
                    <a:pt x="543195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619671" y="2453289"/>
              <a:ext cx="1086485" cy="491490"/>
            </a:xfrm>
            <a:custGeom>
              <a:avLst/>
              <a:gdLst/>
              <a:ahLst/>
              <a:cxnLst/>
              <a:rect l="l" t="t" r="r" b="b"/>
              <a:pathLst>
                <a:path w="1086485" h="491489">
                  <a:moveTo>
                    <a:pt x="0" y="245564"/>
                  </a:moveTo>
                  <a:lnTo>
                    <a:pt x="14346" y="189259"/>
                  </a:lnTo>
                  <a:lnTo>
                    <a:pt x="55211" y="137571"/>
                  </a:lnTo>
                  <a:lnTo>
                    <a:pt x="119333" y="91976"/>
                  </a:lnTo>
                  <a:lnTo>
                    <a:pt x="159098" y="71924"/>
                  </a:lnTo>
                  <a:lnTo>
                    <a:pt x="203454" y="53947"/>
                  </a:lnTo>
                  <a:lnTo>
                    <a:pt x="251994" y="38231"/>
                  </a:lnTo>
                  <a:lnTo>
                    <a:pt x="304312" y="24959"/>
                  </a:lnTo>
                  <a:lnTo>
                    <a:pt x="359998" y="14316"/>
                  </a:lnTo>
                  <a:lnTo>
                    <a:pt x="418645" y="6485"/>
                  </a:lnTo>
                  <a:lnTo>
                    <a:pt x="479847" y="1652"/>
                  </a:lnTo>
                  <a:lnTo>
                    <a:pt x="543195" y="0"/>
                  </a:lnTo>
                  <a:lnTo>
                    <a:pt x="606543" y="1652"/>
                  </a:lnTo>
                  <a:lnTo>
                    <a:pt x="667745" y="6485"/>
                  </a:lnTo>
                  <a:lnTo>
                    <a:pt x="726393" y="14316"/>
                  </a:lnTo>
                  <a:lnTo>
                    <a:pt x="782079" y="24959"/>
                  </a:lnTo>
                  <a:lnTo>
                    <a:pt x="834396" y="38231"/>
                  </a:lnTo>
                  <a:lnTo>
                    <a:pt x="882936" y="53947"/>
                  </a:lnTo>
                  <a:lnTo>
                    <a:pt x="927293" y="71924"/>
                  </a:lnTo>
                  <a:lnTo>
                    <a:pt x="967057" y="91976"/>
                  </a:lnTo>
                  <a:lnTo>
                    <a:pt x="1001822" y="113920"/>
                  </a:lnTo>
                  <a:lnTo>
                    <a:pt x="1054723" y="162745"/>
                  </a:lnTo>
                  <a:lnTo>
                    <a:pt x="1082736" y="216926"/>
                  </a:lnTo>
                  <a:lnTo>
                    <a:pt x="1086391" y="245564"/>
                  </a:lnTo>
                  <a:lnTo>
                    <a:pt x="1082736" y="274202"/>
                  </a:lnTo>
                  <a:lnTo>
                    <a:pt x="1054723" y="328383"/>
                  </a:lnTo>
                  <a:lnTo>
                    <a:pt x="1001822" y="377209"/>
                  </a:lnTo>
                  <a:lnTo>
                    <a:pt x="967057" y="399153"/>
                  </a:lnTo>
                  <a:lnTo>
                    <a:pt x="927293" y="419205"/>
                  </a:lnTo>
                  <a:lnTo>
                    <a:pt x="882936" y="437181"/>
                  </a:lnTo>
                  <a:lnTo>
                    <a:pt x="834396" y="452898"/>
                  </a:lnTo>
                  <a:lnTo>
                    <a:pt x="782079" y="466170"/>
                  </a:lnTo>
                  <a:lnTo>
                    <a:pt x="726393" y="476813"/>
                  </a:lnTo>
                  <a:lnTo>
                    <a:pt x="667745" y="484644"/>
                  </a:lnTo>
                  <a:lnTo>
                    <a:pt x="606543" y="489477"/>
                  </a:lnTo>
                  <a:lnTo>
                    <a:pt x="543195" y="491129"/>
                  </a:lnTo>
                  <a:lnTo>
                    <a:pt x="479847" y="489477"/>
                  </a:lnTo>
                  <a:lnTo>
                    <a:pt x="418645" y="484644"/>
                  </a:lnTo>
                  <a:lnTo>
                    <a:pt x="359998" y="476813"/>
                  </a:lnTo>
                  <a:lnTo>
                    <a:pt x="304312" y="466170"/>
                  </a:lnTo>
                  <a:lnTo>
                    <a:pt x="251994" y="452898"/>
                  </a:lnTo>
                  <a:lnTo>
                    <a:pt x="203454" y="437181"/>
                  </a:lnTo>
                  <a:lnTo>
                    <a:pt x="159098" y="419205"/>
                  </a:lnTo>
                  <a:lnTo>
                    <a:pt x="119333" y="399153"/>
                  </a:lnTo>
                  <a:lnTo>
                    <a:pt x="84569" y="377209"/>
                  </a:lnTo>
                  <a:lnTo>
                    <a:pt x="31667" y="328383"/>
                  </a:lnTo>
                  <a:lnTo>
                    <a:pt x="3654" y="274202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565811" y="2207824"/>
              <a:ext cx="1597660" cy="245745"/>
            </a:xfrm>
            <a:custGeom>
              <a:avLst/>
              <a:gdLst/>
              <a:ahLst/>
              <a:cxnLst/>
              <a:rect l="l" t="t" r="r" b="b"/>
              <a:pathLst>
                <a:path w="1597660" h="245744">
                  <a:moveTo>
                    <a:pt x="1597054" y="245464"/>
                  </a:moveTo>
                  <a:lnTo>
                    <a:pt x="0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957587" y="2926079"/>
            <a:ext cx="61468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length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889497" y="2545079"/>
            <a:ext cx="57912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genre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733359" y="4431930"/>
            <a:ext cx="1285240" cy="669925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204470" rIns="0" bIns="0" rtlCol="0">
            <a:spAutoFit/>
          </a:bodyPr>
          <a:lstStyle/>
          <a:p>
            <a:pPr marL="100330">
              <a:lnSpc>
                <a:spcPct val="100000"/>
              </a:lnSpc>
              <a:spcBef>
                <a:spcPts val="161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MovieStars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28308" y="5269017"/>
            <a:ext cx="1229360" cy="501650"/>
            <a:chOff x="328308" y="5269017"/>
            <a:chExt cx="1229360" cy="501650"/>
          </a:xfrm>
        </p:grpSpPr>
        <p:sp>
          <p:nvSpPr>
            <p:cNvPr id="25" name="object 25"/>
            <p:cNvSpPr/>
            <p:nvPr/>
          </p:nvSpPr>
          <p:spPr>
            <a:xfrm>
              <a:off x="333388" y="5274097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609354" y="0"/>
                  </a:moveTo>
                  <a:lnTo>
                    <a:pt x="542958" y="1440"/>
                  </a:lnTo>
                  <a:lnTo>
                    <a:pt x="478633" y="5663"/>
                  </a:lnTo>
                  <a:lnTo>
                    <a:pt x="416751" y="12519"/>
                  </a:lnTo>
                  <a:lnTo>
                    <a:pt x="357683" y="21856"/>
                  </a:lnTo>
                  <a:lnTo>
                    <a:pt x="301801" y="33526"/>
                  </a:lnTo>
                  <a:lnTo>
                    <a:pt x="249477" y="47379"/>
                  </a:lnTo>
                  <a:lnTo>
                    <a:pt x="201083" y="63265"/>
                  </a:lnTo>
                  <a:lnTo>
                    <a:pt x="156990" y="81034"/>
                  </a:lnTo>
                  <a:lnTo>
                    <a:pt x="117569" y="100537"/>
                  </a:lnTo>
                  <a:lnTo>
                    <a:pt x="83194" y="121623"/>
                  </a:lnTo>
                  <a:lnTo>
                    <a:pt x="31065" y="167947"/>
                  </a:lnTo>
                  <a:lnTo>
                    <a:pt x="3575" y="218807"/>
                  </a:lnTo>
                  <a:lnTo>
                    <a:pt x="0" y="245564"/>
                  </a:lnTo>
                  <a:lnTo>
                    <a:pt x="3575" y="272321"/>
                  </a:lnTo>
                  <a:lnTo>
                    <a:pt x="31065" y="323181"/>
                  </a:lnTo>
                  <a:lnTo>
                    <a:pt x="83194" y="369505"/>
                  </a:lnTo>
                  <a:lnTo>
                    <a:pt x="117569" y="390591"/>
                  </a:lnTo>
                  <a:lnTo>
                    <a:pt x="156990" y="410094"/>
                  </a:lnTo>
                  <a:lnTo>
                    <a:pt x="201083" y="427863"/>
                  </a:lnTo>
                  <a:lnTo>
                    <a:pt x="249477" y="443749"/>
                  </a:lnTo>
                  <a:lnTo>
                    <a:pt x="301801" y="457602"/>
                  </a:lnTo>
                  <a:lnTo>
                    <a:pt x="357683" y="469272"/>
                  </a:lnTo>
                  <a:lnTo>
                    <a:pt x="416751" y="478610"/>
                  </a:lnTo>
                  <a:lnTo>
                    <a:pt x="478633" y="485465"/>
                  </a:lnTo>
                  <a:lnTo>
                    <a:pt x="542958" y="489688"/>
                  </a:lnTo>
                  <a:lnTo>
                    <a:pt x="609354" y="491129"/>
                  </a:lnTo>
                  <a:lnTo>
                    <a:pt x="675749" y="489688"/>
                  </a:lnTo>
                  <a:lnTo>
                    <a:pt x="740074" y="485465"/>
                  </a:lnTo>
                  <a:lnTo>
                    <a:pt x="801957" y="478610"/>
                  </a:lnTo>
                  <a:lnTo>
                    <a:pt x="861025" y="469272"/>
                  </a:lnTo>
                  <a:lnTo>
                    <a:pt x="916906" y="457602"/>
                  </a:lnTo>
                  <a:lnTo>
                    <a:pt x="969230" y="443749"/>
                  </a:lnTo>
                  <a:lnTo>
                    <a:pt x="1017625" y="427863"/>
                  </a:lnTo>
                  <a:lnTo>
                    <a:pt x="1061718" y="410094"/>
                  </a:lnTo>
                  <a:lnTo>
                    <a:pt x="1101138" y="390591"/>
                  </a:lnTo>
                  <a:lnTo>
                    <a:pt x="1135513" y="369505"/>
                  </a:lnTo>
                  <a:lnTo>
                    <a:pt x="1187643" y="323181"/>
                  </a:lnTo>
                  <a:lnTo>
                    <a:pt x="1215133" y="272321"/>
                  </a:lnTo>
                  <a:lnTo>
                    <a:pt x="1218708" y="245564"/>
                  </a:lnTo>
                  <a:lnTo>
                    <a:pt x="1215133" y="218807"/>
                  </a:lnTo>
                  <a:lnTo>
                    <a:pt x="1187643" y="167947"/>
                  </a:lnTo>
                  <a:lnTo>
                    <a:pt x="1135513" y="121623"/>
                  </a:lnTo>
                  <a:lnTo>
                    <a:pt x="1101138" y="100537"/>
                  </a:lnTo>
                  <a:lnTo>
                    <a:pt x="1061718" y="81034"/>
                  </a:lnTo>
                  <a:lnTo>
                    <a:pt x="1017625" y="63265"/>
                  </a:lnTo>
                  <a:lnTo>
                    <a:pt x="969230" y="47379"/>
                  </a:lnTo>
                  <a:lnTo>
                    <a:pt x="916906" y="33526"/>
                  </a:lnTo>
                  <a:lnTo>
                    <a:pt x="861025" y="21856"/>
                  </a:lnTo>
                  <a:lnTo>
                    <a:pt x="801957" y="12519"/>
                  </a:lnTo>
                  <a:lnTo>
                    <a:pt x="740074" y="5663"/>
                  </a:lnTo>
                  <a:lnTo>
                    <a:pt x="675749" y="1440"/>
                  </a:lnTo>
                  <a:lnTo>
                    <a:pt x="609354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33388" y="5274097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0" y="245564"/>
                  </a:moveTo>
                  <a:lnTo>
                    <a:pt x="14054" y="192885"/>
                  </a:lnTo>
                  <a:lnTo>
                    <a:pt x="54235" y="144143"/>
                  </a:lnTo>
                  <a:lnTo>
                    <a:pt x="117570" y="100537"/>
                  </a:lnTo>
                  <a:lnTo>
                    <a:pt x="156990" y="81034"/>
                  </a:lnTo>
                  <a:lnTo>
                    <a:pt x="201083" y="63265"/>
                  </a:lnTo>
                  <a:lnTo>
                    <a:pt x="249477" y="47379"/>
                  </a:lnTo>
                  <a:lnTo>
                    <a:pt x="301801" y="33526"/>
                  </a:lnTo>
                  <a:lnTo>
                    <a:pt x="357683" y="21856"/>
                  </a:lnTo>
                  <a:lnTo>
                    <a:pt x="416751" y="12519"/>
                  </a:lnTo>
                  <a:lnTo>
                    <a:pt x="478633" y="5663"/>
                  </a:lnTo>
                  <a:lnTo>
                    <a:pt x="542958" y="1440"/>
                  </a:lnTo>
                  <a:lnTo>
                    <a:pt x="609354" y="0"/>
                  </a:lnTo>
                  <a:lnTo>
                    <a:pt x="675749" y="1440"/>
                  </a:lnTo>
                  <a:lnTo>
                    <a:pt x="740074" y="5663"/>
                  </a:lnTo>
                  <a:lnTo>
                    <a:pt x="801957" y="12519"/>
                  </a:lnTo>
                  <a:lnTo>
                    <a:pt x="861025" y="21856"/>
                  </a:lnTo>
                  <a:lnTo>
                    <a:pt x="916906" y="33526"/>
                  </a:lnTo>
                  <a:lnTo>
                    <a:pt x="969230" y="47379"/>
                  </a:lnTo>
                  <a:lnTo>
                    <a:pt x="1017625" y="63265"/>
                  </a:lnTo>
                  <a:lnTo>
                    <a:pt x="1061718" y="81034"/>
                  </a:lnTo>
                  <a:lnTo>
                    <a:pt x="1101138" y="100537"/>
                  </a:lnTo>
                  <a:lnTo>
                    <a:pt x="1135513" y="121623"/>
                  </a:lnTo>
                  <a:lnTo>
                    <a:pt x="1187642" y="167947"/>
                  </a:lnTo>
                  <a:lnTo>
                    <a:pt x="1215132" y="218807"/>
                  </a:lnTo>
                  <a:lnTo>
                    <a:pt x="1218708" y="245564"/>
                  </a:lnTo>
                  <a:lnTo>
                    <a:pt x="1215132" y="272321"/>
                  </a:lnTo>
                  <a:lnTo>
                    <a:pt x="1187642" y="323182"/>
                  </a:lnTo>
                  <a:lnTo>
                    <a:pt x="1135513" y="369506"/>
                  </a:lnTo>
                  <a:lnTo>
                    <a:pt x="1101138" y="390592"/>
                  </a:lnTo>
                  <a:lnTo>
                    <a:pt x="1061718" y="410094"/>
                  </a:lnTo>
                  <a:lnTo>
                    <a:pt x="1017625" y="427863"/>
                  </a:lnTo>
                  <a:lnTo>
                    <a:pt x="969230" y="443749"/>
                  </a:lnTo>
                  <a:lnTo>
                    <a:pt x="916906" y="457602"/>
                  </a:lnTo>
                  <a:lnTo>
                    <a:pt x="861025" y="469272"/>
                  </a:lnTo>
                  <a:lnTo>
                    <a:pt x="801957" y="478610"/>
                  </a:lnTo>
                  <a:lnTo>
                    <a:pt x="740074" y="485465"/>
                  </a:lnTo>
                  <a:lnTo>
                    <a:pt x="675749" y="489688"/>
                  </a:lnTo>
                  <a:lnTo>
                    <a:pt x="609354" y="491129"/>
                  </a:lnTo>
                  <a:lnTo>
                    <a:pt x="542958" y="489688"/>
                  </a:lnTo>
                  <a:lnTo>
                    <a:pt x="478633" y="485465"/>
                  </a:lnTo>
                  <a:lnTo>
                    <a:pt x="416751" y="478610"/>
                  </a:lnTo>
                  <a:lnTo>
                    <a:pt x="357683" y="469272"/>
                  </a:lnTo>
                  <a:lnTo>
                    <a:pt x="301801" y="457602"/>
                  </a:lnTo>
                  <a:lnTo>
                    <a:pt x="249477" y="443749"/>
                  </a:lnTo>
                  <a:lnTo>
                    <a:pt x="201083" y="427863"/>
                  </a:lnTo>
                  <a:lnTo>
                    <a:pt x="156990" y="410094"/>
                  </a:lnTo>
                  <a:lnTo>
                    <a:pt x="117570" y="390592"/>
                  </a:lnTo>
                  <a:lnTo>
                    <a:pt x="83194" y="369506"/>
                  </a:lnTo>
                  <a:lnTo>
                    <a:pt x="31065" y="323182"/>
                  </a:lnTo>
                  <a:lnTo>
                    <a:pt x="3575" y="272321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59109" y="5376672"/>
            <a:ext cx="56769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u="sng" spc="-2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name</a:t>
            </a:r>
            <a:endParaRPr sz="1700" dirty="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131945" y="5096756"/>
            <a:ext cx="3071495" cy="1179195"/>
            <a:chOff x="1131945" y="5096756"/>
            <a:chExt cx="3071495" cy="1179195"/>
          </a:xfrm>
        </p:grpSpPr>
        <p:sp>
          <p:nvSpPr>
            <p:cNvPr id="29" name="object 29"/>
            <p:cNvSpPr/>
            <p:nvPr/>
          </p:nvSpPr>
          <p:spPr>
            <a:xfrm>
              <a:off x="1137025" y="5744363"/>
              <a:ext cx="1086485" cy="491490"/>
            </a:xfrm>
            <a:custGeom>
              <a:avLst/>
              <a:gdLst/>
              <a:ahLst/>
              <a:cxnLst/>
              <a:rect l="l" t="t" r="r" b="b"/>
              <a:pathLst>
                <a:path w="1086485" h="491489">
                  <a:moveTo>
                    <a:pt x="543196" y="0"/>
                  </a:moveTo>
                  <a:lnTo>
                    <a:pt x="479848" y="1652"/>
                  </a:lnTo>
                  <a:lnTo>
                    <a:pt x="418646" y="6485"/>
                  </a:lnTo>
                  <a:lnTo>
                    <a:pt x="359998" y="14316"/>
                  </a:lnTo>
                  <a:lnTo>
                    <a:pt x="304312" y="24959"/>
                  </a:lnTo>
                  <a:lnTo>
                    <a:pt x="251995" y="38231"/>
                  </a:lnTo>
                  <a:lnTo>
                    <a:pt x="203454" y="53947"/>
                  </a:lnTo>
                  <a:lnTo>
                    <a:pt x="159098" y="71924"/>
                  </a:lnTo>
                  <a:lnTo>
                    <a:pt x="119334" y="91976"/>
                  </a:lnTo>
                  <a:lnTo>
                    <a:pt x="84569" y="113920"/>
                  </a:lnTo>
                  <a:lnTo>
                    <a:pt x="31667" y="162745"/>
                  </a:lnTo>
                  <a:lnTo>
                    <a:pt x="3654" y="216926"/>
                  </a:lnTo>
                  <a:lnTo>
                    <a:pt x="0" y="245564"/>
                  </a:lnTo>
                  <a:lnTo>
                    <a:pt x="3654" y="274202"/>
                  </a:lnTo>
                  <a:lnTo>
                    <a:pt x="31667" y="328383"/>
                  </a:lnTo>
                  <a:lnTo>
                    <a:pt x="84569" y="377208"/>
                  </a:lnTo>
                  <a:lnTo>
                    <a:pt x="119334" y="399152"/>
                  </a:lnTo>
                  <a:lnTo>
                    <a:pt x="159098" y="419204"/>
                  </a:lnTo>
                  <a:lnTo>
                    <a:pt x="203454" y="437181"/>
                  </a:lnTo>
                  <a:lnTo>
                    <a:pt x="251995" y="452897"/>
                  </a:lnTo>
                  <a:lnTo>
                    <a:pt x="304312" y="466169"/>
                  </a:lnTo>
                  <a:lnTo>
                    <a:pt x="359998" y="476813"/>
                  </a:lnTo>
                  <a:lnTo>
                    <a:pt x="418646" y="484643"/>
                  </a:lnTo>
                  <a:lnTo>
                    <a:pt x="479848" y="489477"/>
                  </a:lnTo>
                  <a:lnTo>
                    <a:pt x="543196" y="491129"/>
                  </a:lnTo>
                  <a:lnTo>
                    <a:pt x="606544" y="489477"/>
                  </a:lnTo>
                  <a:lnTo>
                    <a:pt x="667745" y="484643"/>
                  </a:lnTo>
                  <a:lnTo>
                    <a:pt x="726393" y="476813"/>
                  </a:lnTo>
                  <a:lnTo>
                    <a:pt x="782079" y="466169"/>
                  </a:lnTo>
                  <a:lnTo>
                    <a:pt x="834396" y="452897"/>
                  </a:lnTo>
                  <a:lnTo>
                    <a:pt x="882937" y="437181"/>
                  </a:lnTo>
                  <a:lnTo>
                    <a:pt x="927293" y="419204"/>
                  </a:lnTo>
                  <a:lnTo>
                    <a:pt x="967057" y="399152"/>
                  </a:lnTo>
                  <a:lnTo>
                    <a:pt x="1001822" y="377208"/>
                  </a:lnTo>
                  <a:lnTo>
                    <a:pt x="1054724" y="328383"/>
                  </a:lnTo>
                  <a:lnTo>
                    <a:pt x="1082737" y="274202"/>
                  </a:lnTo>
                  <a:lnTo>
                    <a:pt x="1086391" y="245564"/>
                  </a:lnTo>
                  <a:lnTo>
                    <a:pt x="1082737" y="216926"/>
                  </a:lnTo>
                  <a:lnTo>
                    <a:pt x="1054724" y="162745"/>
                  </a:lnTo>
                  <a:lnTo>
                    <a:pt x="1001822" y="113920"/>
                  </a:lnTo>
                  <a:lnTo>
                    <a:pt x="967057" y="91976"/>
                  </a:lnTo>
                  <a:lnTo>
                    <a:pt x="927293" y="71924"/>
                  </a:lnTo>
                  <a:lnTo>
                    <a:pt x="882937" y="53947"/>
                  </a:lnTo>
                  <a:lnTo>
                    <a:pt x="834396" y="38231"/>
                  </a:lnTo>
                  <a:lnTo>
                    <a:pt x="782079" y="24959"/>
                  </a:lnTo>
                  <a:lnTo>
                    <a:pt x="726393" y="14316"/>
                  </a:lnTo>
                  <a:lnTo>
                    <a:pt x="667745" y="6485"/>
                  </a:lnTo>
                  <a:lnTo>
                    <a:pt x="606544" y="1652"/>
                  </a:lnTo>
                  <a:lnTo>
                    <a:pt x="543196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137025" y="5744363"/>
              <a:ext cx="1086485" cy="491490"/>
            </a:xfrm>
            <a:custGeom>
              <a:avLst/>
              <a:gdLst/>
              <a:ahLst/>
              <a:cxnLst/>
              <a:rect l="l" t="t" r="r" b="b"/>
              <a:pathLst>
                <a:path w="1086485" h="491489">
                  <a:moveTo>
                    <a:pt x="0" y="245564"/>
                  </a:moveTo>
                  <a:lnTo>
                    <a:pt x="14346" y="189259"/>
                  </a:lnTo>
                  <a:lnTo>
                    <a:pt x="55211" y="137571"/>
                  </a:lnTo>
                  <a:lnTo>
                    <a:pt x="119333" y="91976"/>
                  </a:lnTo>
                  <a:lnTo>
                    <a:pt x="159098" y="71924"/>
                  </a:lnTo>
                  <a:lnTo>
                    <a:pt x="203454" y="53947"/>
                  </a:lnTo>
                  <a:lnTo>
                    <a:pt x="251994" y="38231"/>
                  </a:lnTo>
                  <a:lnTo>
                    <a:pt x="304312" y="24959"/>
                  </a:lnTo>
                  <a:lnTo>
                    <a:pt x="359998" y="14316"/>
                  </a:lnTo>
                  <a:lnTo>
                    <a:pt x="418645" y="6485"/>
                  </a:lnTo>
                  <a:lnTo>
                    <a:pt x="479847" y="1652"/>
                  </a:lnTo>
                  <a:lnTo>
                    <a:pt x="543195" y="0"/>
                  </a:lnTo>
                  <a:lnTo>
                    <a:pt x="606543" y="1652"/>
                  </a:lnTo>
                  <a:lnTo>
                    <a:pt x="667745" y="6485"/>
                  </a:lnTo>
                  <a:lnTo>
                    <a:pt x="726393" y="14316"/>
                  </a:lnTo>
                  <a:lnTo>
                    <a:pt x="782079" y="24959"/>
                  </a:lnTo>
                  <a:lnTo>
                    <a:pt x="834396" y="38231"/>
                  </a:lnTo>
                  <a:lnTo>
                    <a:pt x="882936" y="53947"/>
                  </a:lnTo>
                  <a:lnTo>
                    <a:pt x="927293" y="71924"/>
                  </a:lnTo>
                  <a:lnTo>
                    <a:pt x="967057" y="91976"/>
                  </a:lnTo>
                  <a:lnTo>
                    <a:pt x="1001822" y="113920"/>
                  </a:lnTo>
                  <a:lnTo>
                    <a:pt x="1054723" y="162745"/>
                  </a:lnTo>
                  <a:lnTo>
                    <a:pt x="1082736" y="216926"/>
                  </a:lnTo>
                  <a:lnTo>
                    <a:pt x="1086391" y="245564"/>
                  </a:lnTo>
                  <a:lnTo>
                    <a:pt x="1082736" y="274202"/>
                  </a:lnTo>
                  <a:lnTo>
                    <a:pt x="1054723" y="328383"/>
                  </a:lnTo>
                  <a:lnTo>
                    <a:pt x="1001822" y="377209"/>
                  </a:lnTo>
                  <a:lnTo>
                    <a:pt x="967057" y="399153"/>
                  </a:lnTo>
                  <a:lnTo>
                    <a:pt x="927293" y="419205"/>
                  </a:lnTo>
                  <a:lnTo>
                    <a:pt x="882936" y="437181"/>
                  </a:lnTo>
                  <a:lnTo>
                    <a:pt x="834396" y="452898"/>
                  </a:lnTo>
                  <a:lnTo>
                    <a:pt x="782079" y="466170"/>
                  </a:lnTo>
                  <a:lnTo>
                    <a:pt x="726393" y="476813"/>
                  </a:lnTo>
                  <a:lnTo>
                    <a:pt x="667745" y="484644"/>
                  </a:lnTo>
                  <a:lnTo>
                    <a:pt x="606543" y="489477"/>
                  </a:lnTo>
                  <a:lnTo>
                    <a:pt x="543195" y="491129"/>
                  </a:lnTo>
                  <a:lnTo>
                    <a:pt x="479847" y="489477"/>
                  </a:lnTo>
                  <a:lnTo>
                    <a:pt x="418645" y="484644"/>
                  </a:lnTo>
                  <a:lnTo>
                    <a:pt x="359998" y="476813"/>
                  </a:lnTo>
                  <a:lnTo>
                    <a:pt x="304312" y="466170"/>
                  </a:lnTo>
                  <a:lnTo>
                    <a:pt x="251994" y="452898"/>
                  </a:lnTo>
                  <a:lnTo>
                    <a:pt x="203454" y="437181"/>
                  </a:lnTo>
                  <a:lnTo>
                    <a:pt x="159098" y="419205"/>
                  </a:lnTo>
                  <a:lnTo>
                    <a:pt x="119333" y="399153"/>
                  </a:lnTo>
                  <a:lnTo>
                    <a:pt x="84569" y="377209"/>
                  </a:lnTo>
                  <a:lnTo>
                    <a:pt x="31667" y="328383"/>
                  </a:lnTo>
                  <a:lnTo>
                    <a:pt x="3654" y="274202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680220" y="5101836"/>
              <a:ext cx="695960" cy="642620"/>
            </a:xfrm>
            <a:custGeom>
              <a:avLst/>
              <a:gdLst/>
              <a:ahLst/>
              <a:cxnLst/>
              <a:rect l="l" t="t" r="r" b="b"/>
              <a:pathLst>
                <a:path w="695960" h="642620">
                  <a:moveTo>
                    <a:pt x="0" y="642526"/>
                  </a:moveTo>
                  <a:lnTo>
                    <a:pt x="695665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373621" y="5101836"/>
              <a:ext cx="1002665" cy="244475"/>
            </a:xfrm>
            <a:custGeom>
              <a:avLst/>
              <a:gdLst/>
              <a:ahLst/>
              <a:cxnLst/>
              <a:rect l="l" t="t" r="r" b="b"/>
              <a:pathLst>
                <a:path w="1002664" h="244475">
                  <a:moveTo>
                    <a:pt x="0" y="244185"/>
                  </a:moveTo>
                  <a:lnTo>
                    <a:pt x="1002264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294710" y="5779198"/>
              <a:ext cx="1086485" cy="491490"/>
            </a:xfrm>
            <a:custGeom>
              <a:avLst/>
              <a:gdLst/>
              <a:ahLst/>
              <a:cxnLst/>
              <a:rect l="l" t="t" r="r" b="b"/>
              <a:pathLst>
                <a:path w="1086485" h="491489">
                  <a:moveTo>
                    <a:pt x="543196" y="0"/>
                  </a:moveTo>
                  <a:lnTo>
                    <a:pt x="479848" y="1652"/>
                  </a:lnTo>
                  <a:lnTo>
                    <a:pt x="418646" y="6485"/>
                  </a:lnTo>
                  <a:lnTo>
                    <a:pt x="359998" y="14316"/>
                  </a:lnTo>
                  <a:lnTo>
                    <a:pt x="304312" y="24959"/>
                  </a:lnTo>
                  <a:lnTo>
                    <a:pt x="251995" y="38231"/>
                  </a:lnTo>
                  <a:lnTo>
                    <a:pt x="203454" y="53947"/>
                  </a:lnTo>
                  <a:lnTo>
                    <a:pt x="159098" y="71924"/>
                  </a:lnTo>
                  <a:lnTo>
                    <a:pt x="119334" y="91976"/>
                  </a:lnTo>
                  <a:lnTo>
                    <a:pt x="84569" y="113920"/>
                  </a:lnTo>
                  <a:lnTo>
                    <a:pt x="31667" y="162745"/>
                  </a:lnTo>
                  <a:lnTo>
                    <a:pt x="3654" y="216926"/>
                  </a:lnTo>
                  <a:lnTo>
                    <a:pt x="0" y="245564"/>
                  </a:lnTo>
                  <a:lnTo>
                    <a:pt x="3654" y="274202"/>
                  </a:lnTo>
                  <a:lnTo>
                    <a:pt x="31667" y="328383"/>
                  </a:lnTo>
                  <a:lnTo>
                    <a:pt x="84569" y="377209"/>
                  </a:lnTo>
                  <a:lnTo>
                    <a:pt x="119334" y="399153"/>
                  </a:lnTo>
                  <a:lnTo>
                    <a:pt x="159098" y="419205"/>
                  </a:lnTo>
                  <a:lnTo>
                    <a:pt x="203454" y="437181"/>
                  </a:lnTo>
                  <a:lnTo>
                    <a:pt x="251995" y="452897"/>
                  </a:lnTo>
                  <a:lnTo>
                    <a:pt x="304312" y="466169"/>
                  </a:lnTo>
                  <a:lnTo>
                    <a:pt x="359998" y="476813"/>
                  </a:lnTo>
                  <a:lnTo>
                    <a:pt x="418646" y="484643"/>
                  </a:lnTo>
                  <a:lnTo>
                    <a:pt x="479848" y="489477"/>
                  </a:lnTo>
                  <a:lnTo>
                    <a:pt x="543196" y="491129"/>
                  </a:lnTo>
                  <a:lnTo>
                    <a:pt x="606544" y="489477"/>
                  </a:lnTo>
                  <a:lnTo>
                    <a:pt x="667746" y="484643"/>
                  </a:lnTo>
                  <a:lnTo>
                    <a:pt x="726394" y="476813"/>
                  </a:lnTo>
                  <a:lnTo>
                    <a:pt x="782080" y="466169"/>
                  </a:lnTo>
                  <a:lnTo>
                    <a:pt x="834397" y="452897"/>
                  </a:lnTo>
                  <a:lnTo>
                    <a:pt x="882937" y="437181"/>
                  </a:lnTo>
                  <a:lnTo>
                    <a:pt x="927293" y="419205"/>
                  </a:lnTo>
                  <a:lnTo>
                    <a:pt x="967058" y="399153"/>
                  </a:lnTo>
                  <a:lnTo>
                    <a:pt x="1001823" y="377209"/>
                  </a:lnTo>
                  <a:lnTo>
                    <a:pt x="1054724" y="328383"/>
                  </a:lnTo>
                  <a:lnTo>
                    <a:pt x="1082737" y="274202"/>
                  </a:lnTo>
                  <a:lnTo>
                    <a:pt x="1086392" y="245564"/>
                  </a:lnTo>
                  <a:lnTo>
                    <a:pt x="1082737" y="216926"/>
                  </a:lnTo>
                  <a:lnTo>
                    <a:pt x="1054724" y="162745"/>
                  </a:lnTo>
                  <a:lnTo>
                    <a:pt x="1001823" y="113920"/>
                  </a:lnTo>
                  <a:lnTo>
                    <a:pt x="967058" y="91976"/>
                  </a:lnTo>
                  <a:lnTo>
                    <a:pt x="927293" y="71924"/>
                  </a:lnTo>
                  <a:lnTo>
                    <a:pt x="882937" y="53947"/>
                  </a:lnTo>
                  <a:lnTo>
                    <a:pt x="834397" y="38231"/>
                  </a:lnTo>
                  <a:lnTo>
                    <a:pt x="782080" y="24959"/>
                  </a:lnTo>
                  <a:lnTo>
                    <a:pt x="726394" y="14316"/>
                  </a:lnTo>
                  <a:lnTo>
                    <a:pt x="667746" y="6485"/>
                  </a:lnTo>
                  <a:lnTo>
                    <a:pt x="606544" y="1652"/>
                  </a:lnTo>
                  <a:lnTo>
                    <a:pt x="543196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294710" y="5779198"/>
              <a:ext cx="1086485" cy="491490"/>
            </a:xfrm>
            <a:custGeom>
              <a:avLst/>
              <a:gdLst/>
              <a:ahLst/>
              <a:cxnLst/>
              <a:rect l="l" t="t" r="r" b="b"/>
              <a:pathLst>
                <a:path w="1086485" h="491489">
                  <a:moveTo>
                    <a:pt x="0" y="245564"/>
                  </a:moveTo>
                  <a:lnTo>
                    <a:pt x="14346" y="189259"/>
                  </a:lnTo>
                  <a:lnTo>
                    <a:pt x="55211" y="137571"/>
                  </a:lnTo>
                  <a:lnTo>
                    <a:pt x="119333" y="91976"/>
                  </a:lnTo>
                  <a:lnTo>
                    <a:pt x="159098" y="71924"/>
                  </a:lnTo>
                  <a:lnTo>
                    <a:pt x="203454" y="53947"/>
                  </a:lnTo>
                  <a:lnTo>
                    <a:pt x="251994" y="38231"/>
                  </a:lnTo>
                  <a:lnTo>
                    <a:pt x="304312" y="24959"/>
                  </a:lnTo>
                  <a:lnTo>
                    <a:pt x="359998" y="14316"/>
                  </a:lnTo>
                  <a:lnTo>
                    <a:pt x="418645" y="6485"/>
                  </a:lnTo>
                  <a:lnTo>
                    <a:pt x="479847" y="1652"/>
                  </a:lnTo>
                  <a:lnTo>
                    <a:pt x="543195" y="0"/>
                  </a:lnTo>
                  <a:lnTo>
                    <a:pt x="606543" y="1652"/>
                  </a:lnTo>
                  <a:lnTo>
                    <a:pt x="667745" y="6485"/>
                  </a:lnTo>
                  <a:lnTo>
                    <a:pt x="726393" y="14316"/>
                  </a:lnTo>
                  <a:lnTo>
                    <a:pt x="782079" y="24959"/>
                  </a:lnTo>
                  <a:lnTo>
                    <a:pt x="834396" y="38231"/>
                  </a:lnTo>
                  <a:lnTo>
                    <a:pt x="882936" y="53947"/>
                  </a:lnTo>
                  <a:lnTo>
                    <a:pt x="927293" y="71924"/>
                  </a:lnTo>
                  <a:lnTo>
                    <a:pt x="967057" y="91976"/>
                  </a:lnTo>
                  <a:lnTo>
                    <a:pt x="1001822" y="113920"/>
                  </a:lnTo>
                  <a:lnTo>
                    <a:pt x="1054723" y="162745"/>
                  </a:lnTo>
                  <a:lnTo>
                    <a:pt x="1082736" y="216926"/>
                  </a:lnTo>
                  <a:lnTo>
                    <a:pt x="1086391" y="245564"/>
                  </a:lnTo>
                  <a:lnTo>
                    <a:pt x="1082736" y="274202"/>
                  </a:lnTo>
                  <a:lnTo>
                    <a:pt x="1054723" y="328383"/>
                  </a:lnTo>
                  <a:lnTo>
                    <a:pt x="1001822" y="377209"/>
                  </a:lnTo>
                  <a:lnTo>
                    <a:pt x="967057" y="399153"/>
                  </a:lnTo>
                  <a:lnTo>
                    <a:pt x="927293" y="419205"/>
                  </a:lnTo>
                  <a:lnTo>
                    <a:pt x="882936" y="437181"/>
                  </a:lnTo>
                  <a:lnTo>
                    <a:pt x="834396" y="452898"/>
                  </a:lnTo>
                  <a:lnTo>
                    <a:pt x="782079" y="466170"/>
                  </a:lnTo>
                  <a:lnTo>
                    <a:pt x="726393" y="476813"/>
                  </a:lnTo>
                  <a:lnTo>
                    <a:pt x="667745" y="484644"/>
                  </a:lnTo>
                  <a:lnTo>
                    <a:pt x="606543" y="489477"/>
                  </a:lnTo>
                  <a:lnTo>
                    <a:pt x="543195" y="491129"/>
                  </a:lnTo>
                  <a:lnTo>
                    <a:pt x="479847" y="489477"/>
                  </a:lnTo>
                  <a:lnTo>
                    <a:pt x="418645" y="484644"/>
                  </a:lnTo>
                  <a:lnTo>
                    <a:pt x="359998" y="476813"/>
                  </a:lnTo>
                  <a:lnTo>
                    <a:pt x="304312" y="466170"/>
                  </a:lnTo>
                  <a:lnTo>
                    <a:pt x="251994" y="452898"/>
                  </a:lnTo>
                  <a:lnTo>
                    <a:pt x="203454" y="437181"/>
                  </a:lnTo>
                  <a:lnTo>
                    <a:pt x="159098" y="419205"/>
                  </a:lnTo>
                  <a:lnTo>
                    <a:pt x="119333" y="399153"/>
                  </a:lnTo>
                  <a:lnTo>
                    <a:pt x="84569" y="377209"/>
                  </a:lnTo>
                  <a:lnTo>
                    <a:pt x="31667" y="328383"/>
                  </a:lnTo>
                  <a:lnTo>
                    <a:pt x="3654" y="274202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111834" y="5350842"/>
              <a:ext cx="1086485" cy="491490"/>
            </a:xfrm>
            <a:custGeom>
              <a:avLst/>
              <a:gdLst/>
              <a:ahLst/>
              <a:cxnLst/>
              <a:rect l="l" t="t" r="r" b="b"/>
              <a:pathLst>
                <a:path w="1086485" h="491489">
                  <a:moveTo>
                    <a:pt x="543195" y="0"/>
                  </a:moveTo>
                  <a:lnTo>
                    <a:pt x="479847" y="1652"/>
                  </a:lnTo>
                  <a:lnTo>
                    <a:pt x="418645" y="6485"/>
                  </a:lnTo>
                  <a:lnTo>
                    <a:pt x="359997" y="14316"/>
                  </a:lnTo>
                  <a:lnTo>
                    <a:pt x="304311" y="24959"/>
                  </a:lnTo>
                  <a:lnTo>
                    <a:pt x="251994" y="38231"/>
                  </a:lnTo>
                  <a:lnTo>
                    <a:pt x="203454" y="53947"/>
                  </a:lnTo>
                  <a:lnTo>
                    <a:pt x="159097" y="71924"/>
                  </a:lnTo>
                  <a:lnTo>
                    <a:pt x="119333" y="91976"/>
                  </a:lnTo>
                  <a:lnTo>
                    <a:pt x="84568" y="113920"/>
                  </a:lnTo>
                  <a:lnTo>
                    <a:pt x="31667" y="162745"/>
                  </a:lnTo>
                  <a:lnTo>
                    <a:pt x="3654" y="216926"/>
                  </a:lnTo>
                  <a:lnTo>
                    <a:pt x="0" y="245564"/>
                  </a:lnTo>
                  <a:lnTo>
                    <a:pt x="3654" y="274202"/>
                  </a:lnTo>
                  <a:lnTo>
                    <a:pt x="31667" y="328383"/>
                  </a:lnTo>
                  <a:lnTo>
                    <a:pt x="84568" y="377208"/>
                  </a:lnTo>
                  <a:lnTo>
                    <a:pt x="119333" y="399152"/>
                  </a:lnTo>
                  <a:lnTo>
                    <a:pt x="159097" y="419204"/>
                  </a:lnTo>
                  <a:lnTo>
                    <a:pt x="203454" y="437181"/>
                  </a:lnTo>
                  <a:lnTo>
                    <a:pt x="251994" y="452897"/>
                  </a:lnTo>
                  <a:lnTo>
                    <a:pt x="304311" y="466169"/>
                  </a:lnTo>
                  <a:lnTo>
                    <a:pt x="359997" y="476813"/>
                  </a:lnTo>
                  <a:lnTo>
                    <a:pt x="418645" y="484643"/>
                  </a:lnTo>
                  <a:lnTo>
                    <a:pt x="479847" y="489477"/>
                  </a:lnTo>
                  <a:lnTo>
                    <a:pt x="543195" y="491129"/>
                  </a:lnTo>
                  <a:lnTo>
                    <a:pt x="606543" y="489477"/>
                  </a:lnTo>
                  <a:lnTo>
                    <a:pt x="667745" y="484643"/>
                  </a:lnTo>
                  <a:lnTo>
                    <a:pt x="726392" y="476813"/>
                  </a:lnTo>
                  <a:lnTo>
                    <a:pt x="782078" y="466169"/>
                  </a:lnTo>
                  <a:lnTo>
                    <a:pt x="834395" y="452897"/>
                  </a:lnTo>
                  <a:lnTo>
                    <a:pt x="882936" y="437181"/>
                  </a:lnTo>
                  <a:lnTo>
                    <a:pt x="927292" y="419204"/>
                  </a:lnTo>
                  <a:lnTo>
                    <a:pt x="967056" y="399152"/>
                  </a:lnTo>
                  <a:lnTo>
                    <a:pt x="1001821" y="377208"/>
                  </a:lnTo>
                  <a:lnTo>
                    <a:pt x="1054723" y="328383"/>
                  </a:lnTo>
                  <a:lnTo>
                    <a:pt x="1082736" y="274202"/>
                  </a:lnTo>
                  <a:lnTo>
                    <a:pt x="1086391" y="245564"/>
                  </a:lnTo>
                  <a:lnTo>
                    <a:pt x="1082736" y="216926"/>
                  </a:lnTo>
                  <a:lnTo>
                    <a:pt x="1054723" y="162745"/>
                  </a:lnTo>
                  <a:lnTo>
                    <a:pt x="1001821" y="113920"/>
                  </a:lnTo>
                  <a:lnTo>
                    <a:pt x="967056" y="91976"/>
                  </a:lnTo>
                  <a:lnTo>
                    <a:pt x="927292" y="71924"/>
                  </a:lnTo>
                  <a:lnTo>
                    <a:pt x="882936" y="53947"/>
                  </a:lnTo>
                  <a:lnTo>
                    <a:pt x="834395" y="38231"/>
                  </a:lnTo>
                  <a:lnTo>
                    <a:pt x="782078" y="24959"/>
                  </a:lnTo>
                  <a:lnTo>
                    <a:pt x="726392" y="14316"/>
                  </a:lnTo>
                  <a:lnTo>
                    <a:pt x="667745" y="6485"/>
                  </a:lnTo>
                  <a:lnTo>
                    <a:pt x="606543" y="1652"/>
                  </a:lnTo>
                  <a:lnTo>
                    <a:pt x="543195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111834" y="5350842"/>
              <a:ext cx="1086485" cy="491490"/>
            </a:xfrm>
            <a:custGeom>
              <a:avLst/>
              <a:gdLst/>
              <a:ahLst/>
              <a:cxnLst/>
              <a:rect l="l" t="t" r="r" b="b"/>
              <a:pathLst>
                <a:path w="1086485" h="491489">
                  <a:moveTo>
                    <a:pt x="0" y="245564"/>
                  </a:moveTo>
                  <a:lnTo>
                    <a:pt x="14346" y="189259"/>
                  </a:lnTo>
                  <a:lnTo>
                    <a:pt x="55211" y="137571"/>
                  </a:lnTo>
                  <a:lnTo>
                    <a:pt x="119333" y="91976"/>
                  </a:lnTo>
                  <a:lnTo>
                    <a:pt x="159098" y="71924"/>
                  </a:lnTo>
                  <a:lnTo>
                    <a:pt x="203454" y="53947"/>
                  </a:lnTo>
                  <a:lnTo>
                    <a:pt x="251994" y="38231"/>
                  </a:lnTo>
                  <a:lnTo>
                    <a:pt x="304312" y="24959"/>
                  </a:lnTo>
                  <a:lnTo>
                    <a:pt x="359998" y="14316"/>
                  </a:lnTo>
                  <a:lnTo>
                    <a:pt x="418645" y="6485"/>
                  </a:lnTo>
                  <a:lnTo>
                    <a:pt x="479847" y="1652"/>
                  </a:lnTo>
                  <a:lnTo>
                    <a:pt x="543195" y="0"/>
                  </a:lnTo>
                  <a:lnTo>
                    <a:pt x="606543" y="1652"/>
                  </a:lnTo>
                  <a:lnTo>
                    <a:pt x="667745" y="6485"/>
                  </a:lnTo>
                  <a:lnTo>
                    <a:pt x="726393" y="14316"/>
                  </a:lnTo>
                  <a:lnTo>
                    <a:pt x="782079" y="24959"/>
                  </a:lnTo>
                  <a:lnTo>
                    <a:pt x="834396" y="38231"/>
                  </a:lnTo>
                  <a:lnTo>
                    <a:pt x="882936" y="53947"/>
                  </a:lnTo>
                  <a:lnTo>
                    <a:pt x="927293" y="71924"/>
                  </a:lnTo>
                  <a:lnTo>
                    <a:pt x="967057" y="91976"/>
                  </a:lnTo>
                  <a:lnTo>
                    <a:pt x="1001822" y="113920"/>
                  </a:lnTo>
                  <a:lnTo>
                    <a:pt x="1054723" y="162745"/>
                  </a:lnTo>
                  <a:lnTo>
                    <a:pt x="1082736" y="216926"/>
                  </a:lnTo>
                  <a:lnTo>
                    <a:pt x="1086391" y="245564"/>
                  </a:lnTo>
                  <a:lnTo>
                    <a:pt x="1082736" y="274202"/>
                  </a:lnTo>
                  <a:lnTo>
                    <a:pt x="1054723" y="328383"/>
                  </a:lnTo>
                  <a:lnTo>
                    <a:pt x="1001822" y="377209"/>
                  </a:lnTo>
                  <a:lnTo>
                    <a:pt x="967057" y="399153"/>
                  </a:lnTo>
                  <a:lnTo>
                    <a:pt x="927293" y="419205"/>
                  </a:lnTo>
                  <a:lnTo>
                    <a:pt x="882936" y="437181"/>
                  </a:lnTo>
                  <a:lnTo>
                    <a:pt x="834396" y="452898"/>
                  </a:lnTo>
                  <a:lnTo>
                    <a:pt x="782079" y="466170"/>
                  </a:lnTo>
                  <a:lnTo>
                    <a:pt x="726393" y="476813"/>
                  </a:lnTo>
                  <a:lnTo>
                    <a:pt x="667745" y="484644"/>
                  </a:lnTo>
                  <a:lnTo>
                    <a:pt x="606543" y="489477"/>
                  </a:lnTo>
                  <a:lnTo>
                    <a:pt x="543195" y="491129"/>
                  </a:lnTo>
                  <a:lnTo>
                    <a:pt x="479847" y="489477"/>
                  </a:lnTo>
                  <a:lnTo>
                    <a:pt x="418645" y="484644"/>
                  </a:lnTo>
                  <a:lnTo>
                    <a:pt x="359998" y="476813"/>
                  </a:lnTo>
                  <a:lnTo>
                    <a:pt x="304312" y="466170"/>
                  </a:lnTo>
                  <a:lnTo>
                    <a:pt x="251994" y="452898"/>
                  </a:lnTo>
                  <a:lnTo>
                    <a:pt x="203454" y="437181"/>
                  </a:lnTo>
                  <a:lnTo>
                    <a:pt x="159098" y="419205"/>
                  </a:lnTo>
                  <a:lnTo>
                    <a:pt x="119333" y="399153"/>
                  </a:lnTo>
                  <a:lnTo>
                    <a:pt x="84569" y="377209"/>
                  </a:lnTo>
                  <a:lnTo>
                    <a:pt x="31667" y="328383"/>
                  </a:lnTo>
                  <a:lnTo>
                    <a:pt x="3654" y="274202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375886" y="5101836"/>
              <a:ext cx="462280" cy="677545"/>
            </a:xfrm>
            <a:custGeom>
              <a:avLst/>
              <a:gdLst/>
              <a:ahLst/>
              <a:cxnLst/>
              <a:rect l="l" t="t" r="r" b="b"/>
              <a:pathLst>
                <a:path w="462280" h="677545">
                  <a:moveTo>
                    <a:pt x="462021" y="677362"/>
                  </a:moveTo>
                  <a:lnTo>
                    <a:pt x="0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375886" y="5101836"/>
              <a:ext cx="1279525" cy="249554"/>
            </a:xfrm>
            <a:custGeom>
              <a:avLst/>
              <a:gdLst/>
              <a:ahLst/>
              <a:cxnLst/>
              <a:rect l="l" t="t" r="r" b="b"/>
              <a:pathLst>
                <a:path w="1279525" h="249554">
                  <a:moveTo>
                    <a:pt x="1279143" y="249005"/>
                  </a:moveTo>
                  <a:lnTo>
                    <a:pt x="0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1304618" y="5855208"/>
            <a:ext cx="795655" cy="2744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1700" u="sng" spc="-2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address</a:t>
            </a:r>
            <a:endParaRPr lang="en-US" sz="1700" dirty="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497141" y="5888735"/>
            <a:ext cx="69913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gender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244592" y="5443728"/>
            <a:ext cx="8693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birthdate</a:t>
            </a:r>
            <a:endParaRPr sz="1700">
              <a:latin typeface="Arial MT"/>
              <a:cs typeface="Arial MT"/>
            </a:endParaRPr>
          </a:p>
        </p:txBody>
      </p:sp>
      <p:graphicFrame>
        <p:nvGraphicFramePr>
          <p:cNvPr id="42" name="object 42"/>
          <p:cNvGraphicFramePr>
            <a:graphicFrameLocks noGrp="1"/>
          </p:cNvGraphicFramePr>
          <p:nvPr/>
        </p:nvGraphicFramePr>
        <p:xfrm>
          <a:off x="5073868" y="1632686"/>
          <a:ext cx="4720590" cy="14293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0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64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Title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5651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R="49530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5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5651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Length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5651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Genre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5651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Mickey’s</a:t>
                      </a:r>
                      <a:r>
                        <a:rPr sz="1500" spc="-4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Club</a:t>
                      </a:r>
                      <a:r>
                        <a:rPr sz="1500" spc="-4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House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5651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R="29845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500" spc="-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1939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5651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500" spc="-2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231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5651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drama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5651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Awesome</a:t>
                      </a:r>
                      <a:r>
                        <a:rPr sz="1500" spc="-7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Minnie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6921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845"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500" spc="-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1977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5715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500" spc="-2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124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5715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sciFi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5715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48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Most</a:t>
                      </a:r>
                      <a:r>
                        <a:rPr sz="1500" spc="-5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wanted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R="2984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500" spc="-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1992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500" spc="-2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comedy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3" name="object 43"/>
          <p:cNvGraphicFramePr>
            <a:graphicFrameLocks noGrp="1"/>
          </p:cNvGraphicFramePr>
          <p:nvPr/>
        </p:nvGraphicFramePr>
        <p:xfrm>
          <a:off x="4553991" y="4094800"/>
          <a:ext cx="5224145" cy="22332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4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6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88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861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gender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birthdate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978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Mickey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 marR="494665">
                        <a:lnSpc>
                          <a:spcPct val="97300"/>
                        </a:lnSpc>
                        <a:spcBef>
                          <a:spcPts val="415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11</a:t>
                      </a:r>
                      <a:r>
                        <a:rPr sz="1500" spc="-5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Somewhere, Charlottesville,</a:t>
                      </a:r>
                      <a:r>
                        <a:rPr sz="1500" spc="-4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2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VA, </a:t>
                      </a: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22903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5270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F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01/01/1911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Minnie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 marR="52832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500" spc="-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22</a:t>
                      </a:r>
                      <a:r>
                        <a:rPr sz="1500" spc="-9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Another</a:t>
                      </a:r>
                      <a:r>
                        <a:rPr sz="1500" spc="-9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place, </a:t>
                      </a: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Fairfax,</a:t>
                      </a:r>
                      <a:r>
                        <a:rPr sz="1500" spc="-7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VA,</a:t>
                      </a:r>
                      <a:r>
                        <a:rPr sz="1500" spc="-7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22030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02/02/1912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Donald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894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33</a:t>
                      </a:r>
                      <a:r>
                        <a:rPr sz="1500" spc="-4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Nowhere,</a:t>
                      </a:r>
                      <a:endParaRPr sz="1500">
                        <a:latin typeface="Arial MT"/>
                        <a:cs typeface="Arial MT"/>
                      </a:endParaRPr>
                    </a:p>
                    <a:p>
                      <a:pPr marL="97155">
                        <a:lnSpc>
                          <a:spcPct val="10000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Charlottesville,</a:t>
                      </a:r>
                      <a:r>
                        <a:rPr sz="1500" spc="-4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22911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894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F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894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03/03/1913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894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4" name="object 44"/>
          <p:cNvSpPr txBox="1"/>
          <p:nvPr/>
        </p:nvSpPr>
        <p:spPr>
          <a:xfrm>
            <a:off x="8932028" y="1310640"/>
            <a:ext cx="7677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Movies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422588" y="3782567"/>
            <a:ext cx="122618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MovieStars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62721" y="7009383"/>
            <a:ext cx="859726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Note: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instances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do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exist</a:t>
            </a:r>
            <a:r>
              <a:rPr sz="13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E-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R.</a:t>
            </a:r>
            <a:r>
              <a:rPr sz="13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These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tables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only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help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visualize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being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designed.</a:t>
            </a:r>
            <a:endParaRPr sz="1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5" dirty="0">
                <a:solidFill>
                  <a:srgbClr val="292934"/>
                </a:solidFill>
              </a:rPr>
              <a:t>Note:</a:t>
            </a:r>
            <a:r>
              <a:rPr spc="-265" dirty="0">
                <a:solidFill>
                  <a:srgbClr val="292934"/>
                </a:solidFill>
              </a:rPr>
              <a:t> </a:t>
            </a:r>
            <a:r>
              <a:rPr spc="-125" dirty="0">
                <a:solidFill>
                  <a:srgbClr val="292934"/>
                </a:solidFill>
              </a:rPr>
              <a:t>Instances</a:t>
            </a:r>
            <a:r>
              <a:rPr spc="-250" dirty="0">
                <a:solidFill>
                  <a:srgbClr val="292934"/>
                </a:solidFill>
              </a:rPr>
              <a:t> </a:t>
            </a:r>
            <a:r>
              <a:rPr spc="-10" dirty="0">
                <a:solidFill>
                  <a:srgbClr val="292934"/>
                </a:solidFill>
              </a:rPr>
              <a:t>of</a:t>
            </a:r>
            <a:r>
              <a:rPr spc="-285" dirty="0">
                <a:solidFill>
                  <a:srgbClr val="292934"/>
                </a:solidFill>
              </a:rPr>
              <a:t> </a:t>
            </a:r>
            <a:r>
              <a:rPr spc="-125" dirty="0">
                <a:solidFill>
                  <a:srgbClr val="292934"/>
                </a:solidFill>
              </a:rPr>
              <a:t>E-</a:t>
            </a:r>
            <a:r>
              <a:rPr dirty="0">
                <a:solidFill>
                  <a:srgbClr val="292934"/>
                </a:solidFill>
              </a:rPr>
              <a:t>R</a:t>
            </a:r>
            <a:r>
              <a:rPr spc="-280" dirty="0">
                <a:solidFill>
                  <a:srgbClr val="292934"/>
                </a:solidFill>
              </a:rPr>
              <a:t> </a:t>
            </a:r>
            <a:r>
              <a:rPr spc="-90" dirty="0">
                <a:solidFill>
                  <a:srgbClr val="292934"/>
                </a:solidFill>
              </a:rPr>
              <a:t>Diagram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8656" y="1912111"/>
            <a:ext cx="8282305" cy="238760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60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E-R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model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used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design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database.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not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implemented.</a:t>
            </a:r>
            <a:r>
              <a:rPr sz="21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Therefore,</a:t>
            </a:r>
            <a:r>
              <a:rPr sz="21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instance</a:t>
            </a:r>
            <a:r>
              <a:rPr sz="21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E-R</a:t>
            </a:r>
            <a:r>
              <a:rPr sz="21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diagram</a:t>
            </a:r>
            <a:r>
              <a:rPr sz="2100" spc="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never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exists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sense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relation’s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instances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exist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0" dirty="0">
                <a:solidFill>
                  <a:srgbClr val="292934"/>
                </a:solidFill>
                <a:latin typeface="Verdana"/>
                <a:cs typeface="Verdana"/>
              </a:rPr>
              <a:t>a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relational</a:t>
            </a:r>
            <a:r>
              <a:rPr sz="21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model.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2100">
              <a:latin typeface="Verdana"/>
              <a:cs typeface="Verdana"/>
            </a:endParaRPr>
          </a:p>
          <a:p>
            <a:pPr marL="12700" marR="412115">
              <a:lnSpc>
                <a:spcPct val="102899"/>
              </a:lnSpc>
            </a:pP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However,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it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often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useful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visualize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being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designed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as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if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it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existed.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7475">
              <a:lnSpc>
                <a:spcPct val="100000"/>
              </a:lnSpc>
              <a:spcBef>
                <a:spcPts val="100"/>
              </a:spcBef>
            </a:pPr>
            <a:r>
              <a:rPr spc="-120" dirty="0">
                <a:solidFill>
                  <a:srgbClr val="292934"/>
                </a:solidFill>
              </a:rPr>
              <a:t>Relationships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5740" indent="-193040">
              <a:lnSpc>
                <a:spcPct val="100000"/>
              </a:lnSpc>
              <a:spcBef>
                <a:spcPts val="100"/>
              </a:spcBef>
              <a:buSzPct val="86956"/>
              <a:buFont typeface="Arial MT"/>
              <a:buChar char="•"/>
              <a:tabLst>
                <a:tab pos="205740" algn="l"/>
              </a:tabLst>
            </a:pPr>
            <a:r>
              <a:rPr dirty="0"/>
              <a:t>Connections</a:t>
            </a:r>
            <a:r>
              <a:rPr spc="80" dirty="0"/>
              <a:t> </a:t>
            </a:r>
            <a:r>
              <a:rPr dirty="0"/>
              <a:t>among</a:t>
            </a:r>
            <a:r>
              <a:rPr spc="95" dirty="0"/>
              <a:t> </a:t>
            </a:r>
            <a:r>
              <a:rPr dirty="0"/>
              <a:t>two</a:t>
            </a:r>
            <a:r>
              <a:rPr spc="90" dirty="0"/>
              <a:t> </a:t>
            </a:r>
            <a:r>
              <a:rPr dirty="0"/>
              <a:t>or</a:t>
            </a:r>
            <a:r>
              <a:rPr spc="80" dirty="0"/>
              <a:t> </a:t>
            </a:r>
            <a:r>
              <a:rPr dirty="0"/>
              <a:t>more</a:t>
            </a:r>
            <a:r>
              <a:rPr spc="90" dirty="0"/>
              <a:t> </a:t>
            </a:r>
            <a:r>
              <a:rPr dirty="0"/>
              <a:t>entity</a:t>
            </a:r>
            <a:r>
              <a:rPr spc="85" dirty="0"/>
              <a:t> </a:t>
            </a:r>
            <a:r>
              <a:rPr spc="-20" dirty="0"/>
              <a:t>sets</a:t>
            </a:r>
          </a:p>
          <a:p>
            <a:pPr marL="205104" marR="313055" indent="-193040">
              <a:lnSpc>
                <a:spcPct val="101699"/>
              </a:lnSpc>
              <a:spcBef>
                <a:spcPts val="2185"/>
              </a:spcBef>
              <a:buClr>
                <a:srgbClr val="292934"/>
              </a:buClr>
              <a:buSzPct val="86956"/>
              <a:buFont typeface="Arial MT"/>
              <a:buChar char="•"/>
              <a:tabLst>
                <a:tab pos="207645" algn="l"/>
              </a:tabLst>
            </a:pPr>
            <a:r>
              <a:rPr b="1" dirty="0">
                <a:solidFill>
                  <a:srgbClr val="C00000"/>
                </a:solidFill>
                <a:latin typeface="Verdana"/>
                <a:cs typeface="Verdana"/>
              </a:rPr>
              <a:t>Binary</a:t>
            </a:r>
            <a:r>
              <a:rPr b="1" spc="1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b="1" dirty="0">
                <a:solidFill>
                  <a:srgbClr val="C00000"/>
                </a:solidFill>
                <a:latin typeface="Verdana"/>
                <a:cs typeface="Verdana"/>
              </a:rPr>
              <a:t>relationships</a:t>
            </a:r>
            <a:r>
              <a:rPr b="1" spc="1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/>
              <a:t>–</a:t>
            </a:r>
            <a:r>
              <a:rPr spc="120" dirty="0"/>
              <a:t> </a:t>
            </a:r>
            <a:r>
              <a:rPr dirty="0"/>
              <a:t>connections</a:t>
            </a:r>
            <a:r>
              <a:rPr spc="120" dirty="0"/>
              <a:t> </a:t>
            </a:r>
            <a:r>
              <a:rPr dirty="0"/>
              <a:t>between</a:t>
            </a:r>
            <a:r>
              <a:rPr spc="110" dirty="0"/>
              <a:t> </a:t>
            </a:r>
            <a:r>
              <a:rPr dirty="0"/>
              <a:t>two</a:t>
            </a:r>
            <a:r>
              <a:rPr spc="120" dirty="0"/>
              <a:t> </a:t>
            </a:r>
            <a:r>
              <a:rPr spc="-10" dirty="0"/>
              <a:t>entity 	</a:t>
            </a:r>
            <a:r>
              <a:rPr spc="-20" dirty="0"/>
              <a:t>sets</a:t>
            </a:r>
          </a:p>
          <a:p>
            <a:pPr marL="205104" marR="5080" indent="-193040">
              <a:lnSpc>
                <a:spcPct val="101699"/>
              </a:lnSpc>
              <a:spcBef>
                <a:spcPts val="2185"/>
              </a:spcBef>
              <a:buClr>
                <a:srgbClr val="292934"/>
              </a:buClr>
              <a:buSzPct val="86956"/>
              <a:buFont typeface="Arial MT"/>
              <a:buChar char="•"/>
              <a:tabLst>
                <a:tab pos="207645" algn="l"/>
              </a:tabLst>
            </a:pPr>
            <a:r>
              <a:rPr b="1" dirty="0">
                <a:solidFill>
                  <a:srgbClr val="C00000"/>
                </a:solidFill>
                <a:latin typeface="Verdana"/>
                <a:cs typeface="Verdana"/>
              </a:rPr>
              <a:t>Multi-way</a:t>
            </a:r>
            <a:r>
              <a:rPr b="1" spc="16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b="1" dirty="0">
                <a:solidFill>
                  <a:srgbClr val="C00000"/>
                </a:solidFill>
                <a:latin typeface="Verdana"/>
                <a:cs typeface="Verdana"/>
              </a:rPr>
              <a:t>relationships</a:t>
            </a:r>
            <a:r>
              <a:rPr b="1" spc="17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/>
              <a:t>(</a:t>
            </a:r>
            <a:r>
              <a:rPr b="1" dirty="0">
                <a:solidFill>
                  <a:srgbClr val="C00000"/>
                </a:solidFill>
                <a:latin typeface="Verdana"/>
                <a:cs typeface="Verdana"/>
              </a:rPr>
              <a:t>u-ary</a:t>
            </a:r>
            <a:r>
              <a:rPr dirty="0"/>
              <a:t>)</a:t>
            </a:r>
            <a:r>
              <a:rPr spc="155" dirty="0"/>
              <a:t> </a:t>
            </a:r>
            <a:r>
              <a:rPr dirty="0"/>
              <a:t>–</a:t>
            </a:r>
            <a:r>
              <a:rPr spc="160" dirty="0"/>
              <a:t> </a:t>
            </a:r>
            <a:r>
              <a:rPr dirty="0"/>
              <a:t>connections</a:t>
            </a:r>
            <a:r>
              <a:rPr spc="160" dirty="0"/>
              <a:t> </a:t>
            </a:r>
            <a:r>
              <a:rPr spc="-10" dirty="0"/>
              <a:t>involving 	</a:t>
            </a:r>
            <a:r>
              <a:rPr dirty="0"/>
              <a:t>more</a:t>
            </a:r>
            <a:r>
              <a:rPr spc="60" dirty="0"/>
              <a:t> </a:t>
            </a:r>
            <a:r>
              <a:rPr dirty="0"/>
              <a:t>than</a:t>
            </a:r>
            <a:r>
              <a:rPr spc="60" dirty="0"/>
              <a:t> </a:t>
            </a:r>
            <a:r>
              <a:rPr dirty="0"/>
              <a:t>two</a:t>
            </a:r>
            <a:r>
              <a:rPr spc="65" dirty="0"/>
              <a:t> </a:t>
            </a:r>
            <a:r>
              <a:rPr dirty="0"/>
              <a:t>entity</a:t>
            </a:r>
            <a:r>
              <a:rPr spc="60" dirty="0"/>
              <a:t> </a:t>
            </a:r>
            <a:r>
              <a:rPr spc="-20" dirty="0"/>
              <a:t>sets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28775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solidFill>
                  <a:srgbClr val="292934"/>
                </a:solidFill>
              </a:rPr>
              <a:t>Binary</a:t>
            </a:r>
            <a:r>
              <a:rPr spc="-225" dirty="0">
                <a:solidFill>
                  <a:srgbClr val="292934"/>
                </a:solidFill>
              </a:rPr>
              <a:t> </a:t>
            </a:r>
            <a:r>
              <a:rPr spc="-110" dirty="0">
                <a:solidFill>
                  <a:srgbClr val="292934"/>
                </a:solidFill>
              </a:rPr>
              <a:t>Relationships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815" y="1213103"/>
            <a:ext cx="841375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If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i="1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300" i="1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3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i="1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2300" i="1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23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sets,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3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relationship</a:t>
            </a:r>
            <a:r>
              <a:rPr sz="23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i="1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2300" i="1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3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3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subset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i="1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300" i="1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i="1" dirty="0">
                <a:solidFill>
                  <a:srgbClr val="292934"/>
                </a:solidFill>
                <a:latin typeface="Verdana"/>
                <a:cs typeface="Verdana"/>
              </a:rPr>
              <a:t>X</a:t>
            </a:r>
            <a:r>
              <a:rPr sz="2300" i="1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i="1" spc="-5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52912" y="5453920"/>
            <a:ext cx="1285240" cy="556895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148590" rIns="0" bIns="0" rtlCol="0">
            <a:spAutoFit/>
          </a:bodyPr>
          <a:lstStyle/>
          <a:p>
            <a:pPr marL="280670">
              <a:lnSpc>
                <a:spcPct val="100000"/>
              </a:lnSpc>
              <a:spcBef>
                <a:spcPts val="117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product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60955" y="5453920"/>
            <a:ext cx="1285240" cy="556895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148590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117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company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416281" y="5395142"/>
            <a:ext cx="1687830" cy="688975"/>
            <a:chOff x="4416281" y="5395142"/>
            <a:chExt cx="1687830" cy="688975"/>
          </a:xfrm>
        </p:grpSpPr>
        <p:sp>
          <p:nvSpPr>
            <p:cNvPr id="7" name="object 7"/>
            <p:cNvSpPr/>
            <p:nvPr/>
          </p:nvSpPr>
          <p:spPr>
            <a:xfrm>
              <a:off x="4421361" y="5400222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6"/>
                  </a:lnTo>
                  <a:lnTo>
                    <a:pt x="838809" y="678533"/>
                  </a:lnTo>
                  <a:lnTo>
                    <a:pt x="1677619" y="339266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21361" y="5400222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928278" y="5596128"/>
            <a:ext cx="66357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makes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238906" y="4833769"/>
            <a:ext cx="1229360" cy="501650"/>
            <a:chOff x="1238906" y="4833769"/>
            <a:chExt cx="1229360" cy="501650"/>
          </a:xfrm>
        </p:grpSpPr>
        <p:sp>
          <p:nvSpPr>
            <p:cNvPr id="11" name="object 11"/>
            <p:cNvSpPr/>
            <p:nvPr/>
          </p:nvSpPr>
          <p:spPr>
            <a:xfrm>
              <a:off x="1243986" y="4838849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609354" y="0"/>
                  </a:moveTo>
                  <a:lnTo>
                    <a:pt x="542958" y="1440"/>
                  </a:lnTo>
                  <a:lnTo>
                    <a:pt x="478633" y="5663"/>
                  </a:lnTo>
                  <a:lnTo>
                    <a:pt x="416750" y="12519"/>
                  </a:lnTo>
                  <a:lnTo>
                    <a:pt x="357683" y="21856"/>
                  </a:lnTo>
                  <a:lnTo>
                    <a:pt x="301801" y="33526"/>
                  </a:lnTo>
                  <a:lnTo>
                    <a:pt x="249477" y="47379"/>
                  </a:lnTo>
                  <a:lnTo>
                    <a:pt x="201083" y="63265"/>
                  </a:lnTo>
                  <a:lnTo>
                    <a:pt x="156989" y="81034"/>
                  </a:lnTo>
                  <a:lnTo>
                    <a:pt x="117569" y="100537"/>
                  </a:lnTo>
                  <a:lnTo>
                    <a:pt x="83194" y="121623"/>
                  </a:lnTo>
                  <a:lnTo>
                    <a:pt x="31065" y="167947"/>
                  </a:lnTo>
                  <a:lnTo>
                    <a:pt x="3575" y="218807"/>
                  </a:lnTo>
                  <a:lnTo>
                    <a:pt x="0" y="245564"/>
                  </a:lnTo>
                  <a:lnTo>
                    <a:pt x="3575" y="272321"/>
                  </a:lnTo>
                  <a:lnTo>
                    <a:pt x="31065" y="323182"/>
                  </a:lnTo>
                  <a:lnTo>
                    <a:pt x="83194" y="369506"/>
                  </a:lnTo>
                  <a:lnTo>
                    <a:pt x="117569" y="390592"/>
                  </a:lnTo>
                  <a:lnTo>
                    <a:pt x="156989" y="410094"/>
                  </a:lnTo>
                  <a:lnTo>
                    <a:pt x="201083" y="427863"/>
                  </a:lnTo>
                  <a:lnTo>
                    <a:pt x="249477" y="443749"/>
                  </a:lnTo>
                  <a:lnTo>
                    <a:pt x="301801" y="457602"/>
                  </a:lnTo>
                  <a:lnTo>
                    <a:pt x="357683" y="469272"/>
                  </a:lnTo>
                  <a:lnTo>
                    <a:pt x="416750" y="478610"/>
                  </a:lnTo>
                  <a:lnTo>
                    <a:pt x="478633" y="485465"/>
                  </a:lnTo>
                  <a:lnTo>
                    <a:pt x="542958" y="489688"/>
                  </a:lnTo>
                  <a:lnTo>
                    <a:pt x="609354" y="491129"/>
                  </a:lnTo>
                  <a:lnTo>
                    <a:pt x="675750" y="489688"/>
                  </a:lnTo>
                  <a:lnTo>
                    <a:pt x="740074" y="485465"/>
                  </a:lnTo>
                  <a:lnTo>
                    <a:pt x="801957" y="478610"/>
                  </a:lnTo>
                  <a:lnTo>
                    <a:pt x="861025" y="469272"/>
                  </a:lnTo>
                  <a:lnTo>
                    <a:pt x="916906" y="457602"/>
                  </a:lnTo>
                  <a:lnTo>
                    <a:pt x="969230" y="443749"/>
                  </a:lnTo>
                  <a:lnTo>
                    <a:pt x="1017625" y="427863"/>
                  </a:lnTo>
                  <a:lnTo>
                    <a:pt x="1061718" y="410094"/>
                  </a:lnTo>
                  <a:lnTo>
                    <a:pt x="1101138" y="390592"/>
                  </a:lnTo>
                  <a:lnTo>
                    <a:pt x="1135513" y="369506"/>
                  </a:lnTo>
                  <a:lnTo>
                    <a:pt x="1187642" y="323182"/>
                  </a:lnTo>
                  <a:lnTo>
                    <a:pt x="1215132" y="272321"/>
                  </a:lnTo>
                  <a:lnTo>
                    <a:pt x="1218707" y="245564"/>
                  </a:lnTo>
                  <a:lnTo>
                    <a:pt x="1215132" y="218807"/>
                  </a:lnTo>
                  <a:lnTo>
                    <a:pt x="1187642" y="167947"/>
                  </a:lnTo>
                  <a:lnTo>
                    <a:pt x="1135513" y="121623"/>
                  </a:lnTo>
                  <a:lnTo>
                    <a:pt x="1101138" y="100537"/>
                  </a:lnTo>
                  <a:lnTo>
                    <a:pt x="1061718" y="81034"/>
                  </a:lnTo>
                  <a:lnTo>
                    <a:pt x="1017625" y="63265"/>
                  </a:lnTo>
                  <a:lnTo>
                    <a:pt x="969230" y="47379"/>
                  </a:lnTo>
                  <a:lnTo>
                    <a:pt x="916906" y="33526"/>
                  </a:lnTo>
                  <a:lnTo>
                    <a:pt x="861025" y="21856"/>
                  </a:lnTo>
                  <a:lnTo>
                    <a:pt x="801957" y="12519"/>
                  </a:lnTo>
                  <a:lnTo>
                    <a:pt x="740074" y="5663"/>
                  </a:lnTo>
                  <a:lnTo>
                    <a:pt x="675750" y="1440"/>
                  </a:lnTo>
                  <a:lnTo>
                    <a:pt x="609354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43986" y="4838849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0" y="245564"/>
                  </a:moveTo>
                  <a:lnTo>
                    <a:pt x="14054" y="192885"/>
                  </a:lnTo>
                  <a:lnTo>
                    <a:pt x="54235" y="144143"/>
                  </a:lnTo>
                  <a:lnTo>
                    <a:pt x="117570" y="100537"/>
                  </a:lnTo>
                  <a:lnTo>
                    <a:pt x="156990" y="81034"/>
                  </a:lnTo>
                  <a:lnTo>
                    <a:pt x="201083" y="63265"/>
                  </a:lnTo>
                  <a:lnTo>
                    <a:pt x="249477" y="47379"/>
                  </a:lnTo>
                  <a:lnTo>
                    <a:pt x="301801" y="33526"/>
                  </a:lnTo>
                  <a:lnTo>
                    <a:pt x="357683" y="21856"/>
                  </a:lnTo>
                  <a:lnTo>
                    <a:pt x="416751" y="12519"/>
                  </a:lnTo>
                  <a:lnTo>
                    <a:pt x="478633" y="5663"/>
                  </a:lnTo>
                  <a:lnTo>
                    <a:pt x="542958" y="1440"/>
                  </a:lnTo>
                  <a:lnTo>
                    <a:pt x="609354" y="0"/>
                  </a:lnTo>
                  <a:lnTo>
                    <a:pt x="675749" y="1440"/>
                  </a:lnTo>
                  <a:lnTo>
                    <a:pt x="740074" y="5663"/>
                  </a:lnTo>
                  <a:lnTo>
                    <a:pt x="801957" y="12519"/>
                  </a:lnTo>
                  <a:lnTo>
                    <a:pt x="861025" y="21856"/>
                  </a:lnTo>
                  <a:lnTo>
                    <a:pt x="916906" y="33526"/>
                  </a:lnTo>
                  <a:lnTo>
                    <a:pt x="969230" y="47379"/>
                  </a:lnTo>
                  <a:lnTo>
                    <a:pt x="1017625" y="63265"/>
                  </a:lnTo>
                  <a:lnTo>
                    <a:pt x="1061718" y="81034"/>
                  </a:lnTo>
                  <a:lnTo>
                    <a:pt x="1101138" y="100537"/>
                  </a:lnTo>
                  <a:lnTo>
                    <a:pt x="1135513" y="121623"/>
                  </a:lnTo>
                  <a:lnTo>
                    <a:pt x="1187642" y="167947"/>
                  </a:lnTo>
                  <a:lnTo>
                    <a:pt x="1215132" y="218807"/>
                  </a:lnTo>
                  <a:lnTo>
                    <a:pt x="1218708" y="245564"/>
                  </a:lnTo>
                  <a:lnTo>
                    <a:pt x="1215132" y="272321"/>
                  </a:lnTo>
                  <a:lnTo>
                    <a:pt x="1187642" y="323182"/>
                  </a:lnTo>
                  <a:lnTo>
                    <a:pt x="1135513" y="369506"/>
                  </a:lnTo>
                  <a:lnTo>
                    <a:pt x="1101138" y="390592"/>
                  </a:lnTo>
                  <a:lnTo>
                    <a:pt x="1061718" y="410094"/>
                  </a:lnTo>
                  <a:lnTo>
                    <a:pt x="1017625" y="427863"/>
                  </a:lnTo>
                  <a:lnTo>
                    <a:pt x="969230" y="443749"/>
                  </a:lnTo>
                  <a:lnTo>
                    <a:pt x="916906" y="457602"/>
                  </a:lnTo>
                  <a:lnTo>
                    <a:pt x="861025" y="469272"/>
                  </a:lnTo>
                  <a:lnTo>
                    <a:pt x="801957" y="478610"/>
                  </a:lnTo>
                  <a:lnTo>
                    <a:pt x="740074" y="485465"/>
                  </a:lnTo>
                  <a:lnTo>
                    <a:pt x="675749" y="489688"/>
                  </a:lnTo>
                  <a:lnTo>
                    <a:pt x="609354" y="491129"/>
                  </a:lnTo>
                  <a:lnTo>
                    <a:pt x="542958" y="489688"/>
                  </a:lnTo>
                  <a:lnTo>
                    <a:pt x="478633" y="485465"/>
                  </a:lnTo>
                  <a:lnTo>
                    <a:pt x="416751" y="478610"/>
                  </a:lnTo>
                  <a:lnTo>
                    <a:pt x="357683" y="469272"/>
                  </a:lnTo>
                  <a:lnTo>
                    <a:pt x="301801" y="457602"/>
                  </a:lnTo>
                  <a:lnTo>
                    <a:pt x="249477" y="443749"/>
                  </a:lnTo>
                  <a:lnTo>
                    <a:pt x="201083" y="427863"/>
                  </a:lnTo>
                  <a:lnTo>
                    <a:pt x="156990" y="410094"/>
                  </a:lnTo>
                  <a:lnTo>
                    <a:pt x="117570" y="390592"/>
                  </a:lnTo>
                  <a:lnTo>
                    <a:pt x="83194" y="369506"/>
                  </a:lnTo>
                  <a:lnTo>
                    <a:pt x="31065" y="323182"/>
                  </a:lnTo>
                  <a:lnTo>
                    <a:pt x="3575" y="272321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696706" y="4940808"/>
            <a:ext cx="31369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u="sng" spc="-2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pid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295731" y="4502938"/>
            <a:ext cx="1229360" cy="501650"/>
            <a:chOff x="2295731" y="4502938"/>
            <a:chExt cx="1229360" cy="501650"/>
          </a:xfrm>
        </p:grpSpPr>
        <p:sp>
          <p:nvSpPr>
            <p:cNvPr id="15" name="object 15"/>
            <p:cNvSpPr/>
            <p:nvPr/>
          </p:nvSpPr>
          <p:spPr>
            <a:xfrm>
              <a:off x="2300811" y="4508018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609353" y="0"/>
                  </a:moveTo>
                  <a:lnTo>
                    <a:pt x="542957" y="1440"/>
                  </a:lnTo>
                  <a:lnTo>
                    <a:pt x="478632" y="5663"/>
                  </a:lnTo>
                  <a:lnTo>
                    <a:pt x="416750" y="12519"/>
                  </a:lnTo>
                  <a:lnTo>
                    <a:pt x="357682" y="21856"/>
                  </a:lnTo>
                  <a:lnTo>
                    <a:pt x="301800" y="33526"/>
                  </a:lnTo>
                  <a:lnTo>
                    <a:pt x="249477" y="47379"/>
                  </a:lnTo>
                  <a:lnTo>
                    <a:pt x="201082" y="63265"/>
                  </a:lnTo>
                  <a:lnTo>
                    <a:pt x="156989" y="81035"/>
                  </a:lnTo>
                  <a:lnTo>
                    <a:pt x="117569" y="100537"/>
                  </a:lnTo>
                  <a:lnTo>
                    <a:pt x="83194" y="121623"/>
                  </a:lnTo>
                  <a:lnTo>
                    <a:pt x="31065" y="167947"/>
                  </a:lnTo>
                  <a:lnTo>
                    <a:pt x="3575" y="218807"/>
                  </a:lnTo>
                  <a:lnTo>
                    <a:pt x="0" y="245564"/>
                  </a:lnTo>
                  <a:lnTo>
                    <a:pt x="3575" y="272321"/>
                  </a:lnTo>
                  <a:lnTo>
                    <a:pt x="31065" y="323182"/>
                  </a:lnTo>
                  <a:lnTo>
                    <a:pt x="83194" y="369506"/>
                  </a:lnTo>
                  <a:lnTo>
                    <a:pt x="117569" y="390592"/>
                  </a:lnTo>
                  <a:lnTo>
                    <a:pt x="156989" y="410094"/>
                  </a:lnTo>
                  <a:lnTo>
                    <a:pt x="201082" y="427863"/>
                  </a:lnTo>
                  <a:lnTo>
                    <a:pt x="249477" y="443749"/>
                  </a:lnTo>
                  <a:lnTo>
                    <a:pt x="301800" y="457602"/>
                  </a:lnTo>
                  <a:lnTo>
                    <a:pt x="357682" y="469272"/>
                  </a:lnTo>
                  <a:lnTo>
                    <a:pt x="416750" y="478610"/>
                  </a:lnTo>
                  <a:lnTo>
                    <a:pt x="478632" y="485465"/>
                  </a:lnTo>
                  <a:lnTo>
                    <a:pt x="542957" y="489688"/>
                  </a:lnTo>
                  <a:lnTo>
                    <a:pt x="609353" y="491129"/>
                  </a:lnTo>
                  <a:lnTo>
                    <a:pt x="675749" y="489688"/>
                  </a:lnTo>
                  <a:lnTo>
                    <a:pt x="740074" y="485465"/>
                  </a:lnTo>
                  <a:lnTo>
                    <a:pt x="801956" y="478610"/>
                  </a:lnTo>
                  <a:lnTo>
                    <a:pt x="861024" y="469272"/>
                  </a:lnTo>
                  <a:lnTo>
                    <a:pt x="916906" y="457602"/>
                  </a:lnTo>
                  <a:lnTo>
                    <a:pt x="969230" y="443749"/>
                  </a:lnTo>
                  <a:lnTo>
                    <a:pt x="1017625" y="427863"/>
                  </a:lnTo>
                  <a:lnTo>
                    <a:pt x="1061718" y="410094"/>
                  </a:lnTo>
                  <a:lnTo>
                    <a:pt x="1101138" y="390592"/>
                  </a:lnTo>
                  <a:lnTo>
                    <a:pt x="1135513" y="369506"/>
                  </a:lnTo>
                  <a:lnTo>
                    <a:pt x="1187643" y="323182"/>
                  </a:lnTo>
                  <a:lnTo>
                    <a:pt x="1215132" y="272321"/>
                  </a:lnTo>
                  <a:lnTo>
                    <a:pt x="1218708" y="245564"/>
                  </a:lnTo>
                  <a:lnTo>
                    <a:pt x="1215132" y="218807"/>
                  </a:lnTo>
                  <a:lnTo>
                    <a:pt x="1187643" y="167947"/>
                  </a:lnTo>
                  <a:lnTo>
                    <a:pt x="1135513" y="121623"/>
                  </a:lnTo>
                  <a:lnTo>
                    <a:pt x="1101138" y="100537"/>
                  </a:lnTo>
                  <a:lnTo>
                    <a:pt x="1061718" y="81035"/>
                  </a:lnTo>
                  <a:lnTo>
                    <a:pt x="1017625" y="63265"/>
                  </a:lnTo>
                  <a:lnTo>
                    <a:pt x="969230" y="47379"/>
                  </a:lnTo>
                  <a:lnTo>
                    <a:pt x="916906" y="33526"/>
                  </a:lnTo>
                  <a:lnTo>
                    <a:pt x="861024" y="21856"/>
                  </a:lnTo>
                  <a:lnTo>
                    <a:pt x="801956" y="12519"/>
                  </a:lnTo>
                  <a:lnTo>
                    <a:pt x="740074" y="5663"/>
                  </a:lnTo>
                  <a:lnTo>
                    <a:pt x="675749" y="1440"/>
                  </a:lnTo>
                  <a:lnTo>
                    <a:pt x="609353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300811" y="4508018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0" y="245564"/>
                  </a:moveTo>
                  <a:lnTo>
                    <a:pt x="14054" y="192885"/>
                  </a:lnTo>
                  <a:lnTo>
                    <a:pt x="54235" y="144143"/>
                  </a:lnTo>
                  <a:lnTo>
                    <a:pt x="117570" y="100537"/>
                  </a:lnTo>
                  <a:lnTo>
                    <a:pt x="156990" y="81034"/>
                  </a:lnTo>
                  <a:lnTo>
                    <a:pt x="201083" y="63265"/>
                  </a:lnTo>
                  <a:lnTo>
                    <a:pt x="249477" y="47379"/>
                  </a:lnTo>
                  <a:lnTo>
                    <a:pt x="301801" y="33526"/>
                  </a:lnTo>
                  <a:lnTo>
                    <a:pt x="357683" y="21856"/>
                  </a:lnTo>
                  <a:lnTo>
                    <a:pt x="416751" y="12519"/>
                  </a:lnTo>
                  <a:lnTo>
                    <a:pt x="478633" y="5663"/>
                  </a:lnTo>
                  <a:lnTo>
                    <a:pt x="542958" y="1440"/>
                  </a:lnTo>
                  <a:lnTo>
                    <a:pt x="609354" y="0"/>
                  </a:lnTo>
                  <a:lnTo>
                    <a:pt x="675749" y="1440"/>
                  </a:lnTo>
                  <a:lnTo>
                    <a:pt x="740074" y="5663"/>
                  </a:lnTo>
                  <a:lnTo>
                    <a:pt x="801957" y="12519"/>
                  </a:lnTo>
                  <a:lnTo>
                    <a:pt x="861025" y="21856"/>
                  </a:lnTo>
                  <a:lnTo>
                    <a:pt x="916906" y="33526"/>
                  </a:lnTo>
                  <a:lnTo>
                    <a:pt x="969230" y="47379"/>
                  </a:lnTo>
                  <a:lnTo>
                    <a:pt x="1017625" y="63265"/>
                  </a:lnTo>
                  <a:lnTo>
                    <a:pt x="1061718" y="81034"/>
                  </a:lnTo>
                  <a:lnTo>
                    <a:pt x="1101138" y="100537"/>
                  </a:lnTo>
                  <a:lnTo>
                    <a:pt x="1135513" y="121623"/>
                  </a:lnTo>
                  <a:lnTo>
                    <a:pt x="1187642" y="167947"/>
                  </a:lnTo>
                  <a:lnTo>
                    <a:pt x="1215132" y="218807"/>
                  </a:lnTo>
                  <a:lnTo>
                    <a:pt x="1218708" y="245564"/>
                  </a:lnTo>
                  <a:lnTo>
                    <a:pt x="1215132" y="272321"/>
                  </a:lnTo>
                  <a:lnTo>
                    <a:pt x="1187642" y="323182"/>
                  </a:lnTo>
                  <a:lnTo>
                    <a:pt x="1135513" y="369506"/>
                  </a:lnTo>
                  <a:lnTo>
                    <a:pt x="1101138" y="390592"/>
                  </a:lnTo>
                  <a:lnTo>
                    <a:pt x="1061718" y="410094"/>
                  </a:lnTo>
                  <a:lnTo>
                    <a:pt x="1017625" y="427863"/>
                  </a:lnTo>
                  <a:lnTo>
                    <a:pt x="969230" y="443749"/>
                  </a:lnTo>
                  <a:lnTo>
                    <a:pt x="916906" y="457602"/>
                  </a:lnTo>
                  <a:lnTo>
                    <a:pt x="861025" y="469272"/>
                  </a:lnTo>
                  <a:lnTo>
                    <a:pt x="801957" y="478610"/>
                  </a:lnTo>
                  <a:lnTo>
                    <a:pt x="740074" y="485465"/>
                  </a:lnTo>
                  <a:lnTo>
                    <a:pt x="675749" y="489688"/>
                  </a:lnTo>
                  <a:lnTo>
                    <a:pt x="609354" y="491129"/>
                  </a:lnTo>
                  <a:lnTo>
                    <a:pt x="542958" y="489688"/>
                  </a:lnTo>
                  <a:lnTo>
                    <a:pt x="478633" y="485465"/>
                  </a:lnTo>
                  <a:lnTo>
                    <a:pt x="416751" y="478610"/>
                  </a:lnTo>
                  <a:lnTo>
                    <a:pt x="357683" y="469272"/>
                  </a:lnTo>
                  <a:lnTo>
                    <a:pt x="301801" y="457602"/>
                  </a:lnTo>
                  <a:lnTo>
                    <a:pt x="249477" y="443749"/>
                  </a:lnTo>
                  <a:lnTo>
                    <a:pt x="201083" y="427863"/>
                  </a:lnTo>
                  <a:lnTo>
                    <a:pt x="156990" y="410094"/>
                  </a:lnTo>
                  <a:lnTo>
                    <a:pt x="117570" y="390592"/>
                  </a:lnTo>
                  <a:lnTo>
                    <a:pt x="83194" y="369506"/>
                  </a:lnTo>
                  <a:lnTo>
                    <a:pt x="31065" y="323182"/>
                  </a:lnTo>
                  <a:lnTo>
                    <a:pt x="3575" y="272321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626532" y="4611623"/>
            <a:ext cx="56769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0" dirty="0">
                <a:solidFill>
                  <a:srgbClr val="292934"/>
                </a:solidFill>
                <a:latin typeface="Arial MT"/>
                <a:cs typeface="Arial MT"/>
              </a:rPr>
              <a:t>name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457120" y="4545949"/>
            <a:ext cx="3948429" cy="746760"/>
            <a:chOff x="3457120" y="4545949"/>
            <a:chExt cx="3948429" cy="746760"/>
          </a:xfrm>
        </p:grpSpPr>
        <p:sp>
          <p:nvSpPr>
            <p:cNvPr id="19" name="object 19"/>
            <p:cNvSpPr/>
            <p:nvPr/>
          </p:nvSpPr>
          <p:spPr>
            <a:xfrm>
              <a:off x="3462200" y="4796446"/>
              <a:ext cx="1383665" cy="491490"/>
            </a:xfrm>
            <a:custGeom>
              <a:avLst/>
              <a:gdLst/>
              <a:ahLst/>
              <a:cxnLst/>
              <a:rect l="l" t="t" r="r" b="b"/>
              <a:pathLst>
                <a:path w="1383664" h="491489">
                  <a:moveTo>
                    <a:pt x="691616" y="0"/>
                  </a:moveTo>
                  <a:lnTo>
                    <a:pt x="625009" y="1124"/>
                  </a:lnTo>
                  <a:lnTo>
                    <a:pt x="560193" y="4427"/>
                  </a:lnTo>
                  <a:lnTo>
                    <a:pt x="497458" y="9808"/>
                  </a:lnTo>
                  <a:lnTo>
                    <a:pt x="437094" y="17162"/>
                  </a:lnTo>
                  <a:lnTo>
                    <a:pt x="379391" y="26388"/>
                  </a:lnTo>
                  <a:lnTo>
                    <a:pt x="324639" y="37381"/>
                  </a:lnTo>
                  <a:lnTo>
                    <a:pt x="273127" y="50039"/>
                  </a:lnTo>
                  <a:lnTo>
                    <a:pt x="225146" y="64260"/>
                  </a:lnTo>
                  <a:lnTo>
                    <a:pt x="180984" y="79940"/>
                  </a:lnTo>
                  <a:lnTo>
                    <a:pt x="140933" y="96976"/>
                  </a:lnTo>
                  <a:lnTo>
                    <a:pt x="105282" y="115266"/>
                  </a:lnTo>
                  <a:lnTo>
                    <a:pt x="48337" y="155194"/>
                  </a:lnTo>
                  <a:lnTo>
                    <a:pt x="12470" y="198901"/>
                  </a:lnTo>
                  <a:lnTo>
                    <a:pt x="0" y="245564"/>
                  </a:lnTo>
                  <a:lnTo>
                    <a:pt x="3166" y="269214"/>
                  </a:lnTo>
                  <a:lnTo>
                    <a:pt x="27624" y="314502"/>
                  </a:lnTo>
                  <a:lnTo>
                    <a:pt x="74320" y="356423"/>
                  </a:lnTo>
                  <a:lnTo>
                    <a:pt x="140933" y="394153"/>
                  </a:lnTo>
                  <a:lnTo>
                    <a:pt x="180984" y="411189"/>
                  </a:lnTo>
                  <a:lnTo>
                    <a:pt x="225146" y="426869"/>
                  </a:lnTo>
                  <a:lnTo>
                    <a:pt x="273127" y="441089"/>
                  </a:lnTo>
                  <a:lnTo>
                    <a:pt x="324639" y="453748"/>
                  </a:lnTo>
                  <a:lnTo>
                    <a:pt x="379391" y="464741"/>
                  </a:lnTo>
                  <a:lnTo>
                    <a:pt x="437094" y="473966"/>
                  </a:lnTo>
                  <a:lnTo>
                    <a:pt x="497458" y="481320"/>
                  </a:lnTo>
                  <a:lnTo>
                    <a:pt x="560193" y="486701"/>
                  </a:lnTo>
                  <a:lnTo>
                    <a:pt x="625009" y="490005"/>
                  </a:lnTo>
                  <a:lnTo>
                    <a:pt x="691616" y="491129"/>
                  </a:lnTo>
                  <a:lnTo>
                    <a:pt x="758224" y="490005"/>
                  </a:lnTo>
                  <a:lnTo>
                    <a:pt x="823040" y="486701"/>
                  </a:lnTo>
                  <a:lnTo>
                    <a:pt x="885775" y="481320"/>
                  </a:lnTo>
                  <a:lnTo>
                    <a:pt x="946139" y="473966"/>
                  </a:lnTo>
                  <a:lnTo>
                    <a:pt x="1003842" y="464741"/>
                  </a:lnTo>
                  <a:lnTo>
                    <a:pt x="1058594" y="453748"/>
                  </a:lnTo>
                  <a:lnTo>
                    <a:pt x="1110106" y="441089"/>
                  </a:lnTo>
                  <a:lnTo>
                    <a:pt x="1158088" y="426869"/>
                  </a:lnTo>
                  <a:lnTo>
                    <a:pt x="1202249" y="411189"/>
                  </a:lnTo>
                  <a:lnTo>
                    <a:pt x="1242300" y="394153"/>
                  </a:lnTo>
                  <a:lnTo>
                    <a:pt x="1277952" y="375863"/>
                  </a:lnTo>
                  <a:lnTo>
                    <a:pt x="1334896" y="335935"/>
                  </a:lnTo>
                  <a:lnTo>
                    <a:pt x="1370763" y="292227"/>
                  </a:lnTo>
                  <a:lnTo>
                    <a:pt x="1383234" y="245564"/>
                  </a:lnTo>
                  <a:lnTo>
                    <a:pt x="1380068" y="221915"/>
                  </a:lnTo>
                  <a:lnTo>
                    <a:pt x="1355609" y="176627"/>
                  </a:lnTo>
                  <a:lnTo>
                    <a:pt x="1308914" y="134706"/>
                  </a:lnTo>
                  <a:lnTo>
                    <a:pt x="1242300" y="96976"/>
                  </a:lnTo>
                  <a:lnTo>
                    <a:pt x="1202249" y="79940"/>
                  </a:lnTo>
                  <a:lnTo>
                    <a:pt x="1158088" y="64260"/>
                  </a:lnTo>
                  <a:lnTo>
                    <a:pt x="1110106" y="50039"/>
                  </a:lnTo>
                  <a:lnTo>
                    <a:pt x="1058594" y="37381"/>
                  </a:lnTo>
                  <a:lnTo>
                    <a:pt x="1003842" y="26388"/>
                  </a:lnTo>
                  <a:lnTo>
                    <a:pt x="946139" y="17162"/>
                  </a:lnTo>
                  <a:lnTo>
                    <a:pt x="885775" y="9808"/>
                  </a:lnTo>
                  <a:lnTo>
                    <a:pt x="823040" y="4427"/>
                  </a:lnTo>
                  <a:lnTo>
                    <a:pt x="758224" y="1124"/>
                  </a:lnTo>
                  <a:lnTo>
                    <a:pt x="691616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462200" y="4796446"/>
              <a:ext cx="1383665" cy="491490"/>
            </a:xfrm>
            <a:custGeom>
              <a:avLst/>
              <a:gdLst/>
              <a:ahLst/>
              <a:cxnLst/>
              <a:rect l="l" t="t" r="r" b="b"/>
              <a:pathLst>
                <a:path w="1383664" h="491489">
                  <a:moveTo>
                    <a:pt x="0" y="245564"/>
                  </a:moveTo>
                  <a:lnTo>
                    <a:pt x="12470" y="198901"/>
                  </a:lnTo>
                  <a:lnTo>
                    <a:pt x="48337" y="155194"/>
                  </a:lnTo>
                  <a:lnTo>
                    <a:pt x="105282" y="115266"/>
                  </a:lnTo>
                  <a:lnTo>
                    <a:pt x="140933" y="96976"/>
                  </a:lnTo>
                  <a:lnTo>
                    <a:pt x="180984" y="79940"/>
                  </a:lnTo>
                  <a:lnTo>
                    <a:pt x="225146" y="64260"/>
                  </a:lnTo>
                  <a:lnTo>
                    <a:pt x="273127" y="50039"/>
                  </a:lnTo>
                  <a:lnTo>
                    <a:pt x="324639" y="37381"/>
                  </a:lnTo>
                  <a:lnTo>
                    <a:pt x="379391" y="26388"/>
                  </a:lnTo>
                  <a:lnTo>
                    <a:pt x="437094" y="17162"/>
                  </a:lnTo>
                  <a:lnTo>
                    <a:pt x="497458" y="9808"/>
                  </a:lnTo>
                  <a:lnTo>
                    <a:pt x="560193" y="4427"/>
                  </a:lnTo>
                  <a:lnTo>
                    <a:pt x="625009" y="1124"/>
                  </a:lnTo>
                  <a:lnTo>
                    <a:pt x="691617" y="0"/>
                  </a:lnTo>
                  <a:lnTo>
                    <a:pt x="758224" y="1124"/>
                  </a:lnTo>
                  <a:lnTo>
                    <a:pt x="823040" y="4427"/>
                  </a:lnTo>
                  <a:lnTo>
                    <a:pt x="885775" y="9808"/>
                  </a:lnTo>
                  <a:lnTo>
                    <a:pt x="946138" y="17162"/>
                  </a:lnTo>
                  <a:lnTo>
                    <a:pt x="1003841" y="26388"/>
                  </a:lnTo>
                  <a:lnTo>
                    <a:pt x="1058594" y="37381"/>
                  </a:lnTo>
                  <a:lnTo>
                    <a:pt x="1110106" y="50039"/>
                  </a:lnTo>
                  <a:lnTo>
                    <a:pt x="1158087" y="64260"/>
                  </a:lnTo>
                  <a:lnTo>
                    <a:pt x="1202249" y="79940"/>
                  </a:lnTo>
                  <a:lnTo>
                    <a:pt x="1242300" y="96976"/>
                  </a:lnTo>
                  <a:lnTo>
                    <a:pt x="1277951" y="115266"/>
                  </a:lnTo>
                  <a:lnTo>
                    <a:pt x="1334896" y="155194"/>
                  </a:lnTo>
                  <a:lnTo>
                    <a:pt x="1370763" y="198901"/>
                  </a:lnTo>
                  <a:lnTo>
                    <a:pt x="1383234" y="245564"/>
                  </a:lnTo>
                  <a:lnTo>
                    <a:pt x="1380068" y="269214"/>
                  </a:lnTo>
                  <a:lnTo>
                    <a:pt x="1355609" y="314502"/>
                  </a:lnTo>
                  <a:lnTo>
                    <a:pt x="1308913" y="356423"/>
                  </a:lnTo>
                  <a:lnTo>
                    <a:pt x="1242300" y="394153"/>
                  </a:lnTo>
                  <a:lnTo>
                    <a:pt x="1202249" y="411189"/>
                  </a:lnTo>
                  <a:lnTo>
                    <a:pt x="1158087" y="426869"/>
                  </a:lnTo>
                  <a:lnTo>
                    <a:pt x="1110106" y="441089"/>
                  </a:lnTo>
                  <a:lnTo>
                    <a:pt x="1058594" y="453748"/>
                  </a:lnTo>
                  <a:lnTo>
                    <a:pt x="1003841" y="464741"/>
                  </a:lnTo>
                  <a:lnTo>
                    <a:pt x="946138" y="473966"/>
                  </a:lnTo>
                  <a:lnTo>
                    <a:pt x="885775" y="481321"/>
                  </a:lnTo>
                  <a:lnTo>
                    <a:pt x="823040" y="486701"/>
                  </a:lnTo>
                  <a:lnTo>
                    <a:pt x="758224" y="490005"/>
                  </a:lnTo>
                  <a:lnTo>
                    <a:pt x="691617" y="491129"/>
                  </a:lnTo>
                  <a:lnTo>
                    <a:pt x="625009" y="490005"/>
                  </a:lnTo>
                  <a:lnTo>
                    <a:pt x="560193" y="486701"/>
                  </a:lnTo>
                  <a:lnTo>
                    <a:pt x="497458" y="481321"/>
                  </a:lnTo>
                  <a:lnTo>
                    <a:pt x="437094" y="473966"/>
                  </a:lnTo>
                  <a:lnTo>
                    <a:pt x="379391" y="464741"/>
                  </a:lnTo>
                  <a:lnTo>
                    <a:pt x="324639" y="453748"/>
                  </a:lnTo>
                  <a:lnTo>
                    <a:pt x="273127" y="441089"/>
                  </a:lnTo>
                  <a:lnTo>
                    <a:pt x="225146" y="426869"/>
                  </a:lnTo>
                  <a:lnTo>
                    <a:pt x="180984" y="411189"/>
                  </a:lnTo>
                  <a:lnTo>
                    <a:pt x="140933" y="394153"/>
                  </a:lnTo>
                  <a:lnTo>
                    <a:pt x="105282" y="375863"/>
                  </a:lnTo>
                  <a:lnTo>
                    <a:pt x="48337" y="335935"/>
                  </a:lnTo>
                  <a:lnTo>
                    <a:pt x="12470" y="292227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181490" y="4551029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609353" y="0"/>
                  </a:moveTo>
                  <a:lnTo>
                    <a:pt x="542957" y="1440"/>
                  </a:lnTo>
                  <a:lnTo>
                    <a:pt x="478633" y="5663"/>
                  </a:lnTo>
                  <a:lnTo>
                    <a:pt x="416751" y="12519"/>
                  </a:lnTo>
                  <a:lnTo>
                    <a:pt x="357683" y="21856"/>
                  </a:lnTo>
                  <a:lnTo>
                    <a:pt x="301801" y="33526"/>
                  </a:lnTo>
                  <a:lnTo>
                    <a:pt x="249477" y="47379"/>
                  </a:lnTo>
                  <a:lnTo>
                    <a:pt x="201083" y="63265"/>
                  </a:lnTo>
                  <a:lnTo>
                    <a:pt x="156990" y="81034"/>
                  </a:lnTo>
                  <a:lnTo>
                    <a:pt x="117570" y="100537"/>
                  </a:lnTo>
                  <a:lnTo>
                    <a:pt x="83194" y="121623"/>
                  </a:lnTo>
                  <a:lnTo>
                    <a:pt x="31065" y="167947"/>
                  </a:lnTo>
                  <a:lnTo>
                    <a:pt x="3575" y="218807"/>
                  </a:lnTo>
                  <a:lnTo>
                    <a:pt x="0" y="245564"/>
                  </a:lnTo>
                  <a:lnTo>
                    <a:pt x="3575" y="272321"/>
                  </a:lnTo>
                  <a:lnTo>
                    <a:pt x="31065" y="323182"/>
                  </a:lnTo>
                  <a:lnTo>
                    <a:pt x="83194" y="369506"/>
                  </a:lnTo>
                  <a:lnTo>
                    <a:pt x="117570" y="390592"/>
                  </a:lnTo>
                  <a:lnTo>
                    <a:pt x="156990" y="410094"/>
                  </a:lnTo>
                  <a:lnTo>
                    <a:pt x="201083" y="427863"/>
                  </a:lnTo>
                  <a:lnTo>
                    <a:pt x="249477" y="443749"/>
                  </a:lnTo>
                  <a:lnTo>
                    <a:pt x="301801" y="457602"/>
                  </a:lnTo>
                  <a:lnTo>
                    <a:pt x="357683" y="469272"/>
                  </a:lnTo>
                  <a:lnTo>
                    <a:pt x="416751" y="478610"/>
                  </a:lnTo>
                  <a:lnTo>
                    <a:pt x="478633" y="485465"/>
                  </a:lnTo>
                  <a:lnTo>
                    <a:pt x="542957" y="489688"/>
                  </a:lnTo>
                  <a:lnTo>
                    <a:pt x="609353" y="491129"/>
                  </a:lnTo>
                  <a:lnTo>
                    <a:pt x="675749" y="489688"/>
                  </a:lnTo>
                  <a:lnTo>
                    <a:pt x="740074" y="485465"/>
                  </a:lnTo>
                  <a:lnTo>
                    <a:pt x="801956" y="478610"/>
                  </a:lnTo>
                  <a:lnTo>
                    <a:pt x="861024" y="469272"/>
                  </a:lnTo>
                  <a:lnTo>
                    <a:pt x="916906" y="457602"/>
                  </a:lnTo>
                  <a:lnTo>
                    <a:pt x="969230" y="443749"/>
                  </a:lnTo>
                  <a:lnTo>
                    <a:pt x="1017625" y="427863"/>
                  </a:lnTo>
                  <a:lnTo>
                    <a:pt x="1061718" y="410094"/>
                  </a:lnTo>
                  <a:lnTo>
                    <a:pt x="1101138" y="390592"/>
                  </a:lnTo>
                  <a:lnTo>
                    <a:pt x="1135513" y="369506"/>
                  </a:lnTo>
                  <a:lnTo>
                    <a:pt x="1187643" y="323182"/>
                  </a:lnTo>
                  <a:lnTo>
                    <a:pt x="1215132" y="272321"/>
                  </a:lnTo>
                  <a:lnTo>
                    <a:pt x="1218708" y="245564"/>
                  </a:lnTo>
                  <a:lnTo>
                    <a:pt x="1215132" y="218807"/>
                  </a:lnTo>
                  <a:lnTo>
                    <a:pt x="1187643" y="167947"/>
                  </a:lnTo>
                  <a:lnTo>
                    <a:pt x="1135513" y="121623"/>
                  </a:lnTo>
                  <a:lnTo>
                    <a:pt x="1101138" y="100537"/>
                  </a:lnTo>
                  <a:lnTo>
                    <a:pt x="1061718" y="81034"/>
                  </a:lnTo>
                  <a:lnTo>
                    <a:pt x="1017625" y="63265"/>
                  </a:lnTo>
                  <a:lnTo>
                    <a:pt x="969230" y="47379"/>
                  </a:lnTo>
                  <a:lnTo>
                    <a:pt x="916906" y="33526"/>
                  </a:lnTo>
                  <a:lnTo>
                    <a:pt x="861024" y="21856"/>
                  </a:lnTo>
                  <a:lnTo>
                    <a:pt x="801956" y="12519"/>
                  </a:lnTo>
                  <a:lnTo>
                    <a:pt x="740074" y="5663"/>
                  </a:lnTo>
                  <a:lnTo>
                    <a:pt x="675749" y="1440"/>
                  </a:lnTo>
                  <a:lnTo>
                    <a:pt x="609353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181490" y="4551029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0" y="245564"/>
                  </a:moveTo>
                  <a:lnTo>
                    <a:pt x="14054" y="192885"/>
                  </a:lnTo>
                  <a:lnTo>
                    <a:pt x="54235" y="144143"/>
                  </a:lnTo>
                  <a:lnTo>
                    <a:pt x="117570" y="100537"/>
                  </a:lnTo>
                  <a:lnTo>
                    <a:pt x="156990" y="81034"/>
                  </a:lnTo>
                  <a:lnTo>
                    <a:pt x="201083" y="63265"/>
                  </a:lnTo>
                  <a:lnTo>
                    <a:pt x="249477" y="47379"/>
                  </a:lnTo>
                  <a:lnTo>
                    <a:pt x="301801" y="33526"/>
                  </a:lnTo>
                  <a:lnTo>
                    <a:pt x="357683" y="21856"/>
                  </a:lnTo>
                  <a:lnTo>
                    <a:pt x="416751" y="12519"/>
                  </a:lnTo>
                  <a:lnTo>
                    <a:pt x="478633" y="5663"/>
                  </a:lnTo>
                  <a:lnTo>
                    <a:pt x="542958" y="1440"/>
                  </a:lnTo>
                  <a:lnTo>
                    <a:pt x="609354" y="0"/>
                  </a:lnTo>
                  <a:lnTo>
                    <a:pt x="675749" y="1440"/>
                  </a:lnTo>
                  <a:lnTo>
                    <a:pt x="740074" y="5663"/>
                  </a:lnTo>
                  <a:lnTo>
                    <a:pt x="801957" y="12519"/>
                  </a:lnTo>
                  <a:lnTo>
                    <a:pt x="861025" y="21856"/>
                  </a:lnTo>
                  <a:lnTo>
                    <a:pt x="916906" y="33526"/>
                  </a:lnTo>
                  <a:lnTo>
                    <a:pt x="969230" y="47379"/>
                  </a:lnTo>
                  <a:lnTo>
                    <a:pt x="1017625" y="63265"/>
                  </a:lnTo>
                  <a:lnTo>
                    <a:pt x="1061718" y="81034"/>
                  </a:lnTo>
                  <a:lnTo>
                    <a:pt x="1101138" y="100537"/>
                  </a:lnTo>
                  <a:lnTo>
                    <a:pt x="1135513" y="121623"/>
                  </a:lnTo>
                  <a:lnTo>
                    <a:pt x="1187642" y="167947"/>
                  </a:lnTo>
                  <a:lnTo>
                    <a:pt x="1215132" y="218807"/>
                  </a:lnTo>
                  <a:lnTo>
                    <a:pt x="1218708" y="245564"/>
                  </a:lnTo>
                  <a:lnTo>
                    <a:pt x="1215132" y="272321"/>
                  </a:lnTo>
                  <a:lnTo>
                    <a:pt x="1187642" y="323182"/>
                  </a:lnTo>
                  <a:lnTo>
                    <a:pt x="1135513" y="369506"/>
                  </a:lnTo>
                  <a:lnTo>
                    <a:pt x="1101138" y="390592"/>
                  </a:lnTo>
                  <a:lnTo>
                    <a:pt x="1061718" y="410094"/>
                  </a:lnTo>
                  <a:lnTo>
                    <a:pt x="1017625" y="427863"/>
                  </a:lnTo>
                  <a:lnTo>
                    <a:pt x="969230" y="443749"/>
                  </a:lnTo>
                  <a:lnTo>
                    <a:pt x="916906" y="457602"/>
                  </a:lnTo>
                  <a:lnTo>
                    <a:pt x="861025" y="469272"/>
                  </a:lnTo>
                  <a:lnTo>
                    <a:pt x="801957" y="478610"/>
                  </a:lnTo>
                  <a:lnTo>
                    <a:pt x="740074" y="485465"/>
                  </a:lnTo>
                  <a:lnTo>
                    <a:pt x="675749" y="489688"/>
                  </a:lnTo>
                  <a:lnTo>
                    <a:pt x="609354" y="491129"/>
                  </a:lnTo>
                  <a:lnTo>
                    <a:pt x="542958" y="489688"/>
                  </a:lnTo>
                  <a:lnTo>
                    <a:pt x="478633" y="485465"/>
                  </a:lnTo>
                  <a:lnTo>
                    <a:pt x="416751" y="478610"/>
                  </a:lnTo>
                  <a:lnTo>
                    <a:pt x="357683" y="469272"/>
                  </a:lnTo>
                  <a:lnTo>
                    <a:pt x="301801" y="457602"/>
                  </a:lnTo>
                  <a:lnTo>
                    <a:pt x="249477" y="443749"/>
                  </a:lnTo>
                  <a:lnTo>
                    <a:pt x="201083" y="427863"/>
                  </a:lnTo>
                  <a:lnTo>
                    <a:pt x="156990" y="410094"/>
                  </a:lnTo>
                  <a:lnTo>
                    <a:pt x="117570" y="390592"/>
                  </a:lnTo>
                  <a:lnTo>
                    <a:pt x="83194" y="369506"/>
                  </a:lnTo>
                  <a:lnTo>
                    <a:pt x="31065" y="323182"/>
                  </a:lnTo>
                  <a:lnTo>
                    <a:pt x="3575" y="272321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507210" y="4654296"/>
            <a:ext cx="56769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u="sng" spc="-2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name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279138" y="4545954"/>
            <a:ext cx="6444615" cy="1198880"/>
            <a:chOff x="2279138" y="4545954"/>
            <a:chExt cx="6444615" cy="1198880"/>
          </a:xfrm>
        </p:grpSpPr>
        <p:sp>
          <p:nvSpPr>
            <p:cNvPr id="25" name="object 25"/>
            <p:cNvSpPr/>
            <p:nvPr/>
          </p:nvSpPr>
          <p:spPr>
            <a:xfrm>
              <a:off x="7545341" y="4551034"/>
              <a:ext cx="1173480" cy="491490"/>
            </a:xfrm>
            <a:custGeom>
              <a:avLst/>
              <a:gdLst/>
              <a:ahLst/>
              <a:cxnLst/>
              <a:rect l="l" t="t" r="r" b="b"/>
              <a:pathLst>
                <a:path w="1173479" h="491489">
                  <a:moveTo>
                    <a:pt x="586630" y="0"/>
                  </a:moveTo>
                  <a:lnTo>
                    <a:pt x="522710" y="1440"/>
                  </a:lnTo>
                  <a:lnTo>
                    <a:pt x="460784" y="5663"/>
                  </a:lnTo>
                  <a:lnTo>
                    <a:pt x="401210" y="12519"/>
                  </a:lnTo>
                  <a:lnTo>
                    <a:pt x="344344" y="21856"/>
                  </a:lnTo>
                  <a:lnTo>
                    <a:pt x="290547" y="33527"/>
                  </a:lnTo>
                  <a:lnTo>
                    <a:pt x="240174" y="47380"/>
                  </a:lnTo>
                  <a:lnTo>
                    <a:pt x="193584" y="63266"/>
                  </a:lnTo>
                  <a:lnTo>
                    <a:pt x="151135" y="81035"/>
                  </a:lnTo>
                  <a:lnTo>
                    <a:pt x="113185" y="100538"/>
                  </a:lnTo>
                  <a:lnTo>
                    <a:pt x="80092" y="121624"/>
                  </a:lnTo>
                  <a:lnTo>
                    <a:pt x="29906" y="167948"/>
                  </a:lnTo>
                  <a:lnTo>
                    <a:pt x="3442" y="218808"/>
                  </a:lnTo>
                  <a:lnTo>
                    <a:pt x="0" y="245565"/>
                  </a:lnTo>
                  <a:lnTo>
                    <a:pt x="3442" y="272322"/>
                  </a:lnTo>
                  <a:lnTo>
                    <a:pt x="29906" y="323183"/>
                  </a:lnTo>
                  <a:lnTo>
                    <a:pt x="80092" y="369506"/>
                  </a:lnTo>
                  <a:lnTo>
                    <a:pt x="113185" y="390592"/>
                  </a:lnTo>
                  <a:lnTo>
                    <a:pt x="151135" y="410095"/>
                  </a:lnTo>
                  <a:lnTo>
                    <a:pt x="193584" y="427864"/>
                  </a:lnTo>
                  <a:lnTo>
                    <a:pt x="240174" y="443750"/>
                  </a:lnTo>
                  <a:lnTo>
                    <a:pt x="290547" y="457603"/>
                  </a:lnTo>
                  <a:lnTo>
                    <a:pt x="344344" y="469273"/>
                  </a:lnTo>
                  <a:lnTo>
                    <a:pt x="401210" y="478611"/>
                  </a:lnTo>
                  <a:lnTo>
                    <a:pt x="460784" y="485466"/>
                  </a:lnTo>
                  <a:lnTo>
                    <a:pt x="522710" y="489689"/>
                  </a:lnTo>
                  <a:lnTo>
                    <a:pt x="586630" y="491130"/>
                  </a:lnTo>
                  <a:lnTo>
                    <a:pt x="650550" y="489689"/>
                  </a:lnTo>
                  <a:lnTo>
                    <a:pt x="712476" y="485466"/>
                  </a:lnTo>
                  <a:lnTo>
                    <a:pt x="772051" y="478611"/>
                  </a:lnTo>
                  <a:lnTo>
                    <a:pt x="828916" y="469273"/>
                  </a:lnTo>
                  <a:lnTo>
                    <a:pt x="882714" y="457603"/>
                  </a:lnTo>
                  <a:lnTo>
                    <a:pt x="933087" y="443750"/>
                  </a:lnTo>
                  <a:lnTo>
                    <a:pt x="979676" y="427864"/>
                  </a:lnTo>
                  <a:lnTo>
                    <a:pt x="1022125" y="410095"/>
                  </a:lnTo>
                  <a:lnTo>
                    <a:pt x="1060075" y="390592"/>
                  </a:lnTo>
                  <a:lnTo>
                    <a:pt x="1093169" y="369506"/>
                  </a:lnTo>
                  <a:lnTo>
                    <a:pt x="1143354" y="323183"/>
                  </a:lnTo>
                  <a:lnTo>
                    <a:pt x="1169819" y="272322"/>
                  </a:lnTo>
                  <a:lnTo>
                    <a:pt x="1173261" y="245565"/>
                  </a:lnTo>
                  <a:lnTo>
                    <a:pt x="1169819" y="218808"/>
                  </a:lnTo>
                  <a:lnTo>
                    <a:pt x="1143354" y="167948"/>
                  </a:lnTo>
                  <a:lnTo>
                    <a:pt x="1093169" y="121624"/>
                  </a:lnTo>
                  <a:lnTo>
                    <a:pt x="1060075" y="100538"/>
                  </a:lnTo>
                  <a:lnTo>
                    <a:pt x="1022125" y="81035"/>
                  </a:lnTo>
                  <a:lnTo>
                    <a:pt x="979676" y="63266"/>
                  </a:lnTo>
                  <a:lnTo>
                    <a:pt x="933087" y="47380"/>
                  </a:lnTo>
                  <a:lnTo>
                    <a:pt x="882714" y="33527"/>
                  </a:lnTo>
                  <a:lnTo>
                    <a:pt x="828916" y="21856"/>
                  </a:lnTo>
                  <a:lnTo>
                    <a:pt x="772051" y="12519"/>
                  </a:lnTo>
                  <a:lnTo>
                    <a:pt x="712476" y="5663"/>
                  </a:lnTo>
                  <a:lnTo>
                    <a:pt x="650550" y="1440"/>
                  </a:lnTo>
                  <a:lnTo>
                    <a:pt x="586630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545341" y="4551034"/>
              <a:ext cx="1173480" cy="491490"/>
            </a:xfrm>
            <a:custGeom>
              <a:avLst/>
              <a:gdLst/>
              <a:ahLst/>
              <a:cxnLst/>
              <a:rect l="l" t="t" r="r" b="b"/>
              <a:pathLst>
                <a:path w="1173479" h="491489">
                  <a:moveTo>
                    <a:pt x="0" y="245564"/>
                  </a:moveTo>
                  <a:lnTo>
                    <a:pt x="13530" y="192885"/>
                  </a:lnTo>
                  <a:lnTo>
                    <a:pt x="52213" y="144143"/>
                  </a:lnTo>
                  <a:lnTo>
                    <a:pt x="113185" y="100537"/>
                  </a:lnTo>
                  <a:lnTo>
                    <a:pt x="151135" y="81034"/>
                  </a:lnTo>
                  <a:lnTo>
                    <a:pt x="193584" y="63265"/>
                  </a:lnTo>
                  <a:lnTo>
                    <a:pt x="240174" y="47379"/>
                  </a:lnTo>
                  <a:lnTo>
                    <a:pt x="290547" y="33526"/>
                  </a:lnTo>
                  <a:lnTo>
                    <a:pt x="344344" y="21856"/>
                  </a:lnTo>
                  <a:lnTo>
                    <a:pt x="401210" y="12519"/>
                  </a:lnTo>
                  <a:lnTo>
                    <a:pt x="460784" y="5663"/>
                  </a:lnTo>
                  <a:lnTo>
                    <a:pt x="522711" y="1440"/>
                  </a:lnTo>
                  <a:lnTo>
                    <a:pt x="586630" y="0"/>
                  </a:lnTo>
                  <a:lnTo>
                    <a:pt x="650550" y="1440"/>
                  </a:lnTo>
                  <a:lnTo>
                    <a:pt x="712477" y="5663"/>
                  </a:lnTo>
                  <a:lnTo>
                    <a:pt x="772051" y="12519"/>
                  </a:lnTo>
                  <a:lnTo>
                    <a:pt x="828916" y="21856"/>
                  </a:lnTo>
                  <a:lnTo>
                    <a:pt x="882714" y="33526"/>
                  </a:lnTo>
                  <a:lnTo>
                    <a:pt x="933087" y="47379"/>
                  </a:lnTo>
                  <a:lnTo>
                    <a:pt x="979677" y="63265"/>
                  </a:lnTo>
                  <a:lnTo>
                    <a:pt x="1022126" y="81034"/>
                  </a:lnTo>
                  <a:lnTo>
                    <a:pt x="1060076" y="100537"/>
                  </a:lnTo>
                  <a:lnTo>
                    <a:pt x="1093169" y="121623"/>
                  </a:lnTo>
                  <a:lnTo>
                    <a:pt x="1143355" y="167947"/>
                  </a:lnTo>
                  <a:lnTo>
                    <a:pt x="1169819" y="218807"/>
                  </a:lnTo>
                  <a:lnTo>
                    <a:pt x="1173261" y="245564"/>
                  </a:lnTo>
                  <a:lnTo>
                    <a:pt x="1169819" y="272321"/>
                  </a:lnTo>
                  <a:lnTo>
                    <a:pt x="1143355" y="323182"/>
                  </a:lnTo>
                  <a:lnTo>
                    <a:pt x="1093169" y="369506"/>
                  </a:lnTo>
                  <a:lnTo>
                    <a:pt x="1060076" y="390592"/>
                  </a:lnTo>
                  <a:lnTo>
                    <a:pt x="1022126" y="410094"/>
                  </a:lnTo>
                  <a:lnTo>
                    <a:pt x="979677" y="427863"/>
                  </a:lnTo>
                  <a:lnTo>
                    <a:pt x="933087" y="443749"/>
                  </a:lnTo>
                  <a:lnTo>
                    <a:pt x="882714" y="457602"/>
                  </a:lnTo>
                  <a:lnTo>
                    <a:pt x="828916" y="469272"/>
                  </a:lnTo>
                  <a:lnTo>
                    <a:pt x="772051" y="478610"/>
                  </a:lnTo>
                  <a:lnTo>
                    <a:pt x="712477" y="485465"/>
                  </a:lnTo>
                  <a:lnTo>
                    <a:pt x="650550" y="489688"/>
                  </a:lnTo>
                  <a:lnTo>
                    <a:pt x="586630" y="491129"/>
                  </a:lnTo>
                  <a:lnTo>
                    <a:pt x="522711" y="489688"/>
                  </a:lnTo>
                  <a:lnTo>
                    <a:pt x="460784" y="485465"/>
                  </a:lnTo>
                  <a:lnTo>
                    <a:pt x="401210" y="478610"/>
                  </a:lnTo>
                  <a:lnTo>
                    <a:pt x="344344" y="469272"/>
                  </a:lnTo>
                  <a:lnTo>
                    <a:pt x="290547" y="457602"/>
                  </a:lnTo>
                  <a:lnTo>
                    <a:pt x="240174" y="443749"/>
                  </a:lnTo>
                  <a:lnTo>
                    <a:pt x="193584" y="427863"/>
                  </a:lnTo>
                  <a:lnTo>
                    <a:pt x="151135" y="410094"/>
                  </a:lnTo>
                  <a:lnTo>
                    <a:pt x="113185" y="390592"/>
                  </a:lnTo>
                  <a:lnTo>
                    <a:pt x="80092" y="369506"/>
                  </a:lnTo>
                  <a:lnTo>
                    <a:pt x="29906" y="323182"/>
                  </a:lnTo>
                  <a:lnTo>
                    <a:pt x="3442" y="272321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637963" y="5732331"/>
              <a:ext cx="783590" cy="7620"/>
            </a:xfrm>
            <a:custGeom>
              <a:avLst/>
              <a:gdLst/>
              <a:ahLst/>
              <a:cxnLst/>
              <a:rect l="l" t="t" r="r" b="b"/>
              <a:pathLst>
                <a:path w="783589" h="7620">
                  <a:moveTo>
                    <a:pt x="0" y="0"/>
                  </a:moveTo>
                  <a:lnTo>
                    <a:pt x="783398" y="7158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098980" y="5732330"/>
              <a:ext cx="762000" cy="7620"/>
            </a:xfrm>
            <a:custGeom>
              <a:avLst/>
              <a:gdLst/>
              <a:ahLst/>
              <a:cxnLst/>
              <a:rect l="l" t="t" r="r" b="b"/>
              <a:pathLst>
                <a:path w="762000" h="7620">
                  <a:moveTo>
                    <a:pt x="0" y="7158"/>
                  </a:moveTo>
                  <a:lnTo>
                    <a:pt x="761973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790844" y="5042158"/>
              <a:ext cx="713105" cy="412115"/>
            </a:xfrm>
            <a:custGeom>
              <a:avLst/>
              <a:gdLst/>
              <a:ahLst/>
              <a:cxnLst/>
              <a:rect l="l" t="t" r="r" b="b"/>
              <a:pathLst>
                <a:path w="713104" h="412114">
                  <a:moveTo>
                    <a:pt x="0" y="0"/>
                  </a:moveTo>
                  <a:lnTo>
                    <a:pt x="712635" y="411761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503479" y="5042165"/>
              <a:ext cx="628650" cy="412115"/>
            </a:xfrm>
            <a:custGeom>
              <a:avLst/>
              <a:gdLst/>
              <a:ahLst/>
              <a:cxnLst/>
              <a:rect l="l" t="t" r="r" b="b"/>
              <a:pathLst>
                <a:path w="628650" h="412114">
                  <a:moveTo>
                    <a:pt x="628492" y="0"/>
                  </a:moveTo>
                  <a:lnTo>
                    <a:pt x="0" y="411755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995439" y="5215652"/>
              <a:ext cx="669925" cy="238760"/>
            </a:xfrm>
            <a:custGeom>
              <a:avLst/>
              <a:gdLst/>
              <a:ahLst/>
              <a:cxnLst/>
              <a:rect l="l" t="t" r="r" b="b"/>
              <a:pathLst>
                <a:path w="669925" h="238760">
                  <a:moveTo>
                    <a:pt x="669331" y="0"/>
                  </a:moveTo>
                  <a:lnTo>
                    <a:pt x="0" y="238267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284218" y="5258055"/>
              <a:ext cx="711835" cy="196215"/>
            </a:xfrm>
            <a:custGeom>
              <a:avLst/>
              <a:gdLst/>
              <a:ahLst/>
              <a:cxnLst/>
              <a:rect l="l" t="t" r="r" b="b"/>
              <a:pathLst>
                <a:path w="711835" h="196214">
                  <a:moveTo>
                    <a:pt x="0" y="0"/>
                  </a:moveTo>
                  <a:lnTo>
                    <a:pt x="711220" y="195865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3608586" y="4885944"/>
            <a:ext cx="10725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description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764470" y="4645152"/>
            <a:ext cx="79565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address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910166" y="4999147"/>
            <a:ext cx="85725" cy="455295"/>
          </a:xfrm>
          <a:custGeom>
            <a:avLst/>
            <a:gdLst/>
            <a:ahLst/>
            <a:cxnLst/>
            <a:rect l="l" t="t" r="r" b="b"/>
            <a:pathLst>
              <a:path w="85725" h="455295">
                <a:moveTo>
                  <a:pt x="0" y="0"/>
                </a:moveTo>
                <a:lnTo>
                  <a:pt x="85272" y="454772"/>
                </a:lnTo>
              </a:path>
            </a:pathLst>
          </a:custGeom>
          <a:ln w="10159">
            <a:solidFill>
              <a:srgbClr val="3B3B4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6" name="object 36"/>
          <p:cNvGraphicFramePr>
            <a:graphicFrameLocks noGrp="1"/>
          </p:cNvGraphicFramePr>
          <p:nvPr/>
        </p:nvGraphicFramePr>
        <p:xfrm>
          <a:off x="920829" y="2359820"/>
          <a:ext cx="8146413" cy="13963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8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0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92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51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1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8615">
                <a:tc>
                  <a:txBody>
                    <a:bodyPr/>
                    <a:lstStyle/>
                    <a:p>
                      <a:pPr marR="68580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pid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B w="19050">
                      <a:solidFill>
                        <a:srgbClr val="93A299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485"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spc="-2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Beyblade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B w="19050">
                      <a:solidFill>
                        <a:srgbClr val="93A299"/>
                      </a:solidFill>
                      <a:prstDash val="sysDot"/>
                    </a:lnB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Dreamwork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93A299"/>
                      </a:solidFill>
                      <a:prstDash val="sysDot"/>
                    </a:lnT>
                    <a:lnB w="19050">
                      <a:solidFill>
                        <a:srgbClr val="93A299"/>
                      </a:solidFill>
                      <a:prstDash val="sysDot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075"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spc="-2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Trolls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93A299"/>
                      </a:solidFill>
                      <a:prstDash val="sysDot"/>
                    </a:lnT>
                    <a:lnB w="19050">
                      <a:solidFill>
                        <a:srgbClr val="93A299"/>
                      </a:solidFill>
                      <a:prstDash val="sysDot"/>
                    </a:lnB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Hashbro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953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93A299"/>
                      </a:solidFill>
                      <a:prstDash val="sysDot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R="162560"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894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894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894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93A299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Nyform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894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894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7" name="object 37"/>
          <p:cNvSpPr txBox="1"/>
          <p:nvPr/>
        </p:nvSpPr>
        <p:spPr>
          <a:xfrm>
            <a:off x="936000" y="2039111"/>
            <a:ext cx="858519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product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794589" y="2039111"/>
            <a:ext cx="101155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company</a:t>
            </a:r>
            <a:endParaRPr sz="1700">
              <a:latin typeface="Verdana"/>
              <a:cs typeface="Verdan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104131" y="2906407"/>
            <a:ext cx="1674495" cy="697865"/>
            <a:chOff x="4104131" y="2906407"/>
            <a:chExt cx="1674495" cy="697865"/>
          </a:xfrm>
        </p:grpSpPr>
        <p:sp>
          <p:nvSpPr>
            <p:cNvPr id="40" name="object 40"/>
            <p:cNvSpPr/>
            <p:nvPr/>
          </p:nvSpPr>
          <p:spPr>
            <a:xfrm>
              <a:off x="4110904" y="2927738"/>
              <a:ext cx="1634489" cy="349885"/>
            </a:xfrm>
            <a:custGeom>
              <a:avLst/>
              <a:gdLst/>
              <a:ahLst/>
              <a:cxnLst/>
              <a:rect l="l" t="t" r="r" b="b"/>
              <a:pathLst>
                <a:path w="1634489" h="349885">
                  <a:moveTo>
                    <a:pt x="0" y="0"/>
                  </a:moveTo>
                  <a:lnTo>
                    <a:pt x="1633946" y="349382"/>
                  </a:lnTo>
                </a:path>
              </a:pathLst>
            </a:custGeom>
            <a:ln w="13546">
              <a:solidFill>
                <a:srgbClr val="93A2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124295" y="2942295"/>
              <a:ext cx="1634489" cy="640715"/>
            </a:xfrm>
            <a:custGeom>
              <a:avLst/>
              <a:gdLst/>
              <a:ahLst/>
              <a:cxnLst/>
              <a:rect l="l" t="t" r="r" b="b"/>
              <a:pathLst>
                <a:path w="1634489" h="640714">
                  <a:moveTo>
                    <a:pt x="0" y="0"/>
                  </a:moveTo>
                  <a:lnTo>
                    <a:pt x="1633947" y="640535"/>
                  </a:lnTo>
                </a:path>
              </a:pathLst>
            </a:custGeom>
            <a:ln w="13546">
              <a:solidFill>
                <a:srgbClr val="93A2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124295" y="3306236"/>
              <a:ext cx="1647825" cy="291465"/>
            </a:xfrm>
            <a:custGeom>
              <a:avLst/>
              <a:gdLst/>
              <a:ahLst/>
              <a:cxnLst/>
              <a:rect l="l" t="t" r="r" b="b"/>
              <a:pathLst>
                <a:path w="1647825" h="291464">
                  <a:moveTo>
                    <a:pt x="0" y="0"/>
                  </a:moveTo>
                  <a:lnTo>
                    <a:pt x="1647341" y="291151"/>
                  </a:lnTo>
                </a:path>
              </a:pathLst>
            </a:custGeom>
            <a:ln w="13546">
              <a:solidFill>
                <a:srgbClr val="93A2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110904" y="2913180"/>
              <a:ext cx="1647825" cy="379095"/>
            </a:xfrm>
            <a:custGeom>
              <a:avLst/>
              <a:gdLst/>
              <a:ahLst/>
              <a:cxnLst/>
              <a:rect l="l" t="t" r="r" b="b"/>
              <a:pathLst>
                <a:path w="1647825" h="379095">
                  <a:moveTo>
                    <a:pt x="0" y="378497"/>
                  </a:moveTo>
                  <a:lnTo>
                    <a:pt x="1647340" y="0"/>
                  </a:lnTo>
                </a:path>
              </a:pathLst>
            </a:custGeom>
            <a:ln w="13546">
              <a:solidFill>
                <a:srgbClr val="93A2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62721" y="7009383"/>
            <a:ext cx="859726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Note: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instances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do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exist</a:t>
            </a:r>
            <a:r>
              <a:rPr sz="13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E-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R.</a:t>
            </a:r>
            <a:r>
              <a:rPr sz="13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These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tables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only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help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visualize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being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designed.</a:t>
            </a:r>
            <a:endParaRPr sz="1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1540">
              <a:lnSpc>
                <a:spcPct val="100000"/>
              </a:lnSpc>
              <a:spcBef>
                <a:spcPts val="100"/>
              </a:spcBef>
            </a:pPr>
            <a:r>
              <a:rPr sz="4100" spc="-125" dirty="0">
                <a:solidFill>
                  <a:srgbClr val="292934"/>
                </a:solidFill>
              </a:rPr>
              <a:t>Cardinality</a:t>
            </a:r>
            <a:r>
              <a:rPr sz="4100" spc="-260" dirty="0">
                <a:solidFill>
                  <a:srgbClr val="292934"/>
                </a:solidFill>
              </a:rPr>
              <a:t> </a:t>
            </a:r>
            <a:r>
              <a:rPr sz="4100" spc="-90" dirty="0">
                <a:solidFill>
                  <a:srgbClr val="292934"/>
                </a:solidFill>
              </a:rPr>
              <a:t>(or</a:t>
            </a:r>
            <a:r>
              <a:rPr sz="4100" spc="-260" dirty="0">
                <a:solidFill>
                  <a:srgbClr val="292934"/>
                </a:solidFill>
              </a:rPr>
              <a:t> </a:t>
            </a:r>
            <a:r>
              <a:rPr sz="4100" spc="-114" dirty="0">
                <a:solidFill>
                  <a:srgbClr val="292934"/>
                </a:solidFill>
              </a:rPr>
              <a:t>Multiplicity)</a:t>
            </a:r>
            <a:endParaRPr sz="4100"/>
          </a:p>
        </p:txBody>
      </p:sp>
      <p:grpSp>
        <p:nvGrpSpPr>
          <p:cNvPr id="3" name="object 3"/>
          <p:cNvGrpSpPr/>
          <p:nvPr/>
        </p:nvGrpSpPr>
        <p:grpSpPr>
          <a:xfrm>
            <a:off x="4802548" y="2553509"/>
            <a:ext cx="3223260" cy="688975"/>
            <a:chOff x="4802548" y="2553509"/>
            <a:chExt cx="3223260" cy="688975"/>
          </a:xfrm>
        </p:grpSpPr>
        <p:sp>
          <p:nvSpPr>
            <p:cNvPr id="4" name="object 4"/>
            <p:cNvSpPr/>
            <p:nvPr/>
          </p:nvSpPr>
          <p:spPr>
            <a:xfrm>
              <a:off x="5585970" y="2558589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6"/>
                  </a:lnTo>
                  <a:lnTo>
                    <a:pt x="838809" y="678534"/>
                  </a:lnTo>
                  <a:lnTo>
                    <a:pt x="1677619" y="339266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585970" y="2558589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802543" y="2838322"/>
              <a:ext cx="3223260" cy="106680"/>
            </a:xfrm>
            <a:custGeom>
              <a:avLst/>
              <a:gdLst/>
              <a:ahLst/>
              <a:cxnLst/>
              <a:rect l="l" t="t" r="r" b="b"/>
              <a:pathLst>
                <a:path w="3223259" h="106680">
                  <a:moveTo>
                    <a:pt x="783463" y="54457"/>
                  </a:moveTo>
                  <a:lnTo>
                    <a:pt x="28917" y="47561"/>
                  </a:lnTo>
                  <a:lnTo>
                    <a:pt x="29222" y="47396"/>
                  </a:lnTo>
                  <a:lnTo>
                    <a:pt x="96748" y="8826"/>
                  </a:lnTo>
                  <a:lnTo>
                    <a:pt x="97599" y="5715"/>
                  </a:lnTo>
                  <a:lnTo>
                    <a:pt x="94805" y="850"/>
                  </a:lnTo>
                  <a:lnTo>
                    <a:pt x="91706" y="0"/>
                  </a:lnTo>
                  <a:lnTo>
                    <a:pt x="0" y="52374"/>
                  </a:lnTo>
                  <a:lnTo>
                    <a:pt x="90728" y="106426"/>
                  </a:lnTo>
                  <a:lnTo>
                    <a:pt x="93853" y="105638"/>
                  </a:lnTo>
                  <a:lnTo>
                    <a:pt x="96723" y="100812"/>
                  </a:lnTo>
                  <a:lnTo>
                    <a:pt x="95935" y="97701"/>
                  </a:lnTo>
                  <a:lnTo>
                    <a:pt x="28829" y="57721"/>
                  </a:lnTo>
                  <a:lnTo>
                    <a:pt x="783374" y="64617"/>
                  </a:lnTo>
                  <a:lnTo>
                    <a:pt x="783463" y="54457"/>
                  </a:lnTo>
                  <a:close/>
                </a:path>
                <a:path w="3223259" h="106680">
                  <a:moveTo>
                    <a:pt x="3223031" y="52374"/>
                  </a:moveTo>
                  <a:lnTo>
                    <a:pt x="3214306" y="47396"/>
                  </a:lnTo>
                  <a:lnTo>
                    <a:pt x="3131312" y="25"/>
                  </a:lnTo>
                  <a:lnTo>
                    <a:pt x="3128213" y="876"/>
                  </a:lnTo>
                  <a:lnTo>
                    <a:pt x="3125432" y="5740"/>
                  </a:lnTo>
                  <a:lnTo>
                    <a:pt x="3126282" y="8851"/>
                  </a:lnTo>
                  <a:lnTo>
                    <a:pt x="3194113" y="47574"/>
                  </a:lnTo>
                  <a:lnTo>
                    <a:pt x="2460993" y="54457"/>
                  </a:lnTo>
                  <a:lnTo>
                    <a:pt x="2461082" y="64617"/>
                  </a:lnTo>
                  <a:lnTo>
                    <a:pt x="3194215" y="57734"/>
                  </a:lnTo>
                  <a:lnTo>
                    <a:pt x="3127108" y="97726"/>
                  </a:lnTo>
                  <a:lnTo>
                    <a:pt x="3126321" y="100838"/>
                  </a:lnTo>
                  <a:lnTo>
                    <a:pt x="3129191" y="105664"/>
                  </a:lnTo>
                  <a:lnTo>
                    <a:pt x="3132315" y="106451"/>
                  </a:lnTo>
                  <a:lnTo>
                    <a:pt x="3223031" y="52374"/>
                  </a:lnTo>
                  <a:close/>
                </a:path>
              </a:pathLst>
            </a:custGeom>
            <a:solidFill>
              <a:srgbClr val="3B3B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4802548" y="3539406"/>
            <a:ext cx="3228340" cy="688975"/>
            <a:chOff x="4802548" y="3539406"/>
            <a:chExt cx="3228340" cy="688975"/>
          </a:xfrm>
        </p:grpSpPr>
        <p:sp>
          <p:nvSpPr>
            <p:cNvPr id="8" name="object 8"/>
            <p:cNvSpPr/>
            <p:nvPr/>
          </p:nvSpPr>
          <p:spPr>
            <a:xfrm>
              <a:off x="5585970" y="3544486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6"/>
                  </a:lnTo>
                  <a:lnTo>
                    <a:pt x="838809" y="678533"/>
                  </a:lnTo>
                  <a:lnTo>
                    <a:pt x="1677619" y="339266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585970" y="3544486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02548" y="3824214"/>
              <a:ext cx="783590" cy="106680"/>
            </a:xfrm>
            <a:custGeom>
              <a:avLst/>
              <a:gdLst/>
              <a:ahLst/>
              <a:cxnLst/>
              <a:rect l="l" t="t" r="r" b="b"/>
              <a:pathLst>
                <a:path w="783589" h="106679">
                  <a:moveTo>
                    <a:pt x="91707" y="0"/>
                  </a:moveTo>
                  <a:lnTo>
                    <a:pt x="0" y="52379"/>
                  </a:lnTo>
                  <a:lnTo>
                    <a:pt x="90735" y="106425"/>
                  </a:lnTo>
                  <a:lnTo>
                    <a:pt x="93853" y="105636"/>
                  </a:lnTo>
                  <a:lnTo>
                    <a:pt x="96724" y="100815"/>
                  </a:lnTo>
                  <a:lnTo>
                    <a:pt x="95934" y="97697"/>
                  </a:lnTo>
                  <a:lnTo>
                    <a:pt x="28823" y="57722"/>
                  </a:lnTo>
                  <a:lnTo>
                    <a:pt x="10036" y="57551"/>
                  </a:lnTo>
                  <a:lnTo>
                    <a:pt x="10130" y="47391"/>
                  </a:lnTo>
                  <a:lnTo>
                    <a:pt x="29219" y="47391"/>
                  </a:lnTo>
                  <a:lnTo>
                    <a:pt x="96747" y="8822"/>
                  </a:lnTo>
                  <a:lnTo>
                    <a:pt x="97594" y="5720"/>
                  </a:lnTo>
                  <a:lnTo>
                    <a:pt x="94810" y="847"/>
                  </a:lnTo>
                  <a:lnTo>
                    <a:pt x="91707" y="0"/>
                  </a:lnTo>
                  <a:close/>
                </a:path>
                <a:path w="783589" h="106679">
                  <a:moveTo>
                    <a:pt x="28919" y="47562"/>
                  </a:moveTo>
                  <a:lnTo>
                    <a:pt x="20162" y="52564"/>
                  </a:lnTo>
                  <a:lnTo>
                    <a:pt x="28823" y="57722"/>
                  </a:lnTo>
                  <a:lnTo>
                    <a:pt x="783375" y="64617"/>
                  </a:lnTo>
                  <a:lnTo>
                    <a:pt x="783468" y="54457"/>
                  </a:lnTo>
                  <a:lnTo>
                    <a:pt x="28919" y="47562"/>
                  </a:lnTo>
                  <a:close/>
                </a:path>
                <a:path w="783589" h="106679">
                  <a:moveTo>
                    <a:pt x="10130" y="47391"/>
                  </a:moveTo>
                  <a:lnTo>
                    <a:pt x="10036" y="57551"/>
                  </a:lnTo>
                  <a:lnTo>
                    <a:pt x="28823" y="57722"/>
                  </a:lnTo>
                  <a:lnTo>
                    <a:pt x="27414" y="56883"/>
                  </a:lnTo>
                  <a:lnTo>
                    <a:pt x="12600" y="56883"/>
                  </a:lnTo>
                  <a:lnTo>
                    <a:pt x="12680" y="48107"/>
                  </a:lnTo>
                  <a:lnTo>
                    <a:pt x="27965" y="48107"/>
                  </a:lnTo>
                  <a:lnTo>
                    <a:pt x="28919" y="47562"/>
                  </a:lnTo>
                  <a:lnTo>
                    <a:pt x="10130" y="47391"/>
                  </a:lnTo>
                  <a:close/>
                </a:path>
                <a:path w="783589" h="106679">
                  <a:moveTo>
                    <a:pt x="12680" y="48107"/>
                  </a:moveTo>
                  <a:lnTo>
                    <a:pt x="12600" y="56883"/>
                  </a:lnTo>
                  <a:lnTo>
                    <a:pt x="20162" y="52564"/>
                  </a:lnTo>
                  <a:lnTo>
                    <a:pt x="12680" y="48107"/>
                  </a:lnTo>
                  <a:close/>
                </a:path>
                <a:path w="783589" h="106679">
                  <a:moveTo>
                    <a:pt x="20162" y="52564"/>
                  </a:moveTo>
                  <a:lnTo>
                    <a:pt x="12600" y="56883"/>
                  </a:lnTo>
                  <a:lnTo>
                    <a:pt x="27414" y="56883"/>
                  </a:lnTo>
                  <a:lnTo>
                    <a:pt x="20162" y="52564"/>
                  </a:lnTo>
                  <a:close/>
                </a:path>
                <a:path w="783589" h="106679">
                  <a:moveTo>
                    <a:pt x="27965" y="48107"/>
                  </a:moveTo>
                  <a:lnTo>
                    <a:pt x="12680" y="48107"/>
                  </a:lnTo>
                  <a:lnTo>
                    <a:pt x="20162" y="52564"/>
                  </a:lnTo>
                  <a:lnTo>
                    <a:pt x="27965" y="48107"/>
                  </a:lnTo>
                  <a:close/>
                </a:path>
                <a:path w="783589" h="106679">
                  <a:moveTo>
                    <a:pt x="29219" y="47391"/>
                  </a:moveTo>
                  <a:lnTo>
                    <a:pt x="10130" y="47391"/>
                  </a:lnTo>
                  <a:lnTo>
                    <a:pt x="28919" y="47562"/>
                  </a:lnTo>
                  <a:lnTo>
                    <a:pt x="29219" y="47391"/>
                  </a:lnTo>
                  <a:close/>
                </a:path>
              </a:pathLst>
            </a:custGeom>
            <a:solidFill>
              <a:srgbClr val="3B3B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63589" y="3876594"/>
              <a:ext cx="762000" cy="7620"/>
            </a:xfrm>
            <a:custGeom>
              <a:avLst/>
              <a:gdLst/>
              <a:ahLst/>
              <a:cxnLst/>
              <a:rect l="l" t="t" r="r" b="b"/>
              <a:pathLst>
                <a:path w="762000" h="7620">
                  <a:moveTo>
                    <a:pt x="0" y="7158"/>
                  </a:moveTo>
                  <a:lnTo>
                    <a:pt x="761973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4797490" y="4558507"/>
            <a:ext cx="3228340" cy="688975"/>
            <a:chOff x="4797490" y="4558507"/>
            <a:chExt cx="3228340" cy="688975"/>
          </a:xfrm>
        </p:grpSpPr>
        <p:sp>
          <p:nvSpPr>
            <p:cNvPr id="13" name="object 13"/>
            <p:cNvSpPr/>
            <p:nvPr/>
          </p:nvSpPr>
          <p:spPr>
            <a:xfrm>
              <a:off x="5585970" y="4563587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6"/>
                  </a:lnTo>
                  <a:lnTo>
                    <a:pt x="838809" y="678534"/>
                  </a:lnTo>
                  <a:lnTo>
                    <a:pt x="1677619" y="339266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585970" y="4563587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802570" y="4895696"/>
              <a:ext cx="783590" cy="7620"/>
            </a:xfrm>
            <a:custGeom>
              <a:avLst/>
              <a:gdLst/>
              <a:ahLst/>
              <a:cxnLst/>
              <a:rect l="l" t="t" r="r" b="b"/>
              <a:pathLst>
                <a:path w="783589" h="7620">
                  <a:moveTo>
                    <a:pt x="0" y="0"/>
                  </a:moveTo>
                  <a:lnTo>
                    <a:pt x="783398" y="7158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263541" y="4843340"/>
              <a:ext cx="762635" cy="106680"/>
            </a:xfrm>
            <a:custGeom>
              <a:avLst/>
              <a:gdLst/>
              <a:ahLst/>
              <a:cxnLst/>
              <a:rect l="l" t="t" r="r" b="b"/>
              <a:pathLst>
                <a:path w="762634" h="106679">
                  <a:moveTo>
                    <a:pt x="753311" y="47370"/>
                  </a:moveTo>
                  <a:lnTo>
                    <a:pt x="751911" y="47370"/>
                  </a:lnTo>
                  <a:lnTo>
                    <a:pt x="752006" y="57530"/>
                  </a:lnTo>
                  <a:lnTo>
                    <a:pt x="733220" y="57707"/>
                  </a:lnTo>
                  <a:lnTo>
                    <a:pt x="666121" y="97698"/>
                  </a:lnTo>
                  <a:lnTo>
                    <a:pt x="665331" y="100816"/>
                  </a:lnTo>
                  <a:lnTo>
                    <a:pt x="668204" y="105636"/>
                  </a:lnTo>
                  <a:lnTo>
                    <a:pt x="671323" y="106425"/>
                  </a:lnTo>
                  <a:lnTo>
                    <a:pt x="762044" y="52355"/>
                  </a:lnTo>
                  <a:lnTo>
                    <a:pt x="753311" y="47370"/>
                  </a:lnTo>
                  <a:close/>
                </a:path>
                <a:path w="762634" h="106679">
                  <a:moveTo>
                    <a:pt x="733125" y="47547"/>
                  </a:moveTo>
                  <a:lnTo>
                    <a:pt x="0" y="54434"/>
                  </a:lnTo>
                  <a:lnTo>
                    <a:pt x="95" y="64594"/>
                  </a:lnTo>
                  <a:lnTo>
                    <a:pt x="733220" y="57707"/>
                  </a:lnTo>
                  <a:lnTo>
                    <a:pt x="741881" y="52545"/>
                  </a:lnTo>
                  <a:lnTo>
                    <a:pt x="733125" y="47547"/>
                  </a:lnTo>
                  <a:close/>
                </a:path>
                <a:path w="762634" h="106679">
                  <a:moveTo>
                    <a:pt x="741881" y="52545"/>
                  </a:moveTo>
                  <a:lnTo>
                    <a:pt x="733220" y="57707"/>
                  </a:lnTo>
                  <a:lnTo>
                    <a:pt x="752006" y="57530"/>
                  </a:lnTo>
                  <a:lnTo>
                    <a:pt x="752000" y="56862"/>
                  </a:lnTo>
                  <a:lnTo>
                    <a:pt x="749444" y="56862"/>
                  </a:lnTo>
                  <a:lnTo>
                    <a:pt x="741881" y="52545"/>
                  </a:lnTo>
                  <a:close/>
                </a:path>
                <a:path w="762634" h="106679">
                  <a:moveTo>
                    <a:pt x="749362" y="48087"/>
                  </a:moveTo>
                  <a:lnTo>
                    <a:pt x="741881" y="52545"/>
                  </a:lnTo>
                  <a:lnTo>
                    <a:pt x="749444" y="56862"/>
                  </a:lnTo>
                  <a:lnTo>
                    <a:pt x="749362" y="48087"/>
                  </a:lnTo>
                  <a:close/>
                </a:path>
                <a:path w="762634" h="106679">
                  <a:moveTo>
                    <a:pt x="751917" y="48087"/>
                  </a:moveTo>
                  <a:lnTo>
                    <a:pt x="749362" y="48087"/>
                  </a:lnTo>
                  <a:lnTo>
                    <a:pt x="749444" y="56862"/>
                  </a:lnTo>
                  <a:lnTo>
                    <a:pt x="752000" y="56862"/>
                  </a:lnTo>
                  <a:lnTo>
                    <a:pt x="751917" y="48087"/>
                  </a:lnTo>
                  <a:close/>
                </a:path>
                <a:path w="762634" h="106679">
                  <a:moveTo>
                    <a:pt x="751911" y="47370"/>
                  </a:moveTo>
                  <a:lnTo>
                    <a:pt x="733125" y="47547"/>
                  </a:lnTo>
                  <a:lnTo>
                    <a:pt x="741881" y="52545"/>
                  </a:lnTo>
                  <a:lnTo>
                    <a:pt x="749362" y="48087"/>
                  </a:lnTo>
                  <a:lnTo>
                    <a:pt x="751917" y="48087"/>
                  </a:lnTo>
                  <a:lnTo>
                    <a:pt x="751911" y="47370"/>
                  </a:lnTo>
                  <a:close/>
                </a:path>
                <a:path w="762634" h="106679">
                  <a:moveTo>
                    <a:pt x="670322" y="0"/>
                  </a:moveTo>
                  <a:lnTo>
                    <a:pt x="667219" y="848"/>
                  </a:lnTo>
                  <a:lnTo>
                    <a:pt x="664438" y="5721"/>
                  </a:lnTo>
                  <a:lnTo>
                    <a:pt x="665285" y="8823"/>
                  </a:lnTo>
                  <a:lnTo>
                    <a:pt x="733125" y="47547"/>
                  </a:lnTo>
                  <a:lnTo>
                    <a:pt x="753311" y="47370"/>
                  </a:lnTo>
                  <a:lnTo>
                    <a:pt x="670322" y="0"/>
                  </a:lnTo>
                  <a:close/>
                </a:path>
              </a:pathLst>
            </a:custGeom>
            <a:solidFill>
              <a:srgbClr val="3B3B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4797490" y="5563734"/>
            <a:ext cx="3233420" cy="688975"/>
            <a:chOff x="4797490" y="5563734"/>
            <a:chExt cx="3233420" cy="688975"/>
          </a:xfrm>
        </p:grpSpPr>
        <p:sp>
          <p:nvSpPr>
            <p:cNvPr id="18" name="object 18"/>
            <p:cNvSpPr/>
            <p:nvPr/>
          </p:nvSpPr>
          <p:spPr>
            <a:xfrm>
              <a:off x="5585970" y="5568814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6"/>
                  </a:lnTo>
                  <a:lnTo>
                    <a:pt x="838809" y="678533"/>
                  </a:lnTo>
                  <a:lnTo>
                    <a:pt x="1677619" y="339266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585970" y="5568814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802570" y="5900922"/>
              <a:ext cx="783590" cy="7620"/>
            </a:xfrm>
            <a:custGeom>
              <a:avLst/>
              <a:gdLst/>
              <a:ahLst/>
              <a:cxnLst/>
              <a:rect l="l" t="t" r="r" b="b"/>
              <a:pathLst>
                <a:path w="783589" h="7620">
                  <a:moveTo>
                    <a:pt x="0" y="0"/>
                  </a:moveTo>
                  <a:lnTo>
                    <a:pt x="783398" y="7158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263589" y="5900923"/>
              <a:ext cx="762000" cy="7620"/>
            </a:xfrm>
            <a:custGeom>
              <a:avLst/>
              <a:gdLst/>
              <a:ahLst/>
              <a:cxnLst/>
              <a:rect l="l" t="t" r="r" b="b"/>
              <a:pathLst>
                <a:path w="762000" h="7620">
                  <a:moveTo>
                    <a:pt x="0" y="7158"/>
                  </a:moveTo>
                  <a:lnTo>
                    <a:pt x="761973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37815" y="1194815"/>
            <a:ext cx="9196705" cy="4851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5200"/>
              </a:lnSpc>
              <a:spcBef>
                <a:spcPts val="100"/>
              </a:spcBef>
            </a:pP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300" spc="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binary</a:t>
            </a:r>
            <a:r>
              <a:rPr sz="2300" spc="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relationship</a:t>
            </a:r>
            <a:r>
              <a:rPr sz="2300" spc="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3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connect</a:t>
            </a:r>
            <a:r>
              <a:rPr sz="23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any</a:t>
            </a:r>
            <a:r>
              <a:rPr sz="2300" spc="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member</a:t>
            </a:r>
            <a:r>
              <a:rPr sz="23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3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one</a:t>
            </a:r>
            <a:r>
              <a:rPr sz="2300" spc="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25" dirty="0">
                <a:solidFill>
                  <a:srgbClr val="292934"/>
                </a:solidFill>
                <a:latin typeface="Verdana"/>
                <a:cs typeface="Verdana"/>
              </a:rPr>
              <a:t>its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23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sets</a:t>
            </a:r>
            <a:r>
              <a:rPr sz="23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300" spc="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any</a:t>
            </a:r>
            <a:r>
              <a:rPr sz="23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number</a:t>
            </a:r>
            <a:r>
              <a:rPr sz="23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3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members</a:t>
            </a:r>
            <a:r>
              <a:rPr sz="23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3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other</a:t>
            </a:r>
            <a:r>
              <a:rPr sz="23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23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2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endParaRPr sz="23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2300">
              <a:latin typeface="Verdana"/>
              <a:cs typeface="Verdana"/>
            </a:endParaRPr>
          </a:p>
          <a:p>
            <a:pPr marL="1168400" indent="-194945">
              <a:lnSpc>
                <a:spcPct val="100000"/>
              </a:lnSpc>
              <a:buSzPct val="85714"/>
              <a:buFont typeface="Arial MT"/>
              <a:buChar char="•"/>
              <a:tabLst>
                <a:tab pos="1168400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One-to-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one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buClr>
                <a:srgbClr val="292934"/>
              </a:buClr>
              <a:buFont typeface="Arial MT"/>
              <a:buChar char="•"/>
            </a:pP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30"/>
              </a:spcBef>
              <a:buClr>
                <a:srgbClr val="292934"/>
              </a:buClr>
              <a:buFont typeface="Arial MT"/>
              <a:buChar char="•"/>
            </a:pPr>
            <a:endParaRPr sz="2100">
              <a:latin typeface="Verdana"/>
              <a:cs typeface="Verdana"/>
            </a:endParaRPr>
          </a:p>
          <a:p>
            <a:pPr marL="1168400" indent="-194945">
              <a:lnSpc>
                <a:spcPct val="100000"/>
              </a:lnSpc>
              <a:buSzPct val="85714"/>
              <a:buFont typeface="Arial MT"/>
              <a:buChar char="•"/>
              <a:tabLst>
                <a:tab pos="1168400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One-to-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many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buClr>
                <a:srgbClr val="292934"/>
              </a:buClr>
              <a:buFont typeface="Arial MT"/>
              <a:buChar char="•"/>
            </a:pP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90"/>
              </a:spcBef>
              <a:buClr>
                <a:srgbClr val="292934"/>
              </a:buClr>
              <a:buFont typeface="Arial MT"/>
              <a:buChar char="•"/>
            </a:pPr>
            <a:endParaRPr sz="2100">
              <a:latin typeface="Verdana"/>
              <a:cs typeface="Verdana"/>
            </a:endParaRPr>
          </a:p>
          <a:p>
            <a:pPr marL="1168400" indent="-194945">
              <a:lnSpc>
                <a:spcPct val="100000"/>
              </a:lnSpc>
              <a:buSzPct val="85714"/>
              <a:buFont typeface="Arial MT"/>
              <a:buChar char="•"/>
              <a:tabLst>
                <a:tab pos="1168400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Many-to-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one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buClr>
                <a:srgbClr val="292934"/>
              </a:buClr>
              <a:buFont typeface="Arial MT"/>
              <a:buChar char="•"/>
            </a:pP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95"/>
              </a:spcBef>
              <a:buClr>
                <a:srgbClr val="292934"/>
              </a:buClr>
              <a:buFont typeface="Arial MT"/>
              <a:buChar char="•"/>
            </a:pPr>
            <a:endParaRPr sz="2100">
              <a:latin typeface="Verdana"/>
              <a:cs typeface="Verdana"/>
            </a:endParaRPr>
          </a:p>
          <a:p>
            <a:pPr marL="1168400" indent="-194945">
              <a:lnSpc>
                <a:spcPct val="100000"/>
              </a:lnSpc>
              <a:buSzPct val="85714"/>
              <a:buFont typeface="Arial MT"/>
              <a:buChar char="•"/>
              <a:tabLst>
                <a:tab pos="1168400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Many-to-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many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9985">
              <a:lnSpc>
                <a:spcPct val="100000"/>
              </a:lnSpc>
              <a:spcBef>
                <a:spcPts val="100"/>
              </a:spcBef>
            </a:pPr>
            <a:r>
              <a:rPr spc="-145" dirty="0">
                <a:solidFill>
                  <a:srgbClr val="292934"/>
                </a:solidFill>
              </a:rPr>
              <a:t>Cardinality:</a:t>
            </a:r>
            <a:r>
              <a:rPr spc="-150" dirty="0">
                <a:solidFill>
                  <a:srgbClr val="292934"/>
                </a:solidFill>
              </a:rPr>
              <a:t> </a:t>
            </a:r>
            <a:r>
              <a:rPr spc="-135" dirty="0">
                <a:solidFill>
                  <a:srgbClr val="292934"/>
                </a:solidFill>
              </a:rPr>
              <a:t>One-</a:t>
            </a:r>
            <a:r>
              <a:rPr spc="-145" dirty="0">
                <a:solidFill>
                  <a:srgbClr val="292934"/>
                </a:solidFill>
              </a:rPr>
              <a:t>to-</a:t>
            </a:r>
            <a:r>
              <a:rPr spc="-25" dirty="0">
                <a:solidFill>
                  <a:srgbClr val="292934"/>
                </a:solidFill>
              </a:rPr>
              <a:t>One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20829" y="1601031"/>
          <a:ext cx="8146413" cy="13963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8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0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92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51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1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8615">
                <a:tc>
                  <a:txBody>
                    <a:bodyPr/>
                    <a:lstStyle/>
                    <a:p>
                      <a:pPr marR="68580"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5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pid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8894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5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8894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8894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5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8894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8894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spc="-2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Beyblade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Dreamwork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0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075"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spc="-2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Trolls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Hashbro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953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R="162560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Nyform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36000" y="1280159"/>
            <a:ext cx="587057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71085" algn="l"/>
              </a:tabLst>
            </a:pP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product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	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company</a:t>
            </a:r>
            <a:endParaRPr sz="17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129210" y="3604785"/>
            <a:ext cx="1295400" cy="567055"/>
            <a:chOff x="2129210" y="3604785"/>
            <a:chExt cx="1295400" cy="567055"/>
          </a:xfrm>
        </p:grpSpPr>
        <p:sp>
          <p:nvSpPr>
            <p:cNvPr id="6" name="object 6"/>
            <p:cNvSpPr/>
            <p:nvPr/>
          </p:nvSpPr>
          <p:spPr>
            <a:xfrm>
              <a:off x="2134290" y="3609865"/>
              <a:ext cx="1285240" cy="556895"/>
            </a:xfrm>
            <a:custGeom>
              <a:avLst/>
              <a:gdLst/>
              <a:ahLst/>
              <a:cxnLst/>
              <a:rect l="l" t="t" r="r" b="b"/>
              <a:pathLst>
                <a:path w="1285239" h="556895">
                  <a:moveTo>
                    <a:pt x="1285050" y="0"/>
                  </a:moveTo>
                  <a:lnTo>
                    <a:pt x="0" y="0"/>
                  </a:lnTo>
                  <a:lnTo>
                    <a:pt x="0" y="556820"/>
                  </a:lnTo>
                  <a:lnTo>
                    <a:pt x="1285050" y="556820"/>
                  </a:lnTo>
                  <a:lnTo>
                    <a:pt x="1285050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34290" y="3609865"/>
              <a:ext cx="1285240" cy="556895"/>
            </a:xfrm>
            <a:custGeom>
              <a:avLst/>
              <a:gdLst/>
              <a:ahLst/>
              <a:cxnLst/>
              <a:rect l="l" t="t" r="r" b="b"/>
              <a:pathLst>
                <a:path w="1285239" h="556895">
                  <a:moveTo>
                    <a:pt x="0" y="0"/>
                  </a:moveTo>
                  <a:lnTo>
                    <a:pt x="1285050" y="0"/>
                  </a:lnTo>
                  <a:lnTo>
                    <a:pt x="1285050" y="556820"/>
                  </a:lnTo>
                  <a:lnTo>
                    <a:pt x="0" y="556820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402589" y="3745991"/>
            <a:ext cx="74803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product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637252" y="3604785"/>
            <a:ext cx="1295400" cy="567055"/>
            <a:chOff x="6637252" y="3604785"/>
            <a:chExt cx="1295400" cy="567055"/>
          </a:xfrm>
        </p:grpSpPr>
        <p:sp>
          <p:nvSpPr>
            <p:cNvPr id="10" name="object 10"/>
            <p:cNvSpPr/>
            <p:nvPr/>
          </p:nvSpPr>
          <p:spPr>
            <a:xfrm>
              <a:off x="6642332" y="3609865"/>
              <a:ext cx="1285240" cy="556895"/>
            </a:xfrm>
            <a:custGeom>
              <a:avLst/>
              <a:gdLst/>
              <a:ahLst/>
              <a:cxnLst/>
              <a:rect l="l" t="t" r="r" b="b"/>
              <a:pathLst>
                <a:path w="1285240" h="556895">
                  <a:moveTo>
                    <a:pt x="1285050" y="0"/>
                  </a:moveTo>
                  <a:lnTo>
                    <a:pt x="0" y="0"/>
                  </a:lnTo>
                  <a:lnTo>
                    <a:pt x="0" y="556820"/>
                  </a:lnTo>
                  <a:lnTo>
                    <a:pt x="1285050" y="556820"/>
                  </a:lnTo>
                  <a:lnTo>
                    <a:pt x="1285050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642332" y="3609865"/>
              <a:ext cx="1285240" cy="556895"/>
            </a:xfrm>
            <a:custGeom>
              <a:avLst/>
              <a:gdLst/>
              <a:ahLst/>
              <a:cxnLst/>
              <a:rect l="l" t="t" r="r" b="b"/>
              <a:pathLst>
                <a:path w="1285240" h="556895">
                  <a:moveTo>
                    <a:pt x="0" y="0"/>
                  </a:moveTo>
                  <a:lnTo>
                    <a:pt x="1285050" y="0"/>
                  </a:lnTo>
                  <a:lnTo>
                    <a:pt x="1285050" y="556820"/>
                  </a:lnTo>
                  <a:lnTo>
                    <a:pt x="0" y="556820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832738" y="3745991"/>
            <a:ext cx="90424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company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197660" y="3551087"/>
            <a:ext cx="1687830" cy="688975"/>
            <a:chOff x="4197660" y="3551087"/>
            <a:chExt cx="1687830" cy="688975"/>
          </a:xfrm>
        </p:grpSpPr>
        <p:sp>
          <p:nvSpPr>
            <p:cNvPr id="14" name="object 14"/>
            <p:cNvSpPr/>
            <p:nvPr/>
          </p:nvSpPr>
          <p:spPr>
            <a:xfrm>
              <a:off x="4202740" y="3556167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7"/>
                  </a:lnTo>
                  <a:lnTo>
                    <a:pt x="838809" y="678534"/>
                  </a:lnTo>
                  <a:lnTo>
                    <a:pt x="1677619" y="339267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02740" y="3556167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709656" y="3752088"/>
            <a:ext cx="66357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makes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419318" y="3835898"/>
            <a:ext cx="5555615" cy="1270000"/>
            <a:chOff x="3419318" y="3835898"/>
            <a:chExt cx="5555615" cy="1270000"/>
          </a:xfrm>
        </p:grpSpPr>
        <p:sp>
          <p:nvSpPr>
            <p:cNvPr id="18" name="object 18"/>
            <p:cNvSpPr/>
            <p:nvPr/>
          </p:nvSpPr>
          <p:spPr>
            <a:xfrm>
              <a:off x="3419310" y="3835908"/>
              <a:ext cx="3223260" cy="106680"/>
            </a:xfrm>
            <a:custGeom>
              <a:avLst/>
              <a:gdLst/>
              <a:ahLst/>
              <a:cxnLst/>
              <a:rect l="l" t="t" r="r" b="b"/>
              <a:pathLst>
                <a:path w="3223259" h="106679">
                  <a:moveTo>
                    <a:pt x="783475" y="54457"/>
                  </a:moveTo>
                  <a:lnTo>
                    <a:pt x="28917" y="47561"/>
                  </a:lnTo>
                  <a:lnTo>
                    <a:pt x="29222" y="47383"/>
                  </a:lnTo>
                  <a:lnTo>
                    <a:pt x="96748" y="8813"/>
                  </a:lnTo>
                  <a:lnTo>
                    <a:pt x="97599" y="5715"/>
                  </a:lnTo>
                  <a:lnTo>
                    <a:pt x="94818" y="838"/>
                  </a:lnTo>
                  <a:lnTo>
                    <a:pt x="91706" y="0"/>
                  </a:lnTo>
                  <a:lnTo>
                    <a:pt x="0" y="52374"/>
                  </a:lnTo>
                  <a:lnTo>
                    <a:pt x="90741" y="106426"/>
                  </a:lnTo>
                  <a:lnTo>
                    <a:pt x="93853" y="105625"/>
                  </a:lnTo>
                  <a:lnTo>
                    <a:pt x="96723" y="100812"/>
                  </a:lnTo>
                  <a:lnTo>
                    <a:pt x="95935" y="97688"/>
                  </a:lnTo>
                  <a:lnTo>
                    <a:pt x="28829" y="57721"/>
                  </a:lnTo>
                  <a:lnTo>
                    <a:pt x="783374" y="64617"/>
                  </a:lnTo>
                  <a:lnTo>
                    <a:pt x="783475" y="54457"/>
                  </a:lnTo>
                  <a:close/>
                </a:path>
                <a:path w="3223259" h="106679">
                  <a:moveTo>
                    <a:pt x="3223044" y="52374"/>
                  </a:moveTo>
                  <a:lnTo>
                    <a:pt x="3214306" y="47383"/>
                  </a:lnTo>
                  <a:lnTo>
                    <a:pt x="3131324" y="12"/>
                  </a:lnTo>
                  <a:lnTo>
                    <a:pt x="3128213" y="863"/>
                  </a:lnTo>
                  <a:lnTo>
                    <a:pt x="3125432" y="5740"/>
                  </a:lnTo>
                  <a:lnTo>
                    <a:pt x="3126282" y="8839"/>
                  </a:lnTo>
                  <a:lnTo>
                    <a:pt x="3194126" y="47561"/>
                  </a:lnTo>
                  <a:lnTo>
                    <a:pt x="2460993" y="54457"/>
                  </a:lnTo>
                  <a:lnTo>
                    <a:pt x="2461095" y="64617"/>
                  </a:lnTo>
                  <a:lnTo>
                    <a:pt x="3194215" y="57721"/>
                  </a:lnTo>
                  <a:lnTo>
                    <a:pt x="3127121" y="97713"/>
                  </a:lnTo>
                  <a:lnTo>
                    <a:pt x="3126333" y="100838"/>
                  </a:lnTo>
                  <a:lnTo>
                    <a:pt x="3129203" y="105651"/>
                  </a:lnTo>
                  <a:lnTo>
                    <a:pt x="3132315" y="106438"/>
                  </a:lnTo>
                  <a:lnTo>
                    <a:pt x="3223044" y="52374"/>
                  </a:lnTo>
                  <a:close/>
                </a:path>
              </a:pathLst>
            </a:custGeom>
            <a:solidFill>
              <a:srgbClr val="3B3B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295716" y="3951456"/>
              <a:ext cx="2672080" cy="1147445"/>
            </a:xfrm>
            <a:custGeom>
              <a:avLst/>
              <a:gdLst/>
              <a:ahLst/>
              <a:cxnLst/>
              <a:rect l="l" t="t" r="r" b="b"/>
              <a:pathLst>
                <a:path w="2672079" h="1147445">
                  <a:moveTo>
                    <a:pt x="2552523" y="431213"/>
                  </a:moveTo>
                  <a:lnTo>
                    <a:pt x="119369" y="431213"/>
                  </a:lnTo>
                  <a:lnTo>
                    <a:pt x="72905" y="440594"/>
                  </a:lnTo>
                  <a:lnTo>
                    <a:pt x="34962" y="466176"/>
                  </a:lnTo>
                  <a:lnTo>
                    <a:pt x="9380" y="504119"/>
                  </a:lnTo>
                  <a:lnTo>
                    <a:pt x="0" y="550580"/>
                  </a:lnTo>
                  <a:lnTo>
                    <a:pt x="0" y="1028045"/>
                  </a:lnTo>
                  <a:lnTo>
                    <a:pt x="9380" y="1074510"/>
                  </a:lnTo>
                  <a:lnTo>
                    <a:pt x="34962" y="1112454"/>
                  </a:lnTo>
                  <a:lnTo>
                    <a:pt x="72905" y="1138036"/>
                  </a:lnTo>
                  <a:lnTo>
                    <a:pt x="119369" y="1147417"/>
                  </a:lnTo>
                  <a:lnTo>
                    <a:pt x="2552523" y="1147417"/>
                  </a:lnTo>
                  <a:lnTo>
                    <a:pt x="2598987" y="1138036"/>
                  </a:lnTo>
                  <a:lnTo>
                    <a:pt x="2636931" y="1112454"/>
                  </a:lnTo>
                  <a:lnTo>
                    <a:pt x="2662512" y="1074510"/>
                  </a:lnTo>
                  <a:lnTo>
                    <a:pt x="2671893" y="1028045"/>
                  </a:lnTo>
                  <a:lnTo>
                    <a:pt x="2671892" y="550580"/>
                  </a:lnTo>
                  <a:lnTo>
                    <a:pt x="2662512" y="504119"/>
                  </a:lnTo>
                  <a:lnTo>
                    <a:pt x="2636931" y="466176"/>
                  </a:lnTo>
                  <a:lnTo>
                    <a:pt x="2598987" y="440594"/>
                  </a:lnTo>
                  <a:lnTo>
                    <a:pt x="2552523" y="431213"/>
                  </a:lnTo>
                  <a:close/>
                </a:path>
                <a:path w="2672079" h="1147445">
                  <a:moveTo>
                    <a:pt x="275177" y="0"/>
                  </a:moveTo>
                  <a:lnTo>
                    <a:pt x="445315" y="431213"/>
                  </a:lnTo>
                  <a:lnTo>
                    <a:pt x="1113288" y="431213"/>
                  </a:lnTo>
                  <a:lnTo>
                    <a:pt x="275177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95716" y="3951457"/>
              <a:ext cx="2672080" cy="1147445"/>
            </a:xfrm>
            <a:custGeom>
              <a:avLst/>
              <a:gdLst/>
              <a:ahLst/>
              <a:cxnLst/>
              <a:rect l="l" t="t" r="r" b="b"/>
              <a:pathLst>
                <a:path w="2672079" h="1147445">
                  <a:moveTo>
                    <a:pt x="0" y="550583"/>
                  </a:moveTo>
                  <a:lnTo>
                    <a:pt x="9380" y="504118"/>
                  </a:lnTo>
                  <a:lnTo>
                    <a:pt x="34962" y="466175"/>
                  </a:lnTo>
                  <a:lnTo>
                    <a:pt x="72906" y="440593"/>
                  </a:lnTo>
                  <a:lnTo>
                    <a:pt x="119370" y="431212"/>
                  </a:lnTo>
                  <a:lnTo>
                    <a:pt x="445315" y="431212"/>
                  </a:lnTo>
                  <a:lnTo>
                    <a:pt x="275178" y="0"/>
                  </a:lnTo>
                  <a:lnTo>
                    <a:pt x="1113289" y="431212"/>
                  </a:lnTo>
                  <a:lnTo>
                    <a:pt x="2552523" y="431212"/>
                  </a:lnTo>
                  <a:lnTo>
                    <a:pt x="2598988" y="440593"/>
                  </a:lnTo>
                  <a:lnTo>
                    <a:pt x="2636931" y="466175"/>
                  </a:lnTo>
                  <a:lnTo>
                    <a:pt x="2662513" y="504118"/>
                  </a:lnTo>
                  <a:lnTo>
                    <a:pt x="2671894" y="550583"/>
                  </a:lnTo>
                  <a:lnTo>
                    <a:pt x="2671894" y="729630"/>
                  </a:lnTo>
                  <a:lnTo>
                    <a:pt x="2671894" y="1028045"/>
                  </a:lnTo>
                  <a:lnTo>
                    <a:pt x="2662513" y="1074509"/>
                  </a:lnTo>
                  <a:lnTo>
                    <a:pt x="2636931" y="1112453"/>
                  </a:lnTo>
                  <a:lnTo>
                    <a:pt x="2598988" y="1138035"/>
                  </a:lnTo>
                  <a:lnTo>
                    <a:pt x="2552523" y="1147416"/>
                  </a:lnTo>
                  <a:lnTo>
                    <a:pt x="1113289" y="1147416"/>
                  </a:lnTo>
                  <a:lnTo>
                    <a:pt x="445315" y="1147416"/>
                  </a:lnTo>
                  <a:lnTo>
                    <a:pt x="119370" y="1147416"/>
                  </a:lnTo>
                  <a:lnTo>
                    <a:pt x="72906" y="1138035"/>
                  </a:lnTo>
                  <a:lnTo>
                    <a:pt x="34962" y="1112453"/>
                  </a:lnTo>
                  <a:lnTo>
                    <a:pt x="9380" y="1074509"/>
                  </a:lnTo>
                  <a:lnTo>
                    <a:pt x="0" y="1028045"/>
                  </a:lnTo>
                  <a:lnTo>
                    <a:pt x="0" y="729630"/>
                  </a:lnTo>
                  <a:lnTo>
                    <a:pt x="0" y="550580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70739" y="5240528"/>
            <a:ext cx="7194550" cy="67818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 marR="5080">
              <a:lnSpc>
                <a:spcPct val="103800"/>
              </a:lnSpc>
              <a:spcBef>
                <a:spcPts val="5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product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made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at</a:t>
            </a:r>
            <a:r>
              <a:rPr sz="2100" spc="4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most</a:t>
            </a:r>
            <a:r>
              <a:rPr sz="2100" spc="4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one</a:t>
            </a:r>
            <a:r>
              <a:rPr sz="2100" spc="5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company.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1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company</a:t>
            </a:r>
            <a:r>
              <a:rPr sz="21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1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make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at</a:t>
            </a:r>
            <a:r>
              <a:rPr sz="2100" spc="5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most</a:t>
            </a:r>
            <a:r>
              <a:rPr sz="2100" spc="4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one</a:t>
            </a:r>
            <a:r>
              <a:rPr sz="2100" spc="5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product.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499669" y="4496816"/>
            <a:ext cx="2264410" cy="45847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76200" marR="5080" indent="-64135">
              <a:lnSpc>
                <a:spcPts val="1610"/>
              </a:lnSpc>
              <a:spcBef>
                <a:spcPts val="310"/>
              </a:spcBef>
            </a:pP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Arrow</a:t>
            </a:r>
            <a:r>
              <a:rPr sz="15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pointing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5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entity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sz="15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5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constrained</a:t>
            </a:r>
            <a:r>
              <a:rPr sz="15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5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Arial MT"/>
                <a:cs typeface="Arial MT"/>
              </a:rPr>
              <a:t>one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35549" y="4015696"/>
            <a:ext cx="2686050" cy="1052830"/>
            <a:chOff x="835549" y="4015696"/>
            <a:chExt cx="2686050" cy="1052830"/>
          </a:xfrm>
        </p:grpSpPr>
        <p:sp>
          <p:nvSpPr>
            <p:cNvPr id="24" name="object 24"/>
            <p:cNvSpPr/>
            <p:nvPr/>
          </p:nvSpPr>
          <p:spPr>
            <a:xfrm>
              <a:off x="842323" y="4022469"/>
              <a:ext cx="2672080" cy="1039494"/>
            </a:xfrm>
            <a:custGeom>
              <a:avLst/>
              <a:gdLst/>
              <a:ahLst/>
              <a:cxnLst/>
              <a:rect l="l" t="t" r="r" b="b"/>
              <a:pathLst>
                <a:path w="2672079" h="1039495">
                  <a:moveTo>
                    <a:pt x="2552523" y="322685"/>
                  </a:moveTo>
                  <a:lnTo>
                    <a:pt x="119370" y="322685"/>
                  </a:lnTo>
                  <a:lnTo>
                    <a:pt x="72906" y="332066"/>
                  </a:lnTo>
                  <a:lnTo>
                    <a:pt x="34962" y="357648"/>
                  </a:lnTo>
                  <a:lnTo>
                    <a:pt x="9380" y="395591"/>
                  </a:lnTo>
                  <a:lnTo>
                    <a:pt x="0" y="442052"/>
                  </a:lnTo>
                  <a:lnTo>
                    <a:pt x="0" y="919518"/>
                  </a:lnTo>
                  <a:lnTo>
                    <a:pt x="9380" y="965982"/>
                  </a:lnTo>
                  <a:lnTo>
                    <a:pt x="34962" y="1003926"/>
                  </a:lnTo>
                  <a:lnTo>
                    <a:pt x="72906" y="1029508"/>
                  </a:lnTo>
                  <a:lnTo>
                    <a:pt x="119370" y="1038889"/>
                  </a:lnTo>
                  <a:lnTo>
                    <a:pt x="2552523" y="1038889"/>
                  </a:lnTo>
                  <a:lnTo>
                    <a:pt x="2598987" y="1029508"/>
                  </a:lnTo>
                  <a:lnTo>
                    <a:pt x="2636931" y="1003926"/>
                  </a:lnTo>
                  <a:lnTo>
                    <a:pt x="2662513" y="965982"/>
                  </a:lnTo>
                  <a:lnTo>
                    <a:pt x="2671893" y="919518"/>
                  </a:lnTo>
                  <a:lnTo>
                    <a:pt x="2671893" y="442052"/>
                  </a:lnTo>
                  <a:lnTo>
                    <a:pt x="2662513" y="395591"/>
                  </a:lnTo>
                  <a:lnTo>
                    <a:pt x="2636931" y="357648"/>
                  </a:lnTo>
                  <a:lnTo>
                    <a:pt x="2598987" y="332066"/>
                  </a:lnTo>
                  <a:lnTo>
                    <a:pt x="2552523" y="322685"/>
                  </a:lnTo>
                  <a:close/>
                </a:path>
                <a:path w="2672079" h="1039495">
                  <a:moveTo>
                    <a:pt x="2642583" y="0"/>
                  </a:moveTo>
                  <a:lnTo>
                    <a:pt x="1558605" y="322685"/>
                  </a:lnTo>
                  <a:lnTo>
                    <a:pt x="2226578" y="322685"/>
                  </a:lnTo>
                  <a:lnTo>
                    <a:pt x="2642583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42323" y="4022469"/>
              <a:ext cx="2672080" cy="1039494"/>
            </a:xfrm>
            <a:custGeom>
              <a:avLst/>
              <a:gdLst/>
              <a:ahLst/>
              <a:cxnLst/>
              <a:rect l="l" t="t" r="r" b="b"/>
              <a:pathLst>
                <a:path w="2672079" h="1039495">
                  <a:moveTo>
                    <a:pt x="0" y="442056"/>
                  </a:moveTo>
                  <a:lnTo>
                    <a:pt x="9380" y="395591"/>
                  </a:lnTo>
                  <a:lnTo>
                    <a:pt x="34962" y="357648"/>
                  </a:lnTo>
                  <a:lnTo>
                    <a:pt x="72906" y="332066"/>
                  </a:lnTo>
                  <a:lnTo>
                    <a:pt x="119370" y="322685"/>
                  </a:lnTo>
                  <a:lnTo>
                    <a:pt x="1558604" y="322685"/>
                  </a:lnTo>
                  <a:lnTo>
                    <a:pt x="2642583" y="0"/>
                  </a:lnTo>
                  <a:lnTo>
                    <a:pt x="2226578" y="322685"/>
                  </a:lnTo>
                  <a:lnTo>
                    <a:pt x="2552523" y="322685"/>
                  </a:lnTo>
                  <a:lnTo>
                    <a:pt x="2598988" y="332066"/>
                  </a:lnTo>
                  <a:lnTo>
                    <a:pt x="2636931" y="357648"/>
                  </a:lnTo>
                  <a:lnTo>
                    <a:pt x="2662513" y="395591"/>
                  </a:lnTo>
                  <a:lnTo>
                    <a:pt x="2671894" y="442056"/>
                  </a:lnTo>
                  <a:lnTo>
                    <a:pt x="2671894" y="621103"/>
                  </a:lnTo>
                  <a:lnTo>
                    <a:pt x="2671894" y="919518"/>
                  </a:lnTo>
                  <a:lnTo>
                    <a:pt x="2662513" y="965982"/>
                  </a:lnTo>
                  <a:lnTo>
                    <a:pt x="2636931" y="1003926"/>
                  </a:lnTo>
                  <a:lnTo>
                    <a:pt x="2598988" y="1029508"/>
                  </a:lnTo>
                  <a:lnTo>
                    <a:pt x="2552523" y="1038889"/>
                  </a:lnTo>
                  <a:lnTo>
                    <a:pt x="2226578" y="1038889"/>
                  </a:lnTo>
                  <a:lnTo>
                    <a:pt x="1558604" y="1038889"/>
                  </a:lnTo>
                  <a:lnTo>
                    <a:pt x="119370" y="1038889"/>
                  </a:lnTo>
                  <a:lnTo>
                    <a:pt x="72906" y="1029508"/>
                  </a:lnTo>
                  <a:lnTo>
                    <a:pt x="34962" y="1003926"/>
                  </a:lnTo>
                  <a:lnTo>
                    <a:pt x="9380" y="965982"/>
                  </a:lnTo>
                  <a:lnTo>
                    <a:pt x="0" y="919518"/>
                  </a:lnTo>
                  <a:lnTo>
                    <a:pt x="0" y="621103"/>
                  </a:lnTo>
                  <a:lnTo>
                    <a:pt x="0" y="442053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046276" y="4460240"/>
            <a:ext cx="2264410" cy="45847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76200" marR="5080" indent="-64135">
              <a:lnSpc>
                <a:spcPts val="1610"/>
              </a:lnSpc>
              <a:spcBef>
                <a:spcPts val="310"/>
              </a:spcBef>
            </a:pP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Arrow</a:t>
            </a:r>
            <a:r>
              <a:rPr sz="15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pointing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5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entity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sz="15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5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constrained</a:t>
            </a:r>
            <a:r>
              <a:rPr sz="15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5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Arial MT"/>
                <a:cs typeface="Arial MT"/>
              </a:rPr>
              <a:t>one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27" name="object 2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7887" y="6092952"/>
            <a:ext cx="8808719" cy="746760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1227146" y="6070472"/>
            <a:ext cx="7621270" cy="475615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13970" algn="ctr">
              <a:lnSpc>
                <a:spcPct val="100000"/>
              </a:lnSpc>
              <a:spcBef>
                <a:spcPts val="595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“at</a:t>
            </a:r>
            <a:r>
              <a:rPr sz="2100" spc="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most</a:t>
            </a:r>
            <a:r>
              <a:rPr sz="2100" spc="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one”</a:t>
            </a:r>
            <a:r>
              <a:rPr sz="2100" spc="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2100" spc="10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Guarantee</a:t>
            </a:r>
            <a:r>
              <a:rPr sz="2100" spc="10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existence?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62721" y="7008497"/>
            <a:ext cx="8597265" cy="2260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Note: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instances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do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exist</a:t>
            </a:r>
            <a:r>
              <a:rPr sz="13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E-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R.</a:t>
            </a:r>
            <a:r>
              <a:rPr sz="13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These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tables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only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help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visualize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being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designed.</a:t>
            </a:r>
            <a:endParaRPr sz="1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CB25C-00B5-4A52-21D4-A6A5ABD20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9BE2A0-71FD-E0B4-0326-41F2703CBE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7815" y="1213103"/>
            <a:ext cx="9032875" cy="212365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  <a:latin typeface="HelveticaNeue" panose="02000503000000020004" pitchFamily="2" charset="0"/>
              </a:rPr>
              <a:t>each </a:t>
            </a:r>
            <a:r>
              <a:rPr lang="en-US" b="1" i="0" u="none" strike="noStrike" dirty="0">
                <a:effectLst/>
                <a:latin typeface="HelveticaNeue" panose="02000503000000020004" pitchFamily="2" charset="0"/>
              </a:rPr>
              <a:t>student</a:t>
            </a:r>
            <a:r>
              <a:rPr lang="en-US" b="0" i="0" u="none" strike="noStrike" dirty="0">
                <a:effectLst/>
                <a:latin typeface="HelveticaNeue" panose="02000503000000020004" pitchFamily="2" charset="0"/>
              </a:rPr>
              <a:t> has one </a:t>
            </a:r>
            <a:r>
              <a:rPr lang="en-US" b="1" i="0" u="none" strike="noStrike" dirty="0">
                <a:effectLst/>
                <a:latin typeface="HelveticaNeue" panose="02000503000000020004" pitchFamily="2" charset="0"/>
              </a:rPr>
              <a:t>backpack</a:t>
            </a:r>
            <a:r>
              <a:rPr lang="en-US" b="0" i="0" u="none" strike="noStrike" dirty="0">
                <a:effectLst/>
                <a:latin typeface="HelveticaNeue" panose="02000503000000020004" pitchFamily="2" charset="0"/>
              </a:rPr>
              <a:t>, and that each </a:t>
            </a:r>
            <a:r>
              <a:rPr lang="en-US" b="1" i="0" u="none" strike="noStrike" dirty="0">
                <a:effectLst/>
                <a:latin typeface="HelveticaNeue" panose="02000503000000020004" pitchFamily="2" charset="0"/>
              </a:rPr>
              <a:t>backpack</a:t>
            </a:r>
            <a:r>
              <a:rPr lang="en-US" b="0" i="0" u="none" strike="noStrike" dirty="0">
                <a:effectLst/>
                <a:latin typeface="HelveticaNeue" panose="02000503000000020004" pitchFamily="2" charset="0"/>
              </a:rPr>
              <a:t> belongs to one </a:t>
            </a:r>
            <a:r>
              <a:rPr lang="en-US" b="1" i="0" u="none" strike="noStrike" dirty="0">
                <a:effectLst/>
                <a:latin typeface="HelveticaNeue" panose="02000503000000020004" pitchFamily="2" charset="0"/>
              </a:rPr>
              <a:t>student</a:t>
            </a:r>
            <a:r>
              <a:rPr lang="en-US" b="0" i="0" u="none" strike="noStrike" dirty="0">
                <a:effectLst/>
                <a:latin typeface="HelveticaNeue" panose="02000503000000020004" pitchFamily="2" charset="0"/>
              </a:rPr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  <a:latin typeface="HelveticaNeue" panose="02000503000000020004" pitchFamily="2" charset="0"/>
              </a:rPr>
              <a:t>One person has one passport, and the passport can only be used by one person.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  <a:latin typeface="HelveticaNeue" panose="02000503000000020004" pitchFamily="2" charset="0"/>
              </a:rPr>
              <a:t>One family lives in one house, and the house contains one family.</a:t>
            </a:r>
            <a:endParaRPr lang="en-US" dirty="0">
              <a:latin typeface="HelveticaNeue" panose="02000503000000020004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  <a:latin typeface="HelveticaNeue" panose="02000503000000020004" pitchFamily="2" charset="0"/>
              </a:rPr>
              <a:t>One person owns one car, and the car is owned by one person.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9005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3769">
              <a:lnSpc>
                <a:spcPct val="100000"/>
              </a:lnSpc>
              <a:spcBef>
                <a:spcPts val="100"/>
              </a:spcBef>
            </a:pPr>
            <a:r>
              <a:rPr spc="-145" dirty="0">
                <a:solidFill>
                  <a:srgbClr val="292934"/>
                </a:solidFill>
              </a:rPr>
              <a:t>Cardinality:</a:t>
            </a:r>
            <a:r>
              <a:rPr spc="-150" dirty="0">
                <a:solidFill>
                  <a:srgbClr val="292934"/>
                </a:solidFill>
              </a:rPr>
              <a:t> </a:t>
            </a:r>
            <a:r>
              <a:rPr spc="-135" dirty="0">
                <a:solidFill>
                  <a:srgbClr val="292934"/>
                </a:solidFill>
              </a:rPr>
              <a:t>One-</a:t>
            </a:r>
            <a:r>
              <a:rPr spc="-145" dirty="0">
                <a:solidFill>
                  <a:srgbClr val="292934"/>
                </a:solidFill>
              </a:rPr>
              <a:t>to-</a:t>
            </a:r>
            <a:r>
              <a:rPr spc="-20" dirty="0">
                <a:solidFill>
                  <a:srgbClr val="292934"/>
                </a:solidFill>
              </a:rPr>
              <a:t>Many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20829" y="1596837"/>
          <a:ext cx="8146413" cy="1396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8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0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92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51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1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8615">
                <a:tc>
                  <a:txBody>
                    <a:bodyPr/>
                    <a:lstStyle/>
                    <a:p>
                      <a:pPr marR="6858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pid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2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Beyblade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Dreamwork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0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marR="142875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2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Trolls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Hashbro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R="16256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Nyform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36000" y="1277111"/>
            <a:ext cx="587057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71085" algn="l"/>
              </a:tabLst>
            </a:pP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product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	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company</a:t>
            </a:r>
            <a:endParaRPr sz="17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104131" y="2143424"/>
            <a:ext cx="1661160" cy="683260"/>
            <a:chOff x="4104131" y="2143424"/>
            <a:chExt cx="1661160" cy="683260"/>
          </a:xfrm>
        </p:grpSpPr>
        <p:sp>
          <p:nvSpPr>
            <p:cNvPr id="6" name="object 6"/>
            <p:cNvSpPr/>
            <p:nvPr/>
          </p:nvSpPr>
          <p:spPr>
            <a:xfrm>
              <a:off x="4110904" y="2150197"/>
              <a:ext cx="1634489" cy="349885"/>
            </a:xfrm>
            <a:custGeom>
              <a:avLst/>
              <a:gdLst/>
              <a:ahLst/>
              <a:cxnLst/>
              <a:rect l="l" t="t" r="r" b="b"/>
              <a:pathLst>
                <a:path w="1634489" h="349885">
                  <a:moveTo>
                    <a:pt x="0" y="0"/>
                  </a:moveTo>
                  <a:lnTo>
                    <a:pt x="1633947" y="349382"/>
                  </a:lnTo>
                </a:path>
              </a:pathLst>
            </a:custGeom>
            <a:ln w="13546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124295" y="2179312"/>
              <a:ext cx="1634489" cy="640715"/>
            </a:xfrm>
            <a:custGeom>
              <a:avLst/>
              <a:gdLst/>
              <a:ahLst/>
              <a:cxnLst/>
              <a:rect l="l" t="t" r="r" b="b"/>
              <a:pathLst>
                <a:path w="1634489" h="640714">
                  <a:moveTo>
                    <a:pt x="0" y="0"/>
                  </a:moveTo>
                  <a:lnTo>
                    <a:pt x="1633948" y="640535"/>
                  </a:lnTo>
                </a:path>
              </a:pathLst>
            </a:custGeom>
            <a:ln w="13546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2129210" y="3581824"/>
            <a:ext cx="1295400" cy="567055"/>
            <a:chOff x="2129210" y="3581824"/>
            <a:chExt cx="1295400" cy="567055"/>
          </a:xfrm>
        </p:grpSpPr>
        <p:sp>
          <p:nvSpPr>
            <p:cNvPr id="9" name="object 9"/>
            <p:cNvSpPr/>
            <p:nvPr/>
          </p:nvSpPr>
          <p:spPr>
            <a:xfrm>
              <a:off x="2134290" y="3586904"/>
              <a:ext cx="1285240" cy="556895"/>
            </a:xfrm>
            <a:custGeom>
              <a:avLst/>
              <a:gdLst/>
              <a:ahLst/>
              <a:cxnLst/>
              <a:rect l="l" t="t" r="r" b="b"/>
              <a:pathLst>
                <a:path w="1285239" h="556895">
                  <a:moveTo>
                    <a:pt x="1285050" y="0"/>
                  </a:moveTo>
                  <a:lnTo>
                    <a:pt x="0" y="0"/>
                  </a:lnTo>
                  <a:lnTo>
                    <a:pt x="0" y="556820"/>
                  </a:lnTo>
                  <a:lnTo>
                    <a:pt x="1285050" y="556820"/>
                  </a:lnTo>
                  <a:lnTo>
                    <a:pt x="1285050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134290" y="3586904"/>
              <a:ext cx="1285240" cy="556895"/>
            </a:xfrm>
            <a:custGeom>
              <a:avLst/>
              <a:gdLst/>
              <a:ahLst/>
              <a:cxnLst/>
              <a:rect l="l" t="t" r="r" b="b"/>
              <a:pathLst>
                <a:path w="1285239" h="556895">
                  <a:moveTo>
                    <a:pt x="0" y="0"/>
                  </a:moveTo>
                  <a:lnTo>
                    <a:pt x="1285050" y="0"/>
                  </a:lnTo>
                  <a:lnTo>
                    <a:pt x="1285050" y="556820"/>
                  </a:lnTo>
                  <a:lnTo>
                    <a:pt x="0" y="556820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402589" y="3721608"/>
            <a:ext cx="74803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product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42332" y="3586904"/>
            <a:ext cx="1285240" cy="556895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147320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116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company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197660" y="3528126"/>
            <a:ext cx="1687830" cy="688975"/>
            <a:chOff x="4197660" y="3528126"/>
            <a:chExt cx="1687830" cy="688975"/>
          </a:xfrm>
        </p:grpSpPr>
        <p:sp>
          <p:nvSpPr>
            <p:cNvPr id="14" name="object 14"/>
            <p:cNvSpPr/>
            <p:nvPr/>
          </p:nvSpPr>
          <p:spPr>
            <a:xfrm>
              <a:off x="4202740" y="3533206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6"/>
                  </a:lnTo>
                  <a:lnTo>
                    <a:pt x="838809" y="678533"/>
                  </a:lnTo>
                  <a:lnTo>
                    <a:pt x="1677619" y="339266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02740" y="3533206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709656" y="3727703"/>
            <a:ext cx="66357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makes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87802" y="3812935"/>
            <a:ext cx="5760085" cy="1255395"/>
            <a:chOff x="887802" y="3812935"/>
            <a:chExt cx="5760085" cy="1255395"/>
          </a:xfrm>
        </p:grpSpPr>
        <p:sp>
          <p:nvSpPr>
            <p:cNvPr id="18" name="object 18"/>
            <p:cNvSpPr/>
            <p:nvPr/>
          </p:nvSpPr>
          <p:spPr>
            <a:xfrm>
              <a:off x="3419318" y="3812935"/>
              <a:ext cx="783590" cy="106680"/>
            </a:xfrm>
            <a:custGeom>
              <a:avLst/>
              <a:gdLst/>
              <a:ahLst/>
              <a:cxnLst/>
              <a:rect l="l" t="t" r="r" b="b"/>
              <a:pathLst>
                <a:path w="783589" h="106679">
                  <a:moveTo>
                    <a:pt x="91707" y="0"/>
                  </a:moveTo>
                  <a:lnTo>
                    <a:pt x="0" y="52379"/>
                  </a:lnTo>
                  <a:lnTo>
                    <a:pt x="90735" y="106425"/>
                  </a:lnTo>
                  <a:lnTo>
                    <a:pt x="93852" y="105636"/>
                  </a:lnTo>
                  <a:lnTo>
                    <a:pt x="96724" y="100815"/>
                  </a:lnTo>
                  <a:lnTo>
                    <a:pt x="95934" y="97697"/>
                  </a:lnTo>
                  <a:lnTo>
                    <a:pt x="28823" y="57722"/>
                  </a:lnTo>
                  <a:lnTo>
                    <a:pt x="10036" y="57551"/>
                  </a:lnTo>
                  <a:lnTo>
                    <a:pt x="10129" y="47391"/>
                  </a:lnTo>
                  <a:lnTo>
                    <a:pt x="29219" y="47391"/>
                  </a:lnTo>
                  <a:lnTo>
                    <a:pt x="96746" y="8822"/>
                  </a:lnTo>
                  <a:lnTo>
                    <a:pt x="97593" y="5720"/>
                  </a:lnTo>
                  <a:lnTo>
                    <a:pt x="94810" y="847"/>
                  </a:lnTo>
                  <a:lnTo>
                    <a:pt x="91707" y="0"/>
                  </a:lnTo>
                  <a:close/>
                </a:path>
                <a:path w="783589" h="106679">
                  <a:moveTo>
                    <a:pt x="28918" y="47563"/>
                  </a:moveTo>
                  <a:lnTo>
                    <a:pt x="20162" y="52564"/>
                  </a:lnTo>
                  <a:lnTo>
                    <a:pt x="28823" y="57722"/>
                  </a:lnTo>
                  <a:lnTo>
                    <a:pt x="783375" y="64617"/>
                  </a:lnTo>
                  <a:lnTo>
                    <a:pt x="783468" y="54458"/>
                  </a:lnTo>
                  <a:lnTo>
                    <a:pt x="28918" y="47563"/>
                  </a:lnTo>
                  <a:close/>
                </a:path>
                <a:path w="783589" h="106679">
                  <a:moveTo>
                    <a:pt x="10129" y="47391"/>
                  </a:moveTo>
                  <a:lnTo>
                    <a:pt x="10036" y="57551"/>
                  </a:lnTo>
                  <a:lnTo>
                    <a:pt x="28823" y="57722"/>
                  </a:lnTo>
                  <a:lnTo>
                    <a:pt x="27414" y="56883"/>
                  </a:lnTo>
                  <a:lnTo>
                    <a:pt x="12600" y="56883"/>
                  </a:lnTo>
                  <a:lnTo>
                    <a:pt x="12680" y="48107"/>
                  </a:lnTo>
                  <a:lnTo>
                    <a:pt x="27965" y="48107"/>
                  </a:lnTo>
                  <a:lnTo>
                    <a:pt x="28918" y="47563"/>
                  </a:lnTo>
                  <a:lnTo>
                    <a:pt x="10129" y="47391"/>
                  </a:lnTo>
                  <a:close/>
                </a:path>
                <a:path w="783589" h="106679">
                  <a:moveTo>
                    <a:pt x="12680" y="48107"/>
                  </a:moveTo>
                  <a:lnTo>
                    <a:pt x="12600" y="56883"/>
                  </a:lnTo>
                  <a:lnTo>
                    <a:pt x="20162" y="52564"/>
                  </a:lnTo>
                  <a:lnTo>
                    <a:pt x="12680" y="48107"/>
                  </a:lnTo>
                  <a:close/>
                </a:path>
                <a:path w="783589" h="106679">
                  <a:moveTo>
                    <a:pt x="20162" y="52564"/>
                  </a:moveTo>
                  <a:lnTo>
                    <a:pt x="12600" y="56883"/>
                  </a:lnTo>
                  <a:lnTo>
                    <a:pt x="27414" y="56883"/>
                  </a:lnTo>
                  <a:lnTo>
                    <a:pt x="20162" y="52564"/>
                  </a:lnTo>
                  <a:close/>
                </a:path>
                <a:path w="783589" h="106679">
                  <a:moveTo>
                    <a:pt x="27965" y="48107"/>
                  </a:moveTo>
                  <a:lnTo>
                    <a:pt x="12680" y="48107"/>
                  </a:lnTo>
                  <a:lnTo>
                    <a:pt x="20162" y="52564"/>
                  </a:lnTo>
                  <a:lnTo>
                    <a:pt x="27965" y="48107"/>
                  </a:lnTo>
                  <a:close/>
                </a:path>
                <a:path w="783589" h="106679">
                  <a:moveTo>
                    <a:pt x="29219" y="47391"/>
                  </a:moveTo>
                  <a:lnTo>
                    <a:pt x="10129" y="47391"/>
                  </a:lnTo>
                  <a:lnTo>
                    <a:pt x="28918" y="47563"/>
                  </a:lnTo>
                  <a:lnTo>
                    <a:pt x="29219" y="47391"/>
                  </a:lnTo>
                  <a:close/>
                </a:path>
              </a:pathLst>
            </a:custGeom>
            <a:solidFill>
              <a:srgbClr val="3B3B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880359" y="3865315"/>
              <a:ext cx="762000" cy="7620"/>
            </a:xfrm>
            <a:custGeom>
              <a:avLst/>
              <a:gdLst/>
              <a:ahLst/>
              <a:cxnLst/>
              <a:rect l="l" t="t" r="r" b="b"/>
              <a:pathLst>
                <a:path w="762000" h="7620">
                  <a:moveTo>
                    <a:pt x="0" y="7158"/>
                  </a:moveTo>
                  <a:lnTo>
                    <a:pt x="761973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94575" y="4022463"/>
              <a:ext cx="2672080" cy="1039494"/>
            </a:xfrm>
            <a:custGeom>
              <a:avLst/>
              <a:gdLst/>
              <a:ahLst/>
              <a:cxnLst/>
              <a:rect l="l" t="t" r="r" b="b"/>
              <a:pathLst>
                <a:path w="2672079" h="1039495">
                  <a:moveTo>
                    <a:pt x="2552524" y="322685"/>
                  </a:moveTo>
                  <a:lnTo>
                    <a:pt x="119370" y="322685"/>
                  </a:lnTo>
                  <a:lnTo>
                    <a:pt x="72906" y="332066"/>
                  </a:lnTo>
                  <a:lnTo>
                    <a:pt x="34962" y="357648"/>
                  </a:lnTo>
                  <a:lnTo>
                    <a:pt x="9380" y="395591"/>
                  </a:lnTo>
                  <a:lnTo>
                    <a:pt x="0" y="442052"/>
                  </a:lnTo>
                  <a:lnTo>
                    <a:pt x="0" y="919518"/>
                  </a:lnTo>
                  <a:lnTo>
                    <a:pt x="9380" y="965982"/>
                  </a:lnTo>
                  <a:lnTo>
                    <a:pt x="34962" y="1003926"/>
                  </a:lnTo>
                  <a:lnTo>
                    <a:pt x="72906" y="1029508"/>
                  </a:lnTo>
                  <a:lnTo>
                    <a:pt x="119370" y="1038889"/>
                  </a:lnTo>
                  <a:lnTo>
                    <a:pt x="2552524" y="1038889"/>
                  </a:lnTo>
                  <a:lnTo>
                    <a:pt x="2598988" y="1029508"/>
                  </a:lnTo>
                  <a:lnTo>
                    <a:pt x="2636931" y="1003926"/>
                  </a:lnTo>
                  <a:lnTo>
                    <a:pt x="2662513" y="965982"/>
                  </a:lnTo>
                  <a:lnTo>
                    <a:pt x="2671893" y="919518"/>
                  </a:lnTo>
                  <a:lnTo>
                    <a:pt x="2671893" y="442052"/>
                  </a:lnTo>
                  <a:lnTo>
                    <a:pt x="2662513" y="395591"/>
                  </a:lnTo>
                  <a:lnTo>
                    <a:pt x="2636931" y="357648"/>
                  </a:lnTo>
                  <a:lnTo>
                    <a:pt x="2598988" y="332066"/>
                  </a:lnTo>
                  <a:lnTo>
                    <a:pt x="2552524" y="322685"/>
                  </a:lnTo>
                  <a:close/>
                </a:path>
                <a:path w="2672079" h="1039495">
                  <a:moveTo>
                    <a:pt x="2642583" y="0"/>
                  </a:moveTo>
                  <a:lnTo>
                    <a:pt x="1558605" y="322685"/>
                  </a:lnTo>
                  <a:lnTo>
                    <a:pt x="2226578" y="322685"/>
                  </a:lnTo>
                  <a:lnTo>
                    <a:pt x="2642583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94575" y="4022463"/>
              <a:ext cx="2672080" cy="1039494"/>
            </a:xfrm>
            <a:custGeom>
              <a:avLst/>
              <a:gdLst/>
              <a:ahLst/>
              <a:cxnLst/>
              <a:rect l="l" t="t" r="r" b="b"/>
              <a:pathLst>
                <a:path w="2672079" h="1039495">
                  <a:moveTo>
                    <a:pt x="0" y="442056"/>
                  </a:moveTo>
                  <a:lnTo>
                    <a:pt x="9380" y="395591"/>
                  </a:lnTo>
                  <a:lnTo>
                    <a:pt x="34962" y="357648"/>
                  </a:lnTo>
                  <a:lnTo>
                    <a:pt x="72906" y="332066"/>
                  </a:lnTo>
                  <a:lnTo>
                    <a:pt x="119370" y="322685"/>
                  </a:lnTo>
                  <a:lnTo>
                    <a:pt x="1558604" y="322685"/>
                  </a:lnTo>
                  <a:lnTo>
                    <a:pt x="2642583" y="0"/>
                  </a:lnTo>
                  <a:lnTo>
                    <a:pt x="2226578" y="322685"/>
                  </a:lnTo>
                  <a:lnTo>
                    <a:pt x="2552523" y="322685"/>
                  </a:lnTo>
                  <a:lnTo>
                    <a:pt x="2598988" y="332066"/>
                  </a:lnTo>
                  <a:lnTo>
                    <a:pt x="2636931" y="357648"/>
                  </a:lnTo>
                  <a:lnTo>
                    <a:pt x="2662513" y="395591"/>
                  </a:lnTo>
                  <a:lnTo>
                    <a:pt x="2671894" y="442056"/>
                  </a:lnTo>
                  <a:lnTo>
                    <a:pt x="2671894" y="621103"/>
                  </a:lnTo>
                  <a:lnTo>
                    <a:pt x="2671894" y="919518"/>
                  </a:lnTo>
                  <a:lnTo>
                    <a:pt x="2662513" y="965982"/>
                  </a:lnTo>
                  <a:lnTo>
                    <a:pt x="2636931" y="1003926"/>
                  </a:lnTo>
                  <a:lnTo>
                    <a:pt x="2598988" y="1029508"/>
                  </a:lnTo>
                  <a:lnTo>
                    <a:pt x="2552523" y="1038889"/>
                  </a:lnTo>
                  <a:lnTo>
                    <a:pt x="2226578" y="1038889"/>
                  </a:lnTo>
                  <a:lnTo>
                    <a:pt x="1558604" y="1038889"/>
                  </a:lnTo>
                  <a:lnTo>
                    <a:pt x="119370" y="1038889"/>
                  </a:lnTo>
                  <a:lnTo>
                    <a:pt x="72906" y="1029508"/>
                  </a:lnTo>
                  <a:lnTo>
                    <a:pt x="34962" y="1003926"/>
                  </a:lnTo>
                  <a:lnTo>
                    <a:pt x="9380" y="965982"/>
                  </a:lnTo>
                  <a:lnTo>
                    <a:pt x="0" y="919518"/>
                  </a:lnTo>
                  <a:lnTo>
                    <a:pt x="0" y="621103"/>
                  </a:lnTo>
                  <a:lnTo>
                    <a:pt x="0" y="442053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70739" y="5237479"/>
            <a:ext cx="6564630" cy="67818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 marR="5080">
              <a:lnSpc>
                <a:spcPct val="103800"/>
              </a:lnSpc>
              <a:spcBef>
                <a:spcPts val="5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product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made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many</a:t>
            </a:r>
            <a:r>
              <a:rPr sz="2100" spc="6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companies.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1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company</a:t>
            </a:r>
            <a:r>
              <a:rPr sz="21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1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make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at</a:t>
            </a:r>
            <a:r>
              <a:rPr sz="2100" spc="5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most</a:t>
            </a:r>
            <a:r>
              <a:rPr sz="2100" spc="4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one</a:t>
            </a:r>
            <a:r>
              <a:rPr sz="2100" spc="5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product.</a:t>
            </a:r>
            <a:endParaRPr sz="2100">
              <a:latin typeface="Verdana"/>
              <a:cs typeface="Verdan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7887" y="6074664"/>
            <a:ext cx="8808719" cy="746760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1227146" y="6051716"/>
            <a:ext cx="7621270" cy="475615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73025" rIns="0" bIns="0" rtlCol="0">
            <a:spAutoFit/>
          </a:bodyPr>
          <a:lstStyle/>
          <a:p>
            <a:pPr marL="351155">
              <a:lnSpc>
                <a:spcPct val="100000"/>
              </a:lnSpc>
              <a:spcBef>
                <a:spcPts val="575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“at</a:t>
            </a:r>
            <a:r>
              <a:rPr sz="2100" spc="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most</a:t>
            </a:r>
            <a:r>
              <a:rPr sz="2100" spc="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one”</a:t>
            </a:r>
            <a:r>
              <a:rPr sz="2100" spc="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10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“many”</a:t>
            </a:r>
            <a:r>
              <a:rPr sz="2100" spc="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2100" spc="11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Guarantee</a:t>
            </a:r>
            <a:r>
              <a:rPr sz="2100" spc="10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existence?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62721" y="7008497"/>
            <a:ext cx="8597265" cy="2260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Note: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instances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do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exist</a:t>
            </a:r>
            <a:r>
              <a:rPr sz="13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E-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R.</a:t>
            </a:r>
            <a:r>
              <a:rPr sz="13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These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tables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only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help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visualize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being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designed.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98529" y="4460240"/>
            <a:ext cx="2264410" cy="45847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76200" marR="5080" indent="-64135">
              <a:lnSpc>
                <a:spcPts val="1610"/>
              </a:lnSpc>
              <a:spcBef>
                <a:spcPts val="310"/>
              </a:spcBef>
            </a:pP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Arrow</a:t>
            </a:r>
            <a:r>
              <a:rPr sz="15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pointing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5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entity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sz="15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5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constrained</a:t>
            </a:r>
            <a:r>
              <a:rPr sz="15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5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Arial MT"/>
                <a:cs typeface="Arial MT"/>
              </a:rPr>
              <a:t>one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student&#10;&#10;Description automatically generated">
            <a:extLst>
              <a:ext uri="{FF2B5EF4-FFF2-40B4-BE49-F238E27FC236}">
                <a16:creationId xmlns:a16="http://schemas.microsoft.com/office/drawing/2014/main" id="{CB436DF2-A6D6-1DF1-86CD-DE817AE57B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562"/>
          <a:stretch/>
        </p:blipFill>
        <p:spPr>
          <a:xfrm>
            <a:off x="793785" y="2180190"/>
            <a:ext cx="6391035" cy="337772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4F7C5A6-80BE-B752-AC76-30DE47509AC2}"/>
              </a:ext>
            </a:extLst>
          </p:cNvPr>
          <p:cNvSpPr txBox="1"/>
          <p:nvPr/>
        </p:nvSpPr>
        <p:spPr>
          <a:xfrm>
            <a:off x="1222388" y="304800"/>
            <a:ext cx="7613623" cy="7540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300" b="1" spc="-145" dirty="0">
                <a:solidFill>
                  <a:srgbClr val="29293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Cardinality:</a:t>
            </a:r>
            <a:r>
              <a:rPr lang="en-US" sz="4300" b="1" spc="-150" dirty="0">
                <a:solidFill>
                  <a:srgbClr val="29293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4300" b="1" spc="-135" dirty="0">
                <a:solidFill>
                  <a:srgbClr val="29293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One-</a:t>
            </a:r>
            <a:r>
              <a:rPr lang="en-US" sz="4300" b="1" spc="-145" dirty="0">
                <a:solidFill>
                  <a:srgbClr val="29293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to-</a:t>
            </a:r>
            <a:r>
              <a:rPr lang="en-US" sz="4300" b="1" spc="-20" dirty="0">
                <a:solidFill>
                  <a:srgbClr val="29293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Many</a:t>
            </a:r>
            <a:endParaRPr lang="en-US" sz="43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11146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3769">
              <a:lnSpc>
                <a:spcPct val="100000"/>
              </a:lnSpc>
              <a:spcBef>
                <a:spcPts val="100"/>
              </a:spcBef>
            </a:pPr>
            <a:r>
              <a:rPr spc="-145" dirty="0">
                <a:solidFill>
                  <a:srgbClr val="292934"/>
                </a:solidFill>
              </a:rPr>
              <a:t>Cardinality:</a:t>
            </a:r>
            <a:r>
              <a:rPr spc="-130" dirty="0">
                <a:solidFill>
                  <a:srgbClr val="292934"/>
                </a:solidFill>
              </a:rPr>
              <a:t> </a:t>
            </a:r>
            <a:r>
              <a:rPr spc="-160" dirty="0">
                <a:solidFill>
                  <a:srgbClr val="292934"/>
                </a:solidFill>
              </a:rPr>
              <a:t>Many-</a:t>
            </a:r>
            <a:r>
              <a:rPr spc="-145" dirty="0">
                <a:solidFill>
                  <a:srgbClr val="292934"/>
                </a:solidFill>
              </a:rPr>
              <a:t>to-</a:t>
            </a:r>
            <a:r>
              <a:rPr spc="-25" dirty="0">
                <a:solidFill>
                  <a:srgbClr val="292934"/>
                </a:solidFill>
              </a:rPr>
              <a:t>One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20829" y="1590011"/>
          <a:ext cx="8146413" cy="1396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8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0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92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51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1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8615">
                <a:tc>
                  <a:txBody>
                    <a:bodyPr/>
                    <a:lstStyle/>
                    <a:p>
                      <a:pPr marR="68580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pid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2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Beyblade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Dreamwork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0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marR="14287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2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Trolls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Hashbro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R="162560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Nyform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36000" y="1267967"/>
            <a:ext cx="587057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71085" algn="l"/>
              </a:tabLst>
            </a:pP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product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	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company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110904" y="2143371"/>
            <a:ext cx="1647825" cy="379095"/>
          </a:xfrm>
          <a:custGeom>
            <a:avLst/>
            <a:gdLst/>
            <a:ahLst/>
            <a:cxnLst/>
            <a:rect l="l" t="t" r="r" b="b"/>
            <a:pathLst>
              <a:path w="1647825" h="379094">
                <a:moveTo>
                  <a:pt x="0" y="378497"/>
                </a:moveTo>
                <a:lnTo>
                  <a:pt x="1647340" y="0"/>
                </a:lnTo>
              </a:path>
            </a:pathLst>
          </a:custGeom>
          <a:ln w="13546">
            <a:solidFill>
              <a:srgbClr val="29293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134290" y="3597493"/>
            <a:ext cx="1285240" cy="556895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148590" rIns="0" bIns="0" rtlCol="0">
            <a:spAutoFit/>
          </a:bodyPr>
          <a:lstStyle/>
          <a:p>
            <a:pPr marL="280670">
              <a:lnSpc>
                <a:spcPct val="100000"/>
              </a:lnSpc>
              <a:spcBef>
                <a:spcPts val="117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product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637252" y="3592413"/>
            <a:ext cx="1295400" cy="567055"/>
            <a:chOff x="6637252" y="3592413"/>
            <a:chExt cx="1295400" cy="567055"/>
          </a:xfrm>
        </p:grpSpPr>
        <p:sp>
          <p:nvSpPr>
            <p:cNvPr id="8" name="object 8"/>
            <p:cNvSpPr/>
            <p:nvPr/>
          </p:nvSpPr>
          <p:spPr>
            <a:xfrm>
              <a:off x="6642332" y="3597493"/>
              <a:ext cx="1285240" cy="556895"/>
            </a:xfrm>
            <a:custGeom>
              <a:avLst/>
              <a:gdLst/>
              <a:ahLst/>
              <a:cxnLst/>
              <a:rect l="l" t="t" r="r" b="b"/>
              <a:pathLst>
                <a:path w="1285240" h="556895">
                  <a:moveTo>
                    <a:pt x="1285050" y="0"/>
                  </a:moveTo>
                  <a:lnTo>
                    <a:pt x="0" y="0"/>
                  </a:lnTo>
                  <a:lnTo>
                    <a:pt x="0" y="556821"/>
                  </a:lnTo>
                  <a:lnTo>
                    <a:pt x="1285050" y="556821"/>
                  </a:lnTo>
                  <a:lnTo>
                    <a:pt x="1285050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642332" y="3597493"/>
              <a:ext cx="1285240" cy="556895"/>
            </a:xfrm>
            <a:custGeom>
              <a:avLst/>
              <a:gdLst/>
              <a:ahLst/>
              <a:cxnLst/>
              <a:rect l="l" t="t" r="r" b="b"/>
              <a:pathLst>
                <a:path w="1285240" h="556895">
                  <a:moveTo>
                    <a:pt x="0" y="0"/>
                  </a:moveTo>
                  <a:lnTo>
                    <a:pt x="1285050" y="0"/>
                  </a:lnTo>
                  <a:lnTo>
                    <a:pt x="1285050" y="556820"/>
                  </a:lnTo>
                  <a:lnTo>
                    <a:pt x="0" y="556820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832738" y="3733800"/>
            <a:ext cx="90424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company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197660" y="3538715"/>
            <a:ext cx="1687830" cy="688975"/>
            <a:chOff x="4197660" y="3538715"/>
            <a:chExt cx="1687830" cy="688975"/>
          </a:xfrm>
        </p:grpSpPr>
        <p:sp>
          <p:nvSpPr>
            <p:cNvPr id="12" name="object 12"/>
            <p:cNvSpPr/>
            <p:nvPr/>
          </p:nvSpPr>
          <p:spPr>
            <a:xfrm>
              <a:off x="4202740" y="3543795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6"/>
                  </a:lnTo>
                  <a:lnTo>
                    <a:pt x="838809" y="678534"/>
                  </a:lnTo>
                  <a:lnTo>
                    <a:pt x="1677619" y="339266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02740" y="3543795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709656" y="3739896"/>
            <a:ext cx="66357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makes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414261" y="3823548"/>
            <a:ext cx="5804535" cy="1244600"/>
            <a:chOff x="3414261" y="3823548"/>
            <a:chExt cx="5804535" cy="1244600"/>
          </a:xfrm>
        </p:grpSpPr>
        <p:sp>
          <p:nvSpPr>
            <p:cNvPr id="16" name="object 16"/>
            <p:cNvSpPr/>
            <p:nvPr/>
          </p:nvSpPr>
          <p:spPr>
            <a:xfrm>
              <a:off x="3419341" y="3875904"/>
              <a:ext cx="783590" cy="7620"/>
            </a:xfrm>
            <a:custGeom>
              <a:avLst/>
              <a:gdLst/>
              <a:ahLst/>
              <a:cxnLst/>
              <a:rect l="l" t="t" r="r" b="b"/>
              <a:pathLst>
                <a:path w="783589" h="7620">
                  <a:moveTo>
                    <a:pt x="0" y="0"/>
                  </a:moveTo>
                  <a:lnTo>
                    <a:pt x="783398" y="7158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880312" y="3823548"/>
              <a:ext cx="762635" cy="106680"/>
            </a:xfrm>
            <a:custGeom>
              <a:avLst/>
              <a:gdLst/>
              <a:ahLst/>
              <a:cxnLst/>
              <a:rect l="l" t="t" r="r" b="b"/>
              <a:pathLst>
                <a:path w="762634" h="106679">
                  <a:moveTo>
                    <a:pt x="753311" y="47371"/>
                  </a:moveTo>
                  <a:lnTo>
                    <a:pt x="751911" y="47371"/>
                  </a:lnTo>
                  <a:lnTo>
                    <a:pt x="752006" y="57530"/>
                  </a:lnTo>
                  <a:lnTo>
                    <a:pt x="733220" y="57707"/>
                  </a:lnTo>
                  <a:lnTo>
                    <a:pt x="666121" y="97698"/>
                  </a:lnTo>
                  <a:lnTo>
                    <a:pt x="665331" y="100816"/>
                  </a:lnTo>
                  <a:lnTo>
                    <a:pt x="668204" y="105636"/>
                  </a:lnTo>
                  <a:lnTo>
                    <a:pt x="671322" y="106425"/>
                  </a:lnTo>
                  <a:lnTo>
                    <a:pt x="762044" y="52355"/>
                  </a:lnTo>
                  <a:lnTo>
                    <a:pt x="753311" y="47371"/>
                  </a:lnTo>
                  <a:close/>
                </a:path>
                <a:path w="762634" h="106679">
                  <a:moveTo>
                    <a:pt x="733125" y="47547"/>
                  </a:moveTo>
                  <a:lnTo>
                    <a:pt x="0" y="54434"/>
                  </a:lnTo>
                  <a:lnTo>
                    <a:pt x="95" y="64594"/>
                  </a:lnTo>
                  <a:lnTo>
                    <a:pt x="733220" y="57707"/>
                  </a:lnTo>
                  <a:lnTo>
                    <a:pt x="741881" y="52545"/>
                  </a:lnTo>
                  <a:lnTo>
                    <a:pt x="733125" y="47547"/>
                  </a:lnTo>
                  <a:close/>
                </a:path>
                <a:path w="762634" h="106679">
                  <a:moveTo>
                    <a:pt x="741881" y="52545"/>
                  </a:moveTo>
                  <a:lnTo>
                    <a:pt x="733220" y="57707"/>
                  </a:lnTo>
                  <a:lnTo>
                    <a:pt x="752006" y="57530"/>
                  </a:lnTo>
                  <a:lnTo>
                    <a:pt x="752000" y="56862"/>
                  </a:lnTo>
                  <a:lnTo>
                    <a:pt x="749444" y="56862"/>
                  </a:lnTo>
                  <a:lnTo>
                    <a:pt x="741881" y="52545"/>
                  </a:lnTo>
                  <a:close/>
                </a:path>
                <a:path w="762634" h="106679">
                  <a:moveTo>
                    <a:pt x="749362" y="48087"/>
                  </a:moveTo>
                  <a:lnTo>
                    <a:pt x="741881" y="52545"/>
                  </a:lnTo>
                  <a:lnTo>
                    <a:pt x="749444" y="56862"/>
                  </a:lnTo>
                  <a:lnTo>
                    <a:pt x="749362" y="48087"/>
                  </a:lnTo>
                  <a:close/>
                </a:path>
                <a:path w="762634" h="106679">
                  <a:moveTo>
                    <a:pt x="751917" y="48087"/>
                  </a:moveTo>
                  <a:lnTo>
                    <a:pt x="749362" y="48087"/>
                  </a:lnTo>
                  <a:lnTo>
                    <a:pt x="749444" y="56862"/>
                  </a:lnTo>
                  <a:lnTo>
                    <a:pt x="752000" y="56862"/>
                  </a:lnTo>
                  <a:lnTo>
                    <a:pt x="751917" y="48087"/>
                  </a:lnTo>
                  <a:close/>
                </a:path>
                <a:path w="762634" h="106679">
                  <a:moveTo>
                    <a:pt x="751911" y="47371"/>
                  </a:moveTo>
                  <a:lnTo>
                    <a:pt x="733125" y="47547"/>
                  </a:lnTo>
                  <a:lnTo>
                    <a:pt x="741881" y="52545"/>
                  </a:lnTo>
                  <a:lnTo>
                    <a:pt x="749362" y="48087"/>
                  </a:lnTo>
                  <a:lnTo>
                    <a:pt x="751917" y="48087"/>
                  </a:lnTo>
                  <a:lnTo>
                    <a:pt x="751911" y="47371"/>
                  </a:lnTo>
                  <a:close/>
                </a:path>
                <a:path w="762634" h="106679">
                  <a:moveTo>
                    <a:pt x="670322" y="0"/>
                  </a:moveTo>
                  <a:lnTo>
                    <a:pt x="667219" y="848"/>
                  </a:lnTo>
                  <a:lnTo>
                    <a:pt x="664438" y="5721"/>
                  </a:lnTo>
                  <a:lnTo>
                    <a:pt x="665285" y="8823"/>
                  </a:lnTo>
                  <a:lnTo>
                    <a:pt x="733125" y="47547"/>
                  </a:lnTo>
                  <a:lnTo>
                    <a:pt x="753311" y="47371"/>
                  </a:lnTo>
                  <a:lnTo>
                    <a:pt x="670322" y="0"/>
                  </a:lnTo>
                  <a:close/>
                </a:path>
              </a:pathLst>
            </a:custGeom>
            <a:solidFill>
              <a:srgbClr val="3B3B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467335" y="3998475"/>
              <a:ext cx="2744470" cy="1062990"/>
            </a:xfrm>
            <a:custGeom>
              <a:avLst/>
              <a:gdLst/>
              <a:ahLst/>
              <a:cxnLst/>
              <a:rect l="l" t="t" r="r" b="b"/>
              <a:pathLst>
                <a:path w="2744470" h="1062989">
                  <a:moveTo>
                    <a:pt x="2624744" y="346673"/>
                  </a:moveTo>
                  <a:lnTo>
                    <a:pt x="191590" y="346673"/>
                  </a:lnTo>
                  <a:lnTo>
                    <a:pt x="145126" y="356053"/>
                  </a:lnTo>
                  <a:lnTo>
                    <a:pt x="107183" y="381635"/>
                  </a:lnTo>
                  <a:lnTo>
                    <a:pt x="81601" y="419579"/>
                  </a:lnTo>
                  <a:lnTo>
                    <a:pt x="72221" y="466040"/>
                  </a:lnTo>
                  <a:lnTo>
                    <a:pt x="72221" y="943505"/>
                  </a:lnTo>
                  <a:lnTo>
                    <a:pt x="81601" y="989970"/>
                  </a:lnTo>
                  <a:lnTo>
                    <a:pt x="107183" y="1027914"/>
                  </a:lnTo>
                  <a:lnTo>
                    <a:pt x="145126" y="1053496"/>
                  </a:lnTo>
                  <a:lnTo>
                    <a:pt x="191590" y="1062876"/>
                  </a:lnTo>
                  <a:lnTo>
                    <a:pt x="2624744" y="1062876"/>
                  </a:lnTo>
                  <a:lnTo>
                    <a:pt x="2671209" y="1053496"/>
                  </a:lnTo>
                  <a:lnTo>
                    <a:pt x="2709152" y="1027914"/>
                  </a:lnTo>
                  <a:lnTo>
                    <a:pt x="2734733" y="989970"/>
                  </a:lnTo>
                  <a:lnTo>
                    <a:pt x="2744114" y="943505"/>
                  </a:lnTo>
                  <a:lnTo>
                    <a:pt x="2744113" y="466040"/>
                  </a:lnTo>
                  <a:lnTo>
                    <a:pt x="2734733" y="419579"/>
                  </a:lnTo>
                  <a:lnTo>
                    <a:pt x="2709152" y="381635"/>
                  </a:lnTo>
                  <a:lnTo>
                    <a:pt x="2671209" y="356053"/>
                  </a:lnTo>
                  <a:lnTo>
                    <a:pt x="2624744" y="346673"/>
                  </a:lnTo>
                  <a:close/>
                </a:path>
                <a:path w="2744470" h="1062989">
                  <a:moveTo>
                    <a:pt x="0" y="0"/>
                  </a:moveTo>
                  <a:lnTo>
                    <a:pt x="517536" y="346673"/>
                  </a:lnTo>
                  <a:lnTo>
                    <a:pt x="1185509" y="3466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467335" y="3998476"/>
              <a:ext cx="2744470" cy="1062990"/>
            </a:xfrm>
            <a:custGeom>
              <a:avLst/>
              <a:gdLst/>
              <a:ahLst/>
              <a:cxnLst/>
              <a:rect l="l" t="t" r="r" b="b"/>
              <a:pathLst>
                <a:path w="2744470" h="1062989">
                  <a:moveTo>
                    <a:pt x="72220" y="466042"/>
                  </a:moveTo>
                  <a:lnTo>
                    <a:pt x="81601" y="419578"/>
                  </a:lnTo>
                  <a:lnTo>
                    <a:pt x="107183" y="381635"/>
                  </a:lnTo>
                  <a:lnTo>
                    <a:pt x="145126" y="356053"/>
                  </a:lnTo>
                  <a:lnTo>
                    <a:pt x="191590" y="346672"/>
                  </a:lnTo>
                  <a:lnTo>
                    <a:pt x="517536" y="346672"/>
                  </a:lnTo>
                  <a:lnTo>
                    <a:pt x="0" y="0"/>
                  </a:lnTo>
                  <a:lnTo>
                    <a:pt x="1185510" y="346672"/>
                  </a:lnTo>
                  <a:lnTo>
                    <a:pt x="2624744" y="346672"/>
                  </a:lnTo>
                  <a:lnTo>
                    <a:pt x="2671208" y="356053"/>
                  </a:lnTo>
                  <a:lnTo>
                    <a:pt x="2709152" y="381635"/>
                  </a:lnTo>
                  <a:lnTo>
                    <a:pt x="2734734" y="419578"/>
                  </a:lnTo>
                  <a:lnTo>
                    <a:pt x="2744114" y="466042"/>
                  </a:lnTo>
                  <a:lnTo>
                    <a:pt x="2744114" y="645090"/>
                  </a:lnTo>
                  <a:lnTo>
                    <a:pt x="2744114" y="943505"/>
                  </a:lnTo>
                  <a:lnTo>
                    <a:pt x="2734734" y="989969"/>
                  </a:lnTo>
                  <a:lnTo>
                    <a:pt x="2709152" y="1027913"/>
                  </a:lnTo>
                  <a:lnTo>
                    <a:pt x="2671208" y="1053495"/>
                  </a:lnTo>
                  <a:lnTo>
                    <a:pt x="2624744" y="1062876"/>
                  </a:lnTo>
                  <a:lnTo>
                    <a:pt x="1185510" y="1062876"/>
                  </a:lnTo>
                  <a:lnTo>
                    <a:pt x="517536" y="1062876"/>
                  </a:lnTo>
                  <a:lnTo>
                    <a:pt x="191590" y="1062876"/>
                  </a:lnTo>
                  <a:lnTo>
                    <a:pt x="145126" y="1053495"/>
                  </a:lnTo>
                  <a:lnTo>
                    <a:pt x="107183" y="1027913"/>
                  </a:lnTo>
                  <a:lnTo>
                    <a:pt x="81601" y="989969"/>
                  </a:lnTo>
                  <a:lnTo>
                    <a:pt x="72220" y="943505"/>
                  </a:lnTo>
                  <a:lnTo>
                    <a:pt x="72220" y="645090"/>
                  </a:lnTo>
                  <a:lnTo>
                    <a:pt x="72220" y="466040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70739" y="5231383"/>
            <a:ext cx="7194550" cy="67500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25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product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made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at</a:t>
            </a:r>
            <a:r>
              <a:rPr sz="2100" spc="4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most</a:t>
            </a:r>
            <a:r>
              <a:rPr sz="2100" spc="4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one</a:t>
            </a:r>
            <a:r>
              <a:rPr sz="2100" spc="5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company.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1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company</a:t>
            </a:r>
            <a:r>
              <a:rPr sz="21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1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make</a:t>
            </a:r>
            <a:r>
              <a:rPr sz="21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many</a:t>
            </a:r>
            <a:r>
              <a:rPr sz="2100" spc="7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products.</a:t>
            </a:r>
            <a:endParaRPr sz="2100">
              <a:latin typeface="Verdana"/>
              <a:cs typeface="Verdana"/>
            </a:endParaRPr>
          </a:p>
        </p:txBody>
      </p:sp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3127" y="6074664"/>
            <a:ext cx="8808720" cy="746760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1242386" y="6051716"/>
            <a:ext cx="7621270" cy="475615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73025" rIns="0" bIns="0" rtlCol="0">
            <a:spAutoFit/>
          </a:bodyPr>
          <a:lstStyle/>
          <a:p>
            <a:pPr marL="351155">
              <a:lnSpc>
                <a:spcPct val="100000"/>
              </a:lnSpc>
              <a:spcBef>
                <a:spcPts val="575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“at</a:t>
            </a:r>
            <a:r>
              <a:rPr sz="2100" spc="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most</a:t>
            </a:r>
            <a:r>
              <a:rPr sz="2100" spc="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one”</a:t>
            </a:r>
            <a:r>
              <a:rPr sz="2100" spc="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10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“many”</a:t>
            </a:r>
            <a:r>
              <a:rPr sz="2100" spc="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2100" spc="11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Guarantee</a:t>
            </a:r>
            <a:r>
              <a:rPr sz="2100" spc="10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existence?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2721" y="7008497"/>
            <a:ext cx="8597265" cy="2260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Note: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instances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do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exist</a:t>
            </a:r>
            <a:r>
              <a:rPr sz="13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E-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R.</a:t>
            </a:r>
            <a:r>
              <a:rPr sz="13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These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tables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only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help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visualize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being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designed.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743509" y="4460240"/>
            <a:ext cx="2264410" cy="45847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76200" marR="5080" indent="-64135">
              <a:lnSpc>
                <a:spcPts val="1610"/>
              </a:lnSpc>
              <a:spcBef>
                <a:spcPts val="310"/>
              </a:spcBef>
            </a:pP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Arrow</a:t>
            </a:r>
            <a:r>
              <a:rPr sz="15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pointing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5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entity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sz="15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5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constrained</a:t>
            </a:r>
            <a:r>
              <a:rPr sz="15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5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Arial MT"/>
                <a:cs typeface="Arial MT"/>
              </a:rPr>
              <a:t>one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F823A-34CC-2FCE-4026-C3DA89BB8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A6867-03A6-79BF-87EF-420DCF8A5D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7815" y="1213103"/>
            <a:ext cx="9032875" cy="96949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b="0" i="0" u="none" strike="noStrike" dirty="0">
                <a:solidFill>
                  <a:srgbClr val="040C28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parent-child relationship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b="0" i="0" u="none" strike="noStrike" dirty="0">
                <a:solidFill>
                  <a:srgbClr val="040C28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book authors and their books</a:t>
            </a:r>
            <a:endParaRPr lang="en-US" sz="2100" dirty="0">
              <a:solidFill>
                <a:srgbClr val="040C28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b="0" i="0" u="none" strike="noStrike" dirty="0">
                <a:solidFill>
                  <a:srgbClr val="040C28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websites with multiple web pages</a:t>
            </a:r>
            <a:endParaRPr lang="en-US" sz="21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63098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7555">
              <a:lnSpc>
                <a:spcPct val="100000"/>
              </a:lnSpc>
              <a:spcBef>
                <a:spcPts val="100"/>
              </a:spcBef>
            </a:pPr>
            <a:r>
              <a:rPr spc="-145" dirty="0">
                <a:solidFill>
                  <a:srgbClr val="292934"/>
                </a:solidFill>
              </a:rPr>
              <a:t>Cardinality:</a:t>
            </a:r>
            <a:r>
              <a:rPr spc="-130" dirty="0">
                <a:solidFill>
                  <a:srgbClr val="292934"/>
                </a:solidFill>
              </a:rPr>
              <a:t> </a:t>
            </a:r>
            <a:r>
              <a:rPr spc="-160" dirty="0">
                <a:solidFill>
                  <a:srgbClr val="292934"/>
                </a:solidFill>
              </a:rPr>
              <a:t>Many-</a:t>
            </a:r>
            <a:r>
              <a:rPr spc="-145" dirty="0">
                <a:solidFill>
                  <a:srgbClr val="292934"/>
                </a:solidFill>
              </a:rPr>
              <a:t>to-</a:t>
            </a:r>
            <a:r>
              <a:rPr spc="-20" dirty="0">
                <a:solidFill>
                  <a:srgbClr val="292934"/>
                </a:solidFill>
              </a:rPr>
              <a:t>Many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20829" y="1574771"/>
          <a:ext cx="8146413" cy="13969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8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0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92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51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1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8615">
                <a:tc>
                  <a:txBody>
                    <a:bodyPr/>
                    <a:lstStyle/>
                    <a:p>
                      <a:pPr marR="68580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pid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485"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2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Beyblade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Dreamwork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03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075"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2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Trolls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Hashbro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953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R="162560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Nyform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36000" y="1252728"/>
            <a:ext cx="587057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71085" algn="l"/>
              </a:tabLst>
            </a:pP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product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	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company</a:t>
            </a:r>
            <a:endParaRPr sz="17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104131" y="2121359"/>
            <a:ext cx="1674495" cy="697865"/>
            <a:chOff x="4104131" y="2121359"/>
            <a:chExt cx="1674495" cy="697865"/>
          </a:xfrm>
        </p:grpSpPr>
        <p:sp>
          <p:nvSpPr>
            <p:cNvPr id="6" name="object 6"/>
            <p:cNvSpPr/>
            <p:nvPr/>
          </p:nvSpPr>
          <p:spPr>
            <a:xfrm>
              <a:off x="4110904" y="2142689"/>
              <a:ext cx="1634489" cy="349885"/>
            </a:xfrm>
            <a:custGeom>
              <a:avLst/>
              <a:gdLst/>
              <a:ahLst/>
              <a:cxnLst/>
              <a:rect l="l" t="t" r="r" b="b"/>
              <a:pathLst>
                <a:path w="1634489" h="349885">
                  <a:moveTo>
                    <a:pt x="0" y="0"/>
                  </a:moveTo>
                  <a:lnTo>
                    <a:pt x="1633946" y="349382"/>
                  </a:lnTo>
                </a:path>
              </a:pathLst>
            </a:custGeom>
            <a:ln w="13546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124295" y="2157246"/>
              <a:ext cx="1634489" cy="640715"/>
            </a:xfrm>
            <a:custGeom>
              <a:avLst/>
              <a:gdLst/>
              <a:ahLst/>
              <a:cxnLst/>
              <a:rect l="l" t="t" r="r" b="b"/>
              <a:pathLst>
                <a:path w="1634489" h="640714">
                  <a:moveTo>
                    <a:pt x="0" y="0"/>
                  </a:moveTo>
                  <a:lnTo>
                    <a:pt x="1633947" y="640535"/>
                  </a:lnTo>
                </a:path>
              </a:pathLst>
            </a:custGeom>
            <a:ln w="13546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24295" y="2521187"/>
              <a:ext cx="1647825" cy="291465"/>
            </a:xfrm>
            <a:custGeom>
              <a:avLst/>
              <a:gdLst/>
              <a:ahLst/>
              <a:cxnLst/>
              <a:rect l="l" t="t" r="r" b="b"/>
              <a:pathLst>
                <a:path w="1647825" h="291464">
                  <a:moveTo>
                    <a:pt x="0" y="0"/>
                  </a:moveTo>
                  <a:lnTo>
                    <a:pt x="1647341" y="291151"/>
                  </a:lnTo>
                </a:path>
              </a:pathLst>
            </a:custGeom>
            <a:ln w="13546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110904" y="2128132"/>
              <a:ext cx="1647825" cy="379095"/>
            </a:xfrm>
            <a:custGeom>
              <a:avLst/>
              <a:gdLst/>
              <a:ahLst/>
              <a:cxnLst/>
              <a:rect l="l" t="t" r="r" b="b"/>
              <a:pathLst>
                <a:path w="1647825" h="379094">
                  <a:moveTo>
                    <a:pt x="0" y="378497"/>
                  </a:moveTo>
                  <a:lnTo>
                    <a:pt x="1647340" y="0"/>
                  </a:lnTo>
                </a:path>
              </a:pathLst>
            </a:custGeom>
            <a:ln w="13546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134290" y="3617088"/>
            <a:ext cx="1285240" cy="556895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147320" rIns="0" bIns="0" rtlCol="0">
            <a:spAutoFit/>
          </a:bodyPr>
          <a:lstStyle/>
          <a:p>
            <a:pPr marL="280670">
              <a:lnSpc>
                <a:spcPct val="100000"/>
              </a:lnSpc>
              <a:spcBef>
                <a:spcPts val="116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product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42332" y="3617088"/>
            <a:ext cx="1285240" cy="556895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147320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116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company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197660" y="3558309"/>
            <a:ext cx="1687830" cy="688975"/>
            <a:chOff x="4197660" y="3558309"/>
            <a:chExt cx="1687830" cy="688975"/>
          </a:xfrm>
        </p:grpSpPr>
        <p:sp>
          <p:nvSpPr>
            <p:cNvPr id="13" name="object 13"/>
            <p:cNvSpPr/>
            <p:nvPr/>
          </p:nvSpPr>
          <p:spPr>
            <a:xfrm>
              <a:off x="4202740" y="3563389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6"/>
                  </a:lnTo>
                  <a:lnTo>
                    <a:pt x="838809" y="678533"/>
                  </a:lnTo>
                  <a:lnTo>
                    <a:pt x="1677619" y="339266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02740" y="3563389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709656" y="3758184"/>
            <a:ext cx="66357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makes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414261" y="3890419"/>
            <a:ext cx="3233420" cy="17780"/>
            <a:chOff x="3414261" y="3890419"/>
            <a:chExt cx="3233420" cy="17780"/>
          </a:xfrm>
        </p:grpSpPr>
        <p:sp>
          <p:nvSpPr>
            <p:cNvPr id="17" name="object 17"/>
            <p:cNvSpPr/>
            <p:nvPr/>
          </p:nvSpPr>
          <p:spPr>
            <a:xfrm>
              <a:off x="3419341" y="3895499"/>
              <a:ext cx="783590" cy="7620"/>
            </a:xfrm>
            <a:custGeom>
              <a:avLst/>
              <a:gdLst/>
              <a:ahLst/>
              <a:cxnLst/>
              <a:rect l="l" t="t" r="r" b="b"/>
              <a:pathLst>
                <a:path w="783589" h="7620">
                  <a:moveTo>
                    <a:pt x="0" y="0"/>
                  </a:moveTo>
                  <a:lnTo>
                    <a:pt x="783398" y="7158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880359" y="3895499"/>
              <a:ext cx="762000" cy="7620"/>
            </a:xfrm>
            <a:custGeom>
              <a:avLst/>
              <a:gdLst/>
              <a:ahLst/>
              <a:cxnLst/>
              <a:rect l="l" t="t" r="r" b="b"/>
              <a:pathLst>
                <a:path w="762000" h="7620">
                  <a:moveTo>
                    <a:pt x="0" y="7158"/>
                  </a:moveTo>
                  <a:lnTo>
                    <a:pt x="761973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70739" y="5216144"/>
            <a:ext cx="6564630" cy="67500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25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product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made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many</a:t>
            </a:r>
            <a:r>
              <a:rPr sz="2100" spc="6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companies.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1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company</a:t>
            </a:r>
            <a:r>
              <a:rPr sz="21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1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make</a:t>
            </a:r>
            <a:r>
              <a:rPr sz="21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many</a:t>
            </a:r>
            <a:r>
              <a:rPr sz="2100" spc="7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products.</a:t>
            </a:r>
            <a:endParaRPr sz="2100" dirty="0">
              <a:latin typeface="Verdana"/>
              <a:cs typeface="Verdan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80" y="6074664"/>
            <a:ext cx="8808720" cy="746760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1240208" y="6051716"/>
            <a:ext cx="7621270" cy="475615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73025" rIns="0" bIns="0" rtlCol="0">
            <a:spAutoFit/>
          </a:bodyPr>
          <a:lstStyle/>
          <a:p>
            <a:pPr marL="13970" algn="ctr">
              <a:lnSpc>
                <a:spcPct val="100000"/>
              </a:lnSpc>
              <a:spcBef>
                <a:spcPts val="575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“many”</a:t>
            </a:r>
            <a:r>
              <a:rPr sz="210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2100" spc="1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Guarantee</a:t>
            </a:r>
            <a:r>
              <a:rPr sz="2100" spc="1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existence?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2721" y="7008497"/>
            <a:ext cx="8597265" cy="2260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Note: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instances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do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exist</a:t>
            </a:r>
            <a:r>
              <a:rPr sz="13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E-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R.</a:t>
            </a:r>
            <a:r>
              <a:rPr sz="13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These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tables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only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help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visualize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being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designed.</a:t>
            </a:r>
            <a:endParaRPr sz="1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student&#10;&#10;Description automatically generated">
            <a:extLst>
              <a:ext uri="{FF2B5EF4-FFF2-40B4-BE49-F238E27FC236}">
                <a16:creationId xmlns:a16="http://schemas.microsoft.com/office/drawing/2014/main" id="{BBAFCBF7-9B76-D262-F858-CFC249790E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102"/>
          <a:stretch/>
        </p:blipFill>
        <p:spPr>
          <a:xfrm>
            <a:off x="508027" y="1476375"/>
            <a:ext cx="9042347" cy="4778973"/>
          </a:xfrm>
          <a:custGeom>
            <a:avLst/>
            <a:gdLst/>
            <a:ahLst/>
            <a:cxnLst/>
            <a:rect l="l" t="t" r="r" b="b"/>
            <a:pathLst>
              <a:path w="10485104" h="5523506">
                <a:moveTo>
                  <a:pt x="5949681" y="536"/>
                </a:moveTo>
                <a:cubicBezTo>
                  <a:pt x="6074035" y="-2131"/>
                  <a:pt x="6198411" y="5173"/>
                  <a:pt x="6321822" y="22405"/>
                </a:cubicBezTo>
                <a:cubicBezTo>
                  <a:pt x="6498937" y="51493"/>
                  <a:pt x="6677824" y="73364"/>
                  <a:pt x="6857694" y="55210"/>
                </a:cubicBezTo>
                <a:cubicBezTo>
                  <a:pt x="6981675" y="42526"/>
                  <a:pt x="7105459" y="35089"/>
                  <a:pt x="7230031" y="35528"/>
                </a:cubicBezTo>
                <a:cubicBezTo>
                  <a:pt x="7516370" y="35528"/>
                  <a:pt x="7802902" y="38152"/>
                  <a:pt x="8089242" y="32684"/>
                </a:cubicBezTo>
                <a:cubicBezTo>
                  <a:pt x="8344090" y="27873"/>
                  <a:pt x="8597956" y="17377"/>
                  <a:pt x="8853003" y="43837"/>
                </a:cubicBezTo>
                <a:cubicBezTo>
                  <a:pt x="9229472" y="82767"/>
                  <a:pt x="9607909" y="70300"/>
                  <a:pt x="9985559" y="65708"/>
                </a:cubicBezTo>
                <a:cubicBezTo>
                  <a:pt x="10083101" y="64320"/>
                  <a:pt x="10180599" y="61132"/>
                  <a:pt x="10278047" y="56140"/>
                </a:cubicBezTo>
                <a:lnTo>
                  <a:pt x="10449151" y="44199"/>
                </a:lnTo>
                <a:lnTo>
                  <a:pt x="10468533" y="198724"/>
                </a:lnTo>
                <a:cubicBezTo>
                  <a:pt x="10475933" y="234109"/>
                  <a:pt x="10480462" y="270161"/>
                  <a:pt x="10482057" y="306442"/>
                </a:cubicBezTo>
                <a:cubicBezTo>
                  <a:pt x="10492136" y="438884"/>
                  <a:pt x="10475168" y="569479"/>
                  <a:pt x="10461007" y="700359"/>
                </a:cubicBezTo>
                <a:cubicBezTo>
                  <a:pt x="10451566" y="783776"/>
                  <a:pt x="10437150" y="868045"/>
                  <a:pt x="10461007" y="950608"/>
                </a:cubicBezTo>
                <a:cubicBezTo>
                  <a:pt x="10477350" y="1008147"/>
                  <a:pt x="10480985" y="1069224"/>
                  <a:pt x="10471595" y="1128666"/>
                </a:cubicBezTo>
                <a:cubicBezTo>
                  <a:pt x="10455763" y="1234166"/>
                  <a:pt x="10452459" y="1341527"/>
                  <a:pt x="10461772" y="1447979"/>
                </a:cubicBezTo>
                <a:cubicBezTo>
                  <a:pt x="10467921" y="1518165"/>
                  <a:pt x="10466977" y="1588906"/>
                  <a:pt x="10458965" y="1658865"/>
                </a:cubicBezTo>
                <a:cubicBezTo>
                  <a:pt x="10448377" y="1752939"/>
                  <a:pt x="10431919" y="1848719"/>
                  <a:pt x="10451949" y="1943076"/>
                </a:cubicBezTo>
                <a:cubicBezTo>
                  <a:pt x="10483843" y="2092999"/>
                  <a:pt x="10477464" y="2242779"/>
                  <a:pt x="10464706" y="2393837"/>
                </a:cubicBezTo>
                <a:cubicBezTo>
                  <a:pt x="10455138" y="2506243"/>
                  <a:pt x="10444549" y="2619928"/>
                  <a:pt x="10463686" y="2733613"/>
                </a:cubicBezTo>
                <a:cubicBezTo>
                  <a:pt x="10471914" y="2786362"/>
                  <a:pt x="10471914" y="2840306"/>
                  <a:pt x="10463686" y="2893056"/>
                </a:cubicBezTo>
                <a:cubicBezTo>
                  <a:pt x="10453735" y="2964109"/>
                  <a:pt x="10444294" y="3034452"/>
                  <a:pt x="10457052" y="3106215"/>
                </a:cubicBezTo>
                <a:cubicBezTo>
                  <a:pt x="10462665" y="3137479"/>
                  <a:pt x="10466875" y="3169026"/>
                  <a:pt x="10469810" y="3200574"/>
                </a:cubicBezTo>
                <a:cubicBezTo>
                  <a:pt x="10475653" y="3281119"/>
                  <a:pt x="10473561" y="3362120"/>
                  <a:pt x="10463559" y="3442154"/>
                </a:cubicBezTo>
                <a:cubicBezTo>
                  <a:pt x="10453990" y="3535091"/>
                  <a:pt x="10469554" y="3628597"/>
                  <a:pt x="10456797" y="3721250"/>
                </a:cubicBezTo>
                <a:cubicBezTo>
                  <a:pt x="10447738" y="3795870"/>
                  <a:pt x="10447394" y="3871485"/>
                  <a:pt x="10455776" y="3946204"/>
                </a:cubicBezTo>
                <a:cubicBezTo>
                  <a:pt x="10470855" y="4087457"/>
                  <a:pt x="10469912" y="4230260"/>
                  <a:pt x="10452970" y="4371244"/>
                </a:cubicBezTo>
                <a:cubicBezTo>
                  <a:pt x="10442508" y="4453523"/>
                  <a:pt x="10436512" y="4538218"/>
                  <a:pt x="10455266" y="4618934"/>
                </a:cubicBezTo>
                <a:cubicBezTo>
                  <a:pt x="10499408" y="4808646"/>
                  <a:pt x="10473637" y="4998642"/>
                  <a:pt x="10455266" y="5187359"/>
                </a:cubicBezTo>
                <a:cubicBezTo>
                  <a:pt x="10444103" y="5288708"/>
                  <a:pt x="10443847" y="5391181"/>
                  <a:pt x="10454500" y="5492602"/>
                </a:cubicBezTo>
                <a:lnTo>
                  <a:pt x="10454510" y="5492731"/>
                </a:lnTo>
                <a:lnTo>
                  <a:pt x="10414967" y="5491139"/>
                </a:lnTo>
                <a:cubicBezTo>
                  <a:pt x="10117611" y="5495732"/>
                  <a:pt x="9820450" y="5526349"/>
                  <a:pt x="9523092" y="5507105"/>
                </a:cubicBezTo>
                <a:cubicBezTo>
                  <a:pt x="9272964" y="5490920"/>
                  <a:pt x="9023034" y="5477142"/>
                  <a:pt x="8772711" y="5490483"/>
                </a:cubicBezTo>
                <a:cubicBezTo>
                  <a:pt x="8636774" y="5499549"/>
                  <a:pt x="8500636" y="5503107"/>
                  <a:pt x="8364561" y="5501172"/>
                </a:cubicBezTo>
                <a:lnTo>
                  <a:pt x="8196562" y="5491993"/>
                </a:lnTo>
                <a:lnTo>
                  <a:pt x="8077075" y="5475562"/>
                </a:lnTo>
                <a:lnTo>
                  <a:pt x="7915670" y="5468917"/>
                </a:lnTo>
                <a:lnTo>
                  <a:pt x="7914092" y="5467957"/>
                </a:lnTo>
                <a:lnTo>
                  <a:pt x="7894412" y="5467957"/>
                </a:lnTo>
                <a:lnTo>
                  <a:pt x="7892834" y="5468758"/>
                </a:lnTo>
                <a:lnTo>
                  <a:pt x="7727602" y="5475562"/>
                </a:lnTo>
                <a:lnTo>
                  <a:pt x="7690606" y="5480649"/>
                </a:lnTo>
                <a:lnTo>
                  <a:pt x="7624212" y="5484579"/>
                </a:lnTo>
                <a:cubicBezTo>
                  <a:pt x="7434738" y="5508001"/>
                  <a:pt x="7243868" y="5514147"/>
                  <a:pt x="7053506" y="5502949"/>
                </a:cubicBezTo>
                <a:cubicBezTo>
                  <a:pt x="6777009" y="5485453"/>
                  <a:pt x="6500117" y="5474737"/>
                  <a:pt x="6223029" y="5498574"/>
                </a:cubicBezTo>
                <a:cubicBezTo>
                  <a:pt x="6065592" y="5511916"/>
                  <a:pt x="5908157" y="5526131"/>
                  <a:pt x="5750720" y="5507761"/>
                </a:cubicBezTo>
                <a:cubicBezTo>
                  <a:pt x="5616170" y="5490965"/>
                  <a:pt x="5480520" y="5488253"/>
                  <a:pt x="5345518" y="5499668"/>
                </a:cubicBezTo>
                <a:cubicBezTo>
                  <a:pt x="5197844" y="5511040"/>
                  <a:pt x="5049616" y="5511040"/>
                  <a:pt x="4901942" y="5499668"/>
                </a:cubicBezTo>
                <a:cubicBezTo>
                  <a:pt x="4760445" y="5490920"/>
                  <a:pt x="4618556" y="5476268"/>
                  <a:pt x="4477454" y="5492013"/>
                </a:cubicBezTo>
                <a:cubicBezTo>
                  <a:pt x="4279085" y="5513884"/>
                  <a:pt x="4081305" y="5506667"/>
                  <a:pt x="3883329" y="5493326"/>
                </a:cubicBezTo>
                <a:cubicBezTo>
                  <a:pt x="3719792" y="5482391"/>
                  <a:pt x="3555664" y="5466425"/>
                  <a:pt x="3392914" y="5492233"/>
                </a:cubicBezTo>
                <a:cubicBezTo>
                  <a:pt x="3175771" y="5523222"/>
                  <a:pt x="2956480" y="5531206"/>
                  <a:pt x="2737979" y="5516072"/>
                </a:cubicBezTo>
                <a:cubicBezTo>
                  <a:pt x="2289680" y="5492670"/>
                  <a:pt x="1840986" y="5498574"/>
                  <a:pt x="1392489" y="5480641"/>
                </a:cubicBezTo>
                <a:cubicBezTo>
                  <a:pt x="1244499" y="5474519"/>
                  <a:pt x="1097296" y="5507322"/>
                  <a:pt x="949699" y="5509072"/>
                </a:cubicBezTo>
                <a:cubicBezTo>
                  <a:pt x="684469" y="5512352"/>
                  <a:pt x="418241" y="5493120"/>
                  <a:pt x="151598" y="5492249"/>
                </a:cubicBezTo>
                <a:lnTo>
                  <a:pt x="1415" y="5496057"/>
                </a:lnTo>
                <a:lnTo>
                  <a:pt x="3772" y="5431261"/>
                </a:lnTo>
                <a:cubicBezTo>
                  <a:pt x="7163" y="5398149"/>
                  <a:pt x="12808" y="5364994"/>
                  <a:pt x="20909" y="5331792"/>
                </a:cubicBezTo>
                <a:cubicBezTo>
                  <a:pt x="51502" y="5208362"/>
                  <a:pt x="50009" y="5079152"/>
                  <a:pt x="16572" y="4956462"/>
                </a:cubicBezTo>
                <a:cubicBezTo>
                  <a:pt x="9172" y="4924695"/>
                  <a:pt x="4643" y="4892329"/>
                  <a:pt x="3048" y="4859758"/>
                </a:cubicBezTo>
                <a:cubicBezTo>
                  <a:pt x="-7031" y="4740857"/>
                  <a:pt x="9937" y="4623614"/>
                  <a:pt x="24098" y="4506116"/>
                </a:cubicBezTo>
                <a:cubicBezTo>
                  <a:pt x="33539" y="4431228"/>
                  <a:pt x="47955" y="4355575"/>
                  <a:pt x="24098" y="4281453"/>
                </a:cubicBezTo>
                <a:cubicBezTo>
                  <a:pt x="7755" y="4229797"/>
                  <a:pt x="4120" y="4174965"/>
                  <a:pt x="13510" y="4121600"/>
                </a:cubicBezTo>
                <a:cubicBezTo>
                  <a:pt x="29342" y="4026887"/>
                  <a:pt x="32646" y="3930503"/>
                  <a:pt x="23333" y="3834935"/>
                </a:cubicBezTo>
                <a:cubicBezTo>
                  <a:pt x="17184" y="3771925"/>
                  <a:pt x="18128" y="3708417"/>
                  <a:pt x="26140" y="3645611"/>
                </a:cubicBezTo>
                <a:cubicBezTo>
                  <a:pt x="36728" y="3561155"/>
                  <a:pt x="53186" y="3475168"/>
                  <a:pt x="33156" y="3390458"/>
                </a:cubicBezTo>
                <a:cubicBezTo>
                  <a:pt x="1262" y="3255864"/>
                  <a:pt x="7641" y="3121398"/>
                  <a:pt x="20399" y="2985784"/>
                </a:cubicBezTo>
                <a:cubicBezTo>
                  <a:pt x="29967" y="2884871"/>
                  <a:pt x="40556" y="2782810"/>
                  <a:pt x="21419" y="2680748"/>
                </a:cubicBezTo>
                <a:cubicBezTo>
                  <a:pt x="13191" y="2633392"/>
                  <a:pt x="13191" y="2584964"/>
                  <a:pt x="21419" y="2537607"/>
                </a:cubicBezTo>
                <a:cubicBezTo>
                  <a:pt x="31370" y="2473819"/>
                  <a:pt x="40811" y="2410668"/>
                  <a:pt x="28053" y="2346242"/>
                </a:cubicBezTo>
                <a:cubicBezTo>
                  <a:pt x="22440" y="2318175"/>
                  <a:pt x="18230" y="2289853"/>
                  <a:pt x="15295" y="2261531"/>
                </a:cubicBezTo>
                <a:cubicBezTo>
                  <a:pt x="9452" y="2189221"/>
                  <a:pt x="11544" y="2116502"/>
                  <a:pt x="21546" y="2044651"/>
                </a:cubicBezTo>
                <a:cubicBezTo>
                  <a:pt x="31115" y="1961216"/>
                  <a:pt x="15551" y="1877270"/>
                  <a:pt x="28308" y="1794090"/>
                </a:cubicBezTo>
                <a:cubicBezTo>
                  <a:pt x="37367" y="1727100"/>
                  <a:pt x="37711" y="1659216"/>
                  <a:pt x="29329" y="1592136"/>
                </a:cubicBezTo>
                <a:cubicBezTo>
                  <a:pt x="14250" y="1465325"/>
                  <a:pt x="15193" y="1337123"/>
                  <a:pt x="32135" y="1210554"/>
                </a:cubicBezTo>
                <a:cubicBezTo>
                  <a:pt x="42597" y="1136687"/>
                  <a:pt x="48593" y="1060652"/>
                  <a:pt x="29839" y="988188"/>
                </a:cubicBezTo>
                <a:cubicBezTo>
                  <a:pt x="-14303" y="817873"/>
                  <a:pt x="11468" y="647303"/>
                  <a:pt x="29839" y="477881"/>
                </a:cubicBezTo>
                <a:cubicBezTo>
                  <a:pt x="41002" y="386894"/>
                  <a:pt x="41258" y="294898"/>
                  <a:pt x="30605" y="203847"/>
                </a:cubicBezTo>
                <a:lnTo>
                  <a:pt x="17136" y="42362"/>
                </a:lnTo>
                <a:lnTo>
                  <a:pt x="155390" y="51827"/>
                </a:lnTo>
                <a:cubicBezTo>
                  <a:pt x="380715" y="63616"/>
                  <a:pt x="606095" y="63411"/>
                  <a:pt x="831032" y="41432"/>
                </a:cubicBezTo>
                <a:cubicBezTo>
                  <a:pt x="1107234" y="18075"/>
                  <a:pt x="1384519" y="14708"/>
                  <a:pt x="1661115" y="31372"/>
                </a:cubicBezTo>
                <a:cubicBezTo>
                  <a:pt x="1911045" y="42962"/>
                  <a:pt x="2160581" y="71395"/>
                  <a:pt x="2411103" y="47120"/>
                </a:cubicBezTo>
                <a:cubicBezTo>
                  <a:pt x="2497298" y="38807"/>
                  <a:pt x="2581920" y="18689"/>
                  <a:pt x="2668707" y="14096"/>
                </a:cubicBezTo>
                <a:cubicBezTo>
                  <a:pt x="3075287" y="-7775"/>
                  <a:pt x="3480488" y="25030"/>
                  <a:pt x="3885690" y="51930"/>
                </a:cubicBezTo>
                <a:cubicBezTo>
                  <a:pt x="4033287" y="61770"/>
                  <a:pt x="4180883" y="73799"/>
                  <a:pt x="4328480" y="46900"/>
                </a:cubicBezTo>
                <a:cubicBezTo>
                  <a:pt x="4453032" y="25577"/>
                  <a:pt x="4579453" y="21181"/>
                  <a:pt x="4704949" y="33778"/>
                </a:cubicBezTo>
                <a:cubicBezTo>
                  <a:pt x="4816098" y="46376"/>
                  <a:pt x="4927939" y="49371"/>
                  <a:pt x="5039501" y="42745"/>
                </a:cubicBezTo>
                <a:cubicBezTo>
                  <a:pt x="5342568" y="15407"/>
                  <a:pt x="5645828" y="318"/>
                  <a:pt x="5949681" y="536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0556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90590-7BF6-6265-605F-1AE8E5E79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80D206-D8FB-DFC1-D89B-9860A26D5A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7815" y="1213103"/>
            <a:ext cx="9032875" cy="1615827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Students and Courses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Teacher and students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rgbClr val="28282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</a:t>
            </a:r>
            <a:r>
              <a:rPr lang="en-US" sz="2100" b="0" i="0" u="none" strike="noStrike" dirty="0">
                <a:solidFill>
                  <a:srgbClr val="282829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ibrary books and borrowers</a:t>
            </a:r>
            <a:endParaRPr lang="en-US" sz="21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1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1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48890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15060">
              <a:lnSpc>
                <a:spcPct val="100000"/>
              </a:lnSpc>
              <a:spcBef>
                <a:spcPts val="100"/>
              </a:spcBef>
            </a:pPr>
            <a:r>
              <a:rPr spc="-105" dirty="0">
                <a:solidFill>
                  <a:srgbClr val="292934"/>
                </a:solidFill>
              </a:rPr>
              <a:t>Let’s</a:t>
            </a:r>
            <a:r>
              <a:rPr spc="-220" dirty="0">
                <a:solidFill>
                  <a:srgbClr val="292934"/>
                </a:solidFill>
              </a:rPr>
              <a:t> </a:t>
            </a:r>
            <a:r>
              <a:rPr spc="-110" dirty="0">
                <a:solidFill>
                  <a:srgbClr val="292934"/>
                </a:solidFill>
              </a:rPr>
              <a:t>try:</a:t>
            </a:r>
            <a:r>
              <a:rPr spc="-210" dirty="0">
                <a:solidFill>
                  <a:srgbClr val="292934"/>
                </a:solidFill>
              </a:rPr>
              <a:t> </a:t>
            </a:r>
            <a:r>
              <a:rPr spc="-150" dirty="0">
                <a:solidFill>
                  <a:srgbClr val="292934"/>
                </a:solidFill>
              </a:rPr>
              <a:t>Cardinality</a:t>
            </a:r>
            <a:r>
              <a:rPr spc="-225" dirty="0">
                <a:solidFill>
                  <a:srgbClr val="292934"/>
                </a:solidFill>
              </a:rPr>
              <a:t> </a:t>
            </a:r>
            <a:r>
              <a:rPr spc="-25" dirty="0">
                <a:solidFill>
                  <a:srgbClr val="292934"/>
                </a:solidFill>
              </a:rPr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9795" y="1188720"/>
            <a:ext cx="9390380" cy="763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5200"/>
              </a:lnSpc>
              <a:spcBef>
                <a:spcPts val="100"/>
              </a:spcBef>
            </a:pP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Draw</a:t>
            </a:r>
            <a:r>
              <a:rPr sz="2300" b="1" spc="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an</a:t>
            </a:r>
            <a:r>
              <a:rPr sz="2300" b="1" spc="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E-R</a:t>
            </a:r>
            <a:r>
              <a:rPr sz="2300" b="1" spc="10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diagram</a:t>
            </a:r>
            <a:r>
              <a:rPr sz="2300" b="1" spc="10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300" b="1" spc="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model</a:t>
            </a:r>
            <a:r>
              <a:rPr sz="2300" b="1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b="1" spc="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given</a:t>
            </a:r>
            <a:r>
              <a:rPr sz="2300" b="1" spc="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image</a:t>
            </a:r>
            <a:r>
              <a:rPr sz="2300" b="1" spc="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spc="-10" dirty="0">
                <a:solidFill>
                  <a:srgbClr val="292934"/>
                </a:solidFill>
                <a:latin typeface="Verdana"/>
                <a:cs typeface="Verdana"/>
              </a:rPr>
              <a:t>sample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data.</a:t>
            </a:r>
            <a:r>
              <a:rPr sz="2300" b="1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Specify</a:t>
            </a:r>
            <a:r>
              <a:rPr sz="2300" b="1" spc="1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b="1" spc="1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cardinality.</a:t>
            </a:r>
            <a:r>
              <a:rPr sz="2300" b="1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Interpret</a:t>
            </a:r>
            <a:r>
              <a:rPr sz="2300" b="1" spc="10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b="1" spc="1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E-R</a:t>
            </a:r>
            <a:r>
              <a:rPr sz="2300" b="1" spc="1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spc="-10" dirty="0">
                <a:solidFill>
                  <a:srgbClr val="292934"/>
                </a:solidFill>
                <a:latin typeface="Verdana"/>
                <a:cs typeface="Verdana"/>
              </a:rPr>
              <a:t>diagram.</a:t>
            </a:r>
            <a:endParaRPr sz="23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4535" y="2469247"/>
            <a:ext cx="540385" cy="1058545"/>
            <a:chOff x="454535" y="2469247"/>
            <a:chExt cx="540385" cy="10585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4535" y="2469247"/>
              <a:ext cx="424784" cy="95677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1060" y="3009488"/>
              <a:ext cx="293541" cy="517828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68660" y="2464167"/>
            <a:ext cx="3081020" cy="2741295"/>
          </a:xfrm>
          <a:prstGeom prst="rect">
            <a:avLst/>
          </a:prstGeom>
          <a:ln w="10159">
            <a:solidFill>
              <a:srgbClr val="7F7F7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1550">
              <a:latin typeface="Times New Roman"/>
              <a:cs typeface="Times New Roman"/>
            </a:endParaRPr>
          </a:p>
          <a:p>
            <a:pPr marL="1195070">
              <a:lnSpc>
                <a:spcPct val="100000"/>
              </a:lnSpc>
            </a:pPr>
            <a:r>
              <a:rPr sz="1550" i="1" dirty="0">
                <a:latin typeface="Times New Roman"/>
                <a:cs typeface="Times New Roman"/>
              </a:rPr>
              <a:t>Was</a:t>
            </a:r>
            <a:r>
              <a:rPr sz="1550" i="1" spc="40" dirty="0">
                <a:latin typeface="Times New Roman"/>
                <a:cs typeface="Times New Roman"/>
              </a:rPr>
              <a:t> </a:t>
            </a:r>
            <a:r>
              <a:rPr sz="1550" i="1" dirty="0">
                <a:latin typeface="Times New Roman"/>
                <a:cs typeface="Times New Roman"/>
              </a:rPr>
              <a:t>born</a:t>
            </a:r>
            <a:r>
              <a:rPr sz="1550" i="1" spc="45" dirty="0">
                <a:latin typeface="Times New Roman"/>
                <a:cs typeface="Times New Roman"/>
              </a:rPr>
              <a:t> </a:t>
            </a:r>
            <a:r>
              <a:rPr sz="1550" i="1" spc="-25" dirty="0">
                <a:latin typeface="Times New Roman"/>
                <a:cs typeface="Times New Roman"/>
              </a:rPr>
              <a:t>in</a:t>
            </a:r>
            <a:endParaRPr sz="155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15791" y="2856517"/>
            <a:ext cx="2887345" cy="2336800"/>
            <a:chOff x="315791" y="2856517"/>
            <a:chExt cx="2887345" cy="2336800"/>
          </a:xfrm>
        </p:grpSpPr>
        <p:sp>
          <p:nvSpPr>
            <p:cNvPr id="9" name="object 9"/>
            <p:cNvSpPr/>
            <p:nvPr/>
          </p:nvSpPr>
          <p:spPr>
            <a:xfrm>
              <a:off x="1581683" y="2890625"/>
              <a:ext cx="753745" cy="1876425"/>
            </a:xfrm>
            <a:custGeom>
              <a:avLst/>
              <a:gdLst/>
              <a:ahLst/>
              <a:cxnLst/>
              <a:rect l="l" t="t" r="r" b="b"/>
              <a:pathLst>
                <a:path w="753744" h="1876425">
                  <a:moveTo>
                    <a:pt x="0" y="937983"/>
                  </a:moveTo>
                  <a:lnTo>
                    <a:pt x="946" y="870996"/>
                  </a:lnTo>
                  <a:lnTo>
                    <a:pt x="3741" y="805280"/>
                  </a:lnTo>
                  <a:lnTo>
                    <a:pt x="8323" y="740994"/>
                  </a:lnTo>
                  <a:lnTo>
                    <a:pt x="14627" y="678297"/>
                  </a:lnTo>
                  <a:lnTo>
                    <a:pt x="22589" y="617347"/>
                  </a:lnTo>
                  <a:lnTo>
                    <a:pt x="32145" y="558304"/>
                  </a:lnTo>
                  <a:lnTo>
                    <a:pt x="43233" y="501325"/>
                  </a:lnTo>
                  <a:lnTo>
                    <a:pt x="55788" y="446570"/>
                  </a:lnTo>
                  <a:lnTo>
                    <a:pt x="69746" y="394197"/>
                  </a:lnTo>
                  <a:lnTo>
                    <a:pt x="85043" y="344365"/>
                  </a:lnTo>
                  <a:lnTo>
                    <a:pt x="101616" y="297233"/>
                  </a:lnTo>
                  <a:lnTo>
                    <a:pt x="119402" y="252959"/>
                  </a:lnTo>
                  <a:lnTo>
                    <a:pt x="138335" y="211702"/>
                  </a:lnTo>
                  <a:lnTo>
                    <a:pt x="158354" y="173621"/>
                  </a:lnTo>
                  <a:lnTo>
                    <a:pt x="179393" y="138875"/>
                  </a:lnTo>
                  <a:lnTo>
                    <a:pt x="201388" y="107623"/>
                  </a:lnTo>
                  <a:lnTo>
                    <a:pt x="247996" y="56232"/>
                  </a:lnTo>
                  <a:lnTo>
                    <a:pt x="297667" y="20719"/>
                  </a:lnTo>
                  <a:lnTo>
                    <a:pt x="349890" y="2355"/>
                  </a:lnTo>
                  <a:lnTo>
                    <a:pt x="376800" y="0"/>
                  </a:lnTo>
                  <a:lnTo>
                    <a:pt x="403709" y="2355"/>
                  </a:lnTo>
                  <a:lnTo>
                    <a:pt x="455932" y="20719"/>
                  </a:lnTo>
                  <a:lnTo>
                    <a:pt x="505603" y="56232"/>
                  </a:lnTo>
                  <a:lnTo>
                    <a:pt x="552211" y="107623"/>
                  </a:lnTo>
                  <a:lnTo>
                    <a:pt x="574207" y="138875"/>
                  </a:lnTo>
                  <a:lnTo>
                    <a:pt x="595245" y="173621"/>
                  </a:lnTo>
                  <a:lnTo>
                    <a:pt x="615264" y="211702"/>
                  </a:lnTo>
                  <a:lnTo>
                    <a:pt x="634197" y="252959"/>
                  </a:lnTo>
                  <a:lnTo>
                    <a:pt x="651983" y="297233"/>
                  </a:lnTo>
                  <a:lnTo>
                    <a:pt x="668556" y="344365"/>
                  </a:lnTo>
                  <a:lnTo>
                    <a:pt x="683853" y="394197"/>
                  </a:lnTo>
                  <a:lnTo>
                    <a:pt x="697811" y="446570"/>
                  </a:lnTo>
                  <a:lnTo>
                    <a:pt x="710366" y="501325"/>
                  </a:lnTo>
                  <a:lnTo>
                    <a:pt x="721454" y="558304"/>
                  </a:lnTo>
                  <a:lnTo>
                    <a:pt x="731010" y="617347"/>
                  </a:lnTo>
                  <a:lnTo>
                    <a:pt x="738972" y="678297"/>
                  </a:lnTo>
                  <a:lnTo>
                    <a:pt x="745276" y="740994"/>
                  </a:lnTo>
                  <a:lnTo>
                    <a:pt x="749858" y="805280"/>
                  </a:lnTo>
                  <a:lnTo>
                    <a:pt x="752653" y="870996"/>
                  </a:lnTo>
                  <a:lnTo>
                    <a:pt x="753600" y="937983"/>
                  </a:lnTo>
                  <a:lnTo>
                    <a:pt x="752653" y="1004970"/>
                  </a:lnTo>
                  <a:lnTo>
                    <a:pt x="749858" y="1070685"/>
                  </a:lnTo>
                  <a:lnTo>
                    <a:pt x="745276" y="1134971"/>
                  </a:lnTo>
                  <a:lnTo>
                    <a:pt x="738972" y="1197668"/>
                  </a:lnTo>
                  <a:lnTo>
                    <a:pt x="731010" y="1258618"/>
                  </a:lnTo>
                  <a:lnTo>
                    <a:pt x="721454" y="1317661"/>
                  </a:lnTo>
                  <a:lnTo>
                    <a:pt x="710366" y="1374640"/>
                  </a:lnTo>
                  <a:lnTo>
                    <a:pt x="697811" y="1429396"/>
                  </a:lnTo>
                  <a:lnTo>
                    <a:pt x="683853" y="1481769"/>
                  </a:lnTo>
                  <a:lnTo>
                    <a:pt x="668556" y="1531600"/>
                  </a:lnTo>
                  <a:lnTo>
                    <a:pt x="651983" y="1578733"/>
                  </a:lnTo>
                  <a:lnTo>
                    <a:pt x="634197" y="1623007"/>
                  </a:lnTo>
                  <a:lnTo>
                    <a:pt x="615264" y="1664263"/>
                  </a:lnTo>
                  <a:lnTo>
                    <a:pt x="595245" y="1702344"/>
                  </a:lnTo>
                  <a:lnTo>
                    <a:pt x="574207" y="1737090"/>
                  </a:lnTo>
                  <a:lnTo>
                    <a:pt x="552211" y="1768343"/>
                  </a:lnTo>
                  <a:lnTo>
                    <a:pt x="505603" y="1819733"/>
                  </a:lnTo>
                  <a:lnTo>
                    <a:pt x="455932" y="1855246"/>
                  </a:lnTo>
                  <a:lnTo>
                    <a:pt x="403709" y="1873611"/>
                  </a:lnTo>
                  <a:lnTo>
                    <a:pt x="376800" y="1875966"/>
                  </a:lnTo>
                  <a:lnTo>
                    <a:pt x="349890" y="1873611"/>
                  </a:lnTo>
                  <a:lnTo>
                    <a:pt x="297667" y="1855246"/>
                  </a:lnTo>
                  <a:lnTo>
                    <a:pt x="247996" y="1819733"/>
                  </a:lnTo>
                  <a:lnTo>
                    <a:pt x="201388" y="1768343"/>
                  </a:lnTo>
                  <a:lnTo>
                    <a:pt x="179393" y="1737090"/>
                  </a:lnTo>
                  <a:lnTo>
                    <a:pt x="158354" y="1702344"/>
                  </a:lnTo>
                  <a:lnTo>
                    <a:pt x="138335" y="1664263"/>
                  </a:lnTo>
                  <a:lnTo>
                    <a:pt x="119402" y="1623007"/>
                  </a:lnTo>
                  <a:lnTo>
                    <a:pt x="101616" y="1578733"/>
                  </a:lnTo>
                  <a:lnTo>
                    <a:pt x="85043" y="1531600"/>
                  </a:lnTo>
                  <a:lnTo>
                    <a:pt x="69746" y="1481769"/>
                  </a:lnTo>
                  <a:lnTo>
                    <a:pt x="55788" y="1429396"/>
                  </a:lnTo>
                  <a:lnTo>
                    <a:pt x="43233" y="1374640"/>
                  </a:lnTo>
                  <a:lnTo>
                    <a:pt x="32145" y="1317661"/>
                  </a:lnTo>
                  <a:lnTo>
                    <a:pt x="22589" y="1258618"/>
                  </a:lnTo>
                  <a:lnTo>
                    <a:pt x="14627" y="1197668"/>
                  </a:lnTo>
                  <a:lnTo>
                    <a:pt x="8323" y="1134971"/>
                  </a:lnTo>
                  <a:lnTo>
                    <a:pt x="3741" y="1070685"/>
                  </a:lnTo>
                  <a:lnTo>
                    <a:pt x="946" y="1004970"/>
                  </a:lnTo>
                  <a:lnTo>
                    <a:pt x="0" y="937983"/>
                  </a:lnTo>
                  <a:close/>
                </a:path>
              </a:pathLst>
            </a:custGeom>
            <a:ln w="63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20611" y="2958843"/>
              <a:ext cx="1080770" cy="274320"/>
            </a:xfrm>
            <a:custGeom>
              <a:avLst/>
              <a:gdLst/>
              <a:ahLst/>
              <a:cxnLst/>
              <a:rect l="l" t="t" r="r" b="b"/>
              <a:pathLst>
                <a:path w="1080770" h="274319">
                  <a:moveTo>
                    <a:pt x="0" y="0"/>
                  </a:moveTo>
                  <a:lnTo>
                    <a:pt x="1080230" y="273901"/>
                  </a:lnTo>
                </a:path>
              </a:pathLst>
            </a:custGeom>
            <a:ln w="207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939269" y="3023959"/>
              <a:ext cx="634365" cy="224790"/>
            </a:xfrm>
            <a:custGeom>
              <a:avLst/>
              <a:gdLst/>
              <a:ahLst/>
              <a:cxnLst/>
              <a:rect l="l" t="t" r="r" b="b"/>
              <a:pathLst>
                <a:path w="634364" h="224789">
                  <a:moveTo>
                    <a:pt x="0" y="224288"/>
                  </a:moveTo>
                  <a:lnTo>
                    <a:pt x="634048" y="0"/>
                  </a:lnTo>
                </a:path>
              </a:pathLst>
            </a:custGeom>
            <a:ln w="207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23258" y="4057549"/>
              <a:ext cx="742950" cy="391160"/>
            </a:xfrm>
            <a:custGeom>
              <a:avLst/>
              <a:gdLst/>
              <a:ahLst/>
              <a:cxnLst/>
              <a:rect l="l" t="t" r="r" b="b"/>
              <a:pathLst>
                <a:path w="742950" h="391160">
                  <a:moveTo>
                    <a:pt x="0" y="0"/>
                  </a:moveTo>
                  <a:lnTo>
                    <a:pt x="742925" y="390697"/>
                  </a:lnTo>
                </a:path>
              </a:pathLst>
            </a:custGeom>
            <a:ln w="208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49095" y="4431709"/>
              <a:ext cx="1165860" cy="332105"/>
            </a:xfrm>
            <a:custGeom>
              <a:avLst/>
              <a:gdLst/>
              <a:ahLst/>
              <a:cxnLst/>
              <a:rect l="l" t="t" r="r" b="b"/>
              <a:pathLst>
                <a:path w="1165860" h="332104">
                  <a:moveTo>
                    <a:pt x="0" y="331782"/>
                  </a:moveTo>
                  <a:lnTo>
                    <a:pt x="1165624" y="0"/>
                  </a:lnTo>
                </a:path>
              </a:pathLst>
            </a:custGeom>
            <a:ln w="207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953145" y="3663750"/>
              <a:ext cx="780415" cy="125095"/>
            </a:xfrm>
            <a:custGeom>
              <a:avLst/>
              <a:gdLst/>
              <a:ahLst/>
              <a:cxnLst/>
              <a:rect l="l" t="t" r="r" b="b"/>
              <a:pathLst>
                <a:path w="780414" h="125095">
                  <a:moveTo>
                    <a:pt x="0" y="125064"/>
                  </a:moveTo>
                  <a:lnTo>
                    <a:pt x="780285" y="0"/>
                  </a:lnTo>
                </a:path>
              </a:pathLst>
            </a:custGeom>
            <a:ln w="206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63983" y="3781581"/>
              <a:ext cx="863600" cy="252729"/>
            </a:xfrm>
            <a:custGeom>
              <a:avLst/>
              <a:gdLst/>
              <a:ahLst/>
              <a:cxnLst/>
              <a:rect l="l" t="t" r="r" b="b"/>
              <a:pathLst>
                <a:path w="863600" h="252729">
                  <a:moveTo>
                    <a:pt x="0" y="252196"/>
                  </a:moveTo>
                  <a:lnTo>
                    <a:pt x="863544" y="0"/>
                  </a:lnTo>
                </a:path>
              </a:pathLst>
            </a:custGeom>
            <a:ln w="207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45555" y="3236878"/>
              <a:ext cx="1299210" cy="488950"/>
            </a:xfrm>
            <a:custGeom>
              <a:avLst/>
              <a:gdLst/>
              <a:ahLst/>
              <a:cxnLst/>
              <a:rect l="l" t="t" r="r" b="b"/>
              <a:pathLst>
                <a:path w="1299210" h="488950">
                  <a:moveTo>
                    <a:pt x="1299051" y="0"/>
                  </a:moveTo>
                  <a:lnTo>
                    <a:pt x="0" y="488888"/>
                  </a:lnTo>
                </a:path>
              </a:pathLst>
            </a:custGeom>
            <a:ln w="207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62579" y="3229643"/>
              <a:ext cx="969644" cy="39370"/>
            </a:xfrm>
            <a:custGeom>
              <a:avLst/>
              <a:gdLst/>
              <a:ahLst/>
              <a:cxnLst/>
              <a:rect l="l" t="t" r="r" b="b"/>
              <a:pathLst>
                <a:path w="969644" h="39370">
                  <a:moveTo>
                    <a:pt x="969218" y="0"/>
                  </a:moveTo>
                  <a:lnTo>
                    <a:pt x="0" y="39276"/>
                  </a:lnTo>
                </a:path>
              </a:pathLst>
            </a:custGeom>
            <a:ln w="206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4488" y="3204787"/>
              <a:ext cx="66078" cy="6418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94488" y="3745353"/>
              <a:ext cx="66078" cy="6418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94488" y="4024423"/>
              <a:ext cx="66078" cy="6418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4488" y="4399617"/>
              <a:ext cx="66078" cy="6418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4261" y="3424992"/>
              <a:ext cx="398148" cy="73591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9937" y="3824991"/>
              <a:ext cx="283933" cy="72041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5791" y="4438462"/>
              <a:ext cx="402846" cy="75444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560509" y="2856517"/>
              <a:ext cx="623374" cy="31937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594665" y="3487007"/>
              <a:ext cx="533710" cy="347286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567981" y="4309745"/>
              <a:ext cx="635116" cy="391730"/>
            </a:xfrm>
            <a:prstGeom prst="rect">
              <a:avLst/>
            </a:prstGeom>
          </p:spPr>
        </p:pic>
      </p:grpSp>
      <p:grpSp>
        <p:nvGrpSpPr>
          <p:cNvPr id="28" name="object 28"/>
          <p:cNvGrpSpPr/>
          <p:nvPr/>
        </p:nvGrpSpPr>
        <p:grpSpPr>
          <a:xfrm>
            <a:off x="3963728" y="3971155"/>
            <a:ext cx="5803265" cy="688975"/>
            <a:chOff x="3963728" y="3971155"/>
            <a:chExt cx="5803265" cy="688975"/>
          </a:xfrm>
        </p:grpSpPr>
        <p:sp>
          <p:nvSpPr>
            <p:cNvPr id="29" name="object 29"/>
            <p:cNvSpPr/>
            <p:nvPr/>
          </p:nvSpPr>
          <p:spPr>
            <a:xfrm>
              <a:off x="3968808" y="4029933"/>
              <a:ext cx="1285240" cy="556895"/>
            </a:xfrm>
            <a:custGeom>
              <a:avLst/>
              <a:gdLst/>
              <a:ahLst/>
              <a:cxnLst/>
              <a:rect l="l" t="t" r="r" b="b"/>
              <a:pathLst>
                <a:path w="1285239" h="556895">
                  <a:moveTo>
                    <a:pt x="1285050" y="0"/>
                  </a:moveTo>
                  <a:lnTo>
                    <a:pt x="0" y="0"/>
                  </a:lnTo>
                  <a:lnTo>
                    <a:pt x="0" y="556820"/>
                  </a:lnTo>
                  <a:lnTo>
                    <a:pt x="1285050" y="556820"/>
                  </a:lnTo>
                  <a:lnTo>
                    <a:pt x="1285050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0" name="object 30"/>
            <p:cNvSpPr/>
            <p:nvPr/>
          </p:nvSpPr>
          <p:spPr>
            <a:xfrm>
              <a:off x="3968808" y="4029933"/>
              <a:ext cx="1285240" cy="556895"/>
            </a:xfrm>
            <a:custGeom>
              <a:avLst/>
              <a:gdLst/>
              <a:ahLst/>
              <a:cxnLst/>
              <a:rect l="l" t="t" r="r" b="b"/>
              <a:pathLst>
                <a:path w="1285239" h="556895">
                  <a:moveTo>
                    <a:pt x="0" y="0"/>
                  </a:moveTo>
                  <a:lnTo>
                    <a:pt x="1285050" y="0"/>
                  </a:lnTo>
                  <a:lnTo>
                    <a:pt x="1285050" y="556820"/>
                  </a:lnTo>
                  <a:lnTo>
                    <a:pt x="0" y="556820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476850" y="4029933"/>
              <a:ext cx="1285240" cy="556895"/>
            </a:xfrm>
            <a:custGeom>
              <a:avLst/>
              <a:gdLst/>
              <a:ahLst/>
              <a:cxnLst/>
              <a:rect l="l" t="t" r="r" b="b"/>
              <a:pathLst>
                <a:path w="1285240" h="556895">
                  <a:moveTo>
                    <a:pt x="1285050" y="0"/>
                  </a:moveTo>
                  <a:lnTo>
                    <a:pt x="0" y="0"/>
                  </a:lnTo>
                  <a:lnTo>
                    <a:pt x="0" y="556820"/>
                  </a:lnTo>
                  <a:lnTo>
                    <a:pt x="1285050" y="556820"/>
                  </a:lnTo>
                  <a:lnTo>
                    <a:pt x="1285050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476850" y="4029933"/>
              <a:ext cx="1285240" cy="556895"/>
            </a:xfrm>
            <a:custGeom>
              <a:avLst/>
              <a:gdLst/>
              <a:ahLst/>
              <a:cxnLst/>
              <a:rect l="l" t="t" r="r" b="b"/>
              <a:pathLst>
                <a:path w="1285240" h="556895">
                  <a:moveTo>
                    <a:pt x="0" y="0"/>
                  </a:moveTo>
                  <a:lnTo>
                    <a:pt x="1285050" y="0"/>
                  </a:lnTo>
                  <a:lnTo>
                    <a:pt x="1285050" y="556820"/>
                  </a:lnTo>
                  <a:lnTo>
                    <a:pt x="0" y="556820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037257" y="3976235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6"/>
                  </a:lnTo>
                  <a:lnTo>
                    <a:pt x="838809" y="678533"/>
                  </a:lnTo>
                  <a:lnTo>
                    <a:pt x="1677619" y="339266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037257" y="3976235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253859" y="4308344"/>
              <a:ext cx="783590" cy="7620"/>
            </a:xfrm>
            <a:custGeom>
              <a:avLst/>
              <a:gdLst/>
              <a:ahLst/>
              <a:cxnLst/>
              <a:rect l="l" t="t" r="r" b="b"/>
              <a:pathLst>
                <a:path w="783589" h="7620">
                  <a:moveTo>
                    <a:pt x="0" y="0"/>
                  </a:moveTo>
                  <a:lnTo>
                    <a:pt x="783398" y="7158"/>
                  </a:lnTo>
                </a:path>
              </a:pathLst>
            </a:custGeom>
            <a:ln w="13546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714813" y="4254085"/>
              <a:ext cx="762635" cy="110489"/>
            </a:xfrm>
            <a:custGeom>
              <a:avLst/>
              <a:gdLst/>
              <a:ahLst/>
              <a:cxnLst/>
              <a:rect l="l" t="t" r="r" b="b"/>
              <a:pathLst>
                <a:path w="762634" h="110489">
                  <a:moveTo>
                    <a:pt x="750422" y="47611"/>
                  </a:moveTo>
                  <a:lnTo>
                    <a:pt x="748559" y="47611"/>
                  </a:lnTo>
                  <a:lnTo>
                    <a:pt x="748686" y="61156"/>
                  </a:lnTo>
                  <a:lnTo>
                    <a:pt x="723637" y="61392"/>
                  </a:lnTo>
                  <a:lnTo>
                    <a:pt x="661113" y="98656"/>
                  </a:lnTo>
                  <a:lnTo>
                    <a:pt x="660060" y="102812"/>
                  </a:lnTo>
                  <a:lnTo>
                    <a:pt x="663891" y="109240"/>
                  </a:lnTo>
                  <a:lnTo>
                    <a:pt x="668049" y="110293"/>
                  </a:lnTo>
                  <a:lnTo>
                    <a:pt x="762067" y="54258"/>
                  </a:lnTo>
                  <a:lnTo>
                    <a:pt x="750422" y="47611"/>
                  </a:lnTo>
                  <a:close/>
                </a:path>
                <a:path w="762634" h="110489">
                  <a:moveTo>
                    <a:pt x="723509" y="47846"/>
                  </a:moveTo>
                  <a:lnTo>
                    <a:pt x="0" y="54643"/>
                  </a:lnTo>
                  <a:lnTo>
                    <a:pt x="126" y="68190"/>
                  </a:lnTo>
                  <a:lnTo>
                    <a:pt x="723637" y="61392"/>
                  </a:lnTo>
                  <a:lnTo>
                    <a:pt x="735184" y="54510"/>
                  </a:lnTo>
                  <a:lnTo>
                    <a:pt x="723509" y="47846"/>
                  </a:lnTo>
                  <a:close/>
                </a:path>
                <a:path w="762634" h="110489">
                  <a:moveTo>
                    <a:pt x="735184" y="54510"/>
                  </a:moveTo>
                  <a:lnTo>
                    <a:pt x="723637" y="61392"/>
                  </a:lnTo>
                  <a:lnTo>
                    <a:pt x="748686" y="61156"/>
                  </a:lnTo>
                  <a:lnTo>
                    <a:pt x="748678" y="60266"/>
                  </a:lnTo>
                  <a:lnTo>
                    <a:pt x="745267" y="60266"/>
                  </a:lnTo>
                  <a:lnTo>
                    <a:pt x="735184" y="54510"/>
                  </a:lnTo>
                  <a:close/>
                </a:path>
                <a:path w="762634" h="110489">
                  <a:moveTo>
                    <a:pt x="745158" y="48566"/>
                  </a:moveTo>
                  <a:lnTo>
                    <a:pt x="735184" y="54510"/>
                  </a:lnTo>
                  <a:lnTo>
                    <a:pt x="745267" y="60266"/>
                  </a:lnTo>
                  <a:lnTo>
                    <a:pt x="745158" y="48566"/>
                  </a:lnTo>
                  <a:close/>
                </a:path>
                <a:path w="762634" h="110489">
                  <a:moveTo>
                    <a:pt x="748568" y="48566"/>
                  </a:moveTo>
                  <a:lnTo>
                    <a:pt x="745158" y="48566"/>
                  </a:lnTo>
                  <a:lnTo>
                    <a:pt x="745267" y="60266"/>
                  </a:lnTo>
                  <a:lnTo>
                    <a:pt x="748678" y="60266"/>
                  </a:lnTo>
                  <a:lnTo>
                    <a:pt x="748568" y="48566"/>
                  </a:lnTo>
                  <a:close/>
                </a:path>
                <a:path w="762634" h="110489">
                  <a:moveTo>
                    <a:pt x="748559" y="47611"/>
                  </a:moveTo>
                  <a:lnTo>
                    <a:pt x="723509" y="47846"/>
                  </a:lnTo>
                  <a:lnTo>
                    <a:pt x="735184" y="54510"/>
                  </a:lnTo>
                  <a:lnTo>
                    <a:pt x="745158" y="48566"/>
                  </a:lnTo>
                  <a:lnTo>
                    <a:pt x="748568" y="48566"/>
                  </a:lnTo>
                  <a:lnTo>
                    <a:pt x="748559" y="47611"/>
                  </a:lnTo>
                  <a:close/>
                </a:path>
                <a:path w="762634" h="110489">
                  <a:moveTo>
                    <a:pt x="667012" y="0"/>
                  </a:moveTo>
                  <a:lnTo>
                    <a:pt x="662876" y="1130"/>
                  </a:lnTo>
                  <a:lnTo>
                    <a:pt x="659166" y="7627"/>
                  </a:lnTo>
                  <a:lnTo>
                    <a:pt x="660297" y="11764"/>
                  </a:lnTo>
                  <a:lnTo>
                    <a:pt x="723509" y="47846"/>
                  </a:lnTo>
                  <a:lnTo>
                    <a:pt x="750422" y="47611"/>
                  </a:lnTo>
                  <a:lnTo>
                    <a:pt x="667012" y="0"/>
                  </a:lnTo>
                  <a:close/>
                </a:path>
              </a:pathLst>
            </a:custGeom>
            <a:solidFill>
              <a:srgbClr val="2929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5114150" y="6103111"/>
            <a:ext cx="203517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(many-to-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one)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327426" y="4161535"/>
            <a:ext cx="109855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was_born_in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15060">
              <a:lnSpc>
                <a:spcPct val="100000"/>
              </a:lnSpc>
              <a:spcBef>
                <a:spcPts val="100"/>
              </a:spcBef>
            </a:pPr>
            <a:r>
              <a:rPr spc="-105" dirty="0">
                <a:solidFill>
                  <a:srgbClr val="292934"/>
                </a:solidFill>
              </a:rPr>
              <a:t>Let’s</a:t>
            </a:r>
            <a:r>
              <a:rPr spc="-220" dirty="0">
                <a:solidFill>
                  <a:srgbClr val="292934"/>
                </a:solidFill>
              </a:rPr>
              <a:t> </a:t>
            </a:r>
            <a:r>
              <a:rPr spc="-110" dirty="0">
                <a:solidFill>
                  <a:srgbClr val="292934"/>
                </a:solidFill>
              </a:rPr>
              <a:t>try:</a:t>
            </a:r>
            <a:r>
              <a:rPr spc="-210" dirty="0">
                <a:solidFill>
                  <a:srgbClr val="292934"/>
                </a:solidFill>
              </a:rPr>
              <a:t> </a:t>
            </a:r>
            <a:r>
              <a:rPr spc="-150" dirty="0">
                <a:solidFill>
                  <a:srgbClr val="292934"/>
                </a:solidFill>
              </a:rPr>
              <a:t>Cardinality</a:t>
            </a:r>
            <a:r>
              <a:rPr spc="-225" dirty="0">
                <a:solidFill>
                  <a:srgbClr val="292934"/>
                </a:solidFill>
              </a:rPr>
              <a:t> </a:t>
            </a:r>
            <a:r>
              <a:rPr spc="-25" dirty="0">
                <a:solidFill>
                  <a:srgbClr val="292934"/>
                </a:solidFill>
              </a:rPr>
              <a:t>(2)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49985" y="2610608"/>
            <a:ext cx="3231515" cy="2413635"/>
            <a:chOff x="449985" y="2610608"/>
            <a:chExt cx="3231515" cy="24136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61325" y="2844305"/>
              <a:ext cx="419640" cy="104370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9985" y="4197838"/>
              <a:ext cx="465033" cy="82586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79726" y="3584518"/>
              <a:ext cx="316349" cy="85230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7022" y="3612011"/>
              <a:ext cx="526194" cy="79097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2698" y="3124526"/>
              <a:ext cx="333708" cy="71353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08311" y="2651849"/>
              <a:ext cx="410580" cy="76876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24014" y="2610608"/>
              <a:ext cx="289986" cy="529781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363320" y="4148465"/>
            <a:ext cx="277089" cy="87491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61054" y="2467726"/>
            <a:ext cx="3532504" cy="2590800"/>
          </a:xfrm>
          <a:prstGeom prst="rect">
            <a:avLst/>
          </a:prstGeom>
          <a:ln w="10159">
            <a:solidFill>
              <a:srgbClr val="7F7F7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35"/>
              </a:spcBef>
            </a:pPr>
            <a:endParaRPr sz="1550">
              <a:latin typeface="Times New Roman"/>
              <a:cs typeface="Times New Roman"/>
            </a:endParaRPr>
          </a:p>
          <a:p>
            <a:pPr marL="195580" algn="ctr">
              <a:lnSpc>
                <a:spcPct val="100000"/>
              </a:lnSpc>
            </a:pPr>
            <a:r>
              <a:rPr sz="1550" i="1" dirty="0">
                <a:latin typeface="Times New Roman"/>
                <a:cs typeface="Times New Roman"/>
              </a:rPr>
              <a:t>Is</a:t>
            </a:r>
            <a:r>
              <a:rPr sz="1550" i="1" spc="-45" dirty="0">
                <a:latin typeface="Times New Roman"/>
                <a:cs typeface="Times New Roman"/>
              </a:rPr>
              <a:t> </a:t>
            </a:r>
            <a:r>
              <a:rPr sz="1550" i="1" dirty="0">
                <a:latin typeface="Times New Roman"/>
                <a:cs typeface="Times New Roman"/>
              </a:rPr>
              <a:t>Married</a:t>
            </a:r>
            <a:r>
              <a:rPr sz="1550" i="1" spc="-45" dirty="0">
                <a:latin typeface="Times New Roman"/>
                <a:cs typeface="Times New Roman"/>
              </a:rPr>
              <a:t> </a:t>
            </a:r>
            <a:r>
              <a:rPr sz="1550" i="1" spc="-25" dirty="0">
                <a:latin typeface="Times New Roman"/>
                <a:cs typeface="Times New Roman"/>
              </a:rPr>
              <a:t>to</a:t>
            </a:r>
            <a:endParaRPr sz="155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75279" y="2646209"/>
            <a:ext cx="2541905" cy="1971039"/>
            <a:chOff x="775279" y="2646209"/>
            <a:chExt cx="2541905" cy="1971039"/>
          </a:xfrm>
        </p:grpSpPr>
        <p:sp>
          <p:nvSpPr>
            <p:cNvPr id="14" name="object 14"/>
            <p:cNvSpPr/>
            <p:nvPr/>
          </p:nvSpPr>
          <p:spPr>
            <a:xfrm>
              <a:off x="1693237" y="2650790"/>
              <a:ext cx="744855" cy="1919605"/>
            </a:xfrm>
            <a:custGeom>
              <a:avLst/>
              <a:gdLst/>
              <a:ahLst/>
              <a:cxnLst/>
              <a:rect l="l" t="t" r="r" b="b"/>
              <a:pathLst>
                <a:path w="744855" h="1919604">
                  <a:moveTo>
                    <a:pt x="0" y="959634"/>
                  </a:moveTo>
                  <a:lnTo>
                    <a:pt x="858" y="893931"/>
                  </a:lnTo>
                  <a:lnTo>
                    <a:pt x="3398" y="829417"/>
                  </a:lnTo>
                  <a:lnTo>
                    <a:pt x="7562" y="766234"/>
                  </a:lnTo>
                  <a:lnTo>
                    <a:pt x="13296" y="704525"/>
                  </a:lnTo>
                  <a:lnTo>
                    <a:pt x="20545" y="644433"/>
                  </a:lnTo>
                  <a:lnTo>
                    <a:pt x="29252" y="586101"/>
                  </a:lnTo>
                  <a:lnTo>
                    <a:pt x="39362" y="529672"/>
                  </a:lnTo>
                  <a:lnTo>
                    <a:pt x="50821" y="475288"/>
                  </a:lnTo>
                  <a:lnTo>
                    <a:pt x="63572" y="423093"/>
                  </a:lnTo>
                  <a:lnTo>
                    <a:pt x="77560" y="373230"/>
                  </a:lnTo>
                  <a:lnTo>
                    <a:pt x="92730" y="325841"/>
                  </a:lnTo>
                  <a:lnTo>
                    <a:pt x="109025" y="281070"/>
                  </a:lnTo>
                  <a:lnTo>
                    <a:pt x="126392" y="239059"/>
                  </a:lnTo>
                  <a:lnTo>
                    <a:pt x="144774" y="199951"/>
                  </a:lnTo>
                  <a:lnTo>
                    <a:pt x="164115" y="163890"/>
                  </a:lnTo>
                  <a:lnTo>
                    <a:pt x="184362" y="131018"/>
                  </a:lnTo>
                  <a:lnTo>
                    <a:pt x="227345" y="75412"/>
                  </a:lnTo>
                  <a:lnTo>
                    <a:pt x="273282" y="34279"/>
                  </a:lnTo>
                  <a:lnTo>
                    <a:pt x="321727" y="8760"/>
                  </a:lnTo>
                  <a:lnTo>
                    <a:pt x="372237" y="0"/>
                  </a:lnTo>
                  <a:lnTo>
                    <a:pt x="397723" y="2213"/>
                  </a:lnTo>
                  <a:lnTo>
                    <a:pt x="447256" y="19496"/>
                  </a:lnTo>
                  <a:lnTo>
                    <a:pt x="494502" y="52965"/>
                  </a:lnTo>
                  <a:lnTo>
                    <a:pt x="539017" y="101478"/>
                  </a:lnTo>
                  <a:lnTo>
                    <a:pt x="580359" y="163890"/>
                  </a:lnTo>
                  <a:lnTo>
                    <a:pt x="599700" y="199951"/>
                  </a:lnTo>
                  <a:lnTo>
                    <a:pt x="618082" y="239059"/>
                  </a:lnTo>
                  <a:lnTo>
                    <a:pt x="635449" y="281070"/>
                  </a:lnTo>
                  <a:lnTo>
                    <a:pt x="651745" y="325841"/>
                  </a:lnTo>
                  <a:lnTo>
                    <a:pt x="666914" y="373230"/>
                  </a:lnTo>
                  <a:lnTo>
                    <a:pt x="680902" y="423093"/>
                  </a:lnTo>
                  <a:lnTo>
                    <a:pt x="693653" y="475288"/>
                  </a:lnTo>
                  <a:lnTo>
                    <a:pt x="705112" y="529672"/>
                  </a:lnTo>
                  <a:lnTo>
                    <a:pt x="715222" y="586101"/>
                  </a:lnTo>
                  <a:lnTo>
                    <a:pt x="723930" y="644433"/>
                  </a:lnTo>
                  <a:lnTo>
                    <a:pt x="731178" y="704525"/>
                  </a:lnTo>
                  <a:lnTo>
                    <a:pt x="736912" y="766234"/>
                  </a:lnTo>
                  <a:lnTo>
                    <a:pt x="741077" y="829417"/>
                  </a:lnTo>
                  <a:lnTo>
                    <a:pt x="743616" y="893931"/>
                  </a:lnTo>
                  <a:lnTo>
                    <a:pt x="744475" y="959634"/>
                  </a:lnTo>
                  <a:lnTo>
                    <a:pt x="743616" y="1025336"/>
                  </a:lnTo>
                  <a:lnTo>
                    <a:pt x="741077" y="1089851"/>
                  </a:lnTo>
                  <a:lnTo>
                    <a:pt x="736912" y="1153034"/>
                  </a:lnTo>
                  <a:lnTo>
                    <a:pt x="731178" y="1214743"/>
                  </a:lnTo>
                  <a:lnTo>
                    <a:pt x="723930" y="1274835"/>
                  </a:lnTo>
                  <a:lnTo>
                    <a:pt x="715222" y="1333167"/>
                  </a:lnTo>
                  <a:lnTo>
                    <a:pt x="705112" y="1389596"/>
                  </a:lnTo>
                  <a:lnTo>
                    <a:pt x="693653" y="1443980"/>
                  </a:lnTo>
                  <a:lnTo>
                    <a:pt x="680902" y="1496175"/>
                  </a:lnTo>
                  <a:lnTo>
                    <a:pt x="666914" y="1546038"/>
                  </a:lnTo>
                  <a:lnTo>
                    <a:pt x="651745" y="1593427"/>
                  </a:lnTo>
                  <a:lnTo>
                    <a:pt x="635449" y="1638198"/>
                  </a:lnTo>
                  <a:lnTo>
                    <a:pt x="618082" y="1680209"/>
                  </a:lnTo>
                  <a:lnTo>
                    <a:pt x="599700" y="1719316"/>
                  </a:lnTo>
                  <a:lnTo>
                    <a:pt x="580359" y="1755378"/>
                  </a:lnTo>
                  <a:lnTo>
                    <a:pt x="560112" y="1788250"/>
                  </a:lnTo>
                  <a:lnTo>
                    <a:pt x="517129" y="1843855"/>
                  </a:lnTo>
                  <a:lnTo>
                    <a:pt x="471193" y="1884989"/>
                  </a:lnTo>
                  <a:lnTo>
                    <a:pt x="422747" y="1910508"/>
                  </a:lnTo>
                  <a:lnTo>
                    <a:pt x="372237" y="1919268"/>
                  </a:lnTo>
                  <a:lnTo>
                    <a:pt x="346751" y="1917054"/>
                  </a:lnTo>
                  <a:lnTo>
                    <a:pt x="297218" y="1899772"/>
                  </a:lnTo>
                  <a:lnTo>
                    <a:pt x="249972" y="1866303"/>
                  </a:lnTo>
                  <a:lnTo>
                    <a:pt x="205457" y="1817790"/>
                  </a:lnTo>
                  <a:lnTo>
                    <a:pt x="164115" y="1755378"/>
                  </a:lnTo>
                  <a:lnTo>
                    <a:pt x="144774" y="1719316"/>
                  </a:lnTo>
                  <a:lnTo>
                    <a:pt x="126392" y="1680209"/>
                  </a:lnTo>
                  <a:lnTo>
                    <a:pt x="109025" y="1638198"/>
                  </a:lnTo>
                  <a:lnTo>
                    <a:pt x="92730" y="1593427"/>
                  </a:lnTo>
                  <a:lnTo>
                    <a:pt x="77560" y="1546038"/>
                  </a:lnTo>
                  <a:lnTo>
                    <a:pt x="63572" y="1496175"/>
                  </a:lnTo>
                  <a:lnTo>
                    <a:pt x="50821" y="1443980"/>
                  </a:lnTo>
                  <a:lnTo>
                    <a:pt x="39362" y="1389596"/>
                  </a:lnTo>
                  <a:lnTo>
                    <a:pt x="29252" y="1333167"/>
                  </a:lnTo>
                  <a:lnTo>
                    <a:pt x="20545" y="1274835"/>
                  </a:lnTo>
                  <a:lnTo>
                    <a:pt x="13296" y="1214743"/>
                  </a:lnTo>
                  <a:lnTo>
                    <a:pt x="7562" y="1153034"/>
                  </a:lnTo>
                  <a:lnTo>
                    <a:pt x="3398" y="1089851"/>
                  </a:lnTo>
                  <a:lnTo>
                    <a:pt x="858" y="1025336"/>
                  </a:lnTo>
                  <a:lnTo>
                    <a:pt x="0" y="959634"/>
                  </a:lnTo>
                  <a:close/>
                </a:path>
              </a:pathLst>
            </a:custGeom>
            <a:ln w="91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34532" y="3121356"/>
              <a:ext cx="774065" cy="137795"/>
            </a:xfrm>
            <a:custGeom>
              <a:avLst/>
              <a:gdLst/>
              <a:ahLst/>
              <a:cxnLst/>
              <a:rect l="l" t="t" r="r" b="b"/>
              <a:pathLst>
                <a:path w="774064" h="137795">
                  <a:moveTo>
                    <a:pt x="0" y="0"/>
                  </a:moveTo>
                  <a:lnTo>
                    <a:pt x="774000" y="137468"/>
                  </a:lnTo>
                </a:path>
              </a:pathLst>
            </a:custGeom>
            <a:ln w="306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994824" y="3257765"/>
              <a:ext cx="1227455" cy="24765"/>
            </a:xfrm>
            <a:custGeom>
              <a:avLst/>
              <a:gdLst/>
              <a:ahLst/>
              <a:cxnLst/>
              <a:rect l="l" t="t" r="r" b="b"/>
              <a:pathLst>
                <a:path w="1227455" h="24764">
                  <a:moveTo>
                    <a:pt x="0" y="0"/>
                  </a:moveTo>
                  <a:lnTo>
                    <a:pt x="1227434" y="24321"/>
                  </a:lnTo>
                </a:path>
              </a:pathLst>
            </a:custGeom>
            <a:ln w="306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77766" y="3841477"/>
              <a:ext cx="749935" cy="238125"/>
            </a:xfrm>
            <a:custGeom>
              <a:avLst/>
              <a:gdLst/>
              <a:ahLst/>
              <a:cxnLst/>
              <a:rect l="l" t="t" r="r" b="b"/>
              <a:pathLst>
                <a:path w="749935" h="238125">
                  <a:moveTo>
                    <a:pt x="0" y="237926"/>
                  </a:moveTo>
                  <a:lnTo>
                    <a:pt x="749747" y="0"/>
                  </a:lnTo>
                </a:path>
              </a:pathLst>
            </a:custGeom>
            <a:ln w="306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030676" y="3844651"/>
              <a:ext cx="975994" cy="118745"/>
            </a:xfrm>
            <a:custGeom>
              <a:avLst/>
              <a:gdLst/>
              <a:ahLst/>
              <a:cxnLst/>
              <a:rect l="l" t="t" r="r" b="b"/>
              <a:pathLst>
                <a:path w="975994" h="118745">
                  <a:moveTo>
                    <a:pt x="0" y="0"/>
                  </a:moveTo>
                  <a:lnTo>
                    <a:pt x="975410" y="118434"/>
                  </a:lnTo>
                </a:path>
              </a:pathLst>
            </a:custGeom>
            <a:ln w="306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46653" y="4228503"/>
              <a:ext cx="1094105" cy="373380"/>
            </a:xfrm>
            <a:custGeom>
              <a:avLst/>
              <a:gdLst/>
              <a:ahLst/>
              <a:cxnLst/>
              <a:rect l="l" t="t" r="r" b="b"/>
              <a:pathLst>
                <a:path w="1094105" h="373379">
                  <a:moveTo>
                    <a:pt x="0" y="373278"/>
                  </a:moveTo>
                  <a:lnTo>
                    <a:pt x="1093514" y="0"/>
                  </a:lnTo>
                </a:path>
              </a:pathLst>
            </a:custGeom>
            <a:ln w="306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031730" y="4224273"/>
              <a:ext cx="1270000" cy="371475"/>
            </a:xfrm>
            <a:custGeom>
              <a:avLst/>
              <a:gdLst/>
              <a:ahLst/>
              <a:cxnLst/>
              <a:rect l="l" t="t" r="r" b="b"/>
              <a:pathLst>
                <a:path w="1270000" h="371475">
                  <a:moveTo>
                    <a:pt x="0" y="0"/>
                  </a:moveTo>
                  <a:lnTo>
                    <a:pt x="1269614" y="371164"/>
                  </a:lnTo>
                </a:path>
              </a:pathLst>
            </a:custGeom>
            <a:ln w="306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90588" y="3510497"/>
              <a:ext cx="1244600" cy="52069"/>
            </a:xfrm>
            <a:custGeom>
              <a:avLst/>
              <a:gdLst/>
              <a:ahLst/>
              <a:cxnLst/>
              <a:rect l="l" t="t" r="r" b="b"/>
              <a:pathLst>
                <a:path w="1244600" h="52070">
                  <a:moveTo>
                    <a:pt x="0" y="0"/>
                  </a:moveTo>
                  <a:lnTo>
                    <a:pt x="1244306" y="51815"/>
                  </a:lnTo>
                </a:path>
              </a:pathLst>
            </a:custGeom>
            <a:ln w="306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051767" y="2936302"/>
              <a:ext cx="928369" cy="69215"/>
            </a:xfrm>
            <a:custGeom>
              <a:avLst/>
              <a:gdLst/>
              <a:ahLst/>
              <a:cxnLst/>
              <a:rect l="l" t="t" r="r" b="b"/>
              <a:pathLst>
                <a:path w="928369" h="69214">
                  <a:moveTo>
                    <a:pt x="0" y="68733"/>
                  </a:moveTo>
                  <a:lnTo>
                    <a:pt x="927957" y="0"/>
                  </a:lnTo>
                </a:path>
              </a:pathLst>
            </a:custGeom>
            <a:ln w="306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000783" y="2970841"/>
              <a:ext cx="68223" cy="6838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000783" y="3222515"/>
              <a:ext cx="68223" cy="6838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000783" y="3523887"/>
              <a:ext cx="68223" cy="6838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000783" y="3809397"/>
              <a:ext cx="68223" cy="6838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00783" y="4193252"/>
              <a:ext cx="68223" cy="68389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399795" y="1188720"/>
            <a:ext cx="9390380" cy="763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5200"/>
              </a:lnSpc>
              <a:spcBef>
                <a:spcPts val="100"/>
              </a:spcBef>
            </a:pP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Draw</a:t>
            </a:r>
            <a:r>
              <a:rPr sz="2300" b="1" spc="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an</a:t>
            </a:r>
            <a:r>
              <a:rPr sz="2300" b="1" spc="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E-R</a:t>
            </a:r>
            <a:r>
              <a:rPr sz="2300" b="1" spc="10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diagram</a:t>
            </a:r>
            <a:r>
              <a:rPr sz="2300" b="1" spc="10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300" b="1" spc="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model</a:t>
            </a:r>
            <a:r>
              <a:rPr sz="2300" b="1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b="1" spc="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given</a:t>
            </a:r>
            <a:r>
              <a:rPr sz="2300" b="1" spc="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image</a:t>
            </a:r>
            <a:r>
              <a:rPr sz="2300" b="1" spc="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spc="-10" dirty="0">
                <a:solidFill>
                  <a:srgbClr val="292934"/>
                </a:solidFill>
                <a:latin typeface="Verdana"/>
                <a:cs typeface="Verdana"/>
              </a:rPr>
              <a:t>sample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data.</a:t>
            </a:r>
            <a:r>
              <a:rPr sz="2300" b="1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Specify</a:t>
            </a:r>
            <a:r>
              <a:rPr sz="2300" b="1" spc="1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b="1" spc="1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cardinality.</a:t>
            </a:r>
            <a:r>
              <a:rPr sz="2300" b="1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Interpret</a:t>
            </a:r>
            <a:r>
              <a:rPr sz="2300" b="1" spc="10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b="1" spc="1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E-R</a:t>
            </a:r>
            <a:r>
              <a:rPr sz="2300" b="1" spc="1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spc="-10" dirty="0">
                <a:solidFill>
                  <a:srgbClr val="292934"/>
                </a:solidFill>
                <a:latin typeface="Verdana"/>
                <a:cs typeface="Verdana"/>
              </a:rPr>
              <a:t>diagram.</a:t>
            </a:r>
            <a:endParaRPr sz="2300">
              <a:latin typeface="Verdana"/>
              <a:cs typeface="Verdan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963728" y="3971155"/>
            <a:ext cx="5803265" cy="688975"/>
            <a:chOff x="3963728" y="3971155"/>
            <a:chExt cx="5803265" cy="688975"/>
          </a:xfrm>
        </p:grpSpPr>
        <p:sp>
          <p:nvSpPr>
            <p:cNvPr id="30" name="object 30"/>
            <p:cNvSpPr/>
            <p:nvPr/>
          </p:nvSpPr>
          <p:spPr>
            <a:xfrm>
              <a:off x="3968808" y="4029933"/>
              <a:ext cx="1285240" cy="556895"/>
            </a:xfrm>
            <a:custGeom>
              <a:avLst/>
              <a:gdLst/>
              <a:ahLst/>
              <a:cxnLst/>
              <a:rect l="l" t="t" r="r" b="b"/>
              <a:pathLst>
                <a:path w="1285239" h="556895">
                  <a:moveTo>
                    <a:pt x="1285050" y="0"/>
                  </a:moveTo>
                  <a:lnTo>
                    <a:pt x="0" y="0"/>
                  </a:lnTo>
                  <a:lnTo>
                    <a:pt x="0" y="556820"/>
                  </a:lnTo>
                  <a:lnTo>
                    <a:pt x="1285050" y="556820"/>
                  </a:lnTo>
                  <a:lnTo>
                    <a:pt x="1285050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968808" y="4029933"/>
              <a:ext cx="1285240" cy="556895"/>
            </a:xfrm>
            <a:custGeom>
              <a:avLst/>
              <a:gdLst/>
              <a:ahLst/>
              <a:cxnLst/>
              <a:rect l="l" t="t" r="r" b="b"/>
              <a:pathLst>
                <a:path w="1285239" h="556895">
                  <a:moveTo>
                    <a:pt x="0" y="0"/>
                  </a:moveTo>
                  <a:lnTo>
                    <a:pt x="1285050" y="0"/>
                  </a:lnTo>
                  <a:lnTo>
                    <a:pt x="1285050" y="556820"/>
                  </a:lnTo>
                  <a:lnTo>
                    <a:pt x="0" y="556820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476850" y="4029933"/>
              <a:ext cx="1285240" cy="556895"/>
            </a:xfrm>
            <a:custGeom>
              <a:avLst/>
              <a:gdLst/>
              <a:ahLst/>
              <a:cxnLst/>
              <a:rect l="l" t="t" r="r" b="b"/>
              <a:pathLst>
                <a:path w="1285240" h="556895">
                  <a:moveTo>
                    <a:pt x="1285050" y="0"/>
                  </a:moveTo>
                  <a:lnTo>
                    <a:pt x="0" y="0"/>
                  </a:lnTo>
                  <a:lnTo>
                    <a:pt x="0" y="556820"/>
                  </a:lnTo>
                  <a:lnTo>
                    <a:pt x="1285050" y="556820"/>
                  </a:lnTo>
                  <a:lnTo>
                    <a:pt x="1285050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476850" y="4029933"/>
              <a:ext cx="1285240" cy="556895"/>
            </a:xfrm>
            <a:custGeom>
              <a:avLst/>
              <a:gdLst/>
              <a:ahLst/>
              <a:cxnLst/>
              <a:rect l="l" t="t" r="r" b="b"/>
              <a:pathLst>
                <a:path w="1285240" h="556895">
                  <a:moveTo>
                    <a:pt x="0" y="0"/>
                  </a:moveTo>
                  <a:lnTo>
                    <a:pt x="1285050" y="0"/>
                  </a:lnTo>
                  <a:lnTo>
                    <a:pt x="1285050" y="556820"/>
                  </a:lnTo>
                  <a:lnTo>
                    <a:pt x="0" y="556820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037257" y="3976235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6"/>
                  </a:lnTo>
                  <a:lnTo>
                    <a:pt x="838809" y="678533"/>
                  </a:lnTo>
                  <a:lnTo>
                    <a:pt x="1677619" y="339266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037257" y="3976235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253825" y="4254067"/>
              <a:ext cx="3223260" cy="110489"/>
            </a:xfrm>
            <a:custGeom>
              <a:avLst/>
              <a:gdLst/>
              <a:ahLst/>
              <a:cxnLst/>
              <a:rect l="l" t="t" r="r" b="b"/>
              <a:pathLst>
                <a:path w="3223259" h="110489">
                  <a:moveTo>
                    <a:pt x="783488" y="54660"/>
                  </a:moveTo>
                  <a:lnTo>
                    <a:pt x="38557" y="47866"/>
                  </a:lnTo>
                  <a:lnTo>
                    <a:pt x="38950" y="47625"/>
                  </a:lnTo>
                  <a:lnTo>
                    <a:pt x="101752" y="11760"/>
                  </a:lnTo>
                  <a:lnTo>
                    <a:pt x="102882" y="7620"/>
                  </a:lnTo>
                  <a:lnTo>
                    <a:pt x="99174" y="1130"/>
                  </a:lnTo>
                  <a:lnTo>
                    <a:pt x="95034" y="0"/>
                  </a:lnTo>
                  <a:lnTo>
                    <a:pt x="0" y="54279"/>
                  </a:lnTo>
                  <a:lnTo>
                    <a:pt x="94030" y="110286"/>
                  </a:lnTo>
                  <a:lnTo>
                    <a:pt x="98183" y="109232"/>
                  </a:lnTo>
                  <a:lnTo>
                    <a:pt x="102019" y="102806"/>
                  </a:lnTo>
                  <a:lnTo>
                    <a:pt x="100965" y="98653"/>
                  </a:lnTo>
                  <a:lnTo>
                    <a:pt x="38430" y="61404"/>
                  </a:lnTo>
                  <a:lnTo>
                    <a:pt x="783361" y="68211"/>
                  </a:lnTo>
                  <a:lnTo>
                    <a:pt x="783488" y="54660"/>
                  </a:lnTo>
                  <a:close/>
                </a:path>
                <a:path w="3223259" h="110489">
                  <a:moveTo>
                    <a:pt x="3223044" y="54279"/>
                  </a:moveTo>
                  <a:lnTo>
                    <a:pt x="3211398" y="47637"/>
                  </a:lnTo>
                  <a:lnTo>
                    <a:pt x="3127997" y="25"/>
                  </a:lnTo>
                  <a:lnTo>
                    <a:pt x="3123857" y="1155"/>
                  </a:lnTo>
                  <a:lnTo>
                    <a:pt x="3120148" y="7645"/>
                  </a:lnTo>
                  <a:lnTo>
                    <a:pt x="3121279" y="11785"/>
                  </a:lnTo>
                  <a:lnTo>
                    <a:pt x="3184487" y="47866"/>
                  </a:lnTo>
                  <a:lnTo>
                    <a:pt x="2460980" y="54660"/>
                  </a:lnTo>
                  <a:lnTo>
                    <a:pt x="2461107" y="68211"/>
                  </a:lnTo>
                  <a:lnTo>
                    <a:pt x="3184614" y="61417"/>
                  </a:lnTo>
                  <a:lnTo>
                    <a:pt x="3122091" y="98679"/>
                  </a:lnTo>
                  <a:lnTo>
                    <a:pt x="3121037" y="102831"/>
                  </a:lnTo>
                  <a:lnTo>
                    <a:pt x="3124873" y="109258"/>
                  </a:lnTo>
                  <a:lnTo>
                    <a:pt x="3129026" y="110312"/>
                  </a:lnTo>
                  <a:lnTo>
                    <a:pt x="3223044" y="54279"/>
                  </a:lnTo>
                  <a:close/>
                </a:path>
              </a:pathLst>
            </a:custGeom>
            <a:solidFill>
              <a:srgbClr val="2929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5241421" y="6084823"/>
            <a:ext cx="178117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(one-to-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one)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291019" y="4161535"/>
            <a:ext cx="117157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is_married_to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15060">
              <a:lnSpc>
                <a:spcPct val="100000"/>
              </a:lnSpc>
              <a:spcBef>
                <a:spcPts val="100"/>
              </a:spcBef>
            </a:pPr>
            <a:r>
              <a:rPr spc="-105" dirty="0">
                <a:solidFill>
                  <a:srgbClr val="292934"/>
                </a:solidFill>
              </a:rPr>
              <a:t>Let’s</a:t>
            </a:r>
            <a:r>
              <a:rPr spc="-220" dirty="0">
                <a:solidFill>
                  <a:srgbClr val="292934"/>
                </a:solidFill>
              </a:rPr>
              <a:t> </a:t>
            </a:r>
            <a:r>
              <a:rPr spc="-110" dirty="0">
                <a:solidFill>
                  <a:srgbClr val="292934"/>
                </a:solidFill>
              </a:rPr>
              <a:t>try:</a:t>
            </a:r>
            <a:r>
              <a:rPr spc="-210" dirty="0">
                <a:solidFill>
                  <a:srgbClr val="292934"/>
                </a:solidFill>
              </a:rPr>
              <a:t> </a:t>
            </a:r>
            <a:r>
              <a:rPr spc="-150" dirty="0">
                <a:solidFill>
                  <a:srgbClr val="292934"/>
                </a:solidFill>
              </a:rPr>
              <a:t>Cardinality</a:t>
            </a:r>
            <a:r>
              <a:rPr spc="-225" dirty="0">
                <a:solidFill>
                  <a:srgbClr val="292934"/>
                </a:solidFill>
              </a:rPr>
              <a:t> </a:t>
            </a:r>
            <a:r>
              <a:rPr spc="-25" dirty="0">
                <a:solidFill>
                  <a:srgbClr val="292934"/>
                </a:solidFill>
              </a:rPr>
              <a:t>(</a:t>
            </a:r>
            <a:r>
              <a:rPr lang="en-US" spc="-25" dirty="0">
                <a:solidFill>
                  <a:srgbClr val="292934"/>
                </a:solidFill>
              </a:rPr>
              <a:t>3</a:t>
            </a:r>
            <a:r>
              <a:rPr spc="-25" dirty="0">
                <a:solidFill>
                  <a:srgbClr val="292934"/>
                </a:solidFill>
              </a:rPr>
              <a:t>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04896" y="2484779"/>
            <a:ext cx="2682240" cy="1015365"/>
            <a:chOff x="504896" y="2484779"/>
            <a:chExt cx="2682240" cy="10153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4896" y="2484779"/>
              <a:ext cx="419874" cy="101506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01030" y="2871920"/>
              <a:ext cx="285752" cy="498070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5612" y="4379478"/>
            <a:ext cx="277243" cy="83204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04078" y="2475439"/>
            <a:ext cx="3148330" cy="2741295"/>
          </a:xfrm>
          <a:prstGeom prst="rect">
            <a:avLst/>
          </a:prstGeom>
          <a:ln w="10159">
            <a:solidFill>
              <a:srgbClr val="7F7F7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550">
              <a:latin typeface="Times New Roman"/>
              <a:cs typeface="Times New Roman"/>
            </a:endParaRPr>
          </a:p>
          <a:p>
            <a:pPr marL="1146175">
              <a:lnSpc>
                <a:spcPct val="100000"/>
              </a:lnSpc>
            </a:pPr>
            <a:r>
              <a:rPr sz="1550" i="1" dirty="0">
                <a:latin typeface="Times New Roman"/>
                <a:cs typeface="Times New Roman"/>
              </a:rPr>
              <a:t>Is</a:t>
            </a:r>
            <a:r>
              <a:rPr sz="1550" i="1" spc="70" dirty="0">
                <a:latin typeface="Times New Roman"/>
                <a:cs typeface="Times New Roman"/>
              </a:rPr>
              <a:t> </a:t>
            </a:r>
            <a:r>
              <a:rPr sz="1550" i="1" dirty="0">
                <a:latin typeface="Times New Roman"/>
                <a:cs typeface="Times New Roman"/>
              </a:rPr>
              <a:t>mother</a:t>
            </a:r>
            <a:r>
              <a:rPr sz="1550" i="1" spc="70" dirty="0">
                <a:latin typeface="Times New Roman"/>
                <a:cs typeface="Times New Roman"/>
              </a:rPr>
              <a:t> </a:t>
            </a:r>
            <a:r>
              <a:rPr sz="1550" i="1" spc="-25" dirty="0">
                <a:latin typeface="Times New Roman"/>
                <a:cs typeface="Times New Roman"/>
              </a:rPr>
              <a:t>of</a:t>
            </a:r>
            <a:endParaRPr sz="155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47640" y="2480519"/>
            <a:ext cx="3071495" cy="2666365"/>
            <a:chOff x="347640" y="2480519"/>
            <a:chExt cx="3071495" cy="2666365"/>
          </a:xfrm>
        </p:grpSpPr>
        <p:sp>
          <p:nvSpPr>
            <p:cNvPr id="9" name="object 9"/>
            <p:cNvSpPr/>
            <p:nvPr/>
          </p:nvSpPr>
          <p:spPr>
            <a:xfrm>
              <a:off x="1567317" y="2900267"/>
              <a:ext cx="745490" cy="1866900"/>
            </a:xfrm>
            <a:custGeom>
              <a:avLst/>
              <a:gdLst/>
              <a:ahLst/>
              <a:cxnLst/>
              <a:rect l="l" t="t" r="r" b="b"/>
              <a:pathLst>
                <a:path w="745489" h="1866900">
                  <a:moveTo>
                    <a:pt x="0" y="933304"/>
                  </a:moveTo>
                  <a:lnTo>
                    <a:pt x="935" y="866651"/>
                  </a:lnTo>
                  <a:lnTo>
                    <a:pt x="3698" y="801263"/>
                  </a:lnTo>
                  <a:lnTo>
                    <a:pt x="8227" y="737298"/>
                  </a:lnTo>
                  <a:lnTo>
                    <a:pt x="14458" y="674914"/>
                  </a:lnTo>
                  <a:lnTo>
                    <a:pt x="22328" y="614268"/>
                  </a:lnTo>
                  <a:lnTo>
                    <a:pt x="31774" y="555519"/>
                  </a:lnTo>
                  <a:lnTo>
                    <a:pt x="42733" y="498824"/>
                  </a:lnTo>
                  <a:lnTo>
                    <a:pt x="55143" y="444342"/>
                  </a:lnTo>
                  <a:lnTo>
                    <a:pt x="68940" y="392230"/>
                  </a:lnTo>
                  <a:lnTo>
                    <a:pt x="84060" y="342647"/>
                  </a:lnTo>
                  <a:lnTo>
                    <a:pt x="100442" y="295750"/>
                  </a:lnTo>
                  <a:lnTo>
                    <a:pt x="118022" y="251697"/>
                  </a:lnTo>
                  <a:lnTo>
                    <a:pt x="136737" y="210646"/>
                  </a:lnTo>
                  <a:lnTo>
                    <a:pt x="156523" y="172755"/>
                  </a:lnTo>
                  <a:lnTo>
                    <a:pt x="177319" y="138183"/>
                  </a:lnTo>
                  <a:lnTo>
                    <a:pt x="221685" y="79623"/>
                  </a:lnTo>
                  <a:lnTo>
                    <a:pt x="269331" y="36230"/>
                  </a:lnTo>
                  <a:lnTo>
                    <a:pt x="319752" y="9268"/>
                  </a:lnTo>
                  <a:lnTo>
                    <a:pt x="372444" y="0"/>
                  </a:lnTo>
                  <a:lnTo>
                    <a:pt x="399043" y="2343"/>
                  </a:lnTo>
                  <a:lnTo>
                    <a:pt x="450662" y="20616"/>
                  </a:lnTo>
                  <a:lnTo>
                    <a:pt x="499759" y="55951"/>
                  </a:lnTo>
                  <a:lnTo>
                    <a:pt x="545828" y="107086"/>
                  </a:lnTo>
                  <a:lnTo>
                    <a:pt x="588365" y="172755"/>
                  </a:lnTo>
                  <a:lnTo>
                    <a:pt x="608152" y="210646"/>
                  </a:lnTo>
                  <a:lnTo>
                    <a:pt x="626867" y="251697"/>
                  </a:lnTo>
                  <a:lnTo>
                    <a:pt x="644447" y="295750"/>
                  </a:lnTo>
                  <a:lnTo>
                    <a:pt x="660828" y="342647"/>
                  </a:lnTo>
                  <a:lnTo>
                    <a:pt x="675949" y="392230"/>
                  </a:lnTo>
                  <a:lnTo>
                    <a:pt x="689746" y="444342"/>
                  </a:lnTo>
                  <a:lnTo>
                    <a:pt x="702155" y="498824"/>
                  </a:lnTo>
                  <a:lnTo>
                    <a:pt x="713115" y="555519"/>
                  </a:lnTo>
                  <a:lnTo>
                    <a:pt x="722561" y="614268"/>
                  </a:lnTo>
                  <a:lnTo>
                    <a:pt x="730431" y="674914"/>
                  </a:lnTo>
                  <a:lnTo>
                    <a:pt x="736662" y="737298"/>
                  </a:lnTo>
                  <a:lnTo>
                    <a:pt x="741191" y="801263"/>
                  </a:lnTo>
                  <a:lnTo>
                    <a:pt x="743954" y="866651"/>
                  </a:lnTo>
                  <a:lnTo>
                    <a:pt x="744889" y="933304"/>
                  </a:lnTo>
                  <a:lnTo>
                    <a:pt x="743954" y="999956"/>
                  </a:lnTo>
                  <a:lnTo>
                    <a:pt x="741191" y="1065344"/>
                  </a:lnTo>
                  <a:lnTo>
                    <a:pt x="736662" y="1129309"/>
                  </a:lnTo>
                  <a:lnTo>
                    <a:pt x="730431" y="1191694"/>
                  </a:lnTo>
                  <a:lnTo>
                    <a:pt x="722561" y="1252339"/>
                  </a:lnTo>
                  <a:lnTo>
                    <a:pt x="713115" y="1311089"/>
                  </a:lnTo>
                  <a:lnTo>
                    <a:pt x="702155" y="1367783"/>
                  </a:lnTo>
                  <a:lnTo>
                    <a:pt x="689746" y="1422265"/>
                  </a:lnTo>
                  <a:lnTo>
                    <a:pt x="675949" y="1474377"/>
                  </a:lnTo>
                  <a:lnTo>
                    <a:pt x="660828" y="1523960"/>
                  </a:lnTo>
                  <a:lnTo>
                    <a:pt x="644447" y="1570857"/>
                  </a:lnTo>
                  <a:lnTo>
                    <a:pt x="626867" y="1614910"/>
                  </a:lnTo>
                  <a:lnTo>
                    <a:pt x="608152" y="1655961"/>
                  </a:lnTo>
                  <a:lnTo>
                    <a:pt x="588365" y="1693852"/>
                  </a:lnTo>
                  <a:lnTo>
                    <a:pt x="567570" y="1728425"/>
                  </a:lnTo>
                  <a:lnTo>
                    <a:pt x="523203" y="1786985"/>
                  </a:lnTo>
                  <a:lnTo>
                    <a:pt x="475558" y="1830377"/>
                  </a:lnTo>
                  <a:lnTo>
                    <a:pt x="425136" y="1857340"/>
                  </a:lnTo>
                  <a:lnTo>
                    <a:pt x="372444" y="1866608"/>
                  </a:lnTo>
                  <a:lnTo>
                    <a:pt x="345846" y="1864264"/>
                  </a:lnTo>
                  <a:lnTo>
                    <a:pt x="294226" y="1845991"/>
                  </a:lnTo>
                  <a:lnTo>
                    <a:pt x="245130" y="1810656"/>
                  </a:lnTo>
                  <a:lnTo>
                    <a:pt x="199061" y="1759522"/>
                  </a:lnTo>
                  <a:lnTo>
                    <a:pt x="156523" y="1693852"/>
                  </a:lnTo>
                  <a:lnTo>
                    <a:pt x="136737" y="1655961"/>
                  </a:lnTo>
                  <a:lnTo>
                    <a:pt x="118022" y="1614910"/>
                  </a:lnTo>
                  <a:lnTo>
                    <a:pt x="100442" y="1570857"/>
                  </a:lnTo>
                  <a:lnTo>
                    <a:pt x="84060" y="1523960"/>
                  </a:lnTo>
                  <a:lnTo>
                    <a:pt x="68940" y="1474377"/>
                  </a:lnTo>
                  <a:lnTo>
                    <a:pt x="55143" y="1422265"/>
                  </a:lnTo>
                  <a:lnTo>
                    <a:pt x="42733" y="1367783"/>
                  </a:lnTo>
                  <a:lnTo>
                    <a:pt x="31774" y="1311089"/>
                  </a:lnTo>
                  <a:lnTo>
                    <a:pt x="22328" y="1252339"/>
                  </a:lnTo>
                  <a:lnTo>
                    <a:pt x="14458" y="1191694"/>
                  </a:lnTo>
                  <a:lnTo>
                    <a:pt x="8227" y="1129309"/>
                  </a:lnTo>
                  <a:lnTo>
                    <a:pt x="3698" y="1065344"/>
                  </a:lnTo>
                  <a:lnTo>
                    <a:pt x="935" y="999956"/>
                  </a:lnTo>
                  <a:lnTo>
                    <a:pt x="0" y="933304"/>
                  </a:lnTo>
                  <a:close/>
                </a:path>
              </a:pathLst>
            </a:custGeom>
            <a:ln w="63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24770" y="3023679"/>
              <a:ext cx="958215" cy="217170"/>
            </a:xfrm>
            <a:custGeom>
              <a:avLst/>
              <a:gdLst/>
              <a:ahLst/>
              <a:cxnLst/>
              <a:rect l="l" t="t" r="r" b="b"/>
              <a:pathLst>
                <a:path w="958214" h="217169">
                  <a:moveTo>
                    <a:pt x="0" y="0"/>
                  </a:moveTo>
                  <a:lnTo>
                    <a:pt x="958015" y="216999"/>
                  </a:lnTo>
                </a:path>
              </a:pathLst>
            </a:custGeom>
            <a:ln w="205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920769" y="3256104"/>
              <a:ext cx="1176655" cy="258445"/>
            </a:xfrm>
            <a:custGeom>
              <a:avLst/>
              <a:gdLst/>
              <a:ahLst/>
              <a:cxnLst/>
              <a:rect l="l" t="t" r="r" b="b"/>
              <a:pathLst>
                <a:path w="1176655" h="258445">
                  <a:moveTo>
                    <a:pt x="0" y="0"/>
                  </a:moveTo>
                  <a:lnTo>
                    <a:pt x="1176418" y="258137"/>
                  </a:lnTo>
                </a:path>
              </a:pathLst>
            </a:custGeom>
            <a:ln w="205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04944" y="3980121"/>
              <a:ext cx="729615" cy="81280"/>
            </a:xfrm>
            <a:custGeom>
              <a:avLst/>
              <a:gdLst/>
              <a:ahLst/>
              <a:cxnLst/>
              <a:rect l="l" t="t" r="r" b="b"/>
              <a:pathLst>
                <a:path w="729614" h="81279">
                  <a:moveTo>
                    <a:pt x="0" y="81246"/>
                  </a:moveTo>
                  <a:lnTo>
                    <a:pt x="729063" y="0"/>
                  </a:lnTo>
                </a:path>
              </a:pathLst>
            </a:custGeom>
            <a:ln w="20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20317" y="4434691"/>
              <a:ext cx="1094740" cy="363220"/>
            </a:xfrm>
            <a:custGeom>
              <a:avLst/>
              <a:gdLst/>
              <a:ahLst/>
              <a:cxnLst/>
              <a:rect l="l" t="t" r="r" b="b"/>
              <a:pathLst>
                <a:path w="1094739" h="363220">
                  <a:moveTo>
                    <a:pt x="0" y="363037"/>
                  </a:moveTo>
                  <a:lnTo>
                    <a:pt x="1094121" y="0"/>
                  </a:lnTo>
                </a:path>
              </a:pathLst>
            </a:custGeom>
            <a:ln w="206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905998" y="4430576"/>
              <a:ext cx="771525" cy="165735"/>
            </a:xfrm>
            <a:custGeom>
              <a:avLst/>
              <a:gdLst/>
              <a:ahLst/>
              <a:cxnLst/>
              <a:rect l="l" t="t" r="r" b="b"/>
              <a:pathLst>
                <a:path w="771525" h="165735">
                  <a:moveTo>
                    <a:pt x="0" y="0"/>
                  </a:moveTo>
                  <a:lnTo>
                    <a:pt x="771266" y="165578"/>
                  </a:lnTo>
                </a:path>
              </a:pathLst>
            </a:custGeom>
            <a:ln w="20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64165" y="3736384"/>
              <a:ext cx="1245235" cy="50800"/>
            </a:xfrm>
            <a:custGeom>
              <a:avLst/>
              <a:gdLst/>
              <a:ahLst/>
              <a:cxnLst/>
              <a:rect l="l" t="t" r="r" b="b"/>
              <a:pathLst>
                <a:path w="1245235" h="50800">
                  <a:moveTo>
                    <a:pt x="0" y="0"/>
                  </a:moveTo>
                  <a:lnTo>
                    <a:pt x="1244998" y="50393"/>
                  </a:lnTo>
                </a:path>
              </a:pathLst>
            </a:custGeom>
            <a:ln w="205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926045" y="3177944"/>
              <a:ext cx="929005" cy="67310"/>
            </a:xfrm>
            <a:custGeom>
              <a:avLst/>
              <a:gdLst/>
              <a:ahLst/>
              <a:cxnLst/>
              <a:rect l="l" t="t" r="r" b="b"/>
              <a:pathLst>
                <a:path w="929005" h="67310">
                  <a:moveTo>
                    <a:pt x="0" y="66848"/>
                  </a:moveTo>
                  <a:lnTo>
                    <a:pt x="928473" y="0"/>
                  </a:lnTo>
                </a:path>
              </a:pathLst>
            </a:custGeom>
            <a:ln w="205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5124" y="3205712"/>
              <a:ext cx="303863" cy="58929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21633" y="2480519"/>
              <a:ext cx="232843" cy="36656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913384" y="2757314"/>
              <a:ext cx="848360" cy="480695"/>
            </a:xfrm>
            <a:custGeom>
              <a:avLst/>
              <a:gdLst/>
              <a:ahLst/>
              <a:cxnLst/>
              <a:rect l="l" t="t" r="r" b="b"/>
              <a:pathLst>
                <a:path w="848360" h="480694">
                  <a:moveTo>
                    <a:pt x="0" y="480278"/>
                  </a:moveTo>
                  <a:lnTo>
                    <a:pt x="848287" y="0"/>
                  </a:lnTo>
                </a:path>
              </a:pathLst>
            </a:custGeom>
            <a:ln w="206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76496" y="3212870"/>
              <a:ext cx="65335" cy="6384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76496" y="3750740"/>
              <a:ext cx="65335" cy="6384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76496" y="4028418"/>
              <a:ext cx="65335" cy="6384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76496" y="4401740"/>
              <a:ext cx="65335" cy="6384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765510" y="4398694"/>
              <a:ext cx="410808" cy="747671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7640" y="3498814"/>
              <a:ext cx="393546" cy="73224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738499" y="3627369"/>
              <a:ext cx="335662" cy="690079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399795" y="1188720"/>
            <a:ext cx="9390380" cy="763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5200"/>
              </a:lnSpc>
              <a:spcBef>
                <a:spcPts val="100"/>
              </a:spcBef>
            </a:pP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Draw</a:t>
            </a:r>
            <a:r>
              <a:rPr sz="2300" b="1" spc="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an</a:t>
            </a:r>
            <a:r>
              <a:rPr sz="2300" b="1" spc="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E-R</a:t>
            </a:r>
            <a:r>
              <a:rPr sz="2300" b="1" spc="10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diagram</a:t>
            </a:r>
            <a:r>
              <a:rPr sz="2300" b="1" spc="10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300" b="1" spc="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model</a:t>
            </a:r>
            <a:r>
              <a:rPr sz="2300" b="1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b="1" spc="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given</a:t>
            </a:r>
            <a:r>
              <a:rPr sz="2300" b="1" spc="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image</a:t>
            </a:r>
            <a:r>
              <a:rPr sz="2300" b="1" spc="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spc="-10" dirty="0">
                <a:solidFill>
                  <a:srgbClr val="292934"/>
                </a:solidFill>
                <a:latin typeface="Verdana"/>
                <a:cs typeface="Verdana"/>
              </a:rPr>
              <a:t>sample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data.</a:t>
            </a:r>
            <a:r>
              <a:rPr sz="2300" b="1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Specify</a:t>
            </a:r>
            <a:r>
              <a:rPr sz="2300" b="1" spc="1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b="1" spc="1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cardinality.</a:t>
            </a:r>
            <a:r>
              <a:rPr sz="2300" b="1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Interpret</a:t>
            </a:r>
            <a:r>
              <a:rPr sz="2300" b="1" spc="10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b="1" spc="1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E-R</a:t>
            </a:r>
            <a:r>
              <a:rPr sz="2300" b="1" spc="1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spc="-10" dirty="0">
                <a:solidFill>
                  <a:srgbClr val="292934"/>
                </a:solidFill>
                <a:latin typeface="Verdana"/>
                <a:cs typeface="Verdana"/>
              </a:rPr>
              <a:t>diagram.</a:t>
            </a:r>
            <a:endParaRPr sz="2300">
              <a:latin typeface="Verdana"/>
              <a:cs typeface="Verdan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963728" y="3971155"/>
            <a:ext cx="5803265" cy="688975"/>
            <a:chOff x="3963728" y="3971155"/>
            <a:chExt cx="5803265" cy="688975"/>
          </a:xfrm>
        </p:grpSpPr>
        <p:sp>
          <p:nvSpPr>
            <p:cNvPr id="29" name="object 29"/>
            <p:cNvSpPr/>
            <p:nvPr/>
          </p:nvSpPr>
          <p:spPr>
            <a:xfrm>
              <a:off x="3968808" y="4029933"/>
              <a:ext cx="1285240" cy="556895"/>
            </a:xfrm>
            <a:custGeom>
              <a:avLst/>
              <a:gdLst/>
              <a:ahLst/>
              <a:cxnLst/>
              <a:rect l="l" t="t" r="r" b="b"/>
              <a:pathLst>
                <a:path w="1285239" h="556895">
                  <a:moveTo>
                    <a:pt x="1285050" y="0"/>
                  </a:moveTo>
                  <a:lnTo>
                    <a:pt x="0" y="0"/>
                  </a:lnTo>
                  <a:lnTo>
                    <a:pt x="0" y="556820"/>
                  </a:lnTo>
                  <a:lnTo>
                    <a:pt x="1285050" y="556820"/>
                  </a:lnTo>
                  <a:lnTo>
                    <a:pt x="1285050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968808" y="4029933"/>
              <a:ext cx="1285240" cy="556895"/>
            </a:xfrm>
            <a:custGeom>
              <a:avLst/>
              <a:gdLst/>
              <a:ahLst/>
              <a:cxnLst/>
              <a:rect l="l" t="t" r="r" b="b"/>
              <a:pathLst>
                <a:path w="1285239" h="556895">
                  <a:moveTo>
                    <a:pt x="0" y="0"/>
                  </a:moveTo>
                  <a:lnTo>
                    <a:pt x="1285050" y="0"/>
                  </a:lnTo>
                  <a:lnTo>
                    <a:pt x="1285050" y="556820"/>
                  </a:lnTo>
                  <a:lnTo>
                    <a:pt x="0" y="556820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476850" y="4029933"/>
              <a:ext cx="1285240" cy="556895"/>
            </a:xfrm>
            <a:custGeom>
              <a:avLst/>
              <a:gdLst/>
              <a:ahLst/>
              <a:cxnLst/>
              <a:rect l="l" t="t" r="r" b="b"/>
              <a:pathLst>
                <a:path w="1285240" h="556895">
                  <a:moveTo>
                    <a:pt x="1285050" y="0"/>
                  </a:moveTo>
                  <a:lnTo>
                    <a:pt x="0" y="0"/>
                  </a:lnTo>
                  <a:lnTo>
                    <a:pt x="0" y="556820"/>
                  </a:lnTo>
                  <a:lnTo>
                    <a:pt x="1285050" y="556820"/>
                  </a:lnTo>
                  <a:lnTo>
                    <a:pt x="1285050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476850" y="4029933"/>
              <a:ext cx="1285240" cy="556895"/>
            </a:xfrm>
            <a:custGeom>
              <a:avLst/>
              <a:gdLst/>
              <a:ahLst/>
              <a:cxnLst/>
              <a:rect l="l" t="t" r="r" b="b"/>
              <a:pathLst>
                <a:path w="1285240" h="556895">
                  <a:moveTo>
                    <a:pt x="0" y="0"/>
                  </a:moveTo>
                  <a:lnTo>
                    <a:pt x="1285050" y="0"/>
                  </a:lnTo>
                  <a:lnTo>
                    <a:pt x="1285050" y="556820"/>
                  </a:lnTo>
                  <a:lnTo>
                    <a:pt x="0" y="556820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037257" y="3976235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6"/>
                  </a:lnTo>
                  <a:lnTo>
                    <a:pt x="838809" y="678533"/>
                  </a:lnTo>
                  <a:lnTo>
                    <a:pt x="1677619" y="339266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037257" y="3976235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253827" y="4254060"/>
              <a:ext cx="783590" cy="110489"/>
            </a:xfrm>
            <a:custGeom>
              <a:avLst/>
              <a:gdLst/>
              <a:ahLst/>
              <a:cxnLst/>
              <a:rect l="l" t="t" r="r" b="b"/>
              <a:pathLst>
                <a:path w="783589" h="110489">
                  <a:moveTo>
                    <a:pt x="95040" y="0"/>
                  </a:moveTo>
                  <a:lnTo>
                    <a:pt x="0" y="54283"/>
                  </a:lnTo>
                  <a:lnTo>
                    <a:pt x="94033" y="110293"/>
                  </a:lnTo>
                  <a:lnTo>
                    <a:pt x="98190" y="109240"/>
                  </a:lnTo>
                  <a:lnTo>
                    <a:pt x="102019" y="102812"/>
                  </a:lnTo>
                  <a:lnTo>
                    <a:pt x="100964" y="98654"/>
                  </a:lnTo>
                  <a:lnTo>
                    <a:pt x="38432" y="61407"/>
                  </a:lnTo>
                  <a:lnTo>
                    <a:pt x="13380" y="61178"/>
                  </a:lnTo>
                  <a:lnTo>
                    <a:pt x="13505" y="47632"/>
                  </a:lnTo>
                  <a:lnTo>
                    <a:pt x="38958" y="47632"/>
                  </a:lnTo>
                  <a:lnTo>
                    <a:pt x="101760" y="11764"/>
                  </a:lnTo>
                  <a:lnTo>
                    <a:pt x="102889" y="7626"/>
                  </a:lnTo>
                  <a:lnTo>
                    <a:pt x="99178" y="1130"/>
                  </a:lnTo>
                  <a:lnTo>
                    <a:pt x="95040" y="0"/>
                  </a:lnTo>
                  <a:close/>
                </a:path>
                <a:path w="783589" h="110489">
                  <a:moveTo>
                    <a:pt x="38558" y="47861"/>
                  </a:moveTo>
                  <a:lnTo>
                    <a:pt x="26884" y="54528"/>
                  </a:lnTo>
                  <a:lnTo>
                    <a:pt x="38432" y="61407"/>
                  </a:lnTo>
                  <a:lnTo>
                    <a:pt x="783367" y="68214"/>
                  </a:lnTo>
                  <a:lnTo>
                    <a:pt x="783492" y="54668"/>
                  </a:lnTo>
                  <a:lnTo>
                    <a:pt x="38558" y="47861"/>
                  </a:lnTo>
                  <a:close/>
                </a:path>
                <a:path w="783589" h="110489">
                  <a:moveTo>
                    <a:pt x="13505" y="47632"/>
                  </a:moveTo>
                  <a:lnTo>
                    <a:pt x="13380" y="61178"/>
                  </a:lnTo>
                  <a:lnTo>
                    <a:pt x="38432" y="61407"/>
                  </a:lnTo>
                  <a:lnTo>
                    <a:pt x="36554" y="60288"/>
                  </a:lnTo>
                  <a:lnTo>
                    <a:pt x="16800" y="60288"/>
                  </a:lnTo>
                  <a:lnTo>
                    <a:pt x="16908" y="48586"/>
                  </a:lnTo>
                  <a:lnTo>
                    <a:pt x="37289" y="48586"/>
                  </a:lnTo>
                  <a:lnTo>
                    <a:pt x="38558" y="47861"/>
                  </a:lnTo>
                  <a:lnTo>
                    <a:pt x="13505" y="47632"/>
                  </a:lnTo>
                  <a:close/>
                </a:path>
                <a:path w="783589" h="110489">
                  <a:moveTo>
                    <a:pt x="16908" y="48586"/>
                  </a:moveTo>
                  <a:lnTo>
                    <a:pt x="16800" y="60288"/>
                  </a:lnTo>
                  <a:lnTo>
                    <a:pt x="26884" y="54528"/>
                  </a:lnTo>
                  <a:lnTo>
                    <a:pt x="16908" y="48586"/>
                  </a:lnTo>
                  <a:close/>
                </a:path>
                <a:path w="783589" h="110489">
                  <a:moveTo>
                    <a:pt x="26884" y="54528"/>
                  </a:moveTo>
                  <a:lnTo>
                    <a:pt x="16800" y="60288"/>
                  </a:lnTo>
                  <a:lnTo>
                    <a:pt x="36554" y="60288"/>
                  </a:lnTo>
                  <a:lnTo>
                    <a:pt x="26884" y="54528"/>
                  </a:lnTo>
                  <a:close/>
                </a:path>
                <a:path w="783589" h="110489">
                  <a:moveTo>
                    <a:pt x="37289" y="48586"/>
                  </a:moveTo>
                  <a:lnTo>
                    <a:pt x="16908" y="48586"/>
                  </a:lnTo>
                  <a:lnTo>
                    <a:pt x="26884" y="54528"/>
                  </a:lnTo>
                  <a:lnTo>
                    <a:pt x="37289" y="48586"/>
                  </a:lnTo>
                  <a:close/>
                </a:path>
                <a:path w="783589" h="110489">
                  <a:moveTo>
                    <a:pt x="38958" y="47632"/>
                  </a:moveTo>
                  <a:lnTo>
                    <a:pt x="13505" y="47632"/>
                  </a:lnTo>
                  <a:lnTo>
                    <a:pt x="38558" y="47861"/>
                  </a:lnTo>
                  <a:lnTo>
                    <a:pt x="38958" y="47632"/>
                  </a:lnTo>
                  <a:close/>
                </a:path>
              </a:pathLst>
            </a:custGeom>
            <a:solidFill>
              <a:srgbClr val="2929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714876" y="4308344"/>
              <a:ext cx="762000" cy="7620"/>
            </a:xfrm>
            <a:custGeom>
              <a:avLst/>
              <a:gdLst/>
              <a:ahLst/>
              <a:cxnLst/>
              <a:rect l="l" t="t" r="r" b="b"/>
              <a:pathLst>
                <a:path w="762000" h="7620">
                  <a:moveTo>
                    <a:pt x="0" y="7158"/>
                  </a:moveTo>
                  <a:lnTo>
                    <a:pt x="761973" y="0"/>
                  </a:lnTo>
                </a:path>
              </a:pathLst>
            </a:custGeom>
            <a:ln w="13546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5128924" y="6103111"/>
            <a:ext cx="204088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(one-to-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many)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317267" y="4161535"/>
            <a:ext cx="111823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is_mother_of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4235">
              <a:lnSpc>
                <a:spcPct val="100000"/>
              </a:lnSpc>
              <a:spcBef>
                <a:spcPts val="100"/>
              </a:spcBef>
            </a:pPr>
            <a:r>
              <a:rPr sz="4100" spc="-140" dirty="0">
                <a:solidFill>
                  <a:srgbClr val="292934"/>
                </a:solidFill>
              </a:rPr>
              <a:t>Attributes</a:t>
            </a:r>
            <a:r>
              <a:rPr sz="4100" spc="-220" dirty="0">
                <a:solidFill>
                  <a:srgbClr val="292934"/>
                </a:solidFill>
              </a:rPr>
              <a:t> </a:t>
            </a:r>
            <a:r>
              <a:rPr sz="4100" spc="-80" dirty="0">
                <a:solidFill>
                  <a:srgbClr val="292934"/>
                </a:solidFill>
              </a:rPr>
              <a:t>on</a:t>
            </a:r>
            <a:r>
              <a:rPr sz="4100" spc="-215" dirty="0">
                <a:solidFill>
                  <a:srgbClr val="292934"/>
                </a:solidFill>
              </a:rPr>
              <a:t> </a:t>
            </a:r>
            <a:r>
              <a:rPr sz="4100" spc="-114" dirty="0">
                <a:solidFill>
                  <a:srgbClr val="292934"/>
                </a:solidFill>
              </a:rPr>
              <a:t>Relationships</a:t>
            </a:r>
            <a:endParaRPr sz="4100"/>
          </a:p>
        </p:txBody>
      </p:sp>
      <p:sp>
        <p:nvSpPr>
          <p:cNvPr id="3" name="object 3"/>
          <p:cNvSpPr txBox="1"/>
          <p:nvPr/>
        </p:nvSpPr>
        <p:spPr>
          <a:xfrm>
            <a:off x="437815" y="1213103"/>
            <a:ext cx="8264525" cy="1366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5740" indent="-193040">
              <a:lnSpc>
                <a:spcPct val="100000"/>
              </a:lnSpc>
              <a:spcBef>
                <a:spcPts val="100"/>
              </a:spcBef>
              <a:buSzPct val="86956"/>
              <a:buFont typeface="Arial MT"/>
              <a:buChar char="•"/>
              <a:tabLst>
                <a:tab pos="205740" algn="l"/>
              </a:tabLst>
            </a:pP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Relationships</a:t>
            </a:r>
            <a:r>
              <a:rPr sz="23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3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r>
              <a:rPr sz="23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10" dirty="0">
                <a:solidFill>
                  <a:srgbClr val="292934"/>
                </a:solidFill>
                <a:latin typeface="Verdana"/>
                <a:cs typeface="Verdana"/>
              </a:rPr>
              <a:t>attributes</a:t>
            </a:r>
            <a:endParaRPr sz="2300">
              <a:latin typeface="Verdana"/>
              <a:cs typeface="Verdana"/>
            </a:endParaRPr>
          </a:p>
          <a:p>
            <a:pPr marL="205104" marR="5080" indent="-193040">
              <a:lnSpc>
                <a:spcPct val="101699"/>
              </a:lnSpc>
              <a:spcBef>
                <a:spcPts val="2185"/>
              </a:spcBef>
              <a:buSzPct val="86956"/>
              <a:buFont typeface="Arial MT"/>
              <a:buChar char="•"/>
              <a:tabLst>
                <a:tab pos="207645" algn="l"/>
              </a:tabLst>
            </a:pP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attributes</a:t>
            </a:r>
            <a:r>
              <a:rPr sz="23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r>
              <a:rPr sz="23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values</a:t>
            </a:r>
            <a:r>
              <a:rPr sz="23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only</a:t>
            </a:r>
            <a:r>
              <a:rPr sz="23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when</a:t>
            </a:r>
            <a:r>
              <a:rPr sz="23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10" dirty="0">
                <a:solidFill>
                  <a:srgbClr val="292934"/>
                </a:solidFill>
                <a:latin typeface="Verdana"/>
                <a:cs typeface="Verdana"/>
              </a:rPr>
              <a:t>relationship 	occurs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52912" y="4178113"/>
            <a:ext cx="1285240" cy="556895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147320" rIns="0" bIns="0" rtlCol="0">
            <a:spAutoFit/>
          </a:bodyPr>
          <a:lstStyle/>
          <a:p>
            <a:pPr marL="280670">
              <a:lnSpc>
                <a:spcPct val="100000"/>
              </a:lnSpc>
              <a:spcBef>
                <a:spcPts val="116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product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60955" y="4178113"/>
            <a:ext cx="1285240" cy="556895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147320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116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company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416281" y="4119334"/>
            <a:ext cx="1687830" cy="688975"/>
            <a:chOff x="4416281" y="4119334"/>
            <a:chExt cx="1687830" cy="688975"/>
          </a:xfrm>
        </p:grpSpPr>
        <p:sp>
          <p:nvSpPr>
            <p:cNvPr id="7" name="object 7"/>
            <p:cNvSpPr/>
            <p:nvPr/>
          </p:nvSpPr>
          <p:spPr>
            <a:xfrm>
              <a:off x="4421361" y="4124414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6"/>
                  </a:lnTo>
                  <a:lnTo>
                    <a:pt x="838809" y="678533"/>
                  </a:lnTo>
                  <a:lnTo>
                    <a:pt x="1677619" y="339266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21361" y="4124414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928278" y="4319016"/>
            <a:ext cx="66357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makes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238906" y="3557963"/>
            <a:ext cx="1229360" cy="501650"/>
            <a:chOff x="1238906" y="3557963"/>
            <a:chExt cx="1229360" cy="501650"/>
          </a:xfrm>
        </p:grpSpPr>
        <p:sp>
          <p:nvSpPr>
            <p:cNvPr id="11" name="object 11"/>
            <p:cNvSpPr/>
            <p:nvPr/>
          </p:nvSpPr>
          <p:spPr>
            <a:xfrm>
              <a:off x="1243986" y="3563043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609354" y="0"/>
                  </a:moveTo>
                  <a:lnTo>
                    <a:pt x="542958" y="1440"/>
                  </a:lnTo>
                  <a:lnTo>
                    <a:pt x="478633" y="5663"/>
                  </a:lnTo>
                  <a:lnTo>
                    <a:pt x="416750" y="12519"/>
                  </a:lnTo>
                  <a:lnTo>
                    <a:pt x="357683" y="21856"/>
                  </a:lnTo>
                  <a:lnTo>
                    <a:pt x="301801" y="33526"/>
                  </a:lnTo>
                  <a:lnTo>
                    <a:pt x="249477" y="47379"/>
                  </a:lnTo>
                  <a:lnTo>
                    <a:pt x="201083" y="63265"/>
                  </a:lnTo>
                  <a:lnTo>
                    <a:pt x="156989" y="81034"/>
                  </a:lnTo>
                  <a:lnTo>
                    <a:pt x="117569" y="100537"/>
                  </a:lnTo>
                  <a:lnTo>
                    <a:pt x="83194" y="121623"/>
                  </a:lnTo>
                  <a:lnTo>
                    <a:pt x="31065" y="167947"/>
                  </a:lnTo>
                  <a:lnTo>
                    <a:pt x="3575" y="218807"/>
                  </a:lnTo>
                  <a:lnTo>
                    <a:pt x="0" y="245564"/>
                  </a:lnTo>
                  <a:lnTo>
                    <a:pt x="3575" y="272321"/>
                  </a:lnTo>
                  <a:lnTo>
                    <a:pt x="31065" y="323181"/>
                  </a:lnTo>
                  <a:lnTo>
                    <a:pt x="83194" y="369505"/>
                  </a:lnTo>
                  <a:lnTo>
                    <a:pt x="117569" y="390591"/>
                  </a:lnTo>
                  <a:lnTo>
                    <a:pt x="156989" y="410094"/>
                  </a:lnTo>
                  <a:lnTo>
                    <a:pt x="201083" y="427863"/>
                  </a:lnTo>
                  <a:lnTo>
                    <a:pt x="249477" y="443749"/>
                  </a:lnTo>
                  <a:lnTo>
                    <a:pt x="301801" y="457602"/>
                  </a:lnTo>
                  <a:lnTo>
                    <a:pt x="357683" y="469272"/>
                  </a:lnTo>
                  <a:lnTo>
                    <a:pt x="416750" y="478610"/>
                  </a:lnTo>
                  <a:lnTo>
                    <a:pt x="478633" y="485465"/>
                  </a:lnTo>
                  <a:lnTo>
                    <a:pt x="542958" y="489688"/>
                  </a:lnTo>
                  <a:lnTo>
                    <a:pt x="609354" y="491129"/>
                  </a:lnTo>
                  <a:lnTo>
                    <a:pt x="675750" y="489688"/>
                  </a:lnTo>
                  <a:lnTo>
                    <a:pt x="740074" y="485465"/>
                  </a:lnTo>
                  <a:lnTo>
                    <a:pt x="801957" y="478610"/>
                  </a:lnTo>
                  <a:lnTo>
                    <a:pt x="861025" y="469272"/>
                  </a:lnTo>
                  <a:lnTo>
                    <a:pt x="916906" y="457602"/>
                  </a:lnTo>
                  <a:lnTo>
                    <a:pt x="969230" y="443749"/>
                  </a:lnTo>
                  <a:lnTo>
                    <a:pt x="1017625" y="427863"/>
                  </a:lnTo>
                  <a:lnTo>
                    <a:pt x="1061718" y="410094"/>
                  </a:lnTo>
                  <a:lnTo>
                    <a:pt x="1101138" y="390591"/>
                  </a:lnTo>
                  <a:lnTo>
                    <a:pt x="1135513" y="369505"/>
                  </a:lnTo>
                  <a:lnTo>
                    <a:pt x="1187642" y="323181"/>
                  </a:lnTo>
                  <a:lnTo>
                    <a:pt x="1215132" y="272321"/>
                  </a:lnTo>
                  <a:lnTo>
                    <a:pt x="1218707" y="245564"/>
                  </a:lnTo>
                  <a:lnTo>
                    <a:pt x="1215132" y="218807"/>
                  </a:lnTo>
                  <a:lnTo>
                    <a:pt x="1187642" y="167947"/>
                  </a:lnTo>
                  <a:lnTo>
                    <a:pt x="1135513" y="121623"/>
                  </a:lnTo>
                  <a:lnTo>
                    <a:pt x="1101138" y="100537"/>
                  </a:lnTo>
                  <a:lnTo>
                    <a:pt x="1061718" y="81034"/>
                  </a:lnTo>
                  <a:lnTo>
                    <a:pt x="1017625" y="63265"/>
                  </a:lnTo>
                  <a:lnTo>
                    <a:pt x="969230" y="47379"/>
                  </a:lnTo>
                  <a:lnTo>
                    <a:pt x="916906" y="33526"/>
                  </a:lnTo>
                  <a:lnTo>
                    <a:pt x="861025" y="21856"/>
                  </a:lnTo>
                  <a:lnTo>
                    <a:pt x="801957" y="12519"/>
                  </a:lnTo>
                  <a:lnTo>
                    <a:pt x="740074" y="5663"/>
                  </a:lnTo>
                  <a:lnTo>
                    <a:pt x="675750" y="1440"/>
                  </a:lnTo>
                  <a:lnTo>
                    <a:pt x="609354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43986" y="3563043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0" y="245564"/>
                  </a:moveTo>
                  <a:lnTo>
                    <a:pt x="14054" y="192885"/>
                  </a:lnTo>
                  <a:lnTo>
                    <a:pt x="54235" y="144143"/>
                  </a:lnTo>
                  <a:lnTo>
                    <a:pt x="117570" y="100537"/>
                  </a:lnTo>
                  <a:lnTo>
                    <a:pt x="156990" y="81034"/>
                  </a:lnTo>
                  <a:lnTo>
                    <a:pt x="201083" y="63265"/>
                  </a:lnTo>
                  <a:lnTo>
                    <a:pt x="249477" y="47379"/>
                  </a:lnTo>
                  <a:lnTo>
                    <a:pt x="301801" y="33526"/>
                  </a:lnTo>
                  <a:lnTo>
                    <a:pt x="357683" y="21856"/>
                  </a:lnTo>
                  <a:lnTo>
                    <a:pt x="416751" y="12519"/>
                  </a:lnTo>
                  <a:lnTo>
                    <a:pt x="478633" y="5663"/>
                  </a:lnTo>
                  <a:lnTo>
                    <a:pt x="542958" y="1440"/>
                  </a:lnTo>
                  <a:lnTo>
                    <a:pt x="609354" y="0"/>
                  </a:lnTo>
                  <a:lnTo>
                    <a:pt x="675749" y="1440"/>
                  </a:lnTo>
                  <a:lnTo>
                    <a:pt x="740074" y="5663"/>
                  </a:lnTo>
                  <a:lnTo>
                    <a:pt x="801957" y="12519"/>
                  </a:lnTo>
                  <a:lnTo>
                    <a:pt x="861025" y="21856"/>
                  </a:lnTo>
                  <a:lnTo>
                    <a:pt x="916906" y="33526"/>
                  </a:lnTo>
                  <a:lnTo>
                    <a:pt x="969230" y="47379"/>
                  </a:lnTo>
                  <a:lnTo>
                    <a:pt x="1017625" y="63265"/>
                  </a:lnTo>
                  <a:lnTo>
                    <a:pt x="1061718" y="81034"/>
                  </a:lnTo>
                  <a:lnTo>
                    <a:pt x="1101138" y="100537"/>
                  </a:lnTo>
                  <a:lnTo>
                    <a:pt x="1135513" y="121623"/>
                  </a:lnTo>
                  <a:lnTo>
                    <a:pt x="1187642" y="167947"/>
                  </a:lnTo>
                  <a:lnTo>
                    <a:pt x="1215132" y="218807"/>
                  </a:lnTo>
                  <a:lnTo>
                    <a:pt x="1218708" y="245564"/>
                  </a:lnTo>
                  <a:lnTo>
                    <a:pt x="1215132" y="272321"/>
                  </a:lnTo>
                  <a:lnTo>
                    <a:pt x="1187642" y="323182"/>
                  </a:lnTo>
                  <a:lnTo>
                    <a:pt x="1135513" y="369506"/>
                  </a:lnTo>
                  <a:lnTo>
                    <a:pt x="1101138" y="390592"/>
                  </a:lnTo>
                  <a:lnTo>
                    <a:pt x="1061718" y="410094"/>
                  </a:lnTo>
                  <a:lnTo>
                    <a:pt x="1017625" y="427863"/>
                  </a:lnTo>
                  <a:lnTo>
                    <a:pt x="969230" y="443749"/>
                  </a:lnTo>
                  <a:lnTo>
                    <a:pt x="916906" y="457602"/>
                  </a:lnTo>
                  <a:lnTo>
                    <a:pt x="861025" y="469272"/>
                  </a:lnTo>
                  <a:lnTo>
                    <a:pt x="801957" y="478610"/>
                  </a:lnTo>
                  <a:lnTo>
                    <a:pt x="740074" y="485465"/>
                  </a:lnTo>
                  <a:lnTo>
                    <a:pt x="675749" y="489688"/>
                  </a:lnTo>
                  <a:lnTo>
                    <a:pt x="609354" y="491129"/>
                  </a:lnTo>
                  <a:lnTo>
                    <a:pt x="542958" y="489688"/>
                  </a:lnTo>
                  <a:lnTo>
                    <a:pt x="478633" y="485465"/>
                  </a:lnTo>
                  <a:lnTo>
                    <a:pt x="416751" y="478610"/>
                  </a:lnTo>
                  <a:lnTo>
                    <a:pt x="357683" y="469272"/>
                  </a:lnTo>
                  <a:lnTo>
                    <a:pt x="301801" y="457602"/>
                  </a:lnTo>
                  <a:lnTo>
                    <a:pt x="249477" y="443749"/>
                  </a:lnTo>
                  <a:lnTo>
                    <a:pt x="201083" y="427863"/>
                  </a:lnTo>
                  <a:lnTo>
                    <a:pt x="156990" y="410094"/>
                  </a:lnTo>
                  <a:lnTo>
                    <a:pt x="117570" y="390592"/>
                  </a:lnTo>
                  <a:lnTo>
                    <a:pt x="83194" y="369506"/>
                  </a:lnTo>
                  <a:lnTo>
                    <a:pt x="31065" y="323182"/>
                  </a:lnTo>
                  <a:lnTo>
                    <a:pt x="3575" y="272321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696706" y="3666744"/>
            <a:ext cx="31369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u="sng" spc="-2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pid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295731" y="3227132"/>
            <a:ext cx="1229360" cy="501650"/>
            <a:chOff x="2295731" y="3227132"/>
            <a:chExt cx="1229360" cy="501650"/>
          </a:xfrm>
        </p:grpSpPr>
        <p:sp>
          <p:nvSpPr>
            <p:cNvPr id="15" name="object 15"/>
            <p:cNvSpPr/>
            <p:nvPr/>
          </p:nvSpPr>
          <p:spPr>
            <a:xfrm>
              <a:off x="2300811" y="3232212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609353" y="0"/>
                  </a:moveTo>
                  <a:lnTo>
                    <a:pt x="542957" y="1440"/>
                  </a:lnTo>
                  <a:lnTo>
                    <a:pt x="478632" y="5663"/>
                  </a:lnTo>
                  <a:lnTo>
                    <a:pt x="416750" y="12519"/>
                  </a:lnTo>
                  <a:lnTo>
                    <a:pt x="357682" y="21856"/>
                  </a:lnTo>
                  <a:lnTo>
                    <a:pt x="301800" y="33526"/>
                  </a:lnTo>
                  <a:lnTo>
                    <a:pt x="249477" y="47379"/>
                  </a:lnTo>
                  <a:lnTo>
                    <a:pt x="201082" y="63265"/>
                  </a:lnTo>
                  <a:lnTo>
                    <a:pt x="156989" y="81034"/>
                  </a:lnTo>
                  <a:lnTo>
                    <a:pt x="117569" y="100537"/>
                  </a:lnTo>
                  <a:lnTo>
                    <a:pt x="83194" y="121623"/>
                  </a:lnTo>
                  <a:lnTo>
                    <a:pt x="31065" y="167947"/>
                  </a:lnTo>
                  <a:lnTo>
                    <a:pt x="3575" y="218807"/>
                  </a:lnTo>
                  <a:lnTo>
                    <a:pt x="0" y="245564"/>
                  </a:lnTo>
                  <a:lnTo>
                    <a:pt x="3575" y="272321"/>
                  </a:lnTo>
                  <a:lnTo>
                    <a:pt x="31065" y="323182"/>
                  </a:lnTo>
                  <a:lnTo>
                    <a:pt x="83194" y="369506"/>
                  </a:lnTo>
                  <a:lnTo>
                    <a:pt x="117569" y="390592"/>
                  </a:lnTo>
                  <a:lnTo>
                    <a:pt x="156989" y="410094"/>
                  </a:lnTo>
                  <a:lnTo>
                    <a:pt x="201082" y="427863"/>
                  </a:lnTo>
                  <a:lnTo>
                    <a:pt x="249477" y="443749"/>
                  </a:lnTo>
                  <a:lnTo>
                    <a:pt x="301800" y="457602"/>
                  </a:lnTo>
                  <a:lnTo>
                    <a:pt x="357682" y="469272"/>
                  </a:lnTo>
                  <a:lnTo>
                    <a:pt x="416750" y="478610"/>
                  </a:lnTo>
                  <a:lnTo>
                    <a:pt x="478632" y="485465"/>
                  </a:lnTo>
                  <a:lnTo>
                    <a:pt x="542957" y="489688"/>
                  </a:lnTo>
                  <a:lnTo>
                    <a:pt x="609353" y="491129"/>
                  </a:lnTo>
                  <a:lnTo>
                    <a:pt x="675749" y="489688"/>
                  </a:lnTo>
                  <a:lnTo>
                    <a:pt x="740074" y="485465"/>
                  </a:lnTo>
                  <a:lnTo>
                    <a:pt x="801956" y="478610"/>
                  </a:lnTo>
                  <a:lnTo>
                    <a:pt x="861024" y="469272"/>
                  </a:lnTo>
                  <a:lnTo>
                    <a:pt x="916906" y="457602"/>
                  </a:lnTo>
                  <a:lnTo>
                    <a:pt x="969230" y="443749"/>
                  </a:lnTo>
                  <a:lnTo>
                    <a:pt x="1017625" y="427863"/>
                  </a:lnTo>
                  <a:lnTo>
                    <a:pt x="1061718" y="410094"/>
                  </a:lnTo>
                  <a:lnTo>
                    <a:pt x="1101138" y="390592"/>
                  </a:lnTo>
                  <a:lnTo>
                    <a:pt x="1135513" y="369506"/>
                  </a:lnTo>
                  <a:lnTo>
                    <a:pt x="1187643" y="323182"/>
                  </a:lnTo>
                  <a:lnTo>
                    <a:pt x="1215132" y="272321"/>
                  </a:lnTo>
                  <a:lnTo>
                    <a:pt x="1218708" y="245564"/>
                  </a:lnTo>
                  <a:lnTo>
                    <a:pt x="1215132" y="218807"/>
                  </a:lnTo>
                  <a:lnTo>
                    <a:pt x="1187643" y="167947"/>
                  </a:lnTo>
                  <a:lnTo>
                    <a:pt x="1135513" y="121623"/>
                  </a:lnTo>
                  <a:lnTo>
                    <a:pt x="1101138" y="100537"/>
                  </a:lnTo>
                  <a:lnTo>
                    <a:pt x="1061718" y="81034"/>
                  </a:lnTo>
                  <a:lnTo>
                    <a:pt x="1017625" y="63265"/>
                  </a:lnTo>
                  <a:lnTo>
                    <a:pt x="969230" y="47379"/>
                  </a:lnTo>
                  <a:lnTo>
                    <a:pt x="916906" y="33526"/>
                  </a:lnTo>
                  <a:lnTo>
                    <a:pt x="861024" y="21856"/>
                  </a:lnTo>
                  <a:lnTo>
                    <a:pt x="801956" y="12519"/>
                  </a:lnTo>
                  <a:lnTo>
                    <a:pt x="740074" y="5663"/>
                  </a:lnTo>
                  <a:lnTo>
                    <a:pt x="675749" y="1440"/>
                  </a:lnTo>
                  <a:lnTo>
                    <a:pt x="609353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300811" y="3232212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0" y="245564"/>
                  </a:moveTo>
                  <a:lnTo>
                    <a:pt x="14054" y="192885"/>
                  </a:lnTo>
                  <a:lnTo>
                    <a:pt x="54235" y="144143"/>
                  </a:lnTo>
                  <a:lnTo>
                    <a:pt x="117570" y="100537"/>
                  </a:lnTo>
                  <a:lnTo>
                    <a:pt x="156990" y="81034"/>
                  </a:lnTo>
                  <a:lnTo>
                    <a:pt x="201083" y="63265"/>
                  </a:lnTo>
                  <a:lnTo>
                    <a:pt x="249477" y="47379"/>
                  </a:lnTo>
                  <a:lnTo>
                    <a:pt x="301801" y="33526"/>
                  </a:lnTo>
                  <a:lnTo>
                    <a:pt x="357683" y="21856"/>
                  </a:lnTo>
                  <a:lnTo>
                    <a:pt x="416751" y="12519"/>
                  </a:lnTo>
                  <a:lnTo>
                    <a:pt x="478633" y="5663"/>
                  </a:lnTo>
                  <a:lnTo>
                    <a:pt x="542958" y="1440"/>
                  </a:lnTo>
                  <a:lnTo>
                    <a:pt x="609354" y="0"/>
                  </a:lnTo>
                  <a:lnTo>
                    <a:pt x="675749" y="1440"/>
                  </a:lnTo>
                  <a:lnTo>
                    <a:pt x="740074" y="5663"/>
                  </a:lnTo>
                  <a:lnTo>
                    <a:pt x="801957" y="12519"/>
                  </a:lnTo>
                  <a:lnTo>
                    <a:pt x="861025" y="21856"/>
                  </a:lnTo>
                  <a:lnTo>
                    <a:pt x="916906" y="33526"/>
                  </a:lnTo>
                  <a:lnTo>
                    <a:pt x="969230" y="47379"/>
                  </a:lnTo>
                  <a:lnTo>
                    <a:pt x="1017625" y="63265"/>
                  </a:lnTo>
                  <a:lnTo>
                    <a:pt x="1061718" y="81034"/>
                  </a:lnTo>
                  <a:lnTo>
                    <a:pt x="1101138" y="100537"/>
                  </a:lnTo>
                  <a:lnTo>
                    <a:pt x="1135513" y="121623"/>
                  </a:lnTo>
                  <a:lnTo>
                    <a:pt x="1187642" y="167947"/>
                  </a:lnTo>
                  <a:lnTo>
                    <a:pt x="1215132" y="218807"/>
                  </a:lnTo>
                  <a:lnTo>
                    <a:pt x="1218708" y="245564"/>
                  </a:lnTo>
                  <a:lnTo>
                    <a:pt x="1215132" y="272321"/>
                  </a:lnTo>
                  <a:lnTo>
                    <a:pt x="1187642" y="323182"/>
                  </a:lnTo>
                  <a:lnTo>
                    <a:pt x="1135513" y="369506"/>
                  </a:lnTo>
                  <a:lnTo>
                    <a:pt x="1101138" y="390592"/>
                  </a:lnTo>
                  <a:lnTo>
                    <a:pt x="1061718" y="410094"/>
                  </a:lnTo>
                  <a:lnTo>
                    <a:pt x="1017625" y="427863"/>
                  </a:lnTo>
                  <a:lnTo>
                    <a:pt x="969230" y="443749"/>
                  </a:lnTo>
                  <a:lnTo>
                    <a:pt x="916906" y="457602"/>
                  </a:lnTo>
                  <a:lnTo>
                    <a:pt x="861025" y="469272"/>
                  </a:lnTo>
                  <a:lnTo>
                    <a:pt x="801957" y="478610"/>
                  </a:lnTo>
                  <a:lnTo>
                    <a:pt x="740074" y="485465"/>
                  </a:lnTo>
                  <a:lnTo>
                    <a:pt x="675749" y="489688"/>
                  </a:lnTo>
                  <a:lnTo>
                    <a:pt x="609354" y="491129"/>
                  </a:lnTo>
                  <a:lnTo>
                    <a:pt x="542958" y="489688"/>
                  </a:lnTo>
                  <a:lnTo>
                    <a:pt x="478633" y="485465"/>
                  </a:lnTo>
                  <a:lnTo>
                    <a:pt x="416751" y="478610"/>
                  </a:lnTo>
                  <a:lnTo>
                    <a:pt x="357683" y="469272"/>
                  </a:lnTo>
                  <a:lnTo>
                    <a:pt x="301801" y="457602"/>
                  </a:lnTo>
                  <a:lnTo>
                    <a:pt x="249477" y="443749"/>
                  </a:lnTo>
                  <a:lnTo>
                    <a:pt x="201083" y="427863"/>
                  </a:lnTo>
                  <a:lnTo>
                    <a:pt x="156990" y="410094"/>
                  </a:lnTo>
                  <a:lnTo>
                    <a:pt x="117570" y="390592"/>
                  </a:lnTo>
                  <a:lnTo>
                    <a:pt x="83194" y="369506"/>
                  </a:lnTo>
                  <a:lnTo>
                    <a:pt x="31065" y="323182"/>
                  </a:lnTo>
                  <a:lnTo>
                    <a:pt x="3575" y="272321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626532" y="3334511"/>
            <a:ext cx="56769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0" dirty="0">
                <a:solidFill>
                  <a:srgbClr val="292934"/>
                </a:solidFill>
                <a:latin typeface="Arial MT"/>
                <a:cs typeface="Arial MT"/>
              </a:rPr>
              <a:t>name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441880" y="3270143"/>
            <a:ext cx="3963670" cy="746760"/>
            <a:chOff x="3441880" y="3270143"/>
            <a:chExt cx="3963670" cy="746760"/>
          </a:xfrm>
        </p:grpSpPr>
        <p:sp>
          <p:nvSpPr>
            <p:cNvPr id="19" name="object 19"/>
            <p:cNvSpPr/>
            <p:nvPr/>
          </p:nvSpPr>
          <p:spPr>
            <a:xfrm>
              <a:off x="3446960" y="3520640"/>
              <a:ext cx="1383665" cy="491490"/>
            </a:xfrm>
            <a:custGeom>
              <a:avLst/>
              <a:gdLst/>
              <a:ahLst/>
              <a:cxnLst/>
              <a:rect l="l" t="t" r="r" b="b"/>
              <a:pathLst>
                <a:path w="1383664" h="491489">
                  <a:moveTo>
                    <a:pt x="691616" y="0"/>
                  </a:moveTo>
                  <a:lnTo>
                    <a:pt x="625009" y="1124"/>
                  </a:lnTo>
                  <a:lnTo>
                    <a:pt x="560193" y="4427"/>
                  </a:lnTo>
                  <a:lnTo>
                    <a:pt x="497458" y="9808"/>
                  </a:lnTo>
                  <a:lnTo>
                    <a:pt x="437094" y="17162"/>
                  </a:lnTo>
                  <a:lnTo>
                    <a:pt x="379391" y="26387"/>
                  </a:lnTo>
                  <a:lnTo>
                    <a:pt x="324638" y="37381"/>
                  </a:lnTo>
                  <a:lnTo>
                    <a:pt x="273127" y="50039"/>
                  </a:lnTo>
                  <a:lnTo>
                    <a:pt x="225145" y="64260"/>
                  </a:lnTo>
                  <a:lnTo>
                    <a:pt x="180984" y="79939"/>
                  </a:lnTo>
                  <a:lnTo>
                    <a:pt x="140933" y="96976"/>
                  </a:lnTo>
                  <a:lnTo>
                    <a:pt x="105281" y="115265"/>
                  </a:lnTo>
                  <a:lnTo>
                    <a:pt x="48337" y="155194"/>
                  </a:lnTo>
                  <a:lnTo>
                    <a:pt x="12470" y="198901"/>
                  </a:lnTo>
                  <a:lnTo>
                    <a:pt x="0" y="245564"/>
                  </a:lnTo>
                  <a:lnTo>
                    <a:pt x="3166" y="269214"/>
                  </a:lnTo>
                  <a:lnTo>
                    <a:pt x="27624" y="314502"/>
                  </a:lnTo>
                  <a:lnTo>
                    <a:pt x="74319" y="356423"/>
                  </a:lnTo>
                  <a:lnTo>
                    <a:pt x="140933" y="394153"/>
                  </a:lnTo>
                  <a:lnTo>
                    <a:pt x="180984" y="411189"/>
                  </a:lnTo>
                  <a:lnTo>
                    <a:pt x="225145" y="426869"/>
                  </a:lnTo>
                  <a:lnTo>
                    <a:pt x="273127" y="441089"/>
                  </a:lnTo>
                  <a:lnTo>
                    <a:pt x="324638" y="453748"/>
                  </a:lnTo>
                  <a:lnTo>
                    <a:pt x="379391" y="464741"/>
                  </a:lnTo>
                  <a:lnTo>
                    <a:pt x="437094" y="473966"/>
                  </a:lnTo>
                  <a:lnTo>
                    <a:pt x="497458" y="481320"/>
                  </a:lnTo>
                  <a:lnTo>
                    <a:pt x="560193" y="486701"/>
                  </a:lnTo>
                  <a:lnTo>
                    <a:pt x="625009" y="490005"/>
                  </a:lnTo>
                  <a:lnTo>
                    <a:pt x="691616" y="491129"/>
                  </a:lnTo>
                  <a:lnTo>
                    <a:pt x="758223" y="490005"/>
                  </a:lnTo>
                  <a:lnTo>
                    <a:pt x="823039" y="486701"/>
                  </a:lnTo>
                  <a:lnTo>
                    <a:pt x="885774" y="481320"/>
                  </a:lnTo>
                  <a:lnTo>
                    <a:pt x="946138" y="473966"/>
                  </a:lnTo>
                  <a:lnTo>
                    <a:pt x="1003841" y="464741"/>
                  </a:lnTo>
                  <a:lnTo>
                    <a:pt x="1058593" y="453748"/>
                  </a:lnTo>
                  <a:lnTo>
                    <a:pt x="1110105" y="441089"/>
                  </a:lnTo>
                  <a:lnTo>
                    <a:pt x="1158086" y="426869"/>
                  </a:lnTo>
                  <a:lnTo>
                    <a:pt x="1202248" y="411189"/>
                  </a:lnTo>
                  <a:lnTo>
                    <a:pt x="1242299" y="394153"/>
                  </a:lnTo>
                  <a:lnTo>
                    <a:pt x="1277951" y="375863"/>
                  </a:lnTo>
                  <a:lnTo>
                    <a:pt x="1334895" y="335935"/>
                  </a:lnTo>
                  <a:lnTo>
                    <a:pt x="1370762" y="292227"/>
                  </a:lnTo>
                  <a:lnTo>
                    <a:pt x="1383233" y="245564"/>
                  </a:lnTo>
                  <a:lnTo>
                    <a:pt x="1380067" y="221915"/>
                  </a:lnTo>
                  <a:lnTo>
                    <a:pt x="1355608" y="176626"/>
                  </a:lnTo>
                  <a:lnTo>
                    <a:pt x="1308913" y="134706"/>
                  </a:lnTo>
                  <a:lnTo>
                    <a:pt x="1242299" y="96976"/>
                  </a:lnTo>
                  <a:lnTo>
                    <a:pt x="1202248" y="79939"/>
                  </a:lnTo>
                  <a:lnTo>
                    <a:pt x="1158086" y="64260"/>
                  </a:lnTo>
                  <a:lnTo>
                    <a:pt x="1110105" y="50039"/>
                  </a:lnTo>
                  <a:lnTo>
                    <a:pt x="1058593" y="37381"/>
                  </a:lnTo>
                  <a:lnTo>
                    <a:pt x="1003841" y="26387"/>
                  </a:lnTo>
                  <a:lnTo>
                    <a:pt x="946138" y="17162"/>
                  </a:lnTo>
                  <a:lnTo>
                    <a:pt x="885774" y="9808"/>
                  </a:lnTo>
                  <a:lnTo>
                    <a:pt x="823039" y="4427"/>
                  </a:lnTo>
                  <a:lnTo>
                    <a:pt x="758223" y="1124"/>
                  </a:lnTo>
                  <a:lnTo>
                    <a:pt x="691616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446960" y="3520640"/>
              <a:ext cx="1383665" cy="491490"/>
            </a:xfrm>
            <a:custGeom>
              <a:avLst/>
              <a:gdLst/>
              <a:ahLst/>
              <a:cxnLst/>
              <a:rect l="l" t="t" r="r" b="b"/>
              <a:pathLst>
                <a:path w="1383664" h="491489">
                  <a:moveTo>
                    <a:pt x="0" y="245564"/>
                  </a:moveTo>
                  <a:lnTo>
                    <a:pt x="12470" y="198901"/>
                  </a:lnTo>
                  <a:lnTo>
                    <a:pt x="48337" y="155194"/>
                  </a:lnTo>
                  <a:lnTo>
                    <a:pt x="105282" y="115266"/>
                  </a:lnTo>
                  <a:lnTo>
                    <a:pt x="140933" y="96976"/>
                  </a:lnTo>
                  <a:lnTo>
                    <a:pt x="180984" y="79940"/>
                  </a:lnTo>
                  <a:lnTo>
                    <a:pt x="225146" y="64260"/>
                  </a:lnTo>
                  <a:lnTo>
                    <a:pt x="273127" y="50039"/>
                  </a:lnTo>
                  <a:lnTo>
                    <a:pt x="324639" y="37381"/>
                  </a:lnTo>
                  <a:lnTo>
                    <a:pt x="379391" y="26388"/>
                  </a:lnTo>
                  <a:lnTo>
                    <a:pt x="437094" y="17162"/>
                  </a:lnTo>
                  <a:lnTo>
                    <a:pt x="497458" y="9808"/>
                  </a:lnTo>
                  <a:lnTo>
                    <a:pt x="560193" y="4427"/>
                  </a:lnTo>
                  <a:lnTo>
                    <a:pt x="625009" y="1124"/>
                  </a:lnTo>
                  <a:lnTo>
                    <a:pt x="691617" y="0"/>
                  </a:lnTo>
                  <a:lnTo>
                    <a:pt x="758224" y="1124"/>
                  </a:lnTo>
                  <a:lnTo>
                    <a:pt x="823040" y="4427"/>
                  </a:lnTo>
                  <a:lnTo>
                    <a:pt x="885775" y="9808"/>
                  </a:lnTo>
                  <a:lnTo>
                    <a:pt x="946138" y="17162"/>
                  </a:lnTo>
                  <a:lnTo>
                    <a:pt x="1003841" y="26388"/>
                  </a:lnTo>
                  <a:lnTo>
                    <a:pt x="1058594" y="37381"/>
                  </a:lnTo>
                  <a:lnTo>
                    <a:pt x="1110106" y="50039"/>
                  </a:lnTo>
                  <a:lnTo>
                    <a:pt x="1158087" y="64260"/>
                  </a:lnTo>
                  <a:lnTo>
                    <a:pt x="1202249" y="79940"/>
                  </a:lnTo>
                  <a:lnTo>
                    <a:pt x="1242300" y="96976"/>
                  </a:lnTo>
                  <a:lnTo>
                    <a:pt x="1277951" y="115266"/>
                  </a:lnTo>
                  <a:lnTo>
                    <a:pt x="1334896" y="155194"/>
                  </a:lnTo>
                  <a:lnTo>
                    <a:pt x="1370763" y="198901"/>
                  </a:lnTo>
                  <a:lnTo>
                    <a:pt x="1383234" y="245564"/>
                  </a:lnTo>
                  <a:lnTo>
                    <a:pt x="1380068" y="269214"/>
                  </a:lnTo>
                  <a:lnTo>
                    <a:pt x="1355609" y="314502"/>
                  </a:lnTo>
                  <a:lnTo>
                    <a:pt x="1308913" y="356423"/>
                  </a:lnTo>
                  <a:lnTo>
                    <a:pt x="1242300" y="394153"/>
                  </a:lnTo>
                  <a:lnTo>
                    <a:pt x="1202249" y="411189"/>
                  </a:lnTo>
                  <a:lnTo>
                    <a:pt x="1158087" y="426869"/>
                  </a:lnTo>
                  <a:lnTo>
                    <a:pt x="1110106" y="441089"/>
                  </a:lnTo>
                  <a:lnTo>
                    <a:pt x="1058594" y="453748"/>
                  </a:lnTo>
                  <a:lnTo>
                    <a:pt x="1003841" y="464741"/>
                  </a:lnTo>
                  <a:lnTo>
                    <a:pt x="946138" y="473966"/>
                  </a:lnTo>
                  <a:lnTo>
                    <a:pt x="885775" y="481321"/>
                  </a:lnTo>
                  <a:lnTo>
                    <a:pt x="823040" y="486701"/>
                  </a:lnTo>
                  <a:lnTo>
                    <a:pt x="758224" y="490005"/>
                  </a:lnTo>
                  <a:lnTo>
                    <a:pt x="691617" y="491129"/>
                  </a:lnTo>
                  <a:lnTo>
                    <a:pt x="625009" y="490005"/>
                  </a:lnTo>
                  <a:lnTo>
                    <a:pt x="560193" y="486701"/>
                  </a:lnTo>
                  <a:lnTo>
                    <a:pt x="497458" y="481321"/>
                  </a:lnTo>
                  <a:lnTo>
                    <a:pt x="437094" y="473966"/>
                  </a:lnTo>
                  <a:lnTo>
                    <a:pt x="379391" y="464741"/>
                  </a:lnTo>
                  <a:lnTo>
                    <a:pt x="324639" y="453748"/>
                  </a:lnTo>
                  <a:lnTo>
                    <a:pt x="273127" y="441089"/>
                  </a:lnTo>
                  <a:lnTo>
                    <a:pt x="225146" y="426869"/>
                  </a:lnTo>
                  <a:lnTo>
                    <a:pt x="180984" y="411189"/>
                  </a:lnTo>
                  <a:lnTo>
                    <a:pt x="140933" y="394153"/>
                  </a:lnTo>
                  <a:lnTo>
                    <a:pt x="105282" y="375863"/>
                  </a:lnTo>
                  <a:lnTo>
                    <a:pt x="48337" y="335935"/>
                  </a:lnTo>
                  <a:lnTo>
                    <a:pt x="12470" y="292227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181489" y="3275223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609353" y="0"/>
                  </a:moveTo>
                  <a:lnTo>
                    <a:pt x="542957" y="1440"/>
                  </a:lnTo>
                  <a:lnTo>
                    <a:pt x="478633" y="5663"/>
                  </a:lnTo>
                  <a:lnTo>
                    <a:pt x="416751" y="12519"/>
                  </a:lnTo>
                  <a:lnTo>
                    <a:pt x="357683" y="21856"/>
                  </a:lnTo>
                  <a:lnTo>
                    <a:pt x="301801" y="33526"/>
                  </a:lnTo>
                  <a:lnTo>
                    <a:pt x="249477" y="47379"/>
                  </a:lnTo>
                  <a:lnTo>
                    <a:pt x="201083" y="63265"/>
                  </a:lnTo>
                  <a:lnTo>
                    <a:pt x="156990" y="81034"/>
                  </a:lnTo>
                  <a:lnTo>
                    <a:pt x="117570" y="100537"/>
                  </a:lnTo>
                  <a:lnTo>
                    <a:pt x="83194" y="121623"/>
                  </a:lnTo>
                  <a:lnTo>
                    <a:pt x="31065" y="167947"/>
                  </a:lnTo>
                  <a:lnTo>
                    <a:pt x="3575" y="218807"/>
                  </a:lnTo>
                  <a:lnTo>
                    <a:pt x="0" y="245564"/>
                  </a:lnTo>
                  <a:lnTo>
                    <a:pt x="3575" y="272321"/>
                  </a:lnTo>
                  <a:lnTo>
                    <a:pt x="31065" y="323182"/>
                  </a:lnTo>
                  <a:lnTo>
                    <a:pt x="83194" y="369506"/>
                  </a:lnTo>
                  <a:lnTo>
                    <a:pt x="117570" y="390592"/>
                  </a:lnTo>
                  <a:lnTo>
                    <a:pt x="156990" y="410094"/>
                  </a:lnTo>
                  <a:lnTo>
                    <a:pt x="201083" y="427863"/>
                  </a:lnTo>
                  <a:lnTo>
                    <a:pt x="249477" y="443749"/>
                  </a:lnTo>
                  <a:lnTo>
                    <a:pt x="301801" y="457602"/>
                  </a:lnTo>
                  <a:lnTo>
                    <a:pt x="357683" y="469272"/>
                  </a:lnTo>
                  <a:lnTo>
                    <a:pt x="416751" y="478610"/>
                  </a:lnTo>
                  <a:lnTo>
                    <a:pt x="478633" y="485465"/>
                  </a:lnTo>
                  <a:lnTo>
                    <a:pt x="542957" y="489688"/>
                  </a:lnTo>
                  <a:lnTo>
                    <a:pt x="609353" y="491129"/>
                  </a:lnTo>
                  <a:lnTo>
                    <a:pt x="675749" y="489688"/>
                  </a:lnTo>
                  <a:lnTo>
                    <a:pt x="740074" y="485465"/>
                  </a:lnTo>
                  <a:lnTo>
                    <a:pt x="801956" y="478610"/>
                  </a:lnTo>
                  <a:lnTo>
                    <a:pt x="861024" y="469272"/>
                  </a:lnTo>
                  <a:lnTo>
                    <a:pt x="916906" y="457602"/>
                  </a:lnTo>
                  <a:lnTo>
                    <a:pt x="969230" y="443749"/>
                  </a:lnTo>
                  <a:lnTo>
                    <a:pt x="1017625" y="427863"/>
                  </a:lnTo>
                  <a:lnTo>
                    <a:pt x="1061718" y="410094"/>
                  </a:lnTo>
                  <a:lnTo>
                    <a:pt x="1101138" y="390592"/>
                  </a:lnTo>
                  <a:lnTo>
                    <a:pt x="1135513" y="369506"/>
                  </a:lnTo>
                  <a:lnTo>
                    <a:pt x="1187643" y="323182"/>
                  </a:lnTo>
                  <a:lnTo>
                    <a:pt x="1215132" y="272321"/>
                  </a:lnTo>
                  <a:lnTo>
                    <a:pt x="1218708" y="245564"/>
                  </a:lnTo>
                  <a:lnTo>
                    <a:pt x="1215132" y="218807"/>
                  </a:lnTo>
                  <a:lnTo>
                    <a:pt x="1187643" y="167947"/>
                  </a:lnTo>
                  <a:lnTo>
                    <a:pt x="1135513" y="121623"/>
                  </a:lnTo>
                  <a:lnTo>
                    <a:pt x="1101138" y="100537"/>
                  </a:lnTo>
                  <a:lnTo>
                    <a:pt x="1061718" y="81034"/>
                  </a:lnTo>
                  <a:lnTo>
                    <a:pt x="1017625" y="63265"/>
                  </a:lnTo>
                  <a:lnTo>
                    <a:pt x="969230" y="47379"/>
                  </a:lnTo>
                  <a:lnTo>
                    <a:pt x="916906" y="33526"/>
                  </a:lnTo>
                  <a:lnTo>
                    <a:pt x="861024" y="21856"/>
                  </a:lnTo>
                  <a:lnTo>
                    <a:pt x="801956" y="12519"/>
                  </a:lnTo>
                  <a:lnTo>
                    <a:pt x="740074" y="5663"/>
                  </a:lnTo>
                  <a:lnTo>
                    <a:pt x="675749" y="1440"/>
                  </a:lnTo>
                  <a:lnTo>
                    <a:pt x="609353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181489" y="3275223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0" y="245564"/>
                  </a:moveTo>
                  <a:lnTo>
                    <a:pt x="14054" y="192885"/>
                  </a:lnTo>
                  <a:lnTo>
                    <a:pt x="54235" y="144143"/>
                  </a:lnTo>
                  <a:lnTo>
                    <a:pt x="117570" y="100537"/>
                  </a:lnTo>
                  <a:lnTo>
                    <a:pt x="156990" y="81034"/>
                  </a:lnTo>
                  <a:lnTo>
                    <a:pt x="201083" y="63265"/>
                  </a:lnTo>
                  <a:lnTo>
                    <a:pt x="249477" y="47379"/>
                  </a:lnTo>
                  <a:lnTo>
                    <a:pt x="301801" y="33526"/>
                  </a:lnTo>
                  <a:lnTo>
                    <a:pt x="357683" y="21856"/>
                  </a:lnTo>
                  <a:lnTo>
                    <a:pt x="416751" y="12519"/>
                  </a:lnTo>
                  <a:lnTo>
                    <a:pt x="478633" y="5663"/>
                  </a:lnTo>
                  <a:lnTo>
                    <a:pt x="542958" y="1440"/>
                  </a:lnTo>
                  <a:lnTo>
                    <a:pt x="609354" y="0"/>
                  </a:lnTo>
                  <a:lnTo>
                    <a:pt x="675749" y="1440"/>
                  </a:lnTo>
                  <a:lnTo>
                    <a:pt x="740074" y="5663"/>
                  </a:lnTo>
                  <a:lnTo>
                    <a:pt x="801957" y="12519"/>
                  </a:lnTo>
                  <a:lnTo>
                    <a:pt x="861025" y="21856"/>
                  </a:lnTo>
                  <a:lnTo>
                    <a:pt x="916906" y="33526"/>
                  </a:lnTo>
                  <a:lnTo>
                    <a:pt x="969230" y="47379"/>
                  </a:lnTo>
                  <a:lnTo>
                    <a:pt x="1017625" y="63265"/>
                  </a:lnTo>
                  <a:lnTo>
                    <a:pt x="1061718" y="81034"/>
                  </a:lnTo>
                  <a:lnTo>
                    <a:pt x="1101138" y="100537"/>
                  </a:lnTo>
                  <a:lnTo>
                    <a:pt x="1135513" y="121623"/>
                  </a:lnTo>
                  <a:lnTo>
                    <a:pt x="1187642" y="167947"/>
                  </a:lnTo>
                  <a:lnTo>
                    <a:pt x="1215132" y="218807"/>
                  </a:lnTo>
                  <a:lnTo>
                    <a:pt x="1218708" y="245564"/>
                  </a:lnTo>
                  <a:lnTo>
                    <a:pt x="1215132" y="272321"/>
                  </a:lnTo>
                  <a:lnTo>
                    <a:pt x="1187642" y="323182"/>
                  </a:lnTo>
                  <a:lnTo>
                    <a:pt x="1135513" y="369506"/>
                  </a:lnTo>
                  <a:lnTo>
                    <a:pt x="1101138" y="390592"/>
                  </a:lnTo>
                  <a:lnTo>
                    <a:pt x="1061718" y="410094"/>
                  </a:lnTo>
                  <a:lnTo>
                    <a:pt x="1017625" y="427863"/>
                  </a:lnTo>
                  <a:lnTo>
                    <a:pt x="969230" y="443749"/>
                  </a:lnTo>
                  <a:lnTo>
                    <a:pt x="916906" y="457602"/>
                  </a:lnTo>
                  <a:lnTo>
                    <a:pt x="861025" y="469272"/>
                  </a:lnTo>
                  <a:lnTo>
                    <a:pt x="801957" y="478610"/>
                  </a:lnTo>
                  <a:lnTo>
                    <a:pt x="740074" y="485465"/>
                  </a:lnTo>
                  <a:lnTo>
                    <a:pt x="675749" y="489688"/>
                  </a:lnTo>
                  <a:lnTo>
                    <a:pt x="609354" y="491129"/>
                  </a:lnTo>
                  <a:lnTo>
                    <a:pt x="542958" y="489688"/>
                  </a:lnTo>
                  <a:lnTo>
                    <a:pt x="478633" y="485465"/>
                  </a:lnTo>
                  <a:lnTo>
                    <a:pt x="416751" y="478610"/>
                  </a:lnTo>
                  <a:lnTo>
                    <a:pt x="357683" y="469272"/>
                  </a:lnTo>
                  <a:lnTo>
                    <a:pt x="301801" y="457602"/>
                  </a:lnTo>
                  <a:lnTo>
                    <a:pt x="249477" y="443749"/>
                  </a:lnTo>
                  <a:lnTo>
                    <a:pt x="201083" y="427863"/>
                  </a:lnTo>
                  <a:lnTo>
                    <a:pt x="156990" y="410094"/>
                  </a:lnTo>
                  <a:lnTo>
                    <a:pt x="117570" y="390592"/>
                  </a:lnTo>
                  <a:lnTo>
                    <a:pt x="83194" y="369506"/>
                  </a:lnTo>
                  <a:lnTo>
                    <a:pt x="31065" y="323182"/>
                  </a:lnTo>
                  <a:lnTo>
                    <a:pt x="3575" y="272321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507210" y="3377184"/>
            <a:ext cx="56769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u="sng" spc="-2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name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279138" y="3270148"/>
            <a:ext cx="6444615" cy="1198880"/>
            <a:chOff x="2279138" y="3270148"/>
            <a:chExt cx="6444615" cy="1198880"/>
          </a:xfrm>
        </p:grpSpPr>
        <p:sp>
          <p:nvSpPr>
            <p:cNvPr id="25" name="object 25"/>
            <p:cNvSpPr/>
            <p:nvPr/>
          </p:nvSpPr>
          <p:spPr>
            <a:xfrm>
              <a:off x="7545341" y="3275228"/>
              <a:ext cx="1173480" cy="491490"/>
            </a:xfrm>
            <a:custGeom>
              <a:avLst/>
              <a:gdLst/>
              <a:ahLst/>
              <a:cxnLst/>
              <a:rect l="l" t="t" r="r" b="b"/>
              <a:pathLst>
                <a:path w="1173479" h="491489">
                  <a:moveTo>
                    <a:pt x="586630" y="0"/>
                  </a:moveTo>
                  <a:lnTo>
                    <a:pt x="522710" y="1440"/>
                  </a:lnTo>
                  <a:lnTo>
                    <a:pt x="460784" y="5663"/>
                  </a:lnTo>
                  <a:lnTo>
                    <a:pt x="401210" y="12519"/>
                  </a:lnTo>
                  <a:lnTo>
                    <a:pt x="344344" y="21856"/>
                  </a:lnTo>
                  <a:lnTo>
                    <a:pt x="290547" y="33526"/>
                  </a:lnTo>
                  <a:lnTo>
                    <a:pt x="240174" y="47379"/>
                  </a:lnTo>
                  <a:lnTo>
                    <a:pt x="193584" y="63265"/>
                  </a:lnTo>
                  <a:lnTo>
                    <a:pt x="151135" y="81034"/>
                  </a:lnTo>
                  <a:lnTo>
                    <a:pt x="113185" y="100537"/>
                  </a:lnTo>
                  <a:lnTo>
                    <a:pt x="80092" y="121623"/>
                  </a:lnTo>
                  <a:lnTo>
                    <a:pt x="29906" y="167947"/>
                  </a:lnTo>
                  <a:lnTo>
                    <a:pt x="3442" y="218807"/>
                  </a:lnTo>
                  <a:lnTo>
                    <a:pt x="0" y="245564"/>
                  </a:lnTo>
                  <a:lnTo>
                    <a:pt x="3442" y="272321"/>
                  </a:lnTo>
                  <a:lnTo>
                    <a:pt x="29906" y="323182"/>
                  </a:lnTo>
                  <a:lnTo>
                    <a:pt x="80092" y="369506"/>
                  </a:lnTo>
                  <a:lnTo>
                    <a:pt x="113185" y="390592"/>
                  </a:lnTo>
                  <a:lnTo>
                    <a:pt x="151135" y="410094"/>
                  </a:lnTo>
                  <a:lnTo>
                    <a:pt x="193584" y="427863"/>
                  </a:lnTo>
                  <a:lnTo>
                    <a:pt x="240174" y="443749"/>
                  </a:lnTo>
                  <a:lnTo>
                    <a:pt x="290547" y="457602"/>
                  </a:lnTo>
                  <a:lnTo>
                    <a:pt x="344344" y="469272"/>
                  </a:lnTo>
                  <a:lnTo>
                    <a:pt x="401210" y="478610"/>
                  </a:lnTo>
                  <a:lnTo>
                    <a:pt x="460784" y="485465"/>
                  </a:lnTo>
                  <a:lnTo>
                    <a:pt x="522710" y="489688"/>
                  </a:lnTo>
                  <a:lnTo>
                    <a:pt x="586630" y="491129"/>
                  </a:lnTo>
                  <a:lnTo>
                    <a:pt x="650550" y="489688"/>
                  </a:lnTo>
                  <a:lnTo>
                    <a:pt x="712476" y="485465"/>
                  </a:lnTo>
                  <a:lnTo>
                    <a:pt x="772051" y="478610"/>
                  </a:lnTo>
                  <a:lnTo>
                    <a:pt x="828916" y="469272"/>
                  </a:lnTo>
                  <a:lnTo>
                    <a:pt x="882714" y="457602"/>
                  </a:lnTo>
                  <a:lnTo>
                    <a:pt x="933087" y="443749"/>
                  </a:lnTo>
                  <a:lnTo>
                    <a:pt x="979676" y="427863"/>
                  </a:lnTo>
                  <a:lnTo>
                    <a:pt x="1022125" y="410094"/>
                  </a:lnTo>
                  <a:lnTo>
                    <a:pt x="1060075" y="390592"/>
                  </a:lnTo>
                  <a:lnTo>
                    <a:pt x="1093169" y="369506"/>
                  </a:lnTo>
                  <a:lnTo>
                    <a:pt x="1143354" y="323182"/>
                  </a:lnTo>
                  <a:lnTo>
                    <a:pt x="1169819" y="272321"/>
                  </a:lnTo>
                  <a:lnTo>
                    <a:pt x="1173261" y="245564"/>
                  </a:lnTo>
                  <a:lnTo>
                    <a:pt x="1169819" y="218807"/>
                  </a:lnTo>
                  <a:lnTo>
                    <a:pt x="1143354" y="167947"/>
                  </a:lnTo>
                  <a:lnTo>
                    <a:pt x="1093169" y="121623"/>
                  </a:lnTo>
                  <a:lnTo>
                    <a:pt x="1060075" y="100537"/>
                  </a:lnTo>
                  <a:lnTo>
                    <a:pt x="1022125" y="81034"/>
                  </a:lnTo>
                  <a:lnTo>
                    <a:pt x="979676" y="63265"/>
                  </a:lnTo>
                  <a:lnTo>
                    <a:pt x="933087" y="47379"/>
                  </a:lnTo>
                  <a:lnTo>
                    <a:pt x="882714" y="33526"/>
                  </a:lnTo>
                  <a:lnTo>
                    <a:pt x="828916" y="21856"/>
                  </a:lnTo>
                  <a:lnTo>
                    <a:pt x="772051" y="12519"/>
                  </a:lnTo>
                  <a:lnTo>
                    <a:pt x="712476" y="5663"/>
                  </a:lnTo>
                  <a:lnTo>
                    <a:pt x="650550" y="1440"/>
                  </a:lnTo>
                  <a:lnTo>
                    <a:pt x="586630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545341" y="3275228"/>
              <a:ext cx="1173480" cy="491490"/>
            </a:xfrm>
            <a:custGeom>
              <a:avLst/>
              <a:gdLst/>
              <a:ahLst/>
              <a:cxnLst/>
              <a:rect l="l" t="t" r="r" b="b"/>
              <a:pathLst>
                <a:path w="1173479" h="491489">
                  <a:moveTo>
                    <a:pt x="0" y="245564"/>
                  </a:moveTo>
                  <a:lnTo>
                    <a:pt x="13530" y="192885"/>
                  </a:lnTo>
                  <a:lnTo>
                    <a:pt x="52213" y="144143"/>
                  </a:lnTo>
                  <a:lnTo>
                    <a:pt x="113185" y="100537"/>
                  </a:lnTo>
                  <a:lnTo>
                    <a:pt x="151135" y="81034"/>
                  </a:lnTo>
                  <a:lnTo>
                    <a:pt x="193584" y="63265"/>
                  </a:lnTo>
                  <a:lnTo>
                    <a:pt x="240174" y="47379"/>
                  </a:lnTo>
                  <a:lnTo>
                    <a:pt x="290547" y="33526"/>
                  </a:lnTo>
                  <a:lnTo>
                    <a:pt x="344344" y="21856"/>
                  </a:lnTo>
                  <a:lnTo>
                    <a:pt x="401210" y="12519"/>
                  </a:lnTo>
                  <a:lnTo>
                    <a:pt x="460784" y="5663"/>
                  </a:lnTo>
                  <a:lnTo>
                    <a:pt x="522711" y="1440"/>
                  </a:lnTo>
                  <a:lnTo>
                    <a:pt x="586630" y="0"/>
                  </a:lnTo>
                  <a:lnTo>
                    <a:pt x="650550" y="1440"/>
                  </a:lnTo>
                  <a:lnTo>
                    <a:pt x="712477" y="5663"/>
                  </a:lnTo>
                  <a:lnTo>
                    <a:pt x="772051" y="12519"/>
                  </a:lnTo>
                  <a:lnTo>
                    <a:pt x="828916" y="21856"/>
                  </a:lnTo>
                  <a:lnTo>
                    <a:pt x="882714" y="33526"/>
                  </a:lnTo>
                  <a:lnTo>
                    <a:pt x="933087" y="47379"/>
                  </a:lnTo>
                  <a:lnTo>
                    <a:pt x="979677" y="63265"/>
                  </a:lnTo>
                  <a:lnTo>
                    <a:pt x="1022126" y="81034"/>
                  </a:lnTo>
                  <a:lnTo>
                    <a:pt x="1060076" y="100537"/>
                  </a:lnTo>
                  <a:lnTo>
                    <a:pt x="1093169" y="121623"/>
                  </a:lnTo>
                  <a:lnTo>
                    <a:pt x="1143355" y="167947"/>
                  </a:lnTo>
                  <a:lnTo>
                    <a:pt x="1169819" y="218807"/>
                  </a:lnTo>
                  <a:lnTo>
                    <a:pt x="1173261" y="245564"/>
                  </a:lnTo>
                  <a:lnTo>
                    <a:pt x="1169819" y="272321"/>
                  </a:lnTo>
                  <a:lnTo>
                    <a:pt x="1143355" y="323182"/>
                  </a:lnTo>
                  <a:lnTo>
                    <a:pt x="1093169" y="369506"/>
                  </a:lnTo>
                  <a:lnTo>
                    <a:pt x="1060076" y="390592"/>
                  </a:lnTo>
                  <a:lnTo>
                    <a:pt x="1022126" y="410094"/>
                  </a:lnTo>
                  <a:lnTo>
                    <a:pt x="979677" y="427863"/>
                  </a:lnTo>
                  <a:lnTo>
                    <a:pt x="933087" y="443749"/>
                  </a:lnTo>
                  <a:lnTo>
                    <a:pt x="882714" y="457602"/>
                  </a:lnTo>
                  <a:lnTo>
                    <a:pt x="828916" y="469272"/>
                  </a:lnTo>
                  <a:lnTo>
                    <a:pt x="772051" y="478610"/>
                  </a:lnTo>
                  <a:lnTo>
                    <a:pt x="712477" y="485465"/>
                  </a:lnTo>
                  <a:lnTo>
                    <a:pt x="650550" y="489688"/>
                  </a:lnTo>
                  <a:lnTo>
                    <a:pt x="586630" y="491129"/>
                  </a:lnTo>
                  <a:lnTo>
                    <a:pt x="522711" y="489688"/>
                  </a:lnTo>
                  <a:lnTo>
                    <a:pt x="460784" y="485465"/>
                  </a:lnTo>
                  <a:lnTo>
                    <a:pt x="401210" y="478610"/>
                  </a:lnTo>
                  <a:lnTo>
                    <a:pt x="344344" y="469272"/>
                  </a:lnTo>
                  <a:lnTo>
                    <a:pt x="290547" y="457602"/>
                  </a:lnTo>
                  <a:lnTo>
                    <a:pt x="240174" y="443749"/>
                  </a:lnTo>
                  <a:lnTo>
                    <a:pt x="193584" y="427863"/>
                  </a:lnTo>
                  <a:lnTo>
                    <a:pt x="151135" y="410094"/>
                  </a:lnTo>
                  <a:lnTo>
                    <a:pt x="113185" y="390592"/>
                  </a:lnTo>
                  <a:lnTo>
                    <a:pt x="80092" y="369506"/>
                  </a:lnTo>
                  <a:lnTo>
                    <a:pt x="29906" y="323182"/>
                  </a:lnTo>
                  <a:lnTo>
                    <a:pt x="3442" y="272321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637963" y="4456524"/>
              <a:ext cx="783590" cy="7620"/>
            </a:xfrm>
            <a:custGeom>
              <a:avLst/>
              <a:gdLst/>
              <a:ahLst/>
              <a:cxnLst/>
              <a:rect l="l" t="t" r="r" b="b"/>
              <a:pathLst>
                <a:path w="783589" h="7620">
                  <a:moveTo>
                    <a:pt x="0" y="0"/>
                  </a:moveTo>
                  <a:lnTo>
                    <a:pt x="783398" y="7158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098980" y="4456524"/>
              <a:ext cx="762000" cy="7620"/>
            </a:xfrm>
            <a:custGeom>
              <a:avLst/>
              <a:gdLst/>
              <a:ahLst/>
              <a:cxnLst/>
              <a:rect l="l" t="t" r="r" b="b"/>
              <a:pathLst>
                <a:path w="762000" h="7620">
                  <a:moveTo>
                    <a:pt x="0" y="7158"/>
                  </a:moveTo>
                  <a:lnTo>
                    <a:pt x="761973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790844" y="3766352"/>
              <a:ext cx="713105" cy="412115"/>
            </a:xfrm>
            <a:custGeom>
              <a:avLst/>
              <a:gdLst/>
              <a:ahLst/>
              <a:cxnLst/>
              <a:rect l="l" t="t" r="r" b="b"/>
              <a:pathLst>
                <a:path w="713104" h="412114">
                  <a:moveTo>
                    <a:pt x="0" y="0"/>
                  </a:moveTo>
                  <a:lnTo>
                    <a:pt x="712635" y="411761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503479" y="3766357"/>
              <a:ext cx="628650" cy="412115"/>
            </a:xfrm>
            <a:custGeom>
              <a:avLst/>
              <a:gdLst/>
              <a:ahLst/>
              <a:cxnLst/>
              <a:rect l="l" t="t" r="r" b="b"/>
              <a:pathLst>
                <a:path w="628650" h="412114">
                  <a:moveTo>
                    <a:pt x="628492" y="0"/>
                  </a:moveTo>
                  <a:lnTo>
                    <a:pt x="0" y="411755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995438" y="3939846"/>
              <a:ext cx="654685" cy="238760"/>
            </a:xfrm>
            <a:custGeom>
              <a:avLst/>
              <a:gdLst/>
              <a:ahLst/>
              <a:cxnLst/>
              <a:rect l="l" t="t" r="r" b="b"/>
              <a:pathLst>
                <a:path w="654685" h="238760">
                  <a:moveTo>
                    <a:pt x="654090" y="0"/>
                  </a:moveTo>
                  <a:lnTo>
                    <a:pt x="0" y="238267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284218" y="3982247"/>
              <a:ext cx="711835" cy="196215"/>
            </a:xfrm>
            <a:custGeom>
              <a:avLst/>
              <a:gdLst/>
              <a:ahLst/>
              <a:cxnLst/>
              <a:rect l="l" t="t" r="r" b="b"/>
              <a:pathLst>
                <a:path w="711835" h="196214">
                  <a:moveTo>
                    <a:pt x="0" y="0"/>
                  </a:moveTo>
                  <a:lnTo>
                    <a:pt x="711220" y="195865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3608586" y="3611879"/>
            <a:ext cx="10725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description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764470" y="3371088"/>
            <a:ext cx="79565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address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2905086" y="3718261"/>
            <a:ext cx="2618105" cy="2278380"/>
            <a:chOff x="2905086" y="3718261"/>
            <a:chExt cx="2618105" cy="2278380"/>
          </a:xfrm>
        </p:grpSpPr>
        <p:sp>
          <p:nvSpPr>
            <p:cNvPr id="36" name="object 36"/>
            <p:cNvSpPr/>
            <p:nvPr/>
          </p:nvSpPr>
          <p:spPr>
            <a:xfrm>
              <a:off x="2910166" y="3723341"/>
              <a:ext cx="85725" cy="455295"/>
            </a:xfrm>
            <a:custGeom>
              <a:avLst/>
              <a:gdLst/>
              <a:ahLst/>
              <a:cxnLst/>
              <a:rect l="l" t="t" r="r" b="b"/>
              <a:pathLst>
                <a:path w="85725" h="455295">
                  <a:moveTo>
                    <a:pt x="0" y="0"/>
                  </a:moveTo>
                  <a:lnTo>
                    <a:pt x="85272" y="454772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344611" y="5500261"/>
              <a:ext cx="1173480" cy="491490"/>
            </a:xfrm>
            <a:custGeom>
              <a:avLst/>
              <a:gdLst/>
              <a:ahLst/>
              <a:cxnLst/>
              <a:rect l="l" t="t" r="r" b="b"/>
              <a:pathLst>
                <a:path w="1173479" h="491489">
                  <a:moveTo>
                    <a:pt x="586630" y="0"/>
                  </a:moveTo>
                  <a:lnTo>
                    <a:pt x="522710" y="1440"/>
                  </a:lnTo>
                  <a:lnTo>
                    <a:pt x="460784" y="5663"/>
                  </a:lnTo>
                  <a:lnTo>
                    <a:pt x="401210" y="12519"/>
                  </a:lnTo>
                  <a:lnTo>
                    <a:pt x="344344" y="21856"/>
                  </a:lnTo>
                  <a:lnTo>
                    <a:pt x="290547" y="33526"/>
                  </a:lnTo>
                  <a:lnTo>
                    <a:pt x="240174" y="47379"/>
                  </a:lnTo>
                  <a:lnTo>
                    <a:pt x="193584" y="63265"/>
                  </a:lnTo>
                  <a:lnTo>
                    <a:pt x="151135" y="81034"/>
                  </a:lnTo>
                  <a:lnTo>
                    <a:pt x="113185" y="100537"/>
                  </a:lnTo>
                  <a:lnTo>
                    <a:pt x="80092" y="121623"/>
                  </a:lnTo>
                  <a:lnTo>
                    <a:pt x="29906" y="167947"/>
                  </a:lnTo>
                  <a:lnTo>
                    <a:pt x="3442" y="218807"/>
                  </a:lnTo>
                  <a:lnTo>
                    <a:pt x="0" y="245564"/>
                  </a:lnTo>
                  <a:lnTo>
                    <a:pt x="3442" y="272321"/>
                  </a:lnTo>
                  <a:lnTo>
                    <a:pt x="29906" y="323182"/>
                  </a:lnTo>
                  <a:lnTo>
                    <a:pt x="80092" y="369506"/>
                  </a:lnTo>
                  <a:lnTo>
                    <a:pt x="113185" y="390592"/>
                  </a:lnTo>
                  <a:lnTo>
                    <a:pt x="151135" y="410094"/>
                  </a:lnTo>
                  <a:lnTo>
                    <a:pt x="193584" y="427863"/>
                  </a:lnTo>
                  <a:lnTo>
                    <a:pt x="240174" y="443749"/>
                  </a:lnTo>
                  <a:lnTo>
                    <a:pt x="290547" y="457602"/>
                  </a:lnTo>
                  <a:lnTo>
                    <a:pt x="344344" y="469272"/>
                  </a:lnTo>
                  <a:lnTo>
                    <a:pt x="401210" y="478610"/>
                  </a:lnTo>
                  <a:lnTo>
                    <a:pt x="460784" y="485465"/>
                  </a:lnTo>
                  <a:lnTo>
                    <a:pt x="522710" y="489688"/>
                  </a:lnTo>
                  <a:lnTo>
                    <a:pt x="586630" y="491129"/>
                  </a:lnTo>
                  <a:lnTo>
                    <a:pt x="650550" y="489688"/>
                  </a:lnTo>
                  <a:lnTo>
                    <a:pt x="712476" y="485465"/>
                  </a:lnTo>
                  <a:lnTo>
                    <a:pt x="772051" y="478610"/>
                  </a:lnTo>
                  <a:lnTo>
                    <a:pt x="828916" y="469272"/>
                  </a:lnTo>
                  <a:lnTo>
                    <a:pt x="882714" y="457602"/>
                  </a:lnTo>
                  <a:lnTo>
                    <a:pt x="933087" y="443749"/>
                  </a:lnTo>
                  <a:lnTo>
                    <a:pt x="979676" y="427863"/>
                  </a:lnTo>
                  <a:lnTo>
                    <a:pt x="1022125" y="410094"/>
                  </a:lnTo>
                  <a:lnTo>
                    <a:pt x="1060075" y="390592"/>
                  </a:lnTo>
                  <a:lnTo>
                    <a:pt x="1093169" y="369506"/>
                  </a:lnTo>
                  <a:lnTo>
                    <a:pt x="1143354" y="323182"/>
                  </a:lnTo>
                  <a:lnTo>
                    <a:pt x="1169819" y="272321"/>
                  </a:lnTo>
                  <a:lnTo>
                    <a:pt x="1173261" y="245564"/>
                  </a:lnTo>
                  <a:lnTo>
                    <a:pt x="1169819" y="218807"/>
                  </a:lnTo>
                  <a:lnTo>
                    <a:pt x="1143354" y="167947"/>
                  </a:lnTo>
                  <a:lnTo>
                    <a:pt x="1093169" y="121623"/>
                  </a:lnTo>
                  <a:lnTo>
                    <a:pt x="1060075" y="100537"/>
                  </a:lnTo>
                  <a:lnTo>
                    <a:pt x="1022125" y="81034"/>
                  </a:lnTo>
                  <a:lnTo>
                    <a:pt x="979676" y="63265"/>
                  </a:lnTo>
                  <a:lnTo>
                    <a:pt x="933087" y="47379"/>
                  </a:lnTo>
                  <a:lnTo>
                    <a:pt x="882714" y="33526"/>
                  </a:lnTo>
                  <a:lnTo>
                    <a:pt x="828916" y="21856"/>
                  </a:lnTo>
                  <a:lnTo>
                    <a:pt x="772051" y="12519"/>
                  </a:lnTo>
                  <a:lnTo>
                    <a:pt x="712476" y="5663"/>
                  </a:lnTo>
                  <a:lnTo>
                    <a:pt x="650550" y="1440"/>
                  </a:lnTo>
                  <a:lnTo>
                    <a:pt x="586630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344611" y="5500261"/>
              <a:ext cx="1173480" cy="491490"/>
            </a:xfrm>
            <a:custGeom>
              <a:avLst/>
              <a:gdLst/>
              <a:ahLst/>
              <a:cxnLst/>
              <a:rect l="l" t="t" r="r" b="b"/>
              <a:pathLst>
                <a:path w="1173479" h="491489">
                  <a:moveTo>
                    <a:pt x="0" y="245564"/>
                  </a:moveTo>
                  <a:lnTo>
                    <a:pt x="13530" y="192885"/>
                  </a:lnTo>
                  <a:lnTo>
                    <a:pt x="52213" y="144143"/>
                  </a:lnTo>
                  <a:lnTo>
                    <a:pt x="113185" y="100537"/>
                  </a:lnTo>
                  <a:lnTo>
                    <a:pt x="151135" y="81034"/>
                  </a:lnTo>
                  <a:lnTo>
                    <a:pt x="193584" y="63265"/>
                  </a:lnTo>
                  <a:lnTo>
                    <a:pt x="240174" y="47379"/>
                  </a:lnTo>
                  <a:lnTo>
                    <a:pt x="290547" y="33526"/>
                  </a:lnTo>
                  <a:lnTo>
                    <a:pt x="344344" y="21856"/>
                  </a:lnTo>
                  <a:lnTo>
                    <a:pt x="401210" y="12519"/>
                  </a:lnTo>
                  <a:lnTo>
                    <a:pt x="460784" y="5663"/>
                  </a:lnTo>
                  <a:lnTo>
                    <a:pt x="522711" y="1440"/>
                  </a:lnTo>
                  <a:lnTo>
                    <a:pt x="586630" y="0"/>
                  </a:lnTo>
                  <a:lnTo>
                    <a:pt x="650550" y="1440"/>
                  </a:lnTo>
                  <a:lnTo>
                    <a:pt x="712477" y="5663"/>
                  </a:lnTo>
                  <a:lnTo>
                    <a:pt x="772051" y="12519"/>
                  </a:lnTo>
                  <a:lnTo>
                    <a:pt x="828916" y="21856"/>
                  </a:lnTo>
                  <a:lnTo>
                    <a:pt x="882714" y="33526"/>
                  </a:lnTo>
                  <a:lnTo>
                    <a:pt x="933087" y="47379"/>
                  </a:lnTo>
                  <a:lnTo>
                    <a:pt x="979677" y="63265"/>
                  </a:lnTo>
                  <a:lnTo>
                    <a:pt x="1022126" y="81034"/>
                  </a:lnTo>
                  <a:lnTo>
                    <a:pt x="1060076" y="100537"/>
                  </a:lnTo>
                  <a:lnTo>
                    <a:pt x="1093169" y="121623"/>
                  </a:lnTo>
                  <a:lnTo>
                    <a:pt x="1143355" y="167947"/>
                  </a:lnTo>
                  <a:lnTo>
                    <a:pt x="1169819" y="218807"/>
                  </a:lnTo>
                  <a:lnTo>
                    <a:pt x="1173261" y="245564"/>
                  </a:lnTo>
                  <a:lnTo>
                    <a:pt x="1169819" y="272321"/>
                  </a:lnTo>
                  <a:lnTo>
                    <a:pt x="1143355" y="323182"/>
                  </a:lnTo>
                  <a:lnTo>
                    <a:pt x="1093169" y="369506"/>
                  </a:lnTo>
                  <a:lnTo>
                    <a:pt x="1060076" y="390592"/>
                  </a:lnTo>
                  <a:lnTo>
                    <a:pt x="1022126" y="410094"/>
                  </a:lnTo>
                  <a:lnTo>
                    <a:pt x="979677" y="427863"/>
                  </a:lnTo>
                  <a:lnTo>
                    <a:pt x="933087" y="443749"/>
                  </a:lnTo>
                  <a:lnTo>
                    <a:pt x="882714" y="457602"/>
                  </a:lnTo>
                  <a:lnTo>
                    <a:pt x="828916" y="469272"/>
                  </a:lnTo>
                  <a:lnTo>
                    <a:pt x="772051" y="478610"/>
                  </a:lnTo>
                  <a:lnTo>
                    <a:pt x="712477" y="485465"/>
                  </a:lnTo>
                  <a:lnTo>
                    <a:pt x="650550" y="489688"/>
                  </a:lnTo>
                  <a:lnTo>
                    <a:pt x="586630" y="491129"/>
                  </a:lnTo>
                  <a:lnTo>
                    <a:pt x="522711" y="489688"/>
                  </a:lnTo>
                  <a:lnTo>
                    <a:pt x="460784" y="485465"/>
                  </a:lnTo>
                  <a:lnTo>
                    <a:pt x="401210" y="478610"/>
                  </a:lnTo>
                  <a:lnTo>
                    <a:pt x="344344" y="469272"/>
                  </a:lnTo>
                  <a:lnTo>
                    <a:pt x="290547" y="457602"/>
                  </a:lnTo>
                  <a:lnTo>
                    <a:pt x="240174" y="443749"/>
                  </a:lnTo>
                  <a:lnTo>
                    <a:pt x="193584" y="427863"/>
                  </a:lnTo>
                  <a:lnTo>
                    <a:pt x="151135" y="410094"/>
                  </a:lnTo>
                  <a:lnTo>
                    <a:pt x="113185" y="390592"/>
                  </a:lnTo>
                  <a:lnTo>
                    <a:pt x="80092" y="369506"/>
                  </a:lnTo>
                  <a:lnTo>
                    <a:pt x="29906" y="323182"/>
                  </a:lnTo>
                  <a:lnTo>
                    <a:pt x="3442" y="272321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931242" y="4802948"/>
              <a:ext cx="328930" cy="697865"/>
            </a:xfrm>
            <a:custGeom>
              <a:avLst/>
              <a:gdLst/>
              <a:ahLst/>
              <a:cxnLst/>
              <a:rect l="l" t="t" r="r" b="b"/>
              <a:pathLst>
                <a:path w="328929" h="697864">
                  <a:moveTo>
                    <a:pt x="0" y="697313"/>
                  </a:moveTo>
                  <a:lnTo>
                    <a:pt x="328929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4563740" y="5596128"/>
            <a:ext cx="78422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quantity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5550598" y="5218331"/>
            <a:ext cx="2929890" cy="1021715"/>
            <a:chOff x="5550598" y="5218331"/>
            <a:chExt cx="2929890" cy="1021715"/>
          </a:xfrm>
        </p:grpSpPr>
        <p:sp>
          <p:nvSpPr>
            <p:cNvPr id="42" name="object 42"/>
            <p:cNvSpPr/>
            <p:nvPr/>
          </p:nvSpPr>
          <p:spPr>
            <a:xfrm>
              <a:off x="5557371" y="5225105"/>
              <a:ext cx="2916555" cy="1008380"/>
            </a:xfrm>
            <a:custGeom>
              <a:avLst/>
              <a:gdLst/>
              <a:ahLst/>
              <a:cxnLst/>
              <a:rect l="l" t="t" r="r" b="b"/>
              <a:pathLst>
                <a:path w="2916554" h="1008379">
                  <a:moveTo>
                    <a:pt x="0" y="72044"/>
                  </a:moveTo>
                  <a:lnTo>
                    <a:pt x="584352" y="420022"/>
                  </a:lnTo>
                  <a:lnTo>
                    <a:pt x="584352" y="840042"/>
                  </a:lnTo>
                  <a:lnTo>
                    <a:pt x="590353" y="884706"/>
                  </a:lnTo>
                  <a:lnTo>
                    <a:pt x="607290" y="924841"/>
                  </a:lnTo>
                  <a:lnTo>
                    <a:pt x="633561" y="958844"/>
                  </a:lnTo>
                  <a:lnTo>
                    <a:pt x="667564" y="985115"/>
                  </a:lnTo>
                  <a:lnTo>
                    <a:pt x="707699" y="1002052"/>
                  </a:lnTo>
                  <a:lnTo>
                    <a:pt x="752363" y="1008053"/>
                  </a:lnTo>
                  <a:lnTo>
                    <a:pt x="2748056" y="1008053"/>
                  </a:lnTo>
                  <a:lnTo>
                    <a:pt x="2792720" y="1002052"/>
                  </a:lnTo>
                  <a:lnTo>
                    <a:pt x="2832855" y="985115"/>
                  </a:lnTo>
                  <a:lnTo>
                    <a:pt x="2866858" y="958844"/>
                  </a:lnTo>
                  <a:lnTo>
                    <a:pt x="2893129" y="924841"/>
                  </a:lnTo>
                  <a:lnTo>
                    <a:pt x="2910066" y="884706"/>
                  </a:lnTo>
                  <a:lnTo>
                    <a:pt x="2916068" y="840042"/>
                  </a:lnTo>
                  <a:lnTo>
                    <a:pt x="2916068" y="168010"/>
                  </a:lnTo>
                  <a:lnTo>
                    <a:pt x="584352" y="168010"/>
                  </a:lnTo>
                  <a:lnTo>
                    <a:pt x="0" y="72044"/>
                  </a:lnTo>
                  <a:close/>
                </a:path>
                <a:path w="2916554" h="1008379">
                  <a:moveTo>
                    <a:pt x="2748056" y="0"/>
                  </a:moveTo>
                  <a:lnTo>
                    <a:pt x="752363" y="0"/>
                  </a:lnTo>
                  <a:lnTo>
                    <a:pt x="707699" y="6001"/>
                  </a:lnTo>
                  <a:lnTo>
                    <a:pt x="667564" y="22938"/>
                  </a:lnTo>
                  <a:lnTo>
                    <a:pt x="633561" y="49209"/>
                  </a:lnTo>
                  <a:lnTo>
                    <a:pt x="607290" y="83212"/>
                  </a:lnTo>
                  <a:lnTo>
                    <a:pt x="590353" y="123346"/>
                  </a:lnTo>
                  <a:lnTo>
                    <a:pt x="584352" y="168010"/>
                  </a:lnTo>
                  <a:lnTo>
                    <a:pt x="2916068" y="168010"/>
                  </a:lnTo>
                  <a:lnTo>
                    <a:pt x="2910066" y="123346"/>
                  </a:lnTo>
                  <a:lnTo>
                    <a:pt x="2893129" y="83212"/>
                  </a:lnTo>
                  <a:lnTo>
                    <a:pt x="2866858" y="49209"/>
                  </a:lnTo>
                  <a:lnTo>
                    <a:pt x="2832855" y="22938"/>
                  </a:lnTo>
                  <a:lnTo>
                    <a:pt x="2792720" y="6001"/>
                  </a:lnTo>
                  <a:lnTo>
                    <a:pt x="2748056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557371" y="5225105"/>
              <a:ext cx="2916555" cy="1008380"/>
            </a:xfrm>
            <a:custGeom>
              <a:avLst/>
              <a:gdLst/>
              <a:ahLst/>
              <a:cxnLst/>
              <a:rect l="l" t="t" r="r" b="b"/>
              <a:pathLst>
                <a:path w="2916554" h="1008379">
                  <a:moveTo>
                    <a:pt x="584351" y="168011"/>
                  </a:moveTo>
                  <a:lnTo>
                    <a:pt x="590353" y="123347"/>
                  </a:lnTo>
                  <a:lnTo>
                    <a:pt x="607290" y="83212"/>
                  </a:lnTo>
                  <a:lnTo>
                    <a:pt x="633561" y="49209"/>
                  </a:lnTo>
                  <a:lnTo>
                    <a:pt x="667564" y="22938"/>
                  </a:lnTo>
                  <a:lnTo>
                    <a:pt x="707699" y="6001"/>
                  </a:lnTo>
                  <a:lnTo>
                    <a:pt x="752363" y="0"/>
                  </a:lnTo>
                  <a:lnTo>
                    <a:pt x="972971" y="0"/>
                  </a:lnTo>
                  <a:lnTo>
                    <a:pt x="1555900" y="0"/>
                  </a:lnTo>
                  <a:lnTo>
                    <a:pt x="2748056" y="0"/>
                  </a:lnTo>
                  <a:lnTo>
                    <a:pt x="2792720" y="6001"/>
                  </a:lnTo>
                  <a:lnTo>
                    <a:pt x="2832855" y="22938"/>
                  </a:lnTo>
                  <a:lnTo>
                    <a:pt x="2866858" y="49209"/>
                  </a:lnTo>
                  <a:lnTo>
                    <a:pt x="2893129" y="83212"/>
                  </a:lnTo>
                  <a:lnTo>
                    <a:pt x="2910066" y="123347"/>
                  </a:lnTo>
                  <a:lnTo>
                    <a:pt x="2916068" y="168011"/>
                  </a:lnTo>
                  <a:lnTo>
                    <a:pt x="2916068" y="420022"/>
                  </a:lnTo>
                  <a:lnTo>
                    <a:pt x="2916068" y="840042"/>
                  </a:lnTo>
                  <a:lnTo>
                    <a:pt x="2910066" y="884706"/>
                  </a:lnTo>
                  <a:lnTo>
                    <a:pt x="2893129" y="924841"/>
                  </a:lnTo>
                  <a:lnTo>
                    <a:pt x="2866858" y="958844"/>
                  </a:lnTo>
                  <a:lnTo>
                    <a:pt x="2832855" y="985115"/>
                  </a:lnTo>
                  <a:lnTo>
                    <a:pt x="2792720" y="1002052"/>
                  </a:lnTo>
                  <a:lnTo>
                    <a:pt x="2748056" y="1008054"/>
                  </a:lnTo>
                  <a:lnTo>
                    <a:pt x="1555900" y="1008054"/>
                  </a:lnTo>
                  <a:lnTo>
                    <a:pt x="972971" y="1008054"/>
                  </a:lnTo>
                  <a:lnTo>
                    <a:pt x="752363" y="1008054"/>
                  </a:lnTo>
                  <a:lnTo>
                    <a:pt x="707699" y="1002052"/>
                  </a:lnTo>
                  <a:lnTo>
                    <a:pt x="667564" y="985115"/>
                  </a:lnTo>
                  <a:lnTo>
                    <a:pt x="633561" y="958844"/>
                  </a:lnTo>
                  <a:lnTo>
                    <a:pt x="607290" y="924841"/>
                  </a:lnTo>
                  <a:lnTo>
                    <a:pt x="590353" y="884706"/>
                  </a:lnTo>
                  <a:lnTo>
                    <a:pt x="584351" y="840042"/>
                  </a:lnTo>
                  <a:lnTo>
                    <a:pt x="584351" y="420022"/>
                  </a:lnTo>
                  <a:lnTo>
                    <a:pt x="0" y="72045"/>
                  </a:lnTo>
                  <a:lnTo>
                    <a:pt x="584351" y="168009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6360161" y="5377688"/>
            <a:ext cx="1896745" cy="68707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065" marR="5080" indent="-1270" algn="ctr">
              <a:lnSpc>
                <a:spcPts val="1700"/>
              </a:lnSpc>
              <a:spcBef>
                <a:spcPts val="240"/>
              </a:spcBef>
            </a:pP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Use</a:t>
            </a:r>
            <a:r>
              <a:rPr sz="15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dotted</a:t>
            </a:r>
            <a:r>
              <a:rPr sz="15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line</a:t>
            </a:r>
            <a:r>
              <a:rPr sz="15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Arial MT"/>
                <a:cs typeface="Arial MT"/>
              </a:rPr>
              <a:t>to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connect</a:t>
            </a:r>
            <a:r>
              <a:rPr sz="15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an</a:t>
            </a:r>
            <a:r>
              <a:rPr sz="15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attribute</a:t>
            </a:r>
            <a:r>
              <a:rPr sz="15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Arial MT"/>
                <a:cs typeface="Arial MT"/>
              </a:rPr>
              <a:t>to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5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relationship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912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100"/>
              </a:spcBef>
            </a:pPr>
            <a:r>
              <a:rPr sz="3800" spc="-70" dirty="0">
                <a:solidFill>
                  <a:srgbClr val="292934"/>
                </a:solidFill>
              </a:rPr>
              <a:t>Let’s</a:t>
            </a:r>
            <a:r>
              <a:rPr sz="3800" spc="-220" dirty="0">
                <a:solidFill>
                  <a:srgbClr val="292934"/>
                </a:solidFill>
              </a:rPr>
              <a:t> </a:t>
            </a:r>
            <a:r>
              <a:rPr sz="3800" spc="-60" dirty="0">
                <a:solidFill>
                  <a:srgbClr val="292934"/>
                </a:solidFill>
              </a:rPr>
              <a:t>try:</a:t>
            </a:r>
            <a:r>
              <a:rPr sz="3800" spc="-225" dirty="0">
                <a:solidFill>
                  <a:srgbClr val="292934"/>
                </a:solidFill>
              </a:rPr>
              <a:t> </a:t>
            </a:r>
            <a:r>
              <a:rPr sz="3800" spc="-90" dirty="0">
                <a:solidFill>
                  <a:srgbClr val="292934"/>
                </a:solidFill>
              </a:rPr>
              <a:t>Attributes</a:t>
            </a:r>
            <a:r>
              <a:rPr sz="3800" spc="-204" dirty="0">
                <a:solidFill>
                  <a:srgbClr val="292934"/>
                </a:solidFill>
              </a:rPr>
              <a:t> </a:t>
            </a:r>
            <a:r>
              <a:rPr sz="3800" dirty="0">
                <a:solidFill>
                  <a:srgbClr val="292934"/>
                </a:solidFill>
              </a:rPr>
              <a:t>-</a:t>
            </a:r>
            <a:r>
              <a:rPr sz="3800" spc="-220" dirty="0">
                <a:solidFill>
                  <a:srgbClr val="292934"/>
                </a:solidFill>
              </a:rPr>
              <a:t> </a:t>
            </a:r>
            <a:r>
              <a:rPr sz="3800" spc="-65" dirty="0">
                <a:solidFill>
                  <a:srgbClr val="292934"/>
                </a:solidFill>
              </a:rPr>
              <a:t>Relationships</a:t>
            </a:r>
            <a:endParaRPr sz="3800"/>
          </a:p>
        </p:txBody>
      </p:sp>
      <p:sp>
        <p:nvSpPr>
          <p:cNvPr id="3" name="object 3"/>
          <p:cNvSpPr txBox="1"/>
          <p:nvPr/>
        </p:nvSpPr>
        <p:spPr>
          <a:xfrm>
            <a:off x="399795" y="1207008"/>
            <a:ext cx="448437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Interpret</a:t>
            </a:r>
            <a:r>
              <a:rPr sz="2300" b="1" spc="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b="1" spc="10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E-R</a:t>
            </a:r>
            <a:r>
              <a:rPr sz="2300" b="1" spc="11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spc="-10" dirty="0">
                <a:solidFill>
                  <a:srgbClr val="292934"/>
                </a:solidFill>
                <a:latin typeface="Verdana"/>
                <a:cs typeface="Verdana"/>
              </a:rPr>
              <a:t>diagram.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0564" y="5070565"/>
            <a:ext cx="8732520" cy="1938020"/>
          </a:xfrm>
          <a:prstGeom prst="rect">
            <a:avLst/>
          </a:prstGeom>
          <a:ln w="20319">
            <a:solidFill>
              <a:srgbClr val="7F7F7F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40"/>
              </a:spcBef>
            </a:pPr>
            <a:endParaRPr sz="2100">
              <a:latin typeface="Times New Roman"/>
              <a:cs typeface="Times New Roman"/>
            </a:endParaRPr>
          </a:p>
          <a:p>
            <a:pPr marL="781050">
              <a:lnSpc>
                <a:spcPct val="100000"/>
              </a:lnSpc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student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1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take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many</a:t>
            </a:r>
            <a:r>
              <a:rPr sz="21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courses.</a:t>
            </a:r>
            <a:endParaRPr sz="2100">
              <a:latin typeface="Verdana"/>
              <a:cs typeface="Verdana"/>
            </a:endParaRPr>
          </a:p>
          <a:p>
            <a:pPr marL="781050">
              <a:lnSpc>
                <a:spcPct val="100000"/>
              </a:lnSpc>
              <a:spcBef>
                <a:spcPts val="675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course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taken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many</a:t>
            </a:r>
            <a:r>
              <a:rPr sz="21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students.</a:t>
            </a:r>
            <a:endParaRPr sz="2100">
              <a:latin typeface="Verdana"/>
              <a:cs typeface="Verdana"/>
            </a:endParaRPr>
          </a:p>
          <a:p>
            <a:pPr marL="781050">
              <a:lnSpc>
                <a:spcPct val="100000"/>
              </a:lnSpc>
              <a:spcBef>
                <a:spcPts val="670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grade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exists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only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when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student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takes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course.</a:t>
            </a:r>
            <a:endParaRPr sz="210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3969" y="1858744"/>
            <a:ext cx="8074286" cy="279653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405068" y="3176015"/>
            <a:ext cx="67627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course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82628" y="3160776"/>
            <a:ext cx="73596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student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35841" y="3166871"/>
            <a:ext cx="54356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takes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64583" y="2584703"/>
            <a:ext cx="30162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5" dirty="0">
                <a:solidFill>
                  <a:srgbClr val="292934"/>
                </a:solidFill>
                <a:latin typeface="Arial MT"/>
                <a:cs typeface="Arial MT"/>
              </a:rPr>
              <a:t>cid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73496" y="2072640"/>
            <a:ext cx="65024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sec_id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84686" y="2380488"/>
            <a:ext cx="1924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5" dirty="0">
                <a:solidFill>
                  <a:srgbClr val="292934"/>
                </a:solidFill>
                <a:latin typeface="Arial MT"/>
                <a:cs typeface="Arial MT"/>
              </a:rPr>
              <a:t>id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50929" y="1972055"/>
            <a:ext cx="91694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semester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84730" y="2039111"/>
            <a:ext cx="56769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0" dirty="0">
                <a:solidFill>
                  <a:srgbClr val="292934"/>
                </a:solidFill>
                <a:latin typeface="Arial MT"/>
                <a:cs typeface="Arial MT"/>
              </a:rPr>
              <a:t>name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906549" y="2346959"/>
            <a:ext cx="108394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total_credit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22622" y="2502408"/>
            <a:ext cx="4464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0" dirty="0">
                <a:solidFill>
                  <a:srgbClr val="292934"/>
                </a:solidFill>
                <a:latin typeface="Arial MT"/>
                <a:cs typeface="Arial MT"/>
              </a:rPr>
              <a:t>year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03640" y="4261103"/>
            <a:ext cx="57912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grade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2954">
              <a:lnSpc>
                <a:spcPct val="100000"/>
              </a:lnSpc>
              <a:spcBef>
                <a:spcPts val="100"/>
              </a:spcBef>
            </a:pPr>
            <a:r>
              <a:rPr spc="-150" dirty="0"/>
              <a:t>Wrap-</a:t>
            </a:r>
            <a:r>
              <a:rPr spc="-65" dirty="0"/>
              <a:t>Up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9795" y="1122679"/>
            <a:ext cx="8250555" cy="435356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07645" indent="-194945">
              <a:lnSpc>
                <a:spcPct val="100000"/>
              </a:lnSpc>
              <a:spcBef>
                <a:spcPts val="770"/>
              </a:spcBef>
              <a:buSzPct val="85714"/>
              <a:buFont typeface="Arial MT"/>
              <a:buChar char="•"/>
              <a:tabLst>
                <a:tab pos="207645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21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design</a:t>
            </a:r>
            <a:r>
              <a:rPr sz="21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process</a:t>
            </a:r>
            <a:endParaRPr sz="2100">
              <a:latin typeface="Verdana"/>
              <a:cs typeface="Verdana"/>
            </a:endParaRPr>
          </a:p>
          <a:p>
            <a:pPr marL="207645" indent="-194945">
              <a:lnSpc>
                <a:spcPct val="100000"/>
              </a:lnSpc>
              <a:spcBef>
                <a:spcPts val="675"/>
              </a:spcBef>
              <a:buSzPct val="85714"/>
              <a:buFont typeface="Arial MT"/>
              <a:buChar char="•"/>
              <a:tabLst>
                <a:tab pos="207645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Intro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E-R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model</a:t>
            </a:r>
            <a:endParaRPr sz="2100">
              <a:latin typeface="Verdana"/>
              <a:cs typeface="Verdana"/>
            </a:endParaRPr>
          </a:p>
          <a:p>
            <a:pPr marL="207645" indent="-194945">
              <a:lnSpc>
                <a:spcPct val="100000"/>
              </a:lnSpc>
              <a:spcBef>
                <a:spcPts val="670"/>
              </a:spcBef>
              <a:buSzPct val="85714"/>
              <a:buFont typeface="Arial MT"/>
              <a:buChar char="•"/>
              <a:tabLst>
                <a:tab pos="207645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Entities</a:t>
            </a:r>
            <a:r>
              <a:rPr sz="21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1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21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sets</a:t>
            </a:r>
            <a:endParaRPr sz="2100">
              <a:latin typeface="Verdana"/>
              <a:cs typeface="Verdana"/>
            </a:endParaRPr>
          </a:p>
          <a:p>
            <a:pPr marL="207645" indent="-194945">
              <a:lnSpc>
                <a:spcPct val="100000"/>
              </a:lnSpc>
              <a:spcBef>
                <a:spcPts val="695"/>
              </a:spcBef>
              <a:buSzPct val="85714"/>
              <a:buFont typeface="Arial MT"/>
              <a:buChar char="•"/>
              <a:tabLst>
                <a:tab pos="207645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Attributes:</a:t>
            </a:r>
            <a:r>
              <a:rPr sz="2100" spc="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single-valued,</a:t>
            </a:r>
            <a:r>
              <a:rPr sz="2100" spc="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multi-valued,</a:t>
            </a:r>
            <a:r>
              <a:rPr sz="2100" spc="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derived,</a:t>
            </a:r>
            <a:r>
              <a:rPr sz="2100" spc="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composite</a:t>
            </a:r>
            <a:endParaRPr sz="2100">
              <a:latin typeface="Verdana"/>
              <a:cs typeface="Verdana"/>
            </a:endParaRPr>
          </a:p>
          <a:p>
            <a:pPr marL="207645" indent="-194945">
              <a:lnSpc>
                <a:spcPct val="100000"/>
              </a:lnSpc>
              <a:spcBef>
                <a:spcPts val="770"/>
              </a:spcBef>
              <a:buSzPct val="85714"/>
              <a:buFont typeface="Arial MT"/>
              <a:buChar char="•"/>
              <a:tabLst>
                <a:tab pos="207645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Cardinality</a:t>
            </a:r>
            <a:r>
              <a:rPr sz="21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1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participation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710"/>
              </a:spcBef>
              <a:buClr>
                <a:srgbClr val="292934"/>
              </a:buClr>
              <a:buFont typeface="Arial MT"/>
              <a:buChar char="•"/>
            </a:pPr>
            <a:endParaRPr sz="2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What’s</a:t>
            </a:r>
            <a:r>
              <a:rPr sz="2300" b="1" spc="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spc="-20" dirty="0">
                <a:solidFill>
                  <a:srgbClr val="292934"/>
                </a:solidFill>
                <a:latin typeface="Verdana"/>
                <a:cs typeface="Verdana"/>
              </a:rPr>
              <a:t>next?</a:t>
            </a:r>
            <a:endParaRPr sz="2300">
              <a:latin typeface="Verdana"/>
              <a:cs typeface="Verdana"/>
            </a:endParaRPr>
          </a:p>
          <a:p>
            <a:pPr marL="515620" lvl="1" indent="-243840">
              <a:lnSpc>
                <a:spcPct val="100000"/>
              </a:lnSpc>
              <a:spcBef>
                <a:spcPts val="1545"/>
              </a:spcBef>
              <a:buSzPct val="85714"/>
              <a:buFont typeface="Arial MT"/>
              <a:buChar char="•"/>
              <a:tabLst>
                <a:tab pos="515620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Roles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relationships</a:t>
            </a:r>
            <a:endParaRPr sz="2100">
              <a:latin typeface="Verdana"/>
              <a:cs typeface="Verdana"/>
            </a:endParaRPr>
          </a:p>
          <a:p>
            <a:pPr marL="515620" lvl="1" indent="-243840">
              <a:lnSpc>
                <a:spcPct val="100000"/>
              </a:lnSpc>
              <a:spcBef>
                <a:spcPts val="885"/>
              </a:spcBef>
              <a:buSzPct val="85714"/>
              <a:buFont typeface="Arial MT"/>
              <a:buChar char="•"/>
              <a:tabLst>
                <a:tab pos="515620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Relationships: binary,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multi-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way</a:t>
            </a:r>
            <a:endParaRPr sz="2100">
              <a:latin typeface="Verdana"/>
              <a:cs typeface="Verdana"/>
            </a:endParaRPr>
          </a:p>
          <a:p>
            <a:pPr marL="515620" lvl="1" indent="-243840">
              <a:lnSpc>
                <a:spcPct val="100000"/>
              </a:lnSpc>
              <a:spcBef>
                <a:spcPts val="985"/>
              </a:spcBef>
              <a:buSzPct val="85714"/>
              <a:buFont typeface="Arial MT"/>
              <a:buChar char="•"/>
              <a:tabLst>
                <a:tab pos="515620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Weak</a:t>
            </a:r>
            <a:r>
              <a:rPr sz="21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2386</TotalTime>
  <Words>2193</Words>
  <Application>Microsoft Macintosh PowerPoint</Application>
  <PresentationFormat>Custom</PresentationFormat>
  <Paragraphs>640</Paragraphs>
  <Slides>41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9" baseType="lpstr">
      <vt:lpstr>Arial</vt:lpstr>
      <vt:lpstr>Arial MT</vt:lpstr>
      <vt:lpstr>Calibri</vt:lpstr>
      <vt:lpstr>HelveticaNeue</vt:lpstr>
      <vt:lpstr>Times New Roman</vt:lpstr>
      <vt:lpstr>Trebuchet MS</vt:lpstr>
      <vt:lpstr>Verdana</vt:lpstr>
      <vt:lpstr>Office Theme</vt:lpstr>
      <vt:lpstr>PowerPoint Presentation</vt:lpstr>
      <vt:lpstr>Super Key – Candidate Key - Primary Key</vt:lpstr>
      <vt:lpstr>Primary Keys</vt:lpstr>
      <vt:lpstr>Primary Keys</vt:lpstr>
      <vt:lpstr>Foreign Keys</vt:lpstr>
      <vt:lpstr>Foreign Keys</vt:lpstr>
      <vt:lpstr>(Additional) Practice Activity</vt:lpstr>
      <vt:lpstr>(Additional) Practice Activity (2)</vt:lpstr>
      <vt:lpstr>Intro to ER Diagram</vt:lpstr>
      <vt:lpstr>I’ve Got Great Ideas for An App</vt:lpstr>
      <vt:lpstr>Overview: Creating DB App</vt:lpstr>
      <vt:lpstr>Database Design Process</vt:lpstr>
      <vt:lpstr>Entity-Relationship Model</vt:lpstr>
      <vt:lpstr>E-R Diagram: Building Blocks</vt:lpstr>
      <vt:lpstr>Entity and Entity Sets</vt:lpstr>
      <vt:lpstr>PowerPoint Presentation</vt:lpstr>
      <vt:lpstr>PowerPoint Presentation</vt:lpstr>
      <vt:lpstr>Entity Sets and Attributes</vt:lpstr>
      <vt:lpstr>Attributes</vt:lpstr>
      <vt:lpstr>Attributes</vt:lpstr>
      <vt:lpstr>Let’s try: Movie-Database</vt:lpstr>
      <vt:lpstr>Let’s try: Movie-Database</vt:lpstr>
      <vt:lpstr>Note: Instances of E-R Diagram</vt:lpstr>
      <vt:lpstr>Relationships</vt:lpstr>
      <vt:lpstr>Binary Relationships</vt:lpstr>
      <vt:lpstr>Cardinality (or Multiplicity)</vt:lpstr>
      <vt:lpstr>Cardinality: One-to-One</vt:lpstr>
      <vt:lpstr>Example</vt:lpstr>
      <vt:lpstr>Cardinality: One-to-Many</vt:lpstr>
      <vt:lpstr>PowerPoint Presentation</vt:lpstr>
      <vt:lpstr>Cardinality: Many-to-One</vt:lpstr>
      <vt:lpstr>Example</vt:lpstr>
      <vt:lpstr>Cardinality: Many-to-Many</vt:lpstr>
      <vt:lpstr>PowerPoint Presentation</vt:lpstr>
      <vt:lpstr>Example</vt:lpstr>
      <vt:lpstr>Let’s try: Cardinality (1)</vt:lpstr>
      <vt:lpstr>Let’s try: Cardinality (2)</vt:lpstr>
      <vt:lpstr>Let’s try: Cardinality (3)</vt:lpstr>
      <vt:lpstr>Attributes on Relationships</vt:lpstr>
      <vt:lpstr>Let’s try: Attributes - Relationships</vt:lpstr>
      <vt:lpstr>Wrap-Up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4750meet04-ER-intro-to-print</dc:title>
  <dc:creator>upsorn</dc:creator>
  <cp:lastModifiedBy>Farhan Tanvir</cp:lastModifiedBy>
  <cp:revision>16</cp:revision>
  <dcterms:created xsi:type="dcterms:W3CDTF">2024-01-15T04:15:10Z</dcterms:created>
  <dcterms:modified xsi:type="dcterms:W3CDTF">2026-01-21T14:48:23Z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2023-09-01T00:00:00Z</vt:filetime>
  </property>
  <property fmtid="{D5CDD505-2E9C-101B-9397-08002B2CF9AE}" pid="3" name="Creator">
    <vt:lpwstr>PowerPoint</vt:lpwstr>
  </property>
  <property fmtid="{D5CDD505-2E9C-101B-9397-08002B2CF9AE}" pid="4" name="LastSaved">
    <vt:filetime>2024-01-15T00:00:00Z</vt:filetime>
  </property>
  <property fmtid="{D5CDD505-2E9C-101B-9397-08002B2CF9AE}" pid="5" name="Producer">
    <vt:lpwstr>macOS Version 11.5.2 (Build 20G95) Quartz PDFContext</vt:lpwstr>
  </property>
</Properties>
</file>