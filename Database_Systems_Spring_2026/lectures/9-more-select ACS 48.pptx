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1" r:id="rId3"/>
    <p:sldId id="29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2" r:id="rId3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94"/>
  </p:normalViewPr>
  <p:slideViewPr>
    <p:cSldViewPr>
      <p:cViewPr varScale="1">
        <p:scale>
          <a:sx n="107" d="100"/>
          <a:sy n="107" d="100"/>
        </p:scale>
        <p:origin x="158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067E-F9F4-B9D1-148F-5D0BAF3EE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272011"/>
            <a:ext cx="7543800" cy="2705947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0FB9-5BC8-188B-056B-8B34D76A0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2BFA8-E9B3-667B-A349-6892744B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D114-A891-DB38-0B8F-9C3EFB18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66A5A-82F7-2F7D-E96F-FE3D6312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3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4D6D-1E86-2261-8ABC-B71D2211B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779A-37EF-70D7-60CD-155B31759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FD8B4-6799-6CC8-A1E8-94FAB9D4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8C8F-6BFE-C205-0CBE-6DF01025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2E25-43B4-BC20-8864-170070E9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08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EA4C-758B-0327-E993-7860A1BD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9258C-2C4D-4746-8035-75A89B659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01CC2-A7D8-5EA0-89DA-0E3B8086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EA41-FFC5-D37E-1503-C6BA1A34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F85F0-3717-010A-7869-A1332D9E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0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B999-65EF-086D-6B3C-266BC9B30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D553B-55DE-0BD2-C93C-B08B433B3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D9B43-D71E-037E-9ECF-2A9D8DDA5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EB27B-AE9C-260C-0C46-64B13B56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D12BE-31A1-7B56-629B-53327795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CE2D2-64EA-42D2-8401-ADD0E8763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53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709AB-90BA-2574-4A89-CD052B4F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413809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EADB4-DCD5-8550-B1F8-B1DE8E03C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CA957-17BF-76C3-F4C5-231F6D4E1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B7BC7F-E49C-FC02-6BA6-E43DD0812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92065" y="1905318"/>
            <a:ext cx="4276130" cy="933767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D3A54-67CB-9B68-ECCB-B21FADB6B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92065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6C980-FD38-F0C0-803C-A7638BD6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77BEC-2F2D-AABE-1377-FBDC2D16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14155-A59F-1F87-F3D4-20E50A56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02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F83F6-C285-951D-2CA4-FAD06EAB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22220-CB71-C601-0F23-8AD36962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11840-D60C-BFC9-B4B4-DB5A4603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420B3-B99C-078E-C202-EBEA0EEA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82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06D48-4898-F0D0-914F-BA82E1A1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B5F7F-9443-B2F0-5BFF-533098E7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49427-4D00-2E0E-A23B-63DA4468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9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B8B5-9186-AA17-A5CF-7CFD9F81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8EDEA-5BCD-6DD8-31D6-D43CA213A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041AF-1490-53EC-0248-F525AF254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424C3-1F48-681F-794C-305971F4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2ADA7-E20A-A78E-0B5D-D4BC41E4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17730-242D-4D91-B278-5E7FC245C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3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6A0D0-188D-533A-19F3-72BDB460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3D8BD-69ED-5285-E065-029333F1E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6130" y="1119082"/>
            <a:ext cx="5092065" cy="5523442"/>
          </a:xfrm>
        </p:spPr>
        <p:txBody>
          <a:bodyPr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5D807-B787-E7C2-22C3-90CCD999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E6010-261D-6C1F-95CF-316EB3664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0E7FD-8CA4-CD78-3164-F01A669B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49906-D9E6-B9D2-115C-2DF0D3BC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00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7F72D-AF10-B886-12B1-8BD6C8F8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1C2E1-8F28-4A0E-90EA-DF6638BF9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B52F-6F00-16B7-9DC7-D7B76CABA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1B3BE-91F1-ECB9-8011-F2EFE454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BC72-1FD5-97DB-E917-B6BF44A5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7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396D1-0615-63D4-DBFF-735440236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198042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BE7F2-627C-1F59-0A61-E2880011B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16254-3E3B-791F-BE5E-E016C785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2AE1B-5D52-B53F-8204-1FCE781C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38C23-E472-E17D-1247-99D982EA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1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8A836-F4FC-B10F-F873-44407CA9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CA510-7E5E-09EF-0893-4D7A8280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4915-A24A-341C-B3F0-89E3D20F0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30"/>
              <a:t>©</a:t>
            </a:r>
            <a:r>
              <a:rPr lang="en-US" spc="-70"/>
              <a:t> </a:t>
            </a:r>
            <a:r>
              <a:rPr lang="en-US" spc="-45"/>
              <a:t>P</a:t>
            </a:r>
            <a:r>
              <a:rPr lang="en-US" spc="-30"/>
              <a:t>r</a:t>
            </a:r>
            <a:r>
              <a:rPr lang="en-US" spc="-130"/>
              <a:t>a</a:t>
            </a:r>
            <a:r>
              <a:rPr lang="en-US" spc="-85"/>
              <a:t>p</a:t>
            </a:r>
            <a:r>
              <a:rPr lang="en-US" spc="-75"/>
              <a:t>h</a:t>
            </a:r>
            <a:r>
              <a:rPr lang="en-US" spc="-130"/>
              <a:t>a</a:t>
            </a:r>
            <a:r>
              <a:rPr lang="en-US" spc="-90"/>
              <a:t>m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0"/>
              <a:t>t</a:t>
            </a:r>
            <a:r>
              <a:rPr lang="en-US" spc="-5"/>
              <a:t>r</a:t>
            </a:r>
            <a:r>
              <a:rPr lang="en-US" spc="-80"/>
              <a:t>i</a:t>
            </a:r>
            <a:r>
              <a:rPr lang="en-US" spc="-85"/>
              <a:t>p</a:t>
            </a:r>
            <a:r>
              <a:rPr lang="en-US" spc="-10"/>
              <a:t>o</a:t>
            </a:r>
            <a:r>
              <a:rPr lang="en-US" spc="-75"/>
              <a:t>n</a:t>
            </a:r>
            <a:r>
              <a:rPr lang="en-US" spc="-85"/>
              <a:t>g</a:t>
            </a:r>
            <a:endParaRPr lang="en-US" spc="-85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B0D8-115C-7E56-A480-456269EA1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4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315"/>
              </a:lnSpc>
            </a:pPr>
            <a:r>
              <a:rPr lang="en-US" spc="-15"/>
              <a:t>Fall</a:t>
            </a:r>
            <a:r>
              <a:rPr lang="en-US" spc="-30"/>
              <a:t> </a:t>
            </a:r>
            <a:r>
              <a:rPr lang="en-US" spc="-25"/>
              <a:t>2023</a:t>
            </a:r>
            <a:r>
              <a:rPr lang="en-US" spc="-45"/>
              <a:t> </a:t>
            </a:r>
            <a:r>
              <a:rPr lang="en-US"/>
              <a:t>–</a:t>
            </a:r>
            <a:r>
              <a:rPr lang="en-US" spc="-45"/>
              <a:t> </a:t>
            </a:r>
            <a:r>
              <a:rPr lang="en-US" spc="-20"/>
              <a:t>University</a:t>
            </a:r>
            <a:r>
              <a:rPr lang="en-US" spc="-35"/>
              <a:t> </a:t>
            </a:r>
            <a:r>
              <a:rPr lang="en-US" spc="-15"/>
              <a:t>of</a:t>
            </a:r>
            <a:r>
              <a:rPr lang="en-US" spc="-30"/>
              <a:t> </a:t>
            </a:r>
            <a:r>
              <a:rPr lang="en-US" spc="-15"/>
              <a:t>Virginia</a:t>
            </a:r>
            <a:endParaRPr lang="en-US" spc="-1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DB9D4-941D-3AB9-78B3-C96324420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70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9600" y="2396257"/>
            <a:ext cx="9601200" cy="916918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 marR="5080" indent="574675">
              <a:lnSpc>
                <a:spcPts val="6310"/>
              </a:lnSpc>
              <a:spcBef>
                <a:spcPts val="850"/>
              </a:spcBef>
            </a:pPr>
            <a:r>
              <a:rPr sz="5800" spc="-95" dirty="0"/>
              <a:t>SQL </a:t>
            </a:r>
            <a:r>
              <a:rPr sz="5800" dirty="0"/>
              <a:t>– </a:t>
            </a:r>
            <a:r>
              <a:rPr sz="5800" spc="-114" dirty="0"/>
              <a:t>Basics </a:t>
            </a:r>
            <a:r>
              <a:rPr sz="5800" spc="-110" dirty="0"/>
              <a:t> (More</a:t>
            </a:r>
            <a:r>
              <a:rPr sz="5800" spc="-335" dirty="0"/>
              <a:t> </a:t>
            </a:r>
            <a:r>
              <a:rPr sz="5800" spc="-114" dirty="0"/>
              <a:t>Practice)</a:t>
            </a:r>
            <a:endParaRPr sz="5800" dirty="0"/>
          </a:p>
        </p:txBody>
      </p:sp>
      <p:sp>
        <p:nvSpPr>
          <p:cNvPr id="5" name="object 5"/>
          <p:cNvSpPr txBox="1"/>
          <p:nvPr/>
        </p:nvSpPr>
        <p:spPr>
          <a:xfrm>
            <a:off x="2471454" y="3971544"/>
            <a:ext cx="5120640" cy="120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655"/>
              </a:lnSpc>
              <a:spcBef>
                <a:spcPts val="100"/>
              </a:spcBef>
            </a:pP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4100" b="1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100" b="1" spc="-26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100" b="1" spc="-145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100" b="1" spc="-145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100">
              <a:latin typeface="Verdana"/>
              <a:cs typeface="Verdana"/>
            </a:endParaRPr>
          </a:p>
          <a:p>
            <a:pPr algn="ctr">
              <a:lnSpc>
                <a:spcPts val="4655"/>
              </a:lnSpc>
            </a:pPr>
            <a:r>
              <a:rPr sz="4100" b="1" spc="-15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ata</a:t>
            </a:r>
            <a:r>
              <a:rPr sz="4100" b="1" spc="-13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1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100" b="1" spc="-2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100" b="1" spc="-140" dirty="0">
                <a:solidFill>
                  <a:srgbClr val="292934"/>
                </a:solidFill>
                <a:latin typeface="Verdana"/>
                <a:cs typeface="Verdana"/>
              </a:rPr>
              <a:t>Syste</a:t>
            </a:r>
            <a:r>
              <a:rPr sz="4100" b="1" spc="-155" dirty="0">
                <a:solidFill>
                  <a:srgbClr val="292934"/>
                </a:solidFill>
                <a:latin typeface="Verdana"/>
                <a:cs typeface="Verdana"/>
              </a:rPr>
              <a:t>ms</a:t>
            </a:r>
            <a:endParaRPr sz="4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C789-7910-EA9B-790B-32E8633F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05DF-2E40-2200-4A4B-6EB0E9575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1 uploaded and due on 02/13</a:t>
            </a:r>
          </a:p>
          <a:p>
            <a:r>
              <a:rPr lang="en-US" dirty="0"/>
              <a:t>Project Phase 2 due on 02/20</a:t>
            </a:r>
          </a:p>
          <a:p>
            <a:r>
              <a:rPr lang="en-US" dirty="0" err="1"/>
              <a:t>Zybook</a:t>
            </a:r>
            <a:r>
              <a:rPr lang="en-US" dirty="0"/>
              <a:t> Assignment 1 due on 02/22 (Participation activity and Lab – everything is included)</a:t>
            </a:r>
          </a:p>
        </p:txBody>
      </p:sp>
    </p:spTree>
    <p:extLst>
      <p:ext uri="{BB962C8B-B14F-4D97-AF65-F5344CB8AC3E}">
        <p14:creationId xmlns:p14="http://schemas.microsoft.com/office/powerpoint/2010/main" val="96449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9FD-CA1B-07CD-313B-565C00FE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B8DC-0493-9D8D-7B4D-A1878E0B3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practice </a:t>
            </a:r>
            <a:r>
              <a:rPr lang="en-US" dirty="0" err="1"/>
              <a:t>zybook</a:t>
            </a:r>
            <a:r>
              <a:rPr lang="en-US" dirty="0"/>
              <a:t> in-class on this </a:t>
            </a:r>
            <a:r>
              <a:rPr lang="en-US" dirty="0" err="1"/>
              <a:t>monday</a:t>
            </a:r>
            <a:r>
              <a:rPr lang="en-US" dirty="0"/>
              <a:t> 02/09. Bring your laptops.</a:t>
            </a:r>
          </a:p>
          <a:p>
            <a:r>
              <a:rPr lang="en-US" dirty="0"/>
              <a:t>Midterm 1 on 02/16. Review class on 02/11.</a:t>
            </a:r>
          </a:p>
        </p:txBody>
      </p:sp>
    </p:spTree>
    <p:extLst>
      <p:ext uri="{BB962C8B-B14F-4D97-AF65-F5344CB8AC3E}">
        <p14:creationId xmlns:p14="http://schemas.microsoft.com/office/powerpoint/2010/main" val="3256086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338" y="1214120"/>
            <a:ext cx="9103360" cy="12573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4615" marR="5080">
              <a:lnSpc>
                <a:spcPts val="2300"/>
              </a:lnSpc>
              <a:spcBef>
                <a:spcPts val="36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sample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table.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days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elapsed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between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ship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order?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Orders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20" y="92053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Example</a:t>
            </a:r>
            <a:r>
              <a:rPr spc="-190" dirty="0"/>
              <a:t> </a:t>
            </a:r>
            <a:r>
              <a:rPr spc="-40" dirty="0"/>
              <a:t>1:</a:t>
            </a:r>
            <a:r>
              <a:rPr spc="-185" dirty="0"/>
              <a:t> </a:t>
            </a:r>
            <a:r>
              <a:rPr spc="-85" dirty="0"/>
              <a:t>Translate</a:t>
            </a:r>
            <a:r>
              <a:rPr spc="-185" dirty="0"/>
              <a:t> </a:t>
            </a:r>
            <a:r>
              <a:rPr spc="-60" dirty="0"/>
              <a:t>and</a:t>
            </a:r>
            <a:r>
              <a:rPr spc="-185" dirty="0"/>
              <a:t> </a:t>
            </a:r>
            <a:r>
              <a:rPr spc="-75" dirty="0"/>
              <a:t>Clean</a:t>
            </a:r>
            <a:r>
              <a:rPr spc="-180" dirty="0"/>
              <a:t> </a:t>
            </a:r>
            <a:r>
              <a:rPr spc="-40" dirty="0"/>
              <a:t>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47211" y="4721889"/>
            <a:ext cx="4156710" cy="1568450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7155" marR="120014">
              <a:lnSpc>
                <a:spcPct val="101800"/>
              </a:lnSpc>
              <a:spcBef>
                <a:spcPts val="140"/>
              </a:spcBef>
              <a:tabLst>
                <a:tab pos="1990089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 the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 order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number, </a:t>
            </a:r>
            <a:r>
              <a:rPr sz="1900" strike="noStrike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order date,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ship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date,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ship </a:t>
            </a:r>
            <a:r>
              <a:rPr sz="1900" strike="noStrike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date</a:t>
            </a:r>
            <a:r>
              <a:rPr sz="1900" strike="noStrike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minus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	order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as </a:t>
            </a:r>
            <a:r>
              <a:rPr sz="1900" strike="noStrike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DaysElapsed from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 the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Orders </a:t>
            </a:r>
            <a:r>
              <a:rPr sz="1900" strike="noStrike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sngStrike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9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30869" y="5546636"/>
            <a:ext cx="195580" cy="0"/>
          </a:xfrm>
          <a:custGeom>
            <a:avLst/>
            <a:gdLst/>
            <a:ahLst/>
            <a:cxnLst/>
            <a:rect l="l" t="t" r="r" b="b"/>
            <a:pathLst>
              <a:path w="195579">
                <a:moveTo>
                  <a:pt x="0" y="0"/>
                </a:moveTo>
                <a:lnTo>
                  <a:pt x="195071" y="1"/>
                </a:lnTo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68660" y="2500094"/>
            <a:ext cx="4578350" cy="4357370"/>
            <a:chOff x="368660" y="2500094"/>
            <a:chExt cx="4578350" cy="43573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820" y="2510254"/>
              <a:ext cx="4557652" cy="42934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3740" y="2505174"/>
              <a:ext cx="4568190" cy="4347210"/>
            </a:xfrm>
            <a:custGeom>
              <a:avLst/>
              <a:gdLst/>
              <a:ahLst/>
              <a:cxnLst/>
              <a:rect l="l" t="t" r="r" b="b"/>
              <a:pathLst>
                <a:path w="4568190" h="4347209">
                  <a:moveTo>
                    <a:pt x="0" y="0"/>
                  </a:moveTo>
                  <a:lnTo>
                    <a:pt x="4567813" y="0"/>
                  </a:lnTo>
                  <a:lnTo>
                    <a:pt x="4567813" y="4347027"/>
                  </a:lnTo>
                  <a:lnTo>
                    <a:pt x="0" y="4347027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470431" y="2480882"/>
            <a:ext cx="4156710" cy="1568450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7155" marR="120014">
              <a:lnSpc>
                <a:spcPct val="101800"/>
              </a:lnSpc>
              <a:spcBef>
                <a:spcPts val="14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 the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number,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 date,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ship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date,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ship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date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minus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as </a:t>
            </a:r>
            <a:r>
              <a:rPr sz="19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DaysElapsed from the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Orders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9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31588" y="4203030"/>
            <a:ext cx="301625" cy="418465"/>
            <a:chOff x="7331588" y="4203030"/>
            <a:chExt cx="301625" cy="418465"/>
          </a:xfrm>
        </p:grpSpPr>
        <p:sp>
          <p:nvSpPr>
            <p:cNvPr id="11" name="object 11"/>
            <p:cNvSpPr/>
            <p:nvPr/>
          </p:nvSpPr>
          <p:spPr>
            <a:xfrm>
              <a:off x="7345682" y="4217123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4" h="390525">
                  <a:moveTo>
                    <a:pt x="204825" y="0"/>
                  </a:moveTo>
                  <a:lnTo>
                    <a:pt x="68275" y="0"/>
                  </a:lnTo>
                  <a:lnTo>
                    <a:pt x="68275" y="253593"/>
                  </a:lnTo>
                  <a:lnTo>
                    <a:pt x="0" y="253593"/>
                  </a:lnTo>
                  <a:lnTo>
                    <a:pt x="136550" y="390143"/>
                  </a:lnTo>
                  <a:lnTo>
                    <a:pt x="273100" y="253593"/>
                  </a:lnTo>
                  <a:lnTo>
                    <a:pt x="204825" y="253593"/>
                  </a:lnTo>
                  <a:lnTo>
                    <a:pt x="204825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45682" y="4217123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4" h="390525">
                  <a:moveTo>
                    <a:pt x="0" y="253593"/>
                  </a:moveTo>
                  <a:lnTo>
                    <a:pt x="68275" y="253593"/>
                  </a:lnTo>
                  <a:lnTo>
                    <a:pt x="68275" y="0"/>
                  </a:lnTo>
                  <a:lnTo>
                    <a:pt x="204825" y="0"/>
                  </a:lnTo>
                  <a:lnTo>
                    <a:pt x="204825" y="253593"/>
                  </a:lnTo>
                  <a:lnTo>
                    <a:pt x="273100" y="253593"/>
                  </a:lnTo>
                  <a:lnTo>
                    <a:pt x="136550" y="390143"/>
                  </a:lnTo>
                  <a:lnTo>
                    <a:pt x="0" y="25359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940" y="412630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Example</a:t>
            </a:r>
            <a:r>
              <a:rPr spc="-190" dirty="0"/>
              <a:t> </a:t>
            </a:r>
            <a:r>
              <a:rPr spc="-40" dirty="0"/>
              <a:t>1:</a:t>
            </a:r>
            <a:r>
              <a:rPr spc="-185" dirty="0"/>
              <a:t> </a:t>
            </a:r>
            <a:r>
              <a:rPr spc="-85" dirty="0"/>
              <a:t>Translate</a:t>
            </a:r>
            <a:r>
              <a:rPr spc="-185" dirty="0"/>
              <a:t> </a:t>
            </a:r>
            <a:r>
              <a:rPr spc="-60" dirty="0"/>
              <a:t>and</a:t>
            </a:r>
            <a:r>
              <a:rPr spc="-185" dirty="0"/>
              <a:t> </a:t>
            </a:r>
            <a:r>
              <a:rPr spc="-75" dirty="0"/>
              <a:t>Clean</a:t>
            </a:r>
            <a:r>
              <a:rPr spc="-180" dirty="0"/>
              <a:t> </a:t>
            </a:r>
            <a:r>
              <a:rPr spc="-40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237" y="3746843"/>
            <a:ext cx="4424045" cy="1568450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80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OrderNumber,</a:t>
            </a:r>
            <a:endParaRPr sz="1900">
              <a:latin typeface="Courier New"/>
              <a:cs typeface="Courier New"/>
            </a:endParaRPr>
          </a:p>
          <a:p>
            <a:pPr marL="1072515" marR="140335">
              <a:lnSpc>
                <a:spcPct val="101099"/>
              </a:lnSpc>
              <a:spcBef>
                <a:spcPts val="9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OrderDate,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ShipDate,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(ShipDate -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OrderDate) </a:t>
            </a:r>
            <a:r>
              <a:rPr sz="1900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1900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DaysElapsed</a:t>
            </a:r>
            <a:endParaRPr sz="190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Courier New"/>
                <a:cs typeface="Courier New"/>
              </a:rPr>
              <a:t>Orders;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650" y="1639034"/>
            <a:ext cx="4371975" cy="1568450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97155" marR="334645">
              <a:lnSpc>
                <a:spcPct val="102099"/>
              </a:lnSpc>
              <a:spcBef>
                <a:spcPts val="120"/>
              </a:spcBef>
              <a:tabLst>
                <a:tab pos="1990089" algn="l"/>
              </a:tabLst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 the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 order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number, </a:t>
            </a:r>
            <a:r>
              <a:rPr sz="1900" strike="noStrike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order date,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ship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date,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 ship </a:t>
            </a:r>
            <a:r>
              <a:rPr sz="1900" strike="noStrike" spc="-11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date</a:t>
            </a:r>
            <a:r>
              <a:rPr sz="1900" strike="noStrike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minus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	order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as </a:t>
            </a:r>
            <a:r>
              <a:rPr sz="1900" strike="noStrike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DaysElapsed from</a:t>
            </a:r>
            <a:r>
              <a:rPr sz="1900" strike="sngStrike" dirty="0">
                <a:solidFill>
                  <a:srgbClr val="292934"/>
                </a:solidFill>
                <a:latin typeface="Courier New"/>
                <a:cs typeface="Courier New"/>
              </a:rPr>
              <a:t> the</a:t>
            </a:r>
            <a:r>
              <a:rPr sz="1900" strike="noStrike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noStrike" spc="5" dirty="0">
                <a:solidFill>
                  <a:srgbClr val="292934"/>
                </a:solidFill>
                <a:latin typeface="Courier New"/>
                <a:cs typeface="Courier New"/>
              </a:rPr>
              <a:t>Orders </a:t>
            </a:r>
            <a:r>
              <a:rPr sz="1900" strike="noStrike" spc="-11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trike="sngStrike" spc="5" dirty="0">
                <a:solidFill>
                  <a:srgbClr val="292934"/>
                </a:solidFill>
                <a:latin typeface="Courier New"/>
                <a:cs typeface="Courier New"/>
              </a:rPr>
              <a:t>table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7308" y="2463781"/>
            <a:ext cx="195580" cy="0"/>
          </a:xfrm>
          <a:custGeom>
            <a:avLst/>
            <a:gdLst/>
            <a:ahLst/>
            <a:cxnLst/>
            <a:rect l="l" t="t" r="r" b="b"/>
            <a:pathLst>
              <a:path w="195580">
                <a:moveTo>
                  <a:pt x="0" y="0"/>
                </a:moveTo>
                <a:lnTo>
                  <a:pt x="195071" y="1"/>
                </a:lnTo>
              </a:path>
            </a:pathLst>
          </a:custGeom>
          <a:ln w="30479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385117" y="3297323"/>
            <a:ext cx="301625" cy="418465"/>
            <a:chOff x="2385117" y="3297323"/>
            <a:chExt cx="301625" cy="418465"/>
          </a:xfrm>
        </p:grpSpPr>
        <p:sp>
          <p:nvSpPr>
            <p:cNvPr id="7" name="object 7"/>
            <p:cNvSpPr/>
            <p:nvPr/>
          </p:nvSpPr>
          <p:spPr>
            <a:xfrm>
              <a:off x="2399210" y="3311416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5" h="390525">
                  <a:moveTo>
                    <a:pt x="204825" y="0"/>
                  </a:moveTo>
                  <a:lnTo>
                    <a:pt x="68275" y="0"/>
                  </a:lnTo>
                  <a:lnTo>
                    <a:pt x="68275" y="253593"/>
                  </a:lnTo>
                  <a:lnTo>
                    <a:pt x="0" y="253593"/>
                  </a:lnTo>
                  <a:lnTo>
                    <a:pt x="136550" y="390144"/>
                  </a:lnTo>
                  <a:lnTo>
                    <a:pt x="273100" y="253593"/>
                  </a:lnTo>
                  <a:lnTo>
                    <a:pt x="204825" y="253593"/>
                  </a:lnTo>
                  <a:lnTo>
                    <a:pt x="204825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99210" y="3311416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5" h="390525">
                  <a:moveTo>
                    <a:pt x="0" y="253593"/>
                  </a:moveTo>
                  <a:lnTo>
                    <a:pt x="68275" y="253593"/>
                  </a:lnTo>
                  <a:lnTo>
                    <a:pt x="68275" y="0"/>
                  </a:lnTo>
                  <a:lnTo>
                    <a:pt x="204825" y="0"/>
                  </a:lnTo>
                  <a:lnTo>
                    <a:pt x="204825" y="253593"/>
                  </a:lnTo>
                  <a:lnTo>
                    <a:pt x="273100" y="253593"/>
                  </a:lnTo>
                  <a:lnTo>
                    <a:pt x="136550" y="390143"/>
                  </a:lnTo>
                  <a:lnTo>
                    <a:pt x="0" y="25359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506529" y="2831002"/>
            <a:ext cx="4251960" cy="3782695"/>
            <a:chOff x="5506529" y="2831002"/>
            <a:chExt cx="4251960" cy="37826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6689" y="2841162"/>
              <a:ext cx="4231129" cy="37176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11609" y="2836082"/>
              <a:ext cx="4241800" cy="3772535"/>
            </a:xfrm>
            <a:custGeom>
              <a:avLst/>
              <a:gdLst/>
              <a:ahLst/>
              <a:cxnLst/>
              <a:rect l="l" t="t" r="r" b="b"/>
              <a:pathLst>
                <a:path w="4241800" h="3772534">
                  <a:moveTo>
                    <a:pt x="0" y="0"/>
                  </a:moveTo>
                  <a:lnTo>
                    <a:pt x="4241290" y="0"/>
                  </a:lnTo>
                  <a:lnTo>
                    <a:pt x="4241290" y="3772262"/>
                  </a:lnTo>
                  <a:lnTo>
                    <a:pt x="0" y="377226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62855" y="4446863"/>
            <a:ext cx="418465" cy="301625"/>
            <a:chOff x="4962855" y="4446863"/>
            <a:chExt cx="418465" cy="301625"/>
          </a:xfrm>
        </p:grpSpPr>
        <p:sp>
          <p:nvSpPr>
            <p:cNvPr id="13" name="object 13"/>
            <p:cNvSpPr/>
            <p:nvPr/>
          </p:nvSpPr>
          <p:spPr>
            <a:xfrm>
              <a:off x="4976948" y="4460956"/>
              <a:ext cx="390525" cy="273685"/>
            </a:xfrm>
            <a:custGeom>
              <a:avLst/>
              <a:gdLst/>
              <a:ahLst/>
              <a:cxnLst/>
              <a:rect l="l" t="t" r="r" b="b"/>
              <a:pathLst>
                <a:path w="390525" h="273685">
                  <a:moveTo>
                    <a:pt x="253593" y="0"/>
                  </a:moveTo>
                  <a:lnTo>
                    <a:pt x="253593" y="68275"/>
                  </a:lnTo>
                  <a:lnTo>
                    <a:pt x="0" y="68275"/>
                  </a:lnTo>
                  <a:lnTo>
                    <a:pt x="0" y="204825"/>
                  </a:lnTo>
                  <a:lnTo>
                    <a:pt x="253593" y="204825"/>
                  </a:lnTo>
                  <a:lnTo>
                    <a:pt x="253593" y="273100"/>
                  </a:lnTo>
                  <a:lnTo>
                    <a:pt x="390144" y="136550"/>
                  </a:lnTo>
                  <a:lnTo>
                    <a:pt x="253593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76948" y="4460956"/>
              <a:ext cx="390525" cy="273685"/>
            </a:xfrm>
            <a:custGeom>
              <a:avLst/>
              <a:gdLst/>
              <a:ahLst/>
              <a:cxnLst/>
              <a:rect l="l" t="t" r="r" b="b"/>
              <a:pathLst>
                <a:path w="390525" h="273685">
                  <a:moveTo>
                    <a:pt x="0" y="68275"/>
                  </a:moveTo>
                  <a:lnTo>
                    <a:pt x="253593" y="68275"/>
                  </a:lnTo>
                  <a:lnTo>
                    <a:pt x="253593" y="0"/>
                  </a:lnTo>
                  <a:lnTo>
                    <a:pt x="390143" y="136550"/>
                  </a:lnTo>
                  <a:lnTo>
                    <a:pt x="253593" y="273100"/>
                  </a:lnTo>
                  <a:lnTo>
                    <a:pt x="253593" y="204825"/>
                  </a:lnTo>
                  <a:lnTo>
                    <a:pt x="0" y="204825"/>
                  </a:lnTo>
                  <a:lnTo>
                    <a:pt x="0" y="68275"/>
                  </a:lnTo>
                  <a:close/>
                </a:path>
              </a:pathLst>
            </a:custGeom>
            <a:ln w="28186">
              <a:solidFill>
                <a:srgbClr val="4382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3167" y="6833616"/>
            <a:ext cx="36601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rename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header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452" y="1286518"/>
            <a:ext cx="9129395" cy="12573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94615" marR="5080">
              <a:lnSpc>
                <a:spcPts val="2300"/>
              </a:lnSpc>
              <a:spcBef>
                <a:spcPts val="36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sample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table.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Show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orders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made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descending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Orders</a:t>
            </a:r>
            <a:endParaRPr sz="15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411" y="163608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Example</a:t>
            </a:r>
            <a:r>
              <a:rPr spc="-190" dirty="0"/>
              <a:t> </a:t>
            </a:r>
            <a:r>
              <a:rPr spc="-40" dirty="0"/>
              <a:t>2:</a:t>
            </a:r>
            <a:r>
              <a:rPr spc="-185" dirty="0"/>
              <a:t> </a:t>
            </a:r>
            <a:r>
              <a:rPr spc="-85" dirty="0"/>
              <a:t>Translate</a:t>
            </a:r>
            <a:r>
              <a:rPr spc="-185" dirty="0"/>
              <a:t> </a:t>
            </a:r>
            <a:r>
              <a:rPr spc="-60" dirty="0"/>
              <a:t>and</a:t>
            </a:r>
            <a:r>
              <a:rPr spc="-185" dirty="0"/>
              <a:t> </a:t>
            </a:r>
            <a:r>
              <a:rPr spc="-75" dirty="0"/>
              <a:t>Clean</a:t>
            </a:r>
            <a:r>
              <a:rPr spc="-180" dirty="0"/>
              <a:t> </a:t>
            </a:r>
            <a:r>
              <a:rPr spc="-40" dirty="0"/>
              <a:t>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68660" y="2500094"/>
            <a:ext cx="4578350" cy="4357370"/>
            <a:chOff x="368660" y="2500094"/>
            <a:chExt cx="4578350" cy="4357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8820" y="2510254"/>
              <a:ext cx="4557652" cy="429349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3740" y="2505174"/>
              <a:ext cx="4568190" cy="4347210"/>
            </a:xfrm>
            <a:custGeom>
              <a:avLst/>
              <a:gdLst/>
              <a:ahLst/>
              <a:cxnLst/>
              <a:rect l="l" t="t" r="r" b="b"/>
              <a:pathLst>
                <a:path w="4568190" h="4347209">
                  <a:moveTo>
                    <a:pt x="0" y="0"/>
                  </a:moveTo>
                  <a:lnTo>
                    <a:pt x="4567813" y="0"/>
                  </a:lnTo>
                  <a:lnTo>
                    <a:pt x="4567813" y="4347027"/>
                  </a:lnTo>
                  <a:lnTo>
                    <a:pt x="0" y="4347027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78838" y="2492824"/>
            <a:ext cx="4436110" cy="1637664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97155" marR="156210">
              <a:lnSpc>
                <a:spcPct val="100600"/>
              </a:lnSpc>
              <a:spcBef>
                <a:spcPts val="994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Select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the customer </a:t>
            </a:r>
            <a:r>
              <a:rPr sz="1800" spc="-15" dirty="0">
                <a:solidFill>
                  <a:srgbClr val="292934"/>
                </a:solidFill>
                <a:latin typeface="Verdana"/>
                <a:cs typeface="Verdana"/>
              </a:rPr>
              <a:t>ID,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order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292934"/>
                </a:solidFill>
                <a:latin typeface="Verdana"/>
                <a:cs typeface="Verdana"/>
              </a:rPr>
              <a:t>number,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ship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from </a:t>
            </a:r>
            <a:r>
              <a:rPr sz="1800" spc="-6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the Orders table for each customer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and then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descending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279336" y="4220425"/>
            <a:ext cx="301625" cy="418465"/>
            <a:chOff x="7279336" y="4220425"/>
            <a:chExt cx="301625" cy="418465"/>
          </a:xfrm>
        </p:grpSpPr>
        <p:sp>
          <p:nvSpPr>
            <p:cNvPr id="9" name="object 9"/>
            <p:cNvSpPr/>
            <p:nvPr/>
          </p:nvSpPr>
          <p:spPr>
            <a:xfrm>
              <a:off x="7293429" y="4234519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4" h="390525">
                  <a:moveTo>
                    <a:pt x="204825" y="0"/>
                  </a:moveTo>
                  <a:lnTo>
                    <a:pt x="68275" y="0"/>
                  </a:lnTo>
                  <a:lnTo>
                    <a:pt x="68275" y="253593"/>
                  </a:lnTo>
                  <a:lnTo>
                    <a:pt x="0" y="253593"/>
                  </a:lnTo>
                  <a:lnTo>
                    <a:pt x="136550" y="390144"/>
                  </a:lnTo>
                  <a:lnTo>
                    <a:pt x="273100" y="253593"/>
                  </a:lnTo>
                  <a:lnTo>
                    <a:pt x="204825" y="253593"/>
                  </a:lnTo>
                  <a:lnTo>
                    <a:pt x="204825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93429" y="4234519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4" h="390525">
                  <a:moveTo>
                    <a:pt x="0" y="253593"/>
                  </a:moveTo>
                  <a:lnTo>
                    <a:pt x="68275" y="253593"/>
                  </a:lnTo>
                  <a:lnTo>
                    <a:pt x="68275" y="0"/>
                  </a:lnTo>
                  <a:lnTo>
                    <a:pt x="204825" y="0"/>
                  </a:lnTo>
                  <a:lnTo>
                    <a:pt x="204825" y="253593"/>
                  </a:lnTo>
                  <a:lnTo>
                    <a:pt x="273100" y="253593"/>
                  </a:lnTo>
                  <a:lnTo>
                    <a:pt x="136550" y="390143"/>
                  </a:lnTo>
                  <a:lnTo>
                    <a:pt x="0" y="25359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78838" y="4693186"/>
            <a:ext cx="4436110" cy="1823085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97155" marR="156210">
              <a:lnSpc>
                <a:spcPct val="101099"/>
              </a:lnSpc>
              <a:spcBef>
                <a:spcPts val="63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Select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 customer </a:t>
            </a:r>
            <a:r>
              <a:rPr sz="1800" strike="noStrike" spc="-15" dirty="0">
                <a:solidFill>
                  <a:srgbClr val="292934"/>
                </a:solidFill>
                <a:latin typeface="Verdana"/>
                <a:cs typeface="Verdana"/>
              </a:rPr>
              <a:t>ID,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 </a:t>
            </a:r>
            <a:r>
              <a:rPr sz="1800" strike="no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-35" dirty="0">
                <a:solidFill>
                  <a:srgbClr val="292934"/>
                </a:solidFill>
                <a:latin typeface="Verdana"/>
                <a:cs typeface="Verdana"/>
              </a:rPr>
              <a:t>number,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ship</a:t>
            </a:r>
            <a:r>
              <a:rPr sz="1800" strike="no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endParaRPr sz="1800">
              <a:latin typeface="Verdana"/>
              <a:cs typeface="Verdana"/>
            </a:endParaRPr>
          </a:p>
          <a:p>
            <a:pPr marL="97155" marR="142875" indent="-51435">
              <a:lnSpc>
                <a:spcPct val="102200"/>
              </a:lnSpc>
            </a:pPr>
            <a:r>
              <a:rPr sz="1800" strike="sngStrike" spc="-2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 Orders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00" strike="sng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for each customer </a:t>
            </a:r>
            <a:r>
              <a:rPr sz="1800" strike="noStrike" spc="-6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 by</a:t>
            </a:r>
            <a:r>
              <a:rPr sz="1800" strike="noStrike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customer</a:t>
            </a:r>
            <a:r>
              <a:rPr sz="1800" strike="noStrike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ID</a:t>
            </a:r>
            <a:r>
              <a:rPr sz="1800" strike="noStrike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then 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endParaRPr sz="1800">
              <a:latin typeface="Verdana"/>
              <a:cs typeface="Verdana"/>
            </a:endParaRPr>
          </a:p>
          <a:p>
            <a:pPr marL="57785">
              <a:lnSpc>
                <a:spcPts val="2090"/>
              </a:lnSpc>
              <a:tabLst>
                <a:tab pos="1696720" algn="l"/>
              </a:tabLst>
            </a:pPr>
            <a:r>
              <a:rPr sz="1800" strike="sngStrike" spc="-3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00" strike="sng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800" strike="noStrike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800" strike="noStrike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customer</a:t>
            </a:r>
            <a:r>
              <a:rPr sz="1800" strike="noStrike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57785">
              <a:lnSpc>
                <a:spcPct val="100000"/>
              </a:lnSpc>
              <a:spcBef>
                <a:spcPts val="45"/>
              </a:spcBef>
            </a:pPr>
            <a:r>
              <a:rPr sz="1800" strike="sngStrike" spc="-3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00" strike="sng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descending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desc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37" y="154728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Example</a:t>
            </a:r>
            <a:r>
              <a:rPr spc="-190" dirty="0"/>
              <a:t> </a:t>
            </a:r>
            <a:r>
              <a:rPr spc="-40" dirty="0"/>
              <a:t>2:</a:t>
            </a:r>
            <a:r>
              <a:rPr spc="-185" dirty="0"/>
              <a:t> </a:t>
            </a:r>
            <a:r>
              <a:rPr spc="-85" dirty="0"/>
              <a:t>Translate</a:t>
            </a:r>
            <a:r>
              <a:rPr spc="-185" dirty="0"/>
              <a:t> </a:t>
            </a:r>
            <a:r>
              <a:rPr spc="-60" dirty="0"/>
              <a:t>and</a:t>
            </a:r>
            <a:r>
              <a:rPr spc="-185" dirty="0"/>
              <a:t> </a:t>
            </a:r>
            <a:r>
              <a:rPr spc="-75" dirty="0"/>
              <a:t>Clean</a:t>
            </a:r>
            <a:r>
              <a:rPr spc="-180" dirty="0"/>
              <a:t> </a:t>
            </a:r>
            <a:r>
              <a:rPr spc="-40" dirty="0"/>
              <a:t>Up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28020" y="4446863"/>
            <a:ext cx="418465" cy="301625"/>
            <a:chOff x="4928020" y="4446863"/>
            <a:chExt cx="418465" cy="301625"/>
          </a:xfrm>
        </p:grpSpPr>
        <p:sp>
          <p:nvSpPr>
            <p:cNvPr id="4" name="object 4"/>
            <p:cNvSpPr/>
            <p:nvPr/>
          </p:nvSpPr>
          <p:spPr>
            <a:xfrm>
              <a:off x="4942113" y="4460956"/>
              <a:ext cx="390525" cy="273685"/>
            </a:xfrm>
            <a:custGeom>
              <a:avLst/>
              <a:gdLst/>
              <a:ahLst/>
              <a:cxnLst/>
              <a:rect l="l" t="t" r="r" b="b"/>
              <a:pathLst>
                <a:path w="390525" h="273685">
                  <a:moveTo>
                    <a:pt x="253593" y="0"/>
                  </a:moveTo>
                  <a:lnTo>
                    <a:pt x="253593" y="68275"/>
                  </a:lnTo>
                  <a:lnTo>
                    <a:pt x="0" y="68275"/>
                  </a:lnTo>
                  <a:lnTo>
                    <a:pt x="0" y="204825"/>
                  </a:lnTo>
                  <a:lnTo>
                    <a:pt x="253593" y="204825"/>
                  </a:lnTo>
                  <a:lnTo>
                    <a:pt x="253593" y="273100"/>
                  </a:lnTo>
                  <a:lnTo>
                    <a:pt x="390143" y="136550"/>
                  </a:lnTo>
                  <a:lnTo>
                    <a:pt x="253593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42113" y="4460956"/>
              <a:ext cx="390525" cy="273685"/>
            </a:xfrm>
            <a:custGeom>
              <a:avLst/>
              <a:gdLst/>
              <a:ahLst/>
              <a:cxnLst/>
              <a:rect l="l" t="t" r="r" b="b"/>
              <a:pathLst>
                <a:path w="390525" h="273685">
                  <a:moveTo>
                    <a:pt x="0" y="68275"/>
                  </a:moveTo>
                  <a:lnTo>
                    <a:pt x="253593" y="68275"/>
                  </a:lnTo>
                  <a:lnTo>
                    <a:pt x="253593" y="0"/>
                  </a:lnTo>
                  <a:lnTo>
                    <a:pt x="390143" y="136550"/>
                  </a:lnTo>
                  <a:lnTo>
                    <a:pt x="253593" y="273100"/>
                  </a:lnTo>
                  <a:lnTo>
                    <a:pt x="253593" y="204825"/>
                  </a:lnTo>
                  <a:lnTo>
                    <a:pt x="0" y="204825"/>
                  </a:lnTo>
                  <a:lnTo>
                    <a:pt x="0" y="68275"/>
                  </a:lnTo>
                  <a:close/>
                </a:path>
              </a:pathLst>
            </a:custGeom>
            <a:ln w="28186">
              <a:solidFill>
                <a:srgbClr val="4382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419953" y="3297317"/>
            <a:ext cx="301625" cy="418465"/>
            <a:chOff x="2419953" y="3297317"/>
            <a:chExt cx="301625" cy="418465"/>
          </a:xfrm>
        </p:grpSpPr>
        <p:sp>
          <p:nvSpPr>
            <p:cNvPr id="7" name="object 7"/>
            <p:cNvSpPr/>
            <p:nvPr/>
          </p:nvSpPr>
          <p:spPr>
            <a:xfrm>
              <a:off x="2434046" y="3311410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5" h="390525">
                  <a:moveTo>
                    <a:pt x="204825" y="0"/>
                  </a:moveTo>
                  <a:lnTo>
                    <a:pt x="68275" y="0"/>
                  </a:lnTo>
                  <a:lnTo>
                    <a:pt x="68275" y="253593"/>
                  </a:lnTo>
                  <a:lnTo>
                    <a:pt x="0" y="253593"/>
                  </a:lnTo>
                  <a:lnTo>
                    <a:pt x="136550" y="390144"/>
                  </a:lnTo>
                  <a:lnTo>
                    <a:pt x="273100" y="253593"/>
                  </a:lnTo>
                  <a:lnTo>
                    <a:pt x="204825" y="253593"/>
                  </a:lnTo>
                  <a:lnTo>
                    <a:pt x="204825" y="0"/>
                  </a:lnTo>
                  <a:close/>
                </a:path>
              </a:pathLst>
            </a:custGeom>
            <a:solidFill>
              <a:srgbClr val="78AA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4046" y="3311410"/>
              <a:ext cx="273685" cy="390525"/>
            </a:xfrm>
            <a:custGeom>
              <a:avLst/>
              <a:gdLst/>
              <a:ahLst/>
              <a:cxnLst/>
              <a:rect l="l" t="t" r="r" b="b"/>
              <a:pathLst>
                <a:path w="273685" h="390525">
                  <a:moveTo>
                    <a:pt x="0" y="253593"/>
                  </a:moveTo>
                  <a:lnTo>
                    <a:pt x="68275" y="253593"/>
                  </a:lnTo>
                  <a:lnTo>
                    <a:pt x="68275" y="0"/>
                  </a:lnTo>
                  <a:lnTo>
                    <a:pt x="204825" y="0"/>
                  </a:lnTo>
                  <a:lnTo>
                    <a:pt x="204825" y="253593"/>
                  </a:lnTo>
                  <a:lnTo>
                    <a:pt x="273100" y="253593"/>
                  </a:lnTo>
                  <a:lnTo>
                    <a:pt x="136550" y="390143"/>
                  </a:lnTo>
                  <a:lnTo>
                    <a:pt x="0" y="253593"/>
                  </a:lnTo>
                  <a:close/>
                </a:path>
              </a:pathLst>
            </a:custGeom>
            <a:ln w="28186">
              <a:solidFill>
                <a:srgbClr val="407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9454" y="1366511"/>
            <a:ext cx="4436110" cy="1823085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97155" marR="156210">
              <a:lnSpc>
                <a:spcPct val="102200"/>
              </a:lnSpc>
              <a:spcBef>
                <a:spcPts val="590"/>
              </a:spcBef>
            </a:pPr>
            <a:r>
              <a:rPr sz="1800" dirty="0">
                <a:solidFill>
                  <a:srgbClr val="292934"/>
                </a:solidFill>
                <a:latin typeface="Verdana"/>
                <a:cs typeface="Verdana"/>
              </a:rPr>
              <a:t>Select</a:t>
            </a:r>
            <a:r>
              <a:rPr sz="18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 customer </a:t>
            </a:r>
            <a:r>
              <a:rPr sz="1800" strike="noStrike" spc="-15" dirty="0">
                <a:solidFill>
                  <a:srgbClr val="292934"/>
                </a:solidFill>
                <a:latin typeface="Verdana"/>
                <a:cs typeface="Verdana"/>
              </a:rPr>
              <a:t>ID,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 </a:t>
            </a:r>
            <a:r>
              <a:rPr sz="1800" strike="no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-35" dirty="0">
                <a:solidFill>
                  <a:srgbClr val="292934"/>
                </a:solidFill>
                <a:latin typeface="Verdana"/>
                <a:cs typeface="Verdana"/>
              </a:rPr>
              <a:t>number,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ship</a:t>
            </a:r>
            <a:r>
              <a:rPr sz="1800" strike="no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date,</a:t>
            </a:r>
            <a:r>
              <a:rPr sz="1800" strike="no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endParaRPr sz="1800">
              <a:latin typeface="Verdana"/>
              <a:cs typeface="Verdana"/>
            </a:endParaRPr>
          </a:p>
          <a:p>
            <a:pPr marL="97155" marR="142875" indent="-51435">
              <a:lnSpc>
                <a:spcPct val="101099"/>
              </a:lnSpc>
              <a:spcBef>
                <a:spcPts val="25"/>
              </a:spcBef>
            </a:pPr>
            <a:r>
              <a:rPr sz="1800" strike="sngStrike" spc="-2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 Orders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1800" strike="sng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for each customer </a:t>
            </a:r>
            <a:r>
              <a:rPr sz="1800" strike="noStrike" spc="-6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 by</a:t>
            </a:r>
            <a:r>
              <a:rPr sz="1800" strike="noStrike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customer</a:t>
            </a:r>
            <a:r>
              <a:rPr sz="1800" strike="noStrike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ID</a:t>
            </a:r>
            <a:r>
              <a:rPr sz="1800" strike="noStrike" spc="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then 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endParaRPr sz="1800">
              <a:latin typeface="Verdana"/>
              <a:cs typeface="Verdana"/>
            </a:endParaRPr>
          </a:p>
          <a:p>
            <a:pPr marL="57785">
              <a:lnSpc>
                <a:spcPts val="2110"/>
              </a:lnSpc>
              <a:tabLst>
                <a:tab pos="1696720" algn="l"/>
              </a:tabLst>
            </a:pPr>
            <a:r>
              <a:rPr sz="1800" strike="sngStrike" spc="-3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800" strike="sngStrike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customer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1800" strike="noStrike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1800" strike="noStrike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customer</a:t>
            </a:r>
            <a:r>
              <a:rPr sz="1800" strike="noStrike" spc="-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800" strike="noStrike" dirty="0">
                <a:solidFill>
                  <a:srgbClr val="C00000"/>
                </a:solidFill>
                <a:latin typeface="Verdana"/>
                <a:cs typeface="Verdana"/>
              </a:rPr>
              <a:t>ID</a:t>
            </a:r>
            <a:endParaRPr sz="1800">
              <a:latin typeface="Verdana"/>
              <a:cs typeface="Verdana"/>
            </a:endParaRPr>
          </a:p>
          <a:p>
            <a:pPr marL="57785">
              <a:lnSpc>
                <a:spcPct val="100000"/>
              </a:lnSpc>
              <a:spcBef>
                <a:spcPts val="25"/>
              </a:spcBef>
            </a:pPr>
            <a:r>
              <a:rPr sz="1800" strike="sngStrike" spc="-3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800" strike="sng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sngStrike" spc="5" dirty="0">
                <a:solidFill>
                  <a:srgbClr val="292934"/>
                </a:solidFill>
                <a:latin typeface="Verdana"/>
                <a:cs typeface="Verdana"/>
              </a:rPr>
              <a:t>descending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292934"/>
                </a:solidFill>
                <a:latin typeface="Verdana"/>
                <a:cs typeface="Verdana"/>
              </a:rPr>
              <a:t>date</a:t>
            </a:r>
            <a:r>
              <a:rPr sz="1800" strike="noStrike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800" strike="noStrike" spc="5" dirty="0">
                <a:solidFill>
                  <a:srgbClr val="C00000"/>
                </a:solidFill>
                <a:latin typeface="Verdana"/>
                <a:cs typeface="Verdana"/>
              </a:rPr>
              <a:t>desc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237" y="3781678"/>
            <a:ext cx="4424045" cy="2334260"/>
          </a:xfrm>
          <a:prstGeom prst="rect">
            <a:avLst/>
          </a:prstGeom>
          <a:ln w="10159">
            <a:solidFill>
              <a:srgbClr val="A6A6A6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CustomerID,</a:t>
            </a:r>
            <a:endParaRPr sz="1800" dirty="0">
              <a:latin typeface="Courier New"/>
              <a:cs typeface="Courier New"/>
            </a:endParaRPr>
          </a:p>
          <a:p>
            <a:pPr marL="1072515" marR="151130">
              <a:lnSpc>
                <a:spcPct val="102200"/>
              </a:lnSpc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OrderNumber,</a:t>
            </a:r>
            <a:r>
              <a:rPr sz="18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OrderDate, </a:t>
            </a:r>
            <a:r>
              <a:rPr sz="1800" spc="-10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ShipDate</a:t>
            </a:r>
            <a:endParaRPr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Orders</a:t>
            </a:r>
            <a:endParaRPr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45"/>
              </a:spcBef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GROUP BY CustomerID,</a:t>
            </a:r>
            <a:endParaRPr sz="1800" dirty="0">
              <a:latin typeface="Courier New"/>
              <a:cs typeface="Courier New"/>
            </a:endParaRPr>
          </a:p>
          <a:p>
            <a:pPr marL="97155" marR="1537970" indent="1252855">
              <a:lnSpc>
                <a:spcPts val="2090"/>
              </a:lnSpc>
              <a:spcBef>
                <a:spcPts val="175"/>
              </a:spcBef>
            </a:pP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OrderNumber  </a:t>
            </a: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ORDER BY CustomerID,</a:t>
            </a:r>
            <a:endParaRPr sz="1800" dirty="0">
              <a:latin typeface="Courier New"/>
              <a:cs typeface="Courier New"/>
            </a:endParaRPr>
          </a:p>
          <a:p>
            <a:pPr marL="1350010">
              <a:lnSpc>
                <a:spcPts val="2150"/>
              </a:lnSpc>
            </a:pPr>
            <a:r>
              <a:rPr sz="1800" spc="5" dirty="0">
                <a:solidFill>
                  <a:srgbClr val="292934"/>
                </a:solidFill>
                <a:latin typeface="Courier New"/>
                <a:cs typeface="Courier New"/>
              </a:rPr>
              <a:t>OrderDate</a:t>
            </a:r>
            <a:r>
              <a:rPr sz="1800" spc="-2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800" spc="10" dirty="0">
                <a:solidFill>
                  <a:srgbClr val="292934"/>
                </a:solidFill>
                <a:latin typeface="Courier New"/>
                <a:cs typeface="Courier New"/>
              </a:rPr>
              <a:t>DESC;</a:t>
            </a:r>
            <a:endParaRPr sz="1800" dirty="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31345" y="2082068"/>
            <a:ext cx="4345940" cy="4340225"/>
            <a:chOff x="5431345" y="2082068"/>
            <a:chExt cx="4345940" cy="4340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1505" y="2092229"/>
              <a:ext cx="4325156" cy="43194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36425" y="2087148"/>
              <a:ext cx="4335780" cy="4330065"/>
            </a:xfrm>
            <a:custGeom>
              <a:avLst/>
              <a:gdLst/>
              <a:ahLst/>
              <a:cxnLst/>
              <a:rect l="l" t="t" r="r" b="b"/>
              <a:pathLst>
                <a:path w="4335780" h="4330065">
                  <a:moveTo>
                    <a:pt x="0" y="0"/>
                  </a:moveTo>
                  <a:lnTo>
                    <a:pt x="4335316" y="0"/>
                  </a:lnTo>
                  <a:lnTo>
                    <a:pt x="4335316" y="4329610"/>
                  </a:lnTo>
                  <a:lnTo>
                    <a:pt x="0" y="432961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3167" y="6710171"/>
            <a:ext cx="9186545" cy="44323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10"/>
              </a:spcBef>
            </a:pP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Note: </a:t>
            </a:r>
            <a:r>
              <a:rPr sz="1400" spc="-15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DBMS requires that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everything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“ORDER</a:t>
            </a:r>
            <a:r>
              <a:rPr sz="14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BY”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be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“GROUP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BY”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everything</a:t>
            </a:r>
            <a:r>
              <a:rPr sz="14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1400" spc="-4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“GROUP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BY”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292934"/>
                </a:solidFill>
                <a:latin typeface="Verdana"/>
                <a:cs typeface="Verdana"/>
              </a:rPr>
              <a:t>“SELECT.”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(MySQL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 doesn’t</a:t>
            </a:r>
            <a:r>
              <a:rPr sz="14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seem</a:t>
            </a:r>
            <a:r>
              <a:rPr sz="14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400" spc="-10" dirty="0">
                <a:solidFill>
                  <a:srgbClr val="292934"/>
                </a:solidFill>
                <a:latin typeface="Verdana"/>
                <a:cs typeface="Verdana"/>
              </a:rPr>
              <a:t>enforce these </a:t>
            </a:r>
            <a:r>
              <a:rPr sz="1400" spc="-15" dirty="0">
                <a:solidFill>
                  <a:srgbClr val="292934"/>
                </a:solidFill>
                <a:latin typeface="Verdana"/>
                <a:cs typeface="Verdana"/>
              </a:rPr>
              <a:t>requirements)</a:t>
            </a:r>
            <a:endParaRPr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334" y="3400552"/>
            <a:ext cx="8256270" cy="5562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48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Minnie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TA.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Also,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S_id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those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6240" y="4237393"/>
            <a:ext cx="9265920" cy="2917825"/>
          </a:xfrm>
          <a:custGeom>
            <a:avLst/>
            <a:gdLst/>
            <a:ahLst/>
            <a:cxnLst/>
            <a:rect l="l" t="t" r="r" b="b"/>
            <a:pathLst>
              <a:path w="9265920" h="2917825">
                <a:moveTo>
                  <a:pt x="0" y="0"/>
                </a:moveTo>
                <a:lnTo>
                  <a:pt x="9265919" y="0"/>
                </a:lnTo>
                <a:lnTo>
                  <a:pt x="9265919" y="2917421"/>
                </a:lnTo>
                <a:lnTo>
                  <a:pt x="0" y="2917421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6017" y="1155191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87679" y="358140"/>
            <a:ext cx="90805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Recap</a:t>
            </a:r>
            <a:r>
              <a:rPr spc="-200" dirty="0"/>
              <a:t> </a:t>
            </a:r>
            <a:r>
              <a:rPr spc="-40" dirty="0"/>
              <a:t>1:</a:t>
            </a:r>
            <a:r>
              <a:rPr spc="-204" dirty="0"/>
              <a:t> </a:t>
            </a:r>
            <a:r>
              <a:rPr spc="-65" dirty="0"/>
              <a:t>SELECT</a:t>
            </a:r>
            <a:r>
              <a:rPr spc="-19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60" dirty="0"/>
              <a:t>FROM</a:t>
            </a:r>
            <a:r>
              <a:rPr spc="-18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80" dirty="0"/>
              <a:t>WHERE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1982" y="1452639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56CC42-6D08-EF40-847F-B42F8A76D488}"/>
              </a:ext>
            </a:extLst>
          </p:cNvPr>
          <p:cNvSpPr txBox="1"/>
          <p:nvPr/>
        </p:nvSpPr>
        <p:spPr>
          <a:xfrm>
            <a:off x="748145" y="4472247"/>
            <a:ext cx="4991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distinct Course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10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4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= “Minnie”</a:t>
            </a:r>
            <a:endParaRPr lang="en-US" sz="1800" dirty="0">
              <a:latin typeface="Courier New"/>
              <a:cs typeface="Courier New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46003-0519-70E4-571B-7A4FB1CC041E}"/>
              </a:ext>
            </a:extLst>
          </p:cNvPr>
          <p:cNvSpPr txBox="1"/>
          <p:nvPr/>
        </p:nvSpPr>
        <p:spPr>
          <a:xfrm>
            <a:off x="775854" y="5831743"/>
            <a:ext cx="4991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, Course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10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4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= “Minnie”</a:t>
            </a:r>
            <a:endParaRPr lang="en-US" sz="1800" dirty="0">
              <a:latin typeface="Courier New"/>
              <a:cs typeface="Courier New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79" y="358140"/>
            <a:ext cx="90805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Recap</a:t>
            </a:r>
            <a:r>
              <a:rPr spc="-200" dirty="0"/>
              <a:t> </a:t>
            </a:r>
            <a:r>
              <a:rPr spc="-40" dirty="0"/>
              <a:t>2:</a:t>
            </a:r>
            <a:r>
              <a:rPr spc="-204" dirty="0"/>
              <a:t> </a:t>
            </a:r>
            <a:r>
              <a:rPr spc="-65" dirty="0"/>
              <a:t>SELECT</a:t>
            </a:r>
            <a:r>
              <a:rPr spc="-19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60" dirty="0"/>
              <a:t>FROM</a:t>
            </a:r>
            <a:r>
              <a:rPr spc="-18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80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077" y="3626103"/>
            <a:ext cx="88487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Find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S_id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who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taking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Humpty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TA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6017" y="1155191"/>
            <a:ext cx="176466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en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t_l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1982" y="1452639"/>
          <a:ext cx="8308340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2470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Teaching_assistant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1400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E.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Bellows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1600" spc="-4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Systems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r>
                        <a:rPr sz="1600" spc="-4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S.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Detroit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Computing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57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Hockanum</a:t>
                      </a:r>
                      <a:r>
                        <a:rPr sz="1600" spc="-1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Blvd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Web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Programming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Lang.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2131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Forest</a:t>
                      </a:r>
                      <a:r>
                        <a:rPr sz="1600" spc="-3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Lake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Ln.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Software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6240" y="4600300"/>
            <a:ext cx="9265920" cy="2473325"/>
          </a:xfrm>
          <a:custGeom>
            <a:avLst/>
            <a:gdLst/>
            <a:ahLst/>
            <a:cxnLst/>
            <a:rect l="l" t="t" r="r" b="b"/>
            <a:pathLst>
              <a:path w="9265920" h="2473325">
                <a:moveTo>
                  <a:pt x="0" y="0"/>
                </a:moveTo>
                <a:lnTo>
                  <a:pt x="9265919" y="0"/>
                </a:lnTo>
                <a:lnTo>
                  <a:pt x="9265919" y="2473234"/>
                </a:lnTo>
                <a:lnTo>
                  <a:pt x="0" y="2473234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AE65E-381B-AA9F-FBB6-B32DD212BD64}"/>
              </a:ext>
            </a:extLst>
          </p:cNvPr>
          <p:cNvSpPr txBox="1"/>
          <p:nvPr/>
        </p:nvSpPr>
        <p:spPr>
          <a:xfrm>
            <a:off x="814647" y="4838007"/>
            <a:ext cx="55457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S_id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10" dirty="0" err="1">
                <a:solidFill>
                  <a:srgbClr val="292934"/>
                </a:solidFill>
                <a:latin typeface="Courier New"/>
                <a:cs typeface="Courier New"/>
              </a:rPr>
              <a:t>Student_lecture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4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WHERE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Teaching_assistant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= “Minnie” and</a:t>
            </a:r>
            <a:endParaRPr lang="en-US" sz="1800" dirty="0">
              <a:latin typeface="Courier New"/>
              <a:cs typeface="Courier New"/>
            </a:endParaRPr>
          </a:p>
          <a:p>
            <a:r>
              <a:rPr lang="en-US" dirty="0"/>
              <a:t>                  </a:t>
            </a:r>
            <a:r>
              <a:rPr lang="en-US" spc="10" dirty="0">
                <a:solidFill>
                  <a:srgbClr val="292934"/>
                </a:solidFill>
                <a:latin typeface="Courier New"/>
                <a:cs typeface="Courier New"/>
              </a:rPr>
              <a:t>Course = “Database Systems”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79" y="358140"/>
            <a:ext cx="90805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Recap</a:t>
            </a:r>
            <a:r>
              <a:rPr spc="-200" dirty="0"/>
              <a:t> </a:t>
            </a:r>
            <a:r>
              <a:rPr spc="-40" dirty="0"/>
              <a:t>3:</a:t>
            </a:r>
            <a:r>
              <a:rPr spc="-204" dirty="0"/>
              <a:t> </a:t>
            </a:r>
            <a:r>
              <a:rPr spc="-65" dirty="0"/>
              <a:t>SELECT</a:t>
            </a:r>
            <a:r>
              <a:rPr spc="-19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60" dirty="0"/>
              <a:t>FROM</a:t>
            </a:r>
            <a:r>
              <a:rPr spc="-18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80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9" y="3606800"/>
            <a:ext cx="871220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names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number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hours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work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week,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rename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hours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“Hours_per_week”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9125" y="1152144"/>
            <a:ext cx="8077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65420" y="1435221"/>
          <a:ext cx="6566533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6240" y="4600300"/>
            <a:ext cx="9265920" cy="2456180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8422AD-DFE7-D440-0E62-3A0DF6ABE7E0}"/>
              </a:ext>
            </a:extLst>
          </p:cNvPr>
          <p:cNvSpPr txBox="1"/>
          <p:nvPr/>
        </p:nvSpPr>
        <p:spPr>
          <a:xfrm>
            <a:off x="748145" y="4804756"/>
            <a:ext cx="6930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pc="5" dirty="0" err="1">
                <a:solidFill>
                  <a:srgbClr val="292934"/>
                </a:solidFill>
                <a:latin typeface="Courier New"/>
                <a:cs typeface="Courier New"/>
              </a:rPr>
              <a:t>TA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_id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, 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Two_week_hours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 as “</a:t>
            </a:r>
            <a:r>
              <a:rPr lang="en-US" sz="1800" spc="5" dirty="0" err="1">
                <a:solidFill>
                  <a:srgbClr val="292934"/>
                </a:solidFill>
                <a:latin typeface="Courier New"/>
                <a:cs typeface="Courier New"/>
              </a:rPr>
              <a:t>Hours_per_week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”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pc="10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79" y="358140"/>
            <a:ext cx="90805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Recap</a:t>
            </a:r>
            <a:r>
              <a:rPr spc="-200" dirty="0"/>
              <a:t> </a:t>
            </a:r>
            <a:r>
              <a:rPr spc="-40" dirty="0"/>
              <a:t>4:</a:t>
            </a:r>
            <a:r>
              <a:rPr spc="-204" dirty="0"/>
              <a:t> </a:t>
            </a:r>
            <a:r>
              <a:rPr spc="-65" dirty="0"/>
              <a:t>SELECT</a:t>
            </a:r>
            <a:r>
              <a:rPr spc="-19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60" dirty="0"/>
              <a:t>FROM</a:t>
            </a:r>
            <a:r>
              <a:rPr spc="-18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80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9" y="3625088"/>
            <a:ext cx="17354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9125" y="1152144"/>
            <a:ext cx="8077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65420" y="1435221"/>
          <a:ext cx="6566533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6240" y="4600300"/>
            <a:ext cx="9265920" cy="2456180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1FB67-218F-C16D-84E3-D99A6E97F9E6}"/>
              </a:ext>
            </a:extLst>
          </p:cNvPr>
          <p:cNvSpPr txBox="1"/>
          <p:nvPr/>
        </p:nvSpPr>
        <p:spPr>
          <a:xfrm>
            <a:off x="748145" y="4871258"/>
            <a:ext cx="1805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Year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pc="10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79" y="358140"/>
            <a:ext cx="90805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Recap</a:t>
            </a:r>
            <a:r>
              <a:rPr spc="-200" dirty="0"/>
              <a:t> </a:t>
            </a:r>
            <a:r>
              <a:rPr spc="-40" dirty="0"/>
              <a:t>5:</a:t>
            </a:r>
            <a:r>
              <a:rPr spc="-204" dirty="0"/>
              <a:t> </a:t>
            </a:r>
            <a:r>
              <a:rPr spc="-65" dirty="0"/>
              <a:t>SELECT</a:t>
            </a:r>
            <a:r>
              <a:rPr spc="-19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60" dirty="0"/>
              <a:t>FROM</a:t>
            </a:r>
            <a:r>
              <a:rPr spc="-185" dirty="0"/>
              <a:t> </a:t>
            </a:r>
            <a:r>
              <a:rPr spc="-50" dirty="0"/>
              <a:t>..</a:t>
            </a:r>
            <a:r>
              <a:rPr spc="-204" dirty="0"/>
              <a:t> </a:t>
            </a:r>
            <a:r>
              <a:rPr spc="-80" dirty="0"/>
              <a:t>WHERE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2999" y="3625088"/>
            <a:ext cx="8857615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in.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multiple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TAs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year,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once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9125" y="1152144"/>
            <a:ext cx="8077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765420" y="1435221"/>
          <a:ext cx="6566533" cy="18287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9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99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TA_id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Two_week_hours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1234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2345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3456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Dumpty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3333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Minnie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5678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Mickey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6240" y="4600300"/>
            <a:ext cx="9265920" cy="2456180"/>
          </a:xfrm>
          <a:custGeom>
            <a:avLst/>
            <a:gdLst/>
            <a:ahLst/>
            <a:cxnLst/>
            <a:rect l="l" t="t" r="r" b="b"/>
            <a:pathLst>
              <a:path w="9265920" h="2456179">
                <a:moveTo>
                  <a:pt x="0" y="0"/>
                </a:moveTo>
                <a:lnTo>
                  <a:pt x="9265919" y="0"/>
                </a:lnTo>
                <a:lnTo>
                  <a:pt x="9265919" y="2455817"/>
                </a:lnTo>
                <a:lnTo>
                  <a:pt x="0" y="2455817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E3EC4-39CD-172D-DE5C-E35EFE6DF4DF}"/>
              </a:ext>
            </a:extLst>
          </p:cNvPr>
          <p:cNvSpPr txBox="1"/>
          <p:nvPr/>
        </p:nvSpPr>
        <p:spPr>
          <a:xfrm>
            <a:off x="897775" y="4821382"/>
            <a:ext cx="30463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17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lang="en-US" sz="1800" dirty="0">
                <a:solidFill>
                  <a:srgbClr val="292934"/>
                </a:solidFill>
                <a:latin typeface="Courier New"/>
                <a:cs typeface="Courier New"/>
              </a:rPr>
              <a:t> distinct </a:t>
            </a: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Year</a:t>
            </a:r>
            <a:endParaRPr lang="en-US" sz="1800" dirty="0">
              <a:latin typeface="Courier New"/>
              <a:cs typeface="Courier New"/>
            </a:endParaRPr>
          </a:p>
          <a:p>
            <a:pPr marL="97155">
              <a:lnSpc>
                <a:spcPct val="100000"/>
              </a:lnSpc>
              <a:spcBef>
                <a:spcPts val="25"/>
              </a:spcBef>
            </a:pPr>
            <a:r>
              <a:rPr lang="en-US" sz="1800" spc="5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lang="en-US" sz="18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lang="en-US" spc="10" dirty="0">
                <a:solidFill>
                  <a:srgbClr val="292934"/>
                </a:solidFill>
                <a:latin typeface="Courier New"/>
                <a:cs typeface="Courier New"/>
              </a:rPr>
              <a:t>hiring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609600" y="15240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999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Aggregation</a:t>
            </a:r>
            <a:r>
              <a:rPr spc="-195" dirty="0"/>
              <a:t> </a:t>
            </a:r>
            <a:r>
              <a:rPr spc="-114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297" y="1289303"/>
            <a:ext cx="9189085" cy="521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3880">
              <a:lnSpc>
                <a:spcPct val="1052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Calculate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entire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across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groups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within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uses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five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operators:</a:t>
            </a:r>
            <a:endParaRPr sz="2300" dirty="0">
              <a:latin typeface="Verdana"/>
              <a:cs typeface="Verdana"/>
            </a:endParaRPr>
          </a:p>
          <a:p>
            <a:pPr marL="515620" indent="-243840">
              <a:lnSpc>
                <a:spcPct val="100000"/>
              </a:lnSpc>
              <a:spcBef>
                <a:spcPts val="1735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SUM</a:t>
            </a:r>
            <a:r>
              <a:rPr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100" dirty="0">
              <a:latin typeface="Verdana"/>
              <a:cs typeface="Verdana"/>
            </a:endParaRPr>
          </a:p>
          <a:p>
            <a:pPr marL="515620" indent="-243840">
              <a:lnSpc>
                <a:spcPct val="100000"/>
              </a:lnSpc>
              <a:spcBef>
                <a:spcPts val="1775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AVG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100" dirty="0">
              <a:latin typeface="Verdana"/>
              <a:cs typeface="Verdana"/>
            </a:endParaRPr>
          </a:p>
          <a:p>
            <a:pPr marL="515620" marR="59055" indent="-243840">
              <a:lnSpc>
                <a:spcPct val="100000"/>
              </a:lnSpc>
              <a:spcBef>
                <a:spcPts val="1775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MIN</a:t>
            </a:r>
            <a:r>
              <a:rPr sz="2100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applied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smallest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 dirty="0">
              <a:latin typeface="Verdana"/>
              <a:cs typeface="Verdana"/>
            </a:endParaRPr>
          </a:p>
          <a:p>
            <a:pPr marL="515620" marR="5080" indent="-243840">
              <a:lnSpc>
                <a:spcPct val="102899"/>
              </a:lnSpc>
              <a:spcBef>
                <a:spcPts val="1705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MAX</a:t>
            </a:r>
            <a:r>
              <a:rPr sz="2100" spc="8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applied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numerical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largest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 dirty="0">
              <a:latin typeface="Verdana"/>
              <a:cs typeface="Verdana"/>
            </a:endParaRPr>
          </a:p>
          <a:p>
            <a:pPr marL="515620" marR="609600" indent="-243840">
              <a:lnSpc>
                <a:spcPct val="100000"/>
              </a:lnSpc>
              <a:spcBef>
                <a:spcPts val="1775"/>
              </a:spcBef>
              <a:buClr>
                <a:srgbClr val="292934"/>
              </a:buClr>
              <a:buSzPct val="95238"/>
              <a:buFont typeface="Arial MT"/>
              <a:buChar char="•"/>
              <a:tabLst>
                <a:tab pos="515620" algn="l"/>
              </a:tabLst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COUNT</a:t>
            </a:r>
            <a:r>
              <a:rPr sz="2100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produces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(not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necessarily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distinct)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408" y="336007"/>
            <a:ext cx="421513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29" dirty="0"/>
              <a:t> </a:t>
            </a:r>
            <a:r>
              <a:rPr spc="-75" dirty="0"/>
              <a:t>SUM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08" y="1065541"/>
            <a:ext cx="3608704" cy="90296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80415">
              <a:lnSpc>
                <a:spcPct val="100000"/>
              </a:lnSpc>
              <a:spcBef>
                <a:spcPts val="775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7683" y="1622552"/>
            <a:ext cx="19742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0952" y="1622552"/>
            <a:ext cx="11633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408" y="4636008"/>
            <a:ext cx="78530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05344" y="2044824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917777" y="6056565"/>
            <a:ext cx="1610360" cy="623570"/>
            <a:chOff x="917777" y="6056565"/>
            <a:chExt cx="1610360" cy="62357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60" h="623570">
                  <a:moveTo>
                    <a:pt x="6773" y="0"/>
                  </a:moveTo>
                  <a:lnTo>
                    <a:pt x="6773" y="623146"/>
                  </a:lnTo>
                </a:path>
                <a:path w="1610360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60" h="623570">
                  <a:moveTo>
                    <a:pt x="0" y="6773"/>
                  </a:moveTo>
                  <a:lnTo>
                    <a:pt x="1610117" y="6773"/>
                  </a:lnTo>
                </a:path>
                <a:path w="1610360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4550" y="6063339"/>
            <a:ext cx="159702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8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SUM(amount)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1323" y="6388459"/>
            <a:ext cx="1583055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75994">
              <a:lnSpc>
                <a:spcPts val="1835"/>
              </a:lnSpc>
            </a:pPr>
            <a:r>
              <a:rPr sz="1600" spc="-20" dirty="0">
                <a:solidFill>
                  <a:srgbClr val="292934"/>
                </a:solidFill>
                <a:latin typeface="Verdana"/>
                <a:cs typeface="Verdana"/>
              </a:rPr>
              <a:t>8700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068866" y="6056565"/>
            <a:ext cx="1610360" cy="623570"/>
            <a:chOff x="5068866" y="6056565"/>
            <a:chExt cx="1610360" cy="623570"/>
          </a:xfrm>
        </p:grpSpPr>
        <p:sp>
          <p:nvSpPr>
            <p:cNvPr id="14" name="object 14"/>
            <p:cNvSpPr/>
            <p:nvPr/>
          </p:nvSpPr>
          <p:spPr>
            <a:xfrm>
              <a:off x="5068866" y="6347819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68866" y="6056565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59" h="623570">
                  <a:moveTo>
                    <a:pt x="6773" y="0"/>
                  </a:moveTo>
                  <a:lnTo>
                    <a:pt x="6773" y="623146"/>
                  </a:lnTo>
                </a:path>
                <a:path w="1610359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59" h="623570">
                  <a:moveTo>
                    <a:pt x="0" y="6773"/>
                  </a:moveTo>
                  <a:lnTo>
                    <a:pt x="1610117" y="6773"/>
                  </a:lnTo>
                </a:path>
                <a:path w="1610359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75640" y="6063339"/>
            <a:ext cx="159702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8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2413" y="6388459"/>
            <a:ext cx="1583055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975994">
              <a:lnSpc>
                <a:spcPts val="1835"/>
              </a:lnSpc>
            </a:pPr>
            <a:r>
              <a:rPr sz="1600" spc="-20" dirty="0">
                <a:solidFill>
                  <a:srgbClr val="292934"/>
                </a:solidFill>
                <a:latin typeface="Verdana"/>
                <a:cs typeface="Verdana"/>
              </a:rPr>
              <a:t>8700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4914" y="5192492"/>
            <a:ext cx="3257550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236854" marR="238125">
              <a:lnSpc>
                <a:spcPct val="104000"/>
              </a:lnSpc>
              <a:spcBef>
                <a:spcPts val="434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22800" y="5192492"/>
            <a:ext cx="4708525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283210" marR="256540">
              <a:lnSpc>
                <a:spcPct val="104000"/>
              </a:lnSpc>
              <a:spcBef>
                <a:spcPts val="434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SUM(amount)</a:t>
            </a:r>
            <a:r>
              <a:rPr sz="20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AS</a:t>
            </a:r>
            <a:r>
              <a:rPr sz="20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Total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8269" y="276176"/>
            <a:ext cx="414845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29" dirty="0"/>
              <a:t> </a:t>
            </a:r>
            <a:r>
              <a:rPr spc="-80" dirty="0"/>
              <a:t>AVG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410" y="1082233"/>
            <a:ext cx="3608704" cy="8705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80415">
              <a:lnSpc>
                <a:spcPct val="100000"/>
              </a:lnSpc>
              <a:spcBef>
                <a:spcPts val="66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7683" y="1607311"/>
            <a:ext cx="19742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0952" y="1607311"/>
            <a:ext cx="11633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410" y="4636008"/>
            <a:ext cx="84137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average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05344" y="2027405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917777" y="6056565"/>
            <a:ext cx="3456940" cy="637540"/>
            <a:chOff x="917777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4550" y="6063339"/>
            <a:ext cx="3442970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890" rIns="0" bIns="0" rtlCol="0">
            <a:spAutoFit/>
          </a:bodyPr>
          <a:lstStyle/>
          <a:p>
            <a:pPr marL="1074420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AVG(amount)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1323" y="6388459"/>
            <a:ext cx="3429635" cy="29210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L="1351915">
              <a:lnSpc>
                <a:spcPts val="1950"/>
              </a:lnSpc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1242.857142857143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7495" y="5192492"/>
            <a:ext cx="4006215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54000" marR="969644">
              <a:lnSpc>
                <a:spcPct val="104000"/>
              </a:lnSpc>
              <a:spcBef>
                <a:spcPts val="290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AVG(amount)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409" y="233261"/>
            <a:ext cx="41446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29" dirty="0"/>
              <a:t> </a:t>
            </a:r>
            <a:r>
              <a:rPr spc="-75" dirty="0"/>
              <a:t>MIN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©</a:t>
            </a:r>
            <a:r>
              <a:rPr spc="-50" dirty="0"/>
              <a:t> </a:t>
            </a:r>
            <a:r>
              <a:rPr spc="-65" dirty="0"/>
              <a:t>Praphamontripong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Fall</a:t>
            </a:r>
            <a:r>
              <a:rPr spc="-35" dirty="0"/>
              <a:t> </a:t>
            </a:r>
            <a:r>
              <a:rPr spc="-20" dirty="0"/>
              <a:t>2023</a:t>
            </a:r>
            <a:r>
              <a:rPr spc="-5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Virginia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1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3409" y="1082233"/>
            <a:ext cx="3608704" cy="8705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80415">
              <a:lnSpc>
                <a:spcPct val="100000"/>
              </a:lnSpc>
              <a:spcBef>
                <a:spcPts val="66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7683" y="1607311"/>
            <a:ext cx="19742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0952" y="1607311"/>
            <a:ext cx="11633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409" y="4636008"/>
            <a:ext cx="68764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smallest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amount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300" spc="1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3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05344" y="2027405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900359" y="6056565"/>
            <a:ext cx="3456940" cy="637540"/>
            <a:chOff x="900359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00359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0359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07132" y="6063339"/>
            <a:ext cx="3442970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890" rIns="0" bIns="0" rtlCol="0">
            <a:spAutoFit/>
          </a:bodyPr>
          <a:lstStyle/>
          <a:p>
            <a:pPr marL="1106170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min(amount)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3906" y="6388459"/>
            <a:ext cx="3429635" cy="29210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4455" algn="r">
              <a:lnSpc>
                <a:spcPts val="1950"/>
              </a:lnSpc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500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2330" y="5192492"/>
            <a:ext cx="3762375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201930" marR="778510">
              <a:lnSpc>
                <a:spcPct val="104000"/>
              </a:lnSpc>
              <a:spcBef>
                <a:spcPts val="434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MIN(amount)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8516" y="305889"/>
            <a:ext cx="42227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40" dirty="0"/>
              <a:t> </a:t>
            </a:r>
            <a:r>
              <a:rPr spc="-80" dirty="0"/>
              <a:t>MAX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990" y="1065541"/>
            <a:ext cx="3608704" cy="90296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98195">
              <a:lnSpc>
                <a:spcPct val="100000"/>
              </a:lnSpc>
              <a:spcBef>
                <a:spcPts val="775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7683" y="1622552"/>
            <a:ext cx="1974214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60952" y="1622552"/>
            <a:ext cx="11633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990" y="4636008"/>
            <a:ext cx="66636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largest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amount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3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305344" y="2044824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917777" y="6056565"/>
            <a:ext cx="3456940" cy="637540"/>
            <a:chOff x="917777" y="6056565"/>
            <a:chExt cx="3456940" cy="637540"/>
          </a:xfrm>
        </p:grpSpPr>
        <p:sp>
          <p:nvSpPr>
            <p:cNvPr id="9" name="object 9"/>
            <p:cNvSpPr/>
            <p:nvPr/>
          </p:nvSpPr>
          <p:spPr>
            <a:xfrm>
              <a:off x="917777" y="6347819"/>
              <a:ext cx="3456940" cy="40640"/>
            </a:xfrm>
            <a:custGeom>
              <a:avLst/>
              <a:gdLst/>
              <a:ahLst/>
              <a:cxnLst/>
              <a:rect l="l" t="t" r="r" b="b"/>
              <a:pathLst>
                <a:path w="3456940" h="40639">
                  <a:moveTo>
                    <a:pt x="0" y="0"/>
                  </a:moveTo>
                  <a:lnTo>
                    <a:pt x="3456344" y="0"/>
                  </a:lnTo>
                  <a:lnTo>
                    <a:pt x="345634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7777" y="6056565"/>
              <a:ext cx="3456940" cy="637540"/>
            </a:xfrm>
            <a:custGeom>
              <a:avLst/>
              <a:gdLst/>
              <a:ahLst/>
              <a:cxnLst/>
              <a:rect l="l" t="t" r="r" b="b"/>
              <a:pathLst>
                <a:path w="3456940" h="637540">
                  <a:moveTo>
                    <a:pt x="6773" y="0"/>
                  </a:moveTo>
                  <a:lnTo>
                    <a:pt x="6773" y="636964"/>
                  </a:lnTo>
                </a:path>
                <a:path w="3456940" h="637540">
                  <a:moveTo>
                    <a:pt x="3449571" y="0"/>
                  </a:moveTo>
                  <a:lnTo>
                    <a:pt x="3449571" y="636964"/>
                  </a:lnTo>
                </a:path>
                <a:path w="3456940" h="637540">
                  <a:moveTo>
                    <a:pt x="0" y="6773"/>
                  </a:moveTo>
                  <a:lnTo>
                    <a:pt x="3456344" y="6773"/>
                  </a:lnTo>
                </a:path>
                <a:path w="3456940" h="637540">
                  <a:moveTo>
                    <a:pt x="0" y="630190"/>
                  </a:moveTo>
                  <a:lnTo>
                    <a:pt x="3456344" y="630190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24550" y="6063339"/>
            <a:ext cx="3442970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8890" rIns="0" bIns="0" rtlCol="0">
            <a:spAutoFit/>
          </a:bodyPr>
          <a:lstStyle/>
          <a:p>
            <a:pPr marL="1082675">
              <a:lnSpc>
                <a:spcPct val="100000"/>
              </a:lnSpc>
              <a:spcBef>
                <a:spcPts val="7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max(amount)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1323" y="6388459"/>
            <a:ext cx="3429635" cy="29210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4455" algn="r">
              <a:lnSpc>
                <a:spcPts val="1950"/>
              </a:lnSpc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2000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992" y="5192492"/>
            <a:ext cx="3588385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358775" marR="447675">
              <a:lnSpc>
                <a:spcPct val="104000"/>
              </a:lnSpc>
              <a:spcBef>
                <a:spcPts val="290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MAX(amount)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4701" y="287031"/>
            <a:ext cx="49701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29" dirty="0"/>
              <a:t> </a:t>
            </a:r>
            <a:r>
              <a:rPr spc="-100" dirty="0"/>
              <a:t>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827" y="1065541"/>
            <a:ext cx="6953884" cy="90296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63270">
              <a:lnSpc>
                <a:spcPct val="100000"/>
              </a:lnSpc>
              <a:spcBef>
                <a:spcPts val="775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05344" y="2044824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917777" y="6091401"/>
            <a:ext cx="1610360" cy="623570"/>
            <a:chOff x="917777" y="6091401"/>
            <a:chExt cx="1610360" cy="623570"/>
          </a:xfrm>
        </p:grpSpPr>
        <p:sp>
          <p:nvSpPr>
            <p:cNvPr id="6" name="object 6"/>
            <p:cNvSpPr/>
            <p:nvPr/>
          </p:nvSpPr>
          <p:spPr>
            <a:xfrm>
              <a:off x="917777" y="6382654"/>
              <a:ext cx="1610360" cy="40640"/>
            </a:xfrm>
            <a:custGeom>
              <a:avLst/>
              <a:gdLst/>
              <a:ahLst/>
              <a:cxnLst/>
              <a:rect l="l" t="t" r="r" b="b"/>
              <a:pathLst>
                <a:path w="1610360" h="40639">
                  <a:moveTo>
                    <a:pt x="0" y="0"/>
                  </a:moveTo>
                  <a:lnTo>
                    <a:pt x="1610117" y="0"/>
                  </a:lnTo>
                  <a:lnTo>
                    <a:pt x="1610117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7777" y="6091401"/>
              <a:ext cx="1610360" cy="623570"/>
            </a:xfrm>
            <a:custGeom>
              <a:avLst/>
              <a:gdLst/>
              <a:ahLst/>
              <a:cxnLst/>
              <a:rect l="l" t="t" r="r" b="b"/>
              <a:pathLst>
                <a:path w="1610360" h="623570">
                  <a:moveTo>
                    <a:pt x="6773" y="0"/>
                  </a:moveTo>
                  <a:lnTo>
                    <a:pt x="6773" y="623146"/>
                  </a:lnTo>
                </a:path>
                <a:path w="1610360" h="623570">
                  <a:moveTo>
                    <a:pt x="1603343" y="0"/>
                  </a:moveTo>
                  <a:lnTo>
                    <a:pt x="1603343" y="623146"/>
                  </a:lnTo>
                </a:path>
                <a:path w="1610360" h="623570">
                  <a:moveTo>
                    <a:pt x="0" y="6773"/>
                  </a:moveTo>
                  <a:lnTo>
                    <a:pt x="1610117" y="6773"/>
                  </a:lnTo>
                </a:path>
                <a:path w="1610360" h="623570">
                  <a:moveTo>
                    <a:pt x="0" y="616373"/>
                  </a:moveTo>
                  <a:lnTo>
                    <a:pt x="1610117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4550" y="6098174"/>
            <a:ext cx="159702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0795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8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count(*)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1323" y="6423294"/>
            <a:ext cx="1583055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3185" algn="r">
              <a:lnSpc>
                <a:spcPts val="1845"/>
              </a:lnSpc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68866" y="6091401"/>
            <a:ext cx="2423160" cy="623570"/>
            <a:chOff x="5068866" y="6091401"/>
            <a:chExt cx="2423160" cy="623570"/>
          </a:xfrm>
        </p:grpSpPr>
        <p:sp>
          <p:nvSpPr>
            <p:cNvPr id="11" name="object 11"/>
            <p:cNvSpPr/>
            <p:nvPr/>
          </p:nvSpPr>
          <p:spPr>
            <a:xfrm>
              <a:off x="5068866" y="6382654"/>
              <a:ext cx="2423160" cy="40640"/>
            </a:xfrm>
            <a:custGeom>
              <a:avLst/>
              <a:gdLst/>
              <a:ahLst/>
              <a:cxnLst/>
              <a:rect l="l" t="t" r="r" b="b"/>
              <a:pathLst>
                <a:path w="2423160" h="40639">
                  <a:moveTo>
                    <a:pt x="0" y="0"/>
                  </a:moveTo>
                  <a:lnTo>
                    <a:pt x="2422924" y="0"/>
                  </a:lnTo>
                  <a:lnTo>
                    <a:pt x="242292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68866" y="6091401"/>
              <a:ext cx="2423160" cy="623570"/>
            </a:xfrm>
            <a:custGeom>
              <a:avLst/>
              <a:gdLst/>
              <a:ahLst/>
              <a:cxnLst/>
              <a:rect l="l" t="t" r="r" b="b"/>
              <a:pathLst>
                <a:path w="2423159" h="623570">
                  <a:moveTo>
                    <a:pt x="6773" y="0"/>
                  </a:moveTo>
                  <a:lnTo>
                    <a:pt x="6773" y="623146"/>
                  </a:lnTo>
                </a:path>
                <a:path w="2423159" h="623570">
                  <a:moveTo>
                    <a:pt x="2416151" y="0"/>
                  </a:moveTo>
                  <a:lnTo>
                    <a:pt x="2416151" y="623146"/>
                  </a:lnTo>
                </a:path>
                <a:path w="2423159" h="623570">
                  <a:moveTo>
                    <a:pt x="0" y="6773"/>
                  </a:moveTo>
                  <a:lnTo>
                    <a:pt x="2422924" y="6773"/>
                  </a:lnTo>
                </a:path>
                <a:path w="2423159" h="623570">
                  <a:moveTo>
                    <a:pt x="0" y="616373"/>
                  </a:moveTo>
                  <a:lnTo>
                    <a:pt x="2422924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75640" y="6098174"/>
            <a:ext cx="240982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079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8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Count(loan_number)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2413" y="6423294"/>
            <a:ext cx="2395855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3185" algn="r">
              <a:lnSpc>
                <a:spcPts val="1845"/>
              </a:lnSpc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7496" y="5192492"/>
            <a:ext cx="3013710" cy="766445"/>
          </a:xfrm>
          <a:custGeom>
            <a:avLst/>
            <a:gdLst/>
            <a:ahLst/>
            <a:cxnLst/>
            <a:rect l="l" t="t" r="r" b="b"/>
            <a:pathLst>
              <a:path w="3013710" h="766445">
                <a:moveTo>
                  <a:pt x="0" y="0"/>
                </a:moveTo>
                <a:lnTo>
                  <a:pt x="3013165" y="0"/>
                </a:lnTo>
                <a:lnTo>
                  <a:pt x="3013165" y="766348"/>
                </a:lnTo>
                <a:lnTo>
                  <a:pt x="0" y="766348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0827" y="4623816"/>
            <a:ext cx="8098790" cy="1252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-4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endParaRPr sz="2300">
              <a:latin typeface="Verdana"/>
              <a:cs typeface="Verdana"/>
            </a:endParaRPr>
          </a:p>
          <a:p>
            <a:pPr marL="240665">
              <a:lnSpc>
                <a:spcPct val="100000"/>
              </a:lnSpc>
              <a:spcBef>
                <a:spcPts val="2000"/>
              </a:spcBef>
              <a:tabLst>
                <a:tab pos="4234815" algn="l"/>
              </a:tabLst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count(*)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	SELECT</a:t>
            </a:r>
            <a:r>
              <a:rPr sz="20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count(loan_number)</a:t>
            </a:r>
            <a:endParaRPr sz="2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100"/>
              </a:spcBef>
              <a:tabLst>
                <a:tab pos="4234815" algn="l"/>
              </a:tabLst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	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79787" y="5595758"/>
            <a:ext cx="1266190" cy="833755"/>
          </a:xfrm>
          <a:custGeom>
            <a:avLst/>
            <a:gdLst/>
            <a:ahLst/>
            <a:cxnLst/>
            <a:rect l="l" t="t" r="r" b="b"/>
            <a:pathLst>
              <a:path w="1266189" h="833754">
                <a:moveTo>
                  <a:pt x="1169846" y="258580"/>
                </a:moveTo>
                <a:lnTo>
                  <a:pt x="95794" y="258580"/>
                </a:lnTo>
                <a:lnTo>
                  <a:pt x="58506" y="266108"/>
                </a:lnTo>
                <a:lnTo>
                  <a:pt x="28057" y="286638"/>
                </a:lnTo>
                <a:lnTo>
                  <a:pt x="7527" y="317088"/>
                </a:lnTo>
                <a:lnTo>
                  <a:pt x="0" y="354374"/>
                </a:lnTo>
                <a:lnTo>
                  <a:pt x="0" y="737548"/>
                </a:lnTo>
                <a:lnTo>
                  <a:pt x="7527" y="774836"/>
                </a:lnTo>
                <a:lnTo>
                  <a:pt x="28057" y="805286"/>
                </a:lnTo>
                <a:lnTo>
                  <a:pt x="58506" y="825815"/>
                </a:lnTo>
                <a:lnTo>
                  <a:pt x="95794" y="833343"/>
                </a:lnTo>
                <a:lnTo>
                  <a:pt x="1169846" y="833343"/>
                </a:lnTo>
                <a:lnTo>
                  <a:pt x="1207134" y="825815"/>
                </a:lnTo>
                <a:lnTo>
                  <a:pt x="1237583" y="805286"/>
                </a:lnTo>
                <a:lnTo>
                  <a:pt x="1258113" y="774836"/>
                </a:lnTo>
                <a:lnTo>
                  <a:pt x="1265641" y="737548"/>
                </a:lnTo>
                <a:lnTo>
                  <a:pt x="1265641" y="354374"/>
                </a:lnTo>
                <a:lnTo>
                  <a:pt x="1258113" y="317088"/>
                </a:lnTo>
                <a:lnTo>
                  <a:pt x="1237583" y="286638"/>
                </a:lnTo>
                <a:lnTo>
                  <a:pt x="1207134" y="266108"/>
                </a:lnTo>
                <a:lnTo>
                  <a:pt x="1169846" y="258580"/>
                </a:lnTo>
                <a:close/>
              </a:path>
              <a:path w="1266189" h="833754">
                <a:moveTo>
                  <a:pt x="17261" y="0"/>
                </a:moveTo>
                <a:lnTo>
                  <a:pt x="210939" y="258580"/>
                </a:lnTo>
                <a:lnTo>
                  <a:pt x="527349" y="258580"/>
                </a:lnTo>
                <a:lnTo>
                  <a:pt x="17261" y="0"/>
                </a:lnTo>
                <a:close/>
              </a:path>
            </a:pathLst>
          </a:custGeom>
          <a:solidFill>
            <a:srgbClr val="00447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4693920" y="5182332"/>
            <a:ext cx="4933950" cy="1525905"/>
            <a:chOff x="4693920" y="5182332"/>
            <a:chExt cx="4933950" cy="1525905"/>
          </a:xfrm>
        </p:grpSpPr>
        <p:sp>
          <p:nvSpPr>
            <p:cNvPr id="19" name="object 19"/>
            <p:cNvSpPr/>
            <p:nvPr/>
          </p:nvSpPr>
          <p:spPr>
            <a:xfrm>
              <a:off x="4704080" y="5192492"/>
              <a:ext cx="4174490" cy="766445"/>
            </a:xfrm>
            <a:custGeom>
              <a:avLst/>
              <a:gdLst/>
              <a:ahLst/>
              <a:cxnLst/>
              <a:rect l="l" t="t" r="r" b="b"/>
              <a:pathLst>
                <a:path w="4174490" h="766445">
                  <a:moveTo>
                    <a:pt x="0" y="0"/>
                  </a:moveTo>
                  <a:lnTo>
                    <a:pt x="4174308" y="0"/>
                  </a:lnTo>
                  <a:lnTo>
                    <a:pt x="4174308" y="766348"/>
                  </a:lnTo>
                  <a:lnTo>
                    <a:pt x="0" y="766348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019141" y="5537724"/>
              <a:ext cx="1608455" cy="1170305"/>
            </a:xfrm>
            <a:custGeom>
              <a:avLst/>
              <a:gdLst/>
              <a:ahLst/>
              <a:cxnLst/>
              <a:rect l="l" t="t" r="r" b="b"/>
              <a:pathLst>
                <a:path w="1608454" h="1170304">
                  <a:moveTo>
                    <a:pt x="1473680" y="363057"/>
                  </a:moveTo>
                  <a:lnTo>
                    <a:pt x="134501" y="363057"/>
                  </a:lnTo>
                  <a:lnTo>
                    <a:pt x="91988" y="369914"/>
                  </a:lnTo>
                  <a:lnTo>
                    <a:pt x="55066" y="389008"/>
                  </a:lnTo>
                  <a:lnTo>
                    <a:pt x="25950" y="418124"/>
                  </a:lnTo>
                  <a:lnTo>
                    <a:pt x="6856" y="455047"/>
                  </a:lnTo>
                  <a:lnTo>
                    <a:pt x="0" y="497556"/>
                  </a:lnTo>
                  <a:lnTo>
                    <a:pt x="0" y="1035550"/>
                  </a:lnTo>
                  <a:lnTo>
                    <a:pt x="6856" y="1078063"/>
                  </a:lnTo>
                  <a:lnTo>
                    <a:pt x="25950" y="1114986"/>
                  </a:lnTo>
                  <a:lnTo>
                    <a:pt x="55066" y="1144102"/>
                  </a:lnTo>
                  <a:lnTo>
                    <a:pt x="91988" y="1163196"/>
                  </a:lnTo>
                  <a:lnTo>
                    <a:pt x="134501" y="1170053"/>
                  </a:lnTo>
                  <a:lnTo>
                    <a:pt x="1473680" y="1170053"/>
                  </a:lnTo>
                  <a:lnTo>
                    <a:pt x="1516193" y="1163196"/>
                  </a:lnTo>
                  <a:lnTo>
                    <a:pt x="1553115" y="1144102"/>
                  </a:lnTo>
                  <a:lnTo>
                    <a:pt x="1582230" y="1114986"/>
                  </a:lnTo>
                  <a:lnTo>
                    <a:pt x="1601324" y="1078063"/>
                  </a:lnTo>
                  <a:lnTo>
                    <a:pt x="1608181" y="1035550"/>
                  </a:lnTo>
                  <a:lnTo>
                    <a:pt x="1608181" y="497556"/>
                  </a:lnTo>
                  <a:lnTo>
                    <a:pt x="1601324" y="455047"/>
                  </a:lnTo>
                  <a:lnTo>
                    <a:pt x="1582230" y="418124"/>
                  </a:lnTo>
                  <a:lnTo>
                    <a:pt x="1553115" y="389008"/>
                  </a:lnTo>
                  <a:lnTo>
                    <a:pt x="1516193" y="369914"/>
                  </a:lnTo>
                  <a:lnTo>
                    <a:pt x="1473680" y="363057"/>
                  </a:lnTo>
                  <a:close/>
                </a:path>
                <a:path w="1608454" h="1170304">
                  <a:moveTo>
                    <a:pt x="21935" y="0"/>
                  </a:moveTo>
                  <a:lnTo>
                    <a:pt x="268030" y="363057"/>
                  </a:lnTo>
                  <a:lnTo>
                    <a:pt x="670076" y="363057"/>
                  </a:lnTo>
                  <a:lnTo>
                    <a:pt x="21935" y="0"/>
                  </a:lnTo>
                  <a:close/>
                </a:path>
              </a:pathLst>
            </a:custGeom>
            <a:solidFill>
              <a:srgbClr val="0044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319660" y="5870448"/>
            <a:ext cx="6019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79740" y="6071616"/>
            <a:ext cx="4826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rows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80612" y="5928360"/>
            <a:ext cx="1303020" cy="69024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-1905" algn="ctr">
              <a:lnSpc>
                <a:spcPct val="78200"/>
              </a:lnSpc>
              <a:spcBef>
                <a:spcPts val="545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17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values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7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specified column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253" y="36259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65" dirty="0"/>
              <a:t> </a:t>
            </a:r>
            <a:r>
              <a:rPr spc="-110" dirty="0"/>
              <a:t>COUNT</a:t>
            </a:r>
            <a:r>
              <a:rPr spc="-254" dirty="0"/>
              <a:t> </a:t>
            </a:r>
            <a:r>
              <a:rPr dirty="0"/>
              <a:t>..</a:t>
            </a:r>
            <a:r>
              <a:rPr spc="-315" dirty="0"/>
              <a:t> </a:t>
            </a:r>
            <a:r>
              <a:rPr spc="-110" dirty="0"/>
              <a:t>DISTINCT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2823" y="1065541"/>
            <a:ext cx="6941820" cy="902969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51205">
              <a:lnSpc>
                <a:spcPct val="100000"/>
              </a:lnSpc>
              <a:spcBef>
                <a:spcPts val="775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823" y="4623816"/>
            <a:ext cx="84328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3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branch_name</a:t>
            </a:r>
            <a:r>
              <a:rPr sz="2300" spc="-434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05344" y="2044824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78436" y="6143653"/>
            <a:ext cx="2759710" cy="623570"/>
            <a:chOff x="778436" y="6143653"/>
            <a:chExt cx="2759710" cy="623570"/>
          </a:xfrm>
        </p:grpSpPr>
        <p:sp>
          <p:nvSpPr>
            <p:cNvPr id="7" name="object 7"/>
            <p:cNvSpPr/>
            <p:nvPr/>
          </p:nvSpPr>
          <p:spPr>
            <a:xfrm>
              <a:off x="778436" y="6434907"/>
              <a:ext cx="2759710" cy="40640"/>
            </a:xfrm>
            <a:custGeom>
              <a:avLst/>
              <a:gdLst/>
              <a:ahLst/>
              <a:cxnLst/>
              <a:rect l="l" t="t" r="r" b="b"/>
              <a:pathLst>
                <a:path w="2759710" h="40639">
                  <a:moveTo>
                    <a:pt x="0" y="0"/>
                  </a:moveTo>
                  <a:lnTo>
                    <a:pt x="2759658" y="0"/>
                  </a:lnTo>
                  <a:lnTo>
                    <a:pt x="2759658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8436" y="6143653"/>
              <a:ext cx="2759710" cy="623570"/>
            </a:xfrm>
            <a:custGeom>
              <a:avLst/>
              <a:gdLst/>
              <a:ahLst/>
              <a:cxnLst/>
              <a:rect l="l" t="t" r="r" b="b"/>
              <a:pathLst>
                <a:path w="2759710" h="623570">
                  <a:moveTo>
                    <a:pt x="6773" y="0"/>
                  </a:moveTo>
                  <a:lnTo>
                    <a:pt x="6773" y="623146"/>
                  </a:lnTo>
                </a:path>
                <a:path w="2759710" h="623570">
                  <a:moveTo>
                    <a:pt x="2752885" y="0"/>
                  </a:moveTo>
                  <a:lnTo>
                    <a:pt x="2752885" y="623146"/>
                  </a:lnTo>
                </a:path>
                <a:path w="2759710" h="623570">
                  <a:moveTo>
                    <a:pt x="0" y="6773"/>
                  </a:moveTo>
                  <a:lnTo>
                    <a:pt x="2759658" y="6773"/>
                  </a:lnTo>
                </a:path>
                <a:path w="2759710" h="623570">
                  <a:moveTo>
                    <a:pt x="0" y="616373"/>
                  </a:moveTo>
                  <a:lnTo>
                    <a:pt x="2759658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85209" y="6150427"/>
            <a:ext cx="274637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0160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80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count(branch_name)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982" y="6475546"/>
            <a:ext cx="2733040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3185" algn="r">
              <a:lnSpc>
                <a:spcPts val="1845"/>
              </a:lnSpc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7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51449" y="6143653"/>
            <a:ext cx="3398520" cy="623570"/>
            <a:chOff x="5051449" y="6143653"/>
            <a:chExt cx="3398520" cy="623570"/>
          </a:xfrm>
        </p:grpSpPr>
        <p:sp>
          <p:nvSpPr>
            <p:cNvPr id="12" name="object 12"/>
            <p:cNvSpPr/>
            <p:nvPr/>
          </p:nvSpPr>
          <p:spPr>
            <a:xfrm>
              <a:off x="5051449" y="6434907"/>
              <a:ext cx="3398520" cy="40640"/>
            </a:xfrm>
            <a:custGeom>
              <a:avLst/>
              <a:gdLst/>
              <a:ahLst/>
              <a:cxnLst/>
              <a:rect l="l" t="t" r="r" b="b"/>
              <a:pathLst>
                <a:path w="3398520" h="40639">
                  <a:moveTo>
                    <a:pt x="0" y="0"/>
                  </a:moveTo>
                  <a:lnTo>
                    <a:pt x="3398284" y="0"/>
                  </a:lnTo>
                  <a:lnTo>
                    <a:pt x="3398284" y="40639"/>
                  </a:lnTo>
                  <a:lnTo>
                    <a:pt x="0" y="406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51449" y="6143653"/>
              <a:ext cx="3398520" cy="623570"/>
            </a:xfrm>
            <a:custGeom>
              <a:avLst/>
              <a:gdLst/>
              <a:ahLst/>
              <a:cxnLst/>
              <a:rect l="l" t="t" r="r" b="b"/>
              <a:pathLst>
                <a:path w="3398520" h="623570">
                  <a:moveTo>
                    <a:pt x="6773" y="0"/>
                  </a:moveTo>
                  <a:lnTo>
                    <a:pt x="6773" y="623146"/>
                  </a:lnTo>
                </a:path>
                <a:path w="3398520" h="623570">
                  <a:moveTo>
                    <a:pt x="3391511" y="0"/>
                  </a:moveTo>
                  <a:lnTo>
                    <a:pt x="3391511" y="623146"/>
                  </a:lnTo>
                </a:path>
                <a:path w="3398520" h="623570">
                  <a:moveTo>
                    <a:pt x="0" y="6773"/>
                  </a:moveTo>
                  <a:lnTo>
                    <a:pt x="3398284" y="6773"/>
                  </a:lnTo>
                </a:path>
                <a:path w="3398520" h="623570">
                  <a:moveTo>
                    <a:pt x="0" y="616373"/>
                  </a:moveTo>
                  <a:lnTo>
                    <a:pt x="3398284" y="616373"/>
                  </a:lnTo>
                </a:path>
              </a:pathLst>
            </a:custGeom>
            <a:ln w="135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58223" y="6150427"/>
            <a:ext cx="3385185" cy="304800"/>
          </a:xfrm>
          <a:prstGeom prst="rect">
            <a:avLst/>
          </a:prstGeom>
          <a:solidFill>
            <a:srgbClr val="002060"/>
          </a:solidFill>
        </p:spPr>
        <p:txBody>
          <a:bodyPr vert="horz" wrap="square" lIns="0" tIns="1016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8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count(distinct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branch_name)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64996" y="6475546"/>
            <a:ext cx="3371215" cy="278130"/>
          </a:xfrm>
          <a:prstGeom prst="rect">
            <a:avLst/>
          </a:prstGeom>
          <a:solidFill>
            <a:srgbClr val="D8DBDF"/>
          </a:solidFill>
        </p:spPr>
        <p:txBody>
          <a:bodyPr vert="horz" wrap="square" lIns="0" tIns="0" rIns="0" bIns="0" rtlCol="0">
            <a:spAutoFit/>
          </a:bodyPr>
          <a:lstStyle/>
          <a:p>
            <a:pPr marR="83185" algn="r">
              <a:lnSpc>
                <a:spcPts val="1845"/>
              </a:lnSpc>
            </a:pPr>
            <a:r>
              <a:rPr sz="1600" dirty="0">
                <a:solidFill>
                  <a:srgbClr val="292934"/>
                </a:solidFill>
                <a:latin typeface="Verdana"/>
                <a:cs typeface="Verdana"/>
              </a:rPr>
              <a:t>5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67" y="5192492"/>
            <a:ext cx="4006215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219075" marR="138430">
              <a:lnSpc>
                <a:spcPct val="100000"/>
              </a:lnSpc>
              <a:spcBef>
                <a:spcPts val="77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count(branch_name)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82156" y="5192492"/>
            <a:ext cx="5167630" cy="7664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149225" marR="59055">
              <a:lnSpc>
                <a:spcPct val="100000"/>
              </a:lnSpc>
              <a:spcBef>
                <a:spcPts val="77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count(DISTINCT</a:t>
            </a:r>
            <a:r>
              <a:rPr sz="19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branch_name)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246" y="370840"/>
            <a:ext cx="875411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Aggregation:</a:t>
            </a:r>
            <a:r>
              <a:rPr spc="-254" dirty="0"/>
              <a:t> </a:t>
            </a:r>
            <a:r>
              <a:rPr spc="-100" dirty="0"/>
              <a:t>Order</a:t>
            </a:r>
            <a:r>
              <a:rPr spc="-265" dirty="0"/>
              <a:t> </a:t>
            </a:r>
            <a:r>
              <a:rPr spc="-10" dirty="0"/>
              <a:t>of</a:t>
            </a:r>
            <a:r>
              <a:rPr spc="-345" dirty="0"/>
              <a:t> </a:t>
            </a:r>
            <a:r>
              <a:rPr spc="-105" dirty="0"/>
              <a:t>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132" y="3448811"/>
            <a:ext cx="9150350" cy="331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770" indent="-43307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FROM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generates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WHERE</a:t>
            </a:r>
            <a:r>
              <a:rPr sz="2000" spc="-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generated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00">
              <a:latin typeface="Verdana"/>
              <a:cs typeface="Verdana"/>
            </a:endParaRPr>
          </a:p>
          <a:p>
            <a:pPr marL="445770" marR="331470" indent="-433705">
              <a:lnSpc>
                <a:spcPts val="2210"/>
              </a:lnSpc>
              <a:spcBef>
                <a:spcPts val="162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(note: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sort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set)</a:t>
            </a:r>
            <a:endParaRPr sz="2000">
              <a:latin typeface="Verdana"/>
              <a:cs typeface="Verdana"/>
            </a:endParaRPr>
          </a:p>
          <a:p>
            <a:pPr marL="445770" marR="287020" indent="-433705">
              <a:lnSpc>
                <a:spcPts val="2110"/>
              </a:lnSpc>
              <a:spcBef>
                <a:spcPts val="166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Verdana"/>
                <a:cs typeface="Verdana"/>
              </a:rPr>
              <a:t>HAVING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was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70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SELECT</a:t>
            </a:r>
            <a:r>
              <a:rPr sz="2000" spc="-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transforms</a:t>
            </a: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filtered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  <a:p>
            <a:pPr marL="445770" indent="-433070">
              <a:lnSpc>
                <a:spcPct val="100000"/>
              </a:lnSpc>
              <a:spcBef>
                <a:spcPts val="1415"/>
              </a:spcBef>
              <a:buAutoNum type="arabicPeriod"/>
              <a:tabLst>
                <a:tab pos="445770" algn="l"/>
              </a:tabLst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20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sorts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transformed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000" spc="-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1005" y="1238783"/>
            <a:ext cx="8064500" cy="179451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897890">
              <a:lnSpc>
                <a:spcPts val="2135"/>
              </a:lnSpc>
              <a:spcBef>
                <a:spcPts val="53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select_list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5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1900">
              <a:latin typeface="Courier New"/>
              <a:cs typeface="Courier New"/>
            </a:endParaRPr>
          </a:p>
          <a:p>
            <a:pPr marL="897890" marR="2790190">
              <a:lnSpc>
                <a:spcPct val="92100"/>
              </a:lnSpc>
              <a:spcBef>
                <a:spcPts val="95"/>
              </a:spcBef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[WHERE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[GROUP</a:t>
            </a:r>
            <a:r>
              <a:rPr sz="1900" spc="1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group_by_expression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[HAVING</a:t>
            </a:r>
            <a:r>
              <a:rPr sz="1900" spc="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292934"/>
                </a:solidFill>
                <a:latin typeface="Courier New"/>
                <a:cs typeface="Courier New"/>
              </a:rPr>
              <a:t>search_condition</a:t>
            </a:r>
            <a:r>
              <a:rPr sz="1900" spc="-1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  <a:p>
            <a:pPr marL="897890">
              <a:lnSpc>
                <a:spcPts val="2090"/>
              </a:lnSpc>
            </a:pP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[ORDER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292934"/>
                </a:solidFill>
                <a:latin typeface="Courier New"/>
                <a:cs typeface="Courier New"/>
              </a:rPr>
              <a:t>order_expression</a:t>
            </a:r>
            <a:r>
              <a:rPr sz="1900" i="1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[ASC</a:t>
            </a:r>
            <a:r>
              <a:rPr sz="1900" spc="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|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solidFill>
                  <a:srgbClr val="292934"/>
                </a:solidFill>
                <a:latin typeface="Courier New"/>
                <a:cs typeface="Courier New"/>
              </a:rPr>
              <a:t>DESC]</a:t>
            </a:r>
            <a:r>
              <a:rPr sz="19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Courier New"/>
                <a:cs typeface="Courier New"/>
              </a:rPr>
              <a:t>]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9064" y="3197351"/>
            <a:ext cx="2776728" cy="841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20695" y="3213507"/>
            <a:ext cx="2395855" cy="47180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04800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Order</a:t>
            </a:r>
            <a:r>
              <a:rPr sz="2100" spc="9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C00000"/>
                </a:solidFill>
                <a:latin typeface="Verdana"/>
                <a:cs typeface="Verdana"/>
              </a:rPr>
              <a:t>matter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485374" y="0"/>
            <a:ext cx="8675370" cy="15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6495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Grouping</a:t>
            </a:r>
            <a:r>
              <a:rPr spc="-195" dirty="0"/>
              <a:t> </a:t>
            </a:r>
            <a:r>
              <a:rPr spc="-125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1891" y="1238503"/>
            <a:ext cx="8830945" cy="100711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9209" marR="5080" indent="-17145">
              <a:lnSpc>
                <a:spcPct val="103299"/>
              </a:lnSpc>
              <a:spcBef>
                <a:spcPts val="1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DBMS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requires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lang="en-US"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clause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function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appear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55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spc="55">
                <a:solidFill>
                  <a:srgbClr val="292934"/>
                </a:solidFill>
                <a:latin typeface="Verdana"/>
                <a:cs typeface="Verdana"/>
              </a:rPr>
              <a:t>SELECT </a:t>
            </a:r>
            <a:r>
              <a:rPr sz="2100" spc="-1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6535" y="2963095"/>
            <a:ext cx="8533130" cy="135890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244475">
              <a:lnSpc>
                <a:spcPts val="2305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2000" i="1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dirty="0">
                <a:solidFill>
                  <a:srgbClr val="292934"/>
                </a:solidFill>
                <a:latin typeface="Courier New"/>
                <a:cs typeface="Courier New"/>
              </a:rPr>
              <a:t>column_B,</a:t>
            </a:r>
            <a:r>
              <a:rPr sz="2000" i="1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some_aggregation_function</a:t>
            </a:r>
            <a:endParaRPr sz="2000">
              <a:latin typeface="Courier New"/>
              <a:cs typeface="Courier New"/>
            </a:endParaRPr>
          </a:p>
          <a:p>
            <a:pPr marL="244475">
              <a:lnSpc>
                <a:spcPts val="2195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2000">
              <a:latin typeface="Courier New"/>
              <a:cs typeface="Courier New"/>
            </a:endParaRPr>
          </a:p>
          <a:p>
            <a:pPr marL="244475">
              <a:lnSpc>
                <a:spcPts val="2290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2000" spc="6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2000" i="1" spc="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column_B</a:t>
            </a:r>
            <a:endParaRPr sz="20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653" y="3415931"/>
            <a:ext cx="462779" cy="4373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6901" y="4917948"/>
            <a:ext cx="95059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5554" y="4917948"/>
            <a:ext cx="696023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solidFill>
                  <a:srgbClr val="292934"/>
                </a:solidFill>
                <a:latin typeface="Courier New"/>
                <a:cs typeface="Courier New"/>
              </a:rPr>
              <a:t>column_A,</a:t>
            </a:r>
            <a:r>
              <a:rPr sz="2000" i="1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dirty="0">
                <a:solidFill>
                  <a:srgbClr val="292934"/>
                </a:solidFill>
                <a:latin typeface="Courier New"/>
                <a:cs typeface="Courier New"/>
              </a:rPr>
              <a:t>column_B,</a:t>
            </a:r>
            <a:r>
              <a:rPr sz="2000" i="1" spc="1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some_aggregation_function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6901" y="5198364"/>
            <a:ext cx="2645410" cy="60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00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table_source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90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Courier New"/>
                <a:cs typeface="Courier New"/>
              </a:rPr>
              <a:t>column_B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2063" y="4694650"/>
            <a:ext cx="9295765" cy="1379220"/>
            <a:chOff x="222063" y="4694650"/>
            <a:chExt cx="9295765" cy="1379220"/>
          </a:xfrm>
        </p:grpSpPr>
        <p:sp>
          <p:nvSpPr>
            <p:cNvPr id="10" name="object 10"/>
            <p:cNvSpPr/>
            <p:nvPr/>
          </p:nvSpPr>
          <p:spPr>
            <a:xfrm>
              <a:off x="974632" y="4704810"/>
              <a:ext cx="8533130" cy="1358900"/>
            </a:xfrm>
            <a:custGeom>
              <a:avLst/>
              <a:gdLst/>
              <a:ahLst/>
              <a:cxnLst/>
              <a:rect l="l" t="t" r="r" b="b"/>
              <a:pathLst>
                <a:path w="8533130" h="1358900">
                  <a:moveTo>
                    <a:pt x="0" y="0"/>
                  </a:moveTo>
                  <a:lnTo>
                    <a:pt x="8532793" y="0"/>
                  </a:lnTo>
                  <a:lnTo>
                    <a:pt x="8532793" y="1358535"/>
                  </a:lnTo>
                  <a:lnTo>
                    <a:pt x="0" y="1358535"/>
                  </a:lnTo>
                  <a:lnTo>
                    <a:pt x="0" y="0"/>
                  </a:lnTo>
                  <a:close/>
                </a:path>
              </a:pathLst>
            </a:custGeom>
            <a:ln w="2031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063" y="5018316"/>
              <a:ext cx="810890" cy="7663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740" y="319023"/>
            <a:ext cx="89001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Example:</a:t>
            </a:r>
            <a:r>
              <a:rPr spc="-240" dirty="0"/>
              <a:t> </a:t>
            </a:r>
            <a:r>
              <a:rPr spc="-95" dirty="0"/>
              <a:t>SUM</a:t>
            </a:r>
            <a:r>
              <a:rPr spc="-265" dirty="0"/>
              <a:t> </a:t>
            </a:r>
            <a:r>
              <a:rPr spc="-95" dirty="0"/>
              <a:t>with</a:t>
            </a:r>
            <a:r>
              <a:rPr spc="-250" dirty="0"/>
              <a:t> </a:t>
            </a:r>
            <a:r>
              <a:rPr spc="-110" dirty="0"/>
              <a:t>GROUP</a:t>
            </a:r>
            <a:r>
              <a:rPr spc="-245" dirty="0"/>
              <a:t> </a:t>
            </a:r>
            <a:r>
              <a:rPr spc="-25" dirty="0"/>
              <a:t>BY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990" y="1102263"/>
            <a:ext cx="6988809" cy="8324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Given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r>
              <a:rPr sz="2300" spc="1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endParaRPr sz="2300">
              <a:latin typeface="Verdana"/>
              <a:cs typeface="Verdana"/>
            </a:endParaRPr>
          </a:p>
          <a:p>
            <a:pPr marL="798195">
              <a:lnSpc>
                <a:spcPct val="100000"/>
              </a:lnSpc>
              <a:spcBef>
                <a:spcPts val="509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loan(</a:t>
            </a:r>
            <a:r>
              <a:rPr sz="21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Courier New"/>
                <a:cs typeface="Courier New"/>
              </a:rPr>
              <a:t>loan_number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100" spc="2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amount)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990" y="4621783"/>
            <a:ext cx="7453630" cy="650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2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branch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1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1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305344" y="2009989"/>
          <a:ext cx="5313045" cy="2433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loan_number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2863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amount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14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16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17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7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L-</a:t>
                      </a: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10698" y="5081206"/>
          <a:ext cx="3587750" cy="1824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SUM(amount)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Mianus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2800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Redwood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2000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Round</a:t>
                      </a:r>
                      <a:r>
                        <a:rPr sz="1600" spc="-5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Hill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8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70410" y="5453749"/>
            <a:ext cx="5155565" cy="123698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20014" rIns="0" bIns="0" rtlCol="0">
            <a:spAutoFit/>
          </a:bodyPr>
          <a:lstStyle/>
          <a:p>
            <a:pPr marL="236854" marR="134620">
              <a:lnSpc>
                <a:spcPct val="105000"/>
              </a:lnSpc>
              <a:spcBef>
                <a:spcPts val="944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1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  <a:p>
            <a:pPr marL="236854">
              <a:lnSpc>
                <a:spcPct val="100000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38" y="0"/>
            <a:ext cx="8675370" cy="1502305"/>
          </a:xfrm>
          <a:prstGeom prst="rect">
            <a:avLst/>
          </a:prstGeom>
        </p:spPr>
        <p:txBody>
          <a:bodyPr vert="horz" wrap="square" lIns="0" tIns="80772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sz="4100" spc="-130" dirty="0"/>
              <a:t>Grouping,</a:t>
            </a:r>
            <a:r>
              <a:rPr sz="4100" spc="-220" dirty="0"/>
              <a:t> </a:t>
            </a:r>
            <a:r>
              <a:rPr sz="4100" spc="-125" dirty="0"/>
              <a:t>Aggregation,</a:t>
            </a:r>
            <a:r>
              <a:rPr sz="4100" spc="-210" dirty="0"/>
              <a:t> </a:t>
            </a:r>
            <a:r>
              <a:rPr sz="4100" spc="-100" dirty="0"/>
              <a:t>and</a:t>
            </a:r>
            <a:r>
              <a:rPr sz="4100" spc="-225" dirty="0"/>
              <a:t> </a:t>
            </a:r>
            <a:r>
              <a:rPr sz="4100" spc="-85" dirty="0"/>
              <a:t>Null</a:t>
            </a:r>
            <a:endParaRPr sz="4100" dirty="0"/>
          </a:p>
        </p:txBody>
      </p:sp>
      <p:sp>
        <p:nvSpPr>
          <p:cNvPr id="3" name="object 3"/>
          <p:cNvSpPr txBox="1"/>
          <p:nvPr/>
        </p:nvSpPr>
        <p:spPr>
          <a:xfrm>
            <a:off x="462880" y="1274064"/>
            <a:ext cx="8888730" cy="442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95652"/>
              <a:buFont typeface="Arial MT"/>
              <a:buChar char="•"/>
              <a:tabLst>
                <a:tab pos="31686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ignored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endParaRPr sz="2300" dirty="0">
              <a:latin typeface="Verdana"/>
              <a:cs typeface="Verdana"/>
            </a:endParaRPr>
          </a:p>
          <a:p>
            <a:pPr marL="810260" lvl="1" indent="-311785">
              <a:lnSpc>
                <a:spcPct val="100000"/>
              </a:lnSpc>
              <a:spcBef>
                <a:spcPts val="1830"/>
              </a:spcBef>
              <a:buSzPct val="95238"/>
              <a:buFont typeface="Arial MT"/>
              <a:buChar char="•"/>
              <a:tabLst>
                <a:tab pos="81026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contribute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sum,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average,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2100" dirty="0">
              <a:latin typeface="Verdana"/>
              <a:cs typeface="Verdana"/>
            </a:endParaRPr>
          </a:p>
          <a:p>
            <a:pPr marL="810260" lvl="1" indent="-311785">
              <a:lnSpc>
                <a:spcPct val="100000"/>
              </a:lnSpc>
              <a:spcBef>
                <a:spcPts val="695"/>
              </a:spcBef>
              <a:buSzPct val="95238"/>
              <a:buFont typeface="Arial MT"/>
              <a:buChar char="•"/>
              <a:tabLst>
                <a:tab pos="81026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minimum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maximum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100" dirty="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292934"/>
              </a:buClr>
              <a:buFont typeface="Arial MT"/>
              <a:buChar char="•"/>
            </a:pPr>
            <a:endParaRPr sz="3000" dirty="0">
              <a:latin typeface="Verdana"/>
              <a:cs typeface="Verdana"/>
            </a:endParaRPr>
          </a:p>
          <a:p>
            <a:pPr marL="316865" indent="-304165">
              <a:lnSpc>
                <a:spcPct val="100000"/>
              </a:lnSpc>
              <a:buSzPct val="95652"/>
              <a:buFont typeface="Arial MT"/>
              <a:buChar char="•"/>
              <a:tabLst>
                <a:tab pos="31686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treated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ordinary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forming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groups</a:t>
            </a:r>
            <a:endParaRPr sz="2300" dirty="0">
              <a:latin typeface="Verdana"/>
              <a:cs typeface="Verdana"/>
            </a:endParaRPr>
          </a:p>
          <a:p>
            <a:pPr marL="810260" lvl="1" indent="-311785">
              <a:lnSpc>
                <a:spcPct val="100000"/>
              </a:lnSpc>
              <a:spcBef>
                <a:spcPts val="1735"/>
              </a:spcBef>
              <a:buSzPct val="95238"/>
              <a:buFont typeface="Arial MT"/>
              <a:buChar char="•"/>
              <a:tabLst>
                <a:tab pos="81026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attribute(s)</a:t>
            </a:r>
            <a:endParaRPr sz="2100" dirty="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292934"/>
              </a:buClr>
              <a:buFont typeface="Arial MT"/>
              <a:buChar char="•"/>
            </a:pPr>
            <a:endParaRPr sz="2950" dirty="0">
              <a:latin typeface="Verdana"/>
              <a:cs typeface="Verdana"/>
            </a:endParaRPr>
          </a:p>
          <a:p>
            <a:pPr marL="317500" marR="159385" indent="-304800">
              <a:lnSpc>
                <a:spcPct val="101699"/>
              </a:lnSpc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1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performing</a:t>
            </a:r>
            <a:r>
              <a:rPr sz="2300" spc="1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1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300" spc="1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except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300" spc="1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an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empty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bag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values,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result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2300" dirty="0">
              <a:latin typeface="Verdana"/>
              <a:cs typeface="Verdana"/>
            </a:endParaRPr>
          </a:p>
          <a:p>
            <a:pPr marL="810260" lvl="1" indent="-311785">
              <a:lnSpc>
                <a:spcPct val="100000"/>
              </a:lnSpc>
              <a:spcBef>
                <a:spcPts val="1835"/>
              </a:spcBef>
              <a:buSzPct val="95238"/>
              <a:buFont typeface="Arial MT"/>
              <a:buChar char="•"/>
              <a:tabLst>
                <a:tab pos="81026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empty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bag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56385" y="-1385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208407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HAVING</a:t>
            </a:r>
            <a:r>
              <a:rPr spc="-250" dirty="0"/>
              <a:t> </a:t>
            </a:r>
            <a:r>
              <a:rPr spc="-105"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880" y="1185671"/>
            <a:ext cx="8510905" cy="268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0955" indent="-304800">
              <a:lnSpc>
                <a:spcPct val="105200"/>
              </a:lnSpc>
              <a:spcBef>
                <a:spcPts val="100"/>
              </a:spcBef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applies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tuples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2300" spc="11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being</a:t>
            </a:r>
            <a:r>
              <a:rPr sz="23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tested</a:t>
            </a:r>
            <a:r>
              <a:rPr sz="23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–</a:t>
            </a:r>
            <a:r>
              <a:rPr sz="23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filter</a:t>
            </a:r>
            <a:r>
              <a:rPr sz="2300" spc="10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C00000"/>
                </a:solidFill>
                <a:latin typeface="Verdana"/>
                <a:cs typeface="Verdana"/>
              </a:rPr>
              <a:t>groups</a:t>
            </a:r>
            <a:endParaRPr sz="2300" dirty="0">
              <a:latin typeface="Verdana"/>
              <a:cs typeface="Verdana"/>
            </a:endParaRPr>
          </a:p>
          <a:p>
            <a:pPr marL="317500" marR="95885" indent="-304800">
              <a:lnSpc>
                <a:spcPct val="101699"/>
              </a:lnSpc>
              <a:spcBef>
                <a:spcPts val="1870"/>
              </a:spcBef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3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aggregated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3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300" dirty="0">
              <a:latin typeface="Verdana"/>
              <a:cs typeface="Verdana"/>
            </a:endParaRPr>
          </a:p>
          <a:p>
            <a:pPr marL="317500" marR="5080" indent="-304800">
              <a:lnSpc>
                <a:spcPct val="101699"/>
              </a:lnSpc>
              <a:spcBef>
                <a:spcPts val="1995"/>
              </a:spcBef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But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those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list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3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unaggregated</a:t>
            </a:r>
            <a:r>
              <a:rPr sz="2300" spc="1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having</a:t>
            </a:r>
            <a:r>
              <a:rPr sz="2300" spc="1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300" dirty="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75863" y="5603726"/>
          <a:ext cx="3587750" cy="91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branch_name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SUM(amount)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Downtown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2500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Perryridge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600" spc="-2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2800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35990" y="4710176"/>
            <a:ext cx="8354695" cy="650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28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sum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amounts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loans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branch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has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loan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expressed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490" y="5401495"/>
            <a:ext cx="5190490" cy="1515745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153035" rIns="0" bIns="0" rtlCol="0">
            <a:spAutoFit/>
          </a:bodyPr>
          <a:lstStyle/>
          <a:p>
            <a:pPr marL="219075" marR="186055">
              <a:lnSpc>
                <a:spcPts val="2180"/>
              </a:lnSpc>
              <a:spcBef>
                <a:spcPts val="1205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000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branch_name,</a:t>
            </a:r>
            <a:r>
              <a:rPr sz="2000" spc="1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sum(amount)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000" spc="5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Courier New"/>
                <a:cs typeface="Courier New"/>
              </a:rPr>
              <a:t>loan</a:t>
            </a:r>
            <a:endParaRPr sz="2000">
              <a:latin typeface="Courier New"/>
              <a:cs typeface="Courier New"/>
            </a:endParaRPr>
          </a:p>
          <a:p>
            <a:pPr marL="219075">
              <a:lnSpc>
                <a:spcPts val="2370"/>
              </a:lnSpc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0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Courier New"/>
                <a:cs typeface="Courier New"/>
              </a:rPr>
              <a:t>branch_name</a:t>
            </a:r>
            <a:endParaRPr sz="2000">
              <a:latin typeface="Courier New"/>
              <a:cs typeface="Courier New"/>
            </a:endParaRPr>
          </a:p>
          <a:p>
            <a:pPr marL="21907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HAVING</a:t>
            </a:r>
            <a:r>
              <a:rPr sz="2000" spc="8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COUNT(branch_name)</a:t>
            </a:r>
            <a:r>
              <a:rPr sz="2000" spc="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292934"/>
                </a:solidFill>
                <a:latin typeface="Courier New"/>
                <a:cs typeface="Courier New"/>
              </a:rPr>
              <a:t>&gt;</a:t>
            </a:r>
            <a:r>
              <a:rPr sz="2000" spc="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Courier New"/>
                <a:cs typeface="Courier New"/>
              </a:rPr>
              <a:t>1;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362200" y="83353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2966085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</a:t>
            </a:r>
            <a:r>
              <a:rPr spc="-229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989" y="1225296"/>
            <a:ext cx="8880475" cy="72072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2710"/>
              </a:lnSpc>
              <a:spcBef>
                <a:spcPts val="229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country.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include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countries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than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10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58449" y="4192937"/>
          <a:ext cx="3309620" cy="121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count(id)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Country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France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Germany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13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USA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03370" y="3088640"/>
            <a:ext cx="4076700" cy="130873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100" spc="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count(id),</a:t>
            </a:r>
            <a:r>
              <a:rPr sz="2100" spc="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country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FROM</a:t>
            </a:r>
            <a:r>
              <a:rPr sz="2100" spc="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endParaRPr sz="2100">
              <a:latin typeface="Courier New"/>
              <a:cs typeface="Courier New"/>
            </a:endParaRPr>
          </a:p>
          <a:p>
            <a:pPr marR="492125">
              <a:lnSpc>
                <a:spcPts val="2500"/>
              </a:lnSpc>
              <a:spcBef>
                <a:spcPts val="75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GROUP</a:t>
            </a:r>
            <a:r>
              <a:rPr sz="2100" spc="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1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country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HAVING</a:t>
            </a:r>
            <a:r>
              <a:rPr sz="2100" spc="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COUNT(id)</a:t>
            </a:r>
            <a:r>
              <a:rPr sz="2100" spc="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&gt;</a:t>
            </a:r>
            <a:r>
              <a:rPr sz="2100" spc="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Courier New"/>
                <a:cs typeface="Courier New"/>
              </a:rPr>
              <a:t>10;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6829" y="2963091"/>
            <a:ext cx="4632960" cy="1637664"/>
          </a:xfrm>
          <a:custGeom>
            <a:avLst/>
            <a:gdLst/>
            <a:ahLst/>
            <a:cxnLst/>
            <a:rect l="l" t="t" r="r" b="b"/>
            <a:pathLst>
              <a:path w="4632960" h="1637664">
                <a:moveTo>
                  <a:pt x="0" y="0"/>
                </a:moveTo>
                <a:lnTo>
                  <a:pt x="4632961" y="0"/>
                </a:lnTo>
                <a:lnTo>
                  <a:pt x="4632961" y="1637210"/>
                </a:lnTo>
                <a:lnTo>
                  <a:pt x="0" y="1637210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293825" y="-47148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2966085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Example</a:t>
            </a:r>
            <a:r>
              <a:rPr spc="-229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989" y="1225296"/>
            <a:ext cx="8862060" cy="10617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97800"/>
              </a:lnSpc>
              <a:spcBef>
                <a:spcPts val="16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List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country,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except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USA,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sorted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high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low.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countries</a:t>
            </a:r>
            <a:r>
              <a:rPr sz="23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9</a:t>
            </a:r>
            <a:r>
              <a:rPr sz="23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3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more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customers</a:t>
            </a:r>
            <a:endParaRPr sz="23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841029" y="4541280"/>
          <a:ext cx="3587750" cy="121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1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count(id)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Country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France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11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Germany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D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9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600" spc="-10" dirty="0">
                          <a:solidFill>
                            <a:srgbClr val="292934"/>
                          </a:solidFill>
                          <a:latin typeface="Verdana"/>
                          <a:cs typeface="Verdana"/>
                        </a:rPr>
                        <a:t>Brazil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8DB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8538" y="3070352"/>
            <a:ext cx="40767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SELECT</a:t>
            </a:r>
            <a:r>
              <a:rPr sz="2100" spc="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COUNT(id),</a:t>
            </a:r>
            <a:r>
              <a:rPr sz="2100" spc="1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country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1306" y="3399535"/>
            <a:ext cx="277622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51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Customer</a:t>
            </a:r>
            <a:endParaRPr sz="2100">
              <a:latin typeface="Courier New"/>
              <a:cs typeface="Courier New"/>
            </a:endParaRPr>
          </a:p>
          <a:p>
            <a:pPr marL="161925">
              <a:lnSpc>
                <a:spcPts val="2510"/>
              </a:lnSpc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country</a:t>
            </a:r>
            <a:r>
              <a:rPr sz="2100" spc="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&lt;&gt;</a:t>
            </a:r>
            <a:r>
              <a:rPr sz="2100" spc="9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“USA”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8538" y="3399535"/>
            <a:ext cx="825500" cy="97980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R="5080">
              <a:lnSpc>
                <a:spcPts val="2500"/>
              </a:lnSpc>
              <a:spcBef>
                <a:spcPts val="200"/>
              </a:spcBef>
            </a:pPr>
            <a:r>
              <a:rPr sz="2100" spc="-20" dirty="0">
                <a:solidFill>
                  <a:srgbClr val="292934"/>
                </a:solidFill>
                <a:latin typeface="Courier New"/>
                <a:cs typeface="Courier New"/>
              </a:rPr>
              <a:t>FROM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WHERE GROUP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43860" y="4033520"/>
            <a:ext cx="16383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country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8538" y="4682744"/>
            <a:ext cx="29387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ORDER</a:t>
            </a:r>
            <a:r>
              <a:rPr sz="2100" spc="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BY</a:t>
            </a:r>
            <a:r>
              <a:rPr sz="2100" spc="7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COUNT(id)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8538" y="4353559"/>
            <a:ext cx="391414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HAVING</a:t>
            </a:r>
            <a:r>
              <a:rPr sz="2100" spc="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COUNT(id)</a:t>
            </a:r>
            <a:r>
              <a:rPr sz="2100" spc="1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292934"/>
                </a:solidFill>
                <a:latin typeface="Courier New"/>
                <a:cs typeface="Courier New"/>
              </a:rPr>
              <a:t>&gt;=</a:t>
            </a:r>
            <a:r>
              <a:rPr sz="2100" spc="10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-50" dirty="0">
                <a:solidFill>
                  <a:srgbClr val="292934"/>
                </a:solidFill>
                <a:latin typeface="Courier New"/>
                <a:cs typeface="Courier New"/>
              </a:rPr>
              <a:t>9</a:t>
            </a:r>
            <a:endParaRPr sz="2100">
              <a:latin typeface="Courier New"/>
              <a:cs typeface="Courier New"/>
            </a:endParaRPr>
          </a:p>
          <a:p>
            <a:pPr marL="3088005">
              <a:lnSpc>
                <a:spcPct val="100000"/>
              </a:lnSpc>
              <a:spcBef>
                <a:spcPts val="70"/>
              </a:spcBef>
            </a:pPr>
            <a:r>
              <a:rPr sz="2100" spc="-10" dirty="0">
                <a:solidFill>
                  <a:srgbClr val="292934"/>
                </a:solidFill>
                <a:latin typeface="Courier New"/>
                <a:cs typeface="Courier New"/>
              </a:rPr>
              <a:t>DESC;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7162" y="3015348"/>
            <a:ext cx="4650740" cy="2160270"/>
          </a:xfrm>
          <a:custGeom>
            <a:avLst/>
            <a:gdLst/>
            <a:ahLst/>
            <a:cxnLst/>
            <a:rect l="l" t="t" r="r" b="b"/>
            <a:pathLst>
              <a:path w="4650740" h="2160270">
                <a:moveTo>
                  <a:pt x="0" y="0"/>
                </a:moveTo>
                <a:lnTo>
                  <a:pt x="4650378" y="0"/>
                </a:lnTo>
                <a:lnTo>
                  <a:pt x="4650378" y="2159719"/>
                </a:lnTo>
                <a:lnTo>
                  <a:pt x="0" y="215971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014" y="0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Final</a:t>
            </a:r>
            <a:r>
              <a:rPr spc="-260" dirty="0"/>
              <a:t> </a:t>
            </a:r>
            <a:r>
              <a:rPr spc="-100" dirty="0"/>
              <a:t>Notes</a:t>
            </a:r>
            <a:r>
              <a:rPr spc="-260" dirty="0"/>
              <a:t> </a:t>
            </a:r>
            <a:r>
              <a:rPr spc="-100" dirty="0"/>
              <a:t>about</a:t>
            </a:r>
            <a:r>
              <a:rPr spc="-254" dirty="0"/>
              <a:t> </a:t>
            </a:r>
            <a:r>
              <a:rPr spc="-120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639" y="1222247"/>
            <a:ext cx="74510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#1:</a:t>
            </a:r>
            <a:r>
              <a:rPr sz="2300" spc="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Keep</a:t>
            </a:r>
            <a:r>
              <a:rPr sz="2300" spc="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the</a:t>
            </a:r>
            <a:r>
              <a:rPr sz="23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GROUP</a:t>
            </a:r>
            <a:r>
              <a:rPr sz="2300" spc="11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BY</a:t>
            </a:r>
            <a:r>
              <a:rPr sz="2300" spc="10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clause</a:t>
            </a:r>
            <a:r>
              <a:rPr sz="2300" spc="11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small</a:t>
            </a:r>
            <a:r>
              <a:rPr sz="2300" spc="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300" spc="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C00000"/>
                </a:solidFill>
                <a:latin typeface="Verdana"/>
                <a:cs typeface="Verdana"/>
              </a:rPr>
              <a:t>precise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639" y="2515615"/>
            <a:ext cx="8931910" cy="328104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06375" marR="287020" indent="-194310">
              <a:lnSpc>
                <a:spcPct val="103800"/>
              </a:lnSpc>
              <a:spcBef>
                <a:spcPts val="5"/>
              </a:spcBef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Several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DBMSs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require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non-aggregated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must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clause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000" dirty="0">
              <a:latin typeface="Verdana"/>
              <a:cs typeface="Verdana"/>
            </a:endParaRPr>
          </a:p>
          <a:p>
            <a:pPr marL="206375" marR="727075" indent="-194310">
              <a:lnSpc>
                <a:spcPct val="103299"/>
              </a:lnSpc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Excessive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columns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negatively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impact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the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query’s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performance;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hard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read,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understand,</a:t>
            </a:r>
            <a:r>
              <a:rPr sz="2100" spc="1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rewrite</a:t>
            </a:r>
            <a:endParaRPr sz="2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050" dirty="0">
              <a:latin typeface="Verdana"/>
              <a:cs typeface="Verdana"/>
            </a:endParaRPr>
          </a:p>
          <a:p>
            <a:pPr marL="206375" marR="5080" indent="-194310">
              <a:lnSpc>
                <a:spcPct val="101400"/>
              </a:lnSpc>
              <a:spcBef>
                <a:spcPts val="5"/>
              </a:spcBef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queries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aggregations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details,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all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aggregations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first,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then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join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those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to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retrieve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details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396" y="-100411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Final</a:t>
            </a:r>
            <a:r>
              <a:rPr spc="-260" dirty="0"/>
              <a:t> </a:t>
            </a:r>
            <a:r>
              <a:rPr spc="-100" dirty="0"/>
              <a:t>Notes</a:t>
            </a:r>
            <a:r>
              <a:rPr spc="-260" dirty="0"/>
              <a:t> </a:t>
            </a:r>
            <a:r>
              <a:rPr spc="-100" dirty="0"/>
              <a:t>about</a:t>
            </a:r>
            <a:r>
              <a:rPr spc="-254" dirty="0"/>
              <a:t> </a:t>
            </a:r>
            <a:r>
              <a:rPr spc="-120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639" y="1222247"/>
            <a:ext cx="88855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#2:</a:t>
            </a:r>
            <a:r>
              <a:rPr sz="2300" spc="2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COUNT(*)</a:t>
            </a:r>
            <a:r>
              <a:rPr sz="2300" spc="2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300" spc="2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COUNT(</a:t>
            </a:r>
            <a:r>
              <a:rPr sz="2300" i="1" dirty="0">
                <a:solidFill>
                  <a:srgbClr val="C00000"/>
                </a:solidFill>
                <a:latin typeface="Verdana"/>
                <a:cs typeface="Verdana"/>
              </a:rPr>
              <a:t>&lt;column_name&gt;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)</a:t>
            </a:r>
            <a:r>
              <a:rPr sz="2300" spc="2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are</a:t>
            </a:r>
            <a:r>
              <a:rPr sz="2300" spc="229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C00000"/>
                </a:solidFill>
                <a:latin typeface="Verdana"/>
                <a:cs typeface="Verdana"/>
              </a:rPr>
              <a:t>different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639" y="2515615"/>
            <a:ext cx="8604885" cy="2430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100"/>
              </a:spcBef>
              <a:buSzPct val="95238"/>
              <a:buFont typeface="Arial MT"/>
              <a:buChar char="•"/>
              <a:tabLst>
                <a:tab pos="20701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COUNT(*)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rows,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including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ones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06375" marR="300990" indent="-194310">
              <a:lnSpc>
                <a:spcPct val="111400"/>
              </a:lnSpc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COUNT(&lt;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column_name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&gt;)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where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the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206375" marR="5080" indent="-194310">
              <a:lnSpc>
                <a:spcPct val="111400"/>
              </a:lnSpc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Sometimes,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dividing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query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subqueies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more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efficient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than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using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GROUP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(more</a:t>
            </a:r>
            <a:r>
              <a:rPr sz="17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about</a:t>
            </a:r>
            <a:r>
              <a:rPr sz="17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subqueries</a:t>
            </a:r>
            <a:r>
              <a:rPr sz="17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next</a:t>
            </a:r>
            <a:r>
              <a:rPr sz="17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week)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9639" y="10847"/>
            <a:ext cx="8675370" cy="1502305"/>
          </a:xfrm>
          <a:prstGeom prst="rect">
            <a:avLst/>
          </a:prstGeom>
        </p:spPr>
        <p:txBody>
          <a:bodyPr vert="horz" wrap="square" lIns="0" tIns="64516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Final</a:t>
            </a:r>
            <a:r>
              <a:rPr spc="-260" dirty="0"/>
              <a:t> </a:t>
            </a:r>
            <a:r>
              <a:rPr spc="-100" dirty="0"/>
              <a:t>Notes</a:t>
            </a:r>
            <a:r>
              <a:rPr spc="-260" dirty="0"/>
              <a:t> </a:t>
            </a:r>
            <a:r>
              <a:rPr spc="-100" dirty="0"/>
              <a:t>about</a:t>
            </a:r>
            <a:r>
              <a:rPr spc="-254" dirty="0"/>
              <a:t> </a:t>
            </a:r>
            <a:r>
              <a:rPr spc="-120" dirty="0"/>
              <a:t>Aggregation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639" y="1222247"/>
            <a:ext cx="61004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#3:</a:t>
            </a:r>
            <a:r>
              <a:rPr sz="2300" spc="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Use</a:t>
            </a:r>
            <a:r>
              <a:rPr sz="2300" spc="1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DISTINCT</a:t>
            </a:r>
            <a:r>
              <a:rPr sz="2300" spc="1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to</a:t>
            </a:r>
            <a:r>
              <a:rPr sz="2300" spc="1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get</a:t>
            </a:r>
            <a:r>
              <a:rPr sz="2300" spc="11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C00000"/>
                </a:solidFill>
                <a:latin typeface="Verdana"/>
                <a:cs typeface="Verdana"/>
              </a:rPr>
              <a:t>distinct</a:t>
            </a:r>
            <a:r>
              <a:rPr sz="2300" spc="114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C00000"/>
                </a:solidFill>
                <a:latin typeface="Verdana"/>
                <a:cs typeface="Verdana"/>
              </a:rPr>
              <a:t>counts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222" y="2518663"/>
            <a:ext cx="8838565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marR="232410" indent="-194310">
              <a:lnSpc>
                <a:spcPct val="110500"/>
              </a:lnSpc>
              <a:spcBef>
                <a:spcPts val="100"/>
              </a:spcBef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COUNT(*)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returns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group,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including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duplicates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050">
              <a:latin typeface="Verdana"/>
              <a:cs typeface="Verdana"/>
            </a:endParaRPr>
          </a:p>
          <a:p>
            <a:pPr marL="206375" marR="5080" indent="-194310">
              <a:lnSpc>
                <a:spcPct val="115199"/>
              </a:lnSpc>
              <a:spcBef>
                <a:spcPts val="5"/>
              </a:spcBef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COUNT(&lt;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column_name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&gt;)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returns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where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292934"/>
              </a:buClr>
              <a:buFont typeface="Arial MT"/>
              <a:buChar char="•"/>
            </a:pPr>
            <a:endParaRPr sz="1950">
              <a:latin typeface="Verdana"/>
              <a:cs typeface="Verdana"/>
            </a:endParaRPr>
          </a:p>
          <a:p>
            <a:pPr marL="206375" marR="223520" indent="-194310">
              <a:lnSpc>
                <a:spcPct val="115199"/>
              </a:lnSpc>
              <a:buSzPct val="95238"/>
              <a:buFont typeface="Arial MT"/>
              <a:buChar char="•"/>
              <a:tabLst>
                <a:tab pos="207645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COUNT(DISTINCT</a:t>
            </a:r>
            <a:r>
              <a:rPr sz="21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&lt;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column_name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&gt;)</a:t>
            </a:r>
            <a:r>
              <a:rPr sz="21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returns</a:t>
            </a:r>
            <a:r>
              <a:rPr sz="21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1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of 	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rows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unique,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non-null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column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995" y="311762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0" dirty="0"/>
              <a:t>Wrap-</a:t>
            </a:r>
            <a:r>
              <a:rPr spc="-95" dirty="0"/>
              <a:t>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9639" y="1307591"/>
            <a:ext cx="8803640" cy="455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00"/>
              </a:spcBef>
              <a:buSzPct val="95652"/>
              <a:buFont typeface="Arial MT"/>
              <a:buChar char="•"/>
              <a:tabLst>
                <a:tab pos="31686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300" spc="2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functions</a:t>
            </a:r>
            <a:endParaRPr sz="2300">
              <a:latin typeface="Verdana"/>
              <a:cs typeface="Verdana"/>
            </a:endParaRPr>
          </a:p>
          <a:p>
            <a:pPr marL="316865" indent="-304165">
              <a:lnSpc>
                <a:spcPct val="100000"/>
              </a:lnSpc>
              <a:spcBef>
                <a:spcPts val="1845"/>
              </a:spcBef>
              <a:buSzPct val="95652"/>
              <a:buFont typeface="Arial MT"/>
              <a:buChar char="•"/>
              <a:tabLst>
                <a:tab pos="31686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Order</a:t>
            </a:r>
            <a:r>
              <a:rPr sz="23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actions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matter</a:t>
            </a:r>
            <a:r>
              <a:rPr sz="23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1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applying</a:t>
            </a:r>
            <a:r>
              <a:rPr sz="2300" spc="1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endParaRPr sz="2300">
              <a:latin typeface="Verdana"/>
              <a:cs typeface="Verdana"/>
            </a:endParaRPr>
          </a:p>
          <a:p>
            <a:pPr marL="317500" marR="5080" indent="-304800">
              <a:lnSpc>
                <a:spcPct val="101699"/>
              </a:lnSpc>
              <a:spcBef>
                <a:spcPts val="1685"/>
              </a:spcBef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Aggregation</a:t>
            </a:r>
            <a:r>
              <a:rPr sz="2300" spc="1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helps</a:t>
            </a:r>
            <a:r>
              <a:rPr sz="2300" spc="1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300" spc="1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decisions</a:t>
            </a:r>
            <a:r>
              <a:rPr sz="2300" spc="1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1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succinctly</a:t>
            </a:r>
            <a:r>
              <a:rPr sz="23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convey information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292934"/>
              </a:buClr>
              <a:buFont typeface="Arial MT"/>
              <a:buChar char="•"/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20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316865" indent="-304165">
              <a:lnSpc>
                <a:spcPct val="100000"/>
              </a:lnSpc>
              <a:spcBef>
                <a:spcPts val="1750"/>
              </a:spcBef>
              <a:buSzPct val="95652"/>
              <a:buFont typeface="Arial MT"/>
              <a:buChar char="•"/>
              <a:tabLst>
                <a:tab pos="31686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SQL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Joins</a:t>
            </a:r>
            <a:endParaRPr sz="2300">
              <a:latin typeface="Verdana"/>
              <a:cs typeface="Verdana"/>
            </a:endParaRPr>
          </a:p>
          <a:p>
            <a:pPr marL="317500" marR="650875" indent="-304800">
              <a:lnSpc>
                <a:spcPct val="101699"/>
              </a:lnSpc>
              <a:spcBef>
                <a:spcPts val="1780"/>
              </a:spcBef>
              <a:buSzPct val="95652"/>
              <a:buFont typeface="Arial MT"/>
              <a:buChar char="•"/>
              <a:tabLst>
                <a:tab pos="31750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Combine</a:t>
            </a:r>
            <a:r>
              <a:rPr sz="23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techniques</a:t>
            </a:r>
            <a:r>
              <a:rPr sz="23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(aggregates</a:t>
            </a:r>
            <a:r>
              <a:rPr sz="2300" spc="1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spc="1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joins)</a:t>
            </a:r>
            <a:r>
              <a:rPr sz="2300" spc="1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1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solve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complex</a:t>
            </a:r>
            <a:r>
              <a:rPr sz="2300" spc="1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questions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2123-DC3F-1A19-C9F5-410AECF1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Zybook</a:t>
            </a:r>
            <a:r>
              <a:rPr lang="en-US" dirty="0"/>
              <a:t>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7D06-138D-0801-0D40-E801A98F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do 2.14-2.16, 2.19 in class</a:t>
            </a:r>
          </a:p>
          <a:p>
            <a:r>
              <a:rPr lang="en-US" dirty="0"/>
              <a:t>At home task:2.17-18, 2.20-21</a:t>
            </a:r>
          </a:p>
        </p:txBody>
      </p:sp>
    </p:spTree>
    <p:extLst>
      <p:ext uri="{BB962C8B-B14F-4D97-AF65-F5344CB8AC3E}">
        <p14:creationId xmlns:p14="http://schemas.microsoft.com/office/powerpoint/2010/main" val="1843802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7436</TotalTime>
  <Words>2291</Words>
  <Application>Microsoft Macintosh PowerPoint</Application>
  <PresentationFormat>Custom</PresentationFormat>
  <Paragraphs>564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Arial MT</vt:lpstr>
      <vt:lpstr>Calibri</vt:lpstr>
      <vt:lpstr>Calibri Light</vt:lpstr>
      <vt:lpstr>Courier New</vt:lpstr>
      <vt:lpstr>Times New Roman</vt:lpstr>
      <vt:lpstr>Verdana</vt:lpstr>
      <vt:lpstr>Office Theme</vt:lpstr>
      <vt:lpstr>SQL – Basics  (More Practice)</vt:lpstr>
      <vt:lpstr>Course Update</vt:lpstr>
      <vt:lpstr>Course Update</vt:lpstr>
      <vt:lpstr>Example 1: Translate and Clean Up</vt:lpstr>
      <vt:lpstr>Example 1: Translate and Clean Up</vt:lpstr>
      <vt:lpstr>Example 2: Translate and Clean Up</vt:lpstr>
      <vt:lpstr>Example 2: Translate and Clean Up</vt:lpstr>
      <vt:lpstr>Recap 1: SELECT .. FROM .. WHERE</vt:lpstr>
      <vt:lpstr>Recap 2: SELECT .. FROM .. WHERE</vt:lpstr>
      <vt:lpstr>Recap 3: SELECT .. FROM .. WHERE</vt:lpstr>
      <vt:lpstr>Recap 4: SELECT .. FROM .. WHERE</vt:lpstr>
      <vt:lpstr>Recap 5: SELECT .. FROM .. WHERE</vt:lpstr>
      <vt:lpstr>Aggregation Functions</vt:lpstr>
      <vt:lpstr>Example: SUM</vt:lpstr>
      <vt:lpstr>Example: AVG</vt:lpstr>
      <vt:lpstr>Example: MIN</vt:lpstr>
      <vt:lpstr>Example: MAX</vt:lpstr>
      <vt:lpstr>Example: COUNT</vt:lpstr>
      <vt:lpstr>Example: COUNT .. DISTINCT</vt:lpstr>
      <vt:lpstr>Aggregation: Order of Actions</vt:lpstr>
      <vt:lpstr>Grouping Requirement</vt:lpstr>
      <vt:lpstr>Example: SUM with GROUP BY</vt:lpstr>
      <vt:lpstr>Grouping, Aggregation, and Null</vt:lpstr>
      <vt:lpstr>HAVING Clauses</vt:lpstr>
      <vt:lpstr>Example 1</vt:lpstr>
      <vt:lpstr>Example 2</vt:lpstr>
      <vt:lpstr>Final Notes about Aggregation</vt:lpstr>
      <vt:lpstr>Final Notes about Aggregation</vt:lpstr>
      <vt:lpstr>Final Notes about Aggregation</vt:lpstr>
      <vt:lpstr>Wrap-Up</vt:lpstr>
      <vt:lpstr>Zybook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4750meet13-more-select-before-class</dc:title>
  <dc:creator>upsorn</dc:creator>
  <cp:lastModifiedBy>Farhan Tanvir</cp:lastModifiedBy>
  <cp:revision>41</cp:revision>
  <dcterms:created xsi:type="dcterms:W3CDTF">2023-09-18T19:37:05Z</dcterms:created>
  <dcterms:modified xsi:type="dcterms:W3CDTF">2026-02-05T13:43:47Z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2023-09-17T00:00:00Z</vt:filetime>
  </property>
  <property fmtid="{D5CDD505-2E9C-101B-9397-08002B2CF9AE}" pid="3" name="Creator">
    <vt:lpwstr>PowerPoint</vt:lpwstr>
  </property>
  <property fmtid="{D5CDD505-2E9C-101B-9397-08002B2CF9AE}" pid="4" name="LastSaved">
    <vt:filetime>2023-09-18T00:00:00Z</vt:filetime>
  </property>
</Properties>
</file>