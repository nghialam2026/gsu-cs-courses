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07" d="100"/>
          <a:sy n="107" d="100"/>
        </p:scale>
        <p:origin x="164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2627" y="1705277"/>
            <a:ext cx="5882640" cy="593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0000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65" dirty="0"/>
              <a:t> </a:t>
            </a:r>
            <a:r>
              <a:rPr spc="-75" dirty="0"/>
              <a:t>Praphamontripong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Spring</a:t>
            </a:r>
            <a:r>
              <a:rPr spc="-50" dirty="0"/>
              <a:t> </a:t>
            </a:r>
            <a:r>
              <a:rPr spc="-35" dirty="0"/>
              <a:t>2026</a:t>
            </a:r>
            <a:r>
              <a:rPr spc="-5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30" dirty="0"/>
              <a:t>University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000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65" dirty="0"/>
              <a:t> </a:t>
            </a:r>
            <a:r>
              <a:rPr spc="-75" dirty="0"/>
              <a:t>Praphamontripong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Spring</a:t>
            </a:r>
            <a:r>
              <a:rPr spc="-50" dirty="0"/>
              <a:t> </a:t>
            </a:r>
            <a:r>
              <a:rPr spc="-35" dirty="0"/>
              <a:t>2026</a:t>
            </a:r>
            <a:r>
              <a:rPr spc="-5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30" dirty="0"/>
              <a:t>University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000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65" dirty="0"/>
              <a:t> </a:t>
            </a:r>
            <a:r>
              <a:rPr spc="-75" dirty="0"/>
              <a:t>Praphamontripong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Spring</a:t>
            </a:r>
            <a:r>
              <a:rPr spc="-50" dirty="0"/>
              <a:t> </a:t>
            </a:r>
            <a:r>
              <a:rPr spc="-35" dirty="0"/>
              <a:t>2026</a:t>
            </a:r>
            <a:r>
              <a:rPr spc="-5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30" dirty="0"/>
              <a:t>University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000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65" dirty="0"/>
              <a:t> </a:t>
            </a:r>
            <a:r>
              <a:rPr spc="-75" dirty="0"/>
              <a:t>Praphamontripong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Spring</a:t>
            </a:r>
            <a:r>
              <a:rPr spc="-50" dirty="0"/>
              <a:t> </a:t>
            </a:r>
            <a:r>
              <a:rPr spc="-35" dirty="0"/>
              <a:t>2026</a:t>
            </a:r>
            <a:r>
              <a:rPr spc="-5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30" dirty="0"/>
              <a:t>University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65" dirty="0"/>
              <a:t> </a:t>
            </a:r>
            <a:r>
              <a:rPr spc="-75" dirty="0"/>
              <a:t>Praphamontripong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Spring</a:t>
            </a:r>
            <a:r>
              <a:rPr spc="-50" dirty="0"/>
              <a:t> </a:t>
            </a:r>
            <a:r>
              <a:rPr spc="-35" dirty="0"/>
              <a:t>2026</a:t>
            </a:r>
            <a:r>
              <a:rPr spc="-5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30" dirty="0"/>
              <a:t>University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7192264"/>
            <a:ext cx="9601200" cy="288290"/>
          </a:xfrm>
          <a:custGeom>
            <a:avLst/>
            <a:gdLst/>
            <a:ahLst/>
            <a:cxnLst/>
            <a:rect l="l" t="t" r="r" b="b"/>
            <a:pathLst>
              <a:path w="9601200" h="288290">
                <a:moveTo>
                  <a:pt x="9601200" y="0"/>
                </a:moveTo>
                <a:lnTo>
                  <a:pt x="0" y="0"/>
                </a:lnTo>
                <a:lnTo>
                  <a:pt x="0" y="288035"/>
                </a:lnTo>
                <a:lnTo>
                  <a:pt x="9601200" y="288035"/>
                </a:lnTo>
                <a:lnTo>
                  <a:pt x="9601200" y="0"/>
                </a:lnTo>
                <a:close/>
              </a:path>
            </a:pathLst>
          </a:custGeom>
          <a:solidFill>
            <a:srgbClr val="0012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8600" y="1158563"/>
            <a:ext cx="9601200" cy="0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199" y="1"/>
                </a:lnTo>
              </a:path>
            </a:pathLst>
          </a:custGeom>
          <a:ln w="30003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8600" y="279400"/>
            <a:ext cx="9601200" cy="864235"/>
          </a:xfrm>
          <a:custGeom>
            <a:avLst/>
            <a:gdLst/>
            <a:ahLst/>
            <a:cxnLst/>
            <a:rect l="l" t="t" r="r" b="b"/>
            <a:pathLst>
              <a:path w="9601200" h="864235">
                <a:moveTo>
                  <a:pt x="9601200" y="0"/>
                </a:moveTo>
                <a:lnTo>
                  <a:pt x="0" y="0"/>
                </a:lnTo>
                <a:lnTo>
                  <a:pt x="0" y="864107"/>
                </a:lnTo>
                <a:lnTo>
                  <a:pt x="9601200" y="864107"/>
                </a:lnTo>
                <a:lnTo>
                  <a:pt x="9601200" y="0"/>
                </a:lnTo>
                <a:close/>
              </a:path>
            </a:pathLst>
          </a:custGeom>
          <a:solidFill>
            <a:srgbClr val="E6E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600" y="373379"/>
            <a:ext cx="960120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0000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3792" y="1302511"/>
            <a:ext cx="7381875" cy="188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47261" y="7223490"/>
            <a:ext cx="1167129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65" dirty="0"/>
              <a:t> </a:t>
            </a:r>
            <a:r>
              <a:rPr spc="-75" dirty="0"/>
              <a:t>Praphamontripong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1922" y="7226833"/>
            <a:ext cx="2101850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Spring</a:t>
            </a:r>
            <a:r>
              <a:rPr spc="-50" dirty="0"/>
              <a:t> </a:t>
            </a:r>
            <a:r>
              <a:rPr spc="-35" dirty="0"/>
              <a:t>2026</a:t>
            </a:r>
            <a:r>
              <a:rPr spc="-5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30" dirty="0"/>
              <a:t>University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503727" y="7260361"/>
            <a:ext cx="172084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7192264"/>
            <a:ext cx="9601200" cy="288290"/>
          </a:xfrm>
          <a:custGeom>
            <a:avLst/>
            <a:gdLst/>
            <a:ahLst/>
            <a:cxnLst/>
            <a:rect l="l" t="t" r="r" b="b"/>
            <a:pathLst>
              <a:path w="9601200" h="288290">
                <a:moveTo>
                  <a:pt x="9601200" y="0"/>
                </a:moveTo>
                <a:lnTo>
                  <a:pt x="0" y="0"/>
                </a:lnTo>
                <a:lnTo>
                  <a:pt x="0" y="288035"/>
                </a:lnTo>
                <a:lnTo>
                  <a:pt x="9601200" y="288035"/>
                </a:lnTo>
                <a:lnTo>
                  <a:pt x="9601200" y="0"/>
                </a:lnTo>
                <a:close/>
              </a:path>
            </a:pathLst>
          </a:custGeom>
          <a:solidFill>
            <a:srgbClr val="0012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52677" y="3639820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39" y="1"/>
                </a:lnTo>
              </a:path>
            </a:pathLst>
          </a:custGeom>
          <a:ln w="40004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31151" y="1706879"/>
            <a:ext cx="5599430" cy="167132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 marR="8890" indent="107314">
              <a:lnSpc>
                <a:spcPts val="6120"/>
              </a:lnSpc>
              <a:spcBef>
                <a:spcPts val="905"/>
              </a:spcBef>
            </a:pPr>
            <a:r>
              <a:rPr sz="5700" spc="-70" dirty="0"/>
              <a:t>More</a:t>
            </a:r>
            <a:r>
              <a:rPr sz="5700" spc="-409" dirty="0"/>
              <a:t> </a:t>
            </a:r>
            <a:r>
              <a:rPr sz="5700" spc="-20" dirty="0"/>
              <a:t>Practice </a:t>
            </a:r>
            <a:r>
              <a:rPr sz="5700" spc="-80" dirty="0"/>
              <a:t>3NF</a:t>
            </a:r>
            <a:r>
              <a:rPr sz="5700" spc="-400" dirty="0"/>
              <a:t> </a:t>
            </a:r>
            <a:r>
              <a:rPr sz="5700" spc="-65" dirty="0"/>
              <a:t>and</a:t>
            </a:r>
            <a:r>
              <a:rPr sz="5700" spc="-395" dirty="0"/>
              <a:t> </a:t>
            </a:r>
            <a:r>
              <a:rPr sz="5700" spc="-85" dirty="0"/>
              <a:t>BCNF</a:t>
            </a:r>
            <a:endParaRPr sz="5700"/>
          </a:p>
        </p:txBody>
      </p:sp>
      <p:sp>
        <p:nvSpPr>
          <p:cNvPr id="5" name="object 5"/>
          <p:cNvSpPr txBox="1"/>
          <p:nvPr/>
        </p:nvSpPr>
        <p:spPr>
          <a:xfrm>
            <a:off x="2511186" y="3995420"/>
            <a:ext cx="5050790" cy="118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ctr">
              <a:lnSpc>
                <a:spcPts val="4550"/>
              </a:lnSpc>
              <a:spcBef>
                <a:spcPts val="100"/>
              </a:spcBef>
            </a:pPr>
            <a:r>
              <a:rPr sz="4000" b="1" spc="-65">
                <a:solidFill>
                  <a:srgbClr val="292934"/>
                </a:solidFill>
                <a:latin typeface="Verdana"/>
                <a:cs typeface="Verdana"/>
              </a:rPr>
              <a:t>CS</a:t>
            </a:r>
            <a:r>
              <a:rPr sz="4000" b="1" spc="-275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000" b="1" spc="-20">
                <a:solidFill>
                  <a:srgbClr val="292934"/>
                </a:solidFill>
                <a:latin typeface="Verdana"/>
                <a:cs typeface="Verdana"/>
              </a:rPr>
              <a:t>47</a:t>
            </a:r>
            <a:r>
              <a:rPr lang="en-US" sz="4000" b="1" spc="-2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4000" b="1" spc="-20">
                <a:solidFill>
                  <a:srgbClr val="292934"/>
                </a:solidFill>
                <a:latin typeface="Verdana"/>
                <a:cs typeface="Verdana"/>
              </a:rPr>
              <a:t>0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ts val="4550"/>
              </a:lnSpc>
            </a:pPr>
            <a:r>
              <a:rPr sz="4000" b="1" spc="-135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4000" b="1" spc="-1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000" b="1" spc="-55" dirty="0">
                <a:solidFill>
                  <a:srgbClr val="292934"/>
                </a:solidFill>
                <a:latin typeface="Verdana"/>
                <a:cs typeface="Verdana"/>
              </a:rPr>
              <a:t>Systems</a:t>
            </a:r>
            <a:endParaRPr sz="4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1:</a:t>
            </a:r>
            <a:r>
              <a:rPr spc="-325" dirty="0"/>
              <a:t> </a:t>
            </a:r>
            <a:r>
              <a:rPr spc="-50" dirty="0"/>
              <a:t>3NF</a:t>
            </a:r>
            <a:r>
              <a:rPr spc="-295" dirty="0"/>
              <a:t> </a:t>
            </a:r>
            <a:r>
              <a:rPr spc="-50" dirty="0"/>
              <a:t>and</a:t>
            </a:r>
            <a:r>
              <a:rPr spc="-290" dirty="0"/>
              <a:t> </a:t>
            </a:r>
            <a:r>
              <a:rPr spc="-20" dirty="0"/>
              <a:t>BCNF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792" y="1275079"/>
            <a:ext cx="9049385" cy="10896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ct val="89100"/>
              </a:lnSpc>
              <a:spcBef>
                <a:spcPts val="34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Stocks(B,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Q,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D),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whose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be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thought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informally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broker,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office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(of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broker),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investor,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stock,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quantity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(of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stock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owned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investor),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dividend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(of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stock).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Let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Stocks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3792" y="2369311"/>
            <a:ext cx="636778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Q,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1.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Verify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minimal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basis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058" y="3317624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786" y="3579876"/>
            <a:ext cx="8914130" cy="325056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800" spc="-5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verify</a:t>
            </a:r>
            <a:r>
              <a:rPr sz="18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8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their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own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minimal</a:t>
            </a:r>
            <a:r>
              <a:rPr sz="18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basis,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check:</a:t>
            </a:r>
            <a:endParaRPr sz="1800">
              <a:latin typeface="Verdana"/>
              <a:cs typeface="Verdana"/>
            </a:endParaRPr>
          </a:p>
          <a:p>
            <a:pPr marL="678815" indent="-398145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678815" algn="l"/>
              </a:tabLst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removed</a:t>
            </a:r>
            <a:r>
              <a:rPr sz="18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without</a:t>
            </a:r>
            <a:r>
              <a:rPr sz="18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losing</a:t>
            </a:r>
            <a:r>
              <a:rPr sz="18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dependencies?</a:t>
            </a:r>
            <a:endParaRPr sz="1800">
              <a:latin typeface="Verdana"/>
              <a:cs typeface="Verdana"/>
            </a:endParaRPr>
          </a:p>
          <a:p>
            <a:pPr marL="1116330" marR="421640">
              <a:lnSpc>
                <a:spcPct val="106700"/>
              </a:lnSpc>
              <a:spcBef>
                <a:spcPts val="820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No.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8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remove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four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FDs,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remaining</a:t>
            </a:r>
            <a:r>
              <a:rPr sz="18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8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92934"/>
                </a:solidFill>
                <a:latin typeface="Verdana"/>
                <a:cs typeface="Verdana"/>
              </a:rPr>
              <a:t>do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8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imply</a:t>
            </a:r>
            <a:r>
              <a:rPr sz="18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removed</a:t>
            </a:r>
            <a:r>
              <a:rPr sz="18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92934"/>
                </a:solidFill>
                <a:latin typeface="Verdana"/>
                <a:cs typeface="Verdana"/>
              </a:rPr>
              <a:t>FD.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Verdana"/>
              <a:cs typeface="Verdana"/>
            </a:endParaRPr>
          </a:p>
          <a:p>
            <a:pPr marL="679450" marR="5080" indent="-398780">
              <a:lnSpc>
                <a:spcPts val="2110"/>
              </a:lnSpc>
              <a:buAutoNum type="arabicPeriod" startAt="2"/>
              <a:tabLst>
                <a:tab pos="679450" algn="l"/>
              </a:tabLst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removed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8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LHS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and/or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without</a:t>
            </a:r>
            <a:r>
              <a:rPr sz="18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losing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dependencies?</a:t>
            </a:r>
            <a:endParaRPr sz="1800">
              <a:latin typeface="Verdana"/>
              <a:cs typeface="Verdana"/>
            </a:endParaRPr>
          </a:p>
          <a:p>
            <a:pPr marL="1116330">
              <a:lnSpc>
                <a:spcPct val="100000"/>
              </a:lnSpc>
              <a:spcBef>
                <a:spcPts val="805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No.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remove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attribute,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lose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endParaRPr sz="1800">
              <a:latin typeface="Verdana"/>
              <a:cs typeface="Verdana"/>
            </a:endParaRPr>
          </a:p>
          <a:p>
            <a:pPr marL="44450">
              <a:lnSpc>
                <a:spcPct val="100000"/>
              </a:lnSpc>
              <a:spcBef>
                <a:spcPts val="2014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conclude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8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8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minimal</a:t>
            </a:r>
            <a:r>
              <a:rPr sz="18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Verdana"/>
                <a:cs typeface="Verdana"/>
              </a:rPr>
              <a:t>basis.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76098" y="2320671"/>
            <a:ext cx="2239645" cy="676910"/>
            <a:chOff x="7076098" y="2320671"/>
            <a:chExt cx="2239645" cy="676910"/>
          </a:xfrm>
        </p:grpSpPr>
        <p:sp>
          <p:nvSpPr>
            <p:cNvPr id="8" name="object 8"/>
            <p:cNvSpPr/>
            <p:nvPr/>
          </p:nvSpPr>
          <p:spPr>
            <a:xfrm>
              <a:off x="7089970" y="2334544"/>
              <a:ext cx="2212340" cy="648970"/>
            </a:xfrm>
            <a:custGeom>
              <a:avLst/>
              <a:gdLst/>
              <a:ahLst/>
              <a:cxnLst/>
              <a:rect l="l" t="t" r="r" b="b"/>
              <a:pathLst>
                <a:path w="2212340" h="648969">
                  <a:moveTo>
                    <a:pt x="2103784" y="0"/>
                  </a:moveTo>
                  <a:lnTo>
                    <a:pt x="447508" y="0"/>
                  </a:lnTo>
                  <a:lnTo>
                    <a:pt x="405478" y="8485"/>
                  </a:lnTo>
                  <a:lnTo>
                    <a:pt x="371155" y="31626"/>
                  </a:lnTo>
                  <a:lnTo>
                    <a:pt x="348014" y="65948"/>
                  </a:lnTo>
                  <a:lnTo>
                    <a:pt x="339529" y="107979"/>
                  </a:lnTo>
                  <a:lnTo>
                    <a:pt x="339529" y="377918"/>
                  </a:lnTo>
                  <a:lnTo>
                    <a:pt x="0" y="648837"/>
                  </a:lnTo>
                  <a:lnTo>
                    <a:pt x="339525" y="539882"/>
                  </a:lnTo>
                  <a:lnTo>
                    <a:pt x="2211763" y="539882"/>
                  </a:lnTo>
                  <a:lnTo>
                    <a:pt x="2211763" y="107979"/>
                  </a:lnTo>
                  <a:lnTo>
                    <a:pt x="2203277" y="65948"/>
                  </a:lnTo>
                  <a:lnTo>
                    <a:pt x="2180137" y="31626"/>
                  </a:lnTo>
                  <a:lnTo>
                    <a:pt x="2145814" y="8485"/>
                  </a:lnTo>
                  <a:lnTo>
                    <a:pt x="2103784" y="0"/>
                  </a:lnTo>
                  <a:close/>
                </a:path>
                <a:path w="2212340" h="648969">
                  <a:moveTo>
                    <a:pt x="2211763" y="539882"/>
                  </a:moveTo>
                  <a:lnTo>
                    <a:pt x="339529" y="539882"/>
                  </a:lnTo>
                  <a:lnTo>
                    <a:pt x="348014" y="581911"/>
                  </a:lnTo>
                  <a:lnTo>
                    <a:pt x="371155" y="616233"/>
                  </a:lnTo>
                  <a:lnTo>
                    <a:pt x="405478" y="639374"/>
                  </a:lnTo>
                  <a:lnTo>
                    <a:pt x="447508" y="647860"/>
                  </a:lnTo>
                  <a:lnTo>
                    <a:pt x="2103784" y="647860"/>
                  </a:lnTo>
                  <a:lnTo>
                    <a:pt x="2145814" y="639374"/>
                  </a:lnTo>
                  <a:lnTo>
                    <a:pt x="2180137" y="616233"/>
                  </a:lnTo>
                  <a:lnTo>
                    <a:pt x="2203277" y="581911"/>
                  </a:lnTo>
                  <a:lnTo>
                    <a:pt x="2211763" y="539882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89971" y="2334544"/>
              <a:ext cx="2212340" cy="648970"/>
            </a:xfrm>
            <a:custGeom>
              <a:avLst/>
              <a:gdLst/>
              <a:ahLst/>
              <a:cxnLst/>
              <a:rect l="l" t="t" r="r" b="b"/>
              <a:pathLst>
                <a:path w="2212340" h="648969">
                  <a:moveTo>
                    <a:pt x="339528" y="107979"/>
                  </a:moveTo>
                  <a:lnTo>
                    <a:pt x="348014" y="65948"/>
                  </a:lnTo>
                  <a:lnTo>
                    <a:pt x="371155" y="31626"/>
                  </a:lnTo>
                  <a:lnTo>
                    <a:pt x="405477" y="8485"/>
                  </a:lnTo>
                  <a:lnTo>
                    <a:pt x="447507" y="0"/>
                  </a:lnTo>
                  <a:lnTo>
                    <a:pt x="651567" y="0"/>
                  </a:lnTo>
                  <a:lnTo>
                    <a:pt x="1119626" y="0"/>
                  </a:lnTo>
                  <a:lnTo>
                    <a:pt x="2103783" y="0"/>
                  </a:lnTo>
                  <a:lnTo>
                    <a:pt x="2145813" y="8485"/>
                  </a:lnTo>
                  <a:lnTo>
                    <a:pt x="2180136" y="31626"/>
                  </a:lnTo>
                  <a:lnTo>
                    <a:pt x="2203276" y="65948"/>
                  </a:lnTo>
                  <a:lnTo>
                    <a:pt x="2211762" y="107979"/>
                  </a:lnTo>
                  <a:lnTo>
                    <a:pt x="2211762" y="377918"/>
                  </a:lnTo>
                  <a:lnTo>
                    <a:pt x="2211762" y="539882"/>
                  </a:lnTo>
                  <a:lnTo>
                    <a:pt x="2203276" y="581910"/>
                  </a:lnTo>
                  <a:lnTo>
                    <a:pt x="2180136" y="616232"/>
                  </a:lnTo>
                  <a:lnTo>
                    <a:pt x="2145813" y="639373"/>
                  </a:lnTo>
                  <a:lnTo>
                    <a:pt x="2103783" y="647859"/>
                  </a:lnTo>
                  <a:lnTo>
                    <a:pt x="1119626" y="647859"/>
                  </a:lnTo>
                  <a:lnTo>
                    <a:pt x="651567" y="647859"/>
                  </a:lnTo>
                  <a:lnTo>
                    <a:pt x="447507" y="647859"/>
                  </a:lnTo>
                  <a:lnTo>
                    <a:pt x="405477" y="639373"/>
                  </a:lnTo>
                  <a:lnTo>
                    <a:pt x="371155" y="616232"/>
                  </a:lnTo>
                  <a:lnTo>
                    <a:pt x="348014" y="581910"/>
                  </a:lnTo>
                  <a:lnTo>
                    <a:pt x="339528" y="539880"/>
                  </a:lnTo>
                  <a:lnTo>
                    <a:pt x="0" y="648838"/>
                  </a:lnTo>
                  <a:lnTo>
                    <a:pt x="339528" y="377918"/>
                  </a:lnTo>
                  <a:lnTo>
                    <a:pt x="339528" y="107979"/>
                  </a:lnTo>
                  <a:close/>
                </a:path>
              </a:pathLst>
            </a:custGeom>
            <a:ln w="2774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630326" y="2388615"/>
            <a:ext cx="1471295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14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Minimal</a:t>
            </a:r>
            <a:r>
              <a:rPr sz="17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basis</a:t>
            </a:r>
            <a:endParaRPr sz="1700">
              <a:latin typeface="Verdana"/>
              <a:cs typeface="Verdana"/>
            </a:endParaRPr>
          </a:p>
          <a:p>
            <a:pPr algn="ctr">
              <a:lnSpc>
                <a:spcPts val="2014"/>
              </a:lnSpc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~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Verdana"/>
                <a:cs typeface="Verdana"/>
              </a:rPr>
              <a:t>Fc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4468" y="3498204"/>
            <a:ext cx="9209405" cy="3548379"/>
          </a:xfrm>
          <a:custGeom>
            <a:avLst/>
            <a:gdLst/>
            <a:ahLst/>
            <a:cxnLst/>
            <a:rect l="l" t="t" r="r" b="b"/>
            <a:pathLst>
              <a:path w="9209405" h="3548379">
                <a:moveTo>
                  <a:pt x="0" y="0"/>
                </a:moveTo>
                <a:lnTo>
                  <a:pt x="9209082" y="0"/>
                </a:lnTo>
                <a:lnTo>
                  <a:pt x="9209082" y="3548251"/>
                </a:lnTo>
                <a:lnTo>
                  <a:pt x="0" y="3548251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072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70" dirty="0"/>
              <a:t> </a:t>
            </a:r>
            <a:r>
              <a:rPr dirty="0"/>
              <a:t>1:</a:t>
            </a:r>
            <a:r>
              <a:rPr spc="-335" dirty="0"/>
              <a:t> </a:t>
            </a:r>
            <a:r>
              <a:rPr spc="-50" dirty="0"/>
              <a:t>3NF</a:t>
            </a:r>
            <a:r>
              <a:rPr spc="-275" dirty="0"/>
              <a:t> </a:t>
            </a:r>
            <a:r>
              <a:rPr spc="-50" dirty="0"/>
              <a:t>and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0" dirty="0"/>
              <a:t> </a:t>
            </a:r>
            <a:r>
              <a:rPr sz="3800" b="0" spc="-25" dirty="0">
                <a:latin typeface="Verdana"/>
                <a:cs typeface="Verdana"/>
              </a:rPr>
              <a:t>(2)</a:t>
            </a:r>
            <a:endParaRPr sz="3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88634" y="2761217"/>
            <a:ext cx="8775700" cy="4224655"/>
            <a:chOff x="588634" y="2761217"/>
            <a:chExt cx="8775700" cy="42246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634" y="2761217"/>
              <a:ext cx="8775497" cy="422452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59825" y="3038529"/>
              <a:ext cx="2352675" cy="648335"/>
            </a:xfrm>
            <a:custGeom>
              <a:avLst/>
              <a:gdLst/>
              <a:ahLst/>
              <a:cxnLst/>
              <a:rect l="l" t="t" r="r" b="b"/>
              <a:pathLst>
                <a:path w="2352675" h="648335">
                  <a:moveTo>
                    <a:pt x="2244316" y="0"/>
                  </a:moveTo>
                  <a:lnTo>
                    <a:pt x="107977" y="0"/>
                  </a:lnTo>
                  <a:lnTo>
                    <a:pt x="65948" y="8485"/>
                  </a:lnTo>
                  <a:lnTo>
                    <a:pt x="31626" y="31626"/>
                  </a:lnTo>
                  <a:lnTo>
                    <a:pt x="8485" y="65948"/>
                  </a:lnTo>
                  <a:lnTo>
                    <a:pt x="0" y="107979"/>
                  </a:lnTo>
                  <a:lnTo>
                    <a:pt x="0" y="539884"/>
                  </a:lnTo>
                  <a:lnTo>
                    <a:pt x="8485" y="581911"/>
                  </a:lnTo>
                  <a:lnTo>
                    <a:pt x="31626" y="616233"/>
                  </a:lnTo>
                  <a:lnTo>
                    <a:pt x="65948" y="639374"/>
                  </a:lnTo>
                  <a:lnTo>
                    <a:pt x="107977" y="647860"/>
                  </a:lnTo>
                  <a:lnTo>
                    <a:pt x="2244316" y="647860"/>
                  </a:lnTo>
                  <a:lnTo>
                    <a:pt x="2286345" y="639374"/>
                  </a:lnTo>
                  <a:lnTo>
                    <a:pt x="2320667" y="616233"/>
                  </a:lnTo>
                  <a:lnTo>
                    <a:pt x="2343808" y="581911"/>
                  </a:lnTo>
                  <a:lnTo>
                    <a:pt x="2352294" y="539884"/>
                  </a:lnTo>
                  <a:lnTo>
                    <a:pt x="2352294" y="107979"/>
                  </a:lnTo>
                  <a:lnTo>
                    <a:pt x="2343808" y="65948"/>
                  </a:lnTo>
                  <a:lnTo>
                    <a:pt x="2320667" y="31626"/>
                  </a:lnTo>
                  <a:lnTo>
                    <a:pt x="2286345" y="8485"/>
                  </a:lnTo>
                  <a:lnTo>
                    <a:pt x="224431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59825" y="3038529"/>
              <a:ext cx="2352675" cy="648335"/>
            </a:xfrm>
            <a:custGeom>
              <a:avLst/>
              <a:gdLst/>
              <a:ahLst/>
              <a:cxnLst/>
              <a:rect l="l" t="t" r="r" b="b"/>
              <a:pathLst>
                <a:path w="2352675" h="648335">
                  <a:moveTo>
                    <a:pt x="0" y="107978"/>
                  </a:moveTo>
                  <a:lnTo>
                    <a:pt x="8485" y="65948"/>
                  </a:lnTo>
                  <a:lnTo>
                    <a:pt x="31626" y="31626"/>
                  </a:lnTo>
                  <a:lnTo>
                    <a:pt x="65948" y="8485"/>
                  </a:lnTo>
                  <a:lnTo>
                    <a:pt x="107978" y="0"/>
                  </a:lnTo>
                  <a:lnTo>
                    <a:pt x="392048" y="0"/>
                  </a:lnTo>
                  <a:lnTo>
                    <a:pt x="980122" y="0"/>
                  </a:lnTo>
                  <a:lnTo>
                    <a:pt x="2244315" y="0"/>
                  </a:lnTo>
                  <a:lnTo>
                    <a:pt x="2286345" y="8485"/>
                  </a:lnTo>
                  <a:lnTo>
                    <a:pt x="2320667" y="31626"/>
                  </a:lnTo>
                  <a:lnTo>
                    <a:pt x="2343808" y="65948"/>
                  </a:lnTo>
                  <a:lnTo>
                    <a:pt x="2352293" y="107978"/>
                  </a:lnTo>
                  <a:lnTo>
                    <a:pt x="2352293" y="377918"/>
                  </a:lnTo>
                  <a:lnTo>
                    <a:pt x="2352293" y="539883"/>
                  </a:lnTo>
                  <a:lnTo>
                    <a:pt x="2343808" y="581911"/>
                  </a:lnTo>
                  <a:lnTo>
                    <a:pt x="2320667" y="616233"/>
                  </a:lnTo>
                  <a:lnTo>
                    <a:pt x="2286345" y="639373"/>
                  </a:lnTo>
                  <a:lnTo>
                    <a:pt x="2244315" y="647859"/>
                  </a:lnTo>
                  <a:lnTo>
                    <a:pt x="980122" y="647859"/>
                  </a:lnTo>
                  <a:lnTo>
                    <a:pt x="392048" y="647859"/>
                  </a:lnTo>
                  <a:lnTo>
                    <a:pt x="107978" y="647859"/>
                  </a:lnTo>
                  <a:lnTo>
                    <a:pt x="65948" y="639373"/>
                  </a:lnTo>
                  <a:lnTo>
                    <a:pt x="31626" y="616233"/>
                  </a:lnTo>
                  <a:lnTo>
                    <a:pt x="8485" y="581911"/>
                  </a:lnTo>
                  <a:lnTo>
                    <a:pt x="0" y="539881"/>
                  </a:lnTo>
                  <a:lnTo>
                    <a:pt x="0" y="426199"/>
                  </a:lnTo>
                  <a:lnTo>
                    <a:pt x="0" y="377918"/>
                  </a:lnTo>
                  <a:lnTo>
                    <a:pt x="0" y="107978"/>
                  </a:lnTo>
                  <a:close/>
                </a:path>
              </a:pathLst>
            </a:custGeom>
            <a:ln w="2774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3792" y="1302511"/>
            <a:ext cx="8482965" cy="1113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3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Stocks(B,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Q,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D)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30"/>
              </a:lnSpc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Q,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2.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3NF,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Stocks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19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proper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3060" y="255854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3634" y="2756217"/>
            <a:ext cx="8785860" cy="4234815"/>
          </a:xfrm>
          <a:prstGeom prst="rect">
            <a:avLst/>
          </a:prstGeom>
          <a:ln w="10001">
            <a:solidFill>
              <a:srgbClr val="7F7F7F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</a:pPr>
            <a:endParaRPr sz="1700">
              <a:latin typeface="Times New Roman"/>
              <a:cs typeface="Times New Roman"/>
            </a:endParaRPr>
          </a:p>
          <a:p>
            <a:pPr marL="6567805" marR="655320" indent="-384810">
              <a:lnSpc>
                <a:spcPts val="1989"/>
              </a:lnSpc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What</a:t>
            </a:r>
            <a:r>
              <a:rPr sz="17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7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minimal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super</a:t>
            </a:r>
            <a:r>
              <a:rPr sz="17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key?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072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70" dirty="0"/>
              <a:t> </a:t>
            </a:r>
            <a:r>
              <a:rPr dirty="0"/>
              <a:t>1:</a:t>
            </a:r>
            <a:r>
              <a:rPr spc="-335" dirty="0"/>
              <a:t> </a:t>
            </a:r>
            <a:r>
              <a:rPr spc="-50" dirty="0"/>
              <a:t>3NF</a:t>
            </a:r>
            <a:r>
              <a:rPr spc="-275" dirty="0"/>
              <a:t> </a:t>
            </a:r>
            <a:r>
              <a:rPr spc="-50" dirty="0"/>
              <a:t>and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0" dirty="0"/>
              <a:t> </a:t>
            </a:r>
            <a:r>
              <a:rPr sz="3800" b="0" spc="-25" dirty="0">
                <a:latin typeface="Verdana"/>
                <a:cs typeface="Verdana"/>
              </a:rPr>
              <a:t>(3)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792" y="1302511"/>
            <a:ext cx="4864735" cy="592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3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Stocks(B,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Q,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D)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30"/>
              </a:lnSpc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Q,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060" y="253513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3792" y="2122423"/>
            <a:ext cx="61061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3.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7062" y="2643242"/>
            <a:ext cx="9103360" cy="4475480"/>
            <a:chOff x="477062" y="2643242"/>
            <a:chExt cx="9103360" cy="44754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174" y="2653243"/>
              <a:ext cx="8864625" cy="441341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2063" y="2648242"/>
              <a:ext cx="9093200" cy="4465320"/>
            </a:xfrm>
            <a:custGeom>
              <a:avLst/>
              <a:gdLst/>
              <a:ahLst/>
              <a:cxnLst/>
              <a:rect l="l" t="t" r="r" b="b"/>
              <a:pathLst>
                <a:path w="9093200" h="4465320">
                  <a:moveTo>
                    <a:pt x="0" y="0"/>
                  </a:moveTo>
                  <a:lnTo>
                    <a:pt x="9092734" y="0"/>
                  </a:lnTo>
                  <a:lnTo>
                    <a:pt x="9092734" y="4464957"/>
                  </a:lnTo>
                  <a:lnTo>
                    <a:pt x="0" y="4464957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71207" y="1267171"/>
            <a:ext cx="2832735" cy="685800"/>
          </a:xfrm>
          <a:prstGeom prst="rect">
            <a:avLst/>
          </a:prstGeom>
          <a:ln w="10001">
            <a:solidFill>
              <a:srgbClr val="7F7F7F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158750" marR="191770">
              <a:lnSpc>
                <a:spcPts val="1989"/>
              </a:lnSpc>
              <a:spcBef>
                <a:spcPts val="780"/>
              </a:spcBef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relations: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SD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IB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ISQ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BO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072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70" dirty="0"/>
              <a:t> </a:t>
            </a:r>
            <a:r>
              <a:rPr dirty="0"/>
              <a:t>1:</a:t>
            </a:r>
            <a:r>
              <a:rPr spc="-335" dirty="0"/>
              <a:t> </a:t>
            </a:r>
            <a:r>
              <a:rPr spc="-50" dirty="0"/>
              <a:t>3NF</a:t>
            </a:r>
            <a:r>
              <a:rPr spc="-275" dirty="0"/>
              <a:t> </a:t>
            </a:r>
            <a:r>
              <a:rPr spc="-50" dirty="0"/>
              <a:t>and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0" dirty="0"/>
              <a:t> </a:t>
            </a:r>
            <a:r>
              <a:rPr sz="3800" b="0" spc="-25" dirty="0">
                <a:latin typeface="Verdana"/>
                <a:cs typeface="Verdana"/>
              </a:rPr>
              <a:t>(4)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792" y="1302511"/>
            <a:ext cx="4864735" cy="592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3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Stocks(B,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Q,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D)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ts val="2230"/>
              </a:lnSpc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Q,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060" y="2539734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3792" y="2122423"/>
            <a:ext cx="51320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4.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BCNF?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4042" y="3010265"/>
            <a:ext cx="8853170" cy="2804795"/>
            <a:chOff x="574042" y="3010265"/>
            <a:chExt cx="8853170" cy="28047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043" y="3020267"/>
              <a:ext cx="8833103" cy="278434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9043" y="3015266"/>
              <a:ext cx="8843645" cy="2794635"/>
            </a:xfrm>
            <a:custGeom>
              <a:avLst/>
              <a:gdLst/>
              <a:ahLst/>
              <a:cxnLst/>
              <a:rect l="l" t="t" r="r" b="b"/>
              <a:pathLst>
                <a:path w="8843645" h="2794635">
                  <a:moveTo>
                    <a:pt x="0" y="0"/>
                  </a:moveTo>
                  <a:lnTo>
                    <a:pt x="8843103" y="0"/>
                  </a:lnTo>
                  <a:lnTo>
                    <a:pt x="8843103" y="2794348"/>
                  </a:lnTo>
                  <a:lnTo>
                    <a:pt x="0" y="2794348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71207" y="1267171"/>
            <a:ext cx="2832735" cy="685800"/>
          </a:xfrm>
          <a:prstGeom prst="rect">
            <a:avLst/>
          </a:prstGeom>
          <a:ln w="10001">
            <a:solidFill>
              <a:srgbClr val="7F7F7F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158750" marR="191770">
              <a:lnSpc>
                <a:spcPts val="1989"/>
              </a:lnSpc>
              <a:spcBef>
                <a:spcPts val="780"/>
              </a:spcBef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relations: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SD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IB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ISQ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BO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5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4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3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2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2828" y="3069465"/>
            <a:ext cx="72072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-1935" dirty="0">
                <a:solidFill>
                  <a:srgbClr val="C00000"/>
                </a:solidFill>
                <a:latin typeface="Comic Sans MS"/>
                <a:cs typeface="Comic Sans MS"/>
              </a:rPr>
              <a:t>1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700" spc="-40" dirty="0">
                <a:solidFill>
                  <a:srgbClr val="292934"/>
                </a:solidFill>
                <a:latin typeface="Comic Sans MS"/>
                <a:cs typeface="Comic Sans MS"/>
              </a:rPr>
              <a:t>Ready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for</a:t>
            </a:r>
            <a:r>
              <a:rPr sz="3700" spc="-40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the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next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one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spc="-25" dirty="0">
                <a:solidFill>
                  <a:srgbClr val="292934"/>
                </a:solidFill>
                <a:latin typeface="Comic Sans MS"/>
                <a:cs typeface="Comic Sans MS"/>
              </a:rPr>
              <a:t>??</a:t>
            </a:r>
            <a:endParaRPr sz="37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00437" y="3252332"/>
            <a:ext cx="3264535" cy="2112645"/>
          </a:xfrm>
          <a:custGeom>
            <a:avLst/>
            <a:gdLst/>
            <a:ahLst/>
            <a:cxnLst/>
            <a:rect l="l" t="t" r="r" b="b"/>
            <a:pathLst>
              <a:path w="3264534" h="2112645">
                <a:moveTo>
                  <a:pt x="3264408" y="0"/>
                </a:moveTo>
                <a:lnTo>
                  <a:pt x="0" y="0"/>
                </a:lnTo>
                <a:lnTo>
                  <a:pt x="0" y="2112264"/>
                </a:lnTo>
                <a:lnTo>
                  <a:pt x="3264408" y="2112264"/>
                </a:lnTo>
                <a:lnTo>
                  <a:pt x="3264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73106" y="3216865"/>
            <a:ext cx="2718435" cy="190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350" b="1" spc="30" dirty="0">
                <a:solidFill>
                  <a:srgbClr val="C00000"/>
                </a:solidFill>
                <a:latin typeface="Comic Sans MS"/>
                <a:cs typeface="Comic Sans MS"/>
              </a:rPr>
              <a:t>Go!!</a:t>
            </a:r>
            <a:endParaRPr sz="12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2:</a:t>
            </a:r>
            <a:r>
              <a:rPr spc="-295" dirty="0"/>
              <a:t> </a:t>
            </a:r>
            <a:r>
              <a:rPr spc="-25" dirty="0"/>
              <a:t>3NF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015" marR="150495" indent="-488950">
              <a:lnSpc>
                <a:spcPct val="100000"/>
              </a:lnSpc>
              <a:spcBef>
                <a:spcPts val="100"/>
              </a:spcBef>
            </a:pPr>
            <a:r>
              <a:rPr dirty="0"/>
              <a:t>Consider</a:t>
            </a:r>
            <a:r>
              <a:rPr spc="-8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following</a:t>
            </a:r>
            <a:r>
              <a:rPr spc="-70" dirty="0"/>
              <a:t> </a:t>
            </a:r>
            <a:r>
              <a:rPr dirty="0"/>
              <a:t>relation</a:t>
            </a:r>
            <a:r>
              <a:rPr spc="-8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functional</a:t>
            </a:r>
            <a:r>
              <a:rPr spc="-65" dirty="0"/>
              <a:t> </a:t>
            </a:r>
            <a:r>
              <a:rPr spc="-10" dirty="0"/>
              <a:t>dependencies </a:t>
            </a:r>
            <a:r>
              <a:rPr dirty="0"/>
              <a:t>R(A,</a:t>
            </a:r>
            <a:r>
              <a:rPr spc="-45" dirty="0"/>
              <a:t> </a:t>
            </a:r>
            <a:r>
              <a:rPr dirty="0"/>
              <a:t>B,</a:t>
            </a:r>
            <a:r>
              <a:rPr spc="-40" dirty="0"/>
              <a:t> </a:t>
            </a:r>
            <a:r>
              <a:rPr dirty="0"/>
              <a:t>C,</a:t>
            </a:r>
            <a:r>
              <a:rPr spc="-40" dirty="0"/>
              <a:t> </a:t>
            </a:r>
            <a:r>
              <a:rPr spc="-25" dirty="0"/>
              <a:t>D)</a:t>
            </a:r>
          </a:p>
          <a:p>
            <a:pPr marL="501015">
              <a:lnSpc>
                <a:spcPts val="2210"/>
              </a:lnSpc>
            </a:pPr>
            <a:r>
              <a:rPr dirty="0"/>
              <a:t>FDs</a:t>
            </a:r>
            <a:r>
              <a:rPr spc="-20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/>
              <a:t>{</a:t>
            </a:r>
            <a:r>
              <a:rPr spc="-30" dirty="0"/>
              <a:t> </a:t>
            </a:r>
            <a:r>
              <a:rPr dirty="0"/>
              <a:t>C</a:t>
            </a:r>
            <a:r>
              <a:rPr spc="-10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dirty="0"/>
              <a:t>A,</a:t>
            </a:r>
            <a:r>
              <a:rPr spc="-2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170" dirty="0">
                <a:latin typeface="Times New Roman"/>
                <a:cs typeface="Times New Roman"/>
              </a:rPr>
              <a:t> </a:t>
            </a:r>
            <a:r>
              <a:rPr dirty="0"/>
              <a:t>D,</a:t>
            </a:r>
            <a:r>
              <a:rPr spc="-25" dirty="0"/>
              <a:t> </a:t>
            </a:r>
            <a:r>
              <a:rPr dirty="0"/>
              <a:t>C</a:t>
            </a:r>
            <a:r>
              <a:rPr spc="-20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dirty="0"/>
              <a:t>C,</a:t>
            </a:r>
            <a:r>
              <a:rPr spc="-20" dirty="0"/>
              <a:t> </a:t>
            </a:r>
            <a:r>
              <a:rPr dirty="0"/>
              <a:t>AB</a:t>
            </a:r>
            <a:r>
              <a:rPr spc="-20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spc="-50" dirty="0"/>
              <a:t>}</a:t>
            </a:r>
          </a:p>
          <a:p>
            <a:pPr marL="335915" indent="-323215">
              <a:lnSpc>
                <a:spcPct val="100000"/>
              </a:lnSpc>
              <a:spcBef>
                <a:spcPts val="2300"/>
              </a:spcBef>
              <a:buAutoNum type="arabicPeriod"/>
              <a:tabLst>
                <a:tab pos="335915" algn="l"/>
              </a:tabLst>
            </a:pPr>
            <a:r>
              <a:rPr dirty="0"/>
              <a:t>Decompose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given</a:t>
            </a:r>
            <a:r>
              <a:rPr spc="-65" dirty="0"/>
              <a:t> </a:t>
            </a:r>
            <a:r>
              <a:rPr dirty="0"/>
              <a:t>relation</a:t>
            </a:r>
            <a:r>
              <a:rPr spc="-60" dirty="0"/>
              <a:t> </a:t>
            </a:r>
            <a:r>
              <a:rPr dirty="0"/>
              <a:t>R(A,</a:t>
            </a:r>
            <a:r>
              <a:rPr spc="-60" dirty="0"/>
              <a:t> </a:t>
            </a:r>
            <a:r>
              <a:rPr dirty="0"/>
              <a:t>B,</a:t>
            </a:r>
            <a:r>
              <a:rPr spc="-65" dirty="0"/>
              <a:t> </a:t>
            </a:r>
            <a:r>
              <a:rPr dirty="0"/>
              <a:t>C,</a:t>
            </a:r>
            <a:r>
              <a:rPr spc="-60" dirty="0"/>
              <a:t> </a:t>
            </a:r>
            <a:r>
              <a:rPr dirty="0"/>
              <a:t>D)</a:t>
            </a:r>
            <a:r>
              <a:rPr spc="-60" dirty="0"/>
              <a:t> </a:t>
            </a:r>
            <a:r>
              <a:rPr dirty="0"/>
              <a:t>using</a:t>
            </a:r>
            <a:r>
              <a:rPr spc="-60" dirty="0"/>
              <a:t> </a:t>
            </a:r>
            <a:r>
              <a:rPr spc="-25" dirty="0"/>
              <a:t>3NF</a:t>
            </a:r>
          </a:p>
          <a:p>
            <a:pPr marL="335915" indent="-323215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335915" algn="l"/>
              </a:tabLst>
            </a:pPr>
            <a:r>
              <a:rPr dirty="0"/>
              <a:t>Discuss</a:t>
            </a:r>
            <a:r>
              <a:rPr spc="-5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show</a:t>
            </a:r>
            <a:r>
              <a:rPr spc="-5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decomposed</a:t>
            </a:r>
            <a:r>
              <a:rPr spc="-50" dirty="0"/>
              <a:t> </a:t>
            </a:r>
            <a:r>
              <a:rPr dirty="0"/>
              <a:t>relations</a:t>
            </a:r>
            <a:r>
              <a:rPr spc="-55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spc="-25" dirty="0"/>
              <a:t>3NF</a:t>
            </a:r>
          </a:p>
        </p:txBody>
      </p:sp>
      <p:sp>
        <p:nvSpPr>
          <p:cNvPr id="4" name="object 4"/>
          <p:cNvSpPr/>
          <p:nvPr/>
        </p:nvSpPr>
        <p:spPr>
          <a:xfrm>
            <a:off x="353060" y="3367948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62515" y="3972559"/>
            <a:ext cx="3860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Fc: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1243" y="4249928"/>
            <a:ext cx="93408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AD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2515" y="5127752"/>
            <a:ext cx="279082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88315" marR="5080" indent="-488950">
              <a:lnSpc>
                <a:spcPct val="101099"/>
              </a:lnSpc>
              <a:spcBef>
                <a:spcPts val="75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relations: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ABC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00737" y="5420360"/>
            <a:ext cx="43364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written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R1(ACD)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R2(ABC)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3813" y="3603781"/>
            <a:ext cx="9008110" cy="3019425"/>
            <a:chOff x="503813" y="3603781"/>
            <a:chExt cx="9008110" cy="3019425"/>
          </a:xfrm>
        </p:grpSpPr>
        <p:sp>
          <p:nvSpPr>
            <p:cNvPr id="10" name="object 10"/>
            <p:cNvSpPr/>
            <p:nvPr/>
          </p:nvSpPr>
          <p:spPr>
            <a:xfrm>
              <a:off x="510480" y="3610448"/>
              <a:ext cx="8994775" cy="3006090"/>
            </a:xfrm>
            <a:custGeom>
              <a:avLst/>
              <a:gdLst/>
              <a:ahLst/>
              <a:cxnLst/>
              <a:rect l="l" t="t" r="r" b="b"/>
              <a:pathLst>
                <a:path w="8994775" h="3006090">
                  <a:moveTo>
                    <a:pt x="0" y="0"/>
                  </a:moveTo>
                  <a:lnTo>
                    <a:pt x="8994354" y="0"/>
                  </a:lnTo>
                  <a:lnTo>
                    <a:pt x="8994354" y="3005743"/>
                  </a:lnTo>
                  <a:lnTo>
                    <a:pt x="0" y="3005743"/>
                  </a:lnTo>
                  <a:lnTo>
                    <a:pt x="0" y="0"/>
                  </a:lnTo>
                  <a:close/>
                </a:path>
              </a:pathLst>
            </a:custGeom>
            <a:ln w="13334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18081" y="3832669"/>
              <a:ext cx="2352675" cy="648335"/>
            </a:xfrm>
            <a:custGeom>
              <a:avLst/>
              <a:gdLst/>
              <a:ahLst/>
              <a:cxnLst/>
              <a:rect l="l" t="t" r="r" b="b"/>
              <a:pathLst>
                <a:path w="2352675" h="648335">
                  <a:moveTo>
                    <a:pt x="2244316" y="0"/>
                  </a:moveTo>
                  <a:lnTo>
                    <a:pt x="107977" y="0"/>
                  </a:lnTo>
                  <a:lnTo>
                    <a:pt x="65948" y="8485"/>
                  </a:lnTo>
                  <a:lnTo>
                    <a:pt x="31626" y="31625"/>
                  </a:lnTo>
                  <a:lnTo>
                    <a:pt x="8485" y="65947"/>
                  </a:lnTo>
                  <a:lnTo>
                    <a:pt x="0" y="107977"/>
                  </a:lnTo>
                  <a:lnTo>
                    <a:pt x="0" y="539883"/>
                  </a:lnTo>
                  <a:lnTo>
                    <a:pt x="8485" y="581910"/>
                  </a:lnTo>
                  <a:lnTo>
                    <a:pt x="31626" y="616232"/>
                  </a:lnTo>
                  <a:lnTo>
                    <a:pt x="65948" y="639373"/>
                  </a:lnTo>
                  <a:lnTo>
                    <a:pt x="107977" y="647858"/>
                  </a:lnTo>
                  <a:lnTo>
                    <a:pt x="2244316" y="647858"/>
                  </a:lnTo>
                  <a:lnTo>
                    <a:pt x="2286346" y="639373"/>
                  </a:lnTo>
                  <a:lnTo>
                    <a:pt x="2320668" y="616232"/>
                  </a:lnTo>
                  <a:lnTo>
                    <a:pt x="2343808" y="581910"/>
                  </a:lnTo>
                  <a:lnTo>
                    <a:pt x="2352294" y="539883"/>
                  </a:lnTo>
                  <a:lnTo>
                    <a:pt x="2352294" y="107977"/>
                  </a:lnTo>
                  <a:lnTo>
                    <a:pt x="2343808" y="65947"/>
                  </a:lnTo>
                  <a:lnTo>
                    <a:pt x="2320668" y="31625"/>
                  </a:lnTo>
                  <a:lnTo>
                    <a:pt x="2286346" y="8485"/>
                  </a:lnTo>
                  <a:lnTo>
                    <a:pt x="224431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18081" y="3832669"/>
              <a:ext cx="2352675" cy="648335"/>
            </a:xfrm>
            <a:custGeom>
              <a:avLst/>
              <a:gdLst/>
              <a:ahLst/>
              <a:cxnLst/>
              <a:rect l="l" t="t" r="r" b="b"/>
              <a:pathLst>
                <a:path w="2352675" h="648335">
                  <a:moveTo>
                    <a:pt x="0" y="107978"/>
                  </a:moveTo>
                  <a:lnTo>
                    <a:pt x="8485" y="65948"/>
                  </a:lnTo>
                  <a:lnTo>
                    <a:pt x="31626" y="31626"/>
                  </a:lnTo>
                  <a:lnTo>
                    <a:pt x="65948" y="8485"/>
                  </a:lnTo>
                  <a:lnTo>
                    <a:pt x="107978" y="0"/>
                  </a:lnTo>
                  <a:lnTo>
                    <a:pt x="392048" y="0"/>
                  </a:lnTo>
                  <a:lnTo>
                    <a:pt x="980122" y="0"/>
                  </a:lnTo>
                  <a:lnTo>
                    <a:pt x="2244315" y="0"/>
                  </a:lnTo>
                  <a:lnTo>
                    <a:pt x="2286345" y="8485"/>
                  </a:lnTo>
                  <a:lnTo>
                    <a:pt x="2320667" y="31626"/>
                  </a:lnTo>
                  <a:lnTo>
                    <a:pt x="2343808" y="65948"/>
                  </a:lnTo>
                  <a:lnTo>
                    <a:pt x="2352293" y="107978"/>
                  </a:lnTo>
                  <a:lnTo>
                    <a:pt x="2352293" y="377918"/>
                  </a:lnTo>
                  <a:lnTo>
                    <a:pt x="2352293" y="539883"/>
                  </a:lnTo>
                  <a:lnTo>
                    <a:pt x="2343808" y="581911"/>
                  </a:lnTo>
                  <a:lnTo>
                    <a:pt x="2320667" y="616233"/>
                  </a:lnTo>
                  <a:lnTo>
                    <a:pt x="2286345" y="639373"/>
                  </a:lnTo>
                  <a:lnTo>
                    <a:pt x="2244315" y="647859"/>
                  </a:lnTo>
                  <a:lnTo>
                    <a:pt x="980122" y="647859"/>
                  </a:lnTo>
                  <a:lnTo>
                    <a:pt x="392048" y="647859"/>
                  </a:lnTo>
                  <a:lnTo>
                    <a:pt x="107978" y="647859"/>
                  </a:lnTo>
                  <a:lnTo>
                    <a:pt x="65948" y="639373"/>
                  </a:lnTo>
                  <a:lnTo>
                    <a:pt x="31626" y="616233"/>
                  </a:lnTo>
                  <a:lnTo>
                    <a:pt x="8485" y="581911"/>
                  </a:lnTo>
                  <a:lnTo>
                    <a:pt x="0" y="539881"/>
                  </a:lnTo>
                  <a:lnTo>
                    <a:pt x="0" y="426199"/>
                  </a:lnTo>
                  <a:lnTo>
                    <a:pt x="0" y="377918"/>
                  </a:lnTo>
                  <a:lnTo>
                    <a:pt x="0" y="107978"/>
                  </a:lnTo>
                  <a:close/>
                </a:path>
              </a:pathLst>
            </a:custGeom>
            <a:ln w="2774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25775" y="3888232"/>
            <a:ext cx="1951355" cy="5378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4175" marR="5080" indent="-384810">
              <a:lnSpc>
                <a:spcPts val="1989"/>
              </a:lnSpc>
              <a:spcBef>
                <a:spcPts val="204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What</a:t>
            </a:r>
            <a:r>
              <a:rPr sz="17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7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minimal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super</a:t>
            </a:r>
            <a:r>
              <a:rPr sz="17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key?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2:</a:t>
            </a:r>
            <a:r>
              <a:rPr spc="-325" dirty="0"/>
              <a:t> </a:t>
            </a:r>
            <a:r>
              <a:rPr spc="-45" dirty="0"/>
              <a:t>3NF</a:t>
            </a:r>
            <a:r>
              <a:rPr spc="-285" dirty="0"/>
              <a:t> </a:t>
            </a:r>
            <a:r>
              <a:rPr sz="3800" b="0" spc="-25" dirty="0">
                <a:latin typeface="Verdana"/>
                <a:cs typeface="Verdana"/>
              </a:rPr>
              <a:t>(2)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792" y="1308607"/>
            <a:ext cx="8836660" cy="5323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33591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90"/>
              </a:spcBef>
              <a:buClr>
                <a:srgbClr val="292934"/>
              </a:buClr>
              <a:buFont typeface="Verdana"/>
              <a:buAutoNum type="arabicPeriod" startAt="2"/>
            </a:pPr>
            <a:endParaRPr sz="1900">
              <a:latin typeface="Verdana"/>
              <a:cs typeface="Verdana"/>
            </a:endParaRPr>
          </a:p>
          <a:p>
            <a:pPr marL="59055" marR="127635">
              <a:lnSpc>
                <a:spcPts val="2020"/>
              </a:lnSpc>
              <a:spcBef>
                <a:spcPts val="5"/>
              </a:spcBef>
              <a:tabLst>
                <a:tab pos="499427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satisfy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7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C00000"/>
                </a:solidFill>
                <a:latin typeface="Verdana"/>
                <a:cs typeface="Verdana"/>
              </a:rPr>
              <a:t>join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dependency</a:t>
            </a:r>
            <a:r>
              <a:rPr sz="1700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preserving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Fc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AD,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AB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1700">
              <a:latin typeface="Verdana"/>
              <a:cs typeface="Verdana"/>
            </a:endParaRPr>
          </a:p>
          <a:p>
            <a:pPr marL="2209800" marR="330835" indent="-2109470">
              <a:lnSpc>
                <a:spcPct val="101400"/>
              </a:lnSpc>
              <a:spcBef>
                <a:spcPts val="5"/>
              </a:spcBef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900" b="1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r>
              <a:rPr sz="190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!=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a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either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both)</a:t>
            </a:r>
            <a:endParaRPr sz="1700">
              <a:latin typeface="Verdana"/>
              <a:cs typeface="Verdana"/>
            </a:endParaRPr>
          </a:p>
          <a:p>
            <a:pPr marL="581660" lvl="1" indent="-192405">
              <a:lnSpc>
                <a:spcPct val="100000"/>
              </a:lnSpc>
              <a:spcBef>
                <a:spcPts val="1750"/>
              </a:spcBef>
              <a:buFont typeface="Arial MT"/>
              <a:buChar char="•"/>
              <a:tabLst>
                <a:tab pos="58166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Let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AC</a:t>
            </a:r>
            <a:endParaRPr sz="1700">
              <a:latin typeface="Verdana"/>
              <a:cs typeface="Verdana"/>
            </a:endParaRPr>
          </a:p>
          <a:p>
            <a:pPr marL="581660" lvl="1" indent="-192405">
              <a:lnSpc>
                <a:spcPct val="100000"/>
              </a:lnSpc>
              <a:spcBef>
                <a:spcPts val="1750"/>
              </a:spcBef>
              <a:buFont typeface="Arial MT"/>
              <a:buChar char="•"/>
              <a:tabLst>
                <a:tab pos="58166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ACD.</a:t>
            </a:r>
            <a:endParaRPr sz="1700">
              <a:latin typeface="Verdana"/>
              <a:cs typeface="Verdana"/>
            </a:endParaRPr>
          </a:p>
          <a:p>
            <a:pPr marL="581660" lvl="1" indent="-192405">
              <a:lnSpc>
                <a:spcPct val="100000"/>
              </a:lnSpc>
              <a:spcBef>
                <a:spcPts val="1755"/>
              </a:spcBef>
              <a:buFont typeface="Arial MT"/>
              <a:buChar char="•"/>
              <a:tabLst>
                <a:tab pos="58166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AD</a:t>
            </a:r>
            <a:endParaRPr sz="1700">
              <a:latin typeface="Verdana"/>
              <a:cs typeface="Verdana"/>
            </a:endParaRPr>
          </a:p>
          <a:p>
            <a:pPr marL="1063625" lvl="2" indent="-18732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106362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(reflexive)</a:t>
            </a:r>
            <a:endParaRPr sz="1700">
              <a:latin typeface="Verdana"/>
              <a:cs typeface="Verdana"/>
            </a:endParaRPr>
          </a:p>
          <a:p>
            <a:pPr marL="1062990" marR="203835" lvl="2" indent="-186690">
              <a:lnSpc>
                <a:spcPts val="1700"/>
              </a:lnSpc>
              <a:spcBef>
                <a:spcPts val="920"/>
              </a:spcBef>
              <a:buFont typeface="Arial MT"/>
              <a:buChar char="•"/>
              <a:tabLst>
                <a:tab pos="106299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augment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above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adding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left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hand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side,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8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700">
              <a:latin typeface="Verdana"/>
              <a:cs typeface="Verdana"/>
            </a:endParaRPr>
          </a:p>
          <a:p>
            <a:pPr marL="641350" marR="5080" indent="-186690">
              <a:lnSpc>
                <a:spcPts val="1700"/>
              </a:lnSpc>
              <a:buFont typeface="Arial MT"/>
              <a:buChar char="•"/>
              <a:tabLst>
                <a:tab pos="641350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Therefore,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conclude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(which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superkey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(R1)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060" y="168912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9701" y="1833506"/>
            <a:ext cx="9279255" cy="5180965"/>
          </a:xfrm>
          <a:custGeom>
            <a:avLst/>
            <a:gdLst/>
            <a:ahLst/>
            <a:cxnLst/>
            <a:rect l="l" t="t" r="r" b="b"/>
            <a:pathLst>
              <a:path w="9279255" h="5180965">
                <a:moveTo>
                  <a:pt x="0" y="0"/>
                </a:moveTo>
                <a:lnTo>
                  <a:pt x="9278996" y="0"/>
                </a:lnTo>
                <a:lnTo>
                  <a:pt x="9278996" y="5180648"/>
                </a:lnTo>
                <a:lnTo>
                  <a:pt x="0" y="5180648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2:</a:t>
            </a:r>
            <a:r>
              <a:rPr spc="-325" dirty="0"/>
              <a:t> </a:t>
            </a:r>
            <a:r>
              <a:rPr spc="-45" dirty="0"/>
              <a:t>3NF</a:t>
            </a:r>
            <a:r>
              <a:rPr spc="-285" dirty="0"/>
              <a:t> </a:t>
            </a:r>
            <a:r>
              <a:rPr sz="3800" b="0" spc="-25" dirty="0">
                <a:latin typeface="Verdana"/>
                <a:cs typeface="Verdana"/>
              </a:rPr>
              <a:t>(3)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792" y="1308607"/>
            <a:ext cx="8829040" cy="5598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33591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Clr>
                <a:srgbClr val="292934"/>
              </a:buClr>
              <a:buFont typeface="Verdana"/>
              <a:buAutoNum type="arabicPeriod" startAt="2"/>
            </a:pPr>
            <a:endParaRPr sz="1900">
              <a:latin typeface="Verdana"/>
              <a:cs typeface="Verdana"/>
            </a:endParaRPr>
          </a:p>
          <a:p>
            <a:pPr marL="59055">
              <a:lnSpc>
                <a:spcPct val="100000"/>
              </a:lnSpc>
              <a:tabLst>
                <a:tab pos="571944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Fc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AD,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AB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700">
              <a:latin typeface="Verdana"/>
              <a:cs typeface="Verdana"/>
            </a:endParaRPr>
          </a:p>
          <a:p>
            <a:pPr marL="42545">
              <a:lnSpc>
                <a:spcPct val="100000"/>
              </a:lnSpc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900" b="1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r>
              <a:rPr sz="1900" b="1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loose,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gain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1020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First,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R(ABCD).</a:t>
            </a:r>
            <a:endParaRPr sz="1700">
              <a:latin typeface="Verdana"/>
              <a:cs typeface="Verdana"/>
            </a:endParaRPr>
          </a:p>
          <a:p>
            <a:pPr marL="1004569" lvl="2" indent="-236854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FDs,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closure.</a:t>
            </a:r>
            <a:endParaRPr sz="1700">
              <a:latin typeface="Verdana"/>
              <a:cs typeface="Verdana"/>
            </a:endParaRPr>
          </a:p>
          <a:p>
            <a:pPr marL="1004569" marR="143510" lvl="2" indent="-236854" algn="just">
              <a:lnSpc>
                <a:spcPct val="78800"/>
              </a:lnSpc>
              <a:spcBef>
                <a:spcPts val="1105"/>
              </a:spcBef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combination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contains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superkey.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minimal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R(ABCD)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AB.</a:t>
            </a:r>
            <a:endParaRPr sz="1700">
              <a:latin typeface="Verdana"/>
              <a:cs typeface="Verdana"/>
            </a:endParaRPr>
          </a:p>
          <a:p>
            <a:pPr marL="531495" marR="5080" lvl="1" indent="-236854">
              <a:lnSpc>
                <a:spcPct val="78800"/>
              </a:lnSpc>
              <a:spcBef>
                <a:spcPts val="1680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Then,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start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(refer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Fc: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C).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closure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AB.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700" spc="-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us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envision,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endParaRPr sz="1700">
              <a:latin typeface="Verdana"/>
              <a:cs typeface="Verdana"/>
            </a:endParaRPr>
          </a:p>
          <a:p>
            <a:pPr marL="1004569" marR="186690" lvl="2" indent="-236854" algn="just">
              <a:lnSpc>
                <a:spcPct val="81200"/>
              </a:lnSpc>
              <a:spcBef>
                <a:spcPts val="1440"/>
              </a:spcBef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(Fc),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(reflexive),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(transitive),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thus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ABCD.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is,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expanded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(~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reconstruct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original</a:t>
            </a:r>
            <a:r>
              <a:rPr sz="1700" spc="-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00" spc="-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1700" spc="-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decomposition).</a:t>
            </a:r>
            <a:endParaRPr sz="1700">
              <a:latin typeface="Verdana"/>
              <a:cs typeface="Verdana"/>
            </a:endParaRPr>
          </a:p>
          <a:p>
            <a:pPr marL="531495" marR="267335" lvl="1" indent="-236854">
              <a:lnSpc>
                <a:spcPct val="78800"/>
              </a:lnSpc>
              <a:spcBef>
                <a:spcPts val="1680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AB+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(i.e.,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ABCD),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satisfies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lossless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property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(no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loose,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gain).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060" y="168912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9701" y="1833506"/>
            <a:ext cx="9279255" cy="5180965"/>
          </a:xfrm>
          <a:custGeom>
            <a:avLst/>
            <a:gdLst/>
            <a:ahLst/>
            <a:cxnLst/>
            <a:rect l="l" t="t" r="r" b="b"/>
            <a:pathLst>
              <a:path w="9279255" h="5180965">
                <a:moveTo>
                  <a:pt x="0" y="0"/>
                </a:moveTo>
                <a:lnTo>
                  <a:pt x="9278996" y="0"/>
                </a:lnTo>
                <a:lnTo>
                  <a:pt x="9278996" y="5180648"/>
                </a:lnTo>
                <a:lnTo>
                  <a:pt x="0" y="5180648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2:</a:t>
            </a:r>
            <a:r>
              <a:rPr spc="-325" dirty="0"/>
              <a:t> </a:t>
            </a:r>
            <a:r>
              <a:rPr spc="-45" dirty="0"/>
              <a:t>3NF</a:t>
            </a:r>
            <a:r>
              <a:rPr spc="-285" dirty="0"/>
              <a:t> </a:t>
            </a:r>
            <a:r>
              <a:rPr sz="3800" b="0" spc="-25" dirty="0">
                <a:latin typeface="Verdana"/>
                <a:cs typeface="Verdana"/>
              </a:rPr>
              <a:t>(4)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792" y="1308607"/>
            <a:ext cx="8586470" cy="557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33591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Clr>
                <a:srgbClr val="292934"/>
              </a:buClr>
              <a:buFont typeface="Verdana"/>
              <a:buAutoNum type="arabicPeriod" startAt="2"/>
            </a:pPr>
            <a:endParaRPr sz="1900">
              <a:latin typeface="Verdana"/>
              <a:cs typeface="Verdana"/>
            </a:endParaRPr>
          </a:p>
          <a:p>
            <a:pPr marL="59055">
              <a:lnSpc>
                <a:spcPct val="100000"/>
              </a:lnSpc>
              <a:tabLst>
                <a:tab pos="571944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Fc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AD,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AB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700">
              <a:latin typeface="Verdana"/>
              <a:cs typeface="Verdana"/>
            </a:endParaRPr>
          </a:p>
          <a:p>
            <a:pPr marL="42545">
              <a:lnSpc>
                <a:spcPct val="100000"/>
              </a:lnSpc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Dependency</a:t>
            </a:r>
            <a:r>
              <a:rPr sz="190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spc="-10" dirty="0">
                <a:solidFill>
                  <a:srgbClr val="C00000"/>
                </a:solidFill>
                <a:latin typeface="Verdana"/>
                <a:cs typeface="Verdana"/>
              </a:rPr>
              <a:t>preserving</a:t>
            </a:r>
            <a:endParaRPr sz="1900">
              <a:latin typeface="Verdana"/>
              <a:cs typeface="Verdana"/>
            </a:endParaRPr>
          </a:p>
          <a:p>
            <a:pPr marL="531495" marR="5080" lvl="1" indent="-236854">
              <a:lnSpc>
                <a:spcPts val="1700"/>
              </a:lnSpc>
              <a:spcBef>
                <a:spcPts val="1360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A,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verified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single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relation.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FDs:</a:t>
            </a:r>
            <a:endParaRPr sz="1700">
              <a:latin typeface="Verdana"/>
              <a:cs typeface="Verdana"/>
            </a:endParaRPr>
          </a:p>
          <a:p>
            <a:pPr marL="1004569" lvl="2" indent="-236854">
              <a:lnSpc>
                <a:spcPts val="2030"/>
              </a:lnSpc>
              <a:spcBef>
                <a:spcPts val="650"/>
              </a:spcBef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verified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endParaRPr sz="1700">
              <a:latin typeface="Verdana"/>
              <a:cs typeface="Verdana"/>
            </a:endParaRPr>
          </a:p>
          <a:p>
            <a:pPr marL="1004569" lvl="2" indent="-236854">
              <a:lnSpc>
                <a:spcPts val="2030"/>
              </a:lnSpc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verified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endParaRPr sz="1700">
              <a:latin typeface="Verdana"/>
              <a:cs typeface="Verdana"/>
            </a:endParaRPr>
          </a:p>
          <a:p>
            <a:pPr marL="1004569" lvl="2" indent="-236854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verified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endParaRPr sz="1700">
              <a:latin typeface="Verdana"/>
              <a:cs typeface="Verdana"/>
            </a:endParaRPr>
          </a:p>
          <a:p>
            <a:pPr marL="1492885" lvl="3" indent="-235585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149288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Always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true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contains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1150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FD: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verify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1155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transitive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dependency.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satisfies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preserving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property.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89"/>
              </a:spcBef>
            </a:pPr>
            <a:endParaRPr sz="1700">
              <a:latin typeface="Verdana"/>
              <a:cs typeface="Verdana"/>
            </a:endParaRPr>
          </a:p>
          <a:p>
            <a:pPr marL="59055">
              <a:lnSpc>
                <a:spcPct val="100000"/>
              </a:lnSpc>
            </a:pP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3NF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violation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060" y="168912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9701" y="1833506"/>
            <a:ext cx="9279255" cy="5180965"/>
          </a:xfrm>
          <a:custGeom>
            <a:avLst/>
            <a:gdLst/>
            <a:ahLst/>
            <a:cxnLst/>
            <a:rect l="l" t="t" r="r" b="b"/>
            <a:pathLst>
              <a:path w="9279255" h="5180965">
                <a:moveTo>
                  <a:pt x="0" y="0"/>
                </a:moveTo>
                <a:lnTo>
                  <a:pt x="9278996" y="0"/>
                </a:lnTo>
                <a:lnTo>
                  <a:pt x="9278996" y="5180648"/>
                </a:lnTo>
                <a:lnTo>
                  <a:pt x="0" y="5180648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5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4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3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2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2828" y="3069465"/>
            <a:ext cx="72072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-1935" dirty="0">
                <a:solidFill>
                  <a:srgbClr val="C00000"/>
                </a:solidFill>
                <a:latin typeface="Comic Sans MS"/>
                <a:cs typeface="Comic Sans MS"/>
              </a:rPr>
              <a:t>1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700" spc="-40" dirty="0">
                <a:solidFill>
                  <a:srgbClr val="292934"/>
                </a:solidFill>
                <a:latin typeface="Comic Sans MS"/>
                <a:cs typeface="Comic Sans MS"/>
              </a:rPr>
              <a:t>Ready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for</a:t>
            </a:r>
            <a:r>
              <a:rPr sz="3700" spc="-40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the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next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one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spc="-25" dirty="0">
                <a:solidFill>
                  <a:srgbClr val="292934"/>
                </a:solidFill>
                <a:latin typeface="Comic Sans MS"/>
                <a:cs typeface="Comic Sans MS"/>
              </a:rPr>
              <a:t>??</a:t>
            </a:r>
            <a:endParaRPr sz="37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00437" y="3252332"/>
            <a:ext cx="3264535" cy="2112645"/>
          </a:xfrm>
          <a:custGeom>
            <a:avLst/>
            <a:gdLst/>
            <a:ahLst/>
            <a:cxnLst/>
            <a:rect l="l" t="t" r="r" b="b"/>
            <a:pathLst>
              <a:path w="3264534" h="2112645">
                <a:moveTo>
                  <a:pt x="3264408" y="0"/>
                </a:moveTo>
                <a:lnTo>
                  <a:pt x="0" y="0"/>
                </a:lnTo>
                <a:lnTo>
                  <a:pt x="0" y="2112264"/>
                </a:lnTo>
                <a:lnTo>
                  <a:pt x="3264408" y="2112264"/>
                </a:lnTo>
                <a:lnTo>
                  <a:pt x="3264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73106" y="3216865"/>
            <a:ext cx="2718435" cy="190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350" b="1" spc="30" dirty="0">
                <a:solidFill>
                  <a:srgbClr val="C00000"/>
                </a:solidFill>
                <a:latin typeface="Comic Sans MS"/>
                <a:cs typeface="Comic Sans MS"/>
              </a:rPr>
              <a:t>Go!!</a:t>
            </a:r>
            <a:endParaRPr sz="12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3:</a:t>
            </a:r>
            <a:r>
              <a:rPr spc="-295" dirty="0"/>
              <a:t> </a:t>
            </a:r>
            <a:r>
              <a:rPr spc="-20" dirty="0"/>
              <a:t>BCNF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792" y="1302511"/>
            <a:ext cx="7561580" cy="178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015" marR="330835" indent="-48895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9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dependencies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R(A,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D)</a:t>
            </a:r>
            <a:endParaRPr sz="1900">
              <a:latin typeface="Verdana"/>
              <a:cs typeface="Verdana"/>
            </a:endParaRPr>
          </a:p>
          <a:p>
            <a:pPr marL="501015">
              <a:lnSpc>
                <a:spcPts val="2210"/>
              </a:lnSpc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  <a:p>
            <a:pPr marL="335915" indent="-323215">
              <a:lnSpc>
                <a:spcPct val="100000"/>
              </a:lnSpc>
              <a:spcBef>
                <a:spcPts val="2300"/>
              </a:spcBef>
              <a:buAutoNum type="arabicPeriod"/>
              <a:tabLst>
                <a:tab pos="33591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R(A,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D)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1900">
              <a:latin typeface="Verdana"/>
              <a:cs typeface="Verdana"/>
            </a:endParaRPr>
          </a:p>
          <a:p>
            <a:pPr marL="335915" indent="-323215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33591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060" y="320842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35864" y="3419671"/>
            <a:ext cx="2428240" cy="1506220"/>
          </a:xfrm>
          <a:custGeom>
            <a:avLst/>
            <a:gdLst/>
            <a:ahLst/>
            <a:cxnLst/>
            <a:rect l="l" t="t" r="r" b="b"/>
            <a:pathLst>
              <a:path w="2428240" h="1506220">
                <a:moveTo>
                  <a:pt x="0" y="0"/>
                </a:moveTo>
                <a:lnTo>
                  <a:pt x="2428240" y="0"/>
                </a:lnTo>
                <a:lnTo>
                  <a:pt x="2428240" y="1506023"/>
                </a:lnTo>
                <a:lnTo>
                  <a:pt x="0" y="1506023"/>
                </a:lnTo>
                <a:lnTo>
                  <a:pt x="0" y="0"/>
                </a:lnTo>
                <a:close/>
              </a:path>
            </a:pathLst>
          </a:custGeom>
          <a:ln w="10001">
            <a:solidFill>
              <a:srgbClr val="5757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06886" y="3467608"/>
            <a:ext cx="3130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85267" y="3684015"/>
            <a:ext cx="81597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87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1700">
              <a:latin typeface="Verdana"/>
              <a:cs typeface="Verdana"/>
            </a:endParaRPr>
          </a:p>
          <a:p>
            <a:pPr>
              <a:lnSpc>
                <a:spcPts val="1870"/>
              </a:lnSpc>
              <a:tabLst>
                <a:tab pos="65468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52117" y="3709415"/>
            <a:ext cx="165735" cy="47053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R="5080">
              <a:lnSpc>
                <a:spcPts val="1700"/>
              </a:lnSpc>
              <a:spcBef>
                <a:spcPts val="240"/>
              </a:spcBef>
            </a:pPr>
            <a:r>
              <a:rPr sz="1500" spc="-30" dirty="0">
                <a:solidFill>
                  <a:srgbClr val="C00000"/>
                </a:solidFill>
                <a:latin typeface="Verdana"/>
                <a:cs typeface="Verdana"/>
              </a:rPr>
              <a:t>tr 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5267" y="4116832"/>
            <a:ext cx="1129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80327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35248" y="4333240"/>
            <a:ext cx="1837055" cy="51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8419" algn="r">
              <a:lnSpc>
                <a:spcPts val="1910"/>
              </a:lnSpc>
              <a:spcBef>
                <a:spcPts val="100"/>
              </a:spcBef>
              <a:tabLst>
                <a:tab pos="972819" algn="l"/>
                <a:tab pos="146621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  <a:p>
            <a:pPr marR="5080" algn="r">
              <a:lnSpc>
                <a:spcPts val="1910"/>
              </a:lnSpc>
              <a:tabLst>
                <a:tab pos="161671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4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40" dirty="0">
                <a:solidFill>
                  <a:srgbClr val="C00000"/>
                </a:solidFill>
                <a:latin typeface="Verdana"/>
                <a:cs typeface="Verdana"/>
              </a:rPr>
              <a:t>sk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05826" y="3614740"/>
            <a:ext cx="1442085" cy="522605"/>
            <a:chOff x="3905826" y="3614740"/>
            <a:chExt cx="1442085" cy="522605"/>
          </a:xfrm>
        </p:grpSpPr>
        <p:sp>
          <p:nvSpPr>
            <p:cNvPr id="12" name="object 12"/>
            <p:cNvSpPr/>
            <p:nvPr/>
          </p:nvSpPr>
          <p:spPr>
            <a:xfrm>
              <a:off x="3910906" y="3619820"/>
              <a:ext cx="1431925" cy="512445"/>
            </a:xfrm>
            <a:custGeom>
              <a:avLst/>
              <a:gdLst/>
              <a:ahLst/>
              <a:cxnLst/>
              <a:rect l="l" t="t" r="r" b="b"/>
              <a:pathLst>
                <a:path w="1431925" h="512445">
                  <a:moveTo>
                    <a:pt x="1431798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1431798" y="512063"/>
                  </a:lnTo>
                  <a:lnTo>
                    <a:pt x="1431798" y="0"/>
                  </a:lnTo>
                  <a:close/>
                </a:path>
              </a:pathLst>
            </a:custGeom>
            <a:solidFill>
              <a:srgbClr val="E8E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10906" y="3619820"/>
              <a:ext cx="1431925" cy="512445"/>
            </a:xfrm>
            <a:custGeom>
              <a:avLst/>
              <a:gdLst/>
              <a:ahLst/>
              <a:cxnLst/>
              <a:rect l="l" t="t" r="r" b="b"/>
              <a:pathLst>
                <a:path w="1431925" h="512445">
                  <a:moveTo>
                    <a:pt x="0" y="0"/>
                  </a:moveTo>
                  <a:lnTo>
                    <a:pt x="1431797" y="0"/>
                  </a:lnTo>
                  <a:lnTo>
                    <a:pt x="1431797" y="512063"/>
                  </a:lnTo>
                  <a:lnTo>
                    <a:pt x="0" y="512063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85929" y="3652520"/>
            <a:ext cx="6959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39895" y="4126802"/>
            <a:ext cx="2827020" cy="930910"/>
            <a:chOff x="3239895" y="4126802"/>
            <a:chExt cx="2827020" cy="930910"/>
          </a:xfrm>
        </p:grpSpPr>
        <p:sp>
          <p:nvSpPr>
            <p:cNvPr id="16" name="object 16"/>
            <p:cNvSpPr/>
            <p:nvPr/>
          </p:nvSpPr>
          <p:spPr>
            <a:xfrm>
              <a:off x="5063050" y="4540097"/>
              <a:ext cx="998855" cy="512445"/>
            </a:xfrm>
            <a:custGeom>
              <a:avLst/>
              <a:gdLst/>
              <a:ahLst/>
              <a:cxnLst/>
              <a:rect l="l" t="t" r="r" b="b"/>
              <a:pathLst>
                <a:path w="998854" h="512445">
                  <a:moveTo>
                    <a:pt x="998278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998278" y="512063"/>
                  </a:lnTo>
                  <a:lnTo>
                    <a:pt x="998278" y="0"/>
                  </a:lnTo>
                  <a:close/>
                </a:path>
              </a:pathLst>
            </a:custGeom>
            <a:solidFill>
              <a:srgbClr val="E8E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63050" y="4540097"/>
              <a:ext cx="998855" cy="512445"/>
            </a:xfrm>
            <a:custGeom>
              <a:avLst/>
              <a:gdLst/>
              <a:ahLst/>
              <a:cxnLst/>
              <a:rect l="l" t="t" r="r" b="b"/>
              <a:pathLst>
                <a:path w="998854" h="512445">
                  <a:moveTo>
                    <a:pt x="0" y="0"/>
                  </a:moveTo>
                  <a:lnTo>
                    <a:pt x="998277" y="0"/>
                  </a:lnTo>
                  <a:lnTo>
                    <a:pt x="998277" y="512063"/>
                  </a:lnTo>
                  <a:lnTo>
                    <a:pt x="0" y="512063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44975" y="4540097"/>
              <a:ext cx="1056640" cy="512445"/>
            </a:xfrm>
            <a:custGeom>
              <a:avLst/>
              <a:gdLst/>
              <a:ahLst/>
              <a:cxnLst/>
              <a:rect l="l" t="t" r="r" b="b"/>
              <a:pathLst>
                <a:path w="1056639" h="512445">
                  <a:moveTo>
                    <a:pt x="1056132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1056132" y="512063"/>
                  </a:lnTo>
                  <a:lnTo>
                    <a:pt x="1056132" y="0"/>
                  </a:lnTo>
                  <a:close/>
                </a:path>
              </a:pathLst>
            </a:custGeom>
            <a:solidFill>
              <a:srgbClr val="E8E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44975" y="4540097"/>
              <a:ext cx="1056640" cy="512445"/>
            </a:xfrm>
            <a:custGeom>
              <a:avLst/>
              <a:gdLst/>
              <a:ahLst/>
              <a:cxnLst/>
              <a:rect l="l" t="t" r="r" b="b"/>
              <a:pathLst>
                <a:path w="1056639" h="512445">
                  <a:moveTo>
                    <a:pt x="0" y="0"/>
                  </a:moveTo>
                  <a:lnTo>
                    <a:pt x="1056131" y="0"/>
                  </a:lnTo>
                  <a:lnTo>
                    <a:pt x="1056131" y="512063"/>
                  </a:lnTo>
                  <a:lnTo>
                    <a:pt x="0" y="512063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91422" y="4131884"/>
              <a:ext cx="935990" cy="408305"/>
            </a:xfrm>
            <a:custGeom>
              <a:avLst/>
              <a:gdLst/>
              <a:ahLst/>
              <a:cxnLst/>
              <a:rect l="l" t="t" r="r" b="b"/>
              <a:pathLst>
                <a:path w="935989" h="408304">
                  <a:moveTo>
                    <a:pt x="935384" y="0"/>
                  </a:moveTo>
                  <a:lnTo>
                    <a:pt x="935384" y="204107"/>
                  </a:lnTo>
                  <a:lnTo>
                    <a:pt x="81619" y="204107"/>
                  </a:lnTo>
                  <a:lnTo>
                    <a:pt x="81619" y="408213"/>
                  </a:lnTo>
                </a:path>
                <a:path w="935989" h="408304">
                  <a:moveTo>
                    <a:pt x="935384" y="0"/>
                  </a:moveTo>
                  <a:lnTo>
                    <a:pt x="935384" y="204106"/>
                  </a:lnTo>
                  <a:lnTo>
                    <a:pt x="0" y="204106"/>
                  </a:lnTo>
                  <a:lnTo>
                    <a:pt x="0" y="408213"/>
                  </a:lnTo>
                </a:path>
              </a:pathLst>
            </a:custGeom>
            <a:ln w="10001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1264" y="4276344"/>
            <a:ext cx="2505710" cy="102870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R="5080">
              <a:lnSpc>
                <a:spcPts val="1700"/>
              </a:lnSpc>
              <a:spcBef>
                <a:spcPts val="240"/>
              </a:spcBef>
            </a:pP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Verify</a:t>
            </a:r>
            <a:r>
              <a:rPr sz="1500" spc="-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table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ACD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is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any</a:t>
            </a:r>
            <a:r>
              <a:rPr sz="1500" spc="-1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violation.</a:t>
            </a:r>
            <a:endParaRPr sz="1500">
              <a:latin typeface="Verdana"/>
              <a:cs typeface="Verdana"/>
            </a:endParaRPr>
          </a:p>
          <a:p>
            <a:pPr marR="36830">
              <a:lnSpc>
                <a:spcPts val="1700"/>
              </a:lnSpc>
              <a:spcBef>
                <a:spcPts val="990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Just</a:t>
            </a:r>
            <a:r>
              <a:rPr sz="1500" spc="-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broke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on</a:t>
            </a:r>
            <a:r>
              <a:rPr sz="1500" spc="-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C,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cannot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break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on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C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twice</a:t>
            </a:r>
            <a:r>
              <a:rPr sz="15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in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row.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5502" y="4498847"/>
            <a:ext cx="64643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>
              <a:lnSpc>
                <a:spcPts val="1445"/>
              </a:lnSpc>
              <a:spcBef>
                <a:spcPts val="100"/>
              </a:spcBef>
            </a:pP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ok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925"/>
              </a:lnSpc>
            </a:pP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66382" y="3870959"/>
            <a:ext cx="7410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r>
              <a:rPr sz="1500" spc="-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r>
              <a:rPr sz="1500" spc="-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!</a:t>
            </a:r>
            <a:r>
              <a:rPr sz="1500" spc="-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12003" y="4794504"/>
            <a:ext cx="5594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r>
              <a:rPr sz="1500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500" spc="-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89276" y="4573016"/>
            <a:ext cx="8286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900" spc="-4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50" spc="-37" baseline="37037" dirty="0">
                <a:solidFill>
                  <a:srgbClr val="C00000"/>
                </a:solidFill>
                <a:latin typeface="Verdana"/>
                <a:cs typeface="Verdana"/>
              </a:rPr>
              <a:t>ok</a:t>
            </a:r>
            <a:endParaRPr sz="2250" baseline="37037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6492" y="5486400"/>
            <a:ext cx="8931275" cy="146558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605"/>
              </a:spcBef>
            </a:pPr>
            <a:r>
              <a:rPr sz="1500" spc="-30" dirty="0">
                <a:solidFill>
                  <a:srgbClr val="292934"/>
                </a:solidFill>
                <a:latin typeface="Verdana"/>
                <a:cs typeface="Verdana"/>
              </a:rPr>
              <a:t>Alternatively,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verify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through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"for</a:t>
            </a:r>
            <a:r>
              <a:rPr sz="15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all</a:t>
            </a:r>
            <a:r>
              <a:rPr sz="15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C00000"/>
                </a:solidFill>
                <a:latin typeface="Verdana"/>
                <a:cs typeface="Verdana"/>
              </a:rPr>
              <a:t>non-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trivial</a:t>
            </a:r>
            <a:r>
              <a:rPr sz="15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FDs,</a:t>
            </a:r>
            <a:r>
              <a:rPr sz="15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500" dirty="0">
                <a:solidFill>
                  <a:srgbClr val="C00000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A,</a:t>
            </a:r>
            <a:r>
              <a:rPr sz="15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5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must</a:t>
            </a:r>
            <a:r>
              <a:rPr sz="15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be</a:t>
            </a:r>
            <a:r>
              <a:rPr sz="15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superkey"</a:t>
            </a:r>
            <a:endParaRPr sz="1500">
              <a:latin typeface="Verdana"/>
              <a:cs typeface="Verdana"/>
            </a:endParaRPr>
          </a:p>
          <a:p>
            <a:pPr marL="22225" marR="5080">
              <a:lnSpc>
                <a:spcPts val="1610"/>
              </a:lnSpc>
              <a:spcBef>
                <a:spcPts val="715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ACD,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15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5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15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non-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15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15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AD</a:t>
            </a:r>
            <a:r>
              <a:rPr sz="15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(given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FD),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we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conclude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ACD,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break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5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(i.e.,</a:t>
            </a:r>
            <a:r>
              <a:rPr sz="15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violation).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relations: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17682" y="3599688"/>
            <a:ext cx="10160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Break</a:t>
            </a:r>
            <a:r>
              <a:rPr sz="15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5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0806" y="3291406"/>
            <a:ext cx="9451975" cy="3834129"/>
          </a:xfrm>
          <a:custGeom>
            <a:avLst/>
            <a:gdLst/>
            <a:ahLst/>
            <a:cxnLst/>
            <a:rect l="l" t="t" r="r" b="b"/>
            <a:pathLst>
              <a:path w="9451975" h="3834129">
                <a:moveTo>
                  <a:pt x="0" y="0"/>
                </a:moveTo>
                <a:lnTo>
                  <a:pt x="9451697" y="0"/>
                </a:lnTo>
                <a:lnTo>
                  <a:pt x="9451697" y="3834058"/>
                </a:lnTo>
                <a:lnTo>
                  <a:pt x="0" y="3834058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3: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5" dirty="0"/>
              <a:t> </a:t>
            </a:r>
            <a:r>
              <a:rPr sz="3800" b="0" spc="-25" dirty="0">
                <a:latin typeface="Verdana"/>
                <a:cs typeface="Verdana"/>
              </a:rPr>
              <a:t>(2)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7486" y="4006088"/>
            <a:ext cx="8732520" cy="251968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121535" marR="315595" indent="-2109470">
              <a:lnSpc>
                <a:spcPct val="101400"/>
              </a:lnSpc>
              <a:spcBef>
                <a:spcPts val="65"/>
              </a:spcBef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900" b="1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r>
              <a:rPr sz="190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!=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a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either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both)</a:t>
            </a:r>
            <a:endParaRPr sz="1700">
              <a:latin typeface="Verdana"/>
              <a:cs typeface="Verdana"/>
            </a:endParaRPr>
          </a:p>
          <a:p>
            <a:pPr marL="492759" indent="-1924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49275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Let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BC,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700">
              <a:latin typeface="Verdana"/>
              <a:cs typeface="Verdana"/>
            </a:endParaRPr>
          </a:p>
          <a:p>
            <a:pPr marL="492759" indent="-192405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49275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ACD.</a:t>
            </a:r>
            <a:endParaRPr sz="1700">
              <a:latin typeface="Verdana"/>
              <a:cs typeface="Verdana"/>
            </a:endParaRPr>
          </a:p>
          <a:p>
            <a:pPr marL="492759" indent="-192405">
              <a:lnSpc>
                <a:spcPct val="100000"/>
              </a:lnSpc>
              <a:spcBef>
                <a:spcPts val="1850"/>
              </a:spcBef>
              <a:buFont typeface="Arial MT"/>
              <a:buChar char="•"/>
              <a:tabLst>
                <a:tab pos="49275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F+,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conclude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(R1)</a:t>
            </a:r>
            <a:endParaRPr sz="1700">
              <a:latin typeface="Verdana"/>
              <a:cs typeface="Verdana"/>
            </a:endParaRPr>
          </a:p>
          <a:p>
            <a:pPr marL="492759" indent="-187325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49275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satisfies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lossless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property.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68168" y="2586916"/>
            <a:ext cx="2313305" cy="1248410"/>
          </a:xfrm>
          <a:custGeom>
            <a:avLst/>
            <a:gdLst/>
            <a:ahLst/>
            <a:cxnLst/>
            <a:rect l="l" t="t" r="r" b="b"/>
            <a:pathLst>
              <a:path w="2313304" h="1248410">
                <a:moveTo>
                  <a:pt x="0" y="0"/>
                </a:moveTo>
                <a:lnTo>
                  <a:pt x="2313276" y="0"/>
                </a:lnTo>
                <a:lnTo>
                  <a:pt x="2313276" y="1248155"/>
                </a:lnTo>
                <a:lnTo>
                  <a:pt x="0" y="1248155"/>
                </a:lnTo>
                <a:lnTo>
                  <a:pt x="0" y="0"/>
                </a:lnTo>
                <a:close/>
              </a:path>
            </a:pathLst>
          </a:custGeom>
          <a:ln w="10001">
            <a:solidFill>
              <a:srgbClr val="5757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3792" y="1308607"/>
            <a:ext cx="8566785" cy="153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2.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900">
              <a:latin typeface="Verdana"/>
              <a:cs typeface="Verdana"/>
            </a:endParaRPr>
          </a:p>
          <a:p>
            <a:pPr marL="59055" marR="5080">
              <a:lnSpc>
                <a:spcPts val="2020"/>
              </a:lnSpc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satisfy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7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C00000"/>
                </a:solidFill>
                <a:latin typeface="Verdana"/>
                <a:cs typeface="Verdana"/>
              </a:rPr>
              <a:t>join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For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every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C00000"/>
                </a:solidFill>
                <a:latin typeface="Verdana"/>
                <a:cs typeface="Verdana"/>
              </a:rPr>
              <a:t>non-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trivial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FD,</a:t>
            </a:r>
            <a:r>
              <a:rPr sz="1700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Wingdings"/>
                <a:cs typeface="Wingdings"/>
              </a:rPr>
              <a:t></a:t>
            </a:r>
            <a:r>
              <a:rPr sz="17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Attribute(s),</a:t>
            </a:r>
            <a:r>
              <a:rPr sz="1700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superkey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700">
              <a:latin typeface="Verdana"/>
              <a:cs typeface="Verdana"/>
            </a:endParaRPr>
          </a:p>
          <a:p>
            <a:pPr marR="1360170" algn="r">
              <a:lnSpc>
                <a:spcPct val="100000"/>
              </a:lnSpc>
              <a:spcBef>
                <a:spcPts val="900"/>
              </a:spcBef>
            </a:pP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84868" y="2779776"/>
            <a:ext cx="72834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45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ts val="1645"/>
              </a:lnSpc>
              <a:tabLst>
                <a:tab pos="584200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71720" y="2805176"/>
            <a:ext cx="158115" cy="4127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490"/>
              </a:lnSpc>
              <a:spcBef>
                <a:spcPts val="204"/>
              </a:spcBef>
            </a:pPr>
            <a:r>
              <a:rPr sz="1300" spc="-35" dirty="0">
                <a:solidFill>
                  <a:srgbClr val="C00000"/>
                </a:solidFill>
                <a:latin typeface="Verdana"/>
                <a:cs typeface="Verdana"/>
              </a:rPr>
              <a:t>tr tr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84868" y="3160776"/>
            <a:ext cx="100139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437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84868" y="3349752"/>
            <a:ext cx="10191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915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54852" y="3541776"/>
            <a:ext cx="11290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71720" y="3375152"/>
            <a:ext cx="203835" cy="4159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190"/>
              </a:spcBef>
            </a:pPr>
            <a:r>
              <a:rPr sz="1300" spc="-25" dirty="0">
                <a:solidFill>
                  <a:srgbClr val="C00000"/>
                </a:solidFill>
                <a:latin typeface="Verdana"/>
                <a:cs typeface="Verdana"/>
              </a:rPr>
              <a:t>tr </a:t>
            </a:r>
            <a:r>
              <a:rPr sz="1300" spc="-50" dirty="0">
                <a:solidFill>
                  <a:srgbClr val="C00000"/>
                </a:solidFill>
                <a:latin typeface="Verdana"/>
                <a:cs typeface="Verdana"/>
              </a:rPr>
              <a:t>sk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3060" y="168912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0806" y="1796111"/>
            <a:ext cx="9451975" cy="5329555"/>
          </a:xfrm>
          <a:custGeom>
            <a:avLst/>
            <a:gdLst/>
            <a:ahLst/>
            <a:cxnLst/>
            <a:rect l="l" t="t" r="r" b="b"/>
            <a:pathLst>
              <a:path w="9451975" h="5329555">
                <a:moveTo>
                  <a:pt x="0" y="0"/>
                </a:moveTo>
                <a:lnTo>
                  <a:pt x="9451697" y="0"/>
                </a:lnTo>
                <a:lnTo>
                  <a:pt x="9451697" y="5329359"/>
                </a:lnTo>
                <a:lnTo>
                  <a:pt x="0" y="5329359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3:</a:t>
            </a:r>
            <a:r>
              <a:rPr spc="-290" dirty="0"/>
              <a:t> </a:t>
            </a:r>
            <a:r>
              <a:rPr spc="-80" dirty="0"/>
              <a:t>BCNF</a:t>
            </a:r>
            <a:r>
              <a:rPr spc="-270" dirty="0"/>
              <a:t> </a:t>
            </a:r>
            <a:r>
              <a:rPr sz="3800" b="0" spc="-25" dirty="0">
                <a:latin typeface="Verdana"/>
                <a:cs typeface="Verdana"/>
              </a:rPr>
              <a:t>(3)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382084" y="2222245"/>
            <a:ext cx="2313305" cy="1248410"/>
          </a:xfrm>
          <a:custGeom>
            <a:avLst/>
            <a:gdLst/>
            <a:ahLst/>
            <a:cxnLst/>
            <a:rect l="l" t="t" r="r" b="b"/>
            <a:pathLst>
              <a:path w="2313304" h="1248410">
                <a:moveTo>
                  <a:pt x="0" y="0"/>
                </a:moveTo>
                <a:lnTo>
                  <a:pt x="2313276" y="0"/>
                </a:lnTo>
                <a:lnTo>
                  <a:pt x="2313276" y="1248155"/>
                </a:lnTo>
                <a:lnTo>
                  <a:pt x="0" y="1248155"/>
                </a:lnTo>
                <a:lnTo>
                  <a:pt x="0" y="0"/>
                </a:lnTo>
                <a:close/>
              </a:path>
            </a:pathLst>
          </a:custGeom>
          <a:ln w="10001">
            <a:solidFill>
              <a:srgbClr val="5757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3792" y="1308607"/>
            <a:ext cx="8157209" cy="1167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2.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1900">
              <a:latin typeface="Verdana"/>
              <a:cs typeface="Verdana"/>
            </a:endParaRPr>
          </a:p>
          <a:p>
            <a:pPr marL="59055">
              <a:lnSpc>
                <a:spcPct val="100000"/>
              </a:lnSpc>
              <a:spcBef>
                <a:spcPts val="2240"/>
              </a:spcBef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BC,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A,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700">
              <a:latin typeface="Verdana"/>
              <a:cs typeface="Verdana"/>
            </a:endParaRPr>
          </a:p>
          <a:p>
            <a:pPr marL="6948805">
              <a:lnSpc>
                <a:spcPct val="100000"/>
              </a:lnSpc>
              <a:spcBef>
                <a:spcPts val="630"/>
              </a:spcBef>
            </a:pP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1483" y="2414015"/>
            <a:ext cx="71564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645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645"/>
              </a:lnSpc>
              <a:tabLst>
                <a:tab pos="571500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98335" y="2439415"/>
            <a:ext cx="145415" cy="4127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R="5080">
              <a:lnSpc>
                <a:spcPts val="1490"/>
              </a:lnSpc>
              <a:spcBef>
                <a:spcPts val="204"/>
              </a:spcBef>
            </a:pPr>
            <a:r>
              <a:rPr sz="1300" spc="-35" dirty="0">
                <a:solidFill>
                  <a:srgbClr val="C00000"/>
                </a:solidFill>
                <a:latin typeface="Verdana"/>
                <a:cs typeface="Verdana"/>
              </a:rPr>
              <a:t>tr tr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11483" y="2795015"/>
            <a:ext cx="98869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0167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11483" y="2983991"/>
            <a:ext cx="10064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84645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81467" y="3176015"/>
            <a:ext cx="11163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98335" y="3009391"/>
            <a:ext cx="191135" cy="4159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R="5080">
              <a:lnSpc>
                <a:spcPts val="1510"/>
              </a:lnSpc>
              <a:spcBef>
                <a:spcPts val="190"/>
              </a:spcBef>
            </a:pPr>
            <a:r>
              <a:rPr sz="1300" spc="-25" dirty="0">
                <a:solidFill>
                  <a:srgbClr val="C00000"/>
                </a:solidFill>
                <a:latin typeface="Verdana"/>
                <a:cs typeface="Verdana"/>
              </a:rPr>
              <a:t>tr </a:t>
            </a:r>
            <a:r>
              <a:rPr sz="1300" spc="-50" dirty="0">
                <a:solidFill>
                  <a:srgbClr val="C00000"/>
                </a:solidFill>
                <a:latin typeface="Verdana"/>
                <a:cs typeface="Verdana"/>
              </a:rPr>
              <a:t>sk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3980" y="2417123"/>
            <a:ext cx="6745605" cy="118872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900" b="1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r>
              <a:rPr sz="1900" b="1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loose,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gain</a:t>
            </a:r>
            <a:endParaRPr sz="1700">
              <a:latin typeface="Verdana"/>
              <a:cs typeface="Verdana"/>
            </a:endParaRPr>
          </a:p>
          <a:p>
            <a:pPr marL="501015" indent="-236854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50101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First,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R(ABCD).</a:t>
            </a:r>
            <a:endParaRPr sz="1700">
              <a:latin typeface="Verdana"/>
              <a:cs typeface="Verdana"/>
            </a:endParaRPr>
          </a:p>
          <a:p>
            <a:pPr marL="974725" lvl="1" indent="-236854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97472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FDs,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closure.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6011" y="3665728"/>
            <a:ext cx="8580755" cy="333247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722630" marR="177165" indent="-236854">
              <a:lnSpc>
                <a:spcPct val="78800"/>
              </a:lnSpc>
              <a:spcBef>
                <a:spcPts val="530"/>
              </a:spcBef>
              <a:buFont typeface="Arial MT"/>
              <a:buChar char="•"/>
              <a:tabLst>
                <a:tab pos="72263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combination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contains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superkey.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minimal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R(ABCD)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AB.</a:t>
            </a:r>
            <a:endParaRPr sz="1700">
              <a:latin typeface="Verdana"/>
              <a:cs typeface="Verdana"/>
            </a:endParaRPr>
          </a:p>
          <a:p>
            <a:pPr marL="248920" marR="38735" indent="-236854">
              <a:lnSpc>
                <a:spcPct val="78800"/>
              </a:lnSpc>
              <a:spcBef>
                <a:spcPts val="1680"/>
              </a:spcBef>
              <a:buFont typeface="Arial MT"/>
              <a:buChar char="•"/>
              <a:tabLst>
                <a:tab pos="24892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Then,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start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(AB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C).</a:t>
            </a:r>
            <a:endParaRPr sz="1700">
              <a:latin typeface="Verdana"/>
              <a:cs typeface="Verdana"/>
            </a:endParaRPr>
          </a:p>
          <a:p>
            <a:pPr marL="248920" indent="-236220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24892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closure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AB.</a:t>
            </a:r>
            <a:endParaRPr sz="1700">
              <a:latin typeface="Verdana"/>
              <a:cs typeface="Verdana"/>
            </a:endParaRPr>
          </a:p>
          <a:p>
            <a:pPr marL="248920" indent="-236220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248920" algn="l"/>
              </a:tabLst>
            </a:pP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700" spc="-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us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envision,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endParaRPr sz="1700">
              <a:latin typeface="Verdana"/>
              <a:cs typeface="Verdana"/>
            </a:endParaRPr>
          </a:p>
          <a:p>
            <a:pPr marL="722630" marR="5080" lvl="1" indent="-236854">
              <a:lnSpc>
                <a:spcPct val="81200"/>
              </a:lnSpc>
              <a:spcBef>
                <a:spcPts val="1440"/>
              </a:spcBef>
              <a:buFont typeface="Arial MT"/>
              <a:buChar char="•"/>
              <a:tabLst>
                <a:tab pos="72263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(reflexive),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(transitive),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-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ABCD.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expanded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(~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reconstruct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original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decomposition).</a:t>
            </a:r>
            <a:endParaRPr sz="1700">
              <a:latin typeface="Verdana"/>
              <a:cs typeface="Verdana"/>
            </a:endParaRPr>
          </a:p>
          <a:p>
            <a:pPr marL="248920" marR="300990" indent="-236854">
              <a:lnSpc>
                <a:spcPct val="78800"/>
              </a:lnSpc>
              <a:spcBef>
                <a:spcPts val="1680"/>
              </a:spcBef>
              <a:buFont typeface="Arial MT"/>
              <a:buChar char="•"/>
              <a:tabLst>
                <a:tab pos="24892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AB+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(i.e.,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ABCD),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satisfies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lossless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property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(no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loose,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gain).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3060" y="168912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0806" y="1790628"/>
            <a:ext cx="9451975" cy="5307330"/>
          </a:xfrm>
          <a:custGeom>
            <a:avLst/>
            <a:gdLst/>
            <a:ahLst/>
            <a:cxnLst/>
            <a:rect l="l" t="t" r="r" b="b"/>
            <a:pathLst>
              <a:path w="9451975" h="5307330">
                <a:moveTo>
                  <a:pt x="0" y="0"/>
                </a:moveTo>
                <a:lnTo>
                  <a:pt x="9451697" y="0"/>
                </a:lnTo>
                <a:lnTo>
                  <a:pt x="9451697" y="5307011"/>
                </a:lnTo>
                <a:lnTo>
                  <a:pt x="0" y="5307011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3: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5" dirty="0"/>
              <a:t> </a:t>
            </a:r>
            <a:r>
              <a:rPr sz="3800" b="0" spc="-25" dirty="0">
                <a:latin typeface="Verdana"/>
                <a:cs typeface="Verdana"/>
              </a:rPr>
              <a:t>(4)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980" y="3776531"/>
            <a:ext cx="8835390" cy="327977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For</a:t>
            </a:r>
            <a:r>
              <a:rPr sz="1900" b="1" spc="-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every</a:t>
            </a:r>
            <a:r>
              <a:rPr sz="1900" b="1" spc="-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spc="-10" dirty="0">
                <a:solidFill>
                  <a:srgbClr val="C00000"/>
                </a:solidFill>
                <a:latin typeface="Verdana"/>
                <a:cs typeface="Verdana"/>
              </a:rPr>
              <a:t>non-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trivial</a:t>
            </a:r>
            <a:r>
              <a:rPr sz="19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FD,</a:t>
            </a:r>
            <a:r>
              <a:rPr sz="19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9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C00000"/>
                </a:solidFill>
                <a:latin typeface="Wingdings"/>
                <a:cs typeface="Wingdings"/>
              </a:rPr>
              <a:t></a:t>
            </a:r>
            <a:r>
              <a:rPr sz="185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Attribute(s),</a:t>
            </a:r>
            <a:r>
              <a:rPr sz="19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9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90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900" b="1" spc="-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spc="-10" dirty="0">
                <a:solidFill>
                  <a:srgbClr val="C00000"/>
                </a:solidFill>
                <a:latin typeface="Verdana"/>
                <a:cs typeface="Verdana"/>
              </a:rPr>
              <a:t>superkey</a:t>
            </a:r>
            <a:endParaRPr sz="1900">
              <a:latin typeface="Verdana"/>
              <a:cs typeface="Verdana"/>
            </a:endParaRPr>
          </a:p>
          <a:p>
            <a:pPr marL="501015" indent="-236854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50101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(A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ignore)</a:t>
            </a:r>
            <a:endParaRPr sz="1700">
              <a:latin typeface="Verdana"/>
              <a:cs typeface="Verdana"/>
            </a:endParaRPr>
          </a:p>
          <a:p>
            <a:pPr marL="974725" lvl="1" indent="-236854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97472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non-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ACD.</a:t>
            </a:r>
            <a:endParaRPr sz="1700">
              <a:latin typeface="Verdana"/>
              <a:cs typeface="Verdana"/>
            </a:endParaRPr>
          </a:p>
          <a:p>
            <a:pPr marL="974725" lvl="1" indent="-236854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97472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non-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relation.</a:t>
            </a:r>
            <a:endParaRPr sz="1700">
              <a:latin typeface="Verdana"/>
              <a:cs typeface="Verdana"/>
            </a:endParaRPr>
          </a:p>
          <a:p>
            <a:pPr marL="501015" indent="-236854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50101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BC,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non-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dependency.</a:t>
            </a:r>
            <a:endParaRPr sz="1700">
              <a:latin typeface="Verdana"/>
              <a:cs typeface="Verdana"/>
            </a:endParaRPr>
          </a:p>
          <a:p>
            <a:pPr marL="974725" marR="5080" lvl="1" indent="-236854">
              <a:lnSpc>
                <a:spcPct val="78800"/>
              </a:lnSpc>
              <a:spcBef>
                <a:spcPts val="1485"/>
              </a:spcBef>
              <a:buFont typeface="Arial MT"/>
              <a:buChar char="•"/>
              <a:tabLst>
                <a:tab pos="97472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default,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always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(even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all).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17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No</a:t>
            </a:r>
            <a:r>
              <a:rPr sz="17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BCNF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violation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68168" y="2561988"/>
            <a:ext cx="2313305" cy="1248410"/>
          </a:xfrm>
          <a:custGeom>
            <a:avLst/>
            <a:gdLst/>
            <a:ahLst/>
            <a:cxnLst/>
            <a:rect l="l" t="t" r="r" b="b"/>
            <a:pathLst>
              <a:path w="2313304" h="1248410">
                <a:moveTo>
                  <a:pt x="0" y="0"/>
                </a:moveTo>
                <a:lnTo>
                  <a:pt x="2313276" y="0"/>
                </a:lnTo>
                <a:lnTo>
                  <a:pt x="2313276" y="1248155"/>
                </a:lnTo>
                <a:lnTo>
                  <a:pt x="0" y="1248155"/>
                </a:lnTo>
                <a:lnTo>
                  <a:pt x="0" y="0"/>
                </a:lnTo>
                <a:close/>
              </a:path>
            </a:pathLst>
          </a:custGeom>
          <a:ln w="10001">
            <a:solidFill>
              <a:srgbClr val="5757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3792" y="1308607"/>
            <a:ext cx="8225155" cy="150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2.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1900">
              <a:latin typeface="Verdana"/>
              <a:cs typeface="Verdana"/>
            </a:endParaRPr>
          </a:p>
          <a:p>
            <a:pPr marL="59055" marR="5080">
              <a:lnSpc>
                <a:spcPts val="1989"/>
              </a:lnSpc>
              <a:spcBef>
                <a:spcPts val="2225"/>
              </a:spcBef>
            </a:pP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verify,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ACD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satisfy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r>
              <a:rPr sz="17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For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every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C00000"/>
                </a:solidFill>
                <a:latin typeface="Verdana"/>
                <a:cs typeface="Verdana"/>
              </a:rPr>
              <a:t>non-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trivial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FD,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Wingdings"/>
                <a:cs typeface="Wingdings"/>
              </a:rPr>
              <a:t></a:t>
            </a:r>
            <a:r>
              <a:rPr sz="17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Attribute(s),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superkey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700">
              <a:latin typeface="Verdana"/>
              <a:cs typeface="Verdana"/>
            </a:endParaRPr>
          </a:p>
          <a:p>
            <a:pPr marR="1019175" algn="r">
              <a:lnSpc>
                <a:spcPct val="100000"/>
              </a:lnSpc>
              <a:spcBef>
                <a:spcPts val="1395"/>
              </a:spcBef>
            </a:pP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84868" y="2752344"/>
            <a:ext cx="728345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55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ts val="1655"/>
              </a:lnSpc>
              <a:tabLst>
                <a:tab pos="584200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71720" y="2777744"/>
            <a:ext cx="158115" cy="4159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190"/>
              </a:spcBef>
            </a:pPr>
            <a:r>
              <a:rPr sz="1300" spc="-35" dirty="0">
                <a:solidFill>
                  <a:srgbClr val="C00000"/>
                </a:solidFill>
                <a:latin typeface="Verdana"/>
                <a:cs typeface="Verdana"/>
              </a:rPr>
              <a:t>tr tr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84868" y="3133344"/>
            <a:ext cx="100139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437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84868" y="3325367"/>
            <a:ext cx="10191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915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54852" y="3514344"/>
            <a:ext cx="11290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71720" y="3350767"/>
            <a:ext cx="203835" cy="4127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490"/>
              </a:lnSpc>
              <a:spcBef>
                <a:spcPts val="204"/>
              </a:spcBef>
            </a:pPr>
            <a:r>
              <a:rPr sz="1300" spc="-25" dirty="0">
                <a:solidFill>
                  <a:srgbClr val="C00000"/>
                </a:solidFill>
                <a:latin typeface="Verdana"/>
                <a:cs typeface="Verdana"/>
              </a:rPr>
              <a:t>tr </a:t>
            </a:r>
            <a:r>
              <a:rPr sz="1300" spc="-50" dirty="0">
                <a:solidFill>
                  <a:srgbClr val="C00000"/>
                </a:solidFill>
                <a:latin typeface="Verdana"/>
                <a:cs typeface="Verdana"/>
              </a:rPr>
              <a:t>sk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2085" y="2781808"/>
            <a:ext cx="50927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2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A,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2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2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2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}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3060" y="168912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0806" y="1790628"/>
            <a:ext cx="9451975" cy="5307330"/>
          </a:xfrm>
          <a:custGeom>
            <a:avLst/>
            <a:gdLst/>
            <a:ahLst/>
            <a:cxnLst/>
            <a:rect l="l" t="t" r="r" b="b"/>
            <a:pathLst>
              <a:path w="9451975" h="5307330">
                <a:moveTo>
                  <a:pt x="0" y="0"/>
                </a:moveTo>
                <a:lnTo>
                  <a:pt x="9451697" y="0"/>
                </a:lnTo>
                <a:lnTo>
                  <a:pt x="9451697" y="5307011"/>
                </a:lnTo>
                <a:lnTo>
                  <a:pt x="0" y="5307011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5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4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3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2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2828" y="3069465"/>
            <a:ext cx="72072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-1935" dirty="0">
                <a:solidFill>
                  <a:srgbClr val="C00000"/>
                </a:solidFill>
                <a:latin typeface="Comic Sans MS"/>
                <a:cs typeface="Comic Sans MS"/>
              </a:rPr>
              <a:t>1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700" spc="-40" dirty="0">
                <a:solidFill>
                  <a:srgbClr val="292934"/>
                </a:solidFill>
                <a:latin typeface="Comic Sans MS"/>
                <a:cs typeface="Comic Sans MS"/>
              </a:rPr>
              <a:t>Ready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for</a:t>
            </a:r>
            <a:r>
              <a:rPr sz="3700" spc="-40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the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next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one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spc="-25" dirty="0">
                <a:solidFill>
                  <a:srgbClr val="292934"/>
                </a:solidFill>
                <a:latin typeface="Comic Sans MS"/>
                <a:cs typeface="Comic Sans MS"/>
              </a:rPr>
              <a:t>??</a:t>
            </a:r>
            <a:endParaRPr sz="37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00437" y="3252332"/>
            <a:ext cx="3264535" cy="2112645"/>
          </a:xfrm>
          <a:custGeom>
            <a:avLst/>
            <a:gdLst/>
            <a:ahLst/>
            <a:cxnLst/>
            <a:rect l="l" t="t" r="r" b="b"/>
            <a:pathLst>
              <a:path w="3264534" h="2112645">
                <a:moveTo>
                  <a:pt x="3264408" y="0"/>
                </a:moveTo>
                <a:lnTo>
                  <a:pt x="0" y="0"/>
                </a:lnTo>
                <a:lnTo>
                  <a:pt x="0" y="2112264"/>
                </a:lnTo>
                <a:lnTo>
                  <a:pt x="3264408" y="2112264"/>
                </a:lnTo>
                <a:lnTo>
                  <a:pt x="3264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73106" y="3216865"/>
            <a:ext cx="2718435" cy="190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350" b="1" spc="30" dirty="0">
                <a:solidFill>
                  <a:srgbClr val="C00000"/>
                </a:solidFill>
                <a:latin typeface="Comic Sans MS"/>
                <a:cs typeface="Comic Sans MS"/>
              </a:rPr>
              <a:t>Go!!</a:t>
            </a:r>
            <a:endParaRPr sz="12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4:</a:t>
            </a:r>
            <a:r>
              <a:rPr spc="-295" dirty="0"/>
              <a:t> </a:t>
            </a:r>
            <a:r>
              <a:rPr spc="-25" dirty="0"/>
              <a:t>3NF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015" marR="150495" indent="-488950">
              <a:lnSpc>
                <a:spcPct val="100000"/>
              </a:lnSpc>
              <a:spcBef>
                <a:spcPts val="100"/>
              </a:spcBef>
            </a:pPr>
            <a:r>
              <a:rPr dirty="0"/>
              <a:t>Consider</a:t>
            </a:r>
            <a:r>
              <a:rPr spc="-8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following</a:t>
            </a:r>
            <a:r>
              <a:rPr spc="-70" dirty="0"/>
              <a:t> </a:t>
            </a:r>
            <a:r>
              <a:rPr dirty="0"/>
              <a:t>relation</a:t>
            </a:r>
            <a:r>
              <a:rPr spc="-8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functional</a:t>
            </a:r>
            <a:r>
              <a:rPr spc="-65" dirty="0"/>
              <a:t> </a:t>
            </a:r>
            <a:r>
              <a:rPr spc="-10" dirty="0"/>
              <a:t>dependencies </a:t>
            </a:r>
            <a:r>
              <a:rPr dirty="0"/>
              <a:t>R(A,</a:t>
            </a:r>
            <a:r>
              <a:rPr spc="-45" dirty="0"/>
              <a:t> </a:t>
            </a:r>
            <a:r>
              <a:rPr dirty="0"/>
              <a:t>B,</a:t>
            </a:r>
            <a:r>
              <a:rPr spc="-40" dirty="0"/>
              <a:t> </a:t>
            </a:r>
            <a:r>
              <a:rPr dirty="0"/>
              <a:t>C,</a:t>
            </a:r>
            <a:r>
              <a:rPr spc="-40" dirty="0"/>
              <a:t> </a:t>
            </a:r>
            <a:r>
              <a:rPr spc="-25" dirty="0"/>
              <a:t>D)</a:t>
            </a:r>
          </a:p>
          <a:p>
            <a:pPr marL="501015">
              <a:lnSpc>
                <a:spcPts val="2210"/>
              </a:lnSpc>
              <a:tabLst>
                <a:tab pos="3799204" algn="l"/>
              </a:tabLst>
            </a:pPr>
            <a:r>
              <a:rPr dirty="0"/>
              <a:t>FDs</a:t>
            </a:r>
            <a:r>
              <a:rPr spc="-20" dirty="0"/>
              <a:t> </a:t>
            </a:r>
            <a:r>
              <a:rPr dirty="0"/>
              <a:t>=</a:t>
            </a:r>
            <a:r>
              <a:rPr spc="-20" dirty="0"/>
              <a:t> </a:t>
            </a:r>
            <a:r>
              <a:rPr dirty="0"/>
              <a:t>{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dirty="0"/>
              <a:t>ABC,</a:t>
            </a:r>
            <a:r>
              <a:rPr spc="-20" dirty="0"/>
              <a:t> </a:t>
            </a:r>
            <a:r>
              <a:rPr dirty="0"/>
              <a:t>C</a:t>
            </a:r>
            <a:r>
              <a:rPr spc="-10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165" dirty="0">
                <a:latin typeface="Times New Roman"/>
                <a:cs typeface="Times New Roman"/>
              </a:rPr>
              <a:t> </a:t>
            </a:r>
            <a:r>
              <a:rPr spc="-25" dirty="0"/>
              <a:t>D,</a:t>
            </a:r>
            <a:r>
              <a:rPr dirty="0"/>
              <a:t>	A</a:t>
            </a:r>
            <a:r>
              <a:rPr spc="-25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170" dirty="0">
                <a:latin typeface="Times New Roman"/>
                <a:cs typeface="Times New Roman"/>
              </a:rPr>
              <a:t> </a:t>
            </a:r>
            <a:r>
              <a:rPr dirty="0"/>
              <a:t>C,</a:t>
            </a:r>
            <a:r>
              <a:rPr spc="-20" dirty="0"/>
              <a:t> </a:t>
            </a:r>
            <a:r>
              <a:rPr dirty="0"/>
              <a:t>D</a:t>
            </a:r>
            <a:r>
              <a:rPr spc="-20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170" dirty="0">
                <a:latin typeface="Times New Roman"/>
                <a:cs typeface="Times New Roman"/>
              </a:rPr>
              <a:t> </a:t>
            </a:r>
            <a:r>
              <a:rPr dirty="0"/>
              <a:t>D</a:t>
            </a:r>
            <a:r>
              <a:rPr spc="-15" dirty="0"/>
              <a:t> </a:t>
            </a:r>
            <a:r>
              <a:rPr spc="-50" dirty="0"/>
              <a:t>}</a:t>
            </a:r>
          </a:p>
          <a:p>
            <a:pPr marL="335915" indent="-323215">
              <a:lnSpc>
                <a:spcPct val="100000"/>
              </a:lnSpc>
              <a:spcBef>
                <a:spcPts val="2300"/>
              </a:spcBef>
              <a:buAutoNum type="arabicPeriod"/>
              <a:tabLst>
                <a:tab pos="335915" algn="l"/>
              </a:tabLst>
            </a:pPr>
            <a:r>
              <a:rPr dirty="0"/>
              <a:t>Decompose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given</a:t>
            </a:r>
            <a:r>
              <a:rPr spc="-65" dirty="0"/>
              <a:t> </a:t>
            </a:r>
            <a:r>
              <a:rPr dirty="0"/>
              <a:t>relation</a:t>
            </a:r>
            <a:r>
              <a:rPr spc="-60" dirty="0"/>
              <a:t> </a:t>
            </a:r>
            <a:r>
              <a:rPr dirty="0"/>
              <a:t>R(A,</a:t>
            </a:r>
            <a:r>
              <a:rPr spc="-60" dirty="0"/>
              <a:t> </a:t>
            </a:r>
            <a:r>
              <a:rPr dirty="0"/>
              <a:t>B,</a:t>
            </a:r>
            <a:r>
              <a:rPr spc="-65" dirty="0"/>
              <a:t> </a:t>
            </a:r>
            <a:r>
              <a:rPr dirty="0"/>
              <a:t>C,</a:t>
            </a:r>
            <a:r>
              <a:rPr spc="-60" dirty="0"/>
              <a:t> </a:t>
            </a:r>
            <a:r>
              <a:rPr dirty="0"/>
              <a:t>D)</a:t>
            </a:r>
            <a:r>
              <a:rPr spc="-60" dirty="0"/>
              <a:t> </a:t>
            </a:r>
            <a:r>
              <a:rPr dirty="0"/>
              <a:t>using</a:t>
            </a:r>
            <a:r>
              <a:rPr spc="-60" dirty="0"/>
              <a:t> </a:t>
            </a:r>
            <a:r>
              <a:rPr spc="-25" dirty="0"/>
              <a:t>3NF</a:t>
            </a:r>
          </a:p>
          <a:p>
            <a:pPr marL="335915" indent="-323215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335915" algn="l"/>
              </a:tabLst>
            </a:pPr>
            <a:r>
              <a:rPr dirty="0"/>
              <a:t>Discuss</a:t>
            </a:r>
            <a:r>
              <a:rPr spc="-5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show</a:t>
            </a:r>
            <a:r>
              <a:rPr spc="-5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decomposed</a:t>
            </a:r>
            <a:r>
              <a:rPr spc="-50" dirty="0"/>
              <a:t> </a:t>
            </a:r>
            <a:r>
              <a:rPr dirty="0"/>
              <a:t>relations</a:t>
            </a:r>
            <a:r>
              <a:rPr spc="-55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spc="-25" dirty="0"/>
              <a:t>3NF</a:t>
            </a:r>
          </a:p>
        </p:txBody>
      </p:sp>
      <p:sp>
        <p:nvSpPr>
          <p:cNvPr id="4" name="object 4"/>
          <p:cNvSpPr/>
          <p:nvPr/>
        </p:nvSpPr>
        <p:spPr>
          <a:xfrm>
            <a:off x="353060" y="3367948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62515" y="3972559"/>
            <a:ext cx="3860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Fc: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2515" y="4249928"/>
            <a:ext cx="6748145" cy="148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315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endParaRPr sz="1900">
              <a:latin typeface="Verdana"/>
              <a:cs typeface="Verdana"/>
            </a:endParaRPr>
          </a:p>
          <a:p>
            <a:pPr marL="488315">
              <a:lnSpc>
                <a:spcPct val="100000"/>
              </a:lnSpc>
              <a:spcBef>
                <a:spcPts val="2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relations:</a:t>
            </a:r>
            <a:endParaRPr sz="1900">
              <a:latin typeface="Verdana"/>
              <a:cs typeface="Verdana"/>
            </a:endParaRPr>
          </a:p>
          <a:p>
            <a:pPr marL="488315">
              <a:lnSpc>
                <a:spcPct val="100000"/>
              </a:lnSpc>
              <a:spcBef>
                <a:spcPts val="25"/>
              </a:spcBef>
              <a:tabLst>
                <a:tab pos="257492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	or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written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R1(ABC)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R2(CD)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03813" y="3603781"/>
            <a:ext cx="9008110" cy="3019425"/>
            <a:chOff x="503813" y="3603781"/>
            <a:chExt cx="9008110" cy="3019425"/>
          </a:xfrm>
        </p:grpSpPr>
        <p:sp>
          <p:nvSpPr>
            <p:cNvPr id="8" name="object 8"/>
            <p:cNvSpPr/>
            <p:nvPr/>
          </p:nvSpPr>
          <p:spPr>
            <a:xfrm>
              <a:off x="510480" y="3610448"/>
              <a:ext cx="8994775" cy="3006090"/>
            </a:xfrm>
            <a:custGeom>
              <a:avLst/>
              <a:gdLst/>
              <a:ahLst/>
              <a:cxnLst/>
              <a:rect l="l" t="t" r="r" b="b"/>
              <a:pathLst>
                <a:path w="8994775" h="3006090">
                  <a:moveTo>
                    <a:pt x="0" y="0"/>
                  </a:moveTo>
                  <a:lnTo>
                    <a:pt x="8994354" y="0"/>
                  </a:lnTo>
                  <a:lnTo>
                    <a:pt x="8994354" y="3005743"/>
                  </a:lnTo>
                  <a:lnTo>
                    <a:pt x="0" y="3005743"/>
                  </a:lnTo>
                  <a:lnTo>
                    <a:pt x="0" y="0"/>
                  </a:lnTo>
                  <a:close/>
                </a:path>
              </a:pathLst>
            </a:custGeom>
            <a:ln w="13334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59825" y="3762099"/>
              <a:ext cx="2352675" cy="648335"/>
            </a:xfrm>
            <a:custGeom>
              <a:avLst/>
              <a:gdLst/>
              <a:ahLst/>
              <a:cxnLst/>
              <a:rect l="l" t="t" r="r" b="b"/>
              <a:pathLst>
                <a:path w="2352675" h="648335">
                  <a:moveTo>
                    <a:pt x="2244316" y="0"/>
                  </a:moveTo>
                  <a:lnTo>
                    <a:pt x="107977" y="0"/>
                  </a:lnTo>
                  <a:lnTo>
                    <a:pt x="65948" y="8485"/>
                  </a:lnTo>
                  <a:lnTo>
                    <a:pt x="31626" y="31626"/>
                  </a:lnTo>
                  <a:lnTo>
                    <a:pt x="8485" y="65948"/>
                  </a:lnTo>
                  <a:lnTo>
                    <a:pt x="0" y="107977"/>
                  </a:lnTo>
                  <a:lnTo>
                    <a:pt x="0" y="539883"/>
                  </a:lnTo>
                  <a:lnTo>
                    <a:pt x="8485" y="581911"/>
                  </a:lnTo>
                  <a:lnTo>
                    <a:pt x="31626" y="616233"/>
                  </a:lnTo>
                  <a:lnTo>
                    <a:pt x="65948" y="639374"/>
                  </a:lnTo>
                  <a:lnTo>
                    <a:pt x="107977" y="647860"/>
                  </a:lnTo>
                  <a:lnTo>
                    <a:pt x="2244316" y="647860"/>
                  </a:lnTo>
                  <a:lnTo>
                    <a:pt x="2286345" y="639374"/>
                  </a:lnTo>
                  <a:lnTo>
                    <a:pt x="2320667" y="616233"/>
                  </a:lnTo>
                  <a:lnTo>
                    <a:pt x="2343808" y="581911"/>
                  </a:lnTo>
                  <a:lnTo>
                    <a:pt x="2352294" y="539883"/>
                  </a:lnTo>
                  <a:lnTo>
                    <a:pt x="2352294" y="107977"/>
                  </a:lnTo>
                  <a:lnTo>
                    <a:pt x="2343808" y="65948"/>
                  </a:lnTo>
                  <a:lnTo>
                    <a:pt x="2320667" y="31626"/>
                  </a:lnTo>
                  <a:lnTo>
                    <a:pt x="2286345" y="8485"/>
                  </a:lnTo>
                  <a:lnTo>
                    <a:pt x="224431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59825" y="3762099"/>
              <a:ext cx="2352675" cy="648335"/>
            </a:xfrm>
            <a:custGeom>
              <a:avLst/>
              <a:gdLst/>
              <a:ahLst/>
              <a:cxnLst/>
              <a:rect l="l" t="t" r="r" b="b"/>
              <a:pathLst>
                <a:path w="2352675" h="648335">
                  <a:moveTo>
                    <a:pt x="0" y="107978"/>
                  </a:moveTo>
                  <a:lnTo>
                    <a:pt x="8485" y="65948"/>
                  </a:lnTo>
                  <a:lnTo>
                    <a:pt x="31626" y="31626"/>
                  </a:lnTo>
                  <a:lnTo>
                    <a:pt x="65948" y="8485"/>
                  </a:lnTo>
                  <a:lnTo>
                    <a:pt x="107978" y="0"/>
                  </a:lnTo>
                  <a:lnTo>
                    <a:pt x="392048" y="0"/>
                  </a:lnTo>
                  <a:lnTo>
                    <a:pt x="980122" y="0"/>
                  </a:lnTo>
                  <a:lnTo>
                    <a:pt x="2244315" y="0"/>
                  </a:lnTo>
                  <a:lnTo>
                    <a:pt x="2286345" y="8485"/>
                  </a:lnTo>
                  <a:lnTo>
                    <a:pt x="2320667" y="31626"/>
                  </a:lnTo>
                  <a:lnTo>
                    <a:pt x="2343808" y="65948"/>
                  </a:lnTo>
                  <a:lnTo>
                    <a:pt x="2352293" y="107978"/>
                  </a:lnTo>
                  <a:lnTo>
                    <a:pt x="2352293" y="377918"/>
                  </a:lnTo>
                  <a:lnTo>
                    <a:pt x="2352293" y="539883"/>
                  </a:lnTo>
                  <a:lnTo>
                    <a:pt x="2343808" y="581911"/>
                  </a:lnTo>
                  <a:lnTo>
                    <a:pt x="2320667" y="616233"/>
                  </a:lnTo>
                  <a:lnTo>
                    <a:pt x="2286345" y="639373"/>
                  </a:lnTo>
                  <a:lnTo>
                    <a:pt x="2244315" y="647859"/>
                  </a:lnTo>
                  <a:lnTo>
                    <a:pt x="980122" y="647859"/>
                  </a:lnTo>
                  <a:lnTo>
                    <a:pt x="392048" y="647859"/>
                  </a:lnTo>
                  <a:lnTo>
                    <a:pt x="107978" y="647859"/>
                  </a:lnTo>
                  <a:lnTo>
                    <a:pt x="65948" y="639373"/>
                  </a:lnTo>
                  <a:lnTo>
                    <a:pt x="31626" y="616233"/>
                  </a:lnTo>
                  <a:lnTo>
                    <a:pt x="8485" y="581911"/>
                  </a:lnTo>
                  <a:lnTo>
                    <a:pt x="0" y="539881"/>
                  </a:lnTo>
                  <a:lnTo>
                    <a:pt x="0" y="426199"/>
                  </a:lnTo>
                  <a:lnTo>
                    <a:pt x="0" y="377918"/>
                  </a:lnTo>
                  <a:lnTo>
                    <a:pt x="0" y="107978"/>
                  </a:lnTo>
                  <a:close/>
                </a:path>
              </a:pathLst>
            </a:custGeom>
            <a:ln w="2774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67518" y="3815079"/>
            <a:ext cx="1951355" cy="5410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4175" marR="5080" indent="-384810">
              <a:lnSpc>
                <a:spcPts val="2020"/>
              </a:lnSpc>
              <a:spcBef>
                <a:spcPts val="180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What</a:t>
            </a:r>
            <a:r>
              <a:rPr sz="17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7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minimal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super</a:t>
            </a:r>
            <a:r>
              <a:rPr sz="17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key?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4:</a:t>
            </a:r>
            <a:r>
              <a:rPr spc="-325" dirty="0"/>
              <a:t> </a:t>
            </a:r>
            <a:r>
              <a:rPr spc="-45" dirty="0"/>
              <a:t>3NF</a:t>
            </a:r>
            <a:r>
              <a:rPr spc="-285" dirty="0"/>
              <a:t> </a:t>
            </a:r>
            <a:r>
              <a:rPr sz="3800" b="0" spc="-25" dirty="0">
                <a:latin typeface="Verdana"/>
                <a:cs typeface="Verdana"/>
              </a:rPr>
              <a:t>(2)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792" y="1308607"/>
            <a:ext cx="8566785" cy="315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33591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endParaRPr sz="1900">
              <a:latin typeface="Verdana"/>
              <a:cs typeface="Verdana"/>
            </a:endParaRPr>
          </a:p>
          <a:p>
            <a:pPr marL="59055" marR="5080">
              <a:lnSpc>
                <a:spcPts val="1989"/>
              </a:lnSpc>
              <a:spcBef>
                <a:spcPts val="2225"/>
              </a:spcBef>
              <a:tabLst>
                <a:tab pos="498157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satisfy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7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C00000"/>
                </a:solidFill>
                <a:latin typeface="Verdana"/>
                <a:cs typeface="Verdana"/>
              </a:rPr>
              <a:t>join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dependency</a:t>
            </a:r>
            <a:r>
              <a:rPr sz="1700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preserving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Fc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BC,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700">
              <a:latin typeface="Verdana"/>
              <a:cs typeface="Verdana"/>
            </a:endParaRPr>
          </a:p>
          <a:p>
            <a:pPr marL="2254250" marR="16510" indent="-2109470">
              <a:lnSpc>
                <a:spcPct val="101400"/>
              </a:lnSpc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900" b="1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r>
              <a:rPr sz="190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!=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a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either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both)</a:t>
            </a:r>
            <a:endParaRPr sz="1700">
              <a:latin typeface="Verdana"/>
              <a:cs typeface="Verdana"/>
            </a:endParaRPr>
          </a:p>
          <a:p>
            <a:pPr marL="626110" lvl="1" indent="-192405">
              <a:lnSpc>
                <a:spcPct val="100000"/>
              </a:lnSpc>
              <a:spcBef>
                <a:spcPts val="1750"/>
              </a:spcBef>
              <a:buFont typeface="Arial MT"/>
              <a:buChar char="•"/>
              <a:tabLst>
                <a:tab pos="62611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Let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CD,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700">
              <a:latin typeface="Verdana"/>
              <a:cs typeface="Verdana"/>
            </a:endParaRPr>
          </a:p>
          <a:p>
            <a:pPr marL="626110" lvl="1" indent="-192405">
              <a:lnSpc>
                <a:spcPct val="100000"/>
              </a:lnSpc>
              <a:spcBef>
                <a:spcPts val="1755"/>
              </a:spcBef>
              <a:buFont typeface="Arial MT"/>
              <a:buChar char="•"/>
              <a:tabLst>
                <a:tab pos="62611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Fc,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conclude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(R2)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060" y="168912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0806" y="1790628"/>
            <a:ext cx="9451975" cy="5307330"/>
          </a:xfrm>
          <a:custGeom>
            <a:avLst/>
            <a:gdLst/>
            <a:ahLst/>
            <a:cxnLst/>
            <a:rect l="l" t="t" r="r" b="b"/>
            <a:pathLst>
              <a:path w="9451975" h="5307330">
                <a:moveTo>
                  <a:pt x="0" y="0"/>
                </a:moveTo>
                <a:lnTo>
                  <a:pt x="9451697" y="0"/>
                </a:lnTo>
                <a:lnTo>
                  <a:pt x="9451697" y="5307011"/>
                </a:lnTo>
                <a:lnTo>
                  <a:pt x="0" y="5307011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4:</a:t>
            </a:r>
            <a:r>
              <a:rPr spc="-325" dirty="0"/>
              <a:t> </a:t>
            </a:r>
            <a:r>
              <a:rPr spc="-45" dirty="0"/>
              <a:t>3NF</a:t>
            </a:r>
            <a:r>
              <a:rPr spc="-285" dirty="0"/>
              <a:t> </a:t>
            </a:r>
            <a:r>
              <a:rPr sz="3800" b="0" spc="-25" dirty="0">
                <a:latin typeface="Verdana"/>
                <a:cs typeface="Verdana"/>
              </a:rPr>
              <a:t>(3)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792" y="1308607"/>
            <a:ext cx="8862695" cy="5598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33591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endParaRPr sz="1900">
              <a:latin typeface="Verdana"/>
              <a:cs typeface="Verdana"/>
            </a:endParaRPr>
          </a:p>
          <a:p>
            <a:pPr marL="59055">
              <a:lnSpc>
                <a:spcPct val="100000"/>
              </a:lnSpc>
              <a:spcBef>
                <a:spcPts val="1925"/>
              </a:spcBef>
              <a:tabLst>
                <a:tab pos="5554980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CD,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Fc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BC,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700">
              <a:latin typeface="Verdana"/>
              <a:cs typeface="Verdana"/>
            </a:endParaRPr>
          </a:p>
          <a:p>
            <a:pPr marL="42545">
              <a:lnSpc>
                <a:spcPct val="100000"/>
              </a:lnSpc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900" b="1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r>
              <a:rPr sz="1900" b="1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loose,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gain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First,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R(ABCD).</a:t>
            </a:r>
            <a:endParaRPr sz="1700">
              <a:latin typeface="Verdana"/>
              <a:cs typeface="Verdana"/>
            </a:endParaRPr>
          </a:p>
          <a:p>
            <a:pPr marL="1004569" lvl="2" indent="-236854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FDs,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closure.</a:t>
            </a:r>
            <a:endParaRPr sz="1700">
              <a:latin typeface="Verdana"/>
              <a:cs typeface="Verdana"/>
            </a:endParaRPr>
          </a:p>
          <a:p>
            <a:pPr marL="1004569" marR="323850" lvl="2" indent="-236854">
              <a:lnSpc>
                <a:spcPct val="78800"/>
              </a:lnSpc>
              <a:spcBef>
                <a:spcPts val="1105"/>
              </a:spcBef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combination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contains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superkey.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minimal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R(ABCD)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A.</a:t>
            </a:r>
            <a:endParaRPr sz="1700">
              <a:latin typeface="Verdana"/>
              <a:cs typeface="Verdana"/>
            </a:endParaRPr>
          </a:p>
          <a:p>
            <a:pPr marL="531495" marR="182880" lvl="1" indent="-236854">
              <a:lnSpc>
                <a:spcPct val="78800"/>
              </a:lnSpc>
              <a:spcBef>
                <a:spcPts val="1680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Then,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start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A,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(refer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Fc: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BC).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closure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A.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700" spc="-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us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envision,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endParaRPr sz="1700">
              <a:latin typeface="Verdana"/>
              <a:cs typeface="Verdana"/>
            </a:endParaRPr>
          </a:p>
          <a:p>
            <a:pPr marL="1004569" marR="5080" lvl="2" indent="-236854">
              <a:lnSpc>
                <a:spcPct val="81200"/>
              </a:lnSpc>
              <a:spcBef>
                <a:spcPts val="1440"/>
              </a:spcBef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(Fc),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(reflexive),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(transitive),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-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ABCD.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expanded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(~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reconstruct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original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decomposition).</a:t>
            </a:r>
            <a:endParaRPr sz="1700">
              <a:latin typeface="Verdana"/>
              <a:cs typeface="Verdana"/>
            </a:endParaRPr>
          </a:p>
          <a:p>
            <a:pPr marL="531495" marR="121920" lvl="1" indent="-236854">
              <a:lnSpc>
                <a:spcPct val="78800"/>
              </a:lnSpc>
              <a:spcBef>
                <a:spcPts val="1680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A+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(i.e.,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8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ABCD),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satisfies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lossless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join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property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loose,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gain).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060" y="168912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0806" y="1790628"/>
            <a:ext cx="9451975" cy="5307330"/>
          </a:xfrm>
          <a:custGeom>
            <a:avLst/>
            <a:gdLst/>
            <a:ahLst/>
            <a:cxnLst/>
            <a:rect l="l" t="t" r="r" b="b"/>
            <a:pathLst>
              <a:path w="9451975" h="5307330">
                <a:moveTo>
                  <a:pt x="0" y="0"/>
                </a:moveTo>
                <a:lnTo>
                  <a:pt x="9451697" y="0"/>
                </a:lnTo>
                <a:lnTo>
                  <a:pt x="9451697" y="5307011"/>
                </a:lnTo>
                <a:lnTo>
                  <a:pt x="0" y="5307011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4:</a:t>
            </a:r>
            <a:r>
              <a:rPr spc="-325" dirty="0"/>
              <a:t> </a:t>
            </a:r>
            <a:r>
              <a:rPr spc="-45" dirty="0"/>
              <a:t>3NF</a:t>
            </a:r>
            <a:r>
              <a:rPr spc="-285" dirty="0"/>
              <a:t> </a:t>
            </a:r>
            <a:r>
              <a:rPr sz="3800" b="0" spc="-25" dirty="0">
                <a:latin typeface="Verdana"/>
                <a:cs typeface="Verdana"/>
              </a:rPr>
              <a:t>(4)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0648" y="6594856"/>
            <a:ext cx="17938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3NF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violation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3792" y="1308607"/>
            <a:ext cx="8766810" cy="463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33591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3NF</a:t>
            </a:r>
            <a:endParaRPr sz="1900">
              <a:latin typeface="Verdana"/>
              <a:cs typeface="Verdana"/>
            </a:endParaRPr>
          </a:p>
          <a:p>
            <a:pPr marL="59055">
              <a:lnSpc>
                <a:spcPct val="100000"/>
              </a:lnSpc>
              <a:spcBef>
                <a:spcPts val="1925"/>
              </a:spcBef>
              <a:tabLst>
                <a:tab pos="5554980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CD,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Fc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BC,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700">
              <a:latin typeface="Verdana"/>
              <a:cs typeface="Verdana"/>
            </a:endParaRPr>
          </a:p>
          <a:p>
            <a:pPr marL="42545">
              <a:lnSpc>
                <a:spcPct val="100000"/>
              </a:lnSpc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Dependency</a:t>
            </a:r>
            <a:r>
              <a:rPr sz="190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spc="-10" dirty="0">
                <a:solidFill>
                  <a:srgbClr val="C00000"/>
                </a:solidFill>
                <a:latin typeface="Verdana"/>
                <a:cs typeface="Verdana"/>
              </a:rPr>
              <a:t>preserving</a:t>
            </a:r>
            <a:endParaRPr sz="1900">
              <a:latin typeface="Verdana"/>
              <a:cs typeface="Verdana"/>
            </a:endParaRPr>
          </a:p>
          <a:p>
            <a:pPr marL="531495" marR="5080" lvl="1" indent="-236854">
              <a:lnSpc>
                <a:spcPts val="1700"/>
              </a:lnSpc>
              <a:spcBef>
                <a:spcPts val="1355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verified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single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relation.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FDs:</a:t>
            </a:r>
            <a:endParaRPr sz="1700">
              <a:latin typeface="Verdana"/>
              <a:cs typeface="Verdana"/>
            </a:endParaRPr>
          </a:p>
          <a:p>
            <a:pPr marL="1004569" lvl="2" indent="-236854">
              <a:lnSpc>
                <a:spcPts val="2030"/>
              </a:lnSpc>
              <a:spcBef>
                <a:spcPts val="650"/>
              </a:spcBef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verified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endParaRPr sz="1700">
              <a:latin typeface="Verdana"/>
              <a:cs typeface="Verdana"/>
            </a:endParaRPr>
          </a:p>
          <a:p>
            <a:pPr marL="1004569" lvl="2" indent="-236854">
              <a:lnSpc>
                <a:spcPts val="2030"/>
              </a:lnSpc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verified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700">
              <a:latin typeface="Verdana"/>
              <a:cs typeface="Verdana"/>
            </a:endParaRPr>
          </a:p>
          <a:p>
            <a:pPr marL="1004569" lvl="2" indent="-236854">
              <a:lnSpc>
                <a:spcPts val="2030"/>
              </a:lnSpc>
              <a:spcBef>
                <a:spcPts val="45"/>
              </a:spcBef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verified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endParaRPr sz="1700">
              <a:latin typeface="Verdana"/>
              <a:cs typeface="Verdana"/>
            </a:endParaRPr>
          </a:p>
          <a:p>
            <a:pPr marL="1004569" lvl="2" indent="-236854">
              <a:lnSpc>
                <a:spcPts val="2030"/>
              </a:lnSpc>
              <a:buFont typeface="Arial MT"/>
              <a:buChar char="•"/>
              <a:tabLst>
                <a:tab pos="100456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verified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700">
              <a:latin typeface="Verdana"/>
              <a:cs typeface="Verdana"/>
            </a:endParaRPr>
          </a:p>
          <a:p>
            <a:pPr marL="1492885" lvl="3" indent="-23558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149288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Always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true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contains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transitive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dependency.</a:t>
            </a:r>
            <a:endParaRPr sz="1700">
              <a:latin typeface="Verdana"/>
              <a:cs typeface="Verdana"/>
            </a:endParaRPr>
          </a:p>
          <a:p>
            <a:pPr marL="531495" lvl="1" indent="-236854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53149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satisfies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preserving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property.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3060" y="168912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0806" y="1790628"/>
            <a:ext cx="9451975" cy="5307330"/>
          </a:xfrm>
          <a:custGeom>
            <a:avLst/>
            <a:gdLst/>
            <a:ahLst/>
            <a:cxnLst/>
            <a:rect l="l" t="t" r="r" b="b"/>
            <a:pathLst>
              <a:path w="9451975" h="5307330">
                <a:moveTo>
                  <a:pt x="0" y="0"/>
                </a:moveTo>
                <a:lnTo>
                  <a:pt x="9451697" y="0"/>
                </a:lnTo>
                <a:lnTo>
                  <a:pt x="9451697" y="5307011"/>
                </a:lnTo>
                <a:lnTo>
                  <a:pt x="0" y="5307011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5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4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3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2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2828" y="3069465"/>
            <a:ext cx="72072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-1935" dirty="0">
                <a:solidFill>
                  <a:srgbClr val="C00000"/>
                </a:solidFill>
                <a:latin typeface="Comic Sans MS"/>
                <a:cs typeface="Comic Sans MS"/>
              </a:rPr>
              <a:t>1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700" spc="-40" dirty="0">
                <a:solidFill>
                  <a:srgbClr val="292934"/>
                </a:solidFill>
                <a:latin typeface="Comic Sans MS"/>
                <a:cs typeface="Comic Sans MS"/>
              </a:rPr>
              <a:t>Ready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for</a:t>
            </a:r>
            <a:r>
              <a:rPr sz="3700" spc="-40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the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next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one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spc="-25" dirty="0">
                <a:solidFill>
                  <a:srgbClr val="292934"/>
                </a:solidFill>
                <a:latin typeface="Comic Sans MS"/>
                <a:cs typeface="Comic Sans MS"/>
              </a:rPr>
              <a:t>??</a:t>
            </a:r>
            <a:endParaRPr sz="37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00437" y="3252332"/>
            <a:ext cx="3264535" cy="2112645"/>
          </a:xfrm>
          <a:custGeom>
            <a:avLst/>
            <a:gdLst/>
            <a:ahLst/>
            <a:cxnLst/>
            <a:rect l="l" t="t" r="r" b="b"/>
            <a:pathLst>
              <a:path w="3264534" h="2112645">
                <a:moveTo>
                  <a:pt x="3264408" y="0"/>
                </a:moveTo>
                <a:lnTo>
                  <a:pt x="0" y="0"/>
                </a:lnTo>
                <a:lnTo>
                  <a:pt x="0" y="2112264"/>
                </a:lnTo>
                <a:lnTo>
                  <a:pt x="3264408" y="2112264"/>
                </a:lnTo>
                <a:lnTo>
                  <a:pt x="3264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73106" y="3216865"/>
            <a:ext cx="2718435" cy="190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350" b="1" spc="30" dirty="0">
                <a:solidFill>
                  <a:srgbClr val="C00000"/>
                </a:solidFill>
                <a:latin typeface="Comic Sans MS"/>
                <a:cs typeface="Comic Sans MS"/>
              </a:rPr>
              <a:t>Go!!</a:t>
            </a:r>
            <a:endParaRPr sz="12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5:</a:t>
            </a:r>
            <a:r>
              <a:rPr spc="-295" dirty="0"/>
              <a:t> </a:t>
            </a:r>
            <a:r>
              <a:rPr spc="-20" dirty="0"/>
              <a:t>BCNF</a:t>
            </a:r>
          </a:p>
        </p:txBody>
      </p:sp>
      <p:sp>
        <p:nvSpPr>
          <p:cNvPr id="3" name="object 3"/>
          <p:cNvSpPr/>
          <p:nvPr/>
        </p:nvSpPr>
        <p:spPr>
          <a:xfrm>
            <a:off x="353060" y="3097110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3792" y="1302511"/>
            <a:ext cx="7561580" cy="1726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015" marR="330835" indent="-48895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9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dependencies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R(A,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D)</a:t>
            </a:r>
            <a:endParaRPr sz="1900">
              <a:latin typeface="Verdana"/>
              <a:cs typeface="Verdana"/>
            </a:endParaRPr>
          </a:p>
          <a:p>
            <a:pPr marL="501015">
              <a:lnSpc>
                <a:spcPts val="2210"/>
              </a:lnSpc>
              <a:tabLst>
                <a:tab pos="3799204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	A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  <a:p>
            <a:pPr marL="335915" indent="-323215">
              <a:lnSpc>
                <a:spcPct val="100000"/>
              </a:lnSpc>
              <a:spcBef>
                <a:spcPts val="1870"/>
              </a:spcBef>
              <a:buAutoNum type="arabicPeriod"/>
              <a:tabLst>
                <a:tab pos="33591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R(A,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D)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1900">
              <a:latin typeface="Verdana"/>
              <a:cs typeface="Verdana"/>
            </a:endParaRPr>
          </a:p>
          <a:p>
            <a:pPr marL="335915" indent="-323215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335915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77609" y="3419671"/>
            <a:ext cx="2428240" cy="1342390"/>
          </a:xfrm>
          <a:custGeom>
            <a:avLst/>
            <a:gdLst/>
            <a:ahLst/>
            <a:cxnLst/>
            <a:rect l="l" t="t" r="r" b="b"/>
            <a:pathLst>
              <a:path w="2428240" h="1342389">
                <a:moveTo>
                  <a:pt x="0" y="0"/>
                </a:moveTo>
                <a:lnTo>
                  <a:pt x="2428240" y="0"/>
                </a:lnTo>
                <a:lnTo>
                  <a:pt x="2428240" y="1342000"/>
                </a:lnTo>
                <a:lnTo>
                  <a:pt x="0" y="1342000"/>
                </a:lnTo>
                <a:lnTo>
                  <a:pt x="0" y="0"/>
                </a:lnTo>
                <a:close/>
              </a:path>
            </a:pathLst>
          </a:custGeom>
          <a:ln w="10001">
            <a:solidFill>
              <a:srgbClr val="5757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48629" y="3495040"/>
            <a:ext cx="3130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27011" y="3711447"/>
            <a:ext cx="1686560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870"/>
              </a:lnSpc>
              <a:spcBef>
                <a:spcPts val="100"/>
              </a:spcBef>
              <a:tabLst>
                <a:tab pos="146621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sk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870"/>
              </a:lnSpc>
              <a:tabLst>
                <a:tab pos="654685" algn="l"/>
                <a:tab pos="146621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27011" y="4141215"/>
            <a:ext cx="163258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870"/>
              </a:lnSpc>
              <a:spcBef>
                <a:spcPts val="100"/>
              </a:spcBef>
              <a:tabLst>
                <a:tab pos="80645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700">
              <a:latin typeface="Verdana"/>
              <a:cs typeface="Verdana"/>
            </a:endParaRPr>
          </a:p>
          <a:p>
            <a:pPr>
              <a:lnSpc>
                <a:spcPts val="1870"/>
              </a:lnSpc>
              <a:tabLst>
                <a:tab pos="972819" algn="l"/>
                <a:tab pos="146621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05826" y="3614740"/>
            <a:ext cx="1442085" cy="522605"/>
            <a:chOff x="3905826" y="3614740"/>
            <a:chExt cx="1442085" cy="522605"/>
          </a:xfrm>
        </p:grpSpPr>
        <p:sp>
          <p:nvSpPr>
            <p:cNvPr id="10" name="object 10"/>
            <p:cNvSpPr/>
            <p:nvPr/>
          </p:nvSpPr>
          <p:spPr>
            <a:xfrm>
              <a:off x="3910906" y="3619820"/>
              <a:ext cx="1431925" cy="512445"/>
            </a:xfrm>
            <a:custGeom>
              <a:avLst/>
              <a:gdLst/>
              <a:ahLst/>
              <a:cxnLst/>
              <a:rect l="l" t="t" r="r" b="b"/>
              <a:pathLst>
                <a:path w="1431925" h="512445">
                  <a:moveTo>
                    <a:pt x="1431798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1431798" y="512063"/>
                  </a:lnTo>
                  <a:lnTo>
                    <a:pt x="1431798" y="0"/>
                  </a:lnTo>
                  <a:close/>
                </a:path>
              </a:pathLst>
            </a:custGeom>
            <a:solidFill>
              <a:srgbClr val="E8E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0906" y="3619820"/>
              <a:ext cx="1431925" cy="512445"/>
            </a:xfrm>
            <a:custGeom>
              <a:avLst/>
              <a:gdLst/>
              <a:ahLst/>
              <a:cxnLst/>
              <a:rect l="l" t="t" r="r" b="b"/>
              <a:pathLst>
                <a:path w="1431925" h="512445">
                  <a:moveTo>
                    <a:pt x="0" y="0"/>
                  </a:moveTo>
                  <a:lnTo>
                    <a:pt x="1431797" y="0"/>
                  </a:lnTo>
                  <a:lnTo>
                    <a:pt x="1431797" y="512063"/>
                  </a:lnTo>
                  <a:lnTo>
                    <a:pt x="0" y="512063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285929" y="3652520"/>
            <a:ext cx="6959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39895" y="4535017"/>
            <a:ext cx="2827020" cy="522605"/>
            <a:chOff x="3239895" y="4535017"/>
            <a:chExt cx="2827020" cy="522605"/>
          </a:xfrm>
        </p:grpSpPr>
        <p:sp>
          <p:nvSpPr>
            <p:cNvPr id="14" name="object 14"/>
            <p:cNvSpPr/>
            <p:nvPr/>
          </p:nvSpPr>
          <p:spPr>
            <a:xfrm>
              <a:off x="5063050" y="4540097"/>
              <a:ext cx="998855" cy="512445"/>
            </a:xfrm>
            <a:custGeom>
              <a:avLst/>
              <a:gdLst/>
              <a:ahLst/>
              <a:cxnLst/>
              <a:rect l="l" t="t" r="r" b="b"/>
              <a:pathLst>
                <a:path w="998854" h="512445">
                  <a:moveTo>
                    <a:pt x="998278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998278" y="512063"/>
                  </a:lnTo>
                  <a:lnTo>
                    <a:pt x="998278" y="0"/>
                  </a:lnTo>
                  <a:close/>
                </a:path>
              </a:pathLst>
            </a:custGeom>
            <a:solidFill>
              <a:srgbClr val="E8E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63050" y="4540097"/>
              <a:ext cx="998855" cy="512445"/>
            </a:xfrm>
            <a:custGeom>
              <a:avLst/>
              <a:gdLst/>
              <a:ahLst/>
              <a:cxnLst/>
              <a:rect l="l" t="t" r="r" b="b"/>
              <a:pathLst>
                <a:path w="998854" h="512445">
                  <a:moveTo>
                    <a:pt x="0" y="0"/>
                  </a:moveTo>
                  <a:lnTo>
                    <a:pt x="998277" y="0"/>
                  </a:lnTo>
                  <a:lnTo>
                    <a:pt x="998277" y="512063"/>
                  </a:lnTo>
                  <a:lnTo>
                    <a:pt x="0" y="512063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44975" y="4540097"/>
              <a:ext cx="1056640" cy="512445"/>
            </a:xfrm>
            <a:custGeom>
              <a:avLst/>
              <a:gdLst/>
              <a:ahLst/>
              <a:cxnLst/>
              <a:rect l="l" t="t" r="r" b="b"/>
              <a:pathLst>
                <a:path w="1056639" h="512445">
                  <a:moveTo>
                    <a:pt x="1056132" y="0"/>
                  </a:moveTo>
                  <a:lnTo>
                    <a:pt x="0" y="0"/>
                  </a:lnTo>
                  <a:lnTo>
                    <a:pt x="0" y="512063"/>
                  </a:lnTo>
                  <a:lnTo>
                    <a:pt x="1056132" y="512063"/>
                  </a:lnTo>
                  <a:lnTo>
                    <a:pt x="1056132" y="0"/>
                  </a:lnTo>
                  <a:close/>
                </a:path>
              </a:pathLst>
            </a:custGeom>
            <a:solidFill>
              <a:srgbClr val="E8E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44975" y="4540097"/>
              <a:ext cx="1056640" cy="512445"/>
            </a:xfrm>
            <a:custGeom>
              <a:avLst/>
              <a:gdLst/>
              <a:ahLst/>
              <a:cxnLst/>
              <a:rect l="l" t="t" r="r" b="b"/>
              <a:pathLst>
                <a:path w="1056639" h="512445">
                  <a:moveTo>
                    <a:pt x="0" y="0"/>
                  </a:moveTo>
                  <a:lnTo>
                    <a:pt x="1056131" y="0"/>
                  </a:lnTo>
                  <a:lnTo>
                    <a:pt x="1056131" y="512063"/>
                  </a:lnTo>
                  <a:lnTo>
                    <a:pt x="0" y="512063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24677" y="4573016"/>
            <a:ext cx="50990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91422" y="4131884"/>
            <a:ext cx="935990" cy="408305"/>
          </a:xfrm>
          <a:custGeom>
            <a:avLst/>
            <a:gdLst/>
            <a:ahLst/>
            <a:cxnLst/>
            <a:rect l="l" t="t" r="r" b="b"/>
            <a:pathLst>
              <a:path w="935989" h="408304">
                <a:moveTo>
                  <a:pt x="935384" y="0"/>
                </a:moveTo>
                <a:lnTo>
                  <a:pt x="935384" y="204107"/>
                </a:lnTo>
                <a:lnTo>
                  <a:pt x="81619" y="204107"/>
                </a:lnTo>
                <a:lnTo>
                  <a:pt x="81619" y="408213"/>
                </a:lnTo>
              </a:path>
              <a:path w="935989" h="408304">
                <a:moveTo>
                  <a:pt x="935384" y="0"/>
                </a:moveTo>
                <a:lnTo>
                  <a:pt x="935384" y="204106"/>
                </a:lnTo>
                <a:lnTo>
                  <a:pt x="0" y="204106"/>
                </a:lnTo>
                <a:lnTo>
                  <a:pt x="0" y="408213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17682" y="3599688"/>
            <a:ext cx="10160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Break</a:t>
            </a:r>
            <a:r>
              <a:rPr sz="15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5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6492" y="4379976"/>
            <a:ext cx="2490470" cy="102870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R="5080">
              <a:lnSpc>
                <a:spcPts val="1700"/>
              </a:lnSpc>
              <a:spcBef>
                <a:spcPts val="240"/>
              </a:spcBef>
            </a:pP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Verify</a:t>
            </a:r>
            <a:r>
              <a:rPr sz="1500" spc="-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table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ABC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is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any</a:t>
            </a:r>
            <a:r>
              <a:rPr sz="1500" spc="-1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violation.</a:t>
            </a:r>
            <a:endParaRPr sz="1500">
              <a:latin typeface="Verdana"/>
              <a:cs typeface="Verdana"/>
            </a:endParaRPr>
          </a:p>
          <a:p>
            <a:pPr marR="21590">
              <a:lnSpc>
                <a:spcPts val="1700"/>
              </a:lnSpc>
              <a:spcBef>
                <a:spcPts val="990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Just</a:t>
            </a:r>
            <a:r>
              <a:rPr sz="1500" spc="-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broke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on</a:t>
            </a:r>
            <a:r>
              <a:rPr sz="1500" spc="-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C,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cannot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break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on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C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twice</a:t>
            </a:r>
            <a:r>
              <a:rPr sz="15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in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row.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85501" y="4498847"/>
            <a:ext cx="65659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>
              <a:lnSpc>
                <a:spcPts val="1445"/>
              </a:lnSpc>
              <a:spcBef>
                <a:spcPts val="100"/>
              </a:spcBef>
            </a:pP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ok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925"/>
              </a:lnSpc>
            </a:pP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07296" y="3870959"/>
            <a:ext cx="7943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sk</a:t>
            </a:r>
            <a:r>
              <a:rPr sz="15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r>
              <a:rPr sz="1500" spc="-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!</a:t>
            </a:r>
            <a:r>
              <a:rPr sz="1500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38146" y="4794504"/>
            <a:ext cx="6159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sk</a:t>
            </a:r>
            <a:r>
              <a:rPr sz="15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r>
              <a:rPr sz="1500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55493" y="4498847"/>
            <a:ext cx="23685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ok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6492" y="5516880"/>
            <a:ext cx="8919210" cy="14503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600"/>
              </a:spcBef>
            </a:pPr>
            <a:r>
              <a:rPr sz="1500" spc="-30" dirty="0">
                <a:solidFill>
                  <a:srgbClr val="292934"/>
                </a:solidFill>
                <a:latin typeface="Verdana"/>
                <a:cs typeface="Verdana"/>
              </a:rPr>
              <a:t>Alternatively,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verify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through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"for</a:t>
            </a:r>
            <a:r>
              <a:rPr sz="15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all</a:t>
            </a:r>
            <a:r>
              <a:rPr sz="15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C00000"/>
                </a:solidFill>
                <a:latin typeface="Verdana"/>
                <a:cs typeface="Verdana"/>
              </a:rPr>
              <a:t>non-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trivial</a:t>
            </a:r>
            <a:r>
              <a:rPr sz="15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FDs,</a:t>
            </a:r>
            <a:r>
              <a:rPr sz="15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500" dirty="0">
                <a:solidFill>
                  <a:srgbClr val="C00000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A,</a:t>
            </a:r>
            <a:r>
              <a:rPr sz="15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5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must</a:t>
            </a:r>
            <a:r>
              <a:rPr sz="15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be</a:t>
            </a:r>
            <a:r>
              <a:rPr sz="15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superkey"</a:t>
            </a:r>
            <a:endParaRPr sz="1500">
              <a:latin typeface="Verdana"/>
              <a:cs typeface="Verdana"/>
            </a:endParaRPr>
          </a:p>
          <a:p>
            <a:pPr marL="22225" marR="5080">
              <a:lnSpc>
                <a:spcPts val="1610"/>
              </a:lnSpc>
              <a:spcBef>
                <a:spcPts val="72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15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5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15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non-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15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15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r>
              <a:rPr sz="15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(given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FD),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we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conclude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r>
              <a:rPr sz="15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break</a:t>
            </a:r>
            <a:r>
              <a:rPr sz="15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5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(i.e.,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violation).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relations: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06909" y="3790657"/>
            <a:ext cx="1161415" cy="654050"/>
            <a:chOff x="2306909" y="3790657"/>
            <a:chExt cx="1161415" cy="654050"/>
          </a:xfrm>
        </p:grpSpPr>
        <p:sp>
          <p:nvSpPr>
            <p:cNvPr id="28" name="object 28"/>
            <p:cNvSpPr/>
            <p:nvPr/>
          </p:nvSpPr>
          <p:spPr>
            <a:xfrm>
              <a:off x="2320879" y="3804627"/>
              <a:ext cx="1133475" cy="626110"/>
            </a:xfrm>
            <a:custGeom>
              <a:avLst/>
              <a:gdLst/>
              <a:ahLst/>
              <a:cxnLst/>
              <a:rect l="l" t="t" r="r" b="b"/>
              <a:pathLst>
                <a:path w="1133475" h="626110">
                  <a:moveTo>
                    <a:pt x="944380" y="341362"/>
                  </a:moveTo>
                  <a:lnTo>
                    <a:pt x="661066" y="341362"/>
                  </a:lnTo>
                  <a:lnTo>
                    <a:pt x="1086647" y="626088"/>
                  </a:lnTo>
                  <a:lnTo>
                    <a:pt x="944380" y="341362"/>
                  </a:lnTo>
                  <a:close/>
                </a:path>
                <a:path w="1133475" h="626110">
                  <a:moveTo>
                    <a:pt x="1076363" y="0"/>
                  </a:moveTo>
                  <a:lnTo>
                    <a:pt x="56894" y="0"/>
                  </a:lnTo>
                  <a:lnTo>
                    <a:pt x="34748" y="4471"/>
                  </a:lnTo>
                  <a:lnTo>
                    <a:pt x="16663" y="16663"/>
                  </a:lnTo>
                  <a:lnTo>
                    <a:pt x="4471" y="34748"/>
                  </a:lnTo>
                  <a:lnTo>
                    <a:pt x="0" y="56894"/>
                  </a:lnTo>
                  <a:lnTo>
                    <a:pt x="0" y="284468"/>
                  </a:lnTo>
                  <a:lnTo>
                    <a:pt x="4471" y="306613"/>
                  </a:lnTo>
                  <a:lnTo>
                    <a:pt x="16663" y="324698"/>
                  </a:lnTo>
                  <a:lnTo>
                    <a:pt x="34748" y="336890"/>
                  </a:lnTo>
                  <a:lnTo>
                    <a:pt x="56894" y="341362"/>
                  </a:lnTo>
                  <a:lnTo>
                    <a:pt x="1076363" y="341362"/>
                  </a:lnTo>
                  <a:lnTo>
                    <a:pt x="1098509" y="336890"/>
                  </a:lnTo>
                  <a:lnTo>
                    <a:pt x="1116593" y="324698"/>
                  </a:lnTo>
                  <a:lnTo>
                    <a:pt x="1128786" y="306613"/>
                  </a:lnTo>
                  <a:lnTo>
                    <a:pt x="1133257" y="284468"/>
                  </a:lnTo>
                  <a:lnTo>
                    <a:pt x="1133257" y="56894"/>
                  </a:lnTo>
                  <a:lnTo>
                    <a:pt x="1128786" y="34748"/>
                  </a:lnTo>
                  <a:lnTo>
                    <a:pt x="1116593" y="16663"/>
                  </a:lnTo>
                  <a:lnTo>
                    <a:pt x="1098509" y="4471"/>
                  </a:lnTo>
                  <a:lnTo>
                    <a:pt x="1076363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20879" y="3804627"/>
              <a:ext cx="1133475" cy="626110"/>
            </a:xfrm>
            <a:custGeom>
              <a:avLst/>
              <a:gdLst/>
              <a:ahLst/>
              <a:cxnLst/>
              <a:rect l="l" t="t" r="r" b="b"/>
              <a:pathLst>
                <a:path w="1133475" h="626110">
                  <a:moveTo>
                    <a:pt x="0" y="56894"/>
                  </a:moveTo>
                  <a:lnTo>
                    <a:pt x="4471" y="34748"/>
                  </a:lnTo>
                  <a:lnTo>
                    <a:pt x="16664" y="16664"/>
                  </a:lnTo>
                  <a:lnTo>
                    <a:pt x="34748" y="4471"/>
                  </a:lnTo>
                  <a:lnTo>
                    <a:pt x="56894" y="0"/>
                  </a:lnTo>
                  <a:lnTo>
                    <a:pt x="661066" y="0"/>
                  </a:lnTo>
                  <a:lnTo>
                    <a:pt x="944381" y="0"/>
                  </a:lnTo>
                  <a:lnTo>
                    <a:pt x="1076363" y="0"/>
                  </a:lnTo>
                  <a:lnTo>
                    <a:pt x="1098508" y="4471"/>
                  </a:lnTo>
                  <a:lnTo>
                    <a:pt x="1116593" y="16664"/>
                  </a:lnTo>
                  <a:lnTo>
                    <a:pt x="1128786" y="34748"/>
                  </a:lnTo>
                  <a:lnTo>
                    <a:pt x="1133257" y="56894"/>
                  </a:lnTo>
                  <a:lnTo>
                    <a:pt x="1133257" y="199128"/>
                  </a:lnTo>
                  <a:lnTo>
                    <a:pt x="1133257" y="284468"/>
                  </a:lnTo>
                  <a:lnTo>
                    <a:pt x="1128786" y="306613"/>
                  </a:lnTo>
                  <a:lnTo>
                    <a:pt x="1116593" y="324698"/>
                  </a:lnTo>
                  <a:lnTo>
                    <a:pt x="1098508" y="336891"/>
                  </a:lnTo>
                  <a:lnTo>
                    <a:pt x="1076363" y="341362"/>
                  </a:lnTo>
                  <a:lnTo>
                    <a:pt x="944381" y="341362"/>
                  </a:lnTo>
                  <a:lnTo>
                    <a:pt x="1086646" y="626088"/>
                  </a:lnTo>
                  <a:lnTo>
                    <a:pt x="661066" y="341362"/>
                  </a:lnTo>
                  <a:lnTo>
                    <a:pt x="56894" y="341362"/>
                  </a:lnTo>
                  <a:lnTo>
                    <a:pt x="34748" y="336891"/>
                  </a:lnTo>
                  <a:lnTo>
                    <a:pt x="16664" y="324698"/>
                  </a:lnTo>
                  <a:lnTo>
                    <a:pt x="4471" y="306613"/>
                  </a:lnTo>
                  <a:lnTo>
                    <a:pt x="0" y="284467"/>
                  </a:lnTo>
                  <a:lnTo>
                    <a:pt x="0" y="199128"/>
                  </a:lnTo>
                  <a:lnTo>
                    <a:pt x="0" y="56894"/>
                  </a:lnTo>
                  <a:close/>
                </a:path>
              </a:pathLst>
            </a:custGeom>
            <a:ln w="27746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40810" y="3853688"/>
            <a:ext cx="50990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3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FFFFFF"/>
                </a:solidFill>
                <a:latin typeface="Wingdings"/>
                <a:cs typeface="Wingdings"/>
              </a:rPr>
              <a:t></a:t>
            </a:r>
            <a:r>
              <a:rPr sz="13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10806" y="3180091"/>
            <a:ext cx="9451975" cy="3917950"/>
          </a:xfrm>
          <a:custGeom>
            <a:avLst/>
            <a:gdLst/>
            <a:ahLst/>
            <a:cxnLst/>
            <a:rect l="l" t="t" r="r" b="b"/>
            <a:pathLst>
              <a:path w="9451975" h="3917950">
                <a:moveTo>
                  <a:pt x="0" y="0"/>
                </a:moveTo>
                <a:lnTo>
                  <a:pt x="9451697" y="0"/>
                </a:lnTo>
                <a:lnTo>
                  <a:pt x="9451697" y="3917549"/>
                </a:lnTo>
                <a:lnTo>
                  <a:pt x="0" y="3917549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5: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5" dirty="0"/>
              <a:t> </a:t>
            </a:r>
            <a:r>
              <a:rPr sz="3800" b="0" spc="-25" dirty="0">
                <a:latin typeface="Verdana"/>
                <a:cs typeface="Verdana"/>
              </a:rPr>
              <a:t>(2)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7486" y="3853688"/>
            <a:ext cx="8585835" cy="203517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121535" marR="168910" indent="-2109470">
              <a:lnSpc>
                <a:spcPct val="101400"/>
              </a:lnSpc>
              <a:spcBef>
                <a:spcPts val="65"/>
              </a:spcBef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900" b="1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r>
              <a:rPr sz="190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!=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a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either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both)</a:t>
            </a:r>
            <a:endParaRPr sz="1700">
              <a:latin typeface="Verdana"/>
              <a:cs typeface="Verdana"/>
            </a:endParaRPr>
          </a:p>
          <a:p>
            <a:pPr marL="492759" indent="-192405">
              <a:lnSpc>
                <a:spcPct val="100000"/>
              </a:lnSpc>
              <a:spcBef>
                <a:spcPts val="1755"/>
              </a:spcBef>
              <a:buFont typeface="Arial MT"/>
              <a:buChar char="•"/>
              <a:tabLst>
                <a:tab pos="49275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Let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R1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CD,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700">
              <a:latin typeface="Verdana"/>
              <a:cs typeface="Verdana"/>
            </a:endParaRPr>
          </a:p>
          <a:p>
            <a:pPr marL="492759" indent="-192405">
              <a:lnSpc>
                <a:spcPct val="100000"/>
              </a:lnSpc>
              <a:spcBef>
                <a:spcPts val="1750"/>
              </a:spcBef>
              <a:buFont typeface="Arial MT"/>
              <a:buChar char="•"/>
              <a:tabLst>
                <a:tab pos="49275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F+,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conclude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(R1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intersect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R2)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(R2)</a:t>
            </a:r>
            <a:endParaRPr sz="1700">
              <a:latin typeface="Verdana"/>
              <a:cs typeface="Verdana"/>
            </a:endParaRPr>
          </a:p>
          <a:p>
            <a:pPr marL="492759" indent="-187325">
              <a:lnSpc>
                <a:spcPct val="100000"/>
              </a:lnSpc>
              <a:spcBef>
                <a:spcPts val="1850"/>
              </a:spcBef>
              <a:buFont typeface="Arial MT"/>
              <a:buChar char="•"/>
              <a:tabLst>
                <a:tab pos="492759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violation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060" y="1668534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82084" y="2653981"/>
            <a:ext cx="2298700" cy="1122680"/>
          </a:xfrm>
          <a:custGeom>
            <a:avLst/>
            <a:gdLst/>
            <a:ahLst/>
            <a:cxnLst/>
            <a:rect l="l" t="t" r="r" b="b"/>
            <a:pathLst>
              <a:path w="2298700" h="1122679">
                <a:moveTo>
                  <a:pt x="0" y="0"/>
                </a:moveTo>
                <a:lnTo>
                  <a:pt x="2298506" y="0"/>
                </a:lnTo>
                <a:lnTo>
                  <a:pt x="2298506" y="1122600"/>
                </a:lnTo>
                <a:lnTo>
                  <a:pt x="0" y="1122600"/>
                </a:lnTo>
                <a:lnTo>
                  <a:pt x="0" y="0"/>
                </a:lnTo>
                <a:close/>
              </a:path>
            </a:pathLst>
          </a:custGeom>
          <a:ln w="10001">
            <a:solidFill>
              <a:srgbClr val="5757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3792" y="1308607"/>
            <a:ext cx="8225155" cy="1633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2.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1900">
              <a:latin typeface="Verdana"/>
              <a:cs typeface="Verdana"/>
            </a:endParaRPr>
          </a:p>
          <a:p>
            <a:pPr marL="59055" marR="5080">
              <a:lnSpc>
                <a:spcPts val="1989"/>
              </a:lnSpc>
              <a:spcBef>
                <a:spcPts val="2225"/>
              </a:spcBef>
            </a:pP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verify,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satisfy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r>
              <a:rPr sz="17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For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every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C00000"/>
                </a:solidFill>
                <a:latin typeface="Verdana"/>
                <a:cs typeface="Verdana"/>
              </a:rPr>
              <a:t>non-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trivial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FD,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Wingdings"/>
                <a:cs typeface="Wingdings"/>
              </a:rPr>
              <a:t></a:t>
            </a:r>
            <a:r>
              <a:rPr sz="17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Attribute(s),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superkey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700">
              <a:latin typeface="Verdana"/>
              <a:cs typeface="Verdana"/>
            </a:endParaRPr>
          </a:p>
          <a:p>
            <a:pPr marR="1005205" algn="r">
              <a:lnSpc>
                <a:spcPct val="100000"/>
              </a:lnSpc>
            </a:pP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11483" y="2877311"/>
            <a:ext cx="98806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655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655"/>
              </a:lnSpc>
              <a:tabLst>
                <a:tab pos="571500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98335" y="2902711"/>
            <a:ext cx="191135" cy="4159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R="5080">
              <a:lnSpc>
                <a:spcPts val="1510"/>
              </a:lnSpc>
              <a:spcBef>
                <a:spcPts val="190"/>
              </a:spcBef>
            </a:pPr>
            <a:r>
              <a:rPr sz="1300" spc="-50" dirty="0">
                <a:solidFill>
                  <a:srgbClr val="C00000"/>
                </a:solidFill>
                <a:latin typeface="Verdana"/>
                <a:cs typeface="Verdana"/>
              </a:rPr>
              <a:t>sk </a:t>
            </a:r>
            <a:r>
              <a:rPr sz="13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11483" y="3258311"/>
            <a:ext cx="1006475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655"/>
              </a:lnSpc>
              <a:spcBef>
                <a:spcPts val="100"/>
              </a:spcBef>
              <a:tabLst>
                <a:tab pos="70294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655"/>
              </a:lnSpc>
              <a:tabLst>
                <a:tab pos="84645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98335" y="3475735"/>
            <a:ext cx="1454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0806" y="1790628"/>
            <a:ext cx="9451975" cy="5307330"/>
          </a:xfrm>
          <a:custGeom>
            <a:avLst/>
            <a:gdLst/>
            <a:ahLst/>
            <a:cxnLst/>
            <a:rect l="l" t="t" r="r" b="b"/>
            <a:pathLst>
              <a:path w="9451975" h="5307330">
                <a:moveTo>
                  <a:pt x="0" y="0"/>
                </a:moveTo>
                <a:lnTo>
                  <a:pt x="9451697" y="0"/>
                </a:lnTo>
                <a:lnTo>
                  <a:pt x="9451697" y="5307011"/>
                </a:lnTo>
                <a:lnTo>
                  <a:pt x="0" y="5307011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5:</a:t>
            </a:r>
            <a:r>
              <a:rPr spc="-290" dirty="0"/>
              <a:t> </a:t>
            </a:r>
            <a:r>
              <a:rPr spc="-80" dirty="0"/>
              <a:t>BCNF</a:t>
            </a:r>
            <a:r>
              <a:rPr spc="-270" dirty="0"/>
              <a:t> </a:t>
            </a:r>
            <a:r>
              <a:rPr sz="3800" b="0" spc="-25" dirty="0">
                <a:latin typeface="Verdana"/>
                <a:cs typeface="Verdana"/>
              </a:rPr>
              <a:t>(3)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792" y="1308607"/>
            <a:ext cx="8406765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2.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1900">
              <a:latin typeface="Verdana"/>
              <a:cs typeface="Verdana"/>
            </a:endParaRPr>
          </a:p>
          <a:p>
            <a:pPr marL="59055">
              <a:lnSpc>
                <a:spcPct val="100000"/>
              </a:lnSpc>
              <a:spcBef>
                <a:spcPts val="1925"/>
              </a:spcBef>
              <a:tabLst>
                <a:tab pos="6686550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CD,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A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980" y="2325684"/>
            <a:ext cx="6745605" cy="118872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900" b="1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r>
              <a:rPr sz="1900" b="1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-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loose,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gain</a:t>
            </a:r>
            <a:endParaRPr sz="1700">
              <a:latin typeface="Verdana"/>
              <a:cs typeface="Verdana"/>
            </a:endParaRPr>
          </a:p>
          <a:p>
            <a:pPr marL="501015" indent="-236854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50101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First,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R(ABCD).</a:t>
            </a:r>
            <a:endParaRPr sz="1700">
              <a:latin typeface="Verdana"/>
              <a:cs typeface="Verdana"/>
            </a:endParaRPr>
          </a:p>
          <a:p>
            <a:pPr marL="974725" lvl="1" indent="-236854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97472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FDs,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closure.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6011" y="3574288"/>
            <a:ext cx="8484235" cy="31286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722630" marR="227329" indent="-236854">
              <a:lnSpc>
                <a:spcPct val="78800"/>
              </a:lnSpc>
              <a:spcBef>
                <a:spcPts val="530"/>
              </a:spcBef>
              <a:buFont typeface="Arial MT"/>
              <a:buChar char="•"/>
              <a:tabLst>
                <a:tab pos="72263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combination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contains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superkey.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minimal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R(ABCD)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A.</a:t>
            </a:r>
            <a:endParaRPr sz="1700">
              <a:latin typeface="Verdana"/>
              <a:cs typeface="Verdana"/>
            </a:endParaRPr>
          </a:p>
          <a:p>
            <a:pPr marL="248920" indent="-236220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24892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Then,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start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superkey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(ABC).</a:t>
            </a:r>
            <a:endParaRPr sz="1700">
              <a:latin typeface="Verdana"/>
              <a:cs typeface="Verdana"/>
            </a:endParaRPr>
          </a:p>
          <a:p>
            <a:pPr marL="248920" indent="-236220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24892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closure</a:t>
            </a:r>
            <a:r>
              <a:rPr sz="17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A.</a:t>
            </a:r>
            <a:endParaRPr sz="1700">
              <a:latin typeface="Verdana"/>
              <a:cs typeface="Verdana"/>
            </a:endParaRPr>
          </a:p>
          <a:p>
            <a:pPr marL="248920" indent="-236220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248920" algn="l"/>
              </a:tabLst>
            </a:pP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700" spc="-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us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envision,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endParaRPr sz="1700">
              <a:latin typeface="Verdana"/>
              <a:cs typeface="Verdana"/>
            </a:endParaRPr>
          </a:p>
          <a:p>
            <a:pPr marL="722630" marR="5080" lvl="1" indent="-236854">
              <a:lnSpc>
                <a:spcPct val="80600"/>
              </a:lnSpc>
              <a:spcBef>
                <a:spcPts val="1475"/>
              </a:spcBef>
              <a:buFont typeface="Arial MT"/>
              <a:buChar char="•"/>
              <a:tabLst>
                <a:tab pos="72263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(given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FD)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(transitive),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ABCD.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expanded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(~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reconstruct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original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relation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decomposition).</a:t>
            </a:r>
            <a:endParaRPr sz="1700">
              <a:latin typeface="Verdana"/>
              <a:cs typeface="Verdana"/>
            </a:endParaRPr>
          </a:p>
          <a:p>
            <a:pPr marL="248920" marR="25400" indent="-236854">
              <a:lnSpc>
                <a:spcPts val="1700"/>
              </a:lnSpc>
              <a:spcBef>
                <a:spcPts val="1495"/>
              </a:spcBef>
              <a:buFont typeface="Arial MT"/>
              <a:buChar char="•"/>
              <a:tabLst>
                <a:tab pos="24892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A+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(i.e.,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8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ABCD),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decomposition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satisfies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lossless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join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property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loose,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gain).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09912" y="2301994"/>
            <a:ext cx="2298700" cy="1122680"/>
          </a:xfrm>
          <a:custGeom>
            <a:avLst/>
            <a:gdLst/>
            <a:ahLst/>
            <a:cxnLst/>
            <a:rect l="l" t="t" r="r" b="b"/>
            <a:pathLst>
              <a:path w="2298700" h="1122679">
                <a:moveTo>
                  <a:pt x="0" y="0"/>
                </a:moveTo>
                <a:lnTo>
                  <a:pt x="2298506" y="0"/>
                </a:lnTo>
                <a:lnTo>
                  <a:pt x="2298506" y="1122600"/>
                </a:lnTo>
                <a:lnTo>
                  <a:pt x="0" y="1122600"/>
                </a:lnTo>
                <a:lnTo>
                  <a:pt x="0" y="0"/>
                </a:lnTo>
                <a:close/>
              </a:path>
            </a:pathLst>
          </a:custGeom>
          <a:ln w="10001">
            <a:solidFill>
              <a:srgbClr val="5757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70933" y="2334767"/>
            <a:ext cx="2755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39312" y="2526791"/>
            <a:ext cx="988060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645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645"/>
              </a:lnSpc>
              <a:tabLst>
                <a:tab pos="571500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26164" y="2552191"/>
            <a:ext cx="191135" cy="4127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R="5080">
              <a:lnSpc>
                <a:spcPts val="1490"/>
              </a:lnSpc>
              <a:spcBef>
                <a:spcPts val="204"/>
              </a:spcBef>
            </a:pPr>
            <a:r>
              <a:rPr sz="1300" spc="-50" dirty="0">
                <a:solidFill>
                  <a:srgbClr val="C00000"/>
                </a:solidFill>
                <a:latin typeface="Verdana"/>
                <a:cs typeface="Verdana"/>
              </a:rPr>
              <a:t>sk </a:t>
            </a:r>
            <a:r>
              <a:rPr sz="13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39312" y="2907791"/>
            <a:ext cx="100647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645"/>
              </a:lnSpc>
              <a:spcBef>
                <a:spcPts val="100"/>
              </a:spcBef>
              <a:tabLst>
                <a:tab pos="70294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645"/>
              </a:lnSpc>
              <a:tabLst>
                <a:tab pos="84645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26164" y="3122167"/>
            <a:ext cx="1454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3060" y="168912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0806" y="1790628"/>
            <a:ext cx="9451975" cy="5307330"/>
          </a:xfrm>
          <a:custGeom>
            <a:avLst/>
            <a:gdLst/>
            <a:ahLst/>
            <a:cxnLst/>
            <a:rect l="l" t="t" r="r" b="b"/>
            <a:pathLst>
              <a:path w="9451975" h="5307330">
                <a:moveTo>
                  <a:pt x="0" y="0"/>
                </a:moveTo>
                <a:lnTo>
                  <a:pt x="9451697" y="0"/>
                </a:lnTo>
                <a:lnTo>
                  <a:pt x="9451697" y="5307011"/>
                </a:lnTo>
                <a:lnTo>
                  <a:pt x="0" y="5307011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5: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5" dirty="0"/>
              <a:t> </a:t>
            </a:r>
            <a:r>
              <a:rPr sz="3800" b="0" spc="-25" dirty="0">
                <a:latin typeface="Verdana"/>
                <a:cs typeface="Verdana"/>
              </a:rPr>
              <a:t>(4)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980" y="3746051"/>
            <a:ext cx="8905875" cy="220726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For</a:t>
            </a:r>
            <a:r>
              <a:rPr sz="1900" b="1" spc="-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every</a:t>
            </a:r>
            <a:r>
              <a:rPr sz="1900" b="1" spc="-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spc="-10" dirty="0">
                <a:solidFill>
                  <a:srgbClr val="C00000"/>
                </a:solidFill>
                <a:latin typeface="Verdana"/>
                <a:cs typeface="Verdana"/>
              </a:rPr>
              <a:t>non-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trivial</a:t>
            </a:r>
            <a:r>
              <a:rPr sz="19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FD,</a:t>
            </a:r>
            <a:r>
              <a:rPr sz="19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9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0" dirty="0">
                <a:solidFill>
                  <a:srgbClr val="C00000"/>
                </a:solidFill>
                <a:latin typeface="Wingdings"/>
                <a:cs typeface="Wingdings"/>
              </a:rPr>
              <a:t></a:t>
            </a:r>
            <a:r>
              <a:rPr sz="185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Attribute(s),</a:t>
            </a:r>
            <a:r>
              <a:rPr sz="19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9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90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900" b="1" spc="-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b="1" spc="-10" dirty="0">
                <a:solidFill>
                  <a:srgbClr val="C00000"/>
                </a:solidFill>
                <a:latin typeface="Verdana"/>
                <a:cs typeface="Verdana"/>
              </a:rPr>
              <a:t>superkey</a:t>
            </a:r>
            <a:endParaRPr sz="1900">
              <a:latin typeface="Verdana"/>
              <a:cs typeface="Verdana"/>
            </a:endParaRPr>
          </a:p>
          <a:p>
            <a:pPr marL="501015" indent="-236854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50101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ABC.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(B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here,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ignore)</a:t>
            </a:r>
            <a:endParaRPr sz="1700">
              <a:latin typeface="Verdana"/>
              <a:cs typeface="Verdana"/>
            </a:endParaRPr>
          </a:p>
          <a:p>
            <a:pPr marL="974725" lvl="1" indent="-236854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97472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non-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relation.</a:t>
            </a:r>
            <a:endParaRPr sz="1700">
              <a:latin typeface="Verdana"/>
              <a:cs typeface="Verdana"/>
            </a:endParaRPr>
          </a:p>
          <a:p>
            <a:pPr marL="501015" indent="-236854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50101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CD,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non-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dependency.</a:t>
            </a:r>
            <a:endParaRPr sz="1700">
              <a:latin typeface="Verdana"/>
              <a:cs typeface="Verdana"/>
            </a:endParaRPr>
          </a:p>
          <a:p>
            <a:pPr marL="974725" marR="75565" lvl="1" indent="-236854">
              <a:lnSpc>
                <a:spcPct val="78800"/>
              </a:lnSpc>
              <a:spcBef>
                <a:spcPts val="1490"/>
              </a:spcBef>
              <a:buFont typeface="Arial MT"/>
              <a:buChar char="•"/>
              <a:tabLst>
                <a:tab pos="974725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default,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always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(even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all).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648" y="6594856"/>
            <a:ext cx="19538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No</a:t>
            </a:r>
            <a:r>
              <a:rPr sz="17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BCNF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violation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792" y="1308607"/>
            <a:ext cx="8225155" cy="109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2.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Discuss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1900">
              <a:latin typeface="Verdana"/>
              <a:cs typeface="Verdana"/>
            </a:endParaRPr>
          </a:p>
          <a:p>
            <a:pPr marL="59055" marR="5080">
              <a:lnSpc>
                <a:spcPts val="1989"/>
              </a:lnSpc>
              <a:spcBef>
                <a:spcPts val="2225"/>
              </a:spcBef>
            </a:pPr>
            <a:r>
              <a:rPr sz="1700" spc="-9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verify,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//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satisfy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lossless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join</a:t>
            </a:r>
            <a:r>
              <a:rPr sz="17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For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every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C00000"/>
                </a:solidFill>
                <a:latin typeface="Verdana"/>
                <a:cs typeface="Verdana"/>
              </a:rPr>
              <a:t>non-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trivial</a:t>
            </a:r>
            <a:r>
              <a:rPr sz="17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FD,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Wingdings"/>
                <a:cs typeface="Wingdings"/>
              </a:rPr>
              <a:t></a:t>
            </a:r>
            <a:r>
              <a:rPr sz="17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Attribute(s),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X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7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7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superkey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95998" y="2629043"/>
            <a:ext cx="2298700" cy="1122680"/>
          </a:xfrm>
          <a:custGeom>
            <a:avLst/>
            <a:gdLst/>
            <a:ahLst/>
            <a:cxnLst/>
            <a:rect l="l" t="t" r="r" b="b"/>
            <a:pathLst>
              <a:path w="2298700" h="1122679">
                <a:moveTo>
                  <a:pt x="0" y="0"/>
                </a:moveTo>
                <a:lnTo>
                  <a:pt x="2298506" y="0"/>
                </a:lnTo>
                <a:lnTo>
                  <a:pt x="2298506" y="1122600"/>
                </a:lnTo>
                <a:lnTo>
                  <a:pt x="0" y="1122600"/>
                </a:lnTo>
                <a:lnTo>
                  <a:pt x="0" y="0"/>
                </a:lnTo>
                <a:close/>
              </a:path>
            </a:pathLst>
          </a:custGeom>
          <a:ln w="10001">
            <a:solidFill>
              <a:srgbClr val="5757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57017" y="2663952"/>
            <a:ext cx="2755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25398" y="2852928"/>
            <a:ext cx="98806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655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10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655"/>
              </a:lnSpc>
              <a:tabLst>
                <a:tab pos="571500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12250" y="2878328"/>
            <a:ext cx="191135" cy="4159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R="5080">
              <a:lnSpc>
                <a:spcPts val="1510"/>
              </a:lnSpc>
              <a:spcBef>
                <a:spcPts val="190"/>
              </a:spcBef>
            </a:pPr>
            <a:r>
              <a:rPr sz="1300" spc="-50" dirty="0">
                <a:solidFill>
                  <a:srgbClr val="C00000"/>
                </a:solidFill>
                <a:latin typeface="Verdana"/>
                <a:cs typeface="Verdana"/>
              </a:rPr>
              <a:t>sk </a:t>
            </a:r>
            <a:r>
              <a:rPr sz="13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25398" y="3233928"/>
            <a:ext cx="1006475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655"/>
              </a:lnSpc>
              <a:spcBef>
                <a:spcPts val="100"/>
              </a:spcBef>
              <a:tabLst>
                <a:tab pos="70294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500">
              <a:latin typeface="Verdana"/>
              <a:cs typeface="Verdana"/>
            </a:endParaRPr>
          </a:p>
          <a:p>
            <a:pPr>
              <a:lnSpc>
                <a:spcPts val="1655"/>
              </a:lnSpc>
              <a:tabLst>
                <a:tab pos="846455" algn="l"/>
              </a:tabLst>
            </a:pP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12250" y="3451352"/>
            <a:ext cx="1454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C00000"/>
                </a:solidFill>
                <a:latin typeface="Verdana"/>
                <a:cs typeface="Verdana"/>
              </a:rPr>
              <a:t>tr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979" y="2748279"/>
            <a:ext cx="53479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2712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ABC,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1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A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3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3060" y="1689129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0806" y="1790628"/>
            <a:ext cx="9451975" cy="5307330"/>
          </a:xfrm>
          <a:custGeom>
            <a:avLst/>
            <a:gdLst/>
            <a:ahLst/>
            <a:cxnLst/>
            <a:rect l="l" t="t" r="r" b="b"/>
            <a:pathLst>
              <a:path w="9451975" h="5307330">
                <a:moveTo>
                  <a:pt x="0" y="0"/>
                </a:moveTo>
                <a:lnTo>
                  <a:pt x="9451697" y="0"/>
                </a:lnTo>
                <a:lnTo>
                  <a:pt x="9451697" y="5307011"/>
                </a:lnTo>
                <a:lnTo>
                  <a:pt x="0" y="5307011"/>
                </a:lnTo>
                <a:lnTo>
                  <a:pt x="0" y="0"/>
                </a:lnTo>
                <a:close/>
              </a:path>
            </a:pathLst>
          </a:custGeom>
          <a:ln w="133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5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4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3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2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2828" y="3069465"/>
            <a:ext cx="72072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-1935" dirty="0">
                <a:solidFill>
                  <a:srgbClr val="C00000"/>
                </a:solidFill>
                <a:latin typeface="Comic Sans MS"/>
                <a:cs typeface="Comic Sans MS"/>
              </a:rPr>
              <a:t>1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700" spc="-40" dirty="0">
                <a:solidFill>
                  <a:srgbClr val="292934"/>
                </a:solidFill>
                <a:latin typeface="Comic Sans MS"/>
                <a:cs typeface="Comic Sans MS"/>
              </a:rPr>
              <a:t>Ready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for</a:t>
            </a:r>
            <a:r>
              <a:rPr sz="3700" spc="-40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the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next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one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spc="-25" dirty="0">
                <a:solidFill>
                  <a:srgbClr val="292934"/>
                </a:solidFill>
                <a:latin typeface="Comic Sans MS"/>
                <a:cs typeface="Comic Sans MS"/>
              </a:rPr>
              <a:t>??</a:t>
            </a:r>
            <a:endParaRPr sz="37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00437" y="3252332"/>
            <a:ext cx="3264535" cy="2112645"/>
          </a:xfrm>
          <a:custGeom>
            <a:avLst/>
            <a:gdLst/>
            <a:ahLst/>
            <a:cxnLst/>
            <a:rect l="l" t="t" r="r" b="b"/>
            <a:pathLst>
              <a:path w="3264534" h="2112645">
                <a:moveTo>
                  <a:pt x="3264408" y="0"/>
                </a:moveTo>
                <a:lnTo>
                  <a:pt x="0" y="0"/>
                </a:lnTo>
                <a:lnTo>
                  <a:pt x="0" y="2112264"/>
                </a:lnTo>
                <a:lnTo>
                  <a:pt x="3264408" y="2112264"/>
                </a:lnTo>
                <a:lnTo>
                  <a:pt x="3264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73106" y="3216865"/>
            <a:ext cx="2718435" cy="190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350" b="1" spc="30" dirty="0">
                <a:solidFill>
                  <a:srgbClr val="C00000"/>
                </a:solidFill>
                <a:latin typeface="Comic Sans MS"/>
                <a:cs typeface="Comic Sans MS"/>
              </a:rPr>
              <a:t>Go!!</a:t>
            </a:r>
            <a:endParaRPr sz="12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6:</a:t>
            </a:r>
            <a:r>
              <a:rPr spc="-295" dirty="0"/>
              <a:t> </a:t>
            </a:r>
            <a:r>
              <a:rPr spc="-20" dirty="0"/>
              <a:t>BCNF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025" y="3607815"/>
            <a:ext cx="1784985" cy="5378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432434" marR="5080" indent="-420370">
              <a:lnSpc>
                <a:spcPts val="1989"/>
              </a:lnSpc>
              <a:spcBef>
                <a:spcPts val="204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(1)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LHS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&amp;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remaining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75036" y="4177140"/>
          <a:ext cx="8690605" cy="1901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0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62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23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6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86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68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553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2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BC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2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32384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r>
                        <a:rPr sz="17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701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3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296545" algn="l"/>
                        </a:tabLst>
                      </a:pP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296545" algn="l"/>
                        </a:tabLst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369570" algn="l"/>
                        </a:tabLst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32384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7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7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034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6225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2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27749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415261" y="3607815"/>
            <a:ext cx="19665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(2)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copy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5513" y="3488497"/>
            <a:ext cx="0" cy="2592705"/>
          </a:xfrm>
          <a:custGeom>
            <a:avLst/>
            <a:gdLst/>
            <a:ahLst/>
            <a:cxnLst/>
            <a:rect l="l" t="t" r="r" b="b"/>
            <a:pathLst>
              <a:path h="2592704">
                <a:moveTo>
                  <a:pt x="0" y="0"/>
                </a:moveTo>
                <a:lnTo>
                  <a:pt x="1" y="2592323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11021" y="3488497"/>
            <a:ext cx="0" cy="2592705"/>
          </a:xfrm>
          <a:custGeom>
            <a:avLst/>
            <a:gdLst/>
            <a:ahLst/>
            <a:cxnLst/>
            <a:rect l="l" t="t" r="r" b="b"/>
            <a:pathLst>
              <a:path h="2592704">
                <a:moveTo>
                  <a:pt x="0" y="0"/>
                </a:moveTo>
                <a:lnTo>
                  <a:pt x="1" y="2592323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25428" y="3488497"/>
            <a:ext cx="0" cy="2592705"/>
          </a:xfrm>
          <a:custGeom>
            <a:avLst/>
            <a:gdLst/>
            <a:ahLst/>
            <a:cxnLst/>
            <a:rect l="l" t="t" r="r" b="b"/>
            <a:pathLst>
              <a:path h="2592704">
                <a:moveTo>
                  <a:pt x="0" y="0"/>
                </a:moveTo>
                <a:lnTo>
                  <a:pt x="1" y="2592323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3792" y="1335023"/>
            <a:ext cx="7886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0586" y="1286255"/>
            <a:ext cx="5685790" cy="7632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R(A,B,C,D,E)</a:t>
            </a:r>
            <a:endParaRPr sz="2100">
              <a:latin typeface="Verdana"/>
              <a:cs typeface="Verdana"/>
            </a:endParaRPr>
          </a:p>
          <a:p>
            <a:pPr marL="31115">
              <a:lnSpc>
                <a:spcPct val="100000"/>
              </a:lnSpc>
              <a:spcBef>
                <a:spcPts val="38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DE,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BC,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3060" y="25941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9788" y="2084832"/>
            <a:ext cx="418782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21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2482" y="3607815"/>
            <a:ext cx="21424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(3)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reflexivity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52792" y="3607815"/>
            <a:ext cx="22256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(4)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transitivity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9531" y="6569456"/>
            <a:ext cx="740473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ABCDE,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BDE,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ABCDE,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3060" y="644921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1889" y="1347932"/>
            <a:ext cx="2343785" cy="65468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(from</a:t>
            </a:r>
            <a:r>
              <a:rPr sz="1500" spc="-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previous</a:t>
            </a:r>
            <a:r>
              <a:rPr sz="15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page)</a:t>
            </a:r>
            <a:endParaRPr sz="1500">
              <a:latin typeface="Verdana"/>
              <a:cs typeface="Verdana"/>
            </a:endParaRPr>
          </a:p>
          <a:p>
            <a:pPr marL="130810">
              <a:lnSpc>
                <a:spcPct val="100000"/>
              </a:lnSpc>
              <a:spcBef>
                <a:spcPts val="595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(4)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transitivity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119" y="2220976"/>
            <a:ext cx="1604010" cy="158623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82600" algn="l"/>
                <a:tab pos="84074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2600" algn="l"/>
                <a:tab pos="990600" algn="l"/>
                <a:tab pos="128778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82600" algn="l"/>
                <a:tab pos="84074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B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2600" algn="l"/>
                <a:tab pos="129095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82600" algn="l"/>
                <a:tab pos="144081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7672" y="3504184"/>
            <a:ext cx="37655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0000" algn="l"/>
              </a:tabLst>
            </a:pP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(let’s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abbreviate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TR)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90782" y="2140063"/>
            <a:ext cx="2434590" cy="1770380"/>
            <a:chOff x="1690782" y="2140063"/>
            <a:chExt cx="2434590" cy="1770380"/>
          </a:xfrm>
        </p:grpSpPr>
        <p:sp>
          <p:nvSpPr>
            <p:cNvPr id="6" name="object 6"/>
            <p:cNvSpPr/>
            <p:nvPr/>
          </p:nvSpPr>
          <p:spPr>
            <a:xfrm>
              <a:off x="1700784" y="3499175"/>
              <a:ext cx="2144395" cy="288290"/>
            </a:xfrm>
            <a:custGeom>
              <a:avLst/>
              <a:gdLst/>
              <a:ahLst/>
              <a:cxnLst/>
              <a:rect l="l" t="t" r="r" b="b"/>
              <a:pathLst>
                <a:path w="2144395" h="288289">
                  <a:moveTo>
                    <a:pt x="0" y="48007"/>
                  </a:moveTo>
                  <a:lnTo>
                    <a:pt x="3772" y="29320"/>
                  </a:lnTo>
                  <a:lnTo>
                    <a:pt x="14060" y="14060"/>
                  </a:lnTo>
                  <a:lnTo>
                    <a:pt x="29320" y="3772"/>
                  </a:lnTo>
                  <a:lnTo>
                    <a:pt x="48006" y="0"/>
                  </a:lnTo>
                  <a:lnTo>
                    <a:pt x="2096260" y="0"/>
                  </a:lnTo>
                  <a:lnTo>
                    <a:pt x="2114947" y="3772"/>
                  </a:lnTo>
                  <a:lnTo>
                    <a:pt x="2130206" y="14060"/>
                  </a:lnTo>
                  <a:lnTo>
                    <a:pt x="2140495" y="29320"/>
                  </a:lnTo>
                  <a:lnTo>
                    <a:pt x="2144267" y="48007"/>
                  </a:lnTo>
                  <a:lnTo>
                    <a:pt x="2144267" y="240028"/>
                  </a:lnTo>
                  <a:lnTo>
                    <a:pt x="2140495" y="258715"/>
                  </a:lnTo>
                  <a:lnTo>
                    <a:pt x="2130206" y="273975"/>
                  </a:lnTo>
                  <a:lnTo>
                    <a:pt x="2114947" y="284263"/>
                  </a:lnTo>
                  <a:lnTo>
                    <a:pt x="2096260" y="288035"/>
                  </a:lnTo>
                  <a:lnTo>
                    <a:pt x="48006" y="288035"/>
                  </a:lnTo>
                  <a:lnTo>
                    <a:pt x="29320" y="284263"/>
                  </a:lnTo>
                  <a:lnTo>
                    <a:pt x="14060" y="273975"/>
                  </a:lnTo>
                  <a:lnTo>
                    <a:pt x="3772" y="258715"/>
                  </a:lnTo>
                  <a:lnTo>
                    <a:pt x="0" y="240028"/>
                  </a:lnTo>
                  <a:lnTo>
                    <a:pt x="0" y="48007"/>
                  </a:lnTo>
                  <a:close/>
                </a:path>
              </a:pathLst>
            </a:custGeom>
            <a:ln w="2000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6786" y="2141730"/>
              <a:ext cx="2128520" cy="1767205"/>
            </a:xfrm>
            <a:custGeom>
              <a:avLst/>
              <a:gdLst/>
              <a:ahLst/>
              <a:cxnLst/>
              <a:rect l="l" t="t" r="r" b="b"/>
              <a:pathLst>
                <a:path w="2128520" h="1767204">
                  <a:moveTo>
                    <a:pt x="0" y="0"/>
                  </a:moveTo>
                  <a:lnTo>
                    <a:pt x="2128265" y="0"/>
                  </a:lnTo>
                  <a:lnTo>
                    <a:pt x="2128265" y="1766620"/>
                  </a:lnTo>
                  <a:lnTo>
                    <a:pt x="0" y="1766620"/>
                  </a:lnTo>
                  <a:lnTo>
                    <a:pt x="0" y="0"/>
                  </a:lnTo>
                  <a:close/>
                </a:path>
              </a:pathLst>
            </a:custGeom>
            <a:ln w="3333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00784" y="2269746"/>
              <a:ext cx="2144395" cy="1216660"/>
            </a:xfrm>
            <a:custGeom>
              <a:avLst/>
              <a:gdLst/>
              <a:ahLst/>
              <a:cxnLst/>
              <a:rect l="l" t="t" r="r" b="b"/>
              <a:pathLst>
                <a:path w="2144395" h="1216660">
                  <a:moveTo>
                    <a:pt x="0" y="202695"/>
                  </a:moveTo>
                  <a:lnTo>
                    <a:pt x="5353" y="156218"/>
                  </a:lnTo>
                  <a:lnTo>
                    <a:pt x="20602" y="113554"/>
                  </a:lnTo>
                  <a:lnTo>
                    <a:pt x="44529" y="75919"/>
                  </a:lnTo>
                  <a:lnTo>
                    <a:pt x="75919" y="44529"/>
                  </a:lnTo>
                  <a:lnTo>
                    <a:pt x="113554" y="20602"/>
                  </a:lnTo>
                  <a:lnTo>
                    <a:pt x="156218" y="5353"/>
                  </a:lnTo>
                  <a:lnTo>
                    <a:pt x="202694" y="0"/>
                  </a:lnTo>
                  <a:lnTo>
                    <a:pt x="1941572" y="0"/>
                  </a:lnTo>
                  <a:lnTo>
                    <a:pt x="1988048" y="5353"/>
                  </a:lnTo>
                  <a:lnTo>
                    <a:pt x="2030712" y="20602"/>
                  </a:lnTo>
                  <a:lnTo>
                    <a:pt x="2068348" y="44529"/>
                  </a:lnTo>
                  <a:lnTo>
                    <a:pt x="2099738" y="75919"/>
                  </a:lnTo>
                  <a:lnTo>
                    <a:pt x="2123665" y="113554"/>
                  </a:lnTo>
                  <a:lnTo>
                    <a:pt x="2138914" y="156218"/>
                  </a:lnTo>
                  <a:lnTo>
                    <a:pt x="2144267" y="202695"/>
                  </a:lnTo>
                  <a:lnTo>
                    <a:pt x="2144267" y="1013456"/>
                  </a:lnTo>
                  <a:lnTo>
                    <a:pt x="2138914" y="1059933"/>
                  </a:lnTo>
                  <a:lnTo>
                    <a:pt x="2123665" y="1102597"/>
                  </a:lnTo>
                  <a:lnTo>
                    <a:pt x="2099738" y="1140232"/>
                  </a:lnTo>
                  <a:lnTo>
                    <a:pt x="2068348" y="1171622"/>
                  </a:lnTo>
                  <a:lnTo>
                    <a:pt x="2030712" y="1195549"/>
                  </a:lnTo>
                  <a:lnTo>
                    <a:pt x="1988048" y="1210798"/>
                  </a:lnTo>
                  <a:lnTo>
                    <a:pt x="1941572" y="1216151"/>
                  </a:lnTo>
                  <a:lnTo>
                    <a:pt x="202694" y="1216151"/>
                  </a:lnTo>
                  <a:lnTo>
                    <a:pt x="156218" y="1210798"/>
                  </a:lnTo>
                  <a:lnTo>
                    <a:pt x="113554" y="1195549"/>
                  </a:lnTo>
                  <a:lnTo>
                    <a:pt x="75919" y="1171622"/>
                  </a:lnTo>
                  <a:lnTo>
                    <a:pt x="44529" y="1140232"/>
                  </a:lnTo>
                  <a:lnTo>
                    <a:pt x="20602" y="1102597"/>
                  </a:lnTo>
                  <a:lnTo>
                    <a:pt x="5353" y="1059933"/>
                  </a:lnTo>
                  <a:lnTo>
                    <a:pt x="0" y="1013456"/>
                  </a:lnTo>
                  <a:lnTo>
                    <a:pt x="0" y="202695"/>
                  </a:lnTo>
                  <a:close/>
                </a:path>
              </a:pathLst>
            </a:custGeom>
            <a:ln w="2000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41572" y="2705341"/>
              <a:ext cx="483870" cy="579755"/>
            </a:xfrm>
            <a:custGeom>
              <a:avLst/>
              <a:gdLst/>
              <a:ahLst/>
              <a:cxnLst/>
              <a:rect l="l" t="t" r="r" b="b"/>
              <a:pathLst>
                <a:path w="483870" h="579754">
                  <a:moveTo>
                    <a:pt x="32905" y="557047"/>
                  </a:moveTo>
                  <a:lnTo>
                    <a:pt x="26289" y="549541"/>
                  </a:lnTo>
                  <a:lnTo>
                    <a:pt x="18783" y="556145"/>
                  </a:lnTo>
                  <a:lnTo>
                    <a:pt x="25400" y="563651"/>
                  </a:lnTo>
                  <a:lnTo>
                    <a:pt x="32905" y="557047"/>
                  </a:lnTo>
                  <a:close/>
                </a:path>
                <a:path w="483870" h="579754">
                  <a:moveTo>
                    <a:pt x="47917" y="543826"/>
                  </a:moveTo>
                  <a:lnTo>
                    <a:pt x="41313" y="536321"/>
                  </a:lnTo>
                  <a:lnTo>
                    <a:pt x="33807" y="542937"/>
                  </a:lnTo>
                  <a:lnTo>
                    <a:pt x="40411" y="550443"/>
                  </a:lnTo>
                  <a:lnTo>
                    <a:pt x="47917" y="543826"/>
                  </a:lnTo>
                  <a:close/>
                </a:path>
                <a:path w="483870" h="579754">
                  <a:moveTo>
                    <a:pt x="56565" y="37249"/>
                  </a:moveTo>
                  <a:lnTo>
                    <a:pt x="46913" y="34645"/>
                  </a:lnTo>
                  <a:lnTo>
                    <a:pt x="44297" y="44297"/>
                  </a:lnTo>
                  <a:lnTo>
                    <a:pt x="53962" y="46913"/>
                  </a:lnTo>
                  <a:lnTo>
                    <a:pt x="56565" y="37249"/>
                  </a:lnTo>
                  <a:close/>
                </a:path>
                <a:path w="483870" h="579754">
                  <a:moveTo>
                    <a:pt x="62928" y="530618"/>
                  </a:moveTo>
                  <a:lnTo>
                    <a:pt x="56324" y="523113"/>
                  </a:lnTo>
                  <a:lnTo>
                    <a:pt x="48818" y="529717"/>
                  </a:lnTo>
                  <a:lnTo>
                    <a:pt x="55422" y="537222"/>
                  </a:lnTo>
                  <a:lnTo>
                    <a:pt x="62928" y="530618"/>
                  </a:lnTo>
                  <a:close/>
                </a:path>
                <a:path w="483870" h="579754">
                  <a:moveTo>
                    <a:pt x="75882" y="42468"/>
                  </a:moveTo>
                  <a:lnTo>
                    <a:pt x="66217" y="39865"/>
                  </a:lnTo>
                  <a:lnTo>
                    <a:pt x="63614" y="49517"/>
                  </a:lnTo>
                  <a:lnTo>
                    <a:pt x="73266" y="52120"/>
                  </a:lnTo>
                  <a:lnTo>
                    <a:pt x="75882" y="42468"/>
                  </a:lnTo>
                  <a:close/>
                </a:path>
                <a:path w="483870" h="579754">
                  <a:moveTo>
                    <a:pt x="77952" y="517410"/>
                  </a:moveTo>
                  <a:lnTo>
                    <a:pt x="71348" y="509892"/>
                  </a:lnTo>
                  <a:lnTo>
                    <a:pt x="63830" y="516509"/>
                  </a:lnTo>
                  <a:lnTo>
                    <a:pt x="70446" y="524014"/>
                  </a:lnTo>
                  <a:lnTo>
                    <a:pt x="77952" y="517410"/>
                  </a:lnTo>
                  <a:close/>
                </a:path>
                <a:path w="483870" h="579754">
                  <a:moveTo>
                    <a:pt x="92964" y="504190"/>
                  </a:moveTo>
                  <a:lnTo>
                    <a:pt x="86360" y="496684"/>
                  </a:lnTo>
                  <a:lnTo>
                    <a:pt x="78854" y="503288"/>
                  </a:lnTo>
                  <a:lnTo>
                    <a:pt x="85458" y="510794"/>
                  </a:lnTo>
                  <a:lnTo>
                    <a:pt x="92964" y="504190"/>
                  </a:lnTo>
                  <a:close/>
                </a:path>
                <a:path w="483870" h="579754">
                  <a:moveTo>
                    <a:pt x="95186" y="47688"/>
                  </a:moveTo>
                  <a:lnTo>
                    <a:pt x="85534" y="45085"/>
                  </a:lnTo>
                  <a:lnTo>
                    <a:pt x="82918" y="54737"/>
                  </a:lnTo>
                  <a:lnTo>
                    <a:pt x="92583" y="57340"/>
                  </a:lnTo>
                  <a:lnTo>
                    <a:pt x="95186" y="47688"/>
                  </a:lnTo>
                  <a:close/>
                </a:path>
                <a:path w="483870" h="579754">
                  <a:moveTo>
                    <a:pt x="103797" y="556704"/>
                  </a:moveTo>
                  <a:lnTo>
                    <a:pt x="102730" y="551281"/>
                  </a:lnTo>
                  <a:lnTo>
                    <a:pt x="100126" y="549541"/>
                  </a:lnTo>
                  <a:lnTo>
                    <a:pt x="14897" y="566229"/>
                  </a:lnTo>
                  <a:lnTo>
                    <a:pt x="16052" y="562749"/>
                  </a:lnTo>
                  <a:lnTo>
                    <a:pt x="42303" y="483844"/>
                  </a:lnTo>
                  <a:lnTo>
                    <a:pt x="40881" y="481012"/>
                  </a:lnTo>
                  <a:lnTo>
                    <a:pt x="35648" y="479272"/>
                  </a:lnTo>
                  <a:lnTo>
                    <a:pt x="32816" y="480682"/>
                  </a:lnTo>
                  <a:lnTo>
                    <a:pt x="14871" y="534631"/>
                  </a:lnTo>
                  <a:lnTo>
                    <a:pt x="14871" y="566318"/>
                  </a:lnTo>
                  <a:lnTo>
                    <a:pt x="14744" y="566699"/>
                  </a:lnTo>
                  <a:lnTo>
                    <a:pt x="14859" y="566318"/>
                  </a:lnTo>
                  <a:lnTo>
                    <a:pt x="14871" y="534631"/>
                  </a:lnTo>
                  <a:lnTo>
                    <a:pt x="0" y="579335"/>
                  </a:lnTo>
                  <a:lnTo>
                    <a:pt x="14287" y="576529"/>
                  </a:lnTo>
                  <a:lnTo>
                    <a:pt x="66408" y="566318"/>
                  </a:lnTo>
                  <a:lnTo>
                    <a:pt x="102031" y="559333"/>
                  </a:lnTo>
                  <a:lnTo>
                    <a:pt x="103797" y="556704"/>
                  </a:lnTo>
                  <a:close/>
                </a:path>
                <a:path w="483870" h="579754">
                  <a:moveTo>
                    <a:pt x="104546" y="6908"/>
                  </a:moveTo>
                  <a:lnTo>
                    <a:pt x="103098" y="1574"/>
                  </a:lnTo>
                  <a:lnTo>
                    <a:pt x="100355" y="0"/>
                  </a:lnTo>
                  <a:lnTo>
                    <a:pt x="27393" y="19748"/>
                  </a:lnTo>
                  <a:lnTo>
                    <a:pt x="27393" y="30175"/>
                  </a:lnTo>
                  <a:lnTo>
                    <a:pt x="25171" y="38417"/>
                  </a:lnTo>
                  <a:lnTo>
                    <a:pt x="23253" y="36474"/>
                  </a:lnTo>
                  <a:lnTo>
                    <a:pt x="19164" y="32321"/>
                  </a:lnTo>
                  <a:lnTo>
                    <a:pt x="27114" y="30175"/>
                  </a:lnTo>
                  <a:lnTo>
                    <a:pt x="27393" y="30175"/>
                  </a:lnTo>
                  <a:lnTo>
                    <a:pt x="27393" y="19748"/>
                  </a:lnTo>
                  <a:lnTo>
                    <a:pt x="0" y="27152"/>
                  </a:lnTo>
                  <a:lnTo>
                    <a:pt x="73050" y="101168"/>
                  </a:lnTo>
                  <a:lnTo>
                    <a:pt x="76200" y="101168"/>
                  </a:lnTo>
                  <a:lnTo>
                    <a:pt x="80124" y="97282"/>
                  </a:lnTo>
                  <a:lnTo>
                    <a:pt x="80149" y="94119"/>
                  </a:lnTo>
                  <a:lnTo>
                    <a:pt x="26136" y="39395"/>
                  </a:lnTo>
                  <a:lnTo>
                    <a:pt x="34645" y="41694"/>
                  </a:lnTo>
                  <a:lnTo>
                    <a:pt x="37172" y="32321"/>
                  </a:lnTo>
                  <a:lnTo>
                    <a:pt x="37261" y="32029"/>
                  </a:lnTo>
                  <a:lnTo>
                    <a:pt x="28740" y="29730"/>
                  </a:lnTo>
                  <a:lnTo>
                    <a:pt x="29883" y="29425"/>
                  </a:lnTo>
                  <a:lnTo>
                    <a:pt x="46583" y="24904"/>
                  </a:lnTo>
                  <a:lnTo>
                    <a:pt x="102971" y="9652"/>
                  </a:lnTo>
                  <a:lnTo>
                    <a:pt x="104546" y="6908"/>
                  </a:lnTo>
                  <a:close/>
                </a:path>
                <a:path w="483870" h="579754">
                  <a:moveTo>
                    <a:pt x="107988" y="490982"/>
                  </a:moveTo>
                  <a:lnTo>
                    <a:pt x="101371" y="483463"/>
                  </a:lnTo>
                  <a:lnTo>
                    <a:pt x="93865" y="490080"/>
                  </a:lnTo>
                  <a:lnTo>
                    <a:pt x="100469" y="497586"/>
                  </a:lnTo>
                  <a:lnTo>
                    <a:pt x="107988" y="490982"/>
                  </a:lnTo>
                  <a:close/>
                </a:path>
                <a:path w="483870" h="579754">
                  <a:moveTo>
                    <a:pt x="114490" y="52908"/>
                  </a:moveTo>
                  <a:lnTo>
                    <a:pt x="104838" y="50292"/>
                  </a:lnTo>
                  <a:lnTo>
                    <a:pt x="102235" y="59956"/>
                  </a:lnTo>
                  <a:lnTo>
                    <a:pt x="111887" y="62560"/>
                  </a:lnTo>
                  <a:lnTo>
                    <a:pt x="114490" y="52908"/>
                  </a:lnTo>
                  <a:close/>
                </a:path>
                <a:path w="483870" h="579754">
                  <a:moveTo>
                    <a:pt x="122999" y="477761"/>
                  </a:moveTo>
                  <a:lnTo>
                    <a:pt x="116395" y="470255"/>
                  </a:lnTo>
                  <a:lnTo>
                    <a:pt x="108877" y="476859"/>
                  </a:lnTo>
                  <a:lnTo>
                    <a:pt x="115493" y="484365"/>
                  </a:lnTo>
                  <a:lnTo>
                    <a:pt x="122999" y="477761"/>
                  </a:lnTo>
                  <a:close/>
                </a:path>
                <a:path w="483870" h="579754">
                  <a:moveTo>
                    <a:pt x="133807" y="58127"/>
                  </a:moveTo>
                  <a:lnTo>
                    <a:pt x="124155" y="55511"/>
                  </a:lnTo>
                  <a:lnTo>
                    <a:pt x="121539" y="65163"/>
                  </a:lnTo>
                  <a:lnTo>
                    <a:pt x="131203" y="67779"/>
                  </a:lnTo>
                  <a:lnTo>
                    <a:pt x="133807" y="58127"/>
                  </a:lnTo>
                  <a:close/>
                </a:path>
                <a:path w="483870" h="579754">
                  <a:moveTo>
                    <a:pt x="138010" y="464553"/>
                  </a:moveTo>
                  <a:lnTo>
                    <a:pt x="131406" y="457034"/>
                  </a:lnTo>
                  <a:lnTo>
                    <a:pt x="123901" y="463651"/>
                  </a:lnTo>
                  <a:lnTo>
                    <a:pt x="130505" y="471157"/>
                  </a:lnTo>
                  <a:lnTo>
                    <a:pt x="138010" y="464553"/>
                  </a:lnTo>
                  <a:close/>
                </a:path>
                <a:path w="483870" h="579754">
                  <a:moveTo>
                    <a:pt x="153035" y="451332"/>
                  </a:moveTo>
                  <a:lnTo>
                    <a:pt x="146418" y="443826"/>
                  </a:lnTo>
                  <a:lnTo>
                    <a:pt x="138912" y="450430"/>
                  </a:lnTo>
                  <a:lnTo>
                    <a:pt x="145516" y="457936"/>
                  </a:lnTo>
                  <a:lnTo>
                    <a:pt x="153035" y="451332"/>
                  </a:lnTo>
                  <a:close/>
                </a:path>
                <a:path w="483870" h="579754">
                  <a:moveTo>
                    <a:pt x="153111" y="63334"/>
                  </a:moveTo>
                  <a:lnTo>
                    <a:pt x="143459" y="60731"/>
                  </a:lnTo>
                  <a:lnTo>
                    <a:pt x="140855" y="70383"/>
                  </a:lnTo>
                  <a:lnTo>
                    <a:pt x="150507" y="72999"/>
                  </a:lnTo>
                  <a:lnTo>
                    <a:pt x="153111" y="63334"/>
                  </a:lnTo>
                  <a:close/>
                </a:path>
                <a:path w="483870" h="579754">
                  <a:moveTo>
                    <a:pt x="168046" y="438124"/>
                  </a:moveTo>
                  <a:lnTo>
                    <a:pt x="161442" y="430606"/>
                  </a:lnTo>
                  <a:lnTo>
                    <a:pt x="153936" y="437222"/>
                  </a:lnTo>
                  <a:lnTo>
                    <a:pt x="160540" y="444728"/>
                  </a:lnTo>
                  <a:lnTo>
                    <a:pt x="168046" y="438124"/>
                  </a:lnTo>
                  <a:close/>
                </a:path>
                <a:path w="483870" h="579754">
                  <a:moveTo>
                    <a:pt x="172427" y="68554"/>
                  </a:moveTo>
                  <a:lnTo>
                    <a:pt x="162775" y="65951"/>
                  </a:lnTo>
                  <a:lnTo>
                    <a:pt x="160159" y="75603"/>
                  </a:lnTo>
                  <a:lnTo>
                    <a:pt x="169811" y="78219"/>
                  </a:lnTo>
                  <a:lnTo>
                    <a:pt x="172427" y="68554"/>
                  </a:lnTo>
                  <a:close/>
                </a:path>
                <a:path w="483870" h="579754">
                  <a:moveTo>
                    <a:pt x="183057" y="424903"/>
                  </a:moveTo>
                  <a:lnTo>
                    <a:pt x="176453" y="417398"/>
                  </a:lnTo>
                  <a:lnTo>
                    <a:pt x="168948" y="424002"/>
                  </a:lnTo>
                  <a:lnTo>
                    <a:pt x="175552" y="431507"/>
                  </a:lnTo>
                  <a:lnTo>
                    <a:pt x="183057" y="424903"/>
                  </a:lnTo>
                  <a:close/>
                </a:path>
                <a:path w="483870" h="579754">
                  <a:moveTo>
                    <a:pt x="191731" y="73774"/>
                  </a:moveTo>
                  <a:lnTo>
                    <a:pt x="182079" y="71170"/>
                  </a:lnTo>
                  <a:lnTo>
                    <a:pt x="179476" y="80822"/>
                  </a:lnTo>
                  <a:lnTo>
                    <a:pt x="189128" y="83426"/>
                  </a:lnTo>
                  <a:lnTo>
                    <a:pt x="191731" y="73774"/>
                  </a:lnTo>
                  <a:close/>
                </a:path>
                <a:path w="483870" h="579754">
                  <a:moveTo>
                    <a:pt x="198081" y="411695"/>
                  </a:moveTo>
                  <a:lnTo>
                    <a:pt x="191477" y="404177"/>
                  </a:lnTo>
                  <a:lnTo>
                    <a:pt x="183959" y="410794"/>
                  </a:lnTo>
                  <a:lnTo>
                    <a:pt x="190576" y="418299"/>
                  </a:lnTo>
                  <a:lnTo>
                    <a:pt x="198081" y="411695"/>
                  </a:lnTo>
                  <a:close/>
                </a:path>
                <a:path w="483870" h="579754">
                  <a:moveTo>
                    <a:pt x="211048" y="78994"/>
                  </a:moveTo>
                  <a:lnTo>
                    <a:pt x="201396" y="76390"/>
                  </a:lnTo>
                  <a:lnTo>
                    <a:pt x="198780" y="86042"/>
                  </a:lnTo>
                  <a:lnTo>
                    <a:pt x="208432" y="88646"/>
                  </a:lnTo>
                  <a:lnTo>
                    <a:pt x="211048" y="78994"/>
                  </a:lnTo>
                  <a:close/>
                </a:path>
                <a:path w="483870" h="579754">
                  <a:moveTo>
                    <a:pt x="213093" y="398475"/>
                  </a:moveTo>
                  <a:lnTo>
                    <a:pt x="206489" y="390969"/>
                  </a:lnTo>
                  <a:lnTo>
                    <a:pt x="198983" y="397573"/>
                  </a:lnTo>
                  <a:lnTo>
                    <a:pt x="205587" y="405079"/>
                  </a:lnTo>
                  <a:lnTo>
                    <a:pt x="213093" y="398475"/>
                  </a:lnTo>
                  <a:close/>
                </a:path>
                <a:path w="483870" h="579754">
                  <a:moveTo>
                    <a:pt x="228117" y="385267"/>
                  </a:moveTo>
                  <a:lnTo>
                    <a:pt x="221500" y="377748"/>
                  </a:lnTo>
                  <a:lnTo>
                    <a:pt x="213995" y="384365"/>
                  </a:lnTo>
                  <a:lnTo>
                    <a:pt x="220599" y="391871"/>
                  </a:lnTo>
                  <a:lnTo>
                    <a:pt x="228117" y="385267"/>
                  </a:lnTo>
                  <a:close/>
                </a:path>
                <a:path w="483870" h="579754">
                  <a:moveTo>
                    <a:pt x="230352" y="84213"/>
                  </a:moveTo>
                  <a:lnTo>
                    <a:pt x="220700" y="81597"/>
                  </a:lnTo>
                  <a:lnTo>
                    <a:pt x="218097" y="91262"/>
                  </a:lnTo>
                  <a:lnTo>
                    <a:pt x="227749" y="93865"/>
                  </a:lnTo>
                  <a:lnTo>
                    <a:pt x="230352" y="84213"/>
                  </a:lnTo>
                  <a:close/>
                </a:path>
                <a:path w="483870" h="579754">
                  <a:moveTo>
                    <a:pt x="243128" y="372046"/>
                  </a:moveTo>
                  <a:lnTo>
                    <a:pt x="236524" y="364540"/>
                  </a:lnTo>
                  <a:lnTo>
                    <a:pt x="229006" y="371144"/>
                  </a:lnTo>
                  <a:lnTo>
                    <a:pt x="235623" y="378650"/>
                  </a:lnTo>
                  <a:lnTo>
                    <a:pt x="243128" y="372046"/>
                  </a:lnTo>
                  <a:close/>
                </a:path>
                <a:path w="483870" h="579754">
                  <a:moveTo>
                    <a:pt x="249669" y="89433"/>
                  </a:moveTo>
                  <a:lnTo>
                    <a:pt x="240017" y="86817"/>
                  </a:lnTo>
                  <a:lnTo>
                    <a:pt x="237401" y="96469"/>
                  </a:lnTo>
                  <a:lnTo>
                    <a:pt x="247053" y="99085"/>
                  </a:lnTo>
                  <a:lnTo>
                    <a:pt x="249669" y="89433"/>
                  </a:lnTo>
                  <a:close/>
                </a:path>
                <a:path w="483870" h="579754">
                  <a:moveTo>
                    <a:pt x="258140" y="358838"/>
                  </a:moveTo>
                  <a:lnTo>
                    <a:pt x="251536" y="351320"/>
                  </a:lnTo>
                  <a:lnTo>
                    <a:pt x="244030" y="357936"/>
                  </a:lnTo>
                  <a:lnTo>
                    <a:pt x="250634" y="365442"/>
                  </a:lnTo>
                  <a:lnTo>
                    <a:pt x="258140" y="358838"/>
                  </a:lnTo>
                  <a:close/>
                </a:path>
                <a:path w="483870" h="579754">
                  <a:moveTo>
                    <a:pt x="268973" y="94640"/>
                  </a:moveTo>
                  <a:lnTo>
                    <a:pt x="259321" y="92036"/>
                  </a:lnTo>
                  <a:lnTo>
                    <a:pt x="256717" y="101688"/>
                  </a:lnTo>
                  <a:lnTo>
                    <a:pt x="266369" y="104305"/>
                  </a:lnTo>
                  <a:lnTo>
                    <a:pt x="268973" y="94640"/>
                  </a:lnTo>
                  <a:close/>
                </a:path>
                <a:path w="483870" h="579754">
                  <a:moveTo>
                    <a:pt x="273164" y="345617"/>
                  </a:moveTo>
                  <a:lnTo>
                    <a:pt x="266547" y="338112"/>
                  </a:lnTo>
                  <a:lnTo>
                    <a:pt x="259041" y="344716"/>
                  </a:lnTo>
                  <a:lnTo>
                    <a:pt x="265645" y="352221"/>
                  </a:lnTo>
                  <a:lnTo>
                    <a:pt x="273164" y="345617"/>
                  </a:lnTo>
                  <a:close/>
                </a:path>
                <a:path w="483870" h="579754">
                  <a:moveTo>
                    <a:pt x="288175" y="332409"/>
                  </a:moveTo>
                  <a:lnTo>
                    <a:pt x="281571" y="324891"/>
                  </a:lnTo>
                  <a:lnTo>
                    <a:pt x="274066" y="331508"/>
                  </a:lnTo>
                  <a:lnTo>
                    <a:pt x="280670" y="339013"/>
                  </a:lnTo>
                  <a:lnTo>
                    <a:pt x="288175" y="332409"/>
                  </a:lnTo>
                  <a:close/>
                </a:path>
                <a:path w="483870" h="579754">
                  <a:moveTo>
                    <a:pt x="288290" y="99860"/>
                  </a:moveTo>
                  <a:lnTo>
                    <a:pt x="278638" y="97256"/>
                  </a:lnTo>
                  <a:lnTo>
                    <a:pt x="276021" y="106908"/>
                  </a:lnTo>
                  <a:lnTo>
                    <a:pt x="285673" y="109524"/>
                  </a:lnTo>
                  <a:lnTo>
                    <a:pt x="288290" y="99860"/>
                  </a:lnTo>
                  <a:close/>
                </a:path>
                <a:path w="483870" h="579754">
                  <a:moveTo>
                    <a:pt x="303187" y="319189"/>
                  </a:moveTo>
                  <a:lnTo>
                    <a:pt x="296583" y="311683"/>
                  </a:lnTo>
                  <a:lnTo>
                    <a:pt x="289077" y="318287"/>
                  </a:lnTo>
                  <a:lnTo>
                    <a:pt x="295681" y="325793"/>
                  </a:lnTo>
                  <a:lnTo>
                    <a:pt x="303187" y="319189"/>
                  </a:lnTo>
                  <a:close/>
                </a:path>
                <a:path w="483870" h="579754">
                  <a:moveTo>
                    <a:pt x="307594" y="105079"/>
                  </a:moveTo>
                  <a:lnTo>
                    <a:pt x="297942" y="102476"/>
                  </a:lnTo>
                  <a:lnTo>
                    <a:pt x="295338" y="112128"/>
                  </a:lnTo>
                  <a:lnTo>
                    <a:pt x="304990" y="114731"/>
                  </a:lnTo>
                  <a:lnTo>
                    <a:pt x="307594" y="105079"/>
                  </a:lnTo>
                  <a:close/>
                </a:path>
                <a:path w="483870" h="579754">
                  <a:moveTo>
                    <a:pt x="318211" y="305981"/>
                  </a:moveTo>
                  <a:lnTo>
                    <a:pt x="311607" y="298462"/>
                  </a:lnTo>
                  <a:lnTo>
                    <a:pt x="304088" y="305079"/>
                  </a:lnTo>
                  <a:lnTo>
                    <a:pt x="310705" y="312585"/>
                  </a:lnTo>
                  <a:lnTo>
                    <a:pt x="318211" y="305981"/>
                  </a:lnTo>
                  <a:close/>
                </a:path>
                <a:path w="483870" h="579754">
                  <a:moveTo>
                    <a:pt x="326910" y="110299"/>
                  </a:moveTo>
                  <a:lnTo>
                    <a:pt x="317246" y="107696"/>
                  </a:lnTo>
                  <a:lnTo>
                    <a:pt x="314642" y="117348"/>
                  </a:lnTo>
                  <a:lnTo>
                    <a:pt x="324294" y="119951"/>
                  </a:lnTo>
                  <a:lnTo>
                    <a:pt x="326910" y="110299"/>
                  </a:lnTo>
                  <a:close/>
                </a:path>
                <a:path w="483870" h="579754">
                  <a:moveTo>
                    <a:pt x="333222" y="292760"/>
                  </a:moveTo>
                  <a:lnTo>
                    <a:pt x="326618" y="285254"/>
                  </a:lnTo>
                  <a:lnTo>
                    <a:pt x="319112" y="291858"/>
                  </a:lnTo>
                  <a:lnTo>
                    <a:pt x="325716" y="299364"/>
                  </a:lnTo>
                  <a:lnTo>
                    <a:pt x="333222" y="292760"/>
                  </a:lnTo>
                  <a:close/>
                </a:path>
                <a:path w="483870" h="579754">
                  <a:moveTo>
                    <a:pt x="346214" y="115519"/>
                  </a:moveTo>
                  <a:lnTo>
                    <a:pt x="336562" y="112903"/>
                  </a:lnTo>
                  <a:lnTo>
                    <a:pt x="333959" y="122567"/>
                  </a:lnTo>
                  <a:lnTo>
                    <a:pt x="343611" y="125171"/>
                  </a:lnTo>
                  <a:lnTo>
                    <a:pt x="346214" y="115519"/>
                  </a:lnTo>
                  <a:close/>
                </a:path>
                <a:path w="483870" h="579754">
                  <a:moveTo>
                    <a:pt x="348246" y="279552"/>
                  </a:moveTo>
                  <a:lnTo>
                    <a:pt x="341630" y="272046"/>
                  </a:lnTo>
                  <a:lnTo>
                    <a:pt x="334124" y="278650"/>
                  </a:lnTo>
                  <a:lnTo>
                    <a:pt x="340728" y="286156"/>
                  </a:lnTo>
                  <a:lnTo>
                    <a:pt x="348246" y="279552"/>
                  </a:lnTo>
                  <a:close/>
                </a:path>
                <a:path w="483870" h="579754">
                  <a:moveTo>
                    <a:pt x="363258" y="266331"/>
                  </a:moveTo>
                  <a:lnTo>
                    <a:pt x="356654" y="258826"/>
                  </a:lnTo>
                  <a:lnTo>
                    <a:pt x="349135" y="265430"/>
                  </a:lnTo>
                  <a:lnTo>
                    <a:pt x="355752" y="272935"/>
                  </a:lnTo>
                  <a:lnTo>
                    <a:pt x="363258" y="266331"/>
                  </a:lnTo>
                  <a:close/>
                </a:path>
                <a:path w="483870" h="579754">
                  <a:moveTo>
                    <a:pt x="365531" y="120738"/>
                  </a:moveTo>
                  <a:lnTo>
                    <a:pt x="355866" y="118122"/>
                  </a:lnTo>
                  <a:lnTo>
                    <a:pt x="353263" y="127774"/>
                  </a:lnTo>
                  <a:lnTo>
                    <a:pt x="362915" y="130390"/>
                  </a:lnTo>
                  <a:lnTo>
                    <a:pt x="365531" y="120738"/>
                  </a:lnTo>
                  <a:close/>
                </a:path>
                <a:path w="483870" h="579754">
                  <a:moveTo>
                    <a:pt x="378269" y="253123"/>
                  </a:moveTo>
                  <a:lnTo>
                    <a:pt x="371665" y="245618"/>
                  </a:lnTo>
                  <a:lnTo>
                    <a:pt x="364159" y="252222"/>
                  </a:lnTo>
                  <a:lnTo>
                    <a:pt x="370763" y="259727"/>
                  </a:lnTo>
                  <a:lnTo>
                    <a:pt x="378269" y="253123"/>
                  </a:lnTo>
                  <a:close/>
                </a:path>
                <a:path w="483870" h="579754">
                  <a:moveTo>
                    <a:pt x="384835" y="125945"/>
                  </a:moveTo>
                  <a:lnTo>
                    <a:pt x="375183" y="123342"/>
                  </a:lnTo>
                  <a:lnTo>
                    <a:pt x="372567" y="132994"/>
                  </a:lnTo>
                  <a:lnTo>
                    <a:pt x="382231" y="135610"/>
                  </a:lnTo>
                  <a:lnTo>
                    <a:pt x="384835" y="125945"/>
                  </a:lnTo>
                  <a:close/>
                </a:path>
                <a:path w="483870" h="579754">
                  <a:moveTo>
                    <a:pt x="393293" y="239903"/>
                  </a:moveTo>
                  <a:lnTo>
                    <a:pt x="386676" y="232397"/>
                  </a:lnTo>
                  <a:lnTo>
                    <a:pt x="379171" y="239001"/>
                  </a:lnTo>
                  <a:lnTo>
                    <a:pt x="385775" y="246507"/>
                  </a:lnTo>
                  <a:lnTo>
                    <a:pt x="393293" y="239903"/>
                  </a:lnTo>
                  <a:close/>
                </a:path>
                <a:path w="483870" h="579754">
                  <a:moveTo>
                    <a:pt x="404152" y="131165"/>
                  </a:moveTo>
                  <a:lnTo>
                    <a:pt x="394487" y="128562"/>
                  </a:lnTo>
                  <a:lnTo>
                    <a:pt x="391883" y="138214"/>
                  </a:lnTo>
                  <a:lnTo>
                    <a:pt x="401535" y="140830"/>
                  </a:lnTo>
                  <a:lnTo>
                    <a:pt x="404152" y="131165"/>
                  </a:lnTo>
                  <a:close/>
                </a:path>
                <a:path w="483870" h="579754">
                  <a:moveTo>
                    <a:pt x="408305" y="226695"/>
                  </a:moveTo>
                  <a:lnTo>
                    <a:pt x="401701" y="219189"/>
                  </a:lnTo>
                  <a:lnTo>
                    <a:pt x="394195" y="225793"/>
                  </a:lnTo>
                  <a:lnTo>
                    <a:pt x="400799" y="233299"/>
                  </a:lnTo>
                  <a:lnTo>
                    <a:pt x="408305" y="226695"/>
                  </a:lnTo>
                  <a:close/>
                </a:path>
                <a:path w="483870" h="579754">
                  <a:moveTo>
                    <a:pt x="423316" y="213474"/>
                  </a:moveTo>
                  <a:lnTo>
                    <a:pt x="416712" y="205968"/>
                  </a:lnTo>
                  <a:lnTo>
                    <a:pt x="409206" y="212572"/>
                  </a:lnTo>
                  <a:lnTo>
                    <a:pt x="415810" y="220091"/>
                  </a:lnTo>
                  <a:lnTo>
                    <a:pt x="423316" y="213474"/>
                  </a:lnTo>
                  <a:close/>
                </a:path>
                <a:path w="483870" h="579754">
                  <a:moveTo>
                    <a:pt x="423456" y="136385"/>
                  </a:moveTo>
                  <a:lnTo>
                    <a:pt x="413804" y="133781"/>
                  </a:lnTo>
                  <a:lnTo>
                    <a:pt x="411187" y="143433"/>
                  </a:lnTo>
                  <a:lnTo>
                    <a:pt x="420852" y="146037"/>
                  </a:lnTo>
                  <a:lnTo>
                    <a:pt x="423456" y="136385"/>
                  </a:lnTo>
                  <a:close/>
                </a:path>
                <a:path w="483870" h="579754">
                  <a:moveTo>
                    <a:pt x="438340" y="200266"/>
                  </a:moveTo>
                  <a:lnTo>
                    <a:pt x="431736" y="192760"/>
                  </a:lnTo>
                  <a:lnTo>
                    <a:pt x="424218" y="199364"/>
                  </a:lnTo>
                  <a:lnTo>
                    <a:pt x="430834" y="206870"/>
                  </a:lnTo>
                  <a:lnTo>
                    <a:pt x="438340" y="200266"/>
                  </a:lnTo>
                  <a:close/>
                </a:path>
                <a:path w="483870" h="579754">
                  <a:moveTo>
                    <a:pt x="442772" y="141605"/>
                  </a:moveTo>
                  <a:lnTo>
                    <a:pt x="433108" y="139001"/>
                  </a:lnTo>
                  <a:lnTo>
                    <a:pt x="430504" y="148653"/>
                  </a:lnTo>
                  <a:lnTo>
                    <a:pt x="440156" y="151257"/>
                  </a:lnTo>
                  <a:lnTo>
                    <a:pt x="442772" y="141605"/>
                  </a:lnTo>
                  <a:close/>
                </a:path>
                <a:path w="483870" h="579754">
                  <a:moveTo>
                    <a:pt x="453351" y="187045"/>
                  </a:moveTo>
                  <a:lnTo>
                    <a:pt x="446747" y="179539"/>
                  </a:lnTo>
                  <a:lnTo>
                    <a:pt x="439242" y="186143"/>
                  </a:lnTo>
                  <a:lnTo>
                    <a:pt x="445846" y="193662"/>
                  </a:lnTo>
                  <a:lnTo>
                    <a:pt x="453351" y="187045"/>
                  </a:lnTo>
                  <a:close/>
                </a:path>
                <a:path w="483870" h="579754">
                  <a:moveTo>
                    <a:pt x="462076" y="146824"/>
                  </a:moveTo>
                  <a:lnTo>
                    <a:pt x="452424" y="144208"/>
                  </a:lnTo>
                  <a:lnTo>
                    <a:pt x="449808" y="153873"/>
                  </a:lnTo>
                  <a:lnTo>
                    <a:pt x="459473" y="156476"/>
                  </a:lnTo>
                  <a:lnTo>
                    <a:pt x="462076" y="146824"/>
                  </a:lnTo>
                  <a:close/>
                </a:path>
                <a:path w="483870" h="579754">
                  <a:moveTo>
                    <a:pt x="468376" y="173837"/>
                  </a:moveTo>
                  <a:lnTo>
                    <a:pt x="461759" y="166331"/>
                  </a:lnTo>
                  <a:lnTo>
                    <a:pt x="454253" y="172935"/>
                  </a:lnTo>
                  <a:lnTo>
                    <a:pt x="460857" y="180441"/>
                  </a:lnTo>
                  <a:lnTo>
                    <a:pt x="468376" y="173837"/>
                  </a:lnTo>
                  <a:close/>
                </a:path>
                <a:path w="483870" h="579754">
                  <a:moveTo>
                    <a:pt x="483387" y="160616"/>
                  </a:moveTo>
                  <a:lnTo>
                    <a:pt x="480072" y="156870"/>
                  </a:lnTo>
                  <a:lnTo>
                    <a:pt x="481380" y="152044"/>
                  </a:lnTo>
                  <a:lnTo>
                    <a:pt x="471728" y="149428"/>
                  </a:lnTo>
                  <a:lnTo>
                    <a:pt x="469125" y="159080"/>
                  </a:lnTo>
                  <a:lnTo>
                    <a:pt x="469773" y="159270"/>
                  </a:lnTo>
                  <a:lnTo>
                    <a:pt x="469265" y="159715"/>
                  </a:lnTo>
                  <a:lnTo>
                    <a:pt x="475881" y="167233"/>
                  </a:lnTo>
                  <a:lnTo>
                    <a:pt x="483387" y="16061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97881" y="2711703"/>
            <a:ext cx="3244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37911" y="5397398"/>
            <a:ext cx="2032000" cy="63309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480059">
              <a:lnSpc>
                <a:spcPct val="100000"/>
              </a:lnSpc>
              <a:spcBef>
                <a:spcPts val="195"/>
              </a:spcBef>
              <a:tabLst>
                <a:tab pos="1007110" algn="l"/>
                <a:tab pos="1395730" algn="l"/>
                <a:tab pos="1598930" algn="l"/>
              </a:tabLst>
            </a:pP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SK</a:t>
            </a:r>
            <a:r>
              <a:rPr sz="1500" spc="-55" dirty="0">
                <a:solidFill>
                  <a:srgbClr val="007879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SK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21273" y="5461982"/>
            <a:ext cx="3686810" cy="1160780"/>
          </a:xfrm>
          <a:prstGeom prst="rect">
            <a:avLst/>
          </a:prstGeom>
          <a:ln w="10001">
            <a:solidFill>
              <a:srgbClr val="7F7F7F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765"/>
              </a:spcBef>
              <a:tabLst>
                <a:tab pos="570865" algn="l"/>
              </a:tabLst>
            </a:pPr>
            <a:r>
              <a:rPr sz="1600" spc="-25" dirty="0">
                <a:solidFill>
                  <a:srgbClr val="292934"/>
                </a:solidFill>
                <a:latin typeface="Verdana"/>
                <a:cs typeface="Verdana"/>
              </a:rPr>
              <a:t>TR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	–</a:t>
            </a:r>
            <a:r>
              <a:rPr sz="1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endParaRPr sz="1600">
              <a:latin typeface="Verdana"/>
              <a:cs typeface="Verdana"/>
            </a:endParaRPr>
          </a:p>
          <a:p>
            <a:pPr marL="95885">
              <a:lnSpc>
                <a:spcPts val="1910"/>
              </a:lnSpc>
              <a:tabLst>
                <a:tab pos="570865" algn="l"/>
              </a:tabLst>
            </a:pPr>
            <a:r>
              <a:rPr sz="1600" spc="-25" dirty="0">
                <a:solidFill>
                  <a:srgbClr val="292934"/>
                </a:solidFill>
                <a:latin typeface="Verdana"/>
                <a:cs typeface="Verdana"/>
              </a:rPr>
              <a:t>SK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	–</a:t>
            </a:r>
            <a:r>
              <a:rPr sz="16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6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600">
              <a:latin typeface="Verdana"/>
              <a:cs typeface="Verdana"/>
            </a:endParaRPr>
          </a:p>
          <a:p>
            <a:pPr marL="95885">
              <a:lnSpc>
                <a:spcPts val="1895"/>
              </a:lnSpc>
              <a:tabLst>
                <a:tab pos="570865" algn="l"/>
              </a:tabLst>
            </a:pPr>
            <a:r>
              <a:rPr sz="1600" spc="-50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	–</a:t>
            </a:r>
            <a:r>
              <a:rPr sz="1600" spc="-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neither</a:t>
            </a:r>
            <a:r>
              <a:rPr sz="1600" spc="-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16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nor</a:t>
            </a:r>
            <a:r>
              <a:rPr sz="1600" spc="-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600" spc="-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600">
              <a:latin typeface="Verdana"/>
              <a:cs typeface="Verdana"/>
            </a:endParaRPr>
          </a:p>
          <a:p>
            <a:pPr marL="95885">
              <a:lnSpc>
                <a:spcPts val="1910"/>
              </a:lnSpc>
              <a:tabLst>
                <a:tab pos="570865" algn="l"/>
              </a:tabLst>
            </a:pPr>
            <a:r>
              <a:rPr sz="1600" spc="-50" dirty="0">
                <a:solidFill>
                  <a:srgbClr val="292934"/>
                </a:solidFill>
                <a:latin typeface="Verdana"/>
                <a:cs typeface="Verdana"/>
              </a:rPr>
              <a:t>!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(possibly)</a:t>
            </a:r>
            <a:r>
              <a:rPr sz="15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796" y="4896104"/>
            <a:ext cx="88303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F+,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rewrite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format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us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calculate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21680" y="2720847"/>
            <a:ext cx="42157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Non-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FDs.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6: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5" dirty="0"/>
              <a:t> </a:t>
            </a:r>
            <a:r>
              <a:rPr sz="3800" b="0" spc="-25" dirty="0">
                <a:latin typeface="Verdana"/>
                <a:cs typeface="Verdana"/>
              </a:rPr>
              <a:t>(2)</a:t>
            </a:r>
            <a:endParaRPr sz="3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3538" y="1251711"/>
            <a:ext cx="1591310" cy="158940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69900" indent="-46990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69900" algn="l"/>
                <a:tab pos="82804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69900" indent="-46990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69900" algn="l"/>
                <a:tab pos="977900" algn="l"/>
                <a:tab pos="127508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69900" indent="-46990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69900" algn="l"/>
                <a:tab pos="82804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B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69900" indent="-469900">
              <a:lnSpc>
                <a:spcPct val="100000"/>
              </a:lnSpc>
              <a:spcBef>
                <a:spcPts val="480"/>
              </a:spcBef>
              <a:buFont typeface="Verdana"/>
              <a:buAutoNum type="alphaUcPeriod"/>
              <a:tabLst>
                <a:tab pos="469900" algn="l"/>
                <a:tab pos="127825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69900" indent="-46990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69900" algn="l"/>
                <a:tab pos="142811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89519" y="1281672"/>
            <a:ext cx="1856739" cy="1664335"/>
          </a:xfrm>
          <a:custGeom>
            <a:avLst/>
            <a:gdLst/>
            <a:ahLst/>
            <a:cxnLst/>
            <a:rect l="l" t="t" r="r" b="b"/>
            <a:pathLst>
              <a:path w="1856740" h="1664335">
                <a:moveTo>
                  <a:pt x="0" y="0"/>
                </a:moveTo>
                <a:lnTo>
                  <a:pt x="1856231" y="0"/>
                </a:lnTo>
                <a:lnTo>
                  <a:pt x="1856231" y="1664207"/>
                </a:lnTo>
                <a:lnTo>
                  <a:pt x="0" y="1664207"/>
                </a:lnTo>
                <a:lnTo>
                  <a:pt x="0" y="0"/>
                </a:lnTo>
                <a:close/>
              </a:path>
            </a:pathLst>
          </a:custGeom>
          <a:ln w="3333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34623" y="1276095"/>
            <a:ext cx="3244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7973" y="5900928"/>
            <a:ext cx="5958205" cy="925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100"/>
              </a:spcBef>
            </a:pPr>
            <a:r>
              <a:rPr sz="2100" spc="-8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on,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ways:</a:t>
            </a:r>
            <a:endParaRPr sz="2100">
              <a:latin typeface="Verdana"/>
              <a:cs typeface="Verdana"/>
            </a:endParaRPr>
          </a:p>
          <a:p>
            <a:pPr marL="504190" indent="-238760">
              <a:lnSpc>
                <a:spcPts val="2270"/>
              </a:lnSpc>
              <a:buFont typeface="Arial MT"/>
              <a:buChar char="•"/>
              <a:tabLst>
                <a:tab pos="504190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first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FD,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endParaRPr sz="1900">
              <a:latin typeface="Verdana"/>
              <a:cs typeface="Verdana"/>
            </a:endParaRPr>
          </a:p>
          <a:p>
            <a:pPr marL="504190" indent="-23876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504190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longest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(yield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better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solution)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1809" y="2994419"/>
            <a:ext cx="8230870" cy="264350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non-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SK</a:t>
            </a:r>
            <a:endParaRPr sz="2100">
              <a:latin typeface="Verdana"/>
              <a:cs typeface="Verdana"/>
            </a:endParaRPr>
          </a:p>
          <a:p>
            <a:pPr marL="544195">
              <a:lnSpc>
                <a:spcPct val="100000"/>
              </a:lnSpc>
              <a:spcBef>
                <a:spcPts val="96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19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9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B:</a:t>
            </a:r>
            <a:endParaRPr sz="1900">
              <a:latin typeface="Verdana"/>
              <a:cs typeface="Verdana"/>
            </a:endParaRPr>
          </a:p>
          <a:p>
            <a:pPr marL="843915" marR="5080">
              <a:lnSpc>
                <a:spcPct val="101099"/>
              </a:lnSpc>
              <a:spcBef>
                <a:spcPts val="409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key,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trivial,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BDE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violates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BCNF,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break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900">
              <a:latin typeface="Verdana"/>
              <a:cs typeface="Verdana"/>
            </a:endParaRPr>
          </a:p>
          <a:p>
            <a:pPr marL="544195">
              <a:lnSpc>
                <a:spcPct val="100000"/>
              </a:lnSpc>
              <a:spcBef>
                <a:spcPts val="148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19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19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D:</a:t>
            </a:r>
            <a:endParaRPr sz="1900">
              <a:latin typeface="Verdana"/>
              <a:cs typeface="Verdana"/>
            </a:endParaRPr>
          </a:p>
          <a:p>
            <a:pPr marL="843915" marR="129539">
              <a:lnSpc>
                <a:spcPct val="101099"/>
              </a:lnSpc>
              <a:spcBef>
                <a:spcPts val="38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key,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trivial,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DE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violates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BCNF,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break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957" y="1502054"/>
            <a:ext cx="2032000" cy="63309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480059">
              <a:lnSpc>
                <a:spcPct val="100000"/>
              </a:lnSpc>
              <a:spcBef>
                <a:spcPts val="195"/>
              </a:spcBef>
              <a:tabLst>
                <a:tab pos="1007110" algn="l"/>
                <a:tab pos="1395730" algn="l"/>
                <a:tab pos="1598930" algn="l"/>
              </a:tabLst>
            </a:pP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SK</a:t>
            </a:r>
            <a:r>
              <a:rPr sz="1500" spc="-55" dirty="0">
                <a:solidFill>
                  <a:srgbClr val="007879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SK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46478" y="1469218"/>
            <a:ext cx="304165" cy="432434"/>
          </a:xfrm>
          <a:custGeom>
            <a:avLst/>
            <a:gdLst/>
            <a:ahLst/>
            <a:cxnLst/>
            <a:rect l="l" t="t" r="r" b="b"/>
            <a:pathLst>
              <a:path w="304164" h="432435">
                <a:moveTo>
                  <a:pt x="0" y="50673"/>
                </a:moveTo>
                <a:lnTo>
                  <a:pt x="3982" y="30949"/>
                </a:lnTo>
                <a:lnTo>
                  <a:pt x="14842" y="14841"/>
                </a:lnTo>
                <a:lnTo>
                  <a:pt x="30949" y="3982"/>
                </a:lnTo>
                <a:lnTo>
                  <a:pt x="50673" y="0"/>
                </a:lnTo>
                <a:lnTo>
                  <a:pt x="253364" y="0"/>
                </a:lnTo>
                <a:lnTo>
                  <a:pt x="273088" y="3982"/>
                </a:lnTo>
                <a:lnTo>
                  <a:pt x="289195" y="14841"/>
                </a:lnTo>
                <a:lnTo>
                  <a:pt x="300055" y="30949"/>
                </a:lnTo>
                <a:lnTo>
                  <a:pt x="304037" y="50673"/>
                </a:lnTo>
                <a:lnTo>
                  <a:pt x="304037" y="381380"/>
                </a:lnTo>
                <a:lnTo>
                  <a:pt x="300055" y="401104"/>
                </a:lnTo>
                <a:lnTo>
                  <a:pt x="289195" y="417211"/>
                </a:lnTo>
                <a:lnTo>
                  <a:pt x="273088" y="428071"/>
                </a:lnTo>
                <a:lnTo>
                  <a:pt x="253364" y="432053"/>
                </a:lnTo>
                <a:lnTo>
                  <a:pt x="50673" y="432053"/>
                </a:lnTo>
                <a:lnTo>
                  <a:pt x="30949" y="428071"/>
                </a:lnTo>
                <a:lnTo>
                  <a:pt x="14842" y="417211"/>
                </a:lnTo>
                <a:lnTo>
                  <a:pt x="3982" y="401104"/>
                </a:lnTo>
                <a:lnTo>
                  <a:pt x="0" y="381380"/>
                </a:lnTo>
                <a:lnTo>
                  <a:pt x="0" y="50673"/>
                </a:lnTo>
                <a:close/>
              </a:path>
            </a:pathLst>
          </a:custGeom>
          <a:ln w="2000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98787" y="6183937"/>
            <a:ext cx="1922145" cy="491490"/>
          </a:xfrm>
          <a:prstGeom prst="rect">
            <a:avLst/>
          </a:prstGeom>
          <a:ln w="10001">
            <a:solidFill>
              <a:srgbClr val="0048AA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735"/>
              </a:spcBef>
            </a:pPr>
            <a:r>
              <a:rPr sz="1900" b="1" dirty="0">
                <a:solidFill>
                  <a:srgbClr val="0048AA"/>
                </a:solidFill>
                <a:latin typeface="Verdana"/>
                <a:cs typeface="Verdana"/>
              </a:rPr>
              <a:t>Break</a:t>
            </a:r>
            <a:r>
              <a:rPr sz="1900" b="1" spc="-5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0048AA"/>
                </a:solidFill>
                <a:latin typeface="Verdana"/>
                <a:cs typeface="Verdana"/>
              </a:rPr>
              <a:t>on</a:t>
            </a:r>
            <a:r>
              <a:rPr sz="1900" b="1" spc="-5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900" b="1" spc="-50" dirty="0">
                <a:solidFill>
                  <a:srgbClr val="0048AA"/>
                </a:solidFill>
                <a:latin typeface="Verdana"/>
                <a:cs typeface="Verdana"/>
              </a:rPr>
              <a:t>B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6: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5" dirty="0"/>
              <a:t> </a:t>
            </a:r>
            <a:r>
              <a:rPr sz="3800" b="0" spc="-25" dirty="0">
                <a:latin typeface="Verdana"/>
                <a:cs typeface="Verdana"/>
              </a:rPr>
              <a:t>(3)</a:t>
            </a:r>
            <a:endParaRPr sz="3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5101" y="2448559"/>
            <a:ext cx="2974975" cy="81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BDE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BDE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5101" y="3237991"/>
            <a:ext cx="74275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LHS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plus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(original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))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0953" y="3888182"/>
            <a:ext cx="1431925" cy="512445"/>
          </a:xfrm>
          <a:prstGeom prst="rect">
            <a:avLst/>
          </a:prstGeom>
          <a:solidFill>
            <a:srgbClr val="E8E8ED"/>
          </a:solidFill>
          <a:ln w="10001">
            <a:solidFill>
              <a:srgbClr val="7F7F7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860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ABCDE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3097" y="4808459"/>
            <a:ext cx="998855" cy="512445"/>
          </a:xfrm>
          <a:prstGeom prst="rect">
            <a:avLst/>
          </a:prstGeom>
          <a:solidFill>
            <a:srgbClr val="E8E8ED"/>
          </a:solidFill>
          <a:ln w="10001">
            <a:solidFill>
              <a:srgbClr val="7F7F7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860"/>
              </a:spcBef>
            </a:pP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BDE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31469" y="4400246"/>
            <a:ext cx="935990" cy="408305"/>
          </a:xfrm>
          <a:custGeom>
            <a:avLst/>
            <a:gdLst/>
            <a:ahLst/>
            <a:cxnLst/>
            <a:rect l="l" t="t" r="r" b="b"/>
            <a:pathLst>
              <a:path w="935989" h="408304">
                <a:moveTo>
                  <a:pt x="935384" y="0"/>
                </a:moveTo>
                <a:lnTo>
                  <a:pt x="935384" y="204107"/>
                </a:lnTo>
                <a:lnTo>
                  <a:pt x="81619" y="204107"/>
                </a:lnTo>
                <a:lnTo>
                  <a:pt x="81619" y="408213"/>
                </a:lnTo>
              </a:path>
              <a:path w="935989" h="408304">
                <a:moveTo>
                  <a:pt x="935384" y="0"/>
                </a:moveTo>
                <a:lnTo>
                  <a:pt x="935384" y="204106"/>
                </a:lnTo>
                <a:lnTo>
                  <a:pt x="0" y="204106"/>
                </a:lnTo>
                <a:lnTo>
                  <a:pt x="0" y="408213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85022" y="4808459"/>
            <a:ext cx="1056640" cy="512445"/>
          </a:xfrm>
          <a:prstGeom prst="rect">
            <a:avLst/>
          </a:prstGeom>
          <a:solidFill>
            <a:srgbClr val="E8E8ED"/>
          </a:solidFill>
          <a:ln w="10001">
            <a:solidFill>
              <a:srgbClr val="7F7F7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860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900" spc="-3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50" spc="-37" baseline="51851" dirty="0">
                <a:solidFill>
                  <a:srgbClr val="C00000"/>
                </a:solidFill>
                <a:latin typeface="Verdana"/>
                <a:cs typeface="Verdana"/>
              </a:rPr>
              <a:t>ok</a:t>
            </a:r>
            <a:endParaRPr sz="2250" baseline="51851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2111" y="4017264"/>
            <a:ext cx="10598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Break</a:t>
            </a:r>
            <a:r>
              <a:rPr sz="1500" spc="-10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on</a:t>
            </a:r>
            <a:r>
              <a:rPr sz="1500" spc="-9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48AA"/>
                </a:solidFill>
                <a:latin typeface="Verdana"/>
                <a:cs typeface="Verdana"/>
              </a:rPr>
              <a:t>B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072" y="4617720"/>
            <a:ext cx="2907030" cy="180276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ct val="91300"/>
              </a:lnSpc>
              <a:spcBef>
                <a:spcPts val="254"/>
              </a:spcBef>
            </a:pP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Verify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table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ABC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any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violation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or</a:t>
            </a:r>
            <a:r>
              <a:rPr sz="15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we</a:t>
            </a:r>
            <a:r>
              <a:rPr sz="15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can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break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any</a:t>
            </a:r>
            <a:r>
              <a:rPr sz="1500" spc="-1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further.</a:t>
            </a:r>
            <a:endParaRPr sz="1500">
              <a:latin typeface="Verdana"/>
              <a:cs typeface="Verdana"/>
            </a:endParaRPr>
          </a:p>
          <a:p>
            <a:pPr marL="12700" marR="38735">
              <a:lnSpc>
                <a:spcPct val="94000"/>
              </a:lnSpc>
              <a:spcBef>
                <a:spcPts val="1115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and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C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are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super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keys.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C00000"/>
                </a:solidFill>
                <a:latin typeface="Verdana"/>
                <a:cs typeface="Verdana"/>
              </a:rPr>
              <a:t>–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already</a:t>
            </a:r>
            <a:r>
              <a:rPr sz="1500" spc="-10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C00000"/>
                </a:solidFill>
                <a:latin typeface="Verdana"/>
                <a:cs typeface="Verdana"/>
              </a:rPr>
              <a:t>satisfy,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don’t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break</a:t>
            </a:r>
            <a:r>
              <a:rPr sz="1500" spc="-10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on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them.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Can’t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break</a:t>
            </a:r>
            <a:r>
              <a:rPr sz="1500" spc="-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on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B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twice.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7957" y="1502054"/>
            <a:ext cx="2032000" cy="63309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480059">
              <a:lnSpc>
                <a:spcPct val="100000"/>
              </a:lnSpc>
              <a:spcBef>
                <a:spcPts val="195"/>
              </a:spcBef>
              <a:tabLst>
                <a:tab pos="1007110" algn="l"/>
                <a:tab pos="1395730" algn="l"/>
                <a:tab pos="1598930" algn="l"/>
              </a:tabLst>
            </a:pP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SK</a:t>
            </a:r>
            <a:r>
              <a:rPr sz="1500" spc="-55" dirty="0">
                <a:solidFill>
                  <a:srgbClr val="007879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SK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46478" y="1469218"/>
            <a:ext cx="304165" cy="432434"/>
          </a:xfrm>
          <a:custGeom>
            <a:avLst/>
            <a:gdLst/>
            <a:ahLst/>
            <a:cxnLst/>
            <a:rect l="l" t="t" r="r" b="b"/>
            <a:pathLst>
              <a:path w="304164" h="432435">
                <a:moveTo>
                  <a:pt x="0" y="50673"/>
                </a:moveTo>
                <a:lnTo>
                  <a:pt x="3982" y="30949"/>
                </a:lnTo>
                <a:lnTo>
                  <a:pt x="14842" y="14841"/>
                </a:lnTo>
                <a:lnTo>
                  <a:pt x="30949" y="3982"/>
                </a:lnTo>
                <a:lnTo>
                  <a:pt x="50673" y="0"/>
                </a:lnTo>
                <a:lnTo>
                  <a:pt x="253364" y="0"/>
                </a:lnTo>
                <a:lnTo>
                  <a:pt x="273088" y="3982"/>
                </a:lnTo>
                <a:lnTo>
                  <a:pt x="289195" y="14841"/>
                </a:lnTo>
                <a:lnTo>
                  <a:pt x="300055" y="30949"/>
                </a:lnTo>
                <a:lnTo>
                  <a:pt x="304037" y="50673"/>
                </a:lnTo>
                <a:lnTo>
                  <a:pt x="304037" y="381380"/>
                </a:lnTo>
                <a:lnTo>
                  <a:pt x="300055" y="401104"/>
                </a:lnTo>
                <a:lnTo>
                  <a:pt x="289195" y="417211"/>
                </a:lnTo>
                <a:lnTo>
                  <a:pt x="273088" y="428071"/>
                </a:lnTo>
                <a:lnTo>
                  <a:pt x="253364" y="432053"/>
                </a:lnTo>
                <a:lnTo>
                  <a:pt x="50673" y="432053"/>
                </a:lnTo>
                <a:lnTo>
                  <a:pt x="30949" y="428071"/>
                </a:lnTo>
                <a:lnTo>
                  <a:pt x="14842" y="417211"/>
                </a:lnTo>
                <a:lnTo>
                  <a:pt x="3982" y="401104"/>
                </a:lnTo>
                <a:lnTo>
                  <a:pt x="0" y="381380"/>
                </a:lnTo>
                <a:lnTo>
                  <a:pt x="0" y="50673"/>
                </a:lnTo>
                <a:close/>
              </a:path>
            </a:pathLst>
          </a:custGeom>
          <a:ln w="2000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743538" y="1251711"/>
            <a:ext cx="1591310" cy="158940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69900" indent="-46990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69900" algn="l"/>
                <a:tab pos="82804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69900" indent="-46990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69900" algn="l"/>
                <a:tab pos="977900" algn="l"/>
                <a:tab pos="127508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69900" indent="-46990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69900" algn="l"/>
                <a:tab pos="82804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B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69900" indent="-469900">
              <a:lnSpc>
                <a:spcPct val="100000"/>
              </a:lnSpc>
              <a:spcBef>
                <a:spcPts val="480"/>
              </a:spcBef>
              <a:buFont typeface="Verdana"/>
              <a:buAutoNum type="alphaUcPeriod"/>
              <a:tabLst>
                <a:tab pos="469900" algn="l"/>
                <a:tab pos="127825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DE</a:t>
            </a:r>
            <a:endParaRPr sz="1700">
              <a:latin typeface="Verdana"/>
              <a:cs typeface="Verdana"/>
            </a:endParaRPr>
          </a:p>
          <a:p>
            <a:pPr marL="469900" indent="-46990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69900" algn="l"/>
                <a:tab pos="142811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89519" y="1281672"/>
            <a:ext cx="1856739" cy="1664335"/>
          </a:xfrm>
          <a:custGeom>
            <a:avLst/>
            <a:gdLst/>
            <a:ahLst/>
            <a:cxnLst/>
            <a:rect l="l" t="t" r="r" b="b"/>
            <a:pathLst>
              <a:path w="1856740" h="1664335">
                <a:moveTo>
                  <a:pt x="0" y="0"/>
                </a:moveTo>
                <a:lnTo>
                  <a:pt x="1856231" y="0"/>
                </a:lnTo>
                <a:lnTo>
                  <a:pt x="1856231" y="1664207"/>
                </a:lnTo>
                <a:lnTo>
                  <a:pt x="0" y="1664207"/>
                </a:lnTo>
                <a:lnTo>
                  <a:pt x="0" y="0"/>
                </a:lnTo>
                <a:close/>
              </a:path>
            </a:pathLst>
          </a:custGeom>
          <a:ln w="3333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234623" y="1276095"/>
            <a:ext cx="3244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76039" y="4617720"/>
            <a:ext cx="3216910" cy="136969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311150">
              <a:lnSpc>
                <a:spcPts val="1680"/>
              </a:lnSpc>
              <a:spcBef>
                <a:spcPts val="254"/>
              </a:spcBef>
            </a:pP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Verify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table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BDE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any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violation.</a:t>
            </a:r>
            <a:endParaRPr sz="1500">
              <a:latin typeface="Verdana"/>
              <a:cs typeface="Verdana"/>
            </a:endParaRPr>
          </a:p>
          <a:p>
            <a:pPr marL="12700" marR="5080">
              <a:lnSpc>
                <a:spcPts val="1700"/>
              </a:lnSpc>
              <a:spcBef>
                <a:spcPts val="1015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B</a:t>
            </a:r>
            <a:r>
              <a:rPr sz="15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5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5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super</a:t>
            </a:r>
            <a:r>
              <a:rPr sz="15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45" dirty="0">
                <a:solidFill>
                  <a:srgbClr val="C00000"/>
                </a:solidFill>
                <a:latin typeface="Verdana"/>
                <a:cs typeface="Verdana"/>
              </a:rPr>
              <a:t>key.</a:t>
            </a:r>
            <a:r>
              <a:rPr sz="15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Also,</a:t>
            </a:r>
            <a:r>
              <a:rPr sz="1500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can’t</a:t>
            </a:r>
            <a:r>
              <a:rPr sz="1500" spc="-6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break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on</a:t>
            </a:r>
            <a:r>
              <a:rPr sz="1500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B</a:t>
            </a:r>
            <a:r>
              <a:rPr sz="1500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twice.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r>
              <a:rPr sz="15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500" spc="-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trivial,</a:t>
            </a:r>
            <a:r>
              <a:rPr sz="1500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can’t</a:t>
            </a:r>
            <a:r>
              <a:rPr sz="15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break.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0415" y="5334000"/>
            <a:ext cx="7823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SK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x</a:t>
            </a:r>
            <a:r>
              <a:rPr sz="1500" spc="-45" dirty="0">
                <a:solidFill>
                  <a:srgbClr val="007879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SK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79585" y="6270745"/>
            <a:ext cx="1922145" cy="491490"/>
          </a:xfrm>
          <a:prstGeom prst="rect">
            <a:avLst/>
          </a:prstGeom>
          <a:ln w="10001">
            <a:solidFill>
              <a:srgbClr val="0048AA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745"/>
              </a:spcBef>
            </a:pPr>
            <a:r>
              <a:rPr sz="1900" b="1" dirty="0">
                <a:solidFill>
                  <a:srgbClr val="0048AA"/>
                </a:solidFill>
                <a:latin typeface="Verdana"/>
                <a:cs typeface="Verdana"/>
              </a:rPr>
              <a:t>Break</a:t>
            </a:r>
            <a:r>
              <a:rPr sz="1900" b="1" spc="-5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0048AA"/>
                </a:solidFill>
                <a:latin typeface="Verdana"/>
                <a:cs typeface="Verdana"/>
              </a:rPr>
              <a:t>on</a:t>
            </a:r>
            <a:r>
              <a:rPr sz="1900" b="1" spc="-5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900" b="1" spc="-50" dirty="0">
                <a:solidFill>
                  <a:srgbClr val="0048AA"/>
                </a:solidFill>
                <a:latin typeface="Verdana"/>
                <a:cs typeface="Verdana"/>
              </a:rPr>
              <a:t>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74294" y="5334000"/>
            <a:ext cx="586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x</a:t>
            </a:r>
            <a:r>
              <a:rPr sz="1500" spc="-40" dirty="0">
                <a:solidFill>
                  <a:srgbClr val="007879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spc="-30" dirty="0">
                <a:solidFill>
                  <a:srgbClr val="007879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6: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5" dirty="0"/>
              <a:t> </a:t>
            </a:r>
            <a:r>
              <a:rPr sz="3800" b="0" spc="-25" dirty="0">
                <a:latin typeface="Verdana"/>
                <a:cs typeface="Verdana"/>
              </a:rPr>
              <a:t>(4)</a:t>
            </a:r>
            <a:endParaRPr sz="3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9286" y="1537919"/>
            <a:ext cx="208279" cy="352425"/>
          </a:xfrm>
          <a:custGeom>
            <a:avLst/>
            <a:gdLst/>
            <a:ahLst/>
            <a:cxnLst/>
            <a:rect l="l" t="t" r="r" b="b"/>
            <a:pathLst>
              <a:path w="208280" h="352425">
                <a:moveTo>
                  <a:pt x="0" y="352043"/>
                </a:moveTo>
                <a:lnTo>
                  <a:pt x="208025" y="0"/>
                </a:lnTo>
              </a:path>
            </a:pathLst>
          </a:custGeom>
          <a:ln w="3000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26931" y="1537919"/>
            <a:ext cx="208279" cy="352425"/>
          </a:xfrm>
          <a:custGeom>
            <a:avLst/>
            <a:gdLst/>
            <a:ahLst/>
            <a:cxnLst/>
            <a:rect l="l" t="t" r="r" b="b"/>
            <a:pathLst>
              <a:path w="208280" h="352425">
                <a:moveTo>
                  <a:pt x="0" y="352043"/>
                </a:moveTo>
                <a:lnTo>
                  <a:pt x="208025" y="0"/>
                </a:lnTo>
              </a:path>
            </a:pathLst>
          </a:custGeom>
          <a:ln w="3000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5101" y="1502054"/>
            <a:ext cx="7301865" cy="205105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36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 D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678180">
              <a:lnSpc>
                <a:spcPct val="100000"/>
              </a:lnSpc>
              <a:spcBef>
                <a:spcPts val="195"/>
              </a:spcBef>
              <a:tabLst>
                <a:tab pos="982980" algn="l"/>
                <a:tab pos="1186815" algn="l"/>
              </a:tabLst>
            </a:pP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x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500">
              <a:latin typeface="Verdana"/>
              <a:cs typeface="Verdana"/>
            </a:endParaRPr>
          </a:p>
          <a:p>
            <a:pPr marL="59055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DE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DE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LHS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plus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(original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))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46478" y="1469218"/>
            <a:ext cx="304165" cy="432434"/>
          </a:xfrm>
          <a:custGeom>
            <a:avLst/>
            <a:gdLst/>
            <a:ahLst/>
            <a:cxnLst/>
            <a:rect l="l" t="t" r="r" b="b"/>
            <a:pathLst>
              <a:path w="304164" h="432435">
                <a:moveTo>
                  <a:pt x="0" y="50673"/>
                </a:moveTo>
                <a:lnTo>
                  <a:pt x="3982" y="30949"/>
                </a:lnTo>
                <a:lnTo>
                  <a:pt x="14842" y="14841"/>
                </a:lnTo>
                <a:lnTo>
                  <a:pt x="30949" y="3982"/>
                </a:lnTo>
                <a:lnTo>
                  <a:pt x="50673" y="0"/>
                </a:lnTo>
                <a:lnTo>
                  <a:pt x="253364" y="0"/>
                </a:lnTo>
                <a:lnTo>
                  <a:pt x="273088" y="3982"/>
                </a:lnTo>
                <a:lnTo>
                  <a:pt x="289195" y="14841"/>
                </a:lnTo>
                <a:lnTo>
                  <a:pt x="300055" y="30949"/>
                </a:lnTo>
                <a:lnTo>
                  <a:pt x="304037" y="50673"/>
                </a:lnTo>
                <a:lnTo>
                  <a:pt x="304037" y="381380"/>
                </a:lnTo>
                <a:lnTo>
                  <a:pt x="300055" y="401104"/>
                </a:lnTo>
                <a:lnTo>
                  <a:pt x="289195" y="417211"/>
                </a:lnTo>
                <a:lnTo>
                  <a:pt x="273088" y="428071"/>
                </a:lnTo>
                <a:lnTo>
                  <a:pt x="253364" y="432053"/>
                </a:lnTo>
                <a:lnTo>
                  <a:pt x="50673" y="432053"/>
                </a:lnTo>
                <a:lnTo>
                  <a:pt x="30949" y="428071"/>
                </a:lnTo>
                <a:lnTo>
                  <a:pt x="14842" y="417211"/>
                </a:lnTo>
                <a:lnTo>
                  <a:pt x="3982" y="401104"/>
                </a:lnTo>
                <a:lnTo>
                  <a:pt x="0" y="381380"/>
                </a:lnTo>
                <a:lnTo>
                  <a:pt x="0" y="50673"/>
                </a:lnTo>
                <a:close/>
              </a:path>
            </a:pathLst>
          </a:custGeom>
          <a:ln w="2000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89519" y="1281672"/>
            <a:ext cx="1856739" cy="1664335"/>
          </a:xfrm>
          <a:custGeom>
            <a:avLst/>
            <a:gdLst/>
            <a:ahLst/>
            <a:cxnLst/>
            <a:rect l="l" t="t" r="r" b="b"/>
            <a:pathLst>
              <a:path w="1856740" h="1664335">
                <a:moveTo>
                  <a:pt x="0" y="0"/>
                </a:moveTo>
                <a:lnTo>
                  <a:pt x="1856231" y="0"/>
                </a:lnTo>
                <a:lnTo>
                  <a:pt x="1856231" y="1664207"/>
                </a:lnTo>
                <a:lnTo>
                  <a:pt x="0" y="1664207"/>
                </a:lnTo>
                <a:lnTo>
                  <a:pt x="0" y="0"/>
                </a:lnTo>
                <a:close/>
              </a:path>
            </a:pathLst>
          </a:custGeom>
          <a:ln w="3333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215573" y="1281672"/>
          <a:ext cx="2230754" cy="1663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930"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55"/>
                        </a:spcBef>
                        <a:tabLst>
                          <a:tab pos="495934" algn="l"/>
                        </a:tabLst>
                      </a:pP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F+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2550" spc="-75" baseline="-8169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2550" baseline="-8169">
                        <a:latin typeface="Verdana"/>
                        <a:cs typeface="Verdan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 marR="12446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r>
                        <a:rPr sz="17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296545" algn="l"/>
                        </a:tabLst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2446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7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7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98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5818273" y="5307954"/>
            <a:ext cx="986155" cy="368300"/>
          </a:xfrm>
          <a:custGeom>
            <a:avLst/>
            <a:gdLst/>
            <a:ahLst/>
            <a:cxnLst/>
            <a:rect l="l" t="t" r="r" b="b"/>
            <a:pathLst>
              <a:path w="986154" h="368300">
                <a:moveTo>
                  <a:pt x="0" y="0"/>
                </a:moveTo>
                <a:lnTo>
                  <a:pt x="0" y="184022"/>
                </a:lnTo>
                <a:lnTo>
                  <a:pt x="985969" y="184022"/>
                </a:lnTo>
                <a:lnTo>
                  <a:pt x="985969" y="368044"/>
                </a:lnTo>
              </a:path>
              <a:path w="986154" h="368300">
                <a:moveTo>
                  <a:pt x="0" y="0"/>
                </a:moveTo>
                <a:lnTo>
                  <a:pt x="0" y="184022"/>
                </a:lnTo>
                <a:lnTo>
                  <a:pt x="832103" y="184022"/>
                </a:lnTo>
                <a:lnTo>
                  <a:pt x="832103" y="368044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50953" y="3888182"/>
            <a:ext cx="1431925" cy="512445"/>
          </a:xfrm>
          <a:prstGeom prst="rect">
            <a:avLst/>
          </a:prstGeom>
          <a:solidFill>
            <a:srgbClr val="E8E8ED"/>
          </a:solidFill>
          <a:ln w="10001">
            <a:solidFill>
              <a:srgbClr val="7F7F7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860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ABCDE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03097" y="4808459"/>
            <a:ext cx="1000760" cy="512445"/>
          </a:xfrm>
          <a:prstGeom prst="rect">
            <a:avLst/>
          </a:prstGeom>
          <a:solidFill>
            <a:srgbClr val="E8E8ED"/>
          </a:solidFill>
          <a:ln w="10001">
            <a:solidFill>
              <a:srgbClr val="7F7F7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860"/>
              </a:spcBef>
            </a:pP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BDE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31469" y="4400246"/>
            <a:ext cx="935990" cy="408305"/>
          </a:xfrm>
          <a:custGeom>
            <a:avLst/>
            <a:gdLst/>
            <a:ahLst/>
            <a:cxnLst/>
            <a:rect l="l" t="t" r="r" b="b"/>
            <a:pathLst>
              <a:path w="935989" h="408304">
                <a:moveTo>
                  <a:pt x="935384" y="0"/>
                </a:moveTo>
                <a:lnTo>
                  <a:pt x="935384" y="204107"/>
                </a:lnTo>
                <a:lnTo>
                  <a:pt x="81619" y="204107"/>
                </a:lnTo>
                <a:lnTo>
                  <a:pt x="81619" y="408213"/>
                </a:lnTo>
              </a:path>
              <a:path w="935989" h="408304">
                <a:moveTo>
                  <a:pt x="935384" y="0"/>
                </a:moveTo>
                <a:lnTo>
                  <a:pt x="935384" y="204106"/>
                </a:lnTo>
                <a:lnTo>
                  <a:pt x="0" y="204106"/>
                </a:lnTo>
                <a:lnTo>
                  <a:pt x="0" y="408213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485022" y="4808459"/>
            <a:ext cx="1056640" cy="512445"/>
          </a:xfrm>
          <a:prstGeom prst="rect">
            <a:avLst/>
          </a:prstGeom>
          <a:solidFill>
            <a:srgbClr val="E8E8ED"/>
          </a:solidFill>
          <a:ln w="10001">
            <a:solidFill>
              <a:srgbClr val="7F7F7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860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2250" spc="-15" baseline="51851" dirty="0">
                <a:solidFill>
                  <a:srgbClr val="C00000"/>
                </a:solidFill>
                <a:latin typeface="Verdana"/>
                <a:cs typeface="Verdana"/>
              </a:rPr>
              <a:t>ok</a:t>
            </a:r>
            <a:endParaRPr sz="2250" baseline="51851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87030" y="5676000"/>
            <a:ext cx="998855" cy="512445"/>
          </a:xfrm>
          <a:prstGeom prst="rect">
            <a:avLst/>
          </a:prstGeom>
          <a:solidFill>
            <a:srgbClr val="E8E8ED"/>
          </a:solidFill>
          <a:ln w="10001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3850">
              <a:lnSpc>
                <a:spcPts val="1805"/>
              </a:lnSpc>
            </a:pPr>
            <a:r>
              <a:rPr sz="2850" spc="-15" baseline="-39473" dirty="0">
                <a:solidFill>
                  <a:srgbClr val="292934"/>
                </a:solidFill>
                <a:latin typeface="Verdana"/>
                <a:cs typeface="Verdana"/>
              </a:rPr>
              <a:t>BD</a:t>
            </a:r>
            <a:r>
              <a:rPr sz="2850" spc="-337" baseline="-3947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ok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03239" y="5676000"/>
            <a:ext cx="1000760" cy="512445"/>
          </a:xfrm>
          <a:prstGeom prst="rect">
            <a:avLst/>
          </a:prstGeom>
          <a:solidFill>
            <a:srgbClr val="E8E8ED"/>
          </a:solidFill>
          <a:ln w="10001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2105">
              <a:lnSpc>
                <a:spcPts val="1805"/>
              </a:lnSpc>
            </a:pPr>
            <a:r>
              <a:rPr sz="2850" spc="-15" baseline="-39473" dirty="0">
                <a:solidFill>
                  <a:srgbClr val="292934"/>
                </a:solidFill>
                <a:latin typeface="Verdana"/>
                <a:cs typeface="Verdana"/>
              </a:rPr>
              <a:t>DE</a:t>
            </a:r>
            <a:r>
              <a:rPr sz="2850" spc="-270" baseline="-3947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ok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2111" y="4017264"/>
            <a:ext cx="10598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Break</a:t>
            </a:r>
            <a:r>
              <a:rPr sz="1500" spc="-10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on</a:t>
            </a:r>
            <a:r>
              <a:rPr sz="1500" spc="-9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48AA"/>
                </a:solidFill>
                <a:latin typeface="Verdana"/>
                <a:cs typeface="Verdana"/>
              </a:rPr>
              <a:t>B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63693" y="5711952"/>
            <a:ext cx="2141855" cy="47053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40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are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only</a:t>
            </a:r>
            <a:r>
              <a:rPr sz="1500" spc="-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attrs,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this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relation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ok.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00952" y="4892040"/>
            <a:ext cx="10763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Break</a:t>
            </a:r>
            <a:r>
              <a:rPr sz="1500" spc="-10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on</a:t>
            </a:r>
            <a:r>
              <a:rPr sz="1500" spc="-9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48AA"/>
                </a:solidFill>
                <a:latin typeface="Verdana"/>
                <a:cs typeface="Verdana"/>
              </a:rPr>
              <a:t>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32563" y="5711952"/>
            <a:ext cx="2141855" cy="47053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40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are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only</a:t>
            </a:r>
            <a:r>
              <a:rPr sz="1500" spc="-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attrs,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this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relation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5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ok.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8192" y="6755383"/>
            <a:ext cx="5710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tables:</a:t>
            </a:r>
            <a:r>
              <a:rPr sz="19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R1(ABC),</a:t>
            </a:r>
            <a:r>
              <a:rPr sz="19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R2(BD),</a:t>
            </a:r>
            <a:r>
              <a:rPr sz="19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R3(DE)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6: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5" dirty="0"/>
              <a:t> </a:t>
            </a:r>
            <a:r>
              <a:rPr sz="3800" b="0" spc="-25" dirty="0">
                <a:latin typeface="Verdana"/>
                <a:cs typeface="Verdana"/>
              </a:rPr>
              <a:t>(5)</a:t>
            </a:r>
            <a:endParaRPr sz="3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5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4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3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2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2828" y="3069465"/>
            <a:ext cx="72072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-1935" dirty="0">
                <a:solidFill>
                  <a:srgbClr val="C00000"/>
                </a:solidFill>
                <a:latin typeface="Comic Sans MS"/>
                <a:cs typeface="Comic Sans MS"/>
              </a:rPr>
              <a:t>1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700" spc="-40" dirty="0">
                <a:solidFill>
                  <a:srgbClr val="292934"/>
                </a:solidFill>
                <a:latin typeface="Comic Sans MS"/>
                <a:cs typeface="Comic Sans MS"/>
              </a:rPr>
              <a:t>Ready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for</a:t>
            </a:r>
            <a:r>
              <a:rPr sz="3700" spc="-40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the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next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one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spc="-25" dirty="0">
                <a:solidFill>
                  <a:srgbClr val="292934"/>
                </a:solidFill>
                <a:latin typeface="Comic Sans MS"/>
                <a:cs typeface="Comic Sans MS"/>
              </a:rPr>
              <a:t>??</a:t>
            </a:r>
            <a:endParaRPr sz="37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00437" y="3252332"/>
            <a:ext cx="3264535" cy="2112645"/>
          </a:xfrm>
          <a:custGeom>
            <a:avLst/>
            <a:gdLst/>
            <a:ahLst/>
            <a:cxnLst/>
            <a:rect l="l" t="t" r="r" b="b"/>
            <a:pathLst>
              <a:path w="3264534" h="2112645">
                <a:moveTo>
                  <a:pt x="3264408" y="0"/>
                </a:moveTo>
                <a:lnTo>
                  <a:pt x="0" y="0"/>
                </a:lnTo>
                <a:lnTo>
                  <a:pt x="0" y="2112264"/>
                </a:lnTo>
                <a:lnTo>
                  <a:pt x="3264408" y="2112264"/>
                </a:lnTo>
                <a:lnTo>
                  <a:pt x="3264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73106" y="3216865"/>
            <a:ext cx="2718435" cy="190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350" b="1" spc="30" dirty="0">
                <a:solidFill>
                  <a:srgbClr val="C00000"/>
                </a:solidFill>
                <a:latin typeface="Comic Sans MS"/>
                <a:cs typeface="Comic Sans MS"/>
              </a:rPr>
              <a:t>Go!!</a:t>
            </a:r>
            <a:endParaRPr sz="12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025" y="3607815"/>
            <a:ext cx="1784985" cy="5378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432434" marR="5080" indent="-420370">
              <a:lnSpc>
                <a:spcPts val="1989"/>
              </a:lnSpc>
              <a:spcBef>
                <a:spcPts val="204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(1)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LHS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&amp;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remaining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75036" y="4177140"/>
          <a:ext cx="8695051" cy="1901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3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60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75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59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225425" algn="r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444500" algn="l"/>
                        </a:tabLst>
                      </a:pPr>
                      <a:r>
                        <a:rPr sz="1700" spc="-2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BC</a:t>
                      </a: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285750" algn="r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591185" algn="l"/>
                        </a:tabLst>
                      </a:pPr>
                      <a:r>
                        <a:rPr sz="1700" spc="-2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r>
                        <a:rPr sz="17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520065" algn="l"/>
                        </a:tabLst>
                      </a:pP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700" spc="-2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700" spc="-2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22034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278765" algn="r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297815" algn="l"/>
                        </a:tabLst>
                      </a:pP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297815" algn="l"/>
                        </a:tabLst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3733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2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CD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CD</a:t>
                      </a:r>
                      <a:r>
                        <a:rPr sz="1700" spc="-2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27749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415261" y="3607815"/>
            <a:ext cx="19665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(2)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copy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85513" y="3488497"/>
            <a:ext cx="0" cy="2592705"/>
          </a:xfrm>
          <a:custGeom>
            <a:avLst/>
            <a:gdLst/>
            <a:ahLst/>
            <a:cxnLst/>
            <a:rect l="l" t="t" r="r" b="b"/>
            <a:pathLst>
              <a:path h="2592704">
                <a:moveTo>
                  <a:pt x="0" y="0"/>
                </a:moveTo>
                <a:lnTo>
                  <a:pt x="1" y="2592323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11021" y="3488497"/>
            <a:ext cx="0" cy="2592705"/>
          </a:xfrm>
          <a:custGeom>
            <a:avLst/>
            <a:gdLst/>
            <a:ahLst/>
            <a:cxnLst/>
            <a:rect l="l" t="t" r="r" b="b"/>
            <a:pathLst>
              <a:path h="2592704">
                <a:moveTo>
                  <a:pt x="0" y="0"/>
                </a:moveTo>
                <a:lnTo>
                  <a:pt x="1" y="2592323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25428" y="3488497"/>
            <a:ext cx="0" cy="2592705"/>
          </a:xfrm>
          <a:custGeom>
            <a:avLst/>
            <a:gdLst/>
            <a:ahLst/>
            <a:cxnLst/>
            <a:rect l="l" t="t" r="r" b="b"/>
            <a:pathLst>
              <a:path h="2592704">
                <a:moveTo>
                  <a:pt x="0" y="0"/>
                </a:moveTo>
                <a:lnTo>
                  <a:pt x="1" y="2592323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3792" y="1335023"/>
            <a:ext cx="7886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0586" y="1286255"/>
            <a:ext cx="6700520" cy="7632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R(A,B,C,D,E)</a:t>
            </a:r>
            <a:endParaRPr sz="2100">
              <a:latin typeface="Verdana"/>
              <a:cs typeface="Verdana"/>
            </a:endParaRPr>
          </a:p>
          <a:p>
            <a:pPr marL="31115">
              <a:lnSpc>
                <a:spcPct val="100000"/>
              </a:lnSpc>
              <a:spcBef>
                <a:spcPts val="38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CE,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CD,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3060" y="25941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9788" y="2084832"/>
            <a:ext cx="418782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21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2482" y="3607815"/>
            <a:ext cx="21424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(3)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reflexivity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52792" y="3607815"/>
            <a:ext cx="22256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(4)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transitivity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9531" y="6569456"/>
            <a:ext cx="722820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ABCDE,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BCDE,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CE,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CDE,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3060" y="644921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7:</a:t>
            </a:r>
            <a:r>
              <a:rPr spc="-295" dirty="0"/>
              <a:t> </a:t>
            </a:r>
            <a:r>
              <a:rPr spc="-20" dirty="0"/>
              <a:t>BCNF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100"/>
              </a:spcBef>
            </a:pPr>
            <a:r>
              <a:rPr sz="3800" spc="-130" dirty="0"/>
              <a:t>Practice</a:t>
            </a:r>
            <a:r>
              <a:rPr sz="3800" spc="-235" dirty="0"/>
              <a:t> </a:t>
            </a:r>
            <a:r>
              <a:rPr sz="3800" spc="-30" dirty="0"/>
              <a:t>7:</a:t>
            </a:r>
            <a:r>
              <a:rPr sz="3800" spc="-225" dirty="0"/>
              <a:t> </a:t>
            </a:r>
            <a:r>
              <a:rPr sz="3800" spc="-120" dirty="0"/>
              <a:t>BCNF</a:t>
            </a:r>
            <a:r>
              <a:rPr sz="3800" spc="-350" dirty="0"/>
              <a:t> </a:t>
            </a:r>
            <a:r>
              <a:rPr sz="3400" b="0" spc="-25" dirty="0">
                <a:latin typeface="Verdana"/>
                <a:cs typeface="Verdana"/>
              </a:rPr>
              <a:t>(2)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1889" y="1347932"/>
            <a:ext cx="2343785" cy="65468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(from</a:t>
            </a:r>
            <a:r>
              <a:rPr sz="1500" spc="-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previous</a:t>
            </a:r>
            <a:r>
              <a:rPr sz="15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page)</a:t>
            </a:r>
            <a:endParaRPr sz="1500">
              <a:latin typeface="Verdana"/>
              <a:cs typeface="Verdana"/>
            </a:endParaRPr>
          </a:p>
          <a:p>
            <a:pPr marL="130810">
              <a:lnSpc>
                <a:spcPct val="100000"/>
              </a:lnSpc>
              <a:spcBef>
                <a:spcPts val="595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(4)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transitivity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119" y="2220976"/>
            <a:ext cx="1604010" cy="158623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82600" algn="l"/>
                <a:tab pos="84074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D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2600" algn="l"/>
                <a:tab pos="99060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spc="-20" dirty="0">
                <a:solidFill>
                  <a:srgbClr val="C00000"/>
                </a:solidFill>
                <a:latin typeface="Verdana"/>
                <a:cs typeface="Verdana"/>
              </a:rPr>
              <a:t>C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2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82600" algn="l"/>
                <a:tab pos="1141095" algn="l"/>
                <a:tab pos="1438910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2600" algn="l"/>
                <a:tab pos="114109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r>
              <a:rPr sz="1700" spc="-25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82600" algn="l"/>
                <a:tab pos="144081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7672" y="3504184"/>
            <a:ext cx="37655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0000" algn="l"/>
              </a:tabLst>
            </a:pP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17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(let’s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abbreviate</a:t>
            </a:r>
            <a:r>
              <a:rPr sz="17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TR)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90782" y="2140063"/>
            <a:ext cx="2449195" cy="1770380"/>
            <a:chOff x="1690782" y="2140063"/>
            <a:chExt cx="2449195" cy="1770380"/>
          </a:xfrm>
        </p:grpSpPr>
        <p:sp>
          <p:nvSpPr>
            <p:cNvPr id="7" name="object 7"/>
            <p:cNvSpPr/>
            <p:nvPr/>
          </p:nvSpPr>
          <p:spPr>
            <a:xfrm>
              <a:off x="1700784" y="3499175"/>
              <a:ext cx="2144395" cy="288290"/>
            </a:xfrm>
            <a:custGeom>
              <a:avLst/>
              <a:gdLst/>
              <a:ahLst/>
              <a:cxnLst/>
              <a:rect l="l" t="t" r="r" b="b"/>
              <a:pathLst>
                <a:path w="2144395" h="288289">
                  <a:moveTo>
                    <a:pt x="0" y="48007"/>
                  </a:moveTo>
                  <a:lnTo>
                    <a:pt x="3772" y="29320"/>
                  </a:lnTo>
                  <a:lnTo>
                    <a:pt x="14060" y="14060"/>
                  </a:lnTo>
                  <a:lnTo>
                    <a:pt x="29320" y="3772"/>
                  </a:lnTo>
                  <a:lnTo>
                    <a:pt x="48006" y="0"/>
                  </a:lnTo>
                  <a:lnTo>
                    <a:pt x="2096260" y="0"/>
                  </a:lnTo>
                  <a:lnTo>
                    <a:pt x="2114947" y="3772"/>
                  </a:lnTo>
                  <a:lnTo>
                    <a:pt x="2130206" y="14060"/>
                  </a:lnTo>
                  <a:lnTo>
                    <a:pt x="2140495" y="29320"/>
                  </a:lnTo>
                  <a:lnTo>
                    <a:pt x="2144267" y="48007"/>
                  </a:lnTo>
                  <a:lnTo>
                    <a:pt x="2144267" y="240028"/>
                  </a:lnTo>
                  <a:lnTo>
                    <a:pt x="2140495" y="258715"/>
                  </a:lnTo>
                  <a:lnTo>
                    <a:pt x="2130206" y="273975"/>
                  </a:lnTo>
                  <a:lnTo>
                    <a:pt x="2114947" y="284263"/>
                  </a:lnTo>
                  <a:lnTo>
                    <a:pt x="2096260" y="288035"/>
                  </a:lnTo>
                  <a:lnTo>
                    <a:pt x="48006" y="288035"/>
                  </a:lnTo>
                  <a:lnTo>
                    <a:pt x="29320" y="284263"/>
                  </a:lnTo>
                  <a:lnTo>
                    <a:pt x="14060" y="273975"/>
                  </a:lnTo>
                  <a:lnTo>
                    <a:pt x="3772" y="258715"/>
                  </a:lnTo>
                  <a:lnTo>
                    <a:pt x="0" y="240028"/>
                  </a:lnTo>
                  <a:lnTo>
                    <a:pt x="0" y="48007"/>
                  </a:lnTo>
                  <a:close/>
                </a:path>
              </a:pathLst>
            </a:custGeom>
            <a:ln w="2000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16786" y="2141730"/>
              <a:ext cx="2128520" cy="1767205"/>
            </a:xfrm>
            <a:custGeom>
              <a:avLst/>
              <a:gdLst/>
              <a:ahLst/>
              <a:cxnLst/>
              <a:rect l="l" t="t" r="r" b="b"/>
              <a:pathLst>
                <a:path w="2128520" h="1767204">
                  <a:moveTo>
                    <a:pt x="0" y="0"/>
                  </a:moveTo>
                  <a:lnTo>
                    <a:pt x="2128265" y="0"/>
                  </a:lnTo>
                  <a:lnTo>
                    <a:pt x="2128265" y="1766620"/>
                  </a:lnTo>
                  <a:lnTo>
                    <a:pt x="0" y="1766620"/>
                  </a:lnTo>
                  <a:lnTo>
                    <a:pt x="0" y="0"/>
                  </a:lnTo>
                  <a:close/>
                </a:path>
              </a:pathLst>
            </a:custGeom>
            <a:ln w="3333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00784" y="2269746"/>
              <a:ext cx="2144395" cy="1216660"/>
            </a:xfrm>
            <a:custGeom>
              <a:avLst/>
              <a:gdLst/>
              <a:ahLst/>
              <a:cxnLst/>
              <a:rect l="l" t="t" r="r" b="b"/>
              <a:pathLst>
                <a:path w="2144395" h="1216660">
                  <a:moveTo>
                    <a:pt x="0" y="202695"/>
                  </a:moveTo>
                  <a:lnTo>
                    <a:pt x="5353" y="156218"/>
                  </a:lnTo>
                  <a:lnTo>
                    <a:pt x="20602" y="113554"/>
                  </a:lnTo>
                  <a:lnTo>
                    <a:pt x="44529" y="75919"/>
                  </a:lnTo>
                  <a:lnTo>
                    <a:pt x="75919" y="44529"/>
                  </a:lnTo>
                  <a:lnTo>
                    <a:pt x="113554" y="20602"/>
                  </a:lnTo>
                  <a:lnTo>
                    <a:pt x="156218" y="5353"/>
                  </a:lnTo>
                  <a:lnTo>
                    <a:pt x="202694" y="0"/>
                  </a:lnTo>
                  <a:lnTo>
                    <a:pt x="1941572" y="0"/>
                  </a:lnTo>
                  <a:lnTo>
                    <a:pt x="1988048" y="5353"/>
                  </a:lnTo>
                  <a:lnTo>
                    <a:pt x="2030712" y="20602"/>
                  </a:lnTo>
                  <a:lnTo>
                    <a:pt x="2068348" y="44529"/>
                  </a:lnTo>
                  <a:lnTo>
                    <a:pt x="2099738" y="75919"/>
                  </a:lnTo>
                  <a:lnTo>
                    <a:pt x="2123665" y="113554"/>
                  </a:lnTo>
                  <a:lnTo>
                    <a:pt x="2138914" y="156218"/>
                  </a:lnTo>
                  <a:lnTo>
                    <a:pt x="2144267" y="202695"/>
                  </a:lnTo>
                  <a:lnTo>
                    <a:pt x="2144267" y="1013456"/>
                  </a:lnTo>
                  <a:lnTo>
                    <a:pt x="2138914" y="1059933"/>
                  </a:lnTo>
                  <a:lnTo>
                    <a:pt x="2123665" y="1102597"/>
                  </a:lnTo>
                  <a:lnTo>
                    <a:pt x="2099738" y="1140232"/>
                  </a:lnTo>
                  <a:lnTo>
                    <a:pt x="2068348" y="1171622"/>
                  </a:lnTo>
                  <a:lnTo>
                    <a:pt x="2030712" y="1195549"/>
                  </a:lnTo>
                  <a:lnTo>
                    <a:pt x="1988048" y="1210798"/>
                  </a:lnTo>
                  <a:lnTo>
                    <a:pt x="1941572" y="1216151"/>
                  </a:lnTo>
                  <a:lnTo>
                    <a:pt x="202694" y="1216151"/>
                  </a:lnTo>
                  <a:lnTo>
                    <a:pt x="156218" y="1210798"/>
                  </a:lnTo>
                  <a:lnTo>
                    <a:pt x="113554" y="1195549"/>
                  </a:lnTo>
                  <a:lnTo>
                    <a:pt x="75919" y="1171622"/>
                  </a:lnTo>
                  <a:lnTo>
                    <a:pt x="44529" y="1140232"/>
                  </a:lnTo>
                  <a:lnTo>
                    <a:pt x="20602" y="1102597"/>
                  </a:lnTo>
                  <a:lnTo>
                    <a:pt x="5353" y="1059933"/>
                  </a:lnTo>
                  <a:lnTo>
                    <a:pt x="0" y="1013456"/>
                  </a:lnTo>
                  <a:lnTo>
                    <a:pt x="0" y="202695"/>
                  </a:lnTo>
                  <a:close/>
                </a:path>
              </a:pathLst>
            </a:custGeom>
            <a:ln w="2000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8237" y="2705341"/>
              <a:ext cx="511809" cy="579755"/>
            </a:xfrm>
            <a:custGeom>
              <a:avLst/>
              <a:gdLst/>
              <a:ahLst/>
              <a:cxnLst/>
              <a:rect l="l" t="t" r="r" b="b"/>
              <a:pathLst>
                <a:path w="511810" h="579754">
                  <a:moveTo>
                    <a:pt x="46240" y="557047"/>
                  </a:moveTo>
                  <a:lnTo>
                    <a:pt x="39624" y="549541"/>
                  </a:lnTo>
                  <a:lnTo>
                    <a:pt x="32118" y="556145"/>
                  </a:lnTo>
                  <a:lnTo>
                    <a:pt x="38735" y="563651"/>
                  </a:lnTo>
                  <a:lnTo>
                    <a:pt x="46240" y="557047"/>
                  </a:lnTo>
                  <a:close/>
                </a:path>
                <a:path w="511810" h="579754">
                  <a:moveTo>
                    <a:pt x="51054" y="297370"/>
                  </a:moveTo>
                  <a:lnTo>
                    <a:pt x="48234" y="287769"/>
                  </a:lnTo>
                  <a:lnTo>
                    <a:pt x="38633" y="290601"/>
                  </a:lnTo>
                  <a:lnTo>
                    <a:pt x="41287" y="299593"/>
                  </a:lnTo>
                  <a:lnTo>
                    <a:pt x="41402" y="299986"/>
                  </a:lnTo>
                  <a:lnTo>
                    <a:pt x="41465" y="300189"/>
                  </a:lnTo>
                  <a:lnTo>
                    <a:pt x="51054" y="297370"/>
                  </a:lnTo>
                  <a:close/>
                </a:path>
                <a:path w="511810" h="579754">
                  <a:moveTo>
                    <a:pt x="61252" y="543826"/>
                  </a:moveTo>
                  <a:lnTo>
                    <a:pt x="54648" y="536321"/>
                  </a:lnTo>
                  <a:lnTo>
                    <a:pt x="47142" y="542937"/>
                  </a:lnTo>
                  <a:lnTo>
                    <a:pt x="53746" y="550443"/>
                  </a:lnTo>
                  <a:lnTo>
                    <a:pt x="61252" y="543826"/>
                  </a:lnTo>
                  <a:close/>
                </a:path>
                <a:path w="511810" h="579754">
                  <a:moveTo>
                    <a:pt x="69900" y="37249"/>
                  </a:moveTo>
                  <a:lnTo>
                    <a:pt x="60248" y="34645"/>
                  </a:lnTo>
                  <a:lnTo>
                    <a:pt x="57632" y="44297"/>
                  </a:lnTo>
                  <a:lnTo>
                    <a:pt x="67297" y="46913"/>
                  </a:lnTo>
                  <a:lnTo>
                    <a:pt x="69900" y="37249"/>
                  </a:lnTo>
                  <a:close/>
                </a:path>
                <a:path w="511810" h="579754">
                  <a:moveTo>
                    <a:pt x="70243" y="291706"/>
                  </a:moveTo>
                  <a:lnTo>
                    <a:pt x="67411" y="282117"/>
                  </a:lnTo>
                  <a:lnTo>
                    <a:pt x="57823" y="284949"/>
                  </a:lnTo>
                  <a:lnTo>
                    <a:pt x="60604" y="294373"/>
                  </a:lnTo>
                  <a:lnTo>
                    <a:pt x="60655" y="294538"/>
                  </a:lnTo>
                  <a:lnTo>
                    <a:pt x="70243" y="291706"/>
                  </a:lnTo>
                  <a:close/>
                </a:path>
                <a:path w="511810" h="579754">
                  <a:moveTo>
                    <a:pt x="76263" y="530618"/>
                  </a:moveTo>
                  <a:lnTo>
                    <a:pt x="69659" y="523113"/>
                  </a:lnTo>
                  <a:lnTo>
                    <a:pt x="62153" y="529717"/>
                  </a:lnTo>
                  <a:lnTo>
                    <a:pt x="68757" y="537222"/>
                  </a:lnTo>
                  <a:lnTo>
                    <a:pt x="76263" y="530618"/>
                  </a:lnTo>
                  <a:close/>
                </a:path>
                <a:path w="511810" h="579754">
                  <a:moveTo>
                    <a:pt x="89217" y="42468"/>
                  </a:moveTo>
                  <a:lnTo>
                    <a:pt x="79552" y="39865"/>
                  </a:lnTo>
                  <a:lnTo>
                    <a:pt x="76949" y="49517"/>
                  </a:lnTo>
                  <a:lnTo>
                    <a:pt x="86601" y="52120"/>
                  </a:lnTo>
                  <a:lnTo>
                    <a:pt x="89217" y="42468"/>
                  </a:lnTo>
                  <a:close/>
                </a:path>
                <a:path w="511810" h="579754">
                  <a:moveTo>
                    <a:pt x="89433" y="286054"/>
                  </a:moveTo>
                  <a:lnTo>
                    <a:pt x="86601" y="276466"/>
                  </a:lnTo>
                  <a:lnTo>
                    <a:pt x="77012" y="279285"/>
                  </a:lnTo>
                  <a:lnTo>
                    <a:pt x="79832" y="288886"/>
                  </a:lnTo>
                  <a:lnTo>
                    <a:pt x="89433" y="286054"/>
                  </a:lnTo>
                  <a:close/>
                </a:path>
                <a:path w="511810" h="579754">
                  <a:moveTo>
                    <a:pt x="91287" y="517410"/>
                  </a:moveTo>
                  <a:lnTo>
                    <a:pt x="84683" y="509892"/>
                  </a:lnTo>
                  <a:lnTo>
                    <a:pt x="77165" y="516509"/>
                  </a:lnTo>
                  <a:lnTo>
                    <a:pt x="83781" y="524014"/>
                  </a:lnTo>
                  <a:lnTo>
                    <a:pt x="91287" y="517410"/>
                  </a:lnTo>
                  <a:close/>
                </a:path>
                <a:path w="511810" h="579754">
                  <a:moveTo>
                    <a:pt x="104978" y="325056"/>
                  </a:moveTo>
                  <a:lnTo>
                    <a:pt x="103339" y="322351"/>
                  </a:lnTo>
                  <a:lnTo>
                    <a:pt x="49911" y="309194"/>
                  </a:lnTo>
                  <a:lnTo>
                    <a:pt x="44361" y="307822"/>
                  </a:lnTo>
                  <a:lnTo>
                    <a:pt x="36334" y="305841"/>
                  </a:lnTo>
                  <a:lnTo>
                    <a:pt x="28676" y="303961"/>
                  </a:lnTo>
                  <a:lnTo>
                    <a:pt x="31877" y="303022"/>
                  </a:lnTo>
                  <a:lnTo>
                    <a:pt x="29044" y="293420"/>
                  </a:lnTo>
                  <a:lnTo>
                    <a:pt x="25844" y="294373"/>
                  </a:lnTo>
                  <a:lnTo>
                    <a:pt x="78600" y="238429"/>
                  </a:lnTo>
                  <a:lnTo>
                    <a:pt x="78511" y="235267"/>
                  </a:lnTo>
                  <a:lnTo>
                    <a:pt x="74587" y="231571"/>
                  </a:lnTo>
                  <a:lnTo>
                    <a:pt x="71335" y="231571"/>
                  </a:lnTo>
                  <a:lnTo>
                    <a:pt x="21170" y="284759"/>
                  </a:lnTo>
                  <a:lnTo>
                    <a:pt x="21170" y="302120"/>
                  </a:lnTo>
                  <a:lnTo>
                    <a:pt x="19037" y="301586"/>
                  </a:lnTo>
                  <a:lnTo>
                    <a:pt x="20548" y="299986"/>
                  </a:lnTo>
                  <a:lnTo>
                    <a:pt x="21170" y="302120"/>
                  </a:lnTo>
                  <a:lnTo>
                    <a:pt x="21170" y="284759"/>
                  </a:lnTo>
                  <a:lnTo>
                    <a:pt x="10960" y="295592"/>
                  </a:lnTo>
                  <a:lnTo>
                    <a:pt x="10960" y="299593"/>
                  </a:lnTo>
                  <a:lnTo>
                    <a:pt x="10909" y="300189"/>
                  </a:lnTo>
                  <a:lnTo>
                    <a:pt x="10845" y="299986"/>
                  </a:lnTo>
                  <a:lnTo>
                    <a:pt x="10731" y="299593"/>
                  </a:lnTo>
                  <a:lnTo>
                    <a:pt x="10960" y="299593"/>
                  </a:lnTo>
                  <a:lnTo>
                    <a:pt x="10960" y="295592"/>
                  </a:lnTo>
                  <a:lnTo>
                    <a:pt x="0" y="307200"/>
                  </a:lnTo>
                  <a:lnTo>
                    <a:pt x="100939" y="332054"/>
                  </a:lnTo>
                  <a:lnTo>
                    <a:pt x="103657" y="330415"/>
                  </a:lnTo>
                  <a:lnTo>
                    <a:pt x="104978" y="325056"/>
                  </a:lnTo>
                  <a:close/>
                </a:path>
                <a:path w="511810" h="579754">
                  <a:moveTo>
                    <a:pt x="106299" y="504190"/>
                  </a:moveTo>
                  <a:lnTo>
                    <a:pt x="99695" y="496684"/>
                  </a:lnTo>
                  <a:lnTo>
                    <a:pt x="92189" y="503288"/>
                  </a:lnTo>
                  <a:lnTo>
                    <a:pt x="98793" y="510794"/>
                  </a:lnTo>
                  <a:lnTo>
                    <a:pt x="106299" y="504190"/>
                  </a:lnTo>
                  <a:close/>
                </a:path>
                <a:path w="511810" h="579754">
                  <a:moveTo>
                    <a:pt x="108521" y="47688"/>
                  </a:moveTo>
                  <a:lnTo>
                    <a:pt x="98869" y="45085"/>
                  </a:lnTo>
                  <a:lnTo>
                    <a:pt x="96253" y="54737"/>
                  </a:lnTo>
                  <a:lnTo>
                    <a:pt x="105918" y="57340"/>
                  </a:lnTo>
                  <a:lnTo>
                    <a:pt x="108521" y="47688"/>
                  </a:lnTo>
                  <a:close/>
                </a:path>
                <a:path w="511810" h="579754">
                  <a:moveTo>
                    <a:pt x="108623" y="280403"/>
                  </a:moveTo>
                  <a:lnTo>
                    <a:pt x="105791" y="270814"/>
                  </a:lnTo>
                  <a:lnTo>
                    <a:pt x="96202" y="273634"/>
                  </a:lnTo>
                  <a:lnTo>
                    <a:pt x="99021" y="283222"/>
                  </a:lnTo>
                  <a:lnTo>
                    <a:pt x="108623" y="280403"/>
                  </a:lnTo>
                  <a:close/>
                </a:path>
                <a:path w="511810" h="579754">
                  <a:moveTo>
                    <a:pt x="117132" y="556704"/>
                  </a:moveTo>
                  <a:lnTo>
                    <a:pt x="116065" y="551281"/>
                  </a:lnTo>
                  <a:lnTo>
                    <a:pt x="113461" y="549541"/>
                  </a:lnTo>
                  <a:lnTo>
                    <a:pt x="28232" y="566229"/>
                  </a:lnTo>
                  <a:lnTo>
                    <a:pt x="29387" y="562749"/>
                  </a:lnTo>
                  <a:lnTo>
                    <a:pt x="55638" y="483844"/>
                  </a:lnTo>
                  <a:lnTo>
                    <a:pt x="54216" y="481012"/>
                  </a:lnTo>
                  <a:lnTo>
                    <a:pt x="48983" y="479272"/>
                  </a:lnTo>
                  <a:lnTo>
                    <a:pt x="46151" y="480682"/>
                  </a:lnTo>
                  <a:lnTo>
                    <a:pt x="28206" y="534631"/>
                  </a:lnTo>
                  <a:lnTo>
                    <a:pt x="28206" y="566318"/>
                  </a:lnTo>
                  <a:lnTo>
                    <a:pt x="28079" y="566699"/>
                  </a:lnTo>
                  <a:lnTo>
                    <a:pt x="28194" y="566318"/>
                  </a:lnTo>
                  <a:lnTo>
                    <a:pt x="28206" y="534631"/>
                  </a:lnTo>
                  <a:lnTo>
                    <a:pt x="13335" y="579335"/>
                  </a:lnTo>
                  <a:lnTo>
                    <a:pt x="27622" y="576529"/>
                  </a:lnTo>
                  <a:lnTo>
                    <a:pt x="79743" y="566318"/>
                  </a:lnTo>
                  <a:lnTo>
                    <a:pt x="115366" y="559333"/>
                  </a:lnTo>
                  <a:lnTo>
                    <a:pt x="117132" y="556704"/>
                  </a:lnTo>
                  <a:close/>
                </a:path>
                <a:path w="511810" h="579754">
                  <a:moveTo>
                    <a:pt x="117881" y="6908"/>
                  </a:moveTo>
                  <a:lnTo>
                    <a:pt x="116433" y="1574"/>
                  </a:lnTo>
                  <a:lnTo>
                    <a:pt x="113690" y="0"/>
                  </a:lnTo>
                  <a:lnTo>
                    <a:pt x="40728" y="19748"/>
                  </a:lnTo>
                  <a:lnTo>
                    <a:pt x="40728" y="30175"/>
                  </a:lnTo>
                  <a:lnTo>
                    <a:pt x="38506" y="38417"/>
                  </a:lnTo>
                  <a:lnTo>
                    <a:pt x="36588" y="36474"/>
                  </a:lnTo>
                  <a:lnTo>
                    <a:pt x="32499" y="32321"/>
                  </a:lnTo>
                  <a:lnTo>
                    <a:pt x="40449" y="30175"/>
                  </a:lnTo>
                  <a:lnTo>
                    <a:pt x="40728" y="30175"/>
                  </a:lnTo>
                  <a:lnTo>
                    <a:pt x="40728" y="19748"/>
                  </a:lnTo>
                  <a:lnTo>
                    <a:pt x="13335" y="27152"/>
                  </a:lnTo>
                  <a:lnTo>
                    <a:pt x="86385" y="101168"/>
                  </a:lnTo>
                  <a:lnTo>
                    <a:pt x="89535" y="101168"/>
                  </a:lnTo>
                  <a:lnTo>
                    <a:pt x="93459" y="97282"/>
                  </a:lnTo>
                  <a:lnTo>
                    <a:pt x="93484" y="94119"/>
                  </a:lnTo>
                  <a:lnTo>
                    <a:pt x="39471" y="39395"/>
                  </a:lnTo>
                  <a:lnTo>
                    <a:pt x="47980" y="41694"/>
                  </a:lnTo>
                  <a:lnTo>
                    <a:pt x="50507" y="32321"/>
                  </a:lnTo>
                  <a:lnTo>
                    <a:pt x="50596" y="32029"/>
                  </a:lnTo>
                  <a:lnTo>
                    <a:pt x="42075" y="29730"/>
                  </a:lnTo>
                  <a:lnTo>
                    <a:pt x="43218" y="29425"/>
                  </a:lnTo>
                  <a:lnTo>
                    <a:pt x="59918" y="24904"/>
                  </a:lnTo>
                  <a:lnTo>
                    <a:pt x="116306" y="9652"/>
                  </a:lnTo>
                  <a:lnTo>
                    <a:pt x="117881" y="6908"/>
                  </a:lnTo>
                  <a:close/>
                </a:path>
                <a:path w="511810" h="579754">
                  <a:moveTo>
                    <a:pt x="121323" y="490982"/>
                  </a:moveTo>
                  <a:lnTo>
                    <a:pt x="114706" y="483463"/>
                  </a:lnTo>
                  <a:lnTo>
                    <a:pt x="107200" y="490080"/>
                  </a:lnTo>
                  <a:lnTo>
                    <a:pt x="113804" y="497586"/>
                  </a:lnTo>
                  <a:lnTo>
                    <a:pt x="121323" y="490982"/>
                  </a:lnTo>
                  <a:close/>
                </a:path>
                <a:path w="511810" h="579754">
                  <a:moveTo>
                    <a:pt x="127800" y="274751"/>
                  </a:moveTo>
                  <a:lnTo>
                    <a:pt x="124980" y="265150"/>
                  </a:lnTo>
                  <a:lnTo>
                    <a:pt x="115379" y="267982"/>
                  </a:lnTo>
                  <a:lnTo>
                    <a:pt x="118211" y="277571"/>
                  </a:lnTo>
                  <a:lnTo>
                    <a:pt x="127800" y="274751"/>
                  </a:lnTo>
                  <a:close/>
                </a:path>
                <a:path w="511810" h="579754">
                  <a:moveTo>
                    <a:pt x="127825" y="52908"/>
                  </a:moveTo>
                  <a:lnTo>
                    <a:pt x="118173" y="50292"/>
                  </a:lnTo>
                  <a:lnTo>
                    <a:pt x="115570" y="59956"/>
                  </a:lnTo>
                  <a:lnTo>
                    <a:pt x="125222" y="62560"/>
                  </a:lnTo>
                  <a:lnTo>
                    <a:pt x="127825" y="52908"/>
                  </a:lnTo>
                  <a:close/>
                </a:path>
                <a:path w="511810" h="579754">
                  <a:moveTo>
                    <a:pt x="136334" y="477761"/>
                  </a:moveTo>
                  <a:lnTo>
                    <a:pt x="129730" y="470255"/>
                  </a:lnTo>
                  <a:lnTo>
                    <a:pt x="122212" y="476859"/>
                  </a:lnTo>
                  <a:lnTo>
                    <a:pt x="128828" y="484365"/>
                  </a:lnTo>
                  <a:lnTo>
                    <a:pt x="136334" y="477761"/>
                  </a:lnTo>
                  <a:close/>
                </a:path>
                <a:path w="511810" h="579754">
                  <a:moveTo>
                    <a:pt x="146989" y="269087"/>
                  </a:moveTo>
                  <a:lnTo>
                    <a:pt x="144157" y="259499"/>
                  </a:lnTo>
                  <a:lnTo>
                    <a:pt x="134569" y="262331"/>
                  </a:lnTo>
                  <a:lnTo>
                    <a:pt x="137401" y="271919"/>
                  </a:lnTo>
                  <a:lnTo>
                    <a:pt x="146989" y="269087"/>
                  </a:lnTo>
                  <a:close/>
                </a:path>
                <a:path w="511810" h="579754">
                  <a:moveTo>
                    <a:pt x="147142" y="58127"/>
                  </a:moveTo>
                  <a:lnTo>
                    <a:pt x="137490" y="55511"/>
                  </a:lnTo>
                  <a:lnTo>
                    <a:pt x="134874" y="65163"/>
                  </a:lnTo>
                  <a:lnTo>
                    <a:pt x="144538" y="67779"/>
                  </a:lnTo>
                  <a:lnTo>
                    <a:pt x="147142" y="58127"/>
                  </a:lnTo>
                  <a:close/>
                </a:path>
                <a:path w="511810" h="579754">
                  <a:moveTo>
                    <a:pt x="151345" y="464553"/>
                  </a:moveTo>
                  <a:lnTo>
                    <a:pt x="144741" y="457034"/>
                  </a:lnTo>
                  <a:lnTo>
                    <a:pt x="137236" y="463651"/>
                  </a:lnTo>
                  <a:lnTo>
                    <a:pt x="143840" y="471157"/>
                  </a:lnTo>
                  <a:lnTo>
                    <a:pt x="151345" y="464553"/>
                  </a:lnTo>
                  <a:close/>
                </a:path>
                <a:path w="511810" h="579754">
                  <a:moveTo>
                    <a:pt x="166179" y="263436"/>
                  </a:moveTo>
                  <a:lnTo>
                    <a:pt x="163347" y="253847"/>
                  </a:lnTo>
                  <a:lnTo>
                    <a:pt x="153758" y="256667"/>
                  </a:lnTo>
                  <a:lnTo>
                    <a:pt x="156578" y="266268"/>
                  </a:lnTo>
                  <a:lnTo>
                    <a:pt x="166179" y="263436"/>
                  </a:lnTo>
                  <a:close/>
                </a:path>
                <a:path w="511810" h="579754">
                  <a:moveTo>
                    <a:pt x="166370" y="451332"/>
                  </a:moveTo>
                  <a:lnTo>
                    <a:pt x="159753" y="443826"/>
                  </a:lnTo>
                  <a:lnTo>
                    <a:pt x="152247" y="450430"/>
                  </a:lnTo>
                  <a:lnTo>
                    <a:pt x="158851" y="457936"/>
                  </a:lnTo>
                  <a:lnTo>
                    <a:pt x="166370" y="451332"/>
                  </a:lnTo>
                  <a:close/>
                </a:path>
                <a:path w="511810" h="579754">
                  <a:moveTo>
                    <a:pt x="166446" y="63334"/>
                  </a:moveTo>
                  <a:lnTo>
                    <a:pt x="156794" y="60731"/>
                  </a:lnTo>
                  <a:lnTo>
                    <a:pt x="154190" y="70383"/>
                  </a:lnTo>
                  <a:lnTo>
                    <a:pt x="163842" y="72999"/>
                  </a:lnTo>
                  <a:lnTo>
                    <a:pt x="166446" y="63334"/>
                  </a:lnTo>
                  <a:close/>
                </a:path>
                <a:path w="511810" h="579754">
                  <a:moveTo>
                    <a:pt x="181381" y="438124"/>
                  </a:moveTo>
                  <a:lnTo>
                    <a:pt x="174777" y="430606"/>
                  </a:lnTo>
                  <a:lnTo>
                    <a:pt x="167271" y="437222"/>
                  </a:lnTo>
                  <a:lnTo>
                    <a:pt x="173875" y="444728"/>
                  </a:lnTo>
                  <a:lnTo>
                    <a:pt x="181381" y="438124"/>
                  </a:lnTo>
                  <a:close/>
                </a:path>
                <a:path w="511810" h="579754">
                  <a:moveTo>
                    <a:pt x="185369" y="257784"/>
                  </a:moveTo>
                  <a:lnTo>
                    <a:pt x="182537" y="248196"/>
                  </a:lnTo>
                  <a:lnTo>
                    <a:pt x="172948" y="251015"/>
                  </a:lnTo>
                  <a:lnTo>
                    <a:pt x="175768" y="260616"/>
                  </a:lnTo>
                  <a:lnTo>
                    <a:pt x="185369" y="257784"/>
                  </a:lnTo>
                  <a:close/>
                </a:path>
                <a:path w="511810" h="579754">
                  <a:moveTo>
                    <a:pt x="185762" y="68554"/>
                  </a:moveTo>
                  <a:lnTo>
                    <a:pt x="176110" y="65951"/>
                  </a:lnTo>
                  <a:lnTo>
                    <a:pt x="173494" y="75603"/>
                  </a:lnTo>
                  <a:lnTo>
                    <a:pt x="183146" y="78219"/>
                  </a:lnTo>
                  <a:lnTo>
                    <a:pt x="185762" y="68554"/>
                  </a:lnTo>
                  <a:close/>
                </a:path>
                <a:path w="511810" h="579754">
                  <a:moveTo>
                    <a:pt x="196392" y="424903"/>
                  </a:moveTo>
                  <a:lnTo>
                    <a:pt x="189788" y="417398"/>
                  </a:lnTo>
                  <a:lnTo>
                    <a:pt x="182283" y="424002"/>
                  </a:lnTo>
                  <a:lnTo>
                    <a:pt x="188887" y="431507"/>
                  </a:lnTo>
                  <a:lnTo>
                    <a:pt x="196392" y="424903"/>
                  </a:lnTo>
                  <a:close/>
                </a:path>
                <a:path w="511810" h="579754">
                  <a:moveTo>
                    <a:pt x="204546" y="252133"/>
                  </a:moveTo>
                  <a:lnTo>
                    <a:pt x="201726" y="242531"/>
                  </a:lnTo>
                  <a:lnTo>
                    <a:pt x="192125" y="245364"/>
                  </a:lnTo>
                  <a:lnTo>
                    <a:pt x="194957" y="254952"/>
                  </a:lnTo>
                  <a:lnTo>
                    <a:pt x="204546" y="252133"/>
                  </a:lnTo>
                  <a:close/>
                </a:path>
                <a:path w="511810" h="579754">
                  <a:moveTo>
                    <a:pt x="205066" y="73774"/>
                  </a:moveTo>
                  <a:lnTo>
                    <a:pt x="195414" y="71170"/>
                  </a:lnTo>
                  <a:lnTo>
                    <a:pt x="192811" y="80822"/>
                  </a:lnTo>
                  <a:lnTo>
                    <a:pt x="202463" y="83426"/>
                  </a:lnTo>
                  <a:lnTo>
                    <a:pt x="205066" y="73774"/>
                  </a:lnTo>
                  <a:close/>
                </a:path>
                <a:path w="511810" h="579754">
                  <a:moveTo>
                    <a:pt x="211416" y="411695"/>
                  </a:moveTo>
                  <a:lnTo>
                    <a:pt x="204812" y="404177"/>
                  </a:lnTo>
                  <a:lnTo>
                    <a:pt x="197294" y="410794"/>
                  </a:lnTo>
                  <a:lnTo>
                    <a:pt x="203911" y="418299"/>
                  </a:lnTo>
                  <a:lnTo>
                    <a:pt x="211416" y="411695"/>
                  </a:lnTo>
                  <a:close/>
                </a:path>
                <a:path w="511810" h="579754">
                  <a:moveTo>
                    <a:pt x="223735" y="246481"/>
                  </a:moveTo>
                  <a:lnTo>
                    <a:pt x="220916" y="236880"/>
                  </a:lnTo>
                  <a:lnTo>
                    <a:pt x="211315" y="239712"/>
                  </a:lnTo>
                  <a:lnTo>
                    <a:pt x="214147" y="249301"/>
                  </a:lnTo>
                  <a:lnTo>
                    <a:pt x="223735" y="246481"/>
                  </a:lnTo>
                  <a:close/>
                </a:path>
                <a:path w="511810" h="579754">
                  <a:moveTo>
                    <a:pt x="224383" y="78994"/>
                  </a:moveTo>
                  <a:lnTo>
                    <a:pt x="214731" y="76390"/>
                  </a:lnTo>
                  <a:lnTo>
                    <a:pt x="212115" y="86042"/>
                  </a:lnTo>
                  <a:lnTo>
                    <a:pt x="221767" y="88646"/>
                  </a:lnTo>
                  <a:lnTo>
                    <a:pt x="224383" y="78994"/>
                  </a:lnTo>
                  <a:close/>
                </a:path>
                <a:path w="511810" h="579754">
                  <a:moveTo>
                    <a:pt x="226428" y="398475"/>
                  </a:moveTo>
                  <a:lnTo>
                    <a:pt x="219824" y="390969"/>
                  </a:lnTo>
                  <a:lnTo>
                    <a:pt x="212318" y="397573"/>
                  </a:lnTo>
                  <a:lnTo>
                    <a:pt x="218922" y="405079"/>
                  </a:lnTo>
                  <a:lnTo>
                    <a:pt x="226428" y="398475"/>
                  </a:lnTo>
                  <a:close/>
                </a:path>
                <a:path w="511810" h="579754">
                  <a:moveTo>
                    <a:pt x="241452" y="385267"/>
                  </a:moveTo>
                  <a:lnTo>
                    <a:pt x="234835" y="377748"/>
                  </a:lnTo>
                  <a:lnTo>
                    <a:pt x="227330" y="384365"/>
                  </a:lnTo>
                  <a:lnTo>
                    <a:pt x="233934" y="391871"/>
                  </a:lnTo>
                  <a:lnTo>
                    <a:pt x="241452" y="385267"/>
                  </a:lnTo>
                  <a:close/>
                </a:path>
                <a:path w="511810" h="579754">
                  <a:moveTo>
                    <a:pt x="242925" y="240817"/>
                  </a:moveTo>
                  <a:lnTo>
                    <a:pt x="240093" y="231228"/>
                  </a:lnTo>
                  <a:lnTo>
                    <a:pt x="230505" y="234061"/>
                  </a:lnTo>
                  <a:lnTo>
                    <a:pt x="233337" y="243649"/>
                  </a:lnTo>
                  <a:lnTo>
                    <a:pt x="242925" y="240817"/>
                  </a:lnTo>
                  <a:close/>
                </a:path>
                <a:path w="511810" h="579754">
                  <a:moveTo>
                    <a:pt x="243687" y="84213"/>
                  </a:moveTo>
                  <a:lnTo>
                    <a:pt x="234035" y="81597"/>
                  </a:lnTo>
                  <a:lnTo>
                    <a:pt x="231432" y="91262"/>
                  </a:lnTo>
                  <a:lnTo>
                    <a:pt x="241084" y="93865"/>
                  </a:lnTo>
                  <a:lnTo>
                    <a:pt x="243687" y="84213"/>
                  </a:lnTo>
                  <a:close/>
                </a:path>
                <a:path w="511810" h="579754">
                  <a:moveTo>
                    <a:pt x="256463" y="372046"/>
                  </a:moveTo>
                  <a:lnTo>
                    <a:pt x="249859" y="364540"/>
                  </a:lnTo>
                  <a:lnTo>
                    <a:pt x="242341" y="371144"/>
                  </a:lnTo>
                  <a:lnTo>
                    <a:pt x="248958" y="378650"/>
                  </a:lnTo>
                  <a:lnTo>
                    <a:pt x="256463" y="372046"/>
                  </a:lnTo>
                  <a:close/>
                </a:path>
                <a:path w="511810" h="579754">
                  <a:moveTo>
                    <a:pt x="262115" y="235165"/>
                  </a:moveTo>
                  <a:lnTo>
                    <a:pt x="259283" y="225577"/>
                  </a:lnTo>
                  <a:lnTo>
                    <a:pt x="249694" y="228396"/>
                  </a:lnTo>
                  <a:lnTo>
                    <a:pt x="252514" y="237998"/>
                  </a:lnTo>
                  <a:lnTo>
                    <a:pt x="262115" y="235165"/>
                  </a:lnTo>
                  <a:close/>
                </a:path>
                <a:path w="511810" h="579754">
                  <a:moveTo>
                    <a:pt x="263004" y="89433"/>
                  </a:moveTo>
                  <a:lnTo>
                    <a:pt x="253352" y="86817"/>
                  </a:lnTo>
                  <a:lnTo>
                    <a:pt x="250736" y="96469"/>
                  </a:lnTo>
                  <a:lnTo>
                    <a:pt x="260388" y="99085"/>
                  </a:lnTo>
                  <a:lnTo>
                    <a:pt x="263004" y="89433"/>
                  </a:lnTo>
                  <a:close/>
                </a:path>
                <a:path w="511810" h="579754">
                  <a:moveTo>
                    <a:pt x="271475" y="358838"/>
                  </a:moveTo>
                  <a:lnTo>
                    <a:pt x="264871" y="351320"/>
                  </a:lnTo>
                  <a:lnTo>
                    <a:pt x="257365" y="357936"/>
                  </a:lnTo>
                  <a:lnTo>
                    <a:pt x="263969" y="365442"/>
                  </a:lnTo>
                  <a:lnTo>
                    <a:pt x="271475" y="358838"/>
                  </a:lnTo>
                  <a:close/>
                </a:path>
                <a:path w="511810" h="579754">
                  <a:moveTo>
                    <a:pt x="281292" y="229514"/>
                  </a:moveTo>
                  <a:lnTo>
                    <a:pt x="278472" y="219925"/>
                  </a:lnTo>
                  <a:lnTo>
                    <a:pt x="268871" y="222745"/>
                  </a:lnTo>
                  <a:lnTo>
                    <a:pt x="271703" y="232346"/>
                  </a:lnTo>
                  <a:lnTo>
                    <a:pt x="281292" y="229514"/>
                  </a:lnTo>
                  <a:close/>
                </a:path>
                <a:path w="511810" h="579754">
                  <a:moveTo>
                    <a:pt x="282308" y="94640"/>
                  </a:moveTo>
                  <a:lnTo>
                    <a:pt x="272656" y="92036"/>
                  </a:lnTo>
                  <a:lnTo>
                    <a:pt x="270052" y="101688"/>
                  </a:lnTo>
                  <a:lnTo>
                    <a:pt x="279704" y="104305"/>
                  </a:lnTo>
                  <a:lnTo>
                    <a:pt x="282308" y="94640"/>
                  </a:lnTo>
                  <a:close/>
                </a:path>
                <a:path w="511810" h="579754">
                  <a:moveTo>
                    <a:pt x="286499" y="345617"/>
                  </a:moveTo>
                  <a:lnTo>
                    <a:pt x="279882" y="338112"/>
                  </a:lnTo>
                  <a:lnTo>
                    <a:pt x="272376" y="344716"/>
                  </a:lnTo>
                  <a:lnTo>
                    <a:pt x="278980" y="352221"/>
                  </a:lnTo>
                  <a:lnTo>
                    <a:pt x="286499" y="345617"/>
                  </a:lnTo>
                  <a:close/>
                </a:path>
                <a:path w="511810" h="579754">
                  <a:moveTo>
                    <a:pt x="300482" y="223862"/>
                  </a:moveTo>
                  <a:lnTo>
                    <a:pt x="297662" y="214261"/>
                  </a:lnTo>
                  <a:lnTo>
                    <a:pt x="288061" y="217093"/>
                  </a:lnTo>
                  <a:lnTo>
                    <a:pt x="290893" y="226682"/>
                  </a:lnTo>
                  <a:lnTo>
                    <a:pt x="300482" y="223862"/>
                  </a:lnTo>
                  <a:close/>
                </a:path>
                <a:path w="511810" h="579754">
                  <a:moveTo>
                    <a:pt x="301510" y="332409"/>
                  </a:moveTo>
                  <a:lnTo>
                    <a:pt x="294906" y="324891"/>
                  </a:lnTo>
                  <a:lnTo>
                    <a:pt x="287401" y="331508"/>
                  </a:lnTo>
                  <a:lnTo>
                    <a:pt x="294005" y="339013"/>
                  </a:lnTo>
                  <a:lnTo>
                    <a:pt x="301510" y="332409"/>
                  </a:lnTo>
                  <a:close/>
                </a:path>
                <a:path w="511810" h="579754">
                  <a:moveTo>
                    <a:pt x="301625" y="99860"/>
                  </a:moveTo>
                  <a:lnTo>
                    <a:pt x="291973" y="97256"/>
                  </a:lnTo>
                  <a:lnTo>
                    <a:pt x="289356" y="106908"/>
                  </a:lnTo>
                  <a:lnTo>
                    <a:pt x="299008" y="109524"/>
                  </a:lnTo>
                  <a:lnTo>
                    <a:pt x="301625" y="99860"/>
                  </a:lnTo>
                  <a:close/>
                </a:path>
                <a:path w="511810" h="579754">
                  <a:moveTo>
                    <a:pt x="316522" y="319189"/>
                  </a:moveTo>
                  <a:lnTo>
                    <a:pt x="309918" y="311683"/>
                  </a:lnTo>
                  <a:lnTo>
                    <a:pt x="302412" y="318287"/>
                  </a:lnTo>
                  <a:lnTo>
                    <a:pt x="309016" y="325793"/>
                  </a:lnTo>
                  <a:lnTo>
                    <a:pt x="316522" y="319189"/>
                  </a:lnTo>
                  <a:close/>
                </a:path>
                <a:path w="511810" h="579754">
                  <a:moveTo>
                    <a:pt x="319671" y="218211"/>
                  </a:moveTo>
                  <a:lnTo>
                    <a:pt x="316839" y="208610"/>
                  </a:lnTo>
                  <a:lnTo>
                    <a:pt x="307251" y="211442"/>
                  </a:lnTo>
                  <a:lnTo>
                    <a:pt x="310083" y="221030"/>
                  </a:lnTo>
                  <a:lnTo>
                    <a:pt x="319671" y="218211"/>
                  </a:lnTo>
                  <a:close/>
                </a:path>
                <a:path w="511810" h="579754">
                  <a:moveTo>
                    <a:pt x="320929" y="105079"/>
                  </a:moveTo>
                  <a:lnTo>
                    <a:pt x="311277" y="102476"/>
                  </a:lnTo>
                  <a:lnTo>
                    <a:pt x="308673" y="112128"/>
                  </a:lnTo>
                  <a:lnTo>
                    <a:pt x="318325" y="114731"/>
                  </a:lnTo>
                  <a:lnTo>
                    <a:pt x="320929" y="105079"/>
                  </a:lnTo>
                  <a:close/>
                </a:path>
                <a:path w="511810" h="579754">
                  <a:moveTo>
                    <a:pt x="331546" y="305981"/>
                  </a:moveTo>
                  <a:lnTo>
                    <a:pt x="324942" y="298462"/>
                  </a:lnTo>
                  <a:lnTo>
                    <a:pt x="317423" y="305079"/>
                  </a:lnTo>
                  <a:lnTo>
                    <a:pt x="324040" y="312585"/>
                  </a:lnTo>
                  <a:lnTo>
                    <a:pt x="331546" y="305981"/>
                  </a:lnTo>
                  <a:close/>
                </a:path>
                <a:path w="511810" h="579754">
                  <a:moveTo>
                    <a:pt x="338861" y="212547"/>
                  </a:moveTo>
                  <a:lnTo>
                    <a:pt x="336029" y="202958"/>
                  </a:lnTo>
                  <a:lnTo>
                    <a:pt x="326440" y="205790"/>
                  </a:lnTo>
                  <a:lnTo>
                    <a:pt x="329260" y="215379"/>
                  </a:lnTo>
                  <a:lnTo>
                    <a:pt x="338861" y="212547"/>
                  </a:lnTo>
                  <a:close/>
                </a:path>
                <a:path w="511810" h="579754">
                  <a:moveTo>
                    <a:pt x="340245" y="110299"/>
                  </a:moveTo>
                  <a:lnTo>
                    <a:pt x="330581" y="107696"/>
                  </a:lnTo>
                  <a:lnTo>
                    <a:pt x="327977" y="117348"/>
                  </a:lnTo>
                  <a:lnTo>
                    <a:pt x="337629" y="119951"/>
                  </a:lnTo>
                  <a:lnTo>
                    <a:pt x="340245" y="110299"/>
                  </a:lnTo>
                  <a:close/>
                </a:path>
                <a:path w="511810" h="579754">
                  <a:moveTo>
                    <a:pt x="346557" y="292760"/>
                  </a:moveTo>
                  <a:lnTo>
                    <a:pt x="339953" y="285254"/>
                  </a:lnTo>
                  <a:lnTo>
                    <a:pt x="332447" y="291858"/>
                  </a:lnTo>
                  <a:lnTo>
                    <a:pt x="339051" y="299364"/>
                  </a:lnTo>
                  <a:lnTo>
                    <a:pt x="346557" y="292760"/>
                  </a:lnTo>
                  <a:close/>
                </a:path>
                <a:path w="511810" h="579754">
                  <a:moveTo>
                    <a:pt x="358051" y="206895"/>
                  </a:moveTo>
                  <a:lnTo>
                    <a:pt x="355219" y="197307"/>
                  </a:lnTo>
                  <a:lnTo>
                    <a:pt x="345630" y="200126"/>
                  </a:lnTo>
                  <a:lnTo>
                    <a:pt x="348449" y="209727"/>
                  </a:lnTo>
                  <a:lnTo>
                    <a:pt x="358051" y="206895"/>
                  </a:lnTo>
                  <a:close/>
                </a:path>
                <a:path w="511810" h="579754">
                  <a:moveTo>
                    <a:pt x="359549" y="115519"/>
                  </a:moveTo>
                  <a:lnTo>
                    <a:pt x="349897" y="112903"/>
                  </a:lnTo>
                  <a:lnTo>
                    <a:pt x="347294" y="122567"/>
                  </a:lnTo>
                  <a:lnTo>
                    <a:pt x="356946" y="125171"/>
                  </a:lnTo>
                  <a:lnTo>
                    <a:pt x="359549" y="115519"/>
                  </a:lnTo>
                  <a:close/>
                </a:path>
                <a:path w="511810" h="579754">
                  <a:moveTo>
                    <a:pt x="361581" y="279552"/>
                  </a:moveTo>
                  <a:lnTo>
                    <a:pt x="354965" y="272046"/>
                  </a:lnTo>
                  <a:lnTo>
                    <a:pt x="347459" y="278650"/>
                  </a:lnTo>
                  <a:lnTo>
                    <a:pt x="354063" y="286156"/>
                  </a:lnTo>
                  <a:lnTo>
                    <a:pt x="361581" y="279552"/>
                  </a:lnTo>
                  <a:close/>
                </a:path>
                <a:path w="511810" h="579754">
                  <a:moveTo>
                    <a:pt x="376593" y="266331"/>
                  </a:moveTo>
                  <a:lnTo>
                    <a:pt x="369989" y="258826"/>
                  </a:lnTo>
                  <a:lnTo>
                    <a:pt x="362470" y="265430"/>
                  </a:lnTo>
                  <a:lnTo>
                    <a:pt x="369087" y="272935"/>
                  </a:lnTo>
                  <a:lnTo>
                    <a:pt x="376593" y="266331"/>
                  </a:lnTo>
                  <a:close/>
                </a:path>
                <a:path w="511810" h="579754">
                  <a:moveTo>
                    <a:pt x="377228" y="201244"/>
                  </a:moveTo>
                  <a:lnTo>
                    <a:pt x="374408" y="191655"/>
                  </a:lnTo>
                  <a:lnTo>
                    <a:pt x="364807" y="194475"/>
                  </a:lnTo>
                  <a:lnTo>
                    <a:pt x="367639" y="204076"/>
                  </a:lnTo>
                  <a:lnTo>
                    <a:pt x="377228" y="201244"/>
                  </a:lnTo>
                  <a:close/>
                </a:path>
                <a:path w="511810" h="579754">
                  <a:moveTo>
                    <a:pt x="378866" y="120738"/>
                  </a:moveTo>
                  <a:lnTo>
                    <a:pt x="369201" y="118122"/>
                  </a:lnTo>
                  <a:lnTo>
                    <a:pt x="366598" y="127774"/>
                  </a:lnTo>
                  <a:lnTo>
                    <a:pt x="376250" y="130390"/>
                  </a:lnTo>
                  <a:lnTo>
                    <a:pt x="378866" y="120738"/>
                  </a:lnTo>
                  <a:close/>
                </a:path>
                <a:path w="511810" h="579754">
                  <a:moveTo>
                    <a:pt x="391604" y="253123"/>
                  </a:moveTo>
                  <a:lnTo>
                    <a:pt x="385000" y="245618"/>
                  </a:lnTo>
                  <a:lnTo>
                    <a:pt x="377494" y="252222"/>
                  </a:lnTo>
                  <a:lnTo>
                    <a:pt x="384098" y="259727"/>
                  </a:lnTo>
                  <a:lnTo>
                    <a:pt x="391604" y="253123"/>
                  </a:lnTo>
                  <a:close/>
                </a:path>
                <a:path w="511810" h="579754">
                  <a:moveTo>
                    <a:pt x="396417" y="195592"/>
                  </a:moveTo>
                  <a:lnTo>
                    <a:pt x="393585" y="185991"/>
                  </a:lnTo>
                  <a:lnTo>
                    <a:pt x="383997" y="188823"/>
                  </a:lnTo>
                  <a:lnTo>
                    <a:pt x="386829" y="198412"/>
                  </a:lnTo>
                  <a:lnTo>
                    <a:pt x="396417" y="195592"/>
                  </a:lnTo>
                  <a:close/>
                </a:path>
                <a:path w="511810" h="579754">
                  <a:moveTo>
                    <a:pt x="398170" y="125945"/>
                  </a:moveTo>
                  <a:lnTo>
                    <a:pt x="388518" y="123342"/>
                  </a:lnTo>
                  <a:lnTo>
                    <a:pt x="385902" y="132994"/>
                  </a:lnTo>
                  <a:lnTo>
                    <a:pt x="395566" y="135610"/>
                  </a:lnTo>
                  <a:lnTo>
                    <a:pt x="398170" y="125945"/>
                  </a:lnTo>
                  <a:close/>
                </a:path>
                <a:path w="511810" h="579754">
                  <a:moveTo>
                    <a:pt x="406628" y="239903"/>
                  </a:moveTo>
                  <a:lnTo>
                    <a:pt x="400011" y="232397"/>
                  </a:lnTo>
                  <a:lnTo>
                    <a:pt x="392506" y="239001"/>
                  </a:lnTo>
                  <a:lnTo>
                    <a:pt x="399110" y="246507"/>
                  </a:lnTo>
                  <a:lnTo>
                    <a:pt x="406628" y="239903"/>
                  </a:lnTo>
                  <a:close/>
                </a:path>
                <a:path w="511810" h="579754">
                  <a:moveTo>
                    <a:pt x="415607" y="189928"/>
                  </a:moveTo>
                  <a:lnTo>
                    <a:pt x="412775" y="180340"/>
                  </a:lnTo>
                  <a:lnTo>
                    <a:pt x="403186" y="183172"/>
                  </a:lnTo>
                  <a:lnTo>
                    <a:pt x="406006" y="192760"/>
                  </a:lnTo>
                  <a:lnTo>
                    <a:pt x="415607" y="189928"/>
                  </a:lnTo>
                  <a:close/>
                </a:path>
                <a:path w="511810" h="579754">
                  <a:moveTo>
                    <a:pt x="417487" y="131165"/>
                  </a:moveTo>
                  <a:lnTo>
                    <a:pt x="407822" y="128562"/>
                  </a:lnTo>
                  <a:lnTo>
                    <a:pt x="405218" y="138214"/>
                  </a:lnTo>
                  <a:lnTo>
                    <a:pt x="414870" y="140830"/>
                  </a:lnTo>
                  <a:lnTo>
                    <a:pt x="417487" y="131165"/>
                  </a:lnTo>
                  <a:close/>
                </a:path>
                <a:path w="511810" h="579754">
                  <a:moveTo>
                    <a:pt x="421640" y="226695"/>
                  </a:moveTo>
                  <a:lnTo>
                    <a:pt x="415036" y="219189"/>
                  </a:lnTo>
                  <a:lnTo>
                    <a:pt x="407530" y="225793"/>
                  </a:lnTo>
                  <a:lnTo>
                    <a:pt x="414134" y="233299"/>
                  </a:lnTo>
                  <a:lnTo>
                    <a:pt x="421640" y="226695"/>
                  </a:lnTo>
                  <a:close/>
                </a:path>
                <a:path w="511810" h="579754">
                  <a:moveTo>
                    <a:pt x="434797" y="184277"/>
                  </a:moveTo>
                  <a:lnTo>
                    <a:pt x="431965" y="174688"/>
                  </a:lnTo>
                  <a:lnTo>
                    <a:pt x="422376" y="177507"/>
                  </a:lnTo>
                  <a:lnTo>
                    <a:pt x="425196" y="187109"/>
                  </a:lnTo>
                  <a:lnTo>
                    <a:pt x="434797" y="184277"/>
                  </a:lnTo>
                  <a:close/>
                </a:path>
                <a:path w="511810" h="579754">
                  <a:moveTo>
                    <a:pt x="436651" y="213474"/>
                  </a:moveTo>
                  <a:lnTo>
                    <a:pt x="430047" y="205968"/>
                  </a:lnTo>
                  <a:lnTo>
                    <a:pt x="422541" y="212572"/>
                  </a:lnTo>
                  <a:lnTo>
                    <a:pt x="429145" y="220091"/>
                  </a:lnTo>
                  <a:lnTo>
                    <a:pt x="436651" y="213474"/>
                  </a:lnTo>
                  <a:close/>
                </a:path>
                <a:path w="511810" h="579754">
                  <a:moveTo>
                    <a:pt x="436791" y="136385"/>
                  </a:moveTo>
                  <a:lnTo>
                    <a:pt x="427139" y="133781"/>
                  </a:lnTo>
                  <a:lnTo>
                    <a:pt x="424522" y="143433"/>
                  </a:lnTo>
                  <a:lnTo>
                    <a:pt x="434187" y="146037"/>
                  </a:lnTo>
                  <a:lnTo>
                    <a:pt x="436791" y="136385"/>
                  </a:lnTo>
                  <a:close/>
                </a:path>
                <a:path w="511810" h="579754">
                  <a:moveTo>
                    <a:pt x="451675" y="200266"/>
                  </a:moveTo>
                  <a:lnTo>
                    <a:pt x="445071" y="192760"/>
                  </a:lnTo>
                  <a:lnTo>
                    <a:pt x="437553" y="199364"/>
                  </a:lnTo>
                  <a:lnTo>
                    <a:pt x="444169" y="206870"/>
                  </a:lnTo>
                  <a:lnTo>
                    <a:pt x="451675" y="200266"/>
                  </a:lnTo>
                  <a:close/>
                </a:path>
                <a:path w="511810" h="579754">
                  <a:moveTo>
                    <a:pt x="453974" y="178625"/>
                  </a:moveTo>
                  <a:lnTo>
                    <a:pt x="451154" y="169037"/>
                  </a:lnTo>
                  <a:lnTo>
                    <a:pt x="441553" y="171856"/>
                  </a:lnTo>
                  <a:lnTo>
                    <a:pt x="444385" y="181457"/>
                  </a:lnTo>
                  <a:lnTo>
                    <a:pt x="453974" y="178625"/>
                  </a:lnTo>
                  <a:close/>
                </a:path>
                <a:path w="511810" h="579754">
                  <a:moveTo>
                    <a:pt x="456107" y="141605"/>
                  </a:moveTo>
                  <a:lnTo>
                    <a:pt x="446443" y="139001"/>
                  </a:lnTo>
                  <a:lnTo>
                    <a:pt x="443839" y="148653"/>
                  </a:lnTo>
                  <a:lnTo>
                    <a:pt x="453491" y="151257"/>
                  </a:lnTo>
                  <a:lnTo>
                    <a:pt x="456107" y="141605"/>
                  </a:lnTo>
                  <a:close/>
                </a:path>
                <a:path w="511810" h="579754">
                  <a:moveTo>
                    <a:pt x="466686" y="187045"/>
                  </a:moveTo>
                  <a:lnTo>
                    <a:pt x="460082" y="179539"/>
                  </a:lnTo>
                  <a:lnTo>
                    <a:pt x="452577" y="186143"/>
                  </a:lnTo>
                  <a:lnTo>
                    <a:pt x="459181" y="193662"/>
                  </a:lnTo>
                  <a:lnTo>
                    <a:pt x="466686" y="187045"/>
                  </a:lnTo>
                  <a:close/>
                </a:path>
                <a:path w="511810" h="579754">
                  <a:moveTo>
                    <a:pt x="475411" y="146824"/>
                  </a:moveTo>
                  <a:lnTo>
                    <a:pt x="465759" y="144208"/>
                  </a:lnTo>
                  <a:lnTo>
                    <a:pt x="463143" y="153873"/>
                  </a:lnTo>
                  <a:lnTo>
                    <a:pt x="472808" y="156476"/>
                  </a:lnTo>
                  <a:lnTo>
                    <a:pt x="475411" y="146824"/>
                  </a:lnTo>
                  <a:close/>
                </a:path>
                <a:path w="511810" h="579754">
                  <a:moveTo>
                    <a:pt x="481711" y="173837"/>
                  </a:moveTo>
                  <a:lnTo>
                    <a:pt x="475094" y="166331"/>
                  </a:lnTo>
                  <a:lnTo>
                    <a:pt x="471995" y="169049"/>
                  </a:lnTo>
                  <a:lnTo>
                    <a:pt x="470331" y="163372"/>
                  </a:lnTo>
                  <a:lnTo>
                    <a:pt x="460743" y="166204"/>
                  </a:lnTo>
                  <a:lnTo>
                    <a:pt x="463575" y="175793"/>
                  </a:lnTo>
                  <a:lnTo>
                    <a:pt x="468757" y="174269"/>
                  </a:lnTo>
                  <a:lnTo>
                    <a:pt x="474192" y="180441"/>
                  </a:lnTo>
                  <a:lnTo>
                    <a:pt x="481711" y="173837"/>
                  </a:lnTo>
                  <a:close/>
                </a:path>
                <a:path w="511810" h="579754">
                  <a:moveTo>
                    <a:pt x="496722" y="160616"/>
                  </a:moveTo>
                  <a:lnTo>
                    <a:pt x="493407" y="156870"/>
                  </a:lnTo>
                  <a:lnTo>
                    <a:pt x="494715" y="152044"/>
                  </a:lnTo>
                  <a:lnTo>
                    <a:pt x="485063" y="149428"/>
                  </a:lnTo>
                  <a:lnTo>
                    <a:pt x="482460" y="159080"/>
                  </a:lnTo>
                  <a:lnTo>
                    <a:pt x="483108" y="159270"/>
                  </a:lnTo>
                  <a:lnTo>
                    <a:pt x="482600" y="159715"/>
                  </a:lnTo>
                  <a:lnTo>
                    <a:pt x="479933" y="160553"/>
                  </a:lnTo>
                  <a:lnTo>
                    <a:pt x="482752" y="170141"/>
                  </a:lnTo>
                  <a:lnTo>
                    <a:pt x="492353" y="167322"/>
                  </a:lnTo>
                  <a:lnTo>
                    <a:pt x="491680" y="165061"/>
                  </a:lnTo>
                  <a:lnTo>
                    <a:pt x="496722" y="160616"/>
                  </a:lnTo>
                  <a:close/>
                </a:path>
                <a:path w="511810" h="579754">
                  <a:moveTo>
                    <a:pt x="511543" y="161658"/>
                  </a:moveTo>
                  <a:lnTo>
                    <a:pt x="508711" y="152069"/>
                  </a:lnTo>
                  <a:lnTo>
                    <a:pt x="499122" y="154901"/>
                  </a:lnTo>
                  <a:lnTo>
                    <a:pt x="501942" y="164490"/>
                  </a:lnTo>
                  <a:lnTo>
                    <a:pt x="511543" y="16165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97881" y="2711703"/>
            <a:ext cx="3244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37911" y="5397398"/>
            <a:ext cx="2032000" cy="63309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453390">
              <a:lnSpc>
                <a:spcPct val="100000"/>
              </a:lnSpc>
              <a:spcBef>
                <a:spcPts val="195"/>
              </a:spcBef>
              <a:tabLst>
                <a:tab pos="842010" algn="l"/>
                <a:tab pos="1110615" algn="l"/>
                <a:tab pos="1379220" algn="l"/>
                <a:tab pos="1647825" algn="l"/>
              </a:tabLst>
            </a:pP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SK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21273" y="5461982"/>
            <a:ext cx="3686810" cy="1160780"/>
          </a:xfrm>
          <a:prstGeom prst="rect">
            <a:avLst/>
          </a:prstGeom>
          <a:ln w="10001">
            <a:solidFill>
              <a:srgbClr val="7F7F7F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765"/>
              </a:spcBef>
              <a:tabLst>
                <a:tab pos="570865" algn="l"/>
              </a:tabLst>
            </a:pPr>
            <a:r>
              <a:rPr sz="1600" spc="-25" dirty="0">
                <a:solidFill>
                  <a:srgbClr val="292934"/>
                </a:solidFill>
                <a:latin typeface="Verdana"/>
                <a:cs typeface="Verdana"/>
              </a:rPr>
              <a:t>TR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	–</a:t>
            </a:r>
            <a:r>
              <a:rPr sz="16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endParaRPr sz="1600">
              <a:latin typeface="Verdana"/>
              <a:cs typeface="Verdana"/>
            </a:endParaRPr>
          </a:p>
          <a:p>
            <a:pPr marL="95885">
              <a:lnSpc>
                <a:spcPts val="1910"/>
              </a:lnSpc>
              <a:tabLst>
                <a:tab pos="570865" algn="l"/>
              </a:tabLst>
            </a:pPr>
            <a:r>
              <a:rPr sz="1600" spc="-25" dirty="0">
                <a:solidFill>
                  <a:srgbClr val="292934"/>
                </a:solidFill>
                <a:latin typeface="Verdana"/>
                <a:cs typeface="Verdana"/>
              </a:rPr>
              <a:t>SK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	–</a:t>
            </a:r>
            <a:r>
              <a:rPr sz="16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6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600">
              <a:latin typeface="Verdana"/>
              <a:cs typeface="Verdana"/>
            </a:endParaRPr>
          </a:p>
          <a:p>
            <a:pPr marL="95885">
              <a:lnSpc>
                <a:spcPts val="1895"/>
              </a:lnSpc>
              <a:tabLst>
                <a:tab pos="570865" algn="l"/>
              </a:tabLst>
            </a:pPr>
            <a:r>
              <a:rPr sz="1600" spc="-50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	–</a:t>
            </a:r>
            <a:r>
              <a:rPr sz="1600" spc="-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neither</a:t>
            </a:r>
            <a:r>
              <a:rPr sz="1600" spc="-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16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nor</a:t>
            </a:r>
            <a:r>
              <a:rPr sz="1600" spc="-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600" spc="-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600">
              <a:latin typeface="Verdana"/>
              <a:cs typeface="Verdana"/>
            </a:endParaRPr>
          </a:p>
          <a:p>
            <a:pPr marL="95885">
              <a:lnSpc>
                <a:spcPts val="1910"/>
              </a:lnSpc>
              <a:tabLst>
                <a:tab pos="570865" algn="l"/>
              </a:tabLst>
            </a:pPr>
            <a:r>
              <a:rPr sz="1600" spc="-50" dirty="0">
                <a:solidFill>
                  <a:srgbClr val="292934"/>
                </a:solidFill>
                <a:latin typeface="Verdana"/>
                <a:cs typeface="Verdana"/>
              </a:rPr>
              <a:t>!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5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(possibly)</a:t>
            </a:r>
            <a:r>
              <a:rPr sz="15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5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15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796" y="4896104"/>
            <a:ext cx="88303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F+,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rewrite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format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us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calculate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21680" y="2720847"/>
            <a:ext cx="45173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Non-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FDs.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9" y="1281672"/>
            <a:ext cx="1856739" cy="1664335"/>
          </a:xfrm>
          <a:custGeom>
            <a:avLst/>
            <a:gdLst/>
            <a:ahLst/>
            <a:cxnLst/>
            <a:rect l="l" t="t" r="r" b="b"/>
            <a:pathLst>
              <a:path w="1856740" h="1664335">
                <a:moveTo>
                  <a:pt x="0" y="0"/>
                </a:moveTo>
                <a:lnTo>
                  <a:pt x="1856231" y="0"/>
                </a:lnTo>
                <a:lnTo>
                  <a:pt x="1856231" y="1664207"/>
                </a:lnTo>
                <a:lnTo>
                  <a:pt x="0" y="1664207"/>
                </a:lnTo>
                <a:lnTo>
                  <a:pt x="0" y="0"/>
                </a:lnTo>
                <a:close/>
              </a:path>
            </a:pathLst>
          </a:custGeom>
          <a:ln w="3333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15573" y="1281672"/>
          <a:ext cx="2230754" cy="1663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930"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55"/>
                        </a:spcBef>
                        <a:tabLst>
                          <a:tab pos="495934" algn="l"/>
                        </a:tabLst>
                      </a:pP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F+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2550" spc="-75" baseline="-8169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2550" baseline="-8169">
                        <a:latin typeface="Verdana"/>
                        <a:cs typeface="Verdan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 marR="12255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r>
                        <a:rPr sz="17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7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700" spc="-2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7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700" spc="-2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297815" algn="l"/>
                        </a:tabLst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	</a:t>
                      </a: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R="11620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7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CD</a:t>
                      </a:r>
                      <a:r>
                        <a:rPr sz="1700" spc="-2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98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07973" y="5900928"/>
            <a:ext cx="5958205" cy="925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100"/>
              </a:spcBef>
            </a:pPr>
            <a:r>
              <a:rPr sz="2100" spc="-8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on,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ways:</a:t>
            </a:r>
            <a:endParaRPr sz="2100">
              <a:latin typeface="Verdana"/>
              <a:cs typeface="Verdana"/>
            </a:endParaRPr>
          </a:p>
          <a:p>
            <a:pPr marL="504190" indent="-238760">
              <a:lnSpc>
                <a:spcPts val="2270"/>
              </a:lnSpc>
              <a:buFont typeface="Arial MT"/>
              <a:buChar char="•"/>
              <a:tabLst>
                <a:tab pos="504190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first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FD,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endParaRPr sz="1900">
              <a:latin typeface="Verdana"/>
              <a:cs typeface="Verdana"/>
            </a:endParaRPr>
          </a:p>
          <a:p>
            <a:pPr marL="504190" indent="-23876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504190" algn="l"/>
              </a:tabLst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longest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(yield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better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solution)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1809" y="3034845"/>
            <a:ext cx="8399145" cy="255778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non-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trivial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SK</a:t>
            </a:r>
            <a:endParaRPr sz="2100">
              <a:latin typeface="Verdana"/>
              <a:cs typeface="Verdana"/>
            </a:endParaRPr>
          </a:p>
          <a:p>
            <a:pPr marL="843915" marR="5080">
              <a:lnSpc>
                <a:spcPts val="2090"/>
              </a:lnSpc>
              <a:spcBef>
                <a:spcPts val="91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key,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trivial,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4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BCDE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violates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BCNF,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break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900">
              <a:latin typeface="Verdana"/>
              <a:cs typeface="Verdana"/>
            </a:endParaRPr>
          </a:p>
          <a:p>
            <a:pPr marL="843915" marR="351155">
              <a:lnSpc>
                <a:spcPts val="2110"/>
              </a:lnSpc>
              <a:spcBef>
                <a:spcPts val="156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key,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trivial,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CE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violates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BCNF,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break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900">
              <a:latin typeface="Verdana"/>
              <a:cs typeface="Verdana"/>
            </a:endParaRPr>
          </a:p>
          <a:p>
            <a:pPr marL="843915" marR="128905">
              <a:lnSpc>
                <a:spcPts val="2090"/>
              </a:lnSpc>
              <a:spcBef>
                <a:spcPts val="165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key,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trivial,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CDE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violates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BCNF,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break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7957" y="1502054"/>
            <a:ext cx="2032000" cy="63309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466725">
              <a:lnSpc>
                <a:spcPct val="100000"/>
              </a:lnSpc>
              <a:spcBef>
                <a:spcPts val="195"/>
              </a:spcBef>
              <a:tabLst>
                <a:tab pos="855344" algn="l"/>
                <a:tab pos="1123950" algn="l"/>
                <a:tab pos="1392555" algn="l"/>
                <a:tab pos="1595755" algn="l"/>
              </a:tabLst>
            </a:pP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SK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8787" y="6183937"/>
            <a:ext cx="1922145" cy="491490"/>
          </a:xfrm>
          <a:prstGeom prst="rect">
            <a:avLst/>
          </a:prstGeom>
          <a:ln w="10001">
            <a:solidFill>
              <a:srgbClr val="0048AA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735"/>
              </a:spcBef>
            </a:pPr>
            <a:r>
              <a:rPr sz="1900" b="1" dirty="0">
                <a:solidFill>
                  <a:srgbClr val="0048AA"/>
                </a:solidFill>
                <a:latin typeface="Verdana"/>
                <a:cs typeface="Verdana"/>
              </a:rPr>
              <a:t>Break</a:t>
            </a:r>
            <a:r>
              <a:rPr sz="1900" b="1" spc="-5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0048AA"/>
                </a:solidFill>
                <a:latin typeface="Verdana"/>
                <a:cs typeface="Verdana"/>
              </a:rPr>
              <a:t>on</a:t>
            </a:r>
            <a:r>
              <a:rPr sz="1900" b="1" spc="-55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900" b="1" spc="-50" dirty="0">
                <a:solidFill>
                  <a:srgbClr val="0048AA"/>
                </a:solidFill>
                <a:latin typeface="Verdana"/>
                <a:cs typeface="Verdana"/>
              </a:rPr>
              <a:t>B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7: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5" dirty="0"/>
              <a:t> </a:t>
            </a:r>
            <a:r>
              <a:rPr sz="3800" b="0" spc="-25" dirty="0">
                <a:latin typeface="Verdana"/>
                <a:cs typeface="Verdana"/>
              </a:rPr>
              <a:t>(3)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58501" y="1537919"/>
            <a:ext cx="208279" cy="352425"/>
          </a:xfrm>
          <a:custGeom>
            <a:avLst/>
            <a:gdLst/>
            <a:ahLst/>
            <a:cxnLst/>
            <a:rect l="l" t="t" r="r" b="b"/>
            <a:pathLst>
              <a:path w="208280" h="352425">
                <a:moveTo>
                  <a:pt x="0" y="352043"/>
                </a:moveTo>
                <a:lnTo>
                  <a:pt x="208025" y="0"/>
                </a:lnTo>
              </a:path>
            </a:pathLst>
          </a:custGeom>
          <a:ln w="3000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311929" y="1459217"/>
            <a:ext cx="548640" cy="452120"/>
            <a:chOff x="1311929" y="1459217"/>
            <a:chExt cx="548640" cy="452120"/>
          </a:xfrm>
        </p:grpSpPr>
        <p:sp>
          <p:nvSpPr>
            <p:cNvPr id="11" name="object 11"/>
            <p:cNvSpPr/>
            <p:nvPr/>
          </p:nvSpPr>
          <p:spPr>
            <a:xfrm>
              <a:off x="1326931" y="1537919"/>
              <a:ext cx="208279" cy="352425"/>
            </a:xfrm>
            <a:custGeom>
              <a:avLst/>
              <a:gdLst/>
              <a:ahLst/>
              <a:cxnLst/>
              <a:rect l="l" t="t" r="r" b="b"/>
              <a:pathLst>
                <a:path w="208280" h="352425">
                  <a:moveTo>
                    <a:pt x="0" y="352043"/>
                  </a:moveTo>
                  <a:lnTo>
                    <a:pt x="208025" y="0"/>
                  </a:lnTo>
                </a:path>
              </a:pathLst>
            </a:custGeom>
            <a:ln w="3000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46479" y="1469218"/>
              <a:ext cx="304165" cy="432434"/>
            </a:xfrm>
            <a:custGeom>
              <a:avLst/>
              <a:gdLst/>
              <a:ahLst/>
              <a:cxnLst/>
              <a:rect l="l" t="t" r="r" b="b"/>
              <a:pathLst>
                <a:path w="304164" h="432435">
                  <a:moveTo>
                    <a:pt x="0" y="50673"/>
                  </a:moveTo>
                  <a:lnTo>
                    <a:pt x="3982" y="30949"/>
                  </a:lnTo>
                  <a:lnTo>
                    <a:pt x="14842" y="14841"/>
                  </a:lnTo>
                  <a:lnTo>
                    <a:pt x="30949" y="3982"/>
                  </a:lnTo>
                  <a:lnTo>
                    <a:pt x="50673" y="0"/>
                  </a:lnTo>
                  <a:lnTo>
                    <a:pt x="253364" y="0"/>
                  </a:lnTo>
                  <a:lnTo>
                    <a:pt x="273088" y="3982"/>
                  </a:lnTo>
                  <a:lnTo>
                    <a:pt x="289195" y="14841"/>
                  </a:lnTo>
                  <a:lnTo>
                    <a:pt x="300055" y="30949"/>
                  </a:lnTo>
                  <a:lnTo>
                    <a:pt x="304037" y="50673"/>
                  </a:lnTo>
                  <a:lnTo>
                    <a:pt x="304037" y="381380"/>
                  </a:lnTo>
                  <a:lnTo>
                    <a:pt x="300055" y="401104"/>
                  </a:lnTo>
                  <a:lnTo>
                    <a:pt x="289195" y="417211"/>
                  </a:lnTo>
                  <a:lnTo>
                    <a:pt x="273088" y="428071"/>
                  </a:lnTo>
                  <a:lnTo>
                    <a:pt x="253364" y="432053"/>
                  </a:lnTo>
                  <a:lnTo>
                    <a:pt x="50673" y="432053"/>
                  </a:lnTo>
                  <a:lnTo>
                    <a:pt x="30949" y="428071"/>
                  </a:lnTo>
                  <a:lnTo>
                    <a:pt x="14842" y="417211"/>
                  </a:lnTo>
                  <a:lnTo>
                    <a:pt x="3982" y="401104"/>
                  </a:lnTo>
                  <a:lnTo>
                    <a:pt x="0" y="381380"/>
                  </a:lnTo>
                  <a:lnTo>
                    <a:pt x="0" y="50673"/>
                  </a:lnTo>
                  <a:close/>
                </a:path>
              </a:pathLst>
            </a:custGeom>
            <a:ln w="2000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3080" y="5856349"/>
            <a:ext cx="493395" cy="342265"/>
            <a:chOff x="3093080" y="5856349"/>
            <a:chExt cx="493395" cy="342265"/>
          </a:xfrm>
        </p:grpSpPr>
        <p:sp>
          <p:nvSpPr>
            <p:cNvPr id="3" name="object 3"/>
            <p:cNvSpPr/>
            <p:nvPr/>
          </p:nvSpPr>
          <p:spPr>
            <a:xfrm>
              <a:off x="3099747" y="5863017"/>
              <a:ext cx="480059" cy="328930"/>
            </a:xfrm>
            <a:custGeom>
              <a:avLst/>
              <a:gdLst/>
              <a:ahLst/>
              <a:cxnLst/>
              <a:rect l="l" t="t" r="r" b="b"/>
              <a:pathLst>
                <a:path w="480060" h="328929">
                  <a:moveTo>
                    <a:pt x="425278" y="0"/>
                  </a:moveTo>
                  <a:lnTo>
                    <a:pt x="54781" y="0"/>
                  </a:lnTo>
                  <a:lnTo>
                    <a:pt x="33457" y="4304"/>
                  </a:lnTo>
                  <a:lnTo>
                    <a:pt x="16045" y="16045"/>
                  </a:lnTo>
                  <a:lnTo>
                    <a:pt x="4304" y="33457"/>
                  </a:lnTo>
                  <a:lnTo>
                    <a:pt x="0" y="54781"/>
                  </a:lnTo>
                  <a:lnTo>
                    <a:pt x="0" y="273898"/>
                  </a:lnTo>
                  <a:lnTo>
                    <a:pt x="4304" y="295221"/>
                  </a:lnTo>
                  <a:lnTo>
                    <a:pt x="16045" y="312634"/>
                  </a:lnTo>
                  <a:lnTo>
                    <a:pt x="33457" y="324374"/>
                  </a:lnTo>
                  <a:lnTo>
                    <a:pt x="54781" y="328679"/>
                  </a:lnTo>
                  <a:lnTo>
                    <a:pt x="425278" y="328679"/>
                  </a:lnTo>
                  <a:lnTo>
                    <a:pt x="446602" y="324374"/>
                  </a:lnTo>
                  <a:lnTo>
                    <a:pt x="464014" y="312634"/>
                  </a:lnTo>
                  <a:lnTo>
                    <a:pt x="475755" y="295221"/>
                  </a:lnTo>
                  <a:lnTo>
                    <a:pt x="480059" y="273898"/>
                  </a:lnTo>
                  <a:lnTo>
                    <a:pt x="480059" y="54781"/>
                  </a:lnTo>
                  <a:lnTo>
                    <a:pt x="475755" y="33457"/>
                  </a:lnTo>
                  <a:lnTo>
                    <a:pt x="464014" y="16045"/>
                  </a:lnTo>
                  <a:lnTo>
                    <a:pt x="446602" y="4304"/>
                  </a:lnTo>
                  <a:lnTo>
                    <a:pt x="42527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99747" y="5863017"/>
              <a:ext cx="480059" cy="328930"/>
            </a:xfrm>
            <a:custGeom>
              <a:avLst/>
              <a:gdLst/>
              <a:ahLst/>
              <a:cxnLst/>
              <a:rect l="l" t="t" r="r" b="b"/>
              <a:pathLst>
                <a:path w="480060" h="328929">
                  <a:moveTo>
                    <a:pt x="0" y="54781"/>
                  </a:moveTo>
                  <a:lnTo>
                    <a:pt x="4304" y="33457"/>
                  </a:lnTo>
                  <a:lnTo>
                    <a:pt x="16045" y="16045"/>
                  </a:lnTo>
                  <a:lnTo>
                    <a:pt x="33457" y="4304"/>
                  </a:lnTo>
                  <a:lnTo>
                    <a:pt x="54781" y="0"/>
                  </a:lnTo>
                  <a:lnTo>
                    <a:pt x="425278" y="0"/>
                  </a:lnTo>
                  <a:lnTo>
                    <a:pt x="446602" y="4304"/>
                  </a:lnTo>
                  <a:lnTo>
                    <a:pt x="464014" y="16045"/>
                  </a:lnTo>
                  <a:lnTo>
                    <a:pt x="475754" y="33457"/>
                  </a:lnTo>
                  <a:lnTo>
                    <a:pt x="480059" y="54781"/>
                  </a:lnTo>
                  <a:lnTo>
                    <a:pt x="480059" y="273898"/>
                  </a:lnTo>
                  <a:lnTo>
                    <a:pt x="475754" y="295221"/>
                  </a:lnTo>
                  <a:lnTo>
                    <a:pt x="464014" y="312634"/>
                  </a:lnTo>
                  <a:lnTo>
                    <a:pt x="446602" y="324374"/>
                  </a:lnTo>
                  <a:lnTo>
                    <a:pt x="425278" y="328679"/>
                  </a:lnTo>
                  <a:lnTo>
                    <a:pt x="54781" y="328679"/>
                  </a:lnTo>
                  <a:lnTo>
                    <a:pt x="33457" y="324374"/>
                  </a:lnTo>
                  <a:lnTo>
                    <a:pt x="16045" y="312634"/>
                  </a:lnTo>
                  <a:lnTo>
                    <a:pt x="4304" y="295221"/>
                  </a:lnTo>
                  <a:lnTo>
                    <a:pt x="0" y="273898"/>
                  </a:lnTo>
                  <a:lnTo>
                    <a:pt x="0" y="54781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542472" y="3387945"/>
            <a:ext cx="1520190" cy="342265"/>
            <a:chOff x="4542472" y="3387945"/>
            <a:chExt cx="1520190" cy="342265"/>
          </a:xfrm>
        </p:grpSpPr>
        <p:sp>
          <p:nvSpPr>
            <p:cNvPr id="6" name="object 6"/>
            <p:cNvSpPr/>
            <p:nvPr/>
          </p:nvSpPr>
          <p:spPr>
            <a:xfrm>
              <a:off x="4549139" y="3394613"/>
              <a:ext cx="1506855" cy="328930"/>
            </a:xfrm>
            <a:custGeom>
              <a:avLst/>
              <a:gdLst/>
              <a:ahLst/>
              <a:cxnLst/>
              <a:rect l="l" t="t" r="r" b="b"/>
              <a:pathLst>
                <a:path w="1506854" h="328929">
                  <a:moveTo>
                    <a:pt x="1452074" y="0"/>
                  </a:moveTo>
                  <a:lnTo>
                    <a:pt x="54780" y="0"/>
                  </a:lnTo>
                  <a:lnTo>
                    <a:pt x="33457" y="4304"/>
                  </a:lnTo>
                  <a:lnTo>
                    <a:pt x="16044" y="16044"/>
                  </a:lnTo>
                  <a:lnTo>
                    <a:pt x="4304" y="33457"/>
                  </a:lnTo>
                  <a:lnTo>
                    <a:pt x="0" y="54780"/>
                  </a:lnTo>
                  <a:lnTo>
                    <a:pt x="0" y="273899"/>
                  </a:lnTo>
                  <a:lnTo>
                    <a:pt x="4304" y="295222"/>
                  </a:lnTo>
                  <a:lnTo>
                    <a:pt x="16044" y="312634"/>
                  </a:lnTo>
                  <a:lnTo>
                    <a:pt x="33457" y="324374"/>
                  </a:lnTo>
                  <a:lnTo>
                    <a:pt x="54780" y="328679"/>
                  </a:lnTo>
                  <a:lnTo>
                    <a:pt x="1452074" y="328679"/>
                  </a:lnTo>
                  <a:lnTo>
                    <a:pt x="1473397" y="324374"/>
                  </a:lnTo>
                  <a:lnTo>
                    <a:pt x="1490810" y="312634"/>
                  </a:lnTo>
                  <a:lnTo>
                    <a:pt x="1502550" y="295222"/>
                  </a:lnTo>
                  <a:lnTo>
                    <a:pt x="1506855" y="273899"/>
                  </a:lnTo>
                  <a:lnTo>
                    <a:pt x="1506855" y="54780"/>
                  </a:lnTo>
                  <a:lnTo>
                    <a:pt x="1502550" y="33457"/>
                  </a:lnTo>
                  <a:lnTo>
                    <a:pt x="1490810" y="16044"/>
                  </a:lnTo>
                  <a:lnTo>
                    <a:pt x="1473397" y="4304"/>
                  </a:lnTo>
                  <a:lnTo>
                    <a:pt x="1452074" y="0"/>
                  </a:lnTo>
                  <a:close/>
                </a:path>
              </a:pathLst>
            </a:custGeom>
            <a:solidFill>
              <a:srgbClr val="F6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49139" y="3394613"/>
              <a:ext cx="1506855" cy="328930"/>
            </a:xfrm>
            <a:custGeom>
              <a:avLst/>
              <a:gdLst/>
              <a:ahLst/>
              <a:cxnLst/>
              <a:rect l="l" t="t" r="r" b="b"/>
              <a:pathLst>
                <a:path w="1506854" h="328929">
                  <a:moveTo>
                    <a:pt x="0" y="54780"/>
                  </a:moveTo>
                  <a:lnTo>
                    <a:pt x="4304" y="33457"/>
                  </a:lnTo>
                  <a:lnTo>
                    <a:pt x="16044" y="16044"/>
                  </a:lnTo>
                  <a:lnTo>
                    <a:pt x="33457" y="4304"/>
                  </a:lnTo>
                  <a:lnTo>
                    <a:pt x="54780" y="0"/>
                  </a:lnTo>
                  <a:lnTo>
                    <a:pt x="1452075" y="0"/>
                  </a:lnTo>
                  <a:lnTo>
                    <a:pt x="1473397" y="4304"/>
                  </a:lnTo>
                  <a:lnTo>
                    <a:pt x="1490810" y="16044"/>
                  </a:lnTo>
                  <a:lnTo>
                    <a:pt x="1502549" y="33457"/>
                  </a:lnTo>
                  <a:lnTo>
                    <a:pt x="1506854" y="54780"/>
                  </a:lnTo>
                  <a:lnTo>
                    <a:pt x="1506854" y="273899"/>
                  </a:lnTo>
                  <a:lnTo>
                    <a:pt x="1502549" y="295222"/>
                  </a:lnTo>
                  <a:lnTo>
                    <a:pt x="1490810" y="312634"/>
                  </a:lnTo>
                  <a:lnTo>
                    <a:pt x="1473397" y="324374"/>
                  </a:lnTo>
                  <a:lnTo>
                    <a:pt x="1452075" y="328679"/>
                  </a:lnTo>
                  <a:lnTo>
                    <a:pt x="54780" y="328679"/>
                  </a:lnTo>
                  <a:lnTo>
                    <a:pt x="33457" y="324374"/>
                  </a:lnTo>
                  <a:lnTo>
                    <a:pt x="16044" y="312634"/>
                  </a:lnTo>
                  <a:lnTo>
                    <a:pt x="4304" y="295222"/>
                  </a:lnTo>
                  <a:lnTo>
                    <a:pt x="0" y="273899"/>
                  </a:lnTo>
                  <a:lnTo>
                    <a:pt x="0" y="54780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542472" y="5187175"/>
            <a:ext cx="1520190" cy="342265"/>
            <a:chOff x="4542472" y="5187175"/>
            <a:chExt cx="1520190" cy="342265"/>
          </a:xfrm>
        </p:grpSpPr>
        <p:sp>
          <p:nvSpPr>
            <p:cNvPr id="9" name="object 9"/>
            <p:cNvSpPr/>
            <p:nvPr/>
          </p:nvSpPr>
          <p:spPr>
            <a:xfrm>
              <a:off x="4549139" y="5193842"/>
              <a:ext cx="1506855" cy="328930"/>
            </a:xfrm>
            <a:custGeom>
              <a:avLst/>
              <a:gdLst/>
              <a:ahLst/>
              <a:cxnLst/>
              <a:rect l="l" t="t" r="r" b="b"/>
              <a:pathLst>
                <a:path w="1506854" h="328929">
                  <a:moveTo>
                    <a:pt x="1452074" y="0"/>
                  </a:moveTo>
                  <a:lnTo>
                    <a:pt x="54780" y="0"/>
                  </a:lnTo>
                  <a:lnTo>
                    <a:pt x="33457" y="4304"/>
                  </a:lnTo>
                  <a:lnTo>
                    <a:pt x="16044" y="16044"/>
                  </a:lnTo>
                  <a:lnTo>
                    <a:pt x="4304" y="33457"/>
                  </a:lnTo>
                  <a:lnTo>
                    <a:pt x="0" y="54780"/>
                  </a:lnTo>
                  <a:lnTo>
                    <a:pt x="0" y="273899"/>
                  </a:lnTo>
                  <a:lnTo>
                    <a:pt x="4304" y="295222"/>
                  </a:lnTo>
                  <a:lnTo>
                    <a:pt x="16044" y="312634"/>
                  </a:lnTo>
                  <a:lnTo>
                    <a:pt x="33457" y="324374"/>
                  </a:lnTo>
                  <a:lnTo>
                    <a:pt x="54780" y="328679"/>
                  </a:lnTo>
                  <a:lnTo>
                    <a:pt x="1452074" y="328679"/>
                  </a:lnTo>
                  <a:lnTo>
                    <a:pt x="1473397" y="324374"/>
                  </a:lnTo>
                  <a:lnTo>
                    <a:pt x="1490810" y="312634"/>
                  </a:lnTo>
                  <a:lnTo>
                    <a:pt x="1502550" y="295222"/>
                  </a:lnTo>
                  <a:lnTo>
                    <a:pt x="1506855" y="273899"/>
                  </a:lnTo>
                  <a:lnTo>
                    <a:pt x="1506855" y="54780"/>
                  </a:lnTo>
                  <a:lnTo>
                    <a:pt x="1502550" y="33457"/>
                  </a:lnTo>
                  <a:lnTo>
                    <a:pt x="1490810" y="16044"/>
                  </a:lnTo>
                  <a:lnTo>
                    <a:pt x="1473397" y="4304"/>
                  </a:lnTo>
                  <a:lnTo>
                    <a:pt x="1452074" y="0"/>
                  </a:lnTo>
                  <a:close/>
                </a:path>
              </a:pathLst>
            </a:custGeom>
            <a:solidFill>
              <a:srgbClr val="F6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49139" y="5193842"/>
              <a:ext cx="1506855" cy="328930"/>
            </a:xfrm>
            <a:custGeom>
              <a:avLst/>
              <a:gdLst/>
              <a:ahLst/>
              <a:cxnLst/>
              <a:rect l="l" t="t" r="r" b="b"/>
              <a:pathLst>
                <a:path w="1506854" h="328929">
                  <a:moveTo>
                    <a:pt x="0" y="54780"/>
                  </a:moveTo>
                  <a:lnTo>
                    <a:pt x="4304" y="33457"/>
                  </a:lnTo>
                  <a:lnTo>
                    <a:pt x="16044" y="16044"/>
                  </a:lnTo>
                  <a:lnTo>
                    <a:pt x="33457" y="4304"/>
                  </a:lnTo>
                  <a:lnTo>
                    <a:pt x="54780" y="0"/>
                  </a:lnTo>
                  <a:lnTo>
                    <a:pt x="1452075" y="0"/>
                  </a:lnTo>
                  <a:lnTo>
                    <a:pt x="1473397" y="4304"/>
                  </a:lnTo>
                  <a:lnTo>
                    <a:pt x="1490810" y="16044"/>
                  </a:lnTo>
                  <a:lnTo>
                    <a:pt x="1502549" y="33457"/>
                  </a:lnTo>
                  <a:lnTo>
                    <a:pt x="1506854" y="54780"/>
                  </a:lnTo>
                  <a:lnTo>
                    <a:pt x="1506854" y="273899"/>
                  </a:lnTo>
                  <a:lnTo>
                    <a:pt x="1502549" y="295222"/>
                  </a:lnTo>
                  <a:lnTo>
                    <a:pt x="1490810" y="312634"/>
                  </a:lnTo>
                  <a:lnTo>
                    <a:pt x="1473397" y="324374"/>
                  </a:lnTo>
                  <a:lnTo>
                    <a:pt x="1452075" y="328679"/>
                  </a:lnTo>
                  <a:lnTo>
                    <a:pt x="54780" y="328679"/>
                  </a:lnTo>
                  <a:lnTo>
                    <a:pt x="33457" y="324374"/>
                  </a:lnTo>
                  <a:lnTo>
                    <a:pt x="16044" y="312634"/>
                  </a:lnTo>
                  <a:lnTo>
                    <a:pt x="4304" y="295222"/>
                  </a:lnTo>
                  <a:lnTo>
                    <a:pt x="0" y="273899"/>
                  </a:lnTo>
                  <a:lnTo>
                    <a:pt x="0" y="54780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542472" y="1603046"/>
            <a:ext cx="1520190" cy="342265"/>
            <a:chOff x="4542472" y="1603046"/>
            <a:chExt cx="1520190" cy="342265"/>
          </a:xfrm>
        </p:grpSpPr>
        <p:sp>
          <p:nvSpPr>
            <p:cNvPr id="12" name="object 12"/>
            <p:cNvSpPr/>
            <p:nvPr/>
          </p:nvSpPr>
          <p:spPr>
            <a:xfrm>
              <a:off x="4549139" y="1609713"/>
              <a:ext cx="1506855" cy="328930"/>
            </a:xfrm>
            <a:custGeom>
              <a:avLst/>
              <a:gdLst/>
              <a:ahLst/>
              <a:cxnLst/>
              <a:rect l="l" t="t" r="r" b="b"/>
              <a:pathLst>
                <a:path w="1506854" h="328930">
                  <a:moveTo>
                    <a:pt x="1452074" y="0"/>
                  </a:moveTo>
                  <a:lnTo>
                    <a:pt x="54780" y="0"/>
                  </a:lnTo>
                  <a:lnTo>
                    <a:pt x="33457" y="4304"/>
                  </a:lnTo>
                  <a:lnTo>
                    <a:pt x="16044" y="16044"/>
                  </a:lnTo>
                  <a:lnTo>
                    <a:pt x="4304" y="33457"/>
                  </a:lnTo>
                  <a:lnTo>
                    <a:pt x="0" y="54780"/>
                  </a:lnTo>
                  <a:lnTo>
                    <a:pt x="0" y="273899"/>
                  </a:lnTo>
                  <a:lnTo>
                    <a:pt x="4304" y="295222"/>
                  </a:lnTo>
                  <a:lnTo>
                    <a:pt x="16044" y="312634"/>
                  </a:lnTo>
                  <a:lnTo>
                    <a:pt x="33457" y="324374"/>
                  </a:lnTo>
                  <a:lnTo>
                    <a:pt x="54780" y="328679"/>
                  </a:lnTo>
                  <a:lnTo>
                    <a:pt x="1452074" y="328679"/>
                  </a:lnTo>
                  <a:lnTo>
                    <a:pt x="1473397" y="324374"/>
                  </a:lnTo>
                  <a:lnTo>
                    <a:pt x="1490810" y="312634"/>
                  </a:lnTo>
                  <a:lnTo>
                    <a:pt x="1502550" y="295222"/>
                  </a:lnTo>
                  <a:lnTo>
                    <a:pt x="1506855" y="273899"/>
                  </a:lnTo>
                  <a:lnTo>
                    <a:pt x="1506855" y="54780"/>
                  </a:lnTo>
                  <a:lnTo>
                    <a:pt x="1502550" y="33457"/>
                  </a:lnTo>
                  <a:lnTo>
                    <a:pt x="1490810" y="16044"/>
                  </a:lnTo>
                  <a:lnTo>
                    <a:pt x="1473397" y="4304"/>
                  </a:lnTo>
                  <a:lnTo>
                    <a:pt x="1452074" y="0"/>
                  </a:lnTo>
                  <a:close/>
                </a:path>
              </a:pathLst>
            </a:custGeom>
            <a:solidFill>
              <a:srgbClr val="F6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49139" y="1609713"/>
              <a:ext cx="1506855" cy="328930"/>
            </a:xfrm>
            <a:custGeom>
              <a:avLst/>
              <a:gdLst/>
              <a:ahLst/>
              <a:cxnLst/>
              <a:rect l="l" t="t" r="r" b="b"/>
              <a:pathLst>
                <a:path w="1506854" h="328930">
                  <a:moveTo>
                    <a:pt x="0" y="54780"/>
                  </a:moveTo>
                  <a:lnTo>
                    <a:pt x="4304" y="33457"/>
                  </a:lnTo>
                  <a:lnTo>
                    <a:pt x="16044" y="16044"/>
                  </a:lnTo>
                  <a:lnTo>
                    <a:pt x="33457" y="4304"/>
                  </a:lnTo>
                  <a:lnTo>
                    <a:pt x="54780" y="0"/>
                  </a:lnTo>
                  <a:lnTo>
                    <a:pt x="1452075" y="0"/>
                  </a:lnTo>
                  <a:lnTo>
                    <a:pt x="1473397" y="4304"/>
                  </a:lnTo>
                  <a:lnTo>
                    <a:pt x="1490810" y="16044"/>
                  </a:lnTo>
                  <a:lnTo>
                    <a:pt x="1502549" y="33457"/>
                  </a:lnTo>
                  <a:lnTo>
                    <a:pt x="1506854" y="54780"/>
                  </a:lnTo>
                  <a:lnTo>
                    <a:pt x="1506854" y="273899"/>
                  </a:lnTo>
                  <a:lnTo>
                    <a:pt x="1502549" y="295222"/>
                  </a:lnTo>
                  <a:lnTo>
                    <a:pt x="1490810" y="312634"/>
                  </a:lnTo>
                  <a:lnTo>
                    <a:pt x="1473397" y="324374"/>
                  </a:lnTo>
                  <a:lnTo>
                    <a:pt x="1452075" y="328679"/>
                  </a:lnTo>
                  <a:lnTo>
                    <a:pt x="54780" y="328679"/>
                  </a:lnTo>
                  <a:lnTo>
                    <a:pt x="33457" y="324374"/>
                  </a:lnTo>
                  <a:lnTo>
                    <a:pt x="16044" y="312634"/>
                  </a:lnTo>
                  <a:lnTo>
                    <a:pt x="4304" y="295222"/>
                  </a:lnTo>
                  <a:lnTo>
                    <a:pt x="0" y="273899"/>
                  </a:lnTo>
                  <a:lnTo>
                    <a:pt x="0" y="54780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75622" y="4041361"/>
            <a:ext cx="666750" cy="342265"/>
            <a:chOff x="3075622" y="4041361"/>
            <a:chExt cx="666750" cy="342265"/>
          </a:xfrm>
        </p:grpSpPr>
        <p:sp>
          <p:nvSpPr>
            <p:cNvPr id="15" name="object 15"/>
            <p:cNvSpPr/>
            <p:nvPr/>
          </p:nvSpPr>
          <p:spPr>
            <a:xfrm>
              <a:off x="3082290" y="4048028"/>
              <a:ext cx="653415" cy="328930"/>
            </a:xfrm>
            <a:custGeom>
              <a:avLst/>
              <a:gdLst/>
              <a:ahLst/>
              <a:cxnLst/>
              <a:rect l="l" t="t" r="r" b="b"/>
              <a:pathLst>
                <a:path w="653414" h="328929">
                  <a:moveTo>
                    <a:pt x="598634" y="0"/>
                  </a:moveTo>
                  <a:lnTo>
                    <a:pt x="54780" y="0"/>
                  </a:lnTo>
                  <a:lnTo>
                    <a:pt x="33457" y="4304"/>
                  </a:lnTo>
                  <a:lnTo>
                    <a:pt x="16044" y="16044"/>
                  </a:lnTo>
                  <a:lnTo>
                    <a:pt x="4304" y="33457"/>
                  </a:lnTo>
                  <a:lnTo>
                    <a:pt x="0" y="54780"/>
                  </a:lnTo>
                  <a:lnTo>
                    <a:pt x="0" y="273898"/>
                  </a:lnTo>
                  <a:lnTo>
                    <a:pt x="4304" y="295221"/>
                  </a:lnTo>
                  <a:lnTo>
                    <a:pt x="16044" y="312633"/>
                  </a:lnTo>
                  <a:lnTo>
                    <a:pt x="33457" y="324373"/>
                  </a:lnTo>
                  <a:lnTo>
                    <a:pt x="54780" y="328678"/>
                  </a:lnTo>
                  <a:lnTo>
                    <a:pt x="598634" y="328678"/>
                  </a:lnTo>
                  <a:lnTo>
                    <a:pt x="619957" y="324373"/>
                  </a:lnTo>
                  <a:lnTo>
                    <a:pt x="637370" y="312633"/>
                  </a:lnTo>
                  <a:lnTo>
                    <a:pt x="649110" y="295221"/>
                  </a:lnTo>
                  <a:lnTo>
                    <a:pt x="653414" y="273898"/>
                  </a:lnTo>
                  <a:lnTo>
                    <a:pt x="653414" y="54780"/>
                  </a:lnTo>
                  <a:lnTo>
                    <a:pt x="649110" y="33457"/>
                  </a:lnTo>
                  <a:lnTo>
                    <a:pt x="637370" y="16044"/>
                  </a:lnTo>
                  <a:lnTo>
                    <a:pt x="619957" y="4304"/>
                  </a:lnTo>
                  <a:lnTo>
                    <a:pt x="598634" y="0"/>
                  </a:lnTo>
                  <a:close/>
                </a:path>
              </a:pathLst>
            </a:custGeom>
            <a:solidFill>
              <a:srgbClr val="F6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82290" y="4048028"/>
              <a:ext cx="653415" cy="328930"/>
            </a:xfrm>
            <a:custGeom>
              <a:avLst/>
              <a:gdLst/>
              <a:ahLst/>
              <a:cxnLst/>
              <a:rect l="l" t="t" r="r" b="b"/>
              <a:pathLst>
                <a:path w="653414" h="328929">
                  <a:moveTo>
                    <a:pt x="0" y="54780"/>
                  </a:moveTo>
                  <a:lnTo>
                    <a:pt x="4304" y="33457"/>
                  </a:lnTo>
                  <a:lnTo>
                    <a:pt x="16044" y="16044"/>
                  </a:lnTo>
                  <a:lnTo>
                    <a:pt x="33457" y="4304"/>
                  </a:lnTo>
                  <a:lnTo>
                    <a:pt x="54780" y="0"/>
                  </a:lnTo>
                  <a:lnTo>
                    <a:pt x="598634" y="0"/>
                  </a:lnTo>
                  <a:lnTo>
                    <a:pt x="619957" y="4304"/>
                  </a:lnTo>
                  <a:lnTo>
                    <a:pt x="637370" y="16044"/>
                  </a:lnTo>
                  <a:lnTo>
                    <a:pt x="649110" y="33457"/>
                  </a:lnTo>
                  <a:lnTo>
                    <a:pt x="653414" y="54780"/>
                  </a:lnTo>
                  <a:lnTo>
                    <a:pt x="653414" y="273898"/>
                  </a:lnTo>
                  <a:lnTo>
                    <a:pt x="649110" y="295221"/>
                  </a:lnTo>
                  <a:lnTo>
                    <a:pt x="637370" y="312634"/>
                  </a:lnTo>
                  <a:lnTo>
                    <a:pt x="619957" y="324374"/>
                  </a:lnTo>
                  <a:lnTo>
                    <a:pt x="598634" y="328679"/>
                  </a:lnTo>
                  <a:lnTo>
                    <a:pt x="54780" y="328679"/>
                  </a:lnTo>
                  <a:lnTo>
                    <a:pt x="33457" y="324374"/>
                  </a:lnTo>
                  <a:lnTo>
                    <a:pt x="16044" y="312634"/>
                  </a:lnTo>
                  <a:lnTo>
                    <a:pt x="4304" y="295221"/>
                  </a:lnTo>
                  <a:lnTo>
                    <a:pt x="0" y="273898"/>
                  </a:lnTo>
                  <a:lnTo>
                    <a:pt x="0" y="54780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556182" y="4321395"/>
            <a:ext cx="493395" cy="342265"/>
            <a:chOff x="7556182" y="4321395"/>
            <a:chExt cx="493395" cy="342265"/>
          </a:xfrm>
        </p:grpSpPr>
        <p:sp>
          <p:nvSpPr>
            <p:cNvPr id="18" name="object 18"/>
            <p:cNvSpPr/>
            <p:nvPr/>
          </p:nvSpPr>
          <p:spPr>
            <a:xfrm>
              <a:off x="7562849" y="4328063"/>
              <a:ext cx="480059" cy="328930"/>
            </a:xfrm>
            <a:custGeom>
              <a:avLst/>
              <a:gdLst/>
              <a:ahLst/>
              <a:cxnLst/>
              <a:rect l="l" t="t" r="r" b="b"/>
              <a:pathLst>
                <a:path w="480059" h="328929">
                  <a:moveTo>
                    <a:pt x="425278" y="0"/>
                  </a:moveTo>
                  <a:lnTo>
                    <a:pt x="54781" y="0"/>
                  </a:lnTo>
                  <a:lnTo>
                    <a:pt x="33457" y="4304"/>
                  </a:lnTo>
                  <a:lnTo>
                    <a:pt x="16045" y="16044"/>
                  </a:lnTo>
                  <a:lnTo>
                    <a:pt x="4304" y="33457"/>
                  </a:lnTo>
                  <a:lnTo>
                    <a:pt x="0" y="54780"/>
                  </a:lnTo>
                  <a:lnTo>
                    <a:pt x="0" y="273898"/>
                  </a:lnTo>
                  <a:lnTo>
                    <a:pt x="4304" y="295221"/>
                  </a:lnTo>
                  <a:lnTo>
                    <a:pt x="16045" y="312633"/>
                  </a:lnTo>
                  <a:lnTo>
                    <a:pt x="33457" y="324373"/>
                  </a:lnTo>
                  <a:lnTo>
                    <a:pt x="54781" y="328678"/>
                  </a:lnTo>
                  <a:lnTo>
                    <a:pt x="425278" y="328678"/>
                  </a:lnTo>
                  <a:lnTo>
                    <a:pt x="446602" y="324373"/>
                  </a:lnTo>
                  <a:lnTo>
                    <a:pt x="464014" y="312633"/>
                  </a:lnTo>
                  <a:lnTo>
                    <a:pt x="475755" y="295221"/>
                  </a:lnTo>
                  <a:lnTo>
                    <a:pt x="480059" y="273898"/>
                  </a:lnTo>
                  <a:lnTo>
                    <a:pt x="480059" y="54780"/>
                  </a:lnTo>
                  <a:lnTo>
                    <a:pt x="475755" y="33457"/>
                  </a:lnTo>
                  <a:lnTo>
                    <a:pt x="464014" y="16044"/>
                  </a:lnTo>
                  <a:lnTo>
                    <a:pt x="446602" y="4304"/>
                  </a:lnTo>
                  <a:lnTo>
                    <a:pt x="42527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62849" y="4328063"/>
              <a:ext cx="480059" cy="328930"/>
            </a:xfrm>
            <a:custGeom>
              <a:avLst/>
              <a:gdLst/>
              <a:ahLst/>
              <a:cxnLst/>
              <a:rect l="l" t="t" r="r" b="b"/>
              <a:pathLst>
                <a:path w="480059" h="328929">
                  <a:moveTo>
                    <a:pt x="0" y="54781"/>
                  </a:moveTo>
                  <a:lnTo>
                    <a:pt x="4304" y="33457"/>
                  </a:lnTo>
                  <a:lnTo>
                    <a:pt x="16045" y="16045"/>
                  </a:lnTo>
                  <a:lnTo>
                    <a:pt x="33457" y="4304"/>
                  </a:lnTo>
                  <a:lnTo>
                    <a:pt x="54781" y="0"/>
                  </a:lnTo>
                  <a:lnTo>
                    <a:pt x="425278" y="0"/>
                  </a:lnTo>
                  <a:lnTo>
                    <a:pt x="446602" y="4304"/>
                  </a:lnTo>
                  <a:lnTo>
                    <a:pt x="464014" y="16045"/>
                  </a:lnTo>
                  <a:lnTo>
                    <a:pt x="475754" y="33457"/>
                  </a:lnTo>
                  <a:lnTo>
                    <a:pt x="480059" y="54781"/>
                  </a:lnTo>
                  <a:lnTo>
                    <a:pt x="480059" y="273898"/>
                  </a:lnTo>
                  <a:lnTo>
                    <a:pt x="475754" y="295221"/>
                  </a:lnTo>
                  <a:lnTo>
                    <a:pt x="464014" y="312634"/>
                  </a:lnTo>
                  <a:lnTo>
                    <a:pt x="446602" y="324374"/>
                  </a:lnTo>
                  <a:lnTo>
                    <a:pt x="425278" y="328679"/>
                  </a:lnTo>
                  <a:lnTo>
                    <a:pt x="54781" y="328679"/>
                  </a:lnTo>
                  <a:lnTo>
                    <a:pt x="33457" y="324374"/>
                  </a:lnTo>
                  <a:lnTo>
                    <a:pt x="16045" y="312634"/>
                  </a:lnTo>
                  <a:lnTo>
                    <a:pt x="4304" y="295221"/>
                  </a:lnTo>
                  <a:lnTo>
                    <a:pt x="0" y="273898"/>
                  </a:lnTo>
                  <a:lnTo>
                    <a:pt x="0" y="54781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219567" y="4184903"/>
            <a:ext cx="1392555" cy="6108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ct val="78000"/>
              </a:lnSpc>
              <a:spcBef>
                <a:spcPts val="495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are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only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attrs,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this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relation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ok.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75622" y="2269796"/>
            <a:ext cx="826769" cy="342265"/>
            <a:chOff x="3075622" y="2269796"/>
            <a:chExt cx="826769" cy="342265"/>
          </a:xfrm>
        </p:grpSpPr>
        <p:sp>
          <p:nvSpPr>
            <p:cNvPr id="22" name="object 22"/>
            <p:cNvSpPr/>
            <p:nvPr/>
          </p:nvSpPr>
          <p:spPr>
            <a:xfrm>
              <a:off x="3082290" y="2276463"/>
              <a:ext cx="813435" cy="328930"/>
            </a:xfrm>
            <a:custGeom>
              <a:avLst/>
              <a:gdLst/>
              <a:ahLst/>
              <a:cxnLst/>
              <a:rect l="l" t="t" r="r" b="b"/>
              <a:pathLst>
                <a:path w="813435" h="328930">
                  <a:moveTo>
                    <a:pt x="758654" y="0"/>
                  </a:moveTo>
                  <a:lnTo>
                    <a:pt x="54780" y="0"/>
                  </a:lnTo>
                  <a:lnTo>
                    <a:pt x="33457" y="4304"/>
                  </a:lnTo>
                  <a:lnTo>
                    <a:pt x="16044" y="16045"/>
                  </a:lnTo>
                  <a:lnTo>
                    <a:pt x="4304" y="33457"/>
                  </a:lnTo>
                  <a:lnTo>
                    <a:pt x="0" y="54781"/>
                  </a:lnTo>
                  <a:lnTo>
                    <a:pt x="0" y="273899"/>
                  </a:lnTo>
                  <a:lnTo>
                    <a:pt x="4304" y="295222"/>
                  </a:lnTo>
                  <a:lnTo>
                    <a:pt x="16044" y="312634"/>
                  </a:lnTo>
                  <a:lnTo>
                    <a:pt x="33457" y="324374"/>
                  </a:lnTo>
                  <a:lnTo>
                    <a:pt x="54780" y="328679"/>
                  </a:lnTo>
                  <a:lnTo>
                    <a:pt x="758654" y="328679"/>
                  </a:lnTo>
                  <a:lnTo>
                    <a:pt x="779977" y="324374"/>
                  </a:lnTo>
                  <a:lnTo>
                    <a:pt x="797390" y="312634"/>
                  </a:lnTo>
                  <a:lnTo>
                    <a:pt x="809130" y="295222"/>
                  </a:lnTo>
                  <a:lnTo>
                    <a:pt x="813435" y="273899"/>
                  </a:lnTo>
                  <a:lnTo>
                    <a:pt x="813435" y="54781"/>
                  </a:lnTo>
                  <a:lnTo>
                    <a:pt x="809130" y="33457"/>
                  </a:lnTo>
                  <a:lnTo>
                    <a:pt x="797390" y="16045"/>
                  </a:lnTo>
                  <a:lnTo>
                    <a:pt x="779977" y="4304"/>
                  </a:lnTo>
                  <a:lnTo>
                    <a:pt x="758654" y="0"/>
                  </a:lnTo>
                  <a:close/>
                </a:path>
              </a:pathLst>
            </a:custGeom>
            <a:solidFill>
              <a:srgbClr val="F6D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82290" y="2276463"/>
              <a:ext cx="813435" cy="328930"/>
            </a:xfrm>
            <a:custGeom>
              <a:avLst/>
              <a:gdLst/>
              <a:ahLst/>
              <a:cxnLst/>
              <a:rect l="l" t="t" r="r" b="b"/>
              <a:pathLst>
                <a:path w="813435" h="328930">
                  <a:moveTo>
                    <a:pt x="0" y="54780"/>
                  </a:moveTo>
                  <a:lnTo>
                    <a:pt x="4304" y="33457"/>
                  </a:lnTo>
                  <a:lnTo>
                    <a:pt x="16044" y="16044"/>
                  </a:lnTo>
                  <a:lnTo>
                    <a:pt x="33457" y="4304"/>
                  </a:lnTo>
                  <a:lnTo>
                    <a:pt x="54780" y="0"/>
                  </a:lnTo>
                  <a:lnTo>
                    <a:pt x="758654" y="0"/>
                  </a:lnTo>
                  <a:lnTo>
                    <a:pt x="779977" y="4304"/>
                  </a:lnTo>
                  <a:lnTo>
                    <a:pt x="797390" y="16044"/>
                  </a:lnTo>
                  <a:lnTo>
                    <a:pt x="809129" y="33457"/>
                  </a:lnTo>
                  <a:lnTo>
                    <a:pt x="813434" y="54780"/>
                  </a:lnTo>
                  <a:lnTo>
                    <a:pt x="813434" y="273898"/>
                  </a:lnTo>
                  <a:lnTo>
                    <a:pt x="809129" y="295221"/>
                  </a:lnTo>
                  <a:lnTo>
                    <a:pt x="797390" y="312634"/>
                  </a:lnTo>
                  <a:lnTo>
                    <a:pt x="779977" y="324374"/>
                  </a:lnTo>
                  <a:lnTo>
                    <a:pt x="758654" y="328679"/>
                  </a:lnTo>
                  <a:lnTo>
                    <a:pt x="54780" y="328679"/>
                  </a:lnTo>
                  <a:lnTo>
                    <a:pt x="33457" y="324374"/>
                  </a:lnTo>
                  <a:lnTo>
                    <a:pt x="16044" y="312634"/>
                  </a:lnTo>
                  <a:lnTo>
                    <a:pt x="4304" y="295221"/>
                  </a:lnTo>
                  <a:lnTo>
                    <a:pt x="0" y="273898"/>
                  </a:lnTo>
                  <a:lnTo>
                    <a:pt x="0" y="54780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556182" y="2549830"/>
            <a:ext cx="493395" cy="342265"/>
            <a:chOff x="7556182" y="2549830"/>
            <a:chExt cx="493395" cy="342265"/>
          </a:xfrm>
        </p:grpSpPr>
        <p:sp>
          <p:nvSpPr>
            <p:cNvPr id="25" name="object 25"/>
            <p:cNvSpPr/>
            <p:nvPr/>
          </p:nvSpPr>
          <p:spPr>
            <a:xfrm>
              <a:off x="7562849" y="2556498"/>
              <a:ext cx="480059" cy="328930"/>
            </a:xfrm>
            <a:custGeom>
              <a:avLst/>
              <a:gdLst/>
              <a:ahLst/>
              <a:cxnLst/>
              <a:rect l="l" t="t" r="r" b="b"/>
              <a:pathLst>
                <a:path w="480059" h="328930">
                  <a:moveTo>
                    <a:pt x="425278" y="0"/>
                  </a:moveTo>
                  <a:lnTo>
                    <a:pt x="54781" y="0"/>
                  </a:lnTo>
                  <a:lnTo>
                    <a:pt x="33457" y="4305"/>
                  </a:lnTo>
                  <a:lnTo>
                    <a:pt x="16045" y="16045"/>
                  </a:lnTo>
                  <a:lnTo>
                    <a:pt x="4304" y="33458"/>
                  </a:lnTo>
                  <a:lnTo>
                    <a:pt x="0" y="54781"/>
                  </a:lnTo>
                  <a:lnTo>
                    <a:pt x="0" y="273898"/>
                  </a:lnTo>
                  <a:lnTo>
                    <a:pt x="4304" y="295221"/>
                  </a:lnTo>
                  <a:lnTo>
                    <a:pt x="16045" y="312634"/>
                  </a:lnTo>
                  <a:lnTo>
                    <a:pt x="33457" y="324374"/>
                  </a:lnTo>
                  <a:lnTo>
                    <a:pt x="54781" y="328679"/>
                  </a:lnTo>
                  <a:lnTo>
                    <a:pt x="425278" y="328679"/>
                  </a:lnTo>
                  <a:lnTo>
                    <a:pt x="446602" y="324374"/>
                  </a:lnTo>
                  <a:lnTo>
                    <a:pt x="464014" y="312634"/>
                  </a:lnTo>
                  <a:lnTo>
                    <a:pt x="475755" y="295221"/>
                  </a:lnTo>
                  <a:lnTo>
                    <a:pt x="480059" y="273898"/>
                  </a:lnTo>
                  <a:lnTo>
                    <a:pt x="480059" y="54781"/>
                  </a:lnTo>
                  <a:lnTo>
                    <a:pt x="475755" y="33458"/>
                  </a:lnTo>
                  <a:lnTo>
                    <a:pt x="464014" y="16045"/>
                  </a:lnTo>
                  <a:lnTo>
                    <a:pt x="446602" y="4305"/>
                  </a:lnTo>
                  <a:lnTo>
                    <a:pt x="42527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62849" y="2556498"/>
              <a:ext cx="480059" cy="328930"/>
            </a:xfrm>
            <a:custGeom>
              <a:avLst/>
              <a:gdLst/>
              <a:ahLst/>
              <a:cxnLst/>
              <a:rect l="l" t="t" r="r" b="b"/>
              <a:pathLst>
                <a:path w="480059" h="328930">
                  <a:moveTo>
                    <a:pt x="0" y="54781"/>
                  </a:moveTo>
                  <a:lnTo>
                    <a:pt x="4304" y="33457"/>
                  </a:lnTo>
                  <a:lnTo>
                    <a:pt x="16045" y="16045"/>
                  </a:lnTo>
                  <a:lnTo>
                    <a:pt x="33457" y="4304"/>
                  </a:lnTo>
                  <a:lnTo>
                    <a:pt x="54781" y="0"/>
                  </a:lnTo>
                  <a:lnTo>
                    <a:pt x="425278" y="0"/>
                  </a:lnTo>
                  <a:lnTo>
                    <a:pt x="446602" y="4304"/>
                  </a:lnTo>
                  <a:lnTo>
                    <a:pt x="464014" y="16045"/>
                  </a:lnTo>
                  <a:lnTo>
                    <a:pt x="475754" y="33457"/>
                  </a:lnTo>
                  <a:lnTo>
                    <a:pt x="480059" y="54781"/>
                  </a:lnTo>
                  <a:lnTo>
                    <a:pt x="480059" y="273898"/>
                  </a:lnTo>
                  <a:lnTo>
                    <a:pt x="475754" y="295221"/>
                  </a:lnTo>
                  <a:lnTo>
                    <a:pt x="464014" y="312634"/>
                  </a:lnTo>
                  <a:lnTo>
                    <a:pt x="446602" y="324374"/>
                  </a:lnTo>
                  <a:lnTo>
                    <a:pt x="425278" y="328679"/>
                  </a:lnTo>
                  <a:lnTo>
                    <a:pt x="54781" y="328679"/>
                  </a:lnTo>
                  <a:lnTo>
                    <a:pt x="33457" y="324374"/>
                  </a:lnTo>
                  <a:lnTo>
                    <a:pt x="16045" y="312634"/>
                  </a:lnTo>
                  <a:lnTo>
                    <a:pt x="4304" y="295221"/>
                  </a:lnTo>
                  <a:lnTo>
                    <a:pt x="0" y="273898"/>
                  </a:lnTo>
                  <a:lnTo>
                    <a:pt x="0" y="54781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05101" y="2558288"/>
            <a:ext cx="72593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LHS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plus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(original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))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7:</a:t>
            </a:r>
            <a:r>
              <a:rPr spc="-270" dirty="0"/>
              <a:t> </a:t>
            </a:r>
            <a:r>
              <a:rPr spc="-100" dirty="0"/>
              <a:t>BCNF</a:t>
            </a:r>
            <a:r>
              <a:rPr spc="-315" dirty="0"/>
              <a:t> </a:t>
            </a:r>
            <a:r>
              <a:rPr sz="3800" b="0" spc="-25" dirty="0">
                <a:latin typeface="Verdana"/>
                <a:cs typeface="Verdana"/>
              </a:rPr>
              <a:t>(4)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19567" y="2398776"/>
            <a:ext cx="139255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10"/>
              </a:lnSpc>
              <a:spcBef>
                <a:spcPts val="100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are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only</a:t>
            </a:r>
            <a:endParaRPr sz="1500">
              <a:latin typeface="Verdana"/>
              <a:cs typeface="Verdana"/>
            </a:endParaRPr>
          </a:p>
          <a:p>
            <a:pPr marL="12700" marR="89535">
              <a:lnSpc>
                <a:spcPct val="77300"/>
              </a:lnSpc>
              <a:spcBef>
                <a:spcPts val="215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attrs,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this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relation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ok.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89473" y="3106713"/>
            <a:ext cx="1219835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Break</a:t>
            </a:r>
            <a:r>
              <a:rPr sz="1500" spc="-10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on</a:t>
            </a:r>
            <a:r>
              <a:rPr sz="1500" spc="-9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48AA"/>
                </a:solidFill>
                <a:latin typeface="Verdana"/>
                <a:cs typeface="Verdana"/>
              </a:rPr>
              <a:t>D</a:t>
            </a:r>
            <a:endParaRPr sz="1500">
              <a:latin typeface="Verdana"/>
              <a:cs typeface="Verdana"/>
            </a:endParaRPr>
          </a:p>
          <a:p>
            <a:pPr marL="110489">
              <a:lnSpc>
                <a:spcPct val="100000"/>
              </a:lnSpc>
              <a:spcBef>
                <a:spcPts val="3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CDE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5101" y="4036567"/>
            <a:ext cx="730186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CDE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LHS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plus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(original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))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BD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066452" y="3256142"/>
            <a:ext cx="208279" cy="352425"/>
          </a:xfrm>
          <a:custGeom>
            <a:avLst/>
            <a:gdLst/>
            <a:ahLst/>
            <a:cxnLst/>
            <a:rect l="l" t="t" r="r" b="b"/>
            <a:pathLst>
              <a:path w="208280" h="352425">
                <a:moveTo>
                  <a:pt x="0" y="352043"/>
                </a:moveTo>
                <a:lnTo>
                  <a:pt x="208025" y="0"/>
                </a:lnTo>
              </a:path>
            </a:pathLst>
          </a:custGeom>
          <a:ln w="3000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206916" y="3256142"/>
            <a:ext cx="208279" cy="352425"/>
          </a:xfrm>
          <a:custGeom>
            <a:avLst/>
            <a:gdLst/>
            <a:ahLst/>
            <a:cxnLst/>
            <a:rect l="l" t="t" r="r" b="b"/>
            <a:pathLst>
              <a:path w="208280" h="352425">
                <a:moveTo>
                  <a:pt x="0" y="352043"/>
                </a:moveTo>
                <a:lnTo>
                  <a:pt x="208025" y="0"/>
                </a:lnTo>
              </a:path>
            </a:pathLst>
          </a:custGeom>
          <a:ln w="3000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17943" y="3221126"/>
            <a:ext cx="1757045" cy="63309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 B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545465">
              <a:lnSpc>
                <a:spcPct val="100000"/>
              </a:lnSpc>
              <a:spcBef>
                <a:spcPts val="195"/>
              </a:spcBef>
              <a:tabLst>
                <a:tab pos="850265" algn="l"/>
                <a:tab pos="1118870" algn="l"/>
                <a:tab pos="1322705" algn="l"/>
              </a:tabLst>
            </a:pP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x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735159" y="3187443"/>
            <a:ext cx="304165" cy="432434"/>
          </a:xfrm>
          <a:custGeom>
            <a:avLst/>
            <a:gdLst/>
            <a:ahLst/>
            <a:cxnLst/>
            <a:rect l="l" t="t" r="r" b="b"/>
            <a:pathLst>
              <a:path w="304164" h="432435">
                <a:moveTo>
                  <a:pt x="0" y="50673"/>
                </a:moveTo>
                <a:lnTo>
                  <a:pt x="3982" y="30949"/>
                </a:lnTo>
                <a:lnTo>
                  <a:pt x="14842" y="14841"/>
                </a:lnTo>
                <a:lnTo>
                  <a:pt x="30949" y="3982"/>
                </a:lnTo>
                <a:lnTo>
                  <a:pt x="50673" y="0"/>
                </a:lnTo>
                <a:lnTo>
                  <a:pt x="253364" y="0"/>
                </a:lnTo>
                <a:lnTo>
                  <a:pt x="273088" y="3982"/>
                </a:lnTo>
                <a:lnTo>
                  <a:pt x="289195" y="14841"/>
                </a:lnTo>
                <a:lnTo>
                  <a:pt x="300055" y="30949"/>
                </a:lnTo>
                <a:lnTo>
                  <a:pt x="304037" y="50673"/>
                </a:lnTo>
                <a:lnTo>
                  <a:pt x="304037" y="381380"/>
                </a:lnTo>
                <a:lnTo>
                  <a:pt x="300055" y="401104"/>
                </a:lnTo>
                <a:lnTo>
                  <a:pt x="289195" y="417211"/>
                </a:lnTo>
                <a:lnTo>
                  <a:pt x="273088" y="428071"/>
                </a:lnTo>
                <a:lnTo>
                  <a:pt x="253364" y="432053"/>
                </a:lnTo>
                <a:lnTo>
                  <a:pt x="50673" y="432053"/>
                </a:lnTo>
                <a:lnTo>
                  <a:pt x="30949" y="428071"/>
                </a:lnTo>
                <a:lnTo>
                  <a:pt x="14842" y="417211"/>
                </a:lnTo>
                <a:lnTo>
                  <a:pt x="3982" y="401104"/>
                </a:lnTo>
                <a:lnTo>
                  <a:pt x="0" y="381380"/>
                </a:lnTo>
                <a:lnTo>
                  <a:pt x="0" y="50673"/>
                </a:lnTo>
                <a:close/>
              </a:path>
            </a:pathLst>
          </a:custGeom>
          <a:ln w="2000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076913" y="1243583"/>
            <a:ext cx="1450340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69900">
              <a:lnSpc>
                <a:spcPts val="1705"/>
              </a:lnSpc>
              <a:spcBef>
                <a:spcPts val="100"/>
              </a:spcBef>
              <a:buFont typeface="Verdana"/>
              <a:buAutoNum type="alphaUcPeriod"/>
              <a:tabLst>
                <a:tab pos="469900" algn="l"/>
              </a:tabLst>
            </a:pP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114" dirty="0">
                <a:solidFill>
                  <a:srgbClr val="292934"/>
                </a:solidFill>
                <a:latin typeface="Times New Roman"/>
                <a:cs typeface="Times New Roman"/>
              </a:rPr>
              <a:t> 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D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  <a:p>
            <a:pPr marL="469900" indent="-469900">
              <a:lnSpc>
                <a:spcPts val="1610"/>
              </a:lnSpc>
              <a:buFont typeface="Verdana"/>
              <a:buAutoNum type="alphaUcPeriod"/>
              <a:tabLst>
                <a:tab pos="469900" algn="l"/>
                <a:tab pos="913130" algn="l"/>
              </a:tabLst>
            </a:pP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C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  <a:p>
            <a:pPr marL="469900" indent="-469900">
              <a:lnSpc>
                <a:spcPts val="1595"/>
              </a:lnSpc>
              <a:buFont typeface="Verdana"/>
              <a:buAutoNum type="alphaUcPeriod"/>
              <a:tabLst>
                <a:tab pos="469900" algn="l"/>
                <a:tab pos="1043305" algn="l"/>
                <a:tab pos="1303020" algn="l"/>
              </a:tabLst>
            </a:pP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  <a:p>
            <a:pPr marL="469900" indent="-469900">
              <a:lnSpc>
                <a:spcPts val="1550"/>
              </a:lnSpc>
              <a:buFont typeface="Verdana"/>
              <a:buAutoNum type="alphaUcPeriod"/>
              <a:tabLst>
                <a:tab pos="469900" algn="l"/>
                <a:tab pos="1043305" algn="l"/>
              </a:tabLst>
            </a:pP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  <a:p>
            <a:pPr marL="469900" indent="-469900">
              <a:lnSpc>
                <a:spcPts val="1655"/>
              </a:lnSpc>
              <a:buFont typeface="Verdana"/>
              <a:buAutoNum type="alphaUcPeriod"/>
              <a:tabLst>
                <a:tab pos="469900" algn="l"/>
                <a:tab pos="1303020" algn="l"/>
              </a:tabLst>
            </a:pPr>
            <a:r>
              <a:rPr sz="15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21945" y="1226665"/>
            <a:ext cx="9409430" cy="1101090"/>
            <a:chOff x="321945" y="1226665"/>
            <a:chExt cx="9409430" cy="1101090"/>
          </a:xfrm>
        </p:grpSpPr>
        <p:sp>
          <p:nvSpPr>
            <p:cNvPr id="38" name="object 38"/>
            <p:cNvSpPr/>
            <p:nvPr/>
          </p:nvSpPr>
          <p:spPr>
            <a:xfrm>
              <a:off x="7922895" y="1228332"/>
              <a:ext cx="1728470" cy="1097280"/>
            </a:xfrm>
            <a:custGeom>
              <a:avLst/>
              <a:gdLst/>
              <a:ahLst/>
              <a:cxnLst/>
              <a:rect l="l" t="t" r="r" b="b"/>
              <a:pathLst>
                <a:path w="1728470" h="1097280">
                  <a:moveTo>
                    <a:pt x="0" y="0"/>
                  </a:moveTo>
                  <a:lnTo>
                    <a:pt x="1728215" y="0"/>
                  </a:lnTo>
                  <a:lnTo>
                    <a:pt x="1728215" y="1097158"/>
                  </a:lnTo>
                  <a:lnTo>
                    <a:pt x="0" y="1097158"/>
                  </a:lnTo>
                  <a:lnTo>
                    <a:pt x="0" y="0"/>
                  </a:lnTo>
                  <a:close/>
                </a:path>
              </a:pathLst>
            </a:custGeom>
            <a:ln w="3333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21945" y="1233933"/>
              <a:ext cx="9409430" cy="0"/>
            </a:xfrm>
            <a:custGeom>
              <a:avLst/>
              <a:gdLst/>
              <a:ahLst/>
              <a:cxnLst/>
              <a:rect l="l" t="t" r="r" b="b"/>
              <a:pathLst>
                <a:path w="9409430">
                  <a:moveTo>
                    <a:pt x="0" y="0"/>
                  </a:moveTo>
                  <a:lnTo>
                    <a:pt x="9409175" y="1"/>
                  </a:lnTo>
                </a:path>
              </a:pathLst>
            </a:custGeom>
            <a:ln w="10001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567998" y="1277111"/>
            <a:ext cx="2851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4607" y="1434998"/>
            <a:ext cx="3143885" cy="114617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466725">
              <a:lnSpc>
                <a:spcPct val="100000"/>
              </a:lnSpc>
              <a:spcBef>
                <a:spcPts val="195"/>
              </a:spcBef>
              <a:tabLst>
                <a:tab pos="855344" algn="l"/>
                <a:tab pos="1123950" algn="l"/>
                <a:tab pos="1392555" algn="l"/>
                <a:tab pos="1595755" algn="l"/>
              </a:tabLst>
            </a:pP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SK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BCDE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325151" y="1471244"/>
            <a:ext cx="208279" cy="352425"/>
          </a:xfrm>
          <a:custGeom>
            <a:avLst/>
            <a:gdLst/>
            <a:ahLst/>
            <a:cxnLst/>
            <a:rect l="l" t="t" r="r" b="b"/>
            <a:pathLst>
              <a:path w="208280" h="352425">
                <a:moveTo>
                  <a:pt x="0" y="352043"/>
                </a:moveTo>
                <a:lnTo>
                  <a:pt x="208025" y="0"/>
                </a:lnTo>
              </a:path>
            </a:pathLst>
          </a:custGeom>
          <a:ln w="3000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1178579" y="1392542"/>
            <a:ext cx="548640" cy="452120"/>
            <a:chOff x="1178579" y="1392542"/>
            <a:chExt cx="548640" cy="452120"/>
          </a:xfrm>
        </p:grpSpPr>
        <p:sp>
          <p:nvSpPr>
            <p:cNvPr id="44" name="object 44"/>
            <p:cNvSpPr/>
            <p:nvPr/>
          </p:nvSpPr>
          <p:spPr>
            <a:xfrm>
              <a:off x="1193581" y="1471244"/>
              <a:ext cx="208279" cy="352425"/>
            </a:xfrm>
            <a:custGeom>
              <a:avLst/>
              <a:gdLst/>
              <a:ahLst/>
              <a:cxnLst/>
              <a:rect l="l" t="t" r="r" b="b"/>
              <a:pathLst>
                <a:path w="208280" h="352425">
                  <a:moveTo>
                    <a:pt x="0" y="352043"/>
                  </a:moveTo>
                  <a:lnTo>
                    <a:pt x="208025" y="0"/>
                  </a:lnTo>
                </a:path>
              </a:pathLst>
            </a:custGeom>
            <a:ln w="3000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413128" y="1402543"/>
              <a:ext cx="304165" cy="432434"/>
            </a:xfrm>
            <a:custGeom>
              <a:avLst/>
              <a:gdLst/>
              <a:ahLst/>
              <a:cxnLst/>
              <a:rect l="l" t="t" r="r" b="b"/>
              <a:pathLst>
                <a:path w="304164" h="432435">
                  <a:moveTo>
                    <a:pt x="0" y="50673"/>
                  </a:moveTo>
                  <a:lnTo>
                    <a:pt x="3982" y="30949"/>
                  </a:lnTo>
                  <a:lnTo>
                    <a:pt x="14842" y="14841"/>
                  </a:lnTo>
                  <a:lnTo>
                    <a:pt x="30949" y="3982"/>
                  </a:lnTo>
                  <a:lnTo>
                    <a:pt x="50673" y="0"/>
                  </a:lnTo>
                  <a:lnTo>
                    <a:pt x="253364" y="0"/>
                  </a:lnTo>
                  <a:lnTo>
                    <a:pt x="273088" y="3982"/>
                  </a:lnTo>
                  <a:lnTo>
                    <a:pt x="289195" y="14841"/>
                  </a:lnTo>
                  <a:lnTo>
                    <a:pt x="300055" y="30949"/>
                  </a:lnTo>
                  <a:lnTo>
                    <a:pt x="304037" y="50673"/>
                  </a:lnTo>
                  <a:lnTo>
                    <a:pt x="304037" y="381380"/>
                  </a:lnTo>
                  <a:lnTo>
                    <a:pt x="300055" y="401104"/>
                  </a:lnTo>
                  <a:lnTo>
                    <a:pt x="289195" y="417211"/>
                  </a:lnTo>
                  <a:lnTo>
                    <a:pt x="273088" y="428071"/>
                  </a:lnTo>
                  <a:lnTo>
                    <a:pt x="253364" y="432053"/>
                  </a:lnTo>
                  <a:lnTo>
                    <a:pt x="50673" y="432053"/>
                  </a:lnTo>
                  <a:lnTo>
                    <a:pt x="30949" y="428071"/>
                  </a:lnTo>
                  <a:lnTo>
                    <a:pt x="14842" y="417211"/>
                  </a:lnTo>
                  <a:lnTo>
                    <a:pt x="3982" y="401104"/>
                  </a:lnTo>
                  <a:lnTo>
                    <a:pt x="0" y="381380"/>
                  </a:lnTo>
                  <a:lnTo>
                    <a:pt x="0" y="50673"/>
                  </a:lnTo>
                  <a:close/>
                </a:path>
              </a:pathLst>
            </a:custGeom>
            <a:ln w="2000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589473" y="1345450"/>
            <a:ext cx="1364615" cy="58928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Break</a:t>
            </a:r>
            <a:r>
              <a:rPr sz="1500" spc="-10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on</a:t>
            </a:r>
            <a:r>
              <a:rPr sz="1500" spc="-9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48AA"/>
                </a:solidFill>
                <a:latin typeface="Verdana"/>
                <a:cs typeface="Verdana"/>
              </a:rPr>
              <a:t>B</a:t>
            </a:r>
            <a:endParaRPr sz="1500">
              <a:latin typeface="Verdana"/>
              <a:cs typeface="Verdana"/>
            </a:endParaRPr>
          </a:p>
          <a:p>
            <a:pPr marL="110489">
              <a:lnSpc>
                <a:spcPct val="100000"/>
              </a:lnSpc>
              <a:spcBef>
                <a:spcPts val="2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BCDE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21945" y="3053266"/>
            <a:ext cx="9409430" cy="0"/>
          </a:xfrm>
          <a:custGeom>
            <a:avLst/>
            <a:gdLst/>
            <a:ahLst/>
            <a:cxnLst/>
            <a:rect l="l" t="t" r="r" b="b"/>
            <a:pathLst>
              <a:path w="9409430">
                <a:moveTo>
                  <a:pt x="0" y="0"/>
                </a:moveTo>
                <a:lnTo>
                  <a:pt x="9409175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1945" y="4838165"/>
            <a:ext cx="9409430" cy="0"/>
          </a:xfrm>
          <a:custGeom>
            <a:avLst/>
            <a:gdLst/>
            <a:ahLst/>
            <a:cxnLst/>
            <a:rect l="l" t="t" r="r" b="b"/>
            <a:pathLst>
              <a:path w="9409430">
                <a:moveTo>
                  <a:pt x="0" y="0"/>
                </a:moveTo>
                <a:lnTo>
                  <a:pt x="9409175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7556182" y="6147295"/>
            <a:ext cx="493395" cy="342265"/>
            <a:chOff x="7556182" y="6147295"/>
            <a:chExt cx="493395" cy="342265"/>
          </a:xfrm>
        </p:grpSpPr>
        <p:sp>
          <p:nvSpPr>
            <p:cNvPr id="50" name="object 50"/>
            <p:cNvSpPr/>
            <p:nvPr/>
          </p:nvSpPr>
          <p:spPr>
            <a:xfrm>
              <a:off x="7562849" y="6153962"/>
              <a:ext cx="480059" cy="328930"/>
            </a:xfrm>
            <a:custGeom>
              <a:avLst/>
              <a:gdLst/>
              <a:ahLst/>
              <a:cxnLst/>
              <a:rect l="l" t="t" r="r" b="b"/>
              <a:pathLst>
                <a:path w="480059" h="328929">
                  <a:moveTo>
                    <a:pt x="425278" y="0"/>
                  </a:moveTo>
                  <a:lnTo>
                    <a:pt x="54781" y="0"/>
                  </a:lnTo>
                  <a:lnTo>
                    <a:pt x="33457" y="4304"/>
                  </a:lnTo>
                  <a:lnTo>
                    <a:pt x="16045" y="16045"/>
                  </a:lnTo>
                  <a:lnTo>
                    <a:pt x="4304" y="33457"/>
                  </a:lnTo>
                  <a:lnTo>
                    <a:pt x="0" y="54781"/>
                  </a:lnTo>
                  <a:lnTo>
                    <a:pt x="0" y="273898"/>
                  </a:lnTo>
                  <a:lnTo>
                    <a:pt x="4304" y="295221"/>
                  </a:lnTo>
                  <a:lnTo>
                    <a:pt x="16045" y="312634"/>
                  </a:lnTo>
                  <a:lnTo>
                    <a:pt x="33457" y="324374"/>
                  </a:lnTo>
                  <a:lnTo>
                    <a:pt x="54781" y="328679"/>
                  </a:lnTo>
                  <a:lnTo>
                    <a:pt x="425278" y="328679"/>
                  </a:lnTo>
                  <a:lnTo>
                    <a:pt x="446602" y="324374"/>
                  </a:lnTo>
                  <a:lnTo>
                    <a:pt x="464014" y="312634"/>
                  </a:lnTo>
                  <a:lnTo>
                    <a:pt x="475755" y="295221"/>
                  </a:lnTo>
                  <a:lnTo>
                    <a:pt x="480059" y="273898"/>
                  </a:lnTo>
                  <a:lnTo>
                    <a:pt x="480059" y="54781"/>
                  </a:lnTo>
                  <a:lnTo>
                    <a:pt x="475755" y="33457"/>
                  </a:lnTo>
                  <a:lnTo>
                    <a:pt x="464014" y="16045"/>
                  </a:lnTo>
                  <a:lnTo>
                    <a:pt x="446602" y="4304"/>
                  </a:lnTo>
                  <a:lnTo>
                    <a:pt x="42527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62849" y="6153962"/>
              <a:ext cx="480059" cy="328930"/>
            </a:xfrm>
            <a:custGeom>
              <a:avLst/>
              <a:gdLst/>
              <a:ahLst/>
              <a:cxnLst/>
              <a:rect l="l" t="t" r="r" b="b"/>
              <a:pathLst>
                <a:path w="480059" h="328929">
                  <a:moveTo>
                    <a:pt x="0" y="54781"/>
                  </a:moveTo>
                  <a:lnTo>
                    <a:pt x="4304" y="33457"/>
                  </a:lnTo>
                  <a:lnTo>
                    <a:pt x="16045" y="16045"/>
                  </a:lnTo>
                  <a:lnTo>
                    <a:pt x="33457" y="4304"/>
                  </a:lnTo>
                  <a:lnTo>
                    <a:pt x="54781" y="0"/>
                  </a:lnTo>
                  <a:lnTo>
                    <a:pt x="425278" y="0"/>
                  </a:lnTo>
                  <a:lnTo>
                    <a:pt x="446602" y="4304"/>
                  </a:lnTo>
                  <a:lnTo>
                    <a:pt x="464014" y="16045"/>
                  </a:lnTo>
                  <a:lnTo>
                    <a:pt x="475754" y="33457"/>
                  </a:lnTo>
                  <a:lnTo>
                    <a:pt x="480059" y="54781"/>
                  </a:lnTo>
                  <a:lnTo>
                    <a:pt x="480059" y="273898"/>
                  </a:lnTo>
                  <a:lnTo>
                    <a:pt x="475754" y="295221"/>
                  </a:lnTo>
                  <a:lnTo>
                    <a:pt x="464014" y="312634"/>
                  </a:lnTo>
                  <a:lnTo>
                    <a:pt x="446602" y="324374"/>
                  </a:lnTo>
                  <a:lnTo>
                    <a:pt x="425278" y="328679"/>
                  </a:lnTo>
                  <a:lnTo>
                    <a:pt x="54781" y="328679"/>
                  </a:lnTo>
                  <a:lnTo>
                    <a:pt x="33457" y="324374"/>
                  </a:lnTo>
                  <a:lnTo>
                    <a:pt x="16045" y="312634"/>
                  </a:lnTo>
                  <a:lnTo>
                    <a:pt x="4304" y="295221"/>
                  </a:lnTo>
                  <a:lnTo>
                    <a:pt x="0" y="273898"/>
                  </a:lnTo>
                  <a:lnTo>
                    <a:pt x="0" y="54781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219567" y="5998464"/>
            <a:ext cx="139255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100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There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are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only</a:t>
            </a:r>
            <a:endParaRPr sz="1500">
              <a:latin typeface="Verdana"/>
              <a:cs typeface="Verdana"/>
            </a:endParaRPr>
          </a:p>
          <a:p>
            <a:pPr marL="12700" marR="89535">
              <a:lnSpc>
                <a:spcPct val="77300"/>
              </a:lnSpc>
              <a:spcBef>
                <a:spcPts val="204"/>
              </a:spcBef>
            </a:pP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2</a:t>
            </a:r>
            <a:r>
              <a:rPr sz="1500" spc="-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attrs,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C00000"/>
                </a:solidFill>
                <a:latin typeface="Verdana"/>
                <a:cs typeface="Verdana"/>
              </a:rPr>
              <a:t>this </a:t>
            </a:r>
            <a:r>
              <a:rPr sz="1500" spc="-10" dirty="0">
                <a:solidFill>
                  <a:srgbClr val="C00000"/>
                </a:solidFill>
                <a:latin typeface="Verdana"/>
                <a:cs typeface="Verdana"/>
              </a:rPr>
              <a:t>relation</a:t>
            </a:r>
            <a:r>
              <a:rPr sz="15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is</a:t>
            </a:r>
            <a:r>
              <a:rPr sz="1500" spc="-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C00000"/>
                </a:solidFill>
                <a:latin typeface="Verdana"/>
                <a:cs typeface="Verdana"/>
              </a:rPr>
              <a:t>ok.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589473" y="4965192"/>
            <a:ext cx="1062355" cy="53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Break</a:t>
            </a:r>
            <a:r>
              <a:rPr sz="1500" spc="-10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48AA"/>
                </a:solidFill>
                <a:latin typeface="Verdana"/>
                <a:cs typeface="Verdana"/>
              </a:rPr>
              <a:t>on</a:t>
            </a:r>
            <a:r>
              <a:rPr sz="1500" spc="-90" dirty="0">
                <a:solidFill>
                  <a:srgbClr val="0048AA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48AA"/>
                </a:solidFill>
                <a:latin typeface="Verdana"/>
                <a:cs typeface="Verdana"/>
              </a:rPr>
              <a:t>C</a:t>
            </a:r>
            <a:endParaRPr sz="1500">
              <a:latin typeface="Verdana"/>
              <a:cs typeface="Verdana"/>
            </a:endParaRPr>
          </a:p>
          <a:p>
            <a:pPr marL="110489">
              <a:lnSpc>
                <a:spcPts val="2260"/>
              </a:lnSpc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CE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5101" y="5862320"/>
            <a:ext cx="7288530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19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CE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LHS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plus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(original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))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9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822836" y="5042038"/>
            <a:ext cx="208279" cy="352425"/>
          </a:xfrm>
          <a:custGeom>
            <a:avLst/>
            <a:gdLst/>
            <a:ahLst/>
            <a:cxnLst/>
            <a:rect l="l" t="t" r="r" b="b"/>
            <a:pathLst>
              <a:path w="208280" h="352425">
                <a:moveTo>
                  <a:pt x="0" y="352043"/>
                </a:moveTo>
                <a:lnTo>
                  <a:pt x="208025" y="0"/>
                </a:lnTo>
              </a:path>
            </a:pathLst>
          </a:custGeom>
          <a:ln w="3000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493523" y="5042038"/>
            <a:ext cx="208279" cy="352425"/>
          </a:xfrm>
          <a:custGeom>
            <a:avLst/>
            <a:gdLst/>
            <a:ahLst/>
            <a:cxnLst/>
            <a:rect l="l" t="t" r="r" b="b"/>
            <a:pathLst>
              <a:path w="208280" h="352425">
                <a:moveTo>
                  <a:pt x="0" y="352043"/>
                </a:moveTo>
                <a:lnTo>
                  <a:pt x="208025" y="0"/>
                </a:lnTo>
              </a:path>
            </a:pathLst>
          </a:custGeom>
          <a:ln w="3000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717943" y="5007254"/>
            <a:ext cx="1480185" cy="63309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559435">
              <a:lnSpc>
                <a:spcPct val="100000"/>
              </a:lnSpc>
              <a:spcBef>
                <a:spcPts val="195"/>
              </a:spcBef>
              <a:tabLst>
                <a:tab pos="828040" algn="l"/>
                <a:tab pos="1068070" algn="l"/>
              </a:tabLst>
            </a:pP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!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50" dirty="0">
                <a:solidFill>
                  <a:srgbClr val="007879"/>
                </a:solidFill>
                <a:latin typeface="Verdana"/>
                <a:cs typeface="Verdana"/>
              </a:rPr>
              <a:t>x</a:t>
            </a:r>
            <a:r>
              <a:rPr sz="1500" dirty="0">
                <a:solidFill>
                  <a:srgbClr val="007879"/>
                </a:solidFill>
                <a:latin typeface="Verdana"/>
                <a:cs typeface="Verdana"/>
              </a:rPr>
              <a:t>	</a:t>
            </a:r>
            <a:r>
              <a:rPr sz="1500" spc="-25" dirty="0">
                <a:solidFill>
                  <a:srgbClr val="007879"/>
                </a:solidFill>
                <a:latin typeface="Verdana"/>
                <a:cs typeface="Verdana"/>
              </a:rPr>
              <a:t>TR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53193" y="4973337"/>
            <a:ext cx="304165" cy="432434"/>
          </a:xfrm>
          <a:custGeom>
            <a:avLst/>
            <a:gdLst/>
            <a:ahLst/>
            <a:cxnLst/>
            <a:rect l="l" t="t" r="r" b="b"/>
            <a:pathLst>
              <a:path w="304165" h="432435">
                <a:moveTo>
                  <a:pt x="0" y="50673"/>
                </a:moveTo>
                <a:lnTo>
                  <a:pt x="3982" y="30949"/>
                </a:lnTo>
                <a:lnTo>
                  <a:pt x="14842" y="14841"/>
                </a:lnTo>
                <a:lnTo>
                  <a:pt x="30949" y="3982"/>
                </a:lnTo>
                <a:lnTo>
                  <a:pt x="50673" y="0"/>
                </a:lnTo>
                <a:lnTo>
                  <a:pt x="253364" y="0"/>
                </a:lnTo>
                <a:lnTo>
                  <a:pt x="273088" y="3982"/>
                </a:lnTo>
                <a:lnTo>
                  <a:pt x="289195" y="14841"/>
                </a:lnTo>
                <a:lnTo>
                  <a:pt x="300055" y="30949"/>
                </a:lnTo>
                <a:lnTo>
                  <a:pt x="304037" y="50673"/>
                </a:lnTo>
                <a:lnTo>
                  <a:pt x="304037" y="381380"/>
                </a:lnTo>
                <a:lnTo>
                  <a:pt x="300055" y="401104"/>
                </a:lnTo>
                <a:lnTo>
                  <a:pt x="289195" y="417211"/>
                </a:lnTo>
                <a:lnTo>
                  <a:pt x="273088" y="428071"/>
                </a:lnTo>
                <a:lnTo>
                  <a:pt x="253364" y="432053"/>
                </a:lnTo>
                <a:lnTo>
                  <a:pt x="50673" y="432053"/>
                </a:lnTo>
                <a:lnTo>
                  <a:pt x="30949" y="428071"/>
                </a:lnTo>
                <a:lnTo>
                  <a:pt x="14842" y="417211"/>
                </a:lnTo>
                <a:lnTo>
                  <a:pt x="3982" y="401104"/>
                </a:lnTo>
                <a:lnTo>
                  <a:pt x="0" y="381380"/>
                </a:lnTo>
                <a:lnTo>
                  <a:pt x="0" y="50673"/>
                </a:lnTo>
                <a:close/>
              </a:path>
            </a:pathLst>
          </a:custGeom>
          <a:ln w="2000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21945" y="6650730"/>
            <a:ext cx="9409430" cy="0"/>
          </a:xfrm>
          <a:custGeom>
            <a:avLst/>
            <a:gdLst/>
            <a:ahLst/>
            <a:cxnLst/>
            <a:rect l="l" t="t" r="r" b="b"/>
            <a:pathLst>
              <a:path w="9409430">
                <a:moveTo>
                  <a:pt x="0" y="0"/>
                </a:moveTo>
                <a:lnTo>
                  <a:pt x="9409175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09531" y="6740144"/>
            <a:ext cx="65868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tables:</a:t>
            </a:r>
            <a:r>
              <a:rPr sz="19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R1(AB),</a:t>
            </a:r>
            <a:r>
              <a:rPr sz="19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R2(BD),</a:t>
            </a:r>
            <a:r>
              <a:rPr sz="19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R3(CE),</a:t>
            </a:r>
            <a:r>
              <a:rPr sz="19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R4(CD)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5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35313" y="3072513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4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3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5313" y="3069465"/>
            <a:ext cx="97726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100" dirty="0">
                <a:solidFill>
                  <a:srgbClr val="C00000"/>
                </a:solidFill>
                <a:latin typeface="Comic Sans MS"/>
                <a:cs typeface="Comic Sans MS"/>
              </a:rPr>
              <a:t>2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2828" y="3069465"/>
            <a:ext cx="720725" cy="2186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2350" b="1" spc="-1935" dirty="0">
                <a:solidFill>
                  <a:srgbClr val="C00000"/>
                </a:solidFill>
                <a:latin typeface="Comic Sans MS"/>
                <a:cs typeface="Comic Sans MS"/>
              </a:rPr>
              <a:t>1</a:t>
            </a:r>
            <a:endParaRPr sz="123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700" spc="-40" dirty="0">
                <a:solidFill>
                  <a:srgbClr val="292934"/>
                </a:solidFill>
                <a:latin typeface="Comic Sans MS"/>
                <a:cs typeface="Comic Sans MS"/>
              </a:rPr>
              <a:t>Ready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for</a:t>
            </a:r>
            <a:r>
              <a:rPr sz="3700" spc="-40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the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next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dirty="0">
                <a:solidFill>
                  <a:srgbClr val="292934"/>
                </a:solidFill>
                <a:latin typeface="Comic Sans MS"/>
                <a:cs typeface="Comic Sans MS"/>
              </a:rPr>
              <a:t>one</a:t>
            </a:r>
            <a:r>
              <a:rPr sz="3700" spc="-409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3700" spc="-25" dirty="0">
                <a:solidFill>
                  <a:srgbClr val="292934"/>
                </a:solidFill>
                <a:latin typeface="Comic Sans MS"/>
                <a:cs typeface="Comic Sans MS"/>
              </a:rPr>
              <a:t>??</a:t>
            </a:r>
            <a:endParaRPr sz="37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00437" y="3252332"/>
            <a:ext cx="3264535" cy="2112645"/>
          </a:xfrm>
          <a:custGeom>
            <a:avLst/>
            <a:gdLst/>
            <a:ahLst/>
            <a:cxnLst/>
            <a:rect l="l" t="t" r="r" b="b"/>
            <a:pathLst>
              <a:path w="3264534" h="2112645">
                <a:moveTo>
                  <a:pt x="3264408" y="0"/>
                </a:moveTo>
                <a:lnTo>
                  <a:pt x="0" y="0"/>
                </a:lnTo>
                <a:lnTo>
                  <a:pt x="0" y="2112264"/>
                </a:lnTo>
                <a:lnTo>
                  <a:pt x="3264408" y="2112264"/>
                </a:lnTo>
                <a:lnTo>
                  <a:pt x="3264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73106" y="3216865"/>
            <a:ext cx="2718435" cy="190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350" b="1" spc="30" dirty="0">
                <a:solidFill>
                  <a:srgbClr val="C00000"/>
                </a:solidFill>
                <a:latin typeface="Comic Sans MS"/>
                <a:cs typeface="Comic Sans MS"/>
              </a:rPr>
              <a:t>Go!!</a:t>
            </a:r>
            <a:endParaRPr sz="12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Practice</a:t>
            </a:r>
            <a:r>
              <a:rPr spc="-260" dirty="0"/>
              <a:t> </a:t>
            </a:r>
            <a:r>
              <a:rPr dirty="0"/>
              <a:t>8:</a:t>
            </a:r>
            <a:r>
              <a:rPr spc="-295" dirty="0"/>
              <a:t> </a:t>
            </a:r>
            <a:r>
              <a:rPr spc="-25" dirty="0"/>
              <a:t>3NF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80433" y="3358743"/>
            <a:ext cx="4950460" cy="2602865"/>
            <a:chOff x="2280433" y="3358743"/>
            <a:chExt cx="4950460" cy="2602865"/>
          </a:xfrm>
        </p:grpSpPr>
        <p:sp>
          <p:nvSpPr>
            <p:cNvPr id="4" name="object 4"/>
            <p:cNvSpPr/>
            <p:nvPr/>
          </p:nvSpPr>
          <p:spPr>
            <a:xfrm>
              <a:off x="2285513" y="3363823"/>
              <a:ext cx="0" cy="2592705"/>
            </a:xfrm>
            <a:custGeom>
              <a:avLst/>
              <a:gdLst/>
              <a:ahLst/>
              <a:cxnLst/>
              <a:rect l="l" t="t" r="r" b="b"/>
              <a:pathLst>
                <a:path h="2592704">
                  <a:moveTo>
                    <a:pt x="0" y="0"/>
                  </a:moveTo>
                  <a:lnTo>
                    <a:pt x="1" y="2592323"/>
                  </a:lnTo>
                </a:path>
              </a:pathLst>
            </a:custGeom>
            <a:ln w="10001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11021" y="3363823"/>
              <a:ext cx="0" cy="2592705"/>
            </a:xfrm>
            <a:custGeom>
              <a:avLst/>
              <a:gdLst/>
              <a:ahLst/>
              <a:cxnLst/>
              <a:rect l="l" t="t" r="r" b="b"/>
              <a:pathLst>
                <a:path h="2592704">
                  <a:moveTo>
                    <a:pt x="0" y="0"/>
                  </a:moveTo>
                  <a:lnTo>
                    <a:pt x="1" y="2592323"/>
                  </a:lnTo>
                </a:path>
              </a:pathLst>
            </a:custGeom>
            <a:ln w="10001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25428" y="3363823"/>
              <a:ext cx="0" cy="2592705"/>
            </a:xfrm>
            <a:custGeom>
              <a:avLst/>
              <a:gdLst/>
              <a:ahLst/>
              <a:cxnLst/>
              <a:rect l="l" t="t" r="r" b="b"/>
              <a:pathLst>
                <a:path h="2592704">
                  <a:moveTo>
                    <a:pt x="0" y="0"/>
                  </a:moveTo>
                  <a:lnTo>
                    <a:pt x="1" y="2592323"/>
                  </a:lnTo>
                </a:path>
              </a:pathLst>
            </a:custGeom>
            <a:ln w="10001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53060" y="3282248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>
                <a:moveTo>
                  <a:pt x="0" y="0"/>
                </a:moveTo>
                <a:lnTo>
                  <a:pt x="9334499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72482" y="3482847"/>
            <a:ext cx="1574165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4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(3)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remove</a:t>
            </a:r>
            <a:endParaRPr sz="1700">
              <a:latin typeface="Verdana"/>
              <a:cs typeface="Verdana"/>
            </a:endParaRPr>
          </a:p>
          <a:p>
            <a:pPr marL="502284">
              <a:lnSpc>
                <a:spcPts val="2014"/>
              </a:lnSpc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reflexivity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62543" y="3982720"/>
            <a:ext cx="1616710" cy="128460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82600" algn="l"/>
                <a:tab pos="990600" algn="l"/>
                <a:tab pos="143573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2600" algn="l"/>
                <a:tab pos="129095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82600" algn="l"/>
                <a:tab pos="144081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80"/>
              </a:spcBef>
              <a:buFont typeface="Verdana"/>
              <a:buAutoNum type="alphaUcPeriod"/>
              <a:tabLst>
                <a:tab pos="482600" algn="l"/>
                <a:tab pos="129095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78928" y="5032039"/>
            <a:ext cx="203835" cy="203835"/>
          </a:xfrm>
          <a:custGeom>
            <a:avLst/>
            <a:gdLst/>
            <a:ahLst/>
            <a:cxnLst/>
            <a:rect l="l" t="t" r="r" b="b"/>
            <a:pathLst>
              <a:path w="203834" h="203835">
                <a:moveTo>
                  <a:pt x="0" y="203671"/>
                </a:moveTo>
                <a:lnTo>
                  <a:pt x="203672" y="0"/>
                </a:lnTo>
              </a:path>
            </a:pathLst>
          </a:custGeom>
          <a:ln w="4000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52792" y="3482847"/>
            <a:ext cx="2169160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14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(4)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remove</a:t>
            </a:r>
            <a:endParaRPr sz="1700">
              <a:latin typeface="Verdana"/>
              <a:cs typeface="Verdana"/>
            </a:endParaRPr>
          </a:p>
          <a:p>
            <a:pPr marL="502284">
              <a:lnSpc>
                <a:spcPts val="2014"/>
              </a:lnSpc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extraneous</a:t>
            </a:r>
            <a:r>
              <a:rPr sz="1700" spc="-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attr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2853" y="3982720"/>
            <a:ext cx="1590675" cy="128460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82600" algn="l"/>
                <a:tab pos="990600" algn="l"/>
                <a:tab pos="143573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2600" algn="l"/>
                <a:tab pos="129095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82600" algn="l"/>
                <a:tab pos="144081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80"/>
              </a:spcBef>
              <a:buFont typeface="Verdana"/>
              <a:buAutoNum type="alphaUcPeriod"/>
              <a:tabLst>
                <a:tab pos="482600" algn="l"/>
                <a:tab pos="129095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7980" y="4082967"/>
            <a:ext cx="9344660" cy="2156460"/>
            <a:chOff x="347980" y="4082967"/>
            <a:chExt cx="9344660" cy="2156460"/>
          </a:xfrm>
        </p:grpSpPr>
        <p:sp>
          <p:nvSpPr>
            <p:cNvPr id="14" name="object 14"/>
            <p:cNvSpPr/>
            <p:nvPr/>
          </p:nvSpPr>
          <p:spPr>
            <a:xfrm>
              <a:off x="1489652" y="5380932"/>
              <a:ext cx="8068309" cy="822960"/>
            </a:xfrm>
            <a:custGeom>
              <a:avLst/>
              <a:gdLst/>
              <a:ahLst/>
              <a:cxnLst/>
              <a:rect l="l" t="t" r="r" b="b"/>
              <a:pathLst>
                <a:path w="8068309" h="822960">
                  <a:moveTo>
                    <a:pt x="0" y="137067"/>
                  </a:moveTo>
                  <a:lnTo>
                    <a:pt x="6987" y="93743"/>
                  </a:lnTo>
                  <a:lnTo>
                    <a:pt x="26446" y="56117"/>
                  </a:lnTo>
                  <a:lnTo>
                    <a:pt x="56117" y="26446"/>
                  </a:lnTo>
                  <a:lnTo>
                    <a:pt x="93743" y="6987"/>
                  </a:lnTo>
                  <a:lnTo>
                    <a:pt x="137067" y="0"/>
                  </a:lnTo>
                  <a:lnTo>
                    <a:pt x="7930807" y="0"/>
                  </a:lnTo>
                  <a:lnTo>
                    <a:pt x="7974131" y="6987"/>
                  </a:lnTo>
                  <a:lnTo>
                    <a:pt x="8011758" y="26446"/>
                  </a:lnTo>
                  <a:lnTo>
                    <a:pt x="8041429" y="56117"/>
                  </a:lnTo>
                  <a:lnTo>
                    <a:pt x="8060888" y="93743"/>
                  </a:lnTo>
                  <a:lnTo>
                    <a:pt x="8067875" y="137067"/>
                  </a:lnTo>
                  <a:lnTo>
                    <a:pt x="8067875" y="685338"/>
                  </a:lnTo>
                  <a:lnTo>
                    <a:pt x="8060888" y="728662"/>
                  </a:lnTo>
                  <a:lnTo>
                    <a:pt x="8041429" y="766288"/>
                  </a:lnTo>
                  <a:lnTo>
                    <a:pt x="8011758" y="795959"/>
                  </a:lnTo>
                  <a:lnTo>
                    <a:pt x="7974131" y="815418"/>
                  </a:lnTo>
                  <a:lnTo>
                    <a:pt x="7930807" y="822406"/>
                  </a:lnTo>
                  <a:lnTo>
                    <a:pt x="137067" y="822406"/>
                  </a:lnTo>
                  <a:lnTo>
                    <a:pt x="93743" y="815418"/>
                  </a:lnTo>
                  <a:lnTo>
                    <a:pt x="56117" y="795959"/>
                  </a:lnTo>
                  <a:lnTo>
                    <a:pt x="26446" y="766288"/>
                  </a:lnTo>
                  <a:lnTo>
                    <a:pt x="6987" y="728662"/>
                  </a:lnTo>
                  <a:lnTo>
                    <a:pt x="0" y="685338"/>
                  </a:lnTo>
                  <a:lnTo>
                    <a:pt x="0" y="137067"/>
                  </a:lnTo>
                  <a:close/>
                </a:path>
              </a:pathLst>
            </a:custGeom>
            <a:ln w="2000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17200" y="4306641"/>
              <a:ext cx="706755" cy="1091565"/>
            </a:xfrm>
            <a:custGeom>
              <a:avLst/>
              <a:gdLst/>
              <a:ahLst/>
              <a:cxnLst/>
              <a:rect l="l" t="t" r="r" b="b"/>
              <a:pathLst>
                <a:path w="706754" h="1091564">
                  <a:moveTo>
                    <a:pt x="658809" y="64526"/>
                  </a:moveTo>
                  <a:lnTo>
                    <a:pt x="0" y="1085912"/>
                  </a:lnTo>
                  <a:lnTo>
                    <a:pt x="8403" y="1091332"/>
                  </a:lnTo>
                  <a:lnTo>
                    <a:pt x="667213" y="69947"/>
                  </a:lnTo>
                  <a:lnTo>
                    <a:pt x="658809" y="64526"/>
                  </a:lnTo>
                  <a:close/>
                </a:path>
                <a:path w="706754" h="1091564">
                  <a:moveTo>
                    <a:pt x="700533" y="53320"/>
                  </a:moveTo>
                  <a:lnTo>
                    <a:pt x="666037" y="53320"/>
                  </a:lnTo>
                  <a:lnTo>
                    <a:pt x="674441" y="58741"/>
                  </a:lnTo>
                  <a:lnTo>
                    <a:pt x="667213" y="69947"/>
                  </a:lnTo>
                  <a:lnTo>
                    <a:pt x="696629" y="88921"/>
                  </a:lnTo>
                  <a:lnTo>
                    <a:pt x="700533" y="53320"/>
                  </a:lnTo>
                  <a:close/>
                </a:path>
                <a:path w="706754" h="1091564">
                  <a:moveTo>
                    <a:pt x="666037" y="53320"/>
                  </a:moveTo>
                  <a:lnTo>
                    <a:pt x="658809" y="64526"/>
                  </a:lnTo>
                  <a:lnTo>
                    <a:pt x="667213" y="69947"/>
                  </a:lnTo>
                  <a:lnTo>
                    <a:pt x="674441" y="58741"/>
                  </a:lnTo>
                  <a:lnTo>
                    <a:pt x="666037" y="53320"/>
                  </a:lnTo>
                  <a:close/>
                </a:path>
                <a:path w="706754" h="1091564">
                  <a:moveTo>
                    <a:pt x="706380" y="0"/>
                  </a:moveTo>
                  <a:lnTo>
                    <a:pt x="629392" y="45552"/>
                  </a:lnTo>
                  <a:lnTo>
                    <a:pt x="658809" y="64526"/>
                  </a:lnTo>
                  <a:lnTo>
                    <a:pt x="666037" y="53320"/>
                  </a:lnTo>
                  <a:lnTo>
                    <a:pt x="700533" y="53320"/>
                  </a:lnTo>
                  <a:lnTo>
                    <a:pt x="70638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73837" y="4102969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0" y="203671"/>
                  </a:moveTo>
                  <a:lnTo>
                    <a:pt x="203672" y="0"/>
                  </a:lnTo>
                </a:path>
              </a:pathLst>
            </a:custGeom>
            <a:ln w="4000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3060" y="6234257"/>
              <a:ext cx="9334500" cy="0"/>
            </a:xfrm>
            <a:custGeom>
              <a:avLst/>
              <a:gdLst/>
              <a:ahLst/>
              <a:cxnLst/>
              <a:rect l="l" t="t" r="r" b="b"/>
              <a:pathLst>
                <a:path w="9334500">
                  <a:moveTo>
                    <a:pt x="0" y="0"/>
                  </a:moveTo>
                  <a:lnTo>
                    <a:pt x="9334499" y="1"/>
                  </a:lnTo>
                </a:path>
              </a:pathLst>
            </a:custGeom>
            <a:ln w="10001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3792" y="1335023"/>
            <a:ext cx="7886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10586" y="1286255"/>
            <a:ext cx="6700520" cy="7632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R(A,B,C,D,E)</a:t>
            </a:r>
            <a:endParaRPr sz="2100">
              <a:latin typeface="Verdana"/>
              <a:cs typeface="Verdana"/>
            </a:endParaRPr>
          </a:p>
          <a:p>
            <a:pPr marL="31115">
              <a:lnSpc>
                <a:spcPct val="100000"/>
              </a:lnSpc>
              <a:spcBef>
                <a:spcPts val="38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CE,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CD,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3795" y="2084832"/>
            <a:ext cx="41236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BCNF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4025" y="3491991"/>
            <a:ext cx="1784985" cy="5410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32434" marR="5080" indent="-420370">
              <a:lnSpc>
                <a:spcPts val="2020"/>
              </a:lnSpc>
              <a:spcBef>
                <a:spcPts val="18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(1)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17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7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LHS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&amp;</a:t>
            </a:r>
            <a:r>
              <a:rPr sz="17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remaining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4086" y="3994911"/>
            <a:ext cx="707390" cy="128143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  <a:tabLst>
                <a:tab pos="482600" algn="l"/>
              </a:tabLst>
            </a:pP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  <a:tabLst>
                <a:tab pos="482600" algn="l"/>
              </a:tabLst>
            </a:pP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  <a:tabLst>
                <a:tab pos="482600" algn="l"/>
              </a:tabLst>
            </a:pP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  <a:tabLst>
                <a:tab pos="482600" algn="l"/>
              </a:tabLst>
            </a:pP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15261" y="3491991"/>
            <a:ext cx="19665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(2)</a:t>
            </a:r>
            <a:r>
              <a:rPr sz="17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copy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7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05323" y="3994911"/>
            <a:ext cx="1590675" cy="128143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82600" indent="-46990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82600" algn="l"/>
                <a:tab pos="990600" algn="l"/>
                <a:tab pos="143573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25" dirty="0">
                <a:solidFill>
                  <a:srgbClr val="C00000"/>
                </a:solidFill>
                <a:latin typeface="Verdana"/>
                <a:cs typeface="Verdana"/>
              </a:rPr>
              <a:t>BC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	</a:t>
            </a:r>
            <a:r>
              <a:rPr sz="1700" spc="-5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2600" algn="l"/>
                <a:tab pos="129095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C00000"/>
                </a:solidFill>
                <a:latin typeface="Verdana"/>
                <a:cs typeface="Verdana"/>
              </a:rPr>
              <a:t>D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82600" algn="l"/>
                <a:tab pos="144081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482600" indent="-46990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2600" algn="l"/>
                <a:tab pos="1216025" algn="l"/>
              </a:tabLst>
            </a:pPr>
            <a:r>
              <a:rPr sz="1700" spc="-5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25" dirty="0">
                <a:solidFill>
                  <a:srgbClr val="C00000"/>
                </a:solidFill>
                <a:latin typeface="Verdana"/>
                <a:cs typeface="Verdana"/>
              </a:rPr>
              <a:t>CD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9531" y="5401564"/>
            <a:ext cx="8739505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0">
              <a:lnSpc>
                <a:spcPts val="1490"/>
              </a:lnSpc>
              <a:spcBef>
                <a:spcPts val="100"/>
              </a:spcBef>
            </a:pP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4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4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4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4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E,</a:t>
            </a:r>
            <a:r>
              <a:rPr sz="14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4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directly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imply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292934"/>
                </a:solidFill>
                <a:latin typeface="Verdana"/>
                <a:cs typeface="Verdana"/>
              </a:rPr>
              <a:t>E.</a:t>
            </a:r>
            <a:endParaRPr sz="1400">
              <a:latin typeface="Verdana"/>
              <a:cs typeface="Verdana"/>
            </a:endParaRPr>
          </a:p>
          <a:p>
            <a:pPr marL="1047750">
              <a:lnSpc>
                <a:spcPts val="1295"/>
              </a:lnSpc>
            </a:pP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4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4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4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directly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imply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292934"/>
                </a:solidFill>
                <a:latin typeface="Verdana"/>
                <a:cs typeface="Verdana"/>
              </a:rPr>
              <a:t>C.</a:t>
            </a:r>
            <a:endParaRPr sz="1400">
              <a:latin typeface="Verdana"/>
              <a:cs typeface="Verdana"/>
            </a:endParaRPr>
          </a:p>
          <a:p>
            <a:pPr marL="1047750" marR="5080">
              <a:lnSpc>
                <a:spcPts val="1390"/>
              </a:lnSpc>
              <a:spcBef>
                <a:spcPts val="95"/>
              </a:spcBef>
            </a:pPr>
            <a:r>
              <a:rPr sz="1400" spc="-30" dirty="0">
                <a:solidFill>
                  <a:srgbClr val="292934"/>
                </a:solidFill>
                <a:latin typeface="Verdana"/>
                <a:cs typeface="Verdana"/>
              </a:rPr>
              <a:t>Alternatively,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4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E,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thus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directly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imply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E.</a:t>
            </a:r>
            <a:r>
              <a:rPr sz="14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4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292934"/>
                </a:solidFill>
                <a:latin typeface="Verdana"/>
                <a:cs typeface="Verdana"/>
              </a:rPr>
              <a:t>this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done,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would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kept</a:t>
            </a:r>
            <a:r>
              <a:rPr sz="14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292934"/>
                </a:solidFill>
                <a:latin typeface="Verdana"/>
                <a:cs typeface="Verdana"/>
              </a:rPr>
              <a:t>(i.e.,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BC);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then,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4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4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400" spc="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4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292934"/>
                </a:solidFill>
                <a:latin typeface="Verdana"/>
                <a:cs typeface="Verdana"/>
              </a:rPr>
              <a:t>remove</a:t>
            </a:r>
            <a:r>
              <a:rPr sz="14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Fc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E,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Decomposed</a:t>
            </a:r>
            <a:r>
              <a:rPr sz="19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tables:</a:t>
            </a:r>
            <a:r>
              <a:rPr sz="19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R1(AB),</a:t>
            </a:r>
            <a:r>
              <a:rPr sz="19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R2(BD),</a:t>
            </a:r>
            <a:r>
              <a:rPr sz="19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R3(CE),</a:t>
            </a:r>
            <a:r>
              <a:rPr sz="19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R4(CD)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9788" y="2886455"/>
            <a:ext cx="16179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21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Fc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234171" y="4105354"/>
            <a:ext cx="203835" cy="203835"/>
          </a:xfrm>
          <a:custGeom>
            <a:avLst/>
            <a:gdLst/>
            <a:ahLst/>
            <a:cxnLst/>
            <a:rect l="l" t="t" r="r" b="b"/>
            <a:pathLst>
              <a:path w="203834" h="203835">
                <a:moveTo>
                  <a:pt x="0" y="203671"/>
                </a:moveTo>
                <a:lnTo>
                  <a:pt x="203672" y="0"/>
                </a:lnTo>
              </a:path>
            </a:pathLst>
          </a:custGeom>
          <a:ln w="4000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6968728" y="2407299"/>
            <a:ext cx="2380615" cy="675640"/>
            <a:chOff x="6968728" y="2407299"/>
            <a:chExt cx="2380615" cy="675640"/>
          </a:xfrm>
        </p:grpSpPr>
        <p:sp>
          <p:nvSpPr>
            <p:cNvPr id="29" name="object 29"/>
            <p:cNvSpPr/>
            <p:nvPr/>
          </p:nvSpPr>
          <p:spPr>
            <a:xfrm>
              <a:off x="6982601" y="2421172"/>
              <a:ext cx="2352675" cy="648335"/>
            </a:xfrm>
            <a:custGeom>
              <a:avLst/>
              <a:gdLst/>
              <a:ahLst/>
              <a:cxnLst/>
              <a:rect l="l" t="t" r="r" b="b"/>
              <a:pathLst>
                <a:path w="2352675" h="648335">
                  <a:moveTo>
                    <a:pt x="2244316" y="0"/>
                  </a:moveTo>
                  <a:lnTo>
                    <a:pt x="107977" y="0"/>
                  </a:lnTo>
                  <a:lnTo>
                    <a:pt x="65948" y="8485"/>
                  </a:lnTo>
                  <a:lnTo>
                    <a:pt x="31626" y="31626"/>
                  </a:lnTo>
                  <a:lnTo>
                    <a:pt x="8485" y="65948"/>
                  </a:lnTo>
                  <a:lnTo>
                    <a:pt x="0" y="107979"/>
                  </a:lnTo>
                  <a:lnTo>
                    <a:pt x="0" y="539884"/>
                  </a:lnTo>
                  <a:lnTo>
                    <a:pt x="8485" y="581911"/>
                  </a:lnTo>
                  <a:lnTo>
                    <a:pt x="31626" y="616233"/>
                  </a:lnTo>
                  <a:lnTo>
                    <a:pt x="65948" y="639374"/>
                  </a:lnTo>
                  <a:lnTo>
                    <a:pt x="107977" y="647860"/>
                  </a:lnTo>
                  <a:lnTo>
                    <a:pt x="2244316" y="647860"/>
                  </a:lnTo>
                  <a:lnTo>
                    <a:pt x="2286345" y="639374"/>
                  </a:lnTo>
                  <a:lnTo>
                    <a:pt x="2320667" y="616233"/>
                  </a:lnTo>
                  <a:lnTo>
                    <a:pt x="2343808" y="581911"/>
                  </a:lnTo>
                  <a:lnTo>
                    <a:pt x="2352294" y="539884"/>
                  </a:lnTo>
                  <a:lnTo>
                    <a:pt x="2352294" y="107979"/>
                  </a:lnTo>
                  <a:lnTo>
                    <a:pt x="2343808" y="65948"/>
                  </a:lnTo>
                  <a:lnTo>
                    <a:pt x="2320667" y="31626"/>
                  </a:lnTo>
                  <a:lnTo>
                    <a:pt x="2286345" y="8485"/>
                  </a:lnTo>
                  <a:lnTo>
                    <a:pt x="224431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82601" y="2421172"/>
              <a:ext cx="2352675" cy="648335"/>
            </a:xfrm>
            <a:custGeom>
              <a:avLst/>
              <a:gdLst/>
              <a:ahLst/>
              <a:cxnLst/>
              <a:rect l="l" t="t" r="r" b="b"/>
              <a:pathLst>
                <a:path w="2352675" h="648335">
                  <a:moveTo>
                    <a:pt x="0" y="107978"/>
                  </a:moveTo>
                  <a:lnTo>
                    <a:pt x="8485" y="65948"/>
                  </a:lnTo>
                  <a:lnTo>
                    <a:pt x="31626" y="31626"/>
                  </a:lnTo>
                  <a:lnTo>
                    <a:pt x="65948" y="8485"/>
                  </a:lnTo>
                  <a:lnTo>
                    <a:pt x="107978" y="0"/>
                  </a:lnTo>
                  <a:lnTo>
                    <a:pt x="392048" y="0"/>
                  </a:lnTo>
                  <a:lnTo>
                    <a:pt x="980122" y="0"/>
                  </a:lnTo>
                  <a:lnTo>
                    <a:pt x="2244315" y="0"/>
                  </a:lnTo>
                  <a:lnTo>
                    <a:pt x="2286345" y="8485"/>
                  </a:lnTo>
                  <a:lnTo>
                    <a:pt x="2320667" y="31626"/>
                  </a:lnTo>
                  <a:lnTo>
                    <a:pt x="2343808" y="65948"/>
                  </a:lnTo>
                  <a:lnTo>
                    <a:pt x="2352293" y="107978"/>
                  </a:lnTo>
                  <a:lnTo>
                    <a:pt x="2352293" y="377918"/>
                  </a:lnTo>
                  <a:lnTo>
                    <a:pt x="2352293" y="539883"/>
                  </a:lnTo>
                  <a:lnTo>
                    <a:pt x="2343808" y="581911"/>
                  </a:lnTo>
                  <a:lnTo>
                    <a:pt x="2320667" y="616233"/>
                  </a:lnTo>
                  <a:lnTo>
                    <a:pt x="2286345" y="639373"/>
                  </a:lnTo>
                  <a:lnTo>
                    <a:pt x="2244315" y="647859"/>
                  </a:lnTo>
                  <a:lnTo>
                    <a:pt x="980122" y="647859"/>
                  </a:lnTo>
                  <a:lnTo>
                    <a:pt x="392048" y="647859"/>
                  </a:lnTo>
                  <a:lnTo>
                    <a:pt x="107978" y="647859"/>
                  </a:lnTo>
                  <a:lnTo>
                    <a:pt x="65948" y="639373"/>
                  </a:lnTo>
                  <a:lnTo>
                    <a:pt x="31626" y="616233"/>
                  </a:lnTo>
                  <a:lnTo>
                    <a:pt x="8485" y="581911"/>
                  </a:lnTo>
                  <a:lnTo>
                    <a:pt x="0" y="539881"/>
                  </a:lnTo>
                  <a:lnTo>
                    <a:pt x="0" y="426199"/>
                  </a:lnTo>
                  <a:lnTo>
                    <a:pt x="0" y="377918"/>
                  </a:lnTo>
                  <a:lnTo>
                    <a:pt x="0" y="107978"/>
                  </a:lnTo>
                  <a:close/>
                </a:path>
              </a:pathLst>
            </a:custGeom>
            <a:ln w="2774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177594" y="2473959"/>
            <a:ext cx="1964055" cy="5410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96875" marR="5080" indent="-384810">
              <a:lnSpc>
                <a:spcPts val="2020"/>
              </a:lnSpc>
              <a:spcBef>
                <a:spcPts val="180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What</a:t>
            </a:r>
            <a:r>
              <a:rPr sz="17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7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minimal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super</a:t>
            </a:r>
            <a:r>
              <a:rPr sz="17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key?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1115</TotalTime>
  <Words>4771</Words>
  <Application>Microsoft Macintosh PowerPoint</Application>
  <PresentationFormat>Custom</PresentationFormat>
  <Paragraphs>676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 MT</vt:lpstr>
      <vt:lpstr>Comic Sans MS</vt:lpstr>
      <vt:lpstr>Times New Roman</vt:lpstr>
      <vt:lpstr>Trebuchet MS</vt:lpstr>
      <vt:lpstr>Verdana</vt:lpstr>
      <vt:lpstr>Wingdings</vt:lpstr>
      <vt:lpstr>Office Theme</vt:lpstr>
      <vt:lpstr>More Practice 3NF and BCNF</vt:lpstr>
      <vt:lpstr>Practice 1: 3NF and BCNF</vt:lpstr>
      <vt:lpstr>Practice 1: 3NF and BCNF (2)</vt:lpstr>
      <vt:lpstr>Practice 1: 3NF and BCNF (3)</vt:lpstr>
      <vt:lpstr>Practice 1: 3NF and BCNF (4)</vt:lpstr>
      <vt:lpstr>Ready for the next one ??</vt:lpstr>
      <vt:lpstr>Practice 2: 3NF</vt:lpstr>
      <vt:lpstr>Practice 2: 3NF (2)</vt:lpstr>
      <vt:lpstr>Practice 2: 3NF (3)</vt:lpstr>
      <vt:lpstr>Practice 2: 3NF (4)</vt:lpstr>
      <vt:lpstr>Ready for the next one ??</vt:lpstr>
      <vt:lpstr>Practice 3: BCNF</vt:lpstr>
      <vt:lpstr>Practice 3: BCNF (2)</vt:lpstr>
      <vt:lpstr>Practice 3: BCNF (3)</vt:lpstr>
      <vt:lpstr>Practice 3: BCNF (4)</vt:lpstr>
      <vt:lpstr>Ready for the next one ??</vt:lpstr>
      <vt:lpstr>Practice 4: 3NF</vt:lpstr>
      <vt:lpstr>Practice 4: 3NF (2)</vt:lpstr>
      <vt:lpstr>Practice 4: 3NF (3)</vt:lpstr>
      <vt:lpstr>Practice 4: 3NF (4)</vt:lpstr>
      <vt:lpstr>Ready for the next one ??</vt:lpstr>
      <vt:lpstr>Practice 5: BCNF</vt:lpstr>
      <vt:lpstr>Practice 5: BCNF (2)</vt:lpstr>
      <vt:lpstr>Practice 5: BCNF (3)</vt:lpstr>
      <vt:lpstr>Practice 5: BCNF (4)</vt:lpstr>
      <vt:lpstr>Ready for the next one ??</vt:lpstr>
      <vt:lpstr>Practice 6: BCNF</vt:lpstr>
      <vt:lpstr>Practice 6: BCNF (2)</vt:lpstr>
      <vt:lpstr>Practice 6: BCNF (3)</vt:lpstr>
      <vt:lpstr>Practice 6: BCNF (4)</vt:lpstr>
      <vt:lpstr>Practice 6: BCNF (5)</vt:lpstr>
      <vt:lpstr>Ready for the next one ??</vt:lpstr>
      <vt:lpstr>Practice 7: BCNF</vt:lpstr>
      <vt:lpstr>Practice 7: BCNF (2)</vt:lpstr>
      <vt:lpstr>Practice 7: BCNF (3)</vt:lpstr>
      <vt:lpstr>Practice 7: BCNF (4)</vt:lpstr>
      <vt:lpstr>Ready for the next one ??</vt:lpstr>
      <vt:lpstr>Practice 8: 3NF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4750meet11-more-3NF-BCNF</dc:title>
  <dc:creator>upsorn</dc:creator>
  <cp:lastModifiedBy>Farhan Tanvir</cp:lastModifiedBy>
  <cp:revision>38</cp:revision>
  <dcterms:created xsi:type="dcterms:W3CDTF">2026-03-23T22:47:45Z</dcterms:created>
  <dcterms:modified xsi:type="dcterms:W3CDTF">2026-03-24T17:23:09Z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2026-02-06T00:00:00Z</vt:filetime>
  </property>
  <property fmtid="{D5CDD505-2E9C-101B-9397-08002B2CF9AE}" pid="3" name="Creator">
    <vt:lpwstr>PowerPoint</vt:lpwstr>
  </property>
  <property fmtid="{D5CDD505-2E9C-101B-9397-08002B2CF9AE}" pid="4" name="LastSaved">
    <vt:filetime>2026-03-23T00:00:00Z</vt:filetime>
  </property>
  <property fmtid="{D5CDD505-2E9C-101B-9397-08002B2CF9AE}" pid="5" name="Producer">
    <vt:lpwstr>macOS Version 11.5.2 (Build 20G95) Quartz PDFContext</vt:lpwstr>
  </property>
</Properties>
</file>