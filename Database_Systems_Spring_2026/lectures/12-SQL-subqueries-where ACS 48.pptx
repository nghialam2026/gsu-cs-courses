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312" r:id="rId3"/>
    <p:sldId id="27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2" r:id="rId18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94"/>
  </p:normalViewPr>
  <p:slideViewPr>
    <p:cSldViewPr>
      <p:cViewPr varScale="1">
        <p:scale>
          <a:sx n="107" d="100"/>
          <a:sy n="107" d="100"/>
        </p:scale>
        <p:origin x="1648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04A21-03EF-5FC9-E113-6AE210AED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272011"/>
            <a:ext cx="7543800" cy="270594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8F3BB2-2FCE-A4E5-50C9-393EBED08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43D28-4CC0-E715-2038-3D89796A7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839E1-0631-9168-DE97-836071AFA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E25B8-A4E8-13EB-9D97-99BAB296E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01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BDE66-157B-52E4-122A-56953F5F0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8E803-8893-C7CB-AA36-2E57AF6C2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0A84D-D583-1C37-0BB2-64D11EE20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70770-22D6-8CDB-7CB7-496CF015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18112-8FDA-F162-3EA6-6903BF27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004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8207F-CBE4-CBFD-C65E-03F151C4F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54009-9F44-DAAC-284A-827BC542A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E2E33-923B-DF6E-0FAC-D49350D2E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F5EB4-44F8-B8B4-FC1A-0B2C7FDB8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4534-9F37-A545-AFD2-E8582D700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199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A8B04-BCE3-E6BA-B818-853E400D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1E4DF-929E-7E56-4800-8C66CEFF9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7423D-01BA-E065-AB36-69AA07CEE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9FDFE-8410-8B5D-BFD1-7DD19F244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B40C0-BC18-13F2-637D-681F1C435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263B3-93D0-4142-CA61-B51CDB7F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58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3F41-D4C1-322E-D505-F03BF2CA7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413809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97BD1-7D97-A27E-E6F1-95EB198C3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FFE7E-9DF8-A65C-1FE7-0BA5CABEC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A79A9E-9E9F-AB2B-DA06-5CC71FC34E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92065" y="1905318"/>
            <a:ext cx="4276130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0041F6-8E02-E396-85C5-A8C9B0BB3E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92065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4C3E4-4C8D-D418-F203-930F117E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8F7BC-B7B9-88E0-CC09-C61B3D6F0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456518-548A-8D96-BE5F-77042C35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002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0042-92F0-1FD5-6DCA-FD3321A67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F2FBE9-0DDD-FB99-A48F-0C1E2D90F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0BF16C-87E2-3B42-437E-C6758E952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D2E3F-E315-4F10-C2F9-45F70A6C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1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5E8B46-0EA6-C818-53B1-9E53A0213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DC25F9-3867-941D-5086-5E3DB7E3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198DE-6A25-49D7-4BC6-0FFB5C1E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817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AF536-6C47-7D3D-E113-33927964E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B3EC4-8D9A-ABC7-091F-BB5719AE7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93E27-62B8-8959-132E-9E95F4CCC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4567A-8BFC-D848-6508-61D130769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F6951-CD83-F821-87BD-4FDE0EDAC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ED3F3-1930-F8D7-7CBB-7DDEAC7C4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778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17FF7-B35A-D33B-1216-3350E542C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9738C5-61BB-CBF6-2466-947B8C5E5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1D260-2329-0AAD-F780-D26373687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F9443-ABF9-3911-AEEA-89E7C944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C6916-89A2-0FC7-A825-9C8A2CD6F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65FF9-C1B7-EED2-0C94-5DB6ABED2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506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AAC8D-955C-3BAE-1534-8682BD55F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83B5A-C4AE-874A-AFF0-B97616655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F7CCA-24F0-D590-16D7-7EF81ACB0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50098-0EA2-D734-28AF-7058B335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74589-3A68-2323-E0A2-E5748862E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204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92791A-F412-F443-D8B6-1F40A3543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98042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3DBE6-4086-6C0A-2488-8668B2D4D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2AF17-6297-A6DC-92EE-42113557D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DE163-7EA9-726A-A4E9-C33E33B95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6DE86-807B-1D01-4180-81524F0F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13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42A9BF-EBE5-414B-C0A8-04DD880D7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575B0-4297-719D-8375-85F7A57F8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15C0D-B83A-C973-AB9A-11F9EB6BB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7F879-21F7-4811-6312-12F5F3E38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4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FA8D5-ECF0-FED3-47E6-2C1970424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78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86383" y="3642359"/>
            <a:ext cx="8453120" cy="0"/>
          </a:xfrm>
          <a:custGeom>
            <a:avLst/>
            <a:gdLst/>
            <a:ahLst/>
            <a:cxnLst/>
            <a:rect l="l" t="t" r="r" b="b"/>
            <a:pathLst>
              <a:path w="8453120">
                <a:moveTo>
                  <a:pt x="0" y="0"/>
                </a:moveTo>
                <a:lnTo>
                  <a:pt x="8453119" y="1"/>
                </a:lnTo>
              </a:path>
            </a:pathLst>
          </a:custGeom>
          <a:ln w="40639">
            <a:solidFill>
              <a:srgbClr val="431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07912" y="988059"/>
            <a:ext cx="7045325" cy="240919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065" marR="8890" algn="ctr">
              <a:lnSpc>
                <a:spcPts val="5900"/>
              </a:lnSpc>
              <a:spcBef>
                <a:spcPts val="1180"/>
              </a:spcBef>
            </a:pPr>
            <a:r>
              <a:rPr sz="5800" spc="-95" dirty="0"/>
              <a:t>SQL</a:t>
            </a:r>
            <a:r>
              <a:rPr sz="5800" spc="-300" dirty="0"/>
              <a:t> </a:t>
            </a:r>
            <a:r>
              <a:rPr sz="5800" dirty="0"/>
              <a:t>–</a:t>
            </a:r>
            <a:r>
              <a:rPr sz="5800" spc="-295" dirty="0"/>
              <a:t> </a:t>
            </a:r>
            <a:r>
              <a:rPr sz="5800" spc="-135" dirty="0"/>
              <a:t>Subqueries </a:t>
            </a:r>
            <a:r>
              <a:rPr sz="5800" spc="-1970" dirty="0"/>
              <a:t> </a:t>
            </a:r>
            <a:r>
              <a:rPr sz="5800" spc="-60" dirty="0"/>
              <a:t>in </a:t>
            </a:r>
            <a:r>
              <a:rPr sz="5800" spc="-114" dirty="0"/>
              <a:t>WHERE </a:t>
            </a:r>
            <a:r>
              <a:rPr sz="5800" spc="-110" dirty="0"/>
              <a:t>Clause </a:t>
            </a:r>
            <a:r>
              <a:rPr sz="5800" spc="-1970" dirty="0"/>
              <a:t> </a:t>
            </a:r>
            <a:r>
              <a:rPr sz="5800" spc="-90" dirty="0"/>
              <a:t>and</a:t>
            </a:r>
            <a:r>
              <a:rPr sz="5800" spc="-265" dirty="0"/>
              <a:t> </a:t>
            </a:r>
            <a:r>
              <a:rPr sz="5800" spc="-120" dirty="0"/>
              <a:t>Quantifiers</a:t>
            </a:r>
            <a:endParaRPr sz="5800"/>
          </a:p>
        </p:txBody>
      </p:sp>
      <p:sp>
        <p:nvSpPr>
          <p:cNvPr id="5" name="object 5"/>
          <p:cNvSpPr txBox="1"/>
          <p:nvPr/>
        </p:nvSpPr>
        <p:spPr>
          <a:xfrm>
            <a:off x="2471420" y="3934967"/>
            <a:ext cx="5120640" cy="118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560"/>
              </a:lnSpc>
              <a:spcBef>
                <a:spcPts val="100"/>
              </a:spcBef>
            </a:pPr>
            <a:r>
              <a:rPr sz="4100" b="1" spc="-14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4100" b="1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4100" b="1" spc="-2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100" b="1" spc="-145" dirty="0">
                <a:solidFill>
                  <a:srgbClr val="292934"/>
                </a:solidFill>
                <a:latin typeface="Verdana"/>
                <a:cs typeface="Verdana"/>
              </a:rPr>
              <a:t>4750</a:t>
            </a:r>
            <a:endParaRPr sz="4100">
              <a:latin typeface="Verdana"/>
              <a:cs typeface="Verdana"/>
            </a:endParaRPr>
          </a:p>
          <a:p>
            <a:pPr algn="ctr">
              <a:lnSpc>
                <a:spcPts val="4560"/>
              </a:lnSpc>
            </a:pPr>
            <a:r>
              <a:rPr sz="4100" b="1" spc="-1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ata</a:t>
            </a:r>
            <a:r>
              <a:rPr sz="4100" b="1" spc="-13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4100" b="1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4100" b="1" spc="-2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Syste</a:t>
            </a:r>
            <a:r>
              <a:rPr sz="4100" b="1" spc="-155" dirty="0">
                <a:solidFill>
                  <a:srgbClr val="292934"/>
                </a:solidFill>
                <a:latin typeface="Verdana"/>
                <a:cs typeface="Verdana"/>
              </a:rPr>
              <a:t>ms</a:t>
            </a:r>
            <a:endParaRPr sz="4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493FA-C0E6-E1B1-EE55-9B93A544A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80D7E-FA48-9A25-DD1F-4981F18B5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Zybook</a:t>
            </a:r>
            <a:r>
              <a:rPr lang="en-US" dirty="0"/>
              <a:t> Assignment 2 due on 03/08</a:t>
            </a:r>
          </a:p>
          <a:p>
            <a:r>
              <a:rPr lang="en-US" dirty="0"/>
              <a:t>Project phase 3 due on 03/06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202122"/>
                </a:solidFill>
                <a:effectLst/>
                <a:latin typeface="Lato" panose="020F0502020204030203" pitchFamily="34" charset="0"/>
              </a:rPr>
              <a:t>Each group must submit a detailed and well thought-out development plan including the following: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202122"/>
                </a:solidFill>
                <a:effectLst/>
                <a:latin typeface="Lato" panose="020F0502020204030203" pitchFamily="34" charset="0"/>
              </a:rPr>
              <a:t>The relational schema of your database. Remember to include all keys. Convert the ER diagram from phase 2 to relational model.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202122"/>
                </a:solidFill>
                <a:effectLst/>
                <a:latin typeface="Lato" panose="020F0502020204030203" pitchFamily="34" charset="0"/>
              </a:rPr>
              <a:t>The final choice of databases and software platforms/languages that you will be using.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202122"/>
                </a:solidFill>
                <a:effectLst/>
                <a:latin typeface="Lato" panose="020F0502020204030203" pitchFamily="34" charset="0"/>
              </a:rPr>
              <a:t>Where and how you will get data for your application. Do you get it from the web, some other application, or do you make it up.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202122"/>
                </a:solidFill>
                <a:effectLst/>
                <a:latin typeface="Lato" panose="020F0502020204030203" pitchFamily="34" charset="0"/>
              </a:rPr>
              <a:t>Describe the labor division among group members.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202122"/>
                </a:solidFill>
                <a:effectLst/>
                <a:latin typeface="Lato" panose="020F0502020204030203" pitchFamily="34" charset="0"/>
              </a:rPr>
              <a:t>A project timeline with milestones. Provide a 4-6 weeks plan for your project's implementation.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843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B5470-5B81-2BFD-79DF-C20E67A50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D7CF4-0CBB-DB5C-6B9E-6BC5573E5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Bonus </a:t>
            </a:r>
            <a:r>
              <a:rPr lang="en-US" dirty="0"/>
              <a:t>points for Coolest Projects</a:t>
            </a:r>
          </a:p>
          <a:p>
            <a:pPr lvl="1"/>
            <a:r>
              <a:rPr lang="en-US" dirty="0"/>
              <a:t>5 extra point for best project</a:t>
            </a:r>
          </a:p>
          <a:p>
            <a:pPr lvl="1"/>
            <a:r>
              <a:rPr lang="en-US" dirty="0"/>
              <a:t>3 extra points for 2</a:t>
            </a:r>
            <a:r>
              <a:rPr lang="en-US" baseline="30000" dirty="0"/>
              <a:t>nd</a:t>
            </a:r>
            <a:r>
              <a:rPr lang="en-US" dirty="0"/>
              <a:t> best project</a:t>
            </a:r>
          </a:p>
          <a:p>
            <a:pPr lvl="1"/>
            <a:r>
              <a:rPr lang="en-US" dirty="0"/>
              <a:t>Undergraduate and Graduate projects will be considered separately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7159" y="240056"/>
          <a:ext cx="9719944" cy="8765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23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0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A6A6A6"/>
                      </a:solidFill>
                      <a:prstDash val="solid"/>
                    </a:lnR>
                    <a:solidFill>
                      <a:srgbClr val="E6E6FA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500" spc="-10" dirty="0">
                          <a:solidFill>
                            <a:srgbClr val="57576E"/>
                          </a:solidFill>
                          <a:latin typeface="Arial MT"/>
                          <a:cs typeface="Arial MT"/>
                        </a:rPr>
                        <a:t>revisit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E6E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549">
                <a:tc gridSpan="2">
                  <a:txBody>
                    <a:bodyPr/>
                    <a:lstStyle/>
                    <a:p>
                      <a:pPr marL="48895" algn="ctr">
                        <a:lnSpc>
                          <a:spcPts val="3604"/>
                        </a:lnSpc>
                      </a:pPr>
                      <a:r>
                        <a:rPr sz="4300" b="1" spc="-13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Su</a:t>
                      </a:r>
                      <a:r>
                        <a:rPr sz="4300" b="1" spc="-13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bq</a:t>
                      </a:r>
                      <a:r>
                        <a:rPr sz="4300" b="1" spc="-13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4300" b="1" spc="-12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erie</a:t>
                      </a:r>
                      <a:r>
                        <a:rPr sz="4300" b="1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4300" b="1" spc="-254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4300" b="1" spc="-12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4300" b="1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4300" b="1" spc="-254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4300" b="1" spc="-15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W</a:t>
                      </a:r>
                      <a:r>
                        <a:rPr sz="4300" b="1" spc="-13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H</a:t>
                      </a:r>
                      <a:r>
                        <a:rPr sz="4300" b="1" spc="-125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4300" b="1" spc="-140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4300" b="1" dirty="0">
                          <a:solidFill>
                            <a:srgbClr val="000099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43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38100">
                      <a:solidFill>
                        <a:srgbClr val="431FAA"/>
                      </a:solidFill>
                      <a:prstDash val="solid"/>
                    </a:lnB>
                    <a:solidFill>
                      <a:srgbClr val="E6E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6608" y="1185671"/>
            <a:ext cx="8912860" cy="749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ts val="2880"/>
              </a:lnSpc>
              <a:spcBef>
                <a:spcPts val="95"/>
              </a:spcBef>
            </a:pPr>
            <a:r>
              <a:rPr sz="2300" b="0" spc="5" dirty="0">
                <a:solidFill>
                  <a:srgbClr val="292934"/>
                </a:solidFill>
                <a:latin typeface="Verdana"/>
                <a:cs typeface="Verdana"/>
              </a:rPr>
              <a:t>Return</a:t>
            </a:r>
            <a:r>
              <a:rPr sz="2300" b="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b="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0" spc="10" dirty="0">
                <a:solidFill>
                  <a:srgbClr val="C00000"/>
                </a:solidFill>
                <a:latin typeface="Verdana"/>
                <a:cs typeface="Verdana"/>
              </a:rPr>
              <a:t>single</a:t>
            </a:r>
            <a:r>
              <a:rPr sz="2300" b="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0" spc="5" dirty="0">
                <a:solidFill>
                  <a:srgbClr val="C00000"/>
                </a:solidFill>
                <a:latin typeface="Verdana"/>
                <a:cs typeface="Verdana"/>
              </a:rPr>
              <a:t>value</a:t>
            </a:r>
            <a:r>
              <a:rPr sz="2300" b="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0" spc="1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300" b="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b="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0" spc="15" dirty="0">
                <a:solidFill>
                  <a:srgbClr val="C00000"/>
                </a:solidFill>
                <a:latin typeface="Verdana"/>
                <a:cs typeface="Verdana"/>
              </a:rPr>
              <a:t>relation</a:t>
            </a:r>
            <a:r>
              <a:rPr sz="2300" b="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0" spc="1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300" b="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0" spc="1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300" b="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0" spc="1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300" b="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0" spc="25" dirty="0">
                <a:solidFill>
                  <a:srgbClr val="292934"/>
                </a:solidFill>
                <a:latin typeface="Verdana"/>
                <a:cs typeface="Verdana"/>
              </a:rPr>
              <a:t>compared</a:t>
            </a:r>
            <a:r>
              <a:rPr sz="2300" b="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0" spc="10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2300" b="0" spc="-7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0" spc="3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b="0" spc="2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300" b="0" spc="30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300" b="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300" b="0" spc="20" dirty="0">
                <a:solidFill>
                  <a:srgbClr val="292934"/>
                </a:solidFill>
                <a:latin typeface="Verdana"/>
                <a:cs typeface="Verdana"/>
              </a:rPr>
              <a:t>h</a:t>
            </a:r>
            <a:r>
              <a:rPr sz="2300" b="0" spc="2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300" b="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300" b="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0" spc="-25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2300" b="0" spc="3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b="0" spc="1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2300" b="0" spc="2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300" b="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300" b="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0" spc="5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300" b="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300" b="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b="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b="0" spc="-30" dirty="0">
                <a:solidFill>
                  <a:srgbClr val="292934"/>
                </a:solidFill>
                <a:latin typeface="Courier New"/>
                <a:cs typeface="Courier New"/>
              </a:rPr>
              <a:t>WHER</a:t>
            </a:r>
            <a:r>
              <a:rPr sz="2600" b="0" dirty="0">
                <a:solidFill>
                  <a:srgbClr val="292934"/>
                </a:solidFill>
                <a:latin typeface="Courier New"/>
                <a:cs typeface="Courier New"/>
              </a:rPr>
              <a:t>E</a:t>
            </a:r>
            <a:r>
              <a:rPr sz="2600" b="0" spc="-6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b="0" spc="2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300" b="0" spc="5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2300" b="0" spc="3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b="0" spc="2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300" b="0" spc="25" dirty="0">
                <a:solidFill>
                  <a:srgbClr val="292934"/>
                </a:solidFill>
                <a:latin typeface="Verdana"/>
                <a:cs typeface="Verdana"/>
              </a:rPr>
              <a:t>se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733" y="2573528"/>
            <a:ext cx="8939530" cy="102870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name(s)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employee(s)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earn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highest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salary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each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job</a:t>
            </a:r>
            <a:endParaRPr sz="2100">
              <a:latin typeface="Verdana"/>
              <a:cs typeface="Verdana"/>
            </a:endParaRPr>
          </a:p>
          <a:p>
            <a:pPr marL="140970" algn="ctr">
              <a:lnSpc>
                <a:spcPct val="100000"/>
              </a:lnSpc>
              <a:spcBef>
                <a:spcPts val="265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HW_emp(</a:t>
            </a:r>
            <a:r>
              <a:rPr sz="21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empno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1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ename,</a:t>
            </a:r>
            <a:r>
              <a:rPr sz="21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job,</a:t>
            </a:r>
            <a:r>
              <a:rPr sz="2100" spc="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sal)</a:t>
            </a:r>
            <a:endParaRPr sz="210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22787" y="5792860"/>
            <a:ext cx="2858770" cy="796925"/>
            <a:chOff x="5822787" y="5792860"/>
            <a:chExt cx="2858770" cy="796925"/>
          </a:xfrm>
        </p:grpSpPr>
        <p:sp>
          <p:nvSpPr>
            <p:cNvPr id="7" name="object 7"/>
            <p:cNvSpPr/>
            <p:nvPr/>
          </p:nvSpPr>
          <p:spPr>
            <a:xfrm>
              <a:off x="5836880" y="5806953"/>
              <a:ext cx="2830830" cy="768985"/>
            </a:xfrm>
            <a:custGeom>
              <a:avLst/>
              <a:gdLst/>
              <a:ahLst/>
              <a:cxnLst/>
              <a:rect l="l" t="t" r="r" b="b"/>
              <a:pathLst>
                <a:path w="2830829" h="768984">
                  <a:moveTo>
                    <a:pt x="2734837" y="194815"/>
                  </a:moveTo>
                  <a:lnTo>
                    <a:pt x="95624" y="194815"/>
                  </a:lnTo>
                  <a:lnTo>
                    <a:pt x="58403" y="202329"/>
                  </a:lnTo>
                  <a:lnTo>
                    <a:pt x="28007" y="222822"/>
                  </a:lnTo>
                  <a:lnTo>
                    <a:pt x="7514" y="253217"/>
                  </a:lnTo>
                  <a:lnTo>
                    <a:pt x="0" y="290438"/>
                  </a:lnTo>
                  <a:lnTo>
                    <a:pt x="0" y="672929"/>
                  </a:lnTo>
                  <a:lnTo>
                    <a:pt x="7514" y="710151"/>
                  </a:lnTo>
                  <a:lnTo>
                    <a:pt x="28007" y="740546"/>
                  </a:lnTo>
                  <a:lnTo>
                    <a:pt x="58403" y="761039"/>
                  </a:lnTo>
                  <a:lnTo>
                    <a:pt x="95624" y="768554"/>
                  </a:lnTo>
                  <a:lnTo>
                    <a:pt x="2734837" y="768554"/>
                  </a:lnTo>
                  <a:lnTo>
                    <a:pt x="2772058" y="761039"/>
                  </a:lnTo>
                  <a:lnTo>
                    <a:pt x="2802453" y="740546"/>
                  </a:lnTo>
                  <a:lnTo>
                    <a:pt x="2822945" y="710151"/>
                  </a:lnTo>
                  <a:lnTo>
                    <a:pt x="2830460" y="672929"/>
                  </a:lnTo>
                  <a:lnTo>
                    <a:pt x="2830460" y="290438"/>
                  </a:lnTo>
                  <a:lnTo>
                    <a:pt x="2822945" y="253217"/>
                  </a:lnTo>
                  <a:lnTo>
                    <a:pt x="2802453" y="222822"/>
                  </a:lnTo>
                  <a:lnTo>
                    <a:pt x="2772058" y="202329"/>
                  </a:lnTo>
                  <a:lnTo>
                    <a:pt x="2734837" y="194815"/>
                  </a:lnTo>
                  <a:close/>
                </a:path>
                <a:path w="2830829" h="768984">
                  <a:moveTo>
                    <a:pt x="339512" y="0"/>
                  </a:moveTo>
                  <a:lnTo>
                    <a:pt x="471744" y="194815"/>
                  </a:lnTo>
                  <a:lnTo>
                    <a:pt x="1179358" y="194815"/>
                  </a:lnTo>
                  <a:lnTo>
                    <a:pt x="339512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36880" y="5806954"/>
              <a:ext cx="2830830" cy="768985"/>
            </a:xfrm>
            <a:custGeom>
              <a:avLst/>
              <a:gdLst/>
              <a:ahLst/>
              <a:cxnLst/>
              <a:rect l="l" t="t" r="r" b="b"/>
              <a:pathLst>
                <a:path w="2830829" h="768984">
                  <a:moveTo>
                    <a:pt x="0" y="290438"/>
                  </a:moveTo>
                  <a:lnTo>
                    <a:pt x="7514" y="253217"/>
                  </a:lnTo>
                  <a:lnTo>
                    <a:pt x="28007" y="222822"/>
                  </a:lnTo>
                  <a:lnTo>
                    <a:pt x="58402" y="202329"/>
                  </a:lnTo>
                  <a:lnTo>
                    <a:pt x="95624" y="194814"/>
                  </a:lnTo>
                  <a:lnTo>
                    <a:pt x="471743" y="194814"/>
                  </a:lnTo>
                  <a:lnTo>
                    <a:pt x="339512" y="0"/>
                  </a:lnTo>
                  <a:lnTo>
                    <a:pt x="1179358" y="194814"/>
                  </a:lnTo>
                  <a:lnTo>
                    <a:pt x="2734836" y="194814"/>
                  </a:lnTo>
                  <a:lnTo>
                    <a:pt x="2772057" y="202329"/>
                  </a:lnTo>
                  <a:lnTo>
                    <a:pt x="2802452" y="222822"/>
                  </a:lnTo>
                  <a:lnTo>
                    <a:pt x="2822946" y="253217"/>
                  </a:lnTo>
                  <a:lnTo>
                    <a:pt x="2830460" y="290438"/>
                  </a:lnTo>
                  <a:lnTo>
                    <a:pt x="2830460" y="433872"/>
                  </a:lnTo>
                  <a:lnTo>
                    <a:pt x="2830460" y="672930"/>
                  </a:lnTo>
                  <a:lnTo>
                    <a:pt x="2822946" y="710151"/>
                  </a:lnTo>
                  <a:lnTo>
                    <a:pt x="2802452" y="740546"/>
                  </a:lnTo>
                  <a:lnTo>
                    <a:pt x="2772057" y="761039"/>
                  </a:lnTo>
                  <a:lnTo>
                    <a:pt x="2734836" y="768554"/>
                  </a:lnTo>
                  <a:lnTo>
                    <a:pt x="1179358" y="768554"/>
                  </a:lnTo>
                  <a:lnTo>
                    <a:pt x="471743" y="768554"/>
                  </a:lnTo>
                  <a:lnTo>
                    <a:pt x="95624" y="768554"/>
                  </a:lnTo>
                  <a:lnTo>
                    <a:pt x="58402" y="761039"/>
                  </a:lnTo>
                  <a:lnTo>
                    <a:pt x="28007" y="740546"/>
                  </a:lnTo>
                  <a:lnTo>
                    <a:pt x="7514" y="710151"/>
                  </a:lnTo>
                  <a:lnTo>
                    <a:pt x="0" y="672930"/>
                  </a:lnTo>
                  <a:lnTo>
                    <a:pt x="0" y="433872"/>
                  </a:lnTo>
                  <a:lnTo>
                    <a:pt x="0" y="290438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1074" y="3924434"/>
            <a:ext cx="9199880" cy="2913746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158240" marR="5594985">
              <a:lnSpc>
                <a:spcPct val="102899"/>
              </a:lnSpc>
              <a:spcBef>
                <a:spcPts val="5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SELECT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E1.ename </a:t>
            </a:r>
            <a:r>
              <a:rPr sz="2100" spc="-12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FROM HW_emp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E1</a:t>
            </a:r>
            <a:endParaRPr sz="2100" dirty="0">
              <a:latin typeface="Courier New"/>
              <a:cs typeface="Courier New"/>
            </a:endParaRPr>
          </a:p>
          <a:p>
            <a:pPr marL="1158240">
              <a:lnSpc>
                <a:spcPct val="100000"/>
              </a:lnSpc>
              <a:spcBef>
                <a:spcPts val="7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WHERE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E1.sal</a:t>
            </a:r>
            <a:r>
              <a:rPr sz="21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(SELECT</a:t>
            </a:r>
            <a:r>
              <a:rPr sz="21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MAX(E2.sal)</a:t>
            </a:r>
            <a:endParaRPr sz="2100" dirty="0">
              <a:latin typeface="Courier New"/>
              <a:cs typeface="Courier New"/>
            </a:endParaRPr>
          </a:p>
          <a:p>
            <a:pPr marL="3762375">
              <a:lnSpc>
                <a:spcPct val="100000"/>
              </a:lnSpc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HW_emp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E2</a:t>
            </a:r>
            <a:endParaRPr sz="2100" dirty="0">
              <a:latin typeface="Courier New"/>
              <a:cs typeface="Courier New"/>
            </a:endParaRPr>
          </a:p>
          <a:p>
            <a:pPr marL="3762375">
              <a:lnSpc>
                <a:spcPct val="100000"/>
              </a:lnSpc>
              <a:spcBef>
                <a:spcPts val="7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WHERE E1.job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 E2.job);</a:t>
            </a:r>
            <a:endParaRPr sz="21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50" dirty="0">
              <a:latin typeface="Courier New"/>
              <a:cs typeface="Courier New"/>
            </a:endParaRPr>
          </a:p>
          <a:p>
            <a:pPr marL="5704205">
              <a:lnSpc>
                <a:spcPct val="100000"/>
              </a:lnSpc>
            </a:pPr>
            <a:r>
              <a:rPr sz="1700" b="1" dirty="0">
                <a:solidFill>
                  <a:srgbClr val="FFFFFF"/>
                </a:solidFill>
                <a:latin typeface="Verdana"/>
                <a:cs typeface="Verdana"/>
              </a:rPr>
              <a:t>”Correlated”</a:t>
            </a:r>
            <a:r>
              <a:rPr sz="17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query</a:t>
            </a:r>
            <a:endParaRPr sz="17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074" y="3924434"/>
            <a:ext cx="9199880" cy="3114675"/>
          </a:xfrm>
          <a:custGeom>
            <a:avLst/>
            <a:gdLst/>
            <a:ahLst/>
            <a:cxnLst/>
            <a:rect l="l" t="t" r="r" b="b"/>
            <a:pathLst>
              <a:path w="9199880" h="3114675">
                <a:moveTo>
                  <a:pt x="0" y="0"/>
                </a:moveTo>
                <a:lnTo>
                  <a:pt x="9199418" y="0"/>
                </a:lnTo>
                <a:lnTo>
                  <a:pt x="9199418" y="3114265"/>
                </a:lnTo>
                <a:lnTo>
                  <a:pt x="0" y="3114265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1074" y="199134"/>
            <a:ext cx="636587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Su</a:t>
            </a:r>
            <a:r>
              <a:rPr spc="-130" dirty="0"/>
              <a:t>bq</a:t>
            </a:r>
            <a:r>
              <a:rPr spc="-135" dirty="0"/>
              <a:t>u</a:t>
            </a:r>
            <a:r>
              <a:rPr spc="-125" dirty="0"/>
              <a:t>erie</a:t>
            </a:r>
            <a:r>
              <a:rPr dirty="0"/>
              <a:t>s</a:t>
            </a:r>
            <a:r>
              <a:rPr spc="-254" dirty="0"/>
              <a:t> </a:t>
            </a:r>
            <a:r>
              <a:rPr spc="-125" dirty="0"/>
              <a:t>i</a:t>
            </a:r>
            <a:r>
              <a:rPr dirty="0"/>
              <a:t>n</a:t>
            </a:r>
            <a:r>
              <a:rPr spc="-254" dirty="0"/>
              <a:t> </a:t>
            </a:r>
            <a:r>
              <a:rPr spc="-150" dirty="0"/>
              <a:t>W</a:t>
            </a:r>
            <a:r>
              <a:rPr spc="-135" dirty="0"/>
              <a:t>H</a:t>
            </a:r>
            <a:r>
              <a:rPr spc="-125" dirty="0"/>
              <a:t>E</a:t>
            </a:r>
            <a:r>
              <a:rPr spc="-140" dirty="0"/>
              <a:t>R</a:t>
            </a:r>
            <a:r>
              <a:rPr dirty="0"/>
              <a:t>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6608" y="1185671"/>
            <a:ext cx="8949690" cy="2397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1910">
              <a:lnSpc>
                <a:spcPts val="2880"/>
              </a:lnSpc>
              <a:spcBef>
                <a:spcPts val="95"/>
              </a:spcBef>
            </a:pP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Return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C00000"/>
                </a:solidFill>
                <a:latin typeface="Verdana"/>
                <a:cs typeface="Verdana"/>
              </a:rPr>
              <a:t>single</a:t>
            </a:r>
            <a:r>
              <a:rPr sz="23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C00000"/>
                </a:solidFill>
                <a:latin typeface="Verdana"/>
                <a:cs typeface="Verdana"/>
              </a:rPr>
              <a:t>value</a:t>
            </a:r>
            <a:r>
              <a:rPr sz="23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C00000"/>
                </a:solidFill>
                <a:latin typeface="Verdana"/>
                <a:cs typeface="Verdana"/>
              </a:rPr>
              <a:t>relation</a:t>
            </a:r>
            <a:r>
              <a:rPr sz="2300" spc="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compared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2300" spc="-7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o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h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v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n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600" spc="-30" dirty="0">
                <a:solidFill>
                  <a:srgbClr val="292934"/>
                </a:solidFill>
                <a:latin typeface="Courier New"/>
                <a:cs typeface="Courier New"/>
              </a:rPr>
              <a:t>WHER</a:t>
            </a:r>
            <a:r>
              <a:rPr sz="2600" dirty="0">
                <a:solidFill>
                  <a:srgbClr val="292934"/>
                </a:solidFill>
                <a:latin typeface="Courier New"/>
                <a:cs typeface="Courier New"/>
              </a:rPr>
              <a:t>E</a:t>
            </a:r>
            <a:r>
              <a:rPr sz="2600" spc="-6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se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250">
              <a:latin typeface="Verdana"/>
              <a:cs typeface="Verdana"/>
            </a:endParaRPr>
          </a:p>
          <a:p>
            <a:pPr marL="31750">
              <a:lnSpc>
                <a:spcPct val="100000"/>
              </a:lnSpc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name(s)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instructor(s)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earn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highest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salary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00">
              <a:latin typeface="Verdana"/>
              <a:cs typeface="Verdana"/>
            </a:endParaRPr>
          </a:p>
          <a:p>
            <a:pPr marR="6985" algn="ctr">
              <a:lnSpc>
                <a:spcPct val="100000"/>
              </a:lnSpc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Instructor</a:t>
            </a:r>
            <a:r>
              <a:rPr sz="21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(dept_name,</a:t>
            </a:r>
            <a:r>
              <a:rPr sz="21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ID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1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name,</a:t>
            </a:r>
            <a:r>
              <a:rPr sz="21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salary)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27299" y="4124959"/>
            <a:ext cx="1638300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5080" indent="-635">
              <a:lnSpc>
                <a:spcPct val="103800"/>
              </a:lnSpc>
              <a:spcBef>
                <a:spcPts val="5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name 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instructor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89580" y="4124959"/>
            <a:ext cx="988060" cy="100711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R="5080">
              <a:lnSpc>
                <a:spcPct val="103299"/>
              </a:lnSpc>
              <a:spcBef>
                <a:spcPts val="15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SELECT  FROM 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WHERE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27325" y="4786376"/>
            <a:ext cx="4564380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51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salary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(SELECT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 MAX(salary)</a:t>
            </a:r>
            <a:endParaRPr sz="2100">
              <a:latin typeface="Courier New"/>
              <a:cs typeface="Courier New"/>
            </a:endParaRPr>
          </a:p>
          <a:p>
            <a:pPr marL="1788160">
              <a:lnSpc>
                <a:spcPts val="2510"/>
              </a:lnSpc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2100" spc="-6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instructor);</a:t>
            </a:r>
            <a:endParaRPr sz="21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337041" y="5528060"/>
            <a:ext cx="2858770" cy="796925"/>
            <a:chOff x="6337041" y="5528060"/>
            <a:chExt cx="2858770" cy="796925"/>
          </a:xfrm>
        </p:grpSpPr>
        <p:sp>
          <p:nvSpPr>
            <p:cNvPr id="9" name="object 9"/>
            <p:cNvSpPr/>
            <p:nvPr/>
          </p:nvSpPr>
          <p:spPr>
            <a:xfrm>
              <a:off x="6351135" y="5542153"/>
              <a:ext cx="2830830" cy="768985"/>
            </a:xfrm>
            <a:custGeom>
              <a:avLst/>
              <a:gdLst/>
              <a:ahLst/>
              <a:cxnLst/>
              <a:rect l="l" t="t" r="r" b="b"/>
              <a:pathLst>
                <a:path w="2830829" h="768985">
                  <a:moveTo>
                    <a:pt x="2734837" y="194815"/>
                  </a:moveTo>
                  <a:lnTo>
                    <a:pt x="95624" y="194815"/>
                  </a:lnTo>
                  <a:lnTo>
                    <a:pt x="58403" y="202329"/>
                  </a:lnTo>
                  <a:lnTo>
                    <a:pt x="28007" y="222822"/>
                  </a:lnTo>
                  <a:lnTo>
                    <a:pt x="7514" y="253218"/>
                  </a:lnTo>
                  <a:lnTo>
                    <a:pt x="0" y="290440"/>
                  </a:lnTo>
                  <a:lnTo>
                    <a:pt x="0" y="672931"/>
                  </a:lnTo>
                  <a:lnTo>
                    <a:pt x="7514" y="710152"/>
                  </a:lnTo>
                  <a:lnTo>
                    <a:pt x="28007" y="740547"/>
                  </a:lnTo>
                  <a:lnTo>
                    <a:pt x="58403" y="761039"/>
                  </a:lnTo>
                  <a:lnTo>
                    <a:pt x="95624" y="768554"/>
                  </a:lnTo>
                  <a:lnTo>
                    <a:pt x="2734837" y="768554"/>
                  </a:lnTo>
                  <a:lnTo>
                    <a:pt x="2772058" y="761039"/>
                  </a:lnTo>
                  <a:lnTo>
                    <a:pt x="2802453" y="740547"/>
                  </a:lnTo>
                  <a:lnTo>
                    <a:pt x="2822946" y="710152"/>
                  </a:lnTo>
                  <a:lnTo>
                    <a:pt x="2830461" y="672931"/>
                  </a:lnTo>
                  <a:lnTo>
                    <a:pt x="2830461" y="290440"/>
                  </a:lnTo>
                  <a:lnTo>
                    <a:pt x="2822946" y="253218"/>
                  </a:lnTo>
                  <a:lnTo>
                    <a:pt x="2802453" y="222822"/>
                  </a:lnTo>
                  <a:lnTo>
                    <a:pt x="2772058" y="202329"/>
                  </a:lnTo>
                  <a:lnTo>
                    <a:pt x="2734837" y="194815"/>
                  </a:lnTo>
                  <a:close/>
                </a:path>
                <a:path w="2830829" h="768985">
                  <a:moveTo>
                    <a:pt x="339512" y="0"/>
                  </a:moveTo>
                  <a:lnTo>
                    <a:pt x="471744" y="194815"/>
                  </a:lnTo>
                  <a:lnTo>
                    <a:pt x="1179358" y="194815"/>
                  </a:lnTo>
                  <a:lnTo>
                    <a:pt x="339512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51135" y="5542153"/>
              <a:ext cx="2830830" cy="768985"/>
            </a:xfrm>
            <a:custGeom>
              <a:avLst/>
              <a:gdLst/>
              <a:ahLst/>
              <a:cxnLst/>
              <a:rect l="l" t="t" r="r" b="b"/>
              <a:pathLst>
                <a:path w="2830829" h="768985">
                  <a:moveTo>
                    <a:pt x="0" y="290438"/>
                  </a:moveTo>
                  <a:lnTo>
                    <a:pt x="7514" y="253217"/>
                  </a:lnTo>
                  <a:lnTo>
                    <a:pt x="28007" y="222822"/>
                  </a:lnTo>
                  <a:lnTo>
                    <a:pt x="58402" y="202329"/>
                  </a:lnTo>
                  <a:lnTo>
                    <a:pt x="95624" y="194814"/>
                  </a:lnTo>
                  <a:lnTo>
                    <a:pt x="471743" y="194814"/>
                  </a:lnTo>
                  <a:lnTo>
                    <a:pt x="339512" y="0"/>
                  </a:lnTo>
                  <a:lnTo>
                    <a:pt x="1179358" y="194814"/>
                  </a:lnTo>
                  <a:lnTo>
                    <a:pt x="2734836" y="194814"/>
                  </a:lnTo>
                  <a:lnTo>
                    <a:pt x="2772057" y="202329"/>
                  </a:lnTo>
                  <a:lnTo>
                    <a:pt x="2802452" y="222822"/>
                  </a:lnTo>
                  <a:lnTo>
                    <a:pt x="2822946" y="253217"/>
                  </a:lnTo>
                  <a:lnTo>
                    <a:pt x="2830460" y="290438"/>
                  </a:lnTo>
                  <a:lnTo>
                    <a:pt x="2830460" y="433872"/>
                  </a:lnTo>
                  <a:lnTo>
                    <a:pt x="2830460" y="672930"/>
                  </a:lnTo>
                  <a:lnTo>
                    <a:pt x="2822946" y="710151"/>
                  </a:lnTo>
                  <a:lnTo>
                    <a:pt x="2802452" y="740546"/>
                  </a:lnTo>
                  <a:lnTo>
                    <a:pt x="2772057" y="761039"/>
                  </a:lnTo>
                  <a:lnTo>
                    <a:pt x="2734836" y="768554"/>
                  </a:lnTo>
                  <a:lnTo>
                    <a:pt x="1179358" y="768554"/>
                  </a:lnTo>
                  <a:lnTo>
                    <a:pt x="471743" y="768554"/>
                  </a:lnTo>
                  <a:lnTo>
                    <a:pt x="95624" y="768554"/>
                  </a:lnTo>
                  <a:lnTo>
                    <a:pt x="58402" y="761039"/>
                  </a:lnTo>
                  <a:lnTo>
                    <a:pt x="28007" y="740546"/>
                  </a:lnTo>
                  <a:lnTo>
                    <a:pt x="7514" y="710151"/>
                  </a:lnTo>
                  <a:lnTo>
                    <a:pt x="0" y="672930"/>
                  </a:lnTo>
                  <a:lnTo>
                    <a:pt x="0" y="433872"/>
                  </a:lnTo>
                  <a:lnTo>
                    <a:pt x="0" y="290438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499753" y="5879592"/>
            <a:ext cx="25463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Verdana"/>
                <a:cs typeface="Verdana"/>
              </a:rPr>
              <a:t>“Uncorrelated”</a:t>
            </a:r>
            <a:r>
              <a:rPr sz="1700" b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query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655C54-7E9A-B648-2032-A8CB00491BA2}"/>
              </a:ext>
            </a:extLst>
          </p:cNvPr>
          <p:cNvSpPr txBox="1"/>
          <p:nvPr/>
        </p:nvSpPr>
        <p:spPr>
          <a:xfrm>
            <a:off x="9990667" y="75861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3242" y="179365"/>
            <a:ext cx="636587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Su</a:t>
            </a:r>
            <a:r>
              <a:rPr spc="-130" dirty="0"/>
              <a:t>bq</a:t>
            </a:r>
            <a:r>
              <a:rPr spc="-135" dirty="0"/>
              <a:t>u</a:t>
            </a:r>
            <a:r>
              <a:rPr spc="-125" dirty="0"/>
              <a:t>erie</a:t>
            </a:r>
            <a:r>
              <a:rPr dirty="0"/>
              <a:t>s</a:t>
            </a:r>
            <a:r>
              <a:rPr spc="-254" dirty="0"/>
              <a:t> </a:t>
            </a:r>
            <a:r>
              <a:rPr spc="-125" dirty="0"/>
              <a:t>i</a:t>
            </a:r>
            <a:r>
              <a:rPr dirty="0"/>
              <a:t>n</a:t>
            </a:r>
            <a:r>
              <a:rPr spc="-254" dirty="0"/>
              <a:t> </a:t>
            </a:r>
            <a:r>
              <a:rPr spc="-150" dirty="0"/>
              <a:t>W</a:t>
            </a:r>
            <a:r>
              <a:rPr spc="-135" dirty="0"/>
              <a:t>H</a:t>
            </a:r>
            <a:r>
              <a:rPr spc="-125" dirty="0"/>
              <a:t>E</a:t>
            </a:r>
            <a:r>
              <a:rPr spc="-140" dirty="0"/>
              <a:t>R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608" y="1219200"/>
            <a:ext cx="885444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3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23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evaluate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existential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universal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quantifiers</a:t>
            </a:r>
            <a:endParaRPr sz="23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06760" y="3677973"/>
            <a:ext cx="7736205" cy="2824480"/>
            <a:chOff x="2006760" y="3677973"/>
            <a:chExt cx="7736205" cy="2824480"/>
          </a:xfrm>
        </p:grpSpPr>
        <p:sp>
          <p:nvSpPr>
            <p:cNvPr id="5" name="object 5"/>
            <p:cNvSpPr/>
            <p:nvPr/>
          </p:nvSpPr>
          <p:spPr>
            <a:xfrm>
              <a:off x="2016920" y="3688133"/>
              <a:ext cx="7715884" cy="2804160"/>
            </a:xfrm>
            <a:custGeom>
              <a:avLst/>
              <a:gdLst/>
              <a:ahLst/>
              <a:cxnLst/>
              <a:rect l="l" t="t" r="r" b="b"/>
              <a:pathLst>
                <a:path w="7715884" h="2804160">
                  <a:moveTo>
                    <a:pt x="7715793" y="0"/>
                  </a:moveTo>
                  <a:lnTo>
                    <a:pt x="0" y="0"/>
                  </a:lnTo>
                  <a:lnTo>
                    <a:pt x="0" y="2804160"/>
                  </a:lnTo>
                  <a:lnTo>
                    <a:pt x="7715793" y="2804160"/>
                  </a:lnTo>
                  <a:lnTo>
                    <a:pt x="7715793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16920" y="3688133"/>
              <a:ext cx="7715884" cy="2804160"/>
            </a:xfrm>
            <a:custGeom>
              <a:avLst/>
              <a:gdLst/>
              <a:ahLst/>
              <a:cxnLst/>
              <a:rect l="l" t="t" r="r" b="b"/>
              <a:pathLst>
                <a:path w="7715884" h="2804160">
                  <a:moveTo>
                    <a:pt x="0" y="0"/>
                  </a:moveTo>
                  <a:lnTo>
                    <a:pt x="7715794" y="0"/>
                  </a:lnTo>
                  <a:lnTo>
                    <a:pt x="7715794" y="2804159"/>
                  </a:lnTo>
                  <a:lnTo>
                    <a:pt x="0" y="2804159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6B76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708480" y="3636264"/>
            <a:ext cx="14617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400"/>
              </a:lnSpc>
              <a:spcBef>
                <a:spcPts val="100"/>
              </a:spcBef>
            </a:pPr>
            <a:r>
              <a:rPr sz="2300" spc="30" dirty="0">
                <a:solidFill>
                  <a:srgbClr val="C00000"/>
                </a:solidFill>
                <a:latin typeface="Courier New"/>
                <a:cs typeface="Courier New"/>
              </a:rPr>
              <a:t>constant  constant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23920" y="3636264"/>
            <a:ext cx="2927985" cy="9398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940"/>
              </a:spcBef>
              <a:buChar char="&gt;"/>
              <a:tabLst>
                <a:tab pos="297180" algn="l"/>
              </a:tabLst>
            </a:pP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AN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Y</a:t>
            </a:r>
            <a:r>
              <a:rPr sz="2300" spc="-5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(subquery);</a:t>
            </a:r>
            <a:endParaRPr sz="2300">
              <a:latin typeface="Courier New"/>
              <a:cs typeface="Courier New"/>
            </a:endParaRPr>
          </a:p>
          <a:p>
            <a:pPr marL="297180" indent="-284480">
              <a:lnSpc>
                <a:spcPct val="100000"/>
              </a:lnSpc>
              <a:spcBef>
                <a:spcPts val="840"/>
              </a:spcBef>
              <a:buChar char="&gt;"/>
              <a:tabLst>
                <a:tab pos="297180" algn="l"/>
              </a:tabLst>
            </a:pP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AL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L</a:t>
            </a:r>
            <a:r>
              <a:rPr sz="2300" spc="-5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(subquery);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65093" y="3636264"/>
            <a:ext cx="2389505" cy="2756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129700"/>
              </a:lnSpc>
              <a:spcBef>
                <a:spcPts val="120"/>
              </a:spcBef>
            </a:pP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SELEC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r>
              <a:rPr sz="2300" spc="-5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…</a:t>
            </a:r>
            <a:r>
              <a:rPr sz="2300" spc="-5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WHERE  SELEC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r>
              <a:rPr sz="2300" spc="-5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…</a:t>
            </a:r>
            <a:r>
              <a:rPr sz="2300" spc="-5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WHERE  SELEC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r>
              <a:rPr sz="2300" spc="-5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…</a:t>
            </a:r>
            <a:r>
              <a:rPr sz="2300" spc="-5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WHERE  SELEC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r>
              <a:rPr sz="2300" spc="-5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…</a:t>
            </a:r>
            <a:r>
              <a:rPr sz="2300" spc="-5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WHERE  SELEC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r>
              <a:rPr sz="2300" spc="-5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…</a:t>
            </a:r>
            <a:r>
              <a:rPr sz="2300" spc="-5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WHERE  SELEC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r>
              <a:rPr sz="2300" spc="-5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…</a:t>
            </a:r>
            <a:r>
              <a:rPr sz="2300" spc="-5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WHERE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8350" y="4562855"/>
            <a:ext cx="4977130" cy="183007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28699"/>
              </a:lnSpc>
              <a:spcBef>
                <a:spcPts val="50"/>
              </a:spcBef>
            </a:pPr>
            <a:r>
              <a:rPr sz="2300" spc="30" dirty="0">
                <a:solidFill>
                  <a:srgbClr val="C00000"/>
                </a:solidFill>
                <a:latin typeface="Courier New"/>
                <a:cs typeface="Courier New"/>
              </a:rPr>
              <a:t>attribut</a:t>
            </a:r>
            <a:r>
              <a:rPr sz="2300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2300" spc="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I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N</a:t>
            </a:r>
            <a:r>
              <a:rPr sz="2300" spc="-5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(subquery);  </a:t>
            </a:r>
            <a:r>
              <a:rPr sz="2300" spc="30" dirty="0">
                <a:solidFill>
                  <a:srgbClr val="C00000"/>
                </a:solidFill>
                <a:latin typeface="Courier New"/>
                <a:cs typeface="Courier New"/>
              </a:rPr>
              <a:t>attribut</a:t>
            </a:r>
            <a:r>
              <a:rPr sz="2300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2300" spc="6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NO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r>
              <a:rPr sz="2300" spc="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I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N</a:t>
            </a:r>
            <a:r>
              <a:rPr sz="2300" spc="-5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(subquery);  EXIST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S</a:t>
            </a:r>
            <a:r>
              <a:rPr sz="2300" spc="-5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(subquery);</a:t>
            </a:r>
            <a:endParaRPr sz="2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NO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T</a:t>
            </a:r>
            <a:r>
              <a:rPr sz="2300" spc="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EXIST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S</a:t>
            </a:r>
            <a:r>
              <a:rPr sz="2300" spc="-5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30" dirty="0">
                <a:solidFill>
                  <a:srgbClr val="292934"/>
                </a:solidFill>
                <a:latin typeface="Courier New"/>
                <a:cs typeface="Courier New"/>
              </a:rPr>
              <a:t>(subquery);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7365" y="3638295"/>
            <a:ext cx="1536700" cy="278130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19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4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1850" spc="-240" dirty="0">
                <a:solidFill>
                  <a:srgbClr val="292934"/>
                </a:solidFill>
                <a:latin typeface="MS UI Gothic"/>
                <a:cs typeface="MS UI Gothic"/>
              </a:rPr>
              <a:t>∃</a:t>
            </a:r>
            <a:r>
              <a:rPr sz="1900" spc="-240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1900">
              <a:latin typeface="Verdana"/>
              <a:cs typeface="Verdana"/>
            </a:endParaRPr>
          </a:p>
          <a:p>
            <a:pPr marL="12700" marR="618490">
              <a:lnSpc>
                <a:spcPct val="157900"/>
              </a:lnSpc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9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215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1850" spc="-215" dirty="0">
                <a:solidFill>
                  <a:srgbClr val="292934"/>
                </a:solidFill>
                <a:latin typeface="MS UI Gothic"/>
                <a:cs typeface="MS UI Gothic"/>
              </a:rPr>
              <a:t>✯</a:t>
            </a:r>
            <a:r>
              <a:rPr sz="1900" spc="-215" dirty="0">
                <a:solidFill>
                  <a:srgbClr val="292934"/>
                </a:solidFill>
                <a:latin typeface="Verdana"/>
                <a:cs typeface="Verdana"/>
              </a:rPr>
              <a:t>)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endParaRPr sz="1900">
              <a:latin typeface="Verdana"/>
              <a:cs typeface="Verdana"/>
            </a:endParaRPr>
          </a:p>
          <a:p>
            <a:pPr marL="12700" marR="610235">
              <a:lnSpc>
                <a:spcPct val="157900"/>
              </a:lnSpc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NOT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TS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9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EXISTS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246671" y="1613351"/>
            <a:ext cx="2858770" cy="793750"/>
            <a:chOff x="2246671" y="1613351"/>
            <a:chExt cx="2858770" cy="793750"/>
          </a:xfrm>
        </p:grpSpPr>
        <p:sp>
          <p:nvSpPr>
            <p:cNvPr id="13" name="object 13"/>
            <p:cNvSpPr/>
            <p:nvPr/>
          </p:nvSpPr>
          <p:spPr>
            <a:xfrm>
              <a:off x="2260765" y="1627444"/>
              <a:ext cx="2830830" cy="765810"/>
            </a:xfrm>
            <a:custGeom>
              <a:avLst/>
              <a:gdLst/>
              <a:ahLst/>
              <a:cxnLst/>
              <a:rect l="l" t="t" r="r" b="b"/>
              <a:pathLst>
                <a:path w="2830829" h="765810">
                  <a:moveTo>
                    <a:pt x="2754915" y="311978"/>
                  </a:moveTo>
                  <a:lnTo>
                    <a:pt x="75543" y="311978"/>
                  </a:lnTo>
                  <a:lnTo>
                    <a:pt x="46138" y="317914"/>
                  </a:lnTo>
                  <a:lnTo>
                    <a:pt x="22125" y="334103"/>
                  </a:lnTo>
                  <a:lnTo>
                    <a:pt x="5936" y="358116"/>
                  </a:lnTo>
                  <a:lnTo>
                    <a:pt x="0" y="387521"/>
                  </a:lnTo>
                  <a:lnTo>
                    <a:pt x="0" y="689692"/>
                  </a:lnTo>
                  <a:lnTo>
                    <a:pt x="5936" y="719097"/>
                  </a:lnTo>
                  <a:lnTo>
                    <a:pt x="22125" y="743110"/>
                  </a:lnTo>
                  <a:lnTo>
                    <a:pt x="46138" y="759300"/>
                  </a:lnTo>
                  <a:lnTo>
                    <a:pt x="75543" y="765237"/>
                  </a:lnTo>
                  <a:lnTo>
                    <a:pt x="2754915" y="765237"/>
                  </a:lnTo>
                  <a:lnTo>
                    <a:pt x="2784321" y="759300"/>
                  </a:lnTo>
                  <a:lnTo>
                    <a:pt x="2808333" y="743110"/>
                  </a:lnTo>
                  <a:lnTo>
                    <a:pt x="2824523" y="719097"/>
                  </a:lnTo>
                  <a:lnTo>
                    <a:pt x="2830460" y="689692"/>
                  </a:lnTo>
                  <a:lnTo>
                    <a:pt x="2830460" y="387521"/>
                  </a:lnTo>
                  <a:lnTo>
                    <a:pt x="2824523" y="358116"/>
                  </a:lnTo>
                  <a:lnTo>
                    <a:pt x="2808333" y="334103"/>
                  </a:lnTo>
                  <a:lnTo>
                    <a:pt x="2784321" y="317914"/>
                  </a:lnTo>
                  <a:lnTo>
                    <a:pt x="2754915" y="311978"/>
                  </a:lnTo>
                  <a:close/>
                </a:path>
                <a:path w="2830829" h="765810">
                  <a:moveTo>
                    <a:pt x="2676540" y="0"/>
                  </a:moveTo>
                  <a:lnTo>
                    <a:pt x="1651101" y="311978"/>
                  </a:lnTo>
                  <a:lnTo>
                    <a:pt x="2358716" y="311978"/>
                  </a:lnTo>
                  <a:lnTo>
                    <a:pt x="2676540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60765" y="1627444"/>
              <a:ext cx="2830830" cy="765810"/>
            </a:xfrm>
            <a:custGeom>
              <a:avLst/>
              <a:gdLst/>
              <a:ahLst/>
              <a:cxnLst/>
              <a:rect l="l" t="t" r="r" b="b"/>
              <a:pathLst>
                <a:path w="2830829" h="765810">
                  <a:moveTo>
                    <a:pt x="0" y="387521"/>
                  </a:moveTo>
                  <a:lnTo>
                    <a:pt x="5936" y="358116"/>
                  </a:lnTo>
                  <a:lnTo>
                    <a:pt x="22126" y="334103"/>
                  </a:lnTo>
                  <a:lnTo>
                    <a:pt x="46138" y="317914"/>
                  </a:lnTo>
                  <a:lnTo>
                    <a:pt x="75543" y="311977"/>
                  </a:lnTo>
                  <a:lnTo>
                    <a:pt x="1651101" y="311977"/>
                  </a:lnTo>
                  <a:lnTo>
                    <a:pt x="2676540" y="0"/>
                  </a:lnTo>
                  <a:lnTo>
                    <a:pt x="2358716" y="311977"/>
                  </a:lnTo>
                  <a:lnTo>
                    <a:pt x="2754916" y="311977"/>
                  </a:lnTo>
                  <a:lnTo>
                    <a:pt x="2784321" y="317914"/>
                  </a:lnTo>
                  <a:lnTo>
                    <a:pt x="2808334" y="334103"/>
                  </a:lnTo>
                  <a:lnTo>
                    <a:pt x="2824524" y="358116"/>
                  </a:lnTo>
                  <a:lnTo>
                    <a:pt x="2830460" y="387521"/>
                  </a:lnTo>
                  <a:lnTo>
                    <a:pt x="2830460" y="500836"/>
                  </a:lnTo>
                  <a:lnTo>
                    <a:pt x="2830460" y="689692"/>
                  </a:lnTo>
                  <a:lnTo>
                    <a:pt x="2824524" y="719098"/>
                  </a:lnTo>
                  <a:lnTo>
                    <a:pt x="2808334" y="743110"/>
                  </a:lnTo>
                  <a:lnTo>
                    <a:pt x="2784321" y="759300"/>
                  </a:lnTo>
                  <a:lnTo>
                    <a:pt x="2754916" y="765237"/>
                  </a:lnTo>
                  <a:lnTo>
                    <a:pt x="2358716" y="765237"/>
                  </a:lnTo>
                  <a:lnTo>
                    <a:pt x="1651101" y="765237"/>
                  </a:lnTo>
                  <a:lnTo>
                    <a:pt x="75543" y="765237"/>
                  </a:lnTo>
                  <a:lnTo>
                    <a:pt x="46138" y="759300"/>
                  </a:lnTo>
                  <a:lnTo>
                    <a:pt x="22126" y="743110"/>
                  </a:lnTo>
                  <a:lnTo>
                    <a:pt x="5936" y="719098"/>
                  </a:lnTo>
                  <a:lnTo>
                    <a:pt x="0" y="689692"/>
                  </a:lnTo>
                  <a:lnTo>
                    <a:pt x="0" y="500836"/>
                  </a:lnTo>
                  <a:lnTo>
                    <a:pt x="0" y="387521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536584" y="2023871"/>
            <a:ext cx="22796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At</a:t>
            </a:r>
            <a:r>
              <a:rPr sz="17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least</a:t>
            </a:r>
            <a:r>
              <a:rPr sz="17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one</a:t>
            </a:r>
            <a:r>
              <a:rPr sz="17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element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503535" y="1604889"/>
            <a:ext cx="2858770" cy="719455"/>
            <a:chOff x="6503535" y="1604889"/>
            <a:chExt cx="2858770" cy="719455"/>
          </a:xfrm>
        </p:grpSpPr>
        <p:sp>
          <p:nvSpPr>
            <p:cNvPr id="17" name="object 17"/>
            <p:cNvSpPr/>
            <p:nvPr/>
          </p:nvSpPr>
          <p:spPr>
            <a:xfrm>
              <a:off x="6517628" y="1618983"/>
              <a:ext cx="2830830" cy="691515"/>
            </a:xfrm>
            <a:custGeom>
              <a:avLst/>
              <a:gdLst/>
              <a:ahLst/>
              <a:cxnLst/>
              <a:rect l="l" t="t" r="r" b="b"/>
              <a:pathLst>
                <a:path w="2830829" h="691514">
                  <a:moveTo>
                    <a:pt x="2754917" y="237779"/>
                  </a:moveTo>
                  <a:lnTo>
                    <a:pt x="75543" y="237779"/>
                  </a:lnTo>
                  <a:lnTo>
                    <a:pt x="46138" y="243716"/>
                  </a:lnTo>
                  <a:lnTo>
                    <a:pt x="22126" y="259906"/>
                  </a:lnTo>
                  <a:lnTo>
                    <a:pt x="5936" y="283918"/>
                  </a:lnTo>
                  <a:lnTo>
                    <a:pt x="0" y="313324"/>
                  </a:lnTo>
                  <a:lnTo>
                    <a:pt x="0" y="615495"/>
                  </a:lnTo>
                  <a:lnTo>
                    <a:pt x="5936" y="644900"/>
                  </a:lnTo>
                  <a:lnTo>
                    <a:pt x="22126" y="668913"/>
                  </a:lnTo>
                  <a:lnTo>
                    <a:pt x="46138" y="685103"/>
                  </a:lnTo>
                  <a:lnTo>
                    <a:pt x="75543" y="691040"/>
                  </a:lnTo>
                  <a:lnTo>
                    <a:pt x="2754917" y="691040"/>
                  </a:lnTo>
                  <a:lnTo>
                    <a:pt x="2784321" y="685103"/>
                  </a:lnTo>
                  <a:lnTo>
                    <a:pt x="2808334" y="668913"/>
                  </a:lnTo>
                  <a:lnTo>
                    <a:pt x="2824523" y="644900"/>
                  </a:lnTo>
                  <a:lnTo>
                    <a:pt x="2830460" y="615495"/>
                  </a:lnTo>
                  <a:lnTo>
                    <a:pt x="2830460" y="313324"/>
                  </a:lnTo>
                  <a:lnTo>
                    <a:pt x="2824523" y="283918"/>
                  </a:lnTo>
                  <a:lnTo>
                    <a:pt x="2808334" y="259906"/>
                  </a:lnTo>
                  <a:lnTo>
                    <a:pt x="2784321" y="243716"/>
                  </a:lnTo>
                  <a:lnTo>
                    <a:pt x="2754917" y="237779"/>
                  </a:lnTo>
                  <a:close/>
                </a:path>
                <a:path w="2830829" h="691514">
                  <a:moveTo>
                    <a:pt x="131729" y="0"/>
                  </a:moveTo>
                  <a:lnTo>
                    <a:pt x="471742" y="237779"/>
                  </a:lnTo>
                  <a:lnTo>
                    <a:pt x="1179358" y="237779"/>
                  </a:lnTo>
                  <a:lnTo>
                    <a:pt x="131729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17628" y="1618983"/>
              <a:ext cx="2830830" cy="691515"/>
            </a:xfrm>
            <a:custGeom>
              <a:avLst/>
              <a:gdLst/>
              <a:ahLst/>
              <a:cxnLst/>
              <a:rect l="l" t="t" r="r" b="b"/>
              <a:pathLst>
                <a:path w="2830829" h="691514">
                  <a:moveTo>
                    <a:pt x="0" y="313323"/>
                  </a:moveTo>
                  <a:lnTo>
                    <a:pt x="5936" y="283918"/>
                  </a:lnTo>
                  <a:lnTo>
                    <a:pt x="22126" y="259906"/>
                  </a:lnTo>
                  <a:lnTo>
                    <a:pt x="46138" y="243716"/>
                  </a:lnTo>
                  <a:lnTo>
                    <a:pt x="75543" y="237779"/>
                  </a:lnTo>
                  <a:lnTo>
                    <a:pt x="471743" y="237779"/>
                  </a:lnTo>
                  <a:lnTo>
                    <a:pt x="131729" y="0"/>
                  </a:lnTo>
                  <a:lnTo>
                    <a:pt x="1179358" y="237779"/>
                  </a:lnTo>
                  <a:lnTo>
                    <a:pt x="2754916" y="237779"/>
                  </a:lnTo>
                  <a:lnTo>
                    <a:pt x="2784321" y="243716"/>
                  </a:lnTo>
                  <a:lnTo>
                    <a:pt x="2808334" y="259906"/>
                  </a:lnTo>
                  <a:lnTo>
                    <a:pt x="2824524" y="283918"/>
                  </a:lnTo>
                  <a:lnTo>
                    <a:pt x="2830460" y="313323"/>
                  </a:lnTo>
                  <a:lnTo>
                    <a:pt x="2830460" y="426638"/>
                  </a:lnTo>
                  <a:lnTo>
                    <a:pt x="2830460" y="615495"/>
                  </a:lnTo>
                  <a:lnTo>
                    <a:pt x="2824524" y="644900"/>
                  </a:lnTo>
                  <a:lnTo>
                    <a:pt x="2808334" y="668912"/>
                  </a:lnTo>
                  <a:lnTo>
                    <a:pt x="2784321" y="685102"/>
                  </a:lnTo>
                  <a:lnTo>
                    <a:pt x="2754916" y="691039"/>
                  </a:lnTo>
                  <a:lnTo>
                    <a:pt x="1179358" y="691039"/>
                  </a:lnTo>
                  <a:lnTo>
                    <a:pt x="471743" y="691039"/>
                  </a:lnTo>
                  <a:lnTo>
                    <a:pt x="75543" y="691039"/>
                  </a:lnTo>
                  <a:lnTo>
                    <a:pt x="46138" y="685102"/>
                  </a:lnTo>
                  <a:lnTo>
                    <a:pt x="22126" y="668912"/>
                  </a:lnTo>
                  <a:lnTo>
                    <a:pt x="5936" y="644900"/>
                  </a:lnTo>
                  <a:lnTo>
                    <a:pt x="0" y="615495"/>
                  </a:lnTo>
                  <a:lnTo>
                    <a:pt x="0" y="426638"/>
                  </a:lnTo>
                  <a:lnTo>
                    <a:pt x="0" y="313323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252137" y="1941576"/>
            <a:ext cx="13608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All</a:t>
            </a:r>
            <a:r>
              <a:rPr sz="17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elements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065730" y="3041202"/>
            <a:ext cx="3543935" cy="782955"/>
            <a:chOff x="3065730" y="3041202"/>
            <a:chExt cx="3543935" cy="782955"/>
          </a:xfrm>
        </p:grpSpPr>
        <p:sp>
          <p:nvSpPr>
            <p:cNvPr id="21" name="object 21"/>
            <p:cNvSpPr/>
            <p:nvPr/>
          </p:nvSpPr>
          <p:spPr>
            <a:xfrm>
              <a:off x="3080018" y="3055490"/>
              <a:ext cx="3515360" cy="754380"/>
            </a:xfrm>
            <a:custGeom>
              <a:avLst/>
              <a:gdLst/>
              <a:ahLst/>
              <a:cxnLst/>
              <a:rect l="l" t="t" r="r" b="b"/>
              <a:pathLst>
                <a:path w="3515359" h="754379">
                  <a:moveTo>
                    <a:pt x="2929164" y="453260"/>
                  </a:moveTo>
                  <a:lnTo>
                    <a:pt x="2050414" y="453260"/>
                  </a:lnTo>
                  <a:lnTo>
                    <a:pt x="3317455" y="754176"/>
                  </a:lnTo>
                  <a:lnTo>
                    <a:pt x="2929164" y="453260"/>
                  </a:lnTo>
                  <a:close/>
                </a:path>
                <a:path w="3515359" h="754379">
                  <a:moveTo>
                    <a:pt x="3439453" y="0"/>
                  </a:moveTo>
                  <a:lnTo>
                    <a:pt x="75543" y="0"/>
                  </a:lnTo>
                  <a:lnTo>
                    <a:pt x="46138" y="5936"/>
                  </a:lnTo>
                  <a:lnTo>
                    <a:pt x="22125" y="22126"/>
                  </a:lnTo>
                  <a:lnTo>
                    <a:pt x="5936" y="46138"/>
                  </a:lnTo>
                  <a:lnTo>
                    <a:pt x="0" y="75543"/>
                  </a:lnTo>
                  <a:lnTo>
                    <a:pt x="0" y="377717"/>
                  </a:lnTo>
                  <a:lnTo>
                    <a:pt x="5936" y="407121"/>
                  </a:lnTo>
                  <a:lnTo>
                    <a:pt x="22125" y="431134"/>
                  </a:lnTo>
                  <a:lnTo>
                    <a:pt x="46138" y="447323"/>
                  </a:lnTo>
                  <a:lnTo>
                    <a:pt x="75543" y="453260"/>
                  </a:lnTo>
                  <a:lnTo>
                    <a:pt x="3439453" y="453260"/>
                  </a:lnTo>
                  <a:lnTo>
                    <a:pt x="3468858" y="447323"/>
                  </a:lnTo>
                  <a:lnTo>
                    <a:pt x="3492870" y="431134"/>
                  </a:lnTo>
                  <a:lnTo>
                    <a:pt x="3509060" y="407121"/>
                  </a:lnTo>
                  <a:lnTo>
                    <a:pt x="3514996" y="377717"/>
                  </a:lnTo>
                  <a:lnTo>
                    <a:pt x="3514996" y="75543"/>
                  </a:lnTo>
                  <a:lnTo>
                    <a:pt x="3509060" y="46138"/>
                  </a:lnTo>
                  <a:lnTo>
                    <a:pt x="3492870" y="22126"/>
                  </a:lnTo>
                  <a:lnTo>
                    <a:pt x="3468858" y="5936"/>
                  </a:lnTo>
                  <a:lnTo>
                    <a:pt x="3439453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80018" y="3055490"/>
              <a:ext cx="3515360" cy="754380"/>
            </a:xfrm>
            <a:custGeom>
              <a:avLst/>
              <a:gdLst/>
              <a:ahLst/>
              <a:cxnLst/>
              <a:rect l="l" t="t" r="r" b="b"/>
              <a:pathLst>
                <a:path w="3515359" h="754379">
                  <a:moveTo>
                    <a:pt x="0" y="75543"/>
                  </a:moveTo>
                  <a:lnTo>
                    <a:pt x="5936" y="46138"/>
                  </a:lnTo>
                  <a:lnTo>
                    <a:pt x="22126" y="22126"/>
                  </a:lnTo>
                  <a:lnTo>
                    <a:pt x="46138" y="5936"/>
                  </a:lnTo>
                  <a:lnTo>
                    <a:pt x="75543" y="0"/>
                  </a:lnTo>
                  <a:lnTo>
                    <a:pt x="2050414" y="0"/>
                  </a:lnTo>
                  <a:lnTo>
                    <a:pt x="2929164" y="0"/>
                  </a:lnTo>
                  <a:lnTo>
                    <a:pt x="3439453" y="0"/>
                  </a:lnTo>
                  <a:lnTo>
                    <a:pt x="3468858" y="5936"/>
                  </a:lnTo>
                  <a:lnTo>
                    <a:pt x="3492871" y="22126"/>
                  </a:lnTo>
                  <a:lnTo>
                    <a:pt x="3509060" y="46138"/>
                  </a:lnTo>
                  <a:lnTo>
                    <a:pt x="3514997" y="75543"/>
                  </a:lnTo>
                  <a:lnTo>
                    <a:pt x="3514997" y="264401"/>
                  </a:lnTo>
                  <a:lnTo>
                    <a:pt x="3514997" y="377716"/>
                  </a:lnTo>
                  <a:lnTo>
                    <a:pt x="3509060" y="407121"/>
                  </a:lnTo>
                  <a:lnTo>
                    <a:pt x="3492871" y="431133"/>
                  </a:lnTo>
                  <a:lnTo>
                    <a:pt x="3468858" y="447323"/>
                  </a:lnTo>
                  <a:lnTo>
                    <a:pt x="3439453" y="453259"/>
                  </a:lnTo>
                  <a:lnTo>
                    <a:pt x="2929164" y="453259"/>
                  </a:lnTo>
                  <a:lnTo>
                    <a:pt x="3317455" y="754175"/>
                  </a:lnTo>
                  <a:lnTo>
                    <a:pt x="2050414" y="453259"/>
                  </a:lnTo>
                  <a:lnTo>
                    <a:pt x="75543" y="453259"/>
                  </a:lnTo>
                  <a:lnTo>
                    <a:pt x="46138" y="447323"/>
                  </a:lnTo>
                  <a:lnTo>
                    <a:pt x="22126" y="431133"/>
                  </a:lnTo>
                  <a:lnTo>
                    <a:pt x="5936" y="407121"/>
                  </a:lnTo>
                  <a:lnTo>
                    <a:pt x="0" y="377716"/>
                  </a:lnTo>
                  <a:lnTo>
                    <a:pt x="0" y="264401"/>
                  </a:lnTo>
                  <a:lnTo>
                    <a:pt x="0" y="75543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515429" y="3139440"/>
            <a:ext cx="26441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Any</a:t>
            </a:r>
            <a:r>
              <a:rPr sz="17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relational</a:t>
            </a:r>
            <a:r>
              <a:rPr sz="17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operators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096508" y="2888282"/>
            <a:ext cx="2658745" cy="2744470"/>
            <a:chOff x="7096508" y="2888282"/>
            <a:chExt cx="2658745" cy="2744470"/>
          </a:xfrm>
        </p:grpSpPr>
        <p:sp>
          <p:nvSpPr>
            <p:cNvPr id="25" name="object 25"/>
            <p:cNvSpPr/>
            <p:nvPr/>
          </p:nvSpPr>
          <p:spPr>
            <a:xfrm>
              <a:off x="7260958" y="3650623"/>
              <a:ext cx="2480310" cy="1967864"/>
            </a:xfrm>
            <a:custGeom>
              <a:avLst/>
              <a:gdLst/>
              <a:ahLst/>
              <a:cxnLst/>
              <a:rect l="l" t="t" r="r" b="b"/>
              <a:pathLst>
                <a:path w="2480309" h="1967864">
                  <a:moveTo>
                    <a:pt x="0" y="983626"/>
                  </a:moveTo>
                  <a:lnTo>
                    <a:pt x="1145" y="940958"/>
                  </a:lnTo>
                  <a:lnTo>
                    <a:pt x="4551" y="898755"/>
                  </a:lnTo>
                  <a:lnTo>
                    <a:pt x="10170" y="857053"/>
                  </a:lnTo>
                  <a:lnTo>
                    <a:pt x="17956" y="815889"/>
                  </a:lnTo>
                  <a:lnTo>
                    <a:pt x="27862" y="775300"/>
                  </a:lnTo>
                  <a:lnTo>
                    <a:pt x="39842" y="735323"/>
                  </a:lnTo>
                  <a:lnTo>
                    <a:pt x="53850" y="695994"/>
                  </a:lnTo>
                  <a:lnTo>
                    <a:pt x="69839" y="657352"/>
                  </a:lnTo>
                  <a:lnTo>
                    <a:pt x="87762" y="619432"/>
                  </a:lnTo>
                  <a:lnTo>
                    <a:pt x="107573" y="582271"/>
                  </a:lnTo>
                  <a:lnTo>
                    <a:pt x="129225" y="545907"/>
                  </a:lnTo>
                  <a:lnTo>
                    <a:pt x="152672" y="510377"/>
                  </a:lnTo>
                  <a:lnTo>
                    <a:pt x="177867" y="475716"/>
                  </a:lnTo>
                  <a:lnTo>
                    <a:pt x="204764" y="441963"/>
                  </a:lnTo>
                  <a:lnTo>
                    <a:pt x="233316" y="409154"/>
                  </a:lnTo>
                  <a:lnTo>
                    <a:pt x="263477" y="377326"/>
                  </a:lnTo>
                  <a:lnTo>
                    <a:pt x="295200" y="346516"/>
                  </a:lnTo>
                  <a:lnTo>
                    <a:pt x="328439" y="316761"/>
                  </a:lnTo>
                  <a:lnTo>
                    <a:pt x="363147" y="288097"/>
                  </a:lnTo>
                  <a:lnTo>
                    <a:pt x="399278" y="260562"/>
                  </a:lnTo>
                  <a:lnTo>
                    <a:pt x="436784" y="234193"/>
                  </a:lnTo>
                  <a:lnTo>
                    <a:pt x="475621" y="209025"/>
                  </a:lnTo>
                  <a:lnTo>
                    <a:pt x="515740" y="185098"/>
                  </a:lnTo>
                  <a:lnTo>
                    <a:pt x="557096" y="162446"/>
                  </a:lnTo>
                  <a:lnTo>
                    <a:pt x="599642" y="141108"/>
                  </a:lnTo>
                  <a:lnTo>
                    <a:pt x="643331" y="121120"/>
                  </a:lnTo>
                  <a:lnTo>
                    <a:pt x="688118" y="102518"/>
                  </a:lnTo>
                  <a:lnTo>
                    <a:pt x="733954" y="85341"/>
                  </a:lnTo>
                  <a:lnTo>
                    <a:pt x="780795" y="69624"/>
                  </a:lnTo>
                  <a:lnTo>
                    <a:pt x="828593" y="55405"/>
                  </a:lnTo>
                  <a:lnTo>
                    <a:pt x="877302" y="42721"/>
                  </a:lnTo>
                  <a:lnTo>
                    <a:pt x="926876" y="31608"/>
                  </a:lnTo>
                  <a:lnTo>
                    <a:pt x="977267" y="22104"/>
                  </a:lnTo>
                  <a:lnTo>
                    <a:pt x="1028430" y="14245"/>
                  </a:lnTo>
                  <a:lnTo>
                    <a:pt x="1080317" y="8068"/>
                  </a:lnTo>
                  <a:lnTo>
                    <a:pt x="1132883" y="3610"/>
                  </a:lnTo>
                  <a:lnTo>
                    <a:pt x="1186080" y="908"/>
                  </a:lnTo>
                  <a:lnTo>
                    <a:pt x="1239863" y="0"/>
                  </a:lnTo>
                  <a:lnTo>
                    <a:pt x="1293646" y="908"/>
                  </a:lnTo>
                  <a:lnTo>
                    <a:pt x="1346843" y="3610"/>
                  </a:lnTo>
                  <a:lnTo>
                    <a:pt x="1399409" y="8068"/>
                  </a:lnTo>
                  <a:lnTo>
                    <a:pt x="1451296" y="14245"/>
                  </a:lnTo>
                  <a:lnTo>
                    <a:pt x="1502459" y="22104"/>
                  </a:lnTo>
                  <a:lnTo>
                    <a:pt x="1552850" y="31608"/>
                  </a:lnTo>
                  <a:lnTo>
                    <a:pt x="1602423" y="42721"/>
                  </a:lnTo>
                  <a:lnTo>
                    <a:pt x="1651132" y="55405"/>
                  </a:lnTo>
                  <a:lnTo>
                    <a:pt x="1698931" y="69624"/>
                  </a:lnTo>
                  <a:lnTo>
                    <a:pt x="1745771" y="85341"/>
                  </a:lnTo>
                  <a:lnTo>
                    <a:pt x="1791608" y="102518"/>
                  </a:lnTo>
                  <a:lnTo>
                    <a:pt x="1836395" y="121120"/>
                  </a:lnTo>
                  <a:lnTo>
                    <a:pt x="1880084" y="141108"/>
                  </a:lnTo>
                  <a:lnTo>
                    <a:pt x="1922630" y="162446"/>
                  </a:lnTo>
                  <a:lnTo>
                    <a:pt x="1963986" y="185098"/>
                  </a:lnTo>
                  <a:lnTo>
                    <a:pt x="2004105" y="209025"/>
                  </a:lnTo>
                  <a:lnTo>
                    <a:pt x="2042941" y="234193"/>
                  </a:lnTo>
                  <a:lnTo>
                    <a:pt x="2080448" y="260562"/>
                  </a:lnTo>
                  <a:lnTo>
                    <a:pt x="2116579" y="288097"/>
                  </a:lnTo>
                  <a:lnTo>
                    <a:pt x="2151287" y="316761"/>
                  </a:lnTo>
                  <a:lnTo>
                    <a:pt x="2184525" y="346516"/>
                  </a:lnTo>
                  <a:lnTo>
                    <a:pt x="2216249" y="377326"/>
                  </a:lnTo>
                  <a:lnTo>
                    <a:pt x="2246410" y="409154"/>
                  </a:lnTo>
                  <a:lnTo>
                    <a:pt x="2274962" y="441963"/>
                  </a:lnTo>
                  <a:lnTo>
                    <a:pt x="2301859" y="475716"/>
                  </a:lnTo>
                  <a:lnTo>
                    <a:pt x="2327054" y="510377"/>
                  </a:lnTo>
                  <a:lnTo>
                    <a:pt x="2350501" y="545907"/>
                  </a:lnTo>
                  <a:lnTo>
                    <a:pt x="2372153" y="582271"/>
                  </a:lnTo>
                  <a:lnTo>
                    <a:pt x="2391964" y="619432"/>
                  </a:lnTo>
                  <a:lnTo>
                    <a:pt x="2409887" y="657352"/>
                  </a:lnTo>
                  <a:lnTo>
                    <a:pt x="2425876" y="695994"/>
                  </a:lnTo>
                  <a:lnTo>
                    <a:pt x="2439884" y="735323"/>
                  </a:lnTo>
                  <a:lnTo>
                    <a:pt x="2451864" y="775300"/>
                  </a:lnTo>
                  <a:lnTo>
                    <a:pt x="2461770" y="815889"/>
                  </a:lnTo>
                  <a:lnTo>
                    <a:pt x="2469556" y="857053"/>
                  </a:lnTo>
                  <a:lnTo>
                    <a:pt x="2475175" y="898755"/>
                  </a:lnTo>
                  <a:lnTo>
                    <a:pt x="2478581" y="940958"/>
                  </a:lnTo>
                  <a:lnTo>
                    <a:pt x="2479726" y="983626"/>
                  </a:lnTo>
                  <a:lnTo>
                    <a:pt x="2478581" y="1026294"/>
                  </a:lnTo>
                  <a:lnTo>
                    <a:pt x="2475175" y="1068497"/>
                  </a:lnTo>
                  <a:lnTo>
                    <a:pt x="2469556" y="1110199"/>
                  </a:lnTo>
                  <a:lnTo>
                    <a:pt x="2461770" y="1151363"/>
                  </a:lnTo>
                  <a:lnTo>
                    <a:pt x="2451864" y="1191952"/>
                  </a:lnTo>
                  <a:lnTo>
                    <a:pt x="2439884" y="1231930"/>
                  </a:lnTo>
                  <a:lnTo>
                    <a:pt x="2425876" y="1271258"/>
                  </a:lnTo>
                  <a:lnTo>
                    <a:pt x="2409887" y="1309900"/>
                  </a:lnTo>
                  <a:lnTo>
                    <a:pt x="2391964" y="1347820"/>
                  </a:lnTo>
                  <a:lnTo>
                    <a:pt x="2372153" y="1384981"/>
                  </a:lnTo>
                  <a:lnTo>
                    <a:pt x="2350501" y="1421345"/>
                  </a:lnTo>
                  <a:lnTo>
                    <a:pt x="2327054" y="1456875"/>
                  </a:lnTo>
                  <a:lnTo>
                    <a:pt x="2301859" y="1491536"/>
                  </a:lnTo>
                  <a:lnTo>
                    <a:pt x="2274962" y="1525289"/>
                  </a:lnTo>
                  <a:lnTo>
                    <a:pt x="2246410" y="1558098"/>
                  </a:lnTo>
                  <a:lnTo>
                    <a:pt x="2216249" y="1589926"/>
                  </a:lnTo>
                  <a:lnTo>
                    <a:pt x="2184525" y="1620736"/>
                  </a:lnTo>
                  <a:lnTo>
                    <a:pt x="2151287" y="1650491"/>
                  </a:lnTo>
                  <a:lnTo>
                    <a:pt x="2116579" y="1679155"/>
                  </a:lnTo>
                  <a:lnTo>
                    <a:pt x="2080448" y="1706690"/>
                  </a:lnTo>
                  <a:lnTo>
                    <a:pt x="2042941" y="1733060"/>
                  </a:lnTo>
                  <a:lnTo>
                    <a:pt x="2004105" y="1758227"/>
                  </a:lnTo>
                  <a:lnTo>
                    <a:pt x="1963986" y="1782154"/>
                  </a:lnTo>
                  <a:lnTo>
                    <a:pt x="1922630" y="1804806"/>
                  </a:lnTo>
                  <a:lnTo>
                    <a:pt x="1880084" y="1826144"/>
                  </a:lnTo>
                  <a:lnTo>
                    <a:pt x="1836395" y="1846133"/>
                  </a:lnTo>
                  <a:lnTo>
                    <a:pt x="1791608" y="1864734"/>
                  </a:lnTo>
                  <a:lnTo>
                    <a:pt x="1745771" y="1881911"/>
                  </a:lnTo>
                  <a:lnTo>
                    <a:pt x="1698931" y="1897628"/>
                  </a:lnTo>
                  <a:lnTo>
                    <a:pt x="1651132" y="1911847"/>
                  </a:lnTo>
                  <a:lnTo>
                    <a:pt x="1602423" y="1924531"/>
                  </a:lnTo>
                  <a:lnTo>
                    <a:pt x="1552850" y="1935644"/>
                  </a:lnTo>
                  <a:lnTo>
                    <a:pt x="1502459" y="1945149"/>
                  </a:lnTo>
                  <a:lnTo>
                    <a:pt x="1451296" y="1953008"/>
                  </a:lnTo>
                  <a:lnTo>
                    <a:pt x="1399409" y="1959185"/>
                  </a:lnTo>
                  <a:lnTo>
                    <a:pt x="1346843" y="1963642"/>
                  </a:lnTo>
                  <a:lnTo>
                    <a:pt x="1293646" y="1966344"/>
                  </a:lnTo>
                  <a:lnTo>
                    <a:pt x="1239863" y="1967253"/>
                  </a:lnTo>
                  <a:lnTo>
                    <a:pt x="1186080" y="1966344"/>
                  </a:lnTo>
                  <a:lnTo>
                    <a:pt x="1132883" y="1963642"/>
                  </a:lnTo>
                  <a:lnTo>
                    <a:pt x="1080317" y="1959185"/>
                  </a:lnTo>
                  <a:lnTo>
                    <a:pt x="1028430" y="1953008"/>
                  </a:lnTo>
                  <a:lnTo>
                    <a:pt x="977267" y="1945149"/>
                  </a:lnTo>
                  <a:lnTo>
                    <a:pt x="926876" y="1935644"/>
                  </a:lnTo>
                  <a:lnTo>
                    <a:pt x="877302" y="1924531"/>
                  </a:lnTo>
                  <a:lnTo>
                    <a:pt x="828593" y="1911847"/>
                  </a:lnTo>
                  <a:lnTo>
                    <a:pt x="780795" y="1897628"/>
                  </a:lnTo>
                  <a:lnTo>
                    <a:pt x="733954" y="1881911"/>
                  </a:lnTo>
                  <a:lnTo>
                    <a:pt x="688118" y="1864734"/>
                  </a:lnTo>
                  <a:lnTo>
                    <a:pt x="643331" y="1846133"/>
                  </a:lnTo>
                  <a:lnTo>
                    <a:pt x="599642" y="1826144"/>
                  </a:lnTo>
                  <a:lnTo>
                    <a:pt x="557096" y="1804806"/>
                  </a:lnTo>
                  <a:lnTo>
                    <a:pt x="515740" y="1782154"/>
                  </a:lnTo>
                  <a:lnTo>
                    <a:pt x="475621" y="1758227"/>
                  </a:lnTo>
                  <a:lnTo>
                    <a:pt x="436784" y="1733060"/>
                  </a:lnTo>
                  <a:lnTo>
                    <a:pt x="399278" y="1706690"/>
                  </a:lnTo>
                  <a:lnTo>
                    <a:pt x="363147" y="1679155"/>
                  </a:lnTo>
                  <a:lnTo>
                    <a:pt x="328439" y="1650491"/>
                  </a:lnTo>
                  <a:lnTo>
                    <a:pt x="295200" y="1620736"/>
                  </a:lnTo>
                  <a:lnTo>
                    <a:pt x="263477" y="1589926"/>
                  </a:lnTo>
                  <a:lnTo>
                    <a:pt x="233316" y="1558098"/>
                  </a:lnTo>
                  <a:lnTo>
                    <a:pt x="204764" y="1525289"/>
                  </a:lnTo>
                  <a:lnTo>
                    <a:pt x="177867" y="1491536"/>
                  </a:lnTo>
                  <a:lnTo>
                    <a:pt x="152672" y="1456875"/>
                  </a:lnTo>
                  <a:lnTo>
                    <a:pt x="129225" y="1421345"/>
                  </a:lnTo>
                  <a:lnTo>
                    <a:pt x="107573" y="1384981"/>
                  </a:lnTo>
                  <a:lnTo>
                    <a:pt x="87762" y="1347820"/>
                  </a:lnTo>
                  <a:lnTo>
                    <a:pt x="69839" y="1309900"/>
                  </a:lnTo>
                  <a:lnTo>
                    <a:pt x="53850" y="1271258"/>
                  </a:lnTo>
                  <a:lnTo>
                    <a:pt x="39842" y="1231930"/>
                  </a:lnTo>
                  <a:lnTo>
                    <a:pt x="27862" y="1191952"/>
                  </a:lnTo>
                  <a:lnTo>
                    <a:pt x="17956" y="1151363"/>
                  </a:lnTo>
                  <a:lnTo>
                    <a:pt x="10170" y="1110199"/>
                  </a:lnTo>
                  <a:lnTo>
                    <a:pt x="4551" y="1068497"/>
                  </a:lnTo>
                  <a:lnTo>
                    <a:pt x="1145" y="1026294"/>
                  </a:lnTo>
                  <a:lnTo>
                    <a:pt x="0" y="983626"/>
                  </a:lnTo>
                  <a:close/>
                </a:path>
              </a:pathLst>
            </a:custGeom>
            <a:ln w="28186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10796" y="2902569"/>
              <a:ext cx="2432050" cy="721360"/>
            </a:xfrm>
            <a:custGeom>
              <a:avLst/>
              <a:gdLst/>
              <a:ahLst/>
              <a:cxnLst/>
              <a:rect l="l" t="t" r="r" b="b"/>
              <a:pathLst>
                <a:path w="2432050" h="721360">
                  <a:moveTo>
                    <a:pt x="2026258" y="453260"/>
                  </a:moveTo>
                  <a:lnTo>
                    <a:pt x="1418380" y="453260"/>
                  </a:lnTo>
                  <a:lnTo>
                    <a:pt x="1220666" y="721050"/>
                  </a:lnTo>
                  <a:lnTo>
                    <a:pt x="2026258" y="453260"/>
                  </a:lnTo>
                  <a:close/>
                </a:path>
                <a:path w="2432050" h="721360">
                  <a:moveTo>
                    <a:pt x="2355966" y="0"/>
                  </a:moveTo>
                  <a:lnTo>
                    <a:pt x="75543" y="0"/>
                  </a:lnTo>
                  <a:lnTo>
                    <a:pt x="46138" y="5936"/>
                  </a:lnTo>
                  <a:lnTo>
                    <a:pt x="22125" y="22126"/>
                  </a:lnTo>
                  <a:lnTo>
                    <a:pt x="5936" y="46139"/>
                  </a:lnTo>
                  <a:lnTo>
                    <a:pt x="0" y="75544"/>
                  </a:lnTo>
                  <a:lnTo>
                    <a:pt x="0" y="377717"/>
                  </a:lnTo>
                  <a:lnTo>
                    <a:pt x="5936" y="407121"/>
                  </a:lnTo>
                  <a:lnTo>
                    <a:pt x="22125" y="431134"/>
                  </a:lnTo>
                  <a:lnTo>
                    <a:pt x="46138" y="447323"/>
                  </a:lnTo>
                  <a:lnTo>
                    <a:pt x="75543" y="453260"/>
                  </a:lnTo>
                  <a:lnTo>
                    <a:pt x="2355966" y="453260"/>
                  </a:lnTo>
                  <a:lnTo>
                    <a:pt x="2385371" y="447323"/>
                  </a:lnTo>
                  <a:lnTo>
                    <a:pt x="2409384" y="431134"/>
                  </a:lnTo>
                  <a:lnTo>
                    <a:pt x="2425573" y="407121"/>
                  </a:lnTo>
                  <a:lnTo>
                    <a:pt x="2431510" y="377717"/>
                  </a:lnTo>
                  <a:lnTo>
                    <a:pt x="2431510" y="75544"/>
                  </a:lnTo>
                  <a:lnTo>
                    <a:pt x="2425573" y="46139"/>
                  </a:lnTo>
                  <a:lnTo>
                    <a:pt x="2409384" y="22126"/>
                  </a:lnTo>
                  <a:lnTo>
                    <a:pt x="2385371" y="5936"/>
                  </a:lnTo>
                  <a:lnTo>
                    <a:pt x="2355966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10796" y="2902569"/>
              <a:ext cx="2432050" cy="721360"/>
            </a:xfrm>
            <a:custGeom>
              <a:avLst/>
              <a:gdLst/>
              <a:ahLst/>
              <a:cxnLst/>
              <a:rect l="l" t="t" r="r" b="b"/>
              <a:pathLst>
                <a:path w="2432050" h="721360">
                  <a:moveTo>
                    <a:pt x="0" y="75543"/>
                  </a:moveTo>
                  <a:lnTo>
                    <a:pt x="5936" y="46138"/>
                  </a:lnTo>
                  <a:lnTo>
                    <a:pt x="22126" y="22126"/>
                  </a:lnTo>
                  <a:lnTo>
                    <a:pt x="46138" y="5936"/>
                  </a:lnTo>
                  <a:lnTo>
                    <a:pt x="75543" y="0"/>
                  </a:lnTo>
                  <a:lnTo>
                    <a:pt x="1418381" y="0"/>
                  </a:lnTo>
                  <a:lnTo>
                    <a:pt x="2026259" y="0"/>
                  </a:lnTo>
                  <a:lnTo>
                    <a:pt x="2355967" y="0"/>
                  </a:lnTo>
                  <a:lnTo>
                    <a:pt x="2385372" y="5936"/>
                  </a:lnTo>
                  <a:lnTo>
                    <a:pt x="2409385" y="22126"/>
                  </a:lnTo>
                  <a:lnTo>
                    <a:pt x="2425574" y="46138"/>
                  </a:lnTo>
                  <a:lnTo>
                    <a:pt x="2431511" y="75543"/>
                  </a:lnTo>
                  <a:lnTo>
                    <a:pt x="2431511" y="264401"/>
                  </a:lnTo>
                  <a:lnTo>
                    <a:pt x="2431511" y="377716"/>
                  </a:lnTo>
                  <a:lnTo>
                    <a:pt x="2425574" y="407121"/>
                  </a:lnTo>
                  <a:lnTo>
                    <a:pt x="2409385" y="431133"/>
                  </a:lnTo>
                  <a:lnTo>
                    <a:pt x="2385372" y="447323"/>
                  </a:lnTo>
                  <a:lnTo>
                    <a:pt x="2355967" y="453259"/>
                  </a:lnTo>
                  <a:lnTo>
                    <a:pt x="2026259" y="453259"/>
                  </a:lnTo>
                  <a:lnTo>
                    <a:pt x="1220666" y="721049"/>
                  </a:lnTo>
                  <a:lnTo>
                    <a:pt x="1418381" y="453259"/>
                  </a:lnTo>
                  <a:lnTo>
                    <a:pt x="75543" y="453259"/>
                  </a:lnTo>
                  <a:lnTo>
                    <a:pt x="46138" y="447323"/>
                  </a:lnTo>
                  <a:lnTo>
                    <a:pt x="22126" y="431133"/>
                  </a:lnTo>
                  <a:lnTo>
                    <a:pt x="5936" y="407121"/>
                  </a:lnTo>
                  <a:lnTo>
                    <a:pt x="0" y="377716"/>
                  </a:lnTo>
                  <a:lnTo>
                    <a:pt x="0" y="264401"/>
                  </a:lnTo>
                  <a:lnTo>
                    <a:pt x="0" y="75543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281120" y="2987040"/>
            <a:ext cx="20910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FFFFFF"/>
                </a:solidFill>
                <a:latin typeface="Verdana"/>
                <a:cs typeface="Verdana"/>
              </a:rPr>
              <a:t>Values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7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7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column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440217" y="5984960"/>
            <a:ext cx="1202690" cy="670560"/>
            <a:chOff x="5461264" y="6463779"/>
            <a:chExt cx="1202690" cy="670560"/>
          </a:xfrm>
        </p:grpSpPr>
        <p:sp>
          <p:nvSpPr>
            <p:cNvPr id="30" name="object 30"/>
            <p:cNvSpPr/>
            <p:nvPr/>
          </p:nvSpPr>
          <p:spPr>
            <a:xfrm>
              <a:off x="5475551" y="6478066"/>
              <a:ext cx="1174115" cy="641985"/>
            </a:xfrm>
            <a:custGeom>
              <a:avLst/>
              <a:gdLst/>
              <a:ahLst/>
              <a:cxnLst/>
              <a:rect l="l" t="t" r="r" b="b"/>
              <a:pathLst>
                <a:path w="1174115" h="641984">
                  <a:moveTo>
                    <a:pt x="1098194" y="188184"/>
                  </a:moveTo>
                  <a:lnTo>
                    <a:pt x="75544" y="188184"/>
                  </a:lnTo>
                  <a:lnTo>
                    <a:pt x="46139" y="194121"/>
                  </a:lnTo>
                  <a:lnTo>
                    <a:pt x="22126" y="210311"/>
                  </a:lnTo>
                  <a:lnTo>
                    <a:pt x="5936" y="234323"/>
                  </a:lnTo>
                  <a:lnTo>
                    <a:pt x="0" y="263728"/>
                  </a:lnTo>
                  <a:lnTo>
                    <a:pt x="0" y="565899"/>
                  </a:lnTo>
                  <a:lnTo>
                    <a:pt x="5936" y="595304"/>
                  </a:lnTo>
                  <a:lnTo>
                    <a:pt x="22126" y="619317"/>
                  </a:lnTo>
                  <a:lnTo>
                    <a:pt x="46139" y="635507"/>
                  </a:lnTo>
                  <a:lnTo>
                    <a:pt x="75544" y="641444"/>
                  </a:lnTo>
                  <a:lnTo>
                    <a:pt x="1098194" y="641444"/>
                  </a:lnTo>
                  <a:lnTo>
                    <a:pt x="1127599" y="635507"/>
                  </a:lnTo>
                  <a:lnTo>
                    <a:pt x="1151612" y="619317"/>
                  </a:lnTo>
                  <a:lnTo>
                    <a:pt x="1167802" y="595304"/>
                  </a:lnTo>
                  <a:lnTo>
                    <a:pt x="1173739" y="565899"/>
                  </a:lnTo>
                  <a:lnTo>
                    <a:pt x="1173738" y="263728"/>
                  </a:lnTo>
                  <a:lnTo>
                    <a:pt x="1167802" y="234323"/>
                  </a:lnTo>
                  <a:lnTo>
                    <a:pt x="1151612" y="210311"/>
                  </a:lnTo>
                  <a:lnTo>
                    <a:pt x="1127599" y="194121"/>
                  </a:lnTo>
                  <a:lnTo>
                    <a:pt x="1098194" y="188184"/>
                  </a:lnTo>
                  <a:close/>
                </a:path>
                <a:path w="1174115" h="641984">
                  <a:moveTo>
                    <a:pt x="1107939" y="0"/>
                  </a:moveTo>
                  <a:lnTo>
                    <a:pt x="684681" y="188184"/>
                  </a:lnTo>
                  <a:lnTo>
                    <a:pt x="978115" y="188184"/>
                  </a:lnTo>
                  <a:lnTo>
                    <a:pt x="1107939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75551" y="6478066"/>
              <a:ext cx="1174115" cy="641985"/>
            </a:xfrm>
            <a:custGeom>
              <a:avLst/>
              <a:gdLst/>
              <a:ahLst/>
              <a:cxnLst/>
              <a:rect l="l" t="t" r="r" b="b"/>
              <a:pathLst>
                <a:path w="1174115" h="641984">
                  <a:moveTo>
                    <a:pt x="0" y="263729"/>
                  </a:moveTo>
                  <a:lnTo>
                    <a:pt x="5936" y="234324"/>
                  </a:lnTo>
                  <a:lnTo>
                    <a:pt x="22126" y="210311"/>
                  </a:lnTo>
                  <a:lnTo>
                    <a:pt x="46139" y="194121"/>
                  </a:lnTo>
                  <a:lnTo>
                    <a:pt x="75544" y="188184"/>
                  </a:lnTo>
                  <a:lnTo>
                    <a:pt x="684680" y="188184"/>
                  </a:lnTo>
                  <a:lnTo>
                    <a:pt x="1107939" y="0"/>
                  </a:lnTo>
                  <a:lnTo>
                    <a:pt x="978115" y="188184"/>
                  </a:lnTo>
                  <a:lnTo>
                    <a:pt x="1098194" y="188184"/>
                  </a:lnTo>
                  <a:lnTo>
                    <a:pt x="1127599" y="194121"/>
                  </a:lnTo>
                  <a:lnTo>
                    <a:pt x="1151611" y="210311"/>
                  </a:lnTo>
                  <a:lnTo>
                    <a:pt x="1167801" y="234324"/>
                  </a:lnTo>
                  <a:lnTo>
                    <a:pt x="1173738" y="263729"/>
                  </a:lnTo>
                  <a:lnTo>
                    <a:pt x="1173738" y="377043"/>
                  </a:lnTo>
                  <a:lnTo>
                    <a:pt x="1173738" y="565899"/>
                  </a:lnTo>
                  <a:lnTo>
                    <a:pt x="1167801" y="595305"/>
                  </a:lnTo>
                  <a:lnTo>
                    <a:pt x="1151611" y="619318"/>
                  </a:lnTo>
                  <a:lnTo>
                    <a:pt x="1127599" y="635507"/>
                  </a:lnTo>
                  <a:lnTo>
                    <a:pt x="1098194" y="641444"/>
                  </a:lnTo>
                  <a:lnTo>
                    <a:pt x="978115" y="641444"/>
                  </a:lnTo>
                  <a:lnTo>
                    <a:pt x="684680" y="641444"/>
                  </a:lnTo>
                  <a:lnTo>
                    <a:pt x="75544" y="641444"/>
                  </a:lnTo>
                  <a:lnTo>
                    <a:pt x="46139" y="635507"/>
                  </a:lnTo>
                  <a:lnTo>
                    <a:pt x="22126" y="619318"/>
                  </a:lnTo>
                  <a:lnTo>
                    <a:pt x="5936" y="595305"/>
                  </a:lnTo>
                  <a:lnTo>
                    <a:pt x="0" y="565899"/>
                  </a:lnTo>
                  <a:lnTo>
                    <a:pt x="0" y="377043"/>
                  </a:lnTo>
                  <a:lnTo>
                    <a:pt x="0" y="263728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765342" y="6748271"/>
            <a:ext cx="5930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40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ow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1700" dirty="0">
              <a:latin typeface="Verdana"/>
              <a:cs typeface="Verdan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050026" y="5518688"/>
            <a:ext cx="2368550" cy="1009015"/>
          </a:xfrm>
          <a:custGeom>
            <a:avLst/>
            <a:gdLst/>
            <a:ahLst/>
            <a:cxnLst/>
            <a:rect l="l" t="t" r="r" b="b"/>
            <a:pathLst>
              <a:path w="2368550" h="1009015">
                <a:moveTo>
                  <a:pt x="0" y="504211"/>
                </a:moveTo>
                <a:lnTo>
                  <a:pt x="6947" y="449272"/>
                </a:lnTo>
                <a:lnTo>
                  <a:pt x="27310" y="396046"/>
                </a:lnTo>
                <a:lnTo>
                  <a:pt x="60364" y="344841"/>
                </a:lnTo>
                <a:lnTo>
                  <a:pt x="105388" y="295965"/>
                </a:lnTo>
                <a:lnTo>
                  <a:pt x="161660" y="249726"/>
                </a:lnTo>
                <a:lnTo>
                  <a:pt x="193788" y="227691"/>
                </a:lnTo>
                <a:lnTo>
                  <a:pt x="228456" y="206430"/>
                </a:lnTo>
                <a:lnTo>
                  <a:pt x="265576" y="185983"/>
                </a:lnTo>
                <a:lnTo>
                  <a:pt x="305056" y="166386"/>
                </a:lnTo>
                <a:lnTo>
                  <a:pt x="346806" y="147680"/>
                </a:lnTo>
                <a:lnTo>
                  <a:pt x="390735" y="129901"/>
                </a:lnTo>
                <a:lnTo>
                  <a:pt x="436755" y="113090"/>
                </a:lnTo>
                <a:lnTo>
                  <a:pt x="484773" y="97283"/>
                </a:lnTo>
                <a:lnTo>
                  <a:pt x="534701" y="82520"/>
                </a:lnTo>
                <a:lnTo>
                  <a:pt x="586447" y="68839"/>
                </a:lnTo>
                <a:lnTo>
                  <a:pt x="639921" y="56279"/>
                </a:lnTo>
                <a:lnTo>
                  <a:pt x="695034" y="44877"/>
                </a:lnTo>
                <a:lnTo>
                  <a:pt x="751694" y="34673"/>
                </a:lnTo>
                <a:lnTo>
                  <a:pt x="809812" y="25705"/>
                </a:lnTo>
                <a:lnTo>
                  <a:pt x="869297" y="18010"/>
                </a:lnTo>
                <a:lnTo>
                  <a:pt x="930059" y="11629"/>
                </a:lnTo>
                <a:lnTo>
                  <a:pt x="992008" y="6599"/>
                </a:lnTo>
                <a:lnTo>
                  <a:pt x="1055052" y="2958"/>
                </a:lnTo>
                <a:lnTo>
                  <a:pt x="1119103" y="746"/>
                </a:lnTo>
                <a:lnTo>
                  <a:pt x="1184070" y="0"/>
                </a:lnTo>
                <a:lnTo>
                  <a:pt x="1249036" y="746"/>
                </a:lnTo>
                <a:lnTo>
                  <a:pt x="1313087" y="2958"/>
                </a:lnTo>
                <a:lnTo>
                  <a:pt x="1376132" y="6599"/>
                </a:lnTo>
                <a:lnTo>
                  <a:pt x="1438081" y="11629"/>
                </a:lnTo>
                <a:lnTo>
                  <a:pt x="1498843" y="18010"/>
                </a:lnTo>
                <a:lnTo>
                  <a:pt x="1558327" y="25705"/>
                </a:lnTo>
                <a:lnTo>
                  <a:pt x="1616445" y="34673"/>
                </a:lnTo>
                <a:lnTo>
                  <a:pt x="1673106" y="44877"/>
                </a:lnTo>
                <a:lnTo>
                  <a:pt x="1728218" y="56279"/>
                </a:lnTo>
                <a:lnTo>
                  <a:pt x="1781693" y="68839"/>
                </a:lnTo>
                <a:lnTo>
                  <a:pt x="1833439" y="82520"/>
                </a:lnTo>
                <a:lnTo>
                  <a:pt x="1883366" y="97283"/>
                </a:lnTo>
                <a:lnTo>
                  <a:pt x="1931385" y="113090"/>
                </a:lnTo>
                <a:lnTo>
                  <a:pt x="1977404" y="129901"/>
                </a:lnTo>
                <a:lnTo>
                  <a:pt x="2021334" y="147680"/>
                </a:lnTo>
                <a:lnTo>
                  <a:pt x="2063084" y="166386"/>
                </a:lnTo>
                <a:lnTo>
                  <a:pt x="2102564" y="185983"/>
                </a:lnTo>
                <a:lnTo>
                  <a:pt x="2139683" y="206430"/>
                </a:lnTo>
                <a:lnTo>
                  <a:pt x="2174352" y="227691"/>
                </a:lnTo>
                <a:lnTo>
                  <a:pt x="2206480" y="249726"/>
                </a:lnTo>
                <a:lnTo>
                  <a:pt x="2262751" y="295965"/>
                </a:lnTo>
                <a:lnTo>
                  <a:pt x="2307776" y="344841"/>
                </a:lnTo>
                <a:lnTo>
                  <a:pt x="2340830" y="396046"/>
                </a:lnTo>
                <a:lnTo>
                  <a:pt x="2361192" y="449272"/>
                </a:lnTo>
                <a:lnTo>
                  <a:pt x="2368140" y="504211"/>
                </a:lnTo>
                <a:lnTo>
                  <a:pt x="2366388" y="531876"/>
                </a:lnTo>
                <a:lnTo>
                  <a:pt x="2352643" y="585997"/>
                </a:lnTo>
                <a:lnTo>
                  <a:pt x="2325844" y="638251"/>
                </a:lnTo>
                <a:lnTo>
                  <a:pt x="2286715" y="688329"/>
                </a:lnTo>
                <a:lnTo>
                  <a:pt x="2235976" y="735926"/>
                </a:lnTo>
                <a:lnTo>
                  <a:pt x="2174352" y="780732"/>
                </a:lnTo>
                <a:lnTo>
                  <a:pt x="2139683" y="801992"/>
                </a:lnTo>
                <a:lnTo>
                  <a:pt x="2102564" y="822440"/>
                </a:lnTo>
                <a:lnTo>
                  <a:pt x="2063084" y="842036"/>
                </a:lnTo>
                <a:lnTo>
                  <a:pt x="2021334" y="860743"/>
                </a:lnTo>
                <a:lnTo>
                  <a:pt x="1977404" y="878521"/>
                </a:lnTo>
                <a:lnTo>
                  <a:pt x="1931385" y="895333"/>
                </a:lnTo>
                <a:lnTo>
                  <a:pt x="1883366" y="911139"/>
                </a:lnTo>
                <a:lnTo>
                  <a:pt x="1833439" y="925902"/>
                </a:lnTo>
                <a:lnTo>
                  <a:pt x="1781693" y="939583"/>
                </a:lnTo>
                <a:lnTo>
                  <a:pt x="1728218" y="952144"/>
                </a:lnTo>
                <a:lnTo>
                  <a:pt x="1673106" y="963545"/>
                </a:lnTo>
                <a:lnTo>
                  <a:pt x="1616445" y="973750"/>
                </a:lnTo>
                <a:lnTo>
                  <a:pt x="1558327" y="982718"/>
                </a:lnTo>
                <a:lnTo>
                  <a:pt x="1498843" y="990412"/>
                </a:lnTo>
                <a:lnTo>
                  <a:pt x="1438081" y="996793"/>
                </a:lnTo>
                <a:lnTo>
                  <a:pt x="1376132" y="1001824"/>
                </a:lnTo>
                <a:lnTo>
                  <a:pt x="1313087" y="1005464"/>
                </a:lnTo>
                <a:lnTo>
                  <a:pt x="1249036" y="1007677"/>
                </a:lnTo>
                <a:lnTo>
                  <a:pt x="1184070" y="1008423"/>
                </a:lnTo>
                <a:lnTo>
                  <a:pt x="1119103" y="1007677"/>
                </a:lnTo>
                <a:lnTo>
                  <a:pt x="1055052" y="1005464"/>
                </a:lnTo>
                <a:lnTo>
                  <a:pt x="992008" y="1001824"/>
                </a:lnTo>
                <a:lnTo>
                  <a:pt x="930059" y="996793"/>
                </a:lnTo>
                <a:lnTo>
                  <a:pt x="869297" y="990412"/>
                </a:lnTo>
                <a:lnTo>
                  <a:pt x="809812" y="982718"/>
                </a:lnTo>
                <a:lnTo>
                  <a:pt x="751694" y="973750"/>
                </a:lnTo>
                <a:lnTo>
                  <a:pt x="695034" y="963545"/>
                </a:lnTo>
                <a:lnTo>
                  <a:pt x="639921" y="952144"/>
                </a:lnTo>
                <a:lnTo>
                  <a:pt x="586447" y="939583"/>
                </a:lnTo>
                <a:lnTo>
                  <a:pt x="534701" y="925902"/>
                </a:lnTo>
                <a:lnTo>
                  <a:pt x="484773" y="911139"/>
                </a:lnTo>
                <a:lnTo>
                  <a:pt x="436755" y="895333"/>
                </a:lnTo>
                <a:lnTo>
                  <a:pt x="390735" y="878521"/>
                </a:lnTo>
                <a:lnTo>
                  <a:pt x="346806" y="860743"/>
                </a:lnTo>
                <a:lnTo>
                  <a:pt x="305056" y="842036"/>
                </a:lnTo>
                <a:lnTo>
                  <a:pt x="265576" y="822440"/>
                </a:lnTo>
                <a:lnTo>
                  <a:pt x="228456" y="801992"/>
                </a:lnTo>
                <a:lnTo>
                  <a:pt x="193788" y="780732"/>
                </a:lnTo>
                <a:lnTo>
                  <a:pt x="161660" y="758697"/>
                </a:lnTo>
                <a:lnTo>
                  <a:pt x="105388" y="712457"/>
                </a:lnTo>
                <a:lnTo>
                  <a:pt x="60364" y="663581"/>
                </a:lnTo>
                <a:lnTo>
                  <a:pt x="27310" y="612376"/>
                </a:lnTo>
                <a:lnTo>
                  <a:pt x="6947" y="559151"/>
                </a:lnTo>
                <a:lnTo>
                  <a:pt x="0" y="504211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9443" y="4243453"/>
            <a:ext cx="9500235" cy="2931795"/>
          </a:xfrm>
          <a:custGeom>
            <a:avLst/>
            <a:gdLst/>
            <a:ahLst/>
            <a:cxnLst/>
            <a:rect l="l" t="t" r="r" b="b"/>
            <a:pathLst>
              <a:path w="9500235" h="2931795">
                <a:moveTo>
                  <a:pt x="0" y="0"/>
                </a:moveTo>
                <a:lnTo>
                  <a:pt x="9500006" y="0"/>
                </a:lnTo>
                <a:lnTo>
                  <a:pt x="9500006" y="2931341"/>
                </a:lnTo>
                <a:lnTo>
                  <a:pt x="0" y="2931341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6992" y="315975"/>
            <a:ext cx="908177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25" dirty="0"/>
              <a:t>is</a:t>
            </a:r>
            <a:r>
              <a:rPr spc="-120" dirty="0"/>
              <a:t>t</a:t>
            </a:r>
            <a:r>
              <a:rPr spc="-125" dirty="0"/>
              <a:t>e</a:t>
            </a:r>
            <a:r>
              <a:rPr spc="-130" dirty="0"/>
              <a:t>n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0" dirty="0"/>
              <a:t>a</a:t>
            </a:r>
            <a:r>
              <a:rPr dirty="0"/>
              <a:t>l</a:t>
            </a:r>
            <a:r>
              <a:rPr spc="-245" dirty="0"/>
              <a:t> </a:t>
            </a:r>
            <a:r>
              <a:rPr spc="-140" dirty="0"/>
              <a:t>Q</a:t>
            </a:r>
            <a:r>
              <a:rPr spc="-130" dirty="0"/>
              <a:t>uan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20" dirty="0"/>
              <a:t>f</a:t>
            </a:r>
            <a:r>
              <a:rPr spc="-125" dirty="0"/>
              <a:t>ie</a:t>
            </a:r>
            <a:r>
              <a:rPr dirty="0"/>
              <a:t>r</a:t>
            </a:r>
            <a:r>
              <a:rPr spc="-245" dirty="0"/>
              <a:t> </a:t>
            </a:r>
            <a:r>
              <a:rPr spc="-130" dirty="0"/>
              <a:t>(E</a:t>
            </a:r>
            <a:r>
              <a:rPr spc="-145" dirty="0"/>
              <a:t>X</a:t>
            </a:r>
            <a:r>
              <a:rPr spc="-120" dirty="0"/>
              <a:t>I</a:t>
            </a:r>
            <a:r>
              <a:rPr spc="-135" dirty="0"/>
              <a:t>STS</a:t>
            </a:r>
            <a:r>
              <a:rPr dirty="0"/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90081" y="1211579"/>
            <a:ext cx="125857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000"/>
              </a:lnSpc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account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borrower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22722" y="1211579"/>
            <a:ext cx="588137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 marR="5080" indent="-154305">
              <a:lnSpc>
                <a:spcPct val="104000"/>
              </a:lnSpc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account_number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balance)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(customer_name,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loan_number)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733" y="1818131"/>
            <a:ext cx="8692515" cy="22136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86690" marR="2179955" algn="just">
              <a:lnSpc>
                <a:spcPct val="102499"/>
              </a:lnSpc>
              <a:spcBef>
                <a:spcPts val="16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branch 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branch_name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 branch_city,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assets)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depositor (customer_name, account_number)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loan_number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amount)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>
              <a:latin typeface="Courier New"/>
              <a:cs typeface="Courier New"/>
            </a:endParaRPr>
          </a:p>
          <a:p>
            <a:pPr marL="12700" marR="5080">
              <a:lnSpc>
                <a:spcPct val="102899"/>
              </a:lnSpc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branches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some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who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both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loan(s)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account(s)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bank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7619" y="4557776"/>
            <a:ext cx="34264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spc="-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T1.branch_name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7619" y="4886959"/>
            <a:ext cx="825500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5080">
              <a:lnSpc>
                <a:spcPct val="103800"/>
              </a:lnSpc>
              <a:spcBef>
                <a:spcPts val="5"/>
              </a:spcBef>
            </a:pP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2100" spc="-125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50419" y="4886959"/>
            <a:ext cx="1638300" cy="995044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62560" marR="5080" indent="-162560">
              <a:lnSpc>
                <a:spcPct val="101400"/>
              </a:lnSpc>
              <a:spcBef>
                <a:spcPts val="65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account</a:t>
            </a:r>
            <a:r>
              <a:rPr sz="2100" spc="-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 </a:t>
            </a:r>
            <a:r>
              <a:rPr sz="2100" spc="-12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EXISTS </a:t>
            </a:r>
            <a:r>
              <a:rPr sz="2100" spc="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spc="-4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*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5539" y="5865367"/>
            <a:ext cx="825500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5080">
              <a:lnSpc>
                <a:spcPct val="103800"/>
              </a:lnSpc>
              <a:spcBef>
                <a:spcPts val="5"/>
              </a:spcBef>
            </a:pP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2100" spc="-125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8339" y="5865367"/>
            <a:ext cx="6352540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62560" marR="5080" indent="-162560">
              <a:lnSpc>
                <a:spcPct val="103800"/>
              </a:lnSpc>
              <a:spcBef>
                <a:spcPts val="5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depositor</a:t>
            </a:r>
            <a:r>
              <a:rPr sz="21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D</a:t>
            </a:r>
            <a:r>
              <a:rPr sz="21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NATURAL</a:t>
            </a:r>
            <a:r>
              <a:rPr sz="21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JOIN</a:t>
            </a:r>
            <a:r>
              <a:rPr sz="21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borrower</a:t>
            </a:r>
            <a:r>
              <a:rPr sz="21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B 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D.account_number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T1.account_number);</a:t>
            </a:r>
            <a:endParaRPr sz="2100">
              <a:latin typeface="Courier New"/>
              <a:cs typeface="Courier New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8416" y="4602479"/>
            <a:ext cx="2627376" cy="84124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282419" y="4620772"/>
            <a:ext cx="2329815" cy="53657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04775" rIns="0" bIns="0" rtlCol="0">
            <a:spAutoFit/>
          </a:bodyPr>
          <a:lstStyle/>
          <a:p>
            <a:pPr marL="456565">
              <a:lnSpc>
                <a:spcPct val="100000"/>
              </a:lnSpc>
              <a:spcBef>
                <a:spcPts val="825"/>
              </a:spcBef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Correlated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72823" y="5141601"/>
            <a:ext cx="1292225" cy="575945"/>
            <a:chOff x="3272823" y="5141601"/>
            <a:chExt cx="1292225" cy="575945"/>
          </a:xfrm>
        </p:grpSpPr>
        <p:sp>
          <p:nvSpPr>
            <p:cNvPr id="15" name="object 15"/>
            <p:cNvSpPr/>
            <p:nvPr/>
          </p:nvSpPr>
          <p:spPr>
            <a:xfrm>
              <a:off x="3287110" y="5155888"/>
              <a:ext cx="1263650" cy="547370"/>
            </a:xfrm>
            <a:custGeom>
              <a:avLst/>
              <a:gdLst/>
              <a:ahLst/>
              <a:cxnLst/>
              <a:rect l="l" t="t" r="r" b="b"/>
              <a:pathLst>
                <a:path w="1263650" h="547370">
                  <a:moveTo>
                    <a:pt x="568596" y="404116"/>
                  </a:moveTo>
                  <a:lnTo>
                    <a:pt x="270882" y="404116"/>
                  </a:lnTo>
                  <a:lnTo>
                    <a:pt x="0" y="546959"/>
                  </a:lnTo>
                  <a:lnTo>
                    <a:pt x="568596" y="404116"/>
                  </a:lnTo>
                  <a:close/>
                </a:path>
                <a:path w="1263650" h="547370">
                  <a:moveTo>
                    <a:pt x="1195909" y="0"/>
                  </a:moveTo>
                  <a:lnTo>
                    <a:pt x="139759" y="0"/>
                  </a:lnTo>
                  <a:lnTo>
                    <a:pt x="113542" y="5292"/>
                  </a:lnTo>
                  <a:lnTo>
                    <a:pt x="92133" y="19727"/>
                  </a:lnTo>
                  <a:lnTo>
                    <a:pt x="77698" y="41136"/>
                  </a:lnTo>
                  <a:lnTo>
                    <a:pt x="72405" y="67354"/>
                  </a:lnTo>
                  <a:lnTo>
                    <a:pt x="72405" y="336763"/>
                  </a:lnTo>
                  <a:lnTo>
                    <a:pt x="77698" y="362979"/>
                  </a:lnTo>
                  <a:lnTo>
                    <a:pt x="92133" y="384389"/>
                  </a:lnTo>
                  <a:lnTo>
                    <a:pt x="113542" y="398823"/>
                  </a:lnTo>
                  <a:lnTo>
                    <a:pt x="139759" y="404116"/>
                  </a:lnTo>
                  <a:lnTo>
                    <a:pt x="1195909" y="404116"/>
                  </a:lnTo>
                  <a:lnTo>
                    <a:pt x="1243536" y="384389"/>
                  </a:lnTo>
                  <a:lnTo>
                    <a:pt x="1263263" y="336763"/>
                  </a:lnTo>
                  <a:lnTo>
                    <a:pt x="1263263" y="67354"/>
                  </a:lnTo>
                  <a:lnTo>
                    <a:pt x="1257970" y="41136"/>
                  </a:lnTo>
                  <a:lnTo>
                    <a:pt x="1243536" y="19727"/>
                  </a:lnTo>
                  <a:lnTo>
                    <a:pt x="1222126" y="5292"/>
                  </a:lnTo>
                  <a:lnTo>
                    <a:pt x="1195909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87110" y="5155888"/>
              <a:ext cx="1263650" cy="547370"/>
            </a:xfrm>
            <a:custGeom>
              <a:avLst/>
              <a:gdLst/>
              <a:ahLst/>
              <a:cxnLst/>
              <a:rect l="l" t="t" r="r" b="b"/>
              <a:pathLst>
                <a:path w="1263650" h="547370">
                  <a:moveTo>
                    <a:pt x="72404" y="67354"/>
                  </a:moveTo>
                  <a:lnTo>
                    <a:pt x="77697" y="41137"/>
                  </a:lnTo>
                  <a:lnTo>
                    <a:pt x="92132" y="19727"/>
                  </a:lnTo>
                  <a:lnTo>
                    <a:pt x="113541" y="5293"/>
                  </a:lnTo>
                  <a:lnTo>
                    <a:pt x="139759" y="0"/>
                  </a:lnTo>
                  <a:lnTo>
                    <a:pt x="270881" y="0"/>
                  </a:lnTo>
                  <a:lnTo>
                    <a:pt x="568595" y="0"/>
                  </a:lnTo>
                  <a:lnTo>
                    <a:pt x="1195908" y="0"/>
                  </a:lnTo>
                  <a:lnTo>
                    <a:pt x="1222126" y="5293"/>
                  </a:lnTo>
                  <a:lnTo>
                    <a:pt x="1243535" y="19727"/>
                  </a:lnTo>
                  <a:lnTo>
                    <a:pt x="1257970" y="41137"/>
                  </a:lnTo>
                  <a:lnTo>
                    <a:pt x="1263263" y="67354"/>
                  </a:lnTo>
                  <a:lnTo>
                    <a:pt x="1263263" y="235735"/>
                  </a:lnTo>
                  <a:lnTo>
                    <a:pt x="1263263" y="336764"/>
                  </a:lnTo>
                  <a:lnTo>
                    <a:pt x="1257970" y="362980"/>
                  </a:lnTo>
                  <a:lnTo>
                    <a:pt x="1243535" y="384389"/>
                  </a:lnTo>
                  <a:lnTo>
                    <a:pt x="1222126" y="398824"/>
                  </a:lnTo>
                  <a:lnTo>
                    <a:pt x="1195908" y="404117"/>
                  </a:lnTo>
                  <a:lnTo>
                    <a:pt x="568595" y="404117"/>
                  </a:lnTo>
                  <a:lnTo>
                    <a:pt x="0" y="546960"/>
                  </a:lnTo>
                  <a:lnTo>
                    <a:pt x="270881" y="404117"/>
                  </a:lnTo>
                  <a:lnTo>
                    <a:pt x="139759" y="404117"/>
                  </a:lnTo>
                  <a:lnTo>
                    <a:pt x="113541" y="398824"/>
                  </a:lnTo>
                  <a:lnTo>
                    <a:pt x="92132" y="384389"/>
                  </a:lnTo>
                  <a:lnTo>
                    <a:pt x="77697" y="362980"/>
                  </a:lnTo>
                  <a:lnTo>
                    <a:pt x="72404" y="336762"/>
                  </a:lnTo>
                  <a:lnTo>
                    <a:pt x="72404" y="235735"/>
                  </a:lnTo>
                  <a:lnTo>
                    <a:pt x="72404" y="67354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27378" y="5215128"/>
            <a:ext cx="86804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e(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06992" y="6196481"/>
            <a:ext cx="3306445" cy="446405"/>
          </a:xfrm>
          <a:custGeom>
            <a:avLst/>
            <a:gdLst/>
            <a:ahLst/>
            <a:cxnLst/>
            <a:rect l="l" t="t" r="r" b="b"/>
            <a:pathLst>
              <a:path w="3306445" h="446404">
                <a:moveTo>
                  <a:pt x="0" y="223175"/>
                </a:moveTo>
                <a:lnTo>
                  <a:pt x="28154" y="181944"/>
                </a:lnTo>
                <a:lnTo>
                  <a:pt x="62395" y="162229"/>
                </a:lnTo>
                <a:lnTo>
                  <a:pt x="109231" y="143229"/>
                </a:lnTo>
                <a:lnTo>
                  <a:pt x="168028" y="125028"/>
                </a:lnTo>
                <a:lnTo>
                  <a:pt x="238150" y="107713"/>
                </a:lnTo>
                <a:lnTo>
                  <a:pt x="277259" y="99415"/>
                </a:lnTo>
                <a:lnTo>
                  <a:pt x="318962" y="91370"/>
                </a:lnTo>
                <a:lnTo>
                  <a:pt x="363179" y="83590"/>
                </a:lnTo>
                <a:lnTo>
                  <a:pt x="409829" y="76085"/>
                </a:lnTo>
                <a:lnTo>
                  <a:pt x="458835" y="68865"/>
                </a:lnTo>
                <a:lnTo>
                  <a:pt x="510117" y="61942"/>
                </a:lnTo>
                <a:lnTo>
                  <a:pt x="563595" y="55327"/>
                </a:lnTo>
                <a:lnTo>
                  <a:pt x="619190" y="49029"/>
                </a:lnTo>
                <a:lnTo>
                  <a:pt x="676822" y="43059"/>
                </a:lnTo>
                <a:lnTo>
                  <a:pt x="736412" y="37430"/>
                </a:lnTo>
                <a:lnTo>
                  <a:pt x="797881" y="32150"/>
                </a:lnTo>
                <a:lnTo>
                  <a:pt x="861149" y="27231"/>
                </a:lnTo>
                <a:lnTo>
                  <a:pt x="926138" y="22683"/>
                </a:lnTo>
                <a:lnTo>
                  <a:pt x="992766" y="18518"/>
                </a:lnTo>
                <a:lnTo>
                  <a:pt x="1060956" y="14746"/>
                </a:lnTo>
                <a:lnTo>
                  <a:pt x="1130628" y="11377"/>
                </a:lnTo>
                <a:lnTo>
                  <a:pt x="1201702" y="8423"/>
                </a:lnTo>
                <a:lnTo>
                  <a:pt x="1274100" y="5894"/>
                </a:lnTo>
                <a:lnTo>
                  <a:pt x="1347740" y="3800"/>
                </a:lnTo>
                <a:lnTo>
                  <a:pt x="1422546" y="2154"/>
                </a:lnTo>
                <a:lnTo>
                  <a:pt x="1498436" y="964"/>
                </a:lnTo>
                <a:lnTo>
                  <a:pt x="1575331" y="242"/>
                </a:lnTo>
                <a:lnTo>
                  <a:pt x="1653153" y="0"/>
                </a:lnTo>
                <a:lnTo>
                  <a:pt x="1730974" y="242"/>
                </a:lnTo>
                <a:lnTo>
                  <a:pt x="1807869" y="964"/>
                </a:lnTo>
                <a:lnTo>
                  <a:pt x="1883759" y="2154"/>
                </a:lnTo>
                <a:lnTo>
                  <a:pt x="1958564" y="3800"/>
                </a:lnTo>
                <a:lnTo>
                  <a:pt x="2032205" y="5894"/>
                </a:lnTo>
                <a:lnTo>
                  <a:pt x="2104602" y="8423"/>
                </a:lnTo>
                <a:lnTo>
                  <a:pt x="2175676" y="11377"/>
                </a:lnTo>
                <a:lnTo>
                  <a:pt x="2245348" y="14746"/>
                </a:lnTo>
                <a:lnTo>
                  <a:pt x="2313538" y="18518"/>
                </a:lnTo>
                <a:lnTo>
                  <a:pt x="2380167" y="22683"/>
                </a:lnTo>
                <a:lnTo>
                  <a:pt x="2445155" y="27231"/>
                </a:lnTo>
                <a:lnTo>
                  <a:pt x="2508423" y="32150"/>
                </a:lnTo>
                <a:lnTo>
                  <a:pt x="2569892" y="37430"/>
                </a:lnTo>
                <a:lnTo>
                  <a:pt x="2629482" y="43059"/>
                </a:lnTo>
                <a:lnTo>
                  <a:pt x="2687115" y="49029"/>
                </a:lnTo>
                <a:lnTo>
                  <a:pt x="2742709" y="55327"/>
                </a:lnTo>
                <a:lnTo>
                  <a:pt x="2796187" y="61942"/>
                </a:lnTo>
                <a:lnTo>
                  <a:pt x="2847469" y="68865"/>
                </a:lnTo>
                <a:lnTo>
                  <a:pt x="2896475" y="76085"/>
                </a:lnTo>
                <a:lnTo>
                  <a:pt x="2943125" y="83590"/>
                </a:lnTo>
                <a:lnTo>
                  <a:pt x="2987342" y="91370"/>
                </a:lnTo>
                <a:lnTo>
                  <a:pt x="3029045" y="99415"/>
                </a:lnTo>
                <a:lnTo>
                  <a:pt x="3068154" y="107713"/>
                </a:lnTo>
                <a:lnTo>
                  <a:pt x="3138276" y="125028"/>
                </a:lnTo>
                <a:lnTo>
                  <a:pt x="3197073" y="143229"/>
                </a:lnTo>
                <a:lnTo>
                  <a:pt x="3243909" y="162229"/>
                </a:lnTo>
                <a:lnTo>
                  <a:pt x="3278150" y="181944"/>
                </a:lnTo>
                <a:lnTo>
                  <a:pt x="3304505" y="212669"/>
                </a:lnTo>
                <a:lnTo>
                  <a:pt x="3306305" y="223175"/>
                </a:lnTo>
                <a:lnTo>
                  <a:pt x="3304505" y="233681"/>
                </a:lnTo>
                <a:lnTo>
                  <a:pt x="3278150" y="264406"/>
                </a:lnTo>
                <a:lnTo>
                  <a:pt x="3243909" y="284121"/>
                </a:lnTo>
                <a:lnTo>
                  <a:pt x="3197073" y="303121"/>
                </a:lnTo>
                <a:lnTo>
                  <a:pt x="3138276" y="321322"/>
                </a:lnTo>
                <a:lnTo>
                  <a:pt x="3068154" y="338637"/>
                </a:lnTo>
                <a:lnTo>
                  <a:pt x="3029045" y="346935"/>
                </a:lnTo>
                <a:lnTo>
                  <a:pt x="2987342" y="354980"/>
                </a:lnTo>
                <a:lnTo>
                  <a:pt x="2943125" y="362760"/>
                </a:lnTo>
                <a:lnTo>
                  <a:pt x="2896475" y="370265"/>
                </a:lnTo>
                <a:lnTo>
                  <a:pt x="2847469" y="377485"/>
                </a:lnTo>
                <a:lnTo>
                  <a:pt x="2796187" y="384408"/>
                </a:lnTo>
                <a:lnTo>
                  <a:pt x="2742709" y="391023"/>
                </a:lnTo>
                <a:lnTo>
                  <a:pt x="2687115" y="397321"/>
                </a:lnTo>
                <a:lnTo>
                  <a:pt x="2629482" y="403291"/>
                </a:lnTo>
                <a:lnTo>
                  <a:pt x="2569892" y="408920"/>
                </a:lnTo>
                <a:lnTo>
                  <a:pt x="2508423" y="414200"/>
                </a:lnTo>
                <a:lnTo>
                  <a:pt x="2445155" y="419119"/>
                </a:lnTo>
                <a:lnTo>
                  <a:pt x="2380167" y="423667"/>
                </a:lnTo>
                <a:lnTo>
                  <a:pt x="2313538" y="427832"/>
                </a:lnTo>
                <a:lnTo>
                  <a:pt x="2245348" y="431604"/>
                </a:lnTo>
                <a:lnTo>
                  <a:pt x="2175676" y="434973"/>
                </a:lnTo>
                <a:lnTo>
                  <a:pt x="2104602" y="437927"/>
                </a:lnTo>
                <a:lnTo>
                  <a:pt x="2032205" y="440456"/>
                </a:lnTo>
                <a:lnTo>
                  <a:pt x="1958564" y="442550"/>
                </a:lnTo>
                <a:lnTo>
                  <a:pt x="1883759" y="444196"/>
                </a:lnTo>
                <a:lnTo>
                  <a:pt x="1807869" y="445386"/>
                </a:lnTo>
                <a:lnTo>
                  <a:pt x="1730974" y="446108"/>
                </a:lnTo>
                <a:lnTo>
                  <a:pt x="1653153" y="446350"/>
                </a:lnTo>
                <a:lnTo>
                  <a:pt x="1575331" y="446108"/>
                </a:lnTo>
                <a:lnTo>
                  <a:pt x="1498436" y="445386"/>
                </a:lnTo>
                <a:lnTo>
                  <a:pt x="1422546" y="444196"/>
                </a:lnTo>
                <a:lnTo>
                  <a:pt x="1347740" y="442550"/>
                </a:lnTo>
                <a:lnTo>
                  <a:pt x="1274100" y="440456"/>
                </a:lnTo>
                <a:lnTo>
                  <a:pt x="1201702" y="437927"/>
                </a:lnTo>
                <a:lnTo>
                  <a:pt x="1130628" y="434973"/>
                </a:lnTo>
                <a:lnTo>
                  <a:pt x="1060956" y="431604"/>
                </a:lnTo>
                <a:lnTo>
                  <a:pt x="992766" y="427832"/>
                </a:lnTo>
                <a:lnTo>
                  <a:pt x="926138" y="423667"/>
                </a:lnTo>
                <a:lnTo>
                  <a:pt x="861149" y="419119"/>
                </a:lnTo>
                <a:lnTo>
                  <a:pt x="797881" y="414200"/>
                </a:lnTo>
                <a:lnTo>
                  <a:pt x="736412" y="408920"/>
                </a:lnTo>
                <a:lnTo>
                  <a:pt x="676822" y="403291"/>
                </a:lnTo>
                <a:lnTo>
                  <a:pt x="619190" y="397321"/>
                </a:lnTo>
                <a:lnTo>
                  <a:pt x="563595" y="391023"/>
                </a:lnTo>
                <a:lnTo>
                  <a:pt x="510117" y="384408"/>
                </a:lnTo>
                <a:lnTo>
                  <a:pt x="458835" y="377485"/>
                </a:lnTo>
                <a:lnTo>
                  <a:pt x="409829" y="370265"/>
                </a:lnTo>
                <a:lnTo>
                  <a:pt x="363179" y="362760"/>
                </a:lnTo>
                <a:lnTo>
                  <a:pt x="318962" y="354980"/>
                </a:lnTo>
                <a:lnTo>
                  <a:pt x="277259" y="346935"/>
                </a:lnTo>
                <a:lnTo>
                  <a:pt x="238150" y="338637"/>
                </a:lnTo>
                <a:lnTo>
                  <a:pt x="168028" y="321322"/>
                </a:lnTo>
                <a:lnTo>
                  <a:pt x="109231" y="303121"/>
                </a:lnTo>
                <a:lnTo>
                  <a:pt x="62395" y="284121"/>
                </a:lnTo>
                <a:lnTo>
                  <a:pt x="28154" y="264406"/>
                </a:lnTo>
                <a:lnTo>
                  <a:pt x="1799" y="233681"/>
                </a:lnTo>
                <a:lnTo>
                  <a:pt x="0" y="223175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9443" y="4243453"/>
            <a:ext cx="9500235" cy="2931795"/>
          </a:xfrm>
          <a:custGeom>
            <a:avLst/>
            <a:gdLst/>
            <a:ahLst/>
            <a:cxnLst/>
            <a:rect l="l" t="t" r="r" b="b"/>
            <a:pathLst>
              <a:path w="9500235" h="2931795">
                <a:moveTo>
                  <a:pt x="0" y="0"/>
                </a:moveTo>
                <a:lnTo>
                  <a:pt x="9500006" y="0"/>
                </a:lnTo>
                <a:lnTo>
                  <a:pt x="9500006" y="2931341"/>
                </a:lnTo>
                <a:lnTo>
                  <a:pt x="0" y="2931341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5733" y="306762"/>
            <a:ext cx="767270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25" dirty="0"/>
              <a:t>is</a:t>
            </a:r>
            <a:r>
              <a:rPr spc="-120" dirty="0"/>
              <a:t>t</a:t>
            </a:r>
            <a:r>
              <a:rPr spc="-125" dirty="0"/>
              <a:t>e</a:t>
            </a:r>
            <a:r>
              <a:rPr spc="-130" dirty="0"/>
              <a:t>n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0" dirty="0"/>
              <a:t>a</a:t>
            </a:r>
            <a:r>
              <a:rPr dirty="0"/>
              <a:t>l</a:t>
            </a:r>
            <a:r>
              <a:rPr spc="-245" dirty="0"/>
              <a:t> </a:t>
            </a:r>
            <a:r>
              <a:rPr spc="-140" dirty="0"/>
              <a:t>Q</a:t>
            </a:r>
            <a:r>
              <a:rPr spc="-130" dirty="0"/>
              <a:t>uan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20" dirty="0"/>
              <a:t>f</a:t>
            </a:r>
            <a:r>
              <a:rPr spc="-125" dirty="0"/>
              <a:t>ie</a:t>
            </a:r>
            <a:r>
              <a:rPr dirty="0"/>
              <a:t>r</a:t>
            </a:r>
            <a:r>
              <a:rPr spc="-245" dirty="0"/>
              <a:t> </a:t>
            </a:r>
            <a:r>
              <a:rPr spc="-130" dirty="0"/>
              <a:t>(</a:t>
            </a:r>
            <a:r>
              <a:rPr spc="-125" dirty="0"/>
              <a:t>I</a:t>
            </a:r>
            <a:r>
              <a:rPr spc="-135" dirty="0"/>
              <a:t>N</a:t>
            </a:r>
            <a:r>
              <a:rPr dirty="0"/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37620" y="4557776"/>
            <a:ext cx="34264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spc="-4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T1.branch_name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7620" y="4886959"/>
            <a:ext cx="4239260" cy="67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21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account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2100" spc="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T1.account_number</a:t>
            </a:r>
            <a:r>
              <a:rPr sz="21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IN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12979" y="5536183"/>
            <a:ext cx="7002145" cy="67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spc="-2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D.account_number</a:t>
            </a:r>
            <a:endParaRPr sz="2100">
              <a:latin typeface="Courier New"/>
              <a:cs typeface="Courier New"/>
            </a:endParaRPr>
          </a:p>
          <a:p>
            <a:pPr marL="161925">
              <a:lnSpc>
                <a:spcPct val="100000"/>
              </a:lnSpc>
              <a:spcBef>
                <a:spcPts val="7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2100" spc="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depositor</a:t>
            </a:r>
            <a:r>
              <a:rPr sz="21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D</a:t>
            </a:r>
            <a:r>
              <a:rPr sz="21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NATURAL</a:t>
            </a:r>
            <a:r>
              <a:rPr sz="21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JOIN</a:t>
            </a:r>
            <a:r>
              <a:rPr sz="21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borrower</a:t>
            </a:r>
            <a:r>
              <a:rPr sz="21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B);</a:t>
            </a:r>
            <a:endParaRPr sz="21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335642" y="4603436"/>
            <a:ext cx="1282700" cy="694055"/>
            <a:chOff x="4335642" y="4603436"/>
            <a:chExt cx="1282700" cy="694055"/>
          </a:xfrm>
        </p:grpSpPr>
        <p:sp>
          <p:nvSpPr>
            <p:cNvPr id="8" name="object 8"/>
            <p:cNvSpPr/>
            <p:nvPr/>
          </p:nvSpPr>
          <p:spPr>
            <a:xfrm>
              <a:off x="4349930" y="4617723"/>
              <a:ext cx="1254125" cy="665480"/>
            </a:xfrm>
            <a:custGeom>
              <a:avLst/>
              <a:gdLst/>
              <a:ahLst/>
              <a:cxnLst/>
              <a:rect l="l" t="t" r="r" b="b"/>
              <a:pathLst>
                <a:path w="1254125" h="665479">
                  <a:moveTo>
                    <a:pt x="522514" y="404116"/>
                  </a:moveTo>
                  <a:lnTo>
                    <a:pt x="209006" y="404116"/>
                  </a:lnTo>
                  <a:lnTo>
                    <a:pt x="15800" y="665337"/>
                  </a:lnTo>
                  <a:lnTo>
                    <a:pt x="522514" y="404116"/>
                  </a:lnTo>
                  <a:close/>
                </a:path>
                <a:path w="1254125" h="665479">
                  <a:moveTo>
                    <a:pt x="1186680" y="0"/>
                  </a:moveTo>
                  <a:lnTo>
                    <a:pt x="67353" y="0"/>
                  </a:lnTo>
                  <a:lnTo>
                    <a:pt x="41136" y="5292"/>
                  </a:lnTo>
                  <a:lnTo>
                    <a:pt x="19727" y="19727"/>
                  </a:lnTo>
                  <a:lnTo>
                    <a:pt x="5292" y="41136"/>
                  </a:lnTo>
                  <a:lnTo>
                    <a:pt x="0" y="67353"/>
                  </a:lnTo>
                  <a:lnTo>
                    <a:pt x="0" y="336764"/>
                  </a:lnTo>
                  <a:lnTo>
                    <a:pt x="5292" y="362980"/>
                  </a:lnTo>
                  <a:lnTo>
                    <a:pt x="19727" y="384389"/>
                  </a:lnTo>
                  <a:lnTo>
                    <a:pt x="41136" y="398823"/>
                  </a:lnTo>
                  <a:lnTo>
                    <a:pt x="67353" y="404116"/>
                  </a:lnTo>
                  <a:lnTo>
                    <a:pt x="1186680" y="404116"/>
                  </a:lnTo>
                  <a:lnTo>
                    <a:pt x="1234306" y="384389"/>
                  </a:lnTo>
                  <a:lnTo>
                    <a:pt x="1254034" y="336764"/>
                  </a:lnTo>
                  <a:lnTo>
                    <a:pt x="1254034" y="67353"/>
                  </a:lnTo>
                  <a:lnTo>
                    <a:pt x="1248741" y="41136"/>
                  </a:lnTo>
                  <a:lnTo>
                    <a:pt x="1234306" y="19727"/>
                  </a:lnTo>
                  <a:lnTo>
                    <a:pt x="1212897" y="5292"/>
                  </a:lnTo>
                  <a:lnTo>
                    <a:pt x="1186680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49930" y="4617723"/>
              <a:ext cx="1254125" cy="665480"/>
            </a:xfrm>
            <a:custGeom>
              <a:avLst/>
              <a:gdLst/>
              <a:ahLst/>
              <a:cxnLst/>
              <a:rect l="l" t="t" r="r" b="b"/>
              <a:pathLst>
                <a:path w="1254125" h="665479">
                  <a:moveTo>
                    <a:pt x="0" y="67353"/>
                  </a:moveTo>
                  <a:lnTo>
                    <a:pt x="5292" y="41136"/>
                  </a:lnTo>
                  <a:lnTo>
                    <a:pt x="19727" y="19727"/>
                  </a:lnTo>
                  <a:lnTo>
                    <a:pt x="41136" y="5292"/>
                  </a:lnTo>
                  <a:lnTo>
                    <a:pt x="67353" y="0"/>
                  </a:lnTo>
                  <a:lnTo>
                    <a:pt x="209005" y="0"/>
                  </a:lnTo>
                  <a:lnTo>
                    <a:pt x="522514" y="0"/>
                  </a:lnTo>
                  <a:lnTo>
                    <a:pt x="1186680" y="0"/>
                  </a:lnTo>
                  <a:lnTo>
                    <a:pt x="1212897" y="5292"/>
                  </a:lnTo>
                  <a:lnTo>
                    <a:pt x="1234306" y="19727"/>
                  </a:lnTo>
                  <a:lnTo>
                    <a:pt x="1248741" y="41136"/>
                  </a:lnTo>
                  <a:lnTo>
                    <a:pt x="1254034" y="67353"/>
                  </a:lnTo>
                  <a:lnTo>
                    <a:pt x="1254034" y="235735"/>
                  </a:lnTo>
                  <a:lnTo>
                    <a:pt x="1254034" y="336764"/>
                  </a:lnTo>
                  <a:lnTo>
                    <a:pt x="1248741" y="362980"/>
                  </a:lnTo>
                  <a:lnTo>
                    <a:pt x="1234306" y="384389"/>
                  </a:lnTo>
                  <a:lnTo>
                    <a:pt x="1212897" y="398824"/>
                  </a:lnTo>
                  <a:lnTo>
                    <a:pt x="1186680" y="404117"/>
                  </a:lnTo>
                  <a:lnTo>
                    <a:pt x="522514" y="404117"/>
                  </a:lnTo>
                  <a:lnTo>
                    <a:pt x="15800" y="665338"/>
                  </a:lnTo>
                  <a:lnTo>
                    <a:pt x="209005" y="404117"/>
                  </a:lnTo>
                  <a:lnTo>
                    <a:pt x="67353" y="404117"/>
                  </a:lnTo>
                  <a:lnTo>
                    <a:pt x="41136" y="398824"/>
                  </a:lnTo>
                  <a:lnTo>
                    <a:pt x="19727" y="384389"/>
                  </a:lnTo>
                  <a:lnTo>
                    <a:pt x="5292" y="362980"/>
                  </a:lnTo>
                  <a:lnTo>
                    <a:pt x="0" y="336763"/>
                  </a:lnTo>
                  <a:lnTo>
                    <a:pt x="0" y="235735"/>
                  </a:lnTo>
                  <a:lnTo>
                    <a:pt x="0" y="67353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507894" y="4675632"/>
            <a:ext cx="9512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tt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572259" y="5073700"/>
            <a:ext cx="1282700" cy="607060"/>
            <a:chOff x="5572259" y="5073700"/>
            <a:chExt cx="1282700" cy="607060"/>
          </a:xfrm>
        </p:grpSpPr>
        <p:sp>
          <p:nvSpPr>
            <p:cNvPr id="12" name="object 12"/>
            <p:cNvSpPr/>
            <p:nvPr/>
          </p:nvSpPr>
          <p:spPr>
            <a:xfrm>
              <a:off x="5586546" y="5087988"/>
              <a:ext cx="1254125" cy="578485"/>
            </a:xfrm>
            <a:custGeom>
              <a:avLst/>
              <a:gdLst/>
              <a:ahLst/>
              <a:cxnLst/>
              <a:rect l="l" t="t" r="r" b="b"/>
              <a:pathLst>
                <a:path w="1254125" h="578485">
                  <a:moveTo>
                    <a:pt x="522513" y="404116"/>
                  </a:moveTo>
                  <a:lnTo>
                    <a:pt x="209005" y="404116"/>
                  </a:lnTo>
                  <a:lnTo>
                    <a:pt x="68055" y="578255"/>
                  </a:lnTo>
                  <a:lnTo>
                    <a:pt x="522513" y="404116"/>
                  </a:lnTo>
                  <a:close/>
                </a:path>
                <a:path w="1254125" h="578485">
                  <a:moveTo>
                    <a:pt x="1186680" y="0"/>
                  </a:moveTo>
                  <a:lnTo>
                    <a:pt x="67353" y="0"/>
                  </a:lnTo>
                  <a:lnTo>
                    <a:pt x="41136" y="5292"/>
                  </a:lnTo>
                  <a:lnTo>
                    <a:pt x="19727" y="19727"/>
                  </a:lnTo>
                  <a:lnTo>
                    <a:pt x="5292" y="41136"/>
                  </a:lnTo>
                  <a:lnTo>
                    <a:pt x="0" y="67353"/>
                  </a:lnTo>
                  <a:lnTo>
                    <a:pt x="0" y="336764"/>
                  </a:lnTo>
                  <a:lnTo>
                    <a:pt x="5292" y="362980"/>
                  </a:lnTo>
                  <a:lnTo>
                    <a:pt x="19727" y="384389"/>
                  </a:lnTo>
                  <a:lnTo>
                    <a:pt x="41136" y="398823"/>
                  </a:lnTo>
                  <a:lnTo>
                    <a:pt x="67353" y="404116"/>
                  </a:lnTo>
                  <a:lnTo>
                    <a:pt x="1186680" y="404116"/>
                  </a:lnTo>
                  <a:lnTo>
                    <a:pt x="1234306" y="384389"/>
                  </a:lnTo>
                  <a:lnTo>
                    <a:pt x="1254033" y="336764"/>
                  </a:lnTo>
                  <a:lnTo>
                    <a:pt x="1254033" y="67353"/>
                  </a:lnTo>
                  <a:lnTo>
                    <a:pt x="1248740" y="41136"/>
                  </a:lnTo>
                  <a:lnTo>
                    <a:pt x="1234306" y="19727"/>
                  </a:lnTo>
                  <a:lnTo>
                    <a:pt x="1212897" y="5292"/>
                  </a:lnTo>
                  <a:lnTo>
                    <a:pt x="1186680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86546" y="5087988"/>
              <a:ext cx="1254125" cy="578485"/>
            </a:xfrm>
            <a:custGeom>
              <a:avLst/>
              <a:gdLst/>
              <a:ahLst/>
              <a:cxnLst/>
              <a:rect l="l" t="t" r="r" b="b"/>
              <a:pathLst>
                <a:path w="1254125" h="578485">
                  <a:moveTo>
                    <a:pt x="0" y="67353"/>
                  </a:moveTo>
                  <a:lnTo>
                    <a:pt x="5292" y="41136"/>
                  </a:lnTo>
                  <a:lnTo>
                    <a:pt x="19727" y="19727"/>
                  </a:lnTo>
                  <a:lnTo>
                    <a:pt x="41136" y="5292"/>
                  </a:lnTo>
                  <a:lnTo>
                    <a:pt x="67353" y="0"/>
                  </a:lnTo>
                  <a:lnTo>
                    <a:pt x="209005" y="0"/>
                  </a:lnTo>
                  <a:lnTo>
                    <a:pt x="522514" y="0"/>
                  </a:lnTo>
                  <a:lnTo>
                    <a:pt x="1186680" y="0"/>
                  </a:lnTo>
                  <a:lnTo>
                    <a:pt x="1212897" y="5292"/>
                  </a:lnTo>
                  <a:lnTo>
                    <a:pt x="1234306" y="19727"/>
                  </a:lnTo>
                  <a:lnTo>
                    <a:pt x="1248741" y="41136"/>
                  </a:lnTo>
                  <a:lnTo>
                    <a:pt x="1254034" y="67353"/>
                  </a:lnTo>
                  <a:lnTo>
                    <a:pt x="1254034" y="235735"/>
                  </a:lnTo>
                  <a:lnTo>
                    <a:pt x="1254034" y="336764"/>
                  </a:lnTo>
                  <a:lnTo>
                    <a:pt x="1248741" y="362980"/>
                  </a:lnTo>
                  <a:lnTo>
                    <a:pt x="1234306" y="384389"/>
                  </a:lnTo>
                  <a:lnTo>
                    <a:pt x="1212897" y="398824"/>
                  </a:lnTo>
                  <a:lnTo>
                    <a:pt x="1186680" y="404117"/>
                  </a:lnTo>
                  <a:lnTo>
                    <a:pt x="522514" y="404117"/>
                  </a:lnTo>
                  <a:lnTo>
                    <a:pt x="68055" y="578255"/>
                  </a:lnTo>
                  <a:lnTo>
                    <a:pt x="209005" y="404117"/>
                  </a:lnTo>
                  <a:lnTo>
                    <a:pt x="67353" y="404117"/>
                  </a:lnTo>
                  <a:lnTo>
                    <a:pt x="41136" y="398824"/>
                  </a:lnTo>
                  <a:lnTo>
                    <a:pt x="19727" y="384389"/>
                  </a:lnTo>
                  <a:lnTo>
                    <a:pt x="5292" y="362980"/>
                  </a:lnTo>
                  <a:lnTo>
                    <a:pt x="0" y="336763"/>
                  </a:lnTo>
                  <a:lnTo>
                    <a:pt x="0" y="235735"/>
                  </a:lnTo>
                  <a:lnTo>
                    <a:pt x="0" y="67353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44510" y="5148072"/>
            <a:ext cx="9512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tt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8416" y="4602479"/>
            <a:ext cx="2627376" cy="84124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282419" y="4620772"/>
            <a:ext cx="2329815" cy="53657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04775" rIns="0" bIns="0" rtlCol="0">
            <a:spAutoFit/>
          </a:bodyPr>
          <a:lstStyle/>
          <a:p>
            <a:pPr marL="295275">
              <a:lnSpc>
                <a:spcPct val="100000"/>
              </a:lnSpc>
              <a:spcBef>
                <a:spcPts val="825"/>
              </a:spcBef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Decorrelated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0081" y="1211579"/>
            <a:ext cx="125857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4000"/>
              </a:lnSpc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account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borrower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22722" y="1211579"/>
            <a:ext cx="588137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 marR="5080" indent="-154305">
              <a:lnSpc>
                <a:spcPct val="104000"/>
              </a:lnSpc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account_number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balance) </a:t>
            </a:r>
            <a:r>
              <a:rPr sz="2000" spc="-11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(customer_name,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loan_number)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5733" y="1818131"/>
            <a:ext cx="8692515" cy="22136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86690" marR="2179955" algn="just">
              <a:lnSpc>
                <a:spcPct val="102499"/>
              </a:lnSpc>
              <a:spcBef>
                <a:spcPts val="16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branch 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branch_name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 branch_city,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assets)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depositor (customer_name, account_number) </a:t>
            </a:r>
            <a:r>
              <a:rPr sz="2000" spc="-11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loan_number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r>
              <a:rPr sz="20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amount)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>
              <a:latin typeface="Courier New"/>
              <a:cs typeface="Courier New"/>
            </a:endParaRPr>
          </a:p>
          <a:p>
            <a:pPr marL="12700" marR="5080">
              <a:lnSpc>
                <a:spcPct val="102899"/>
              </a:lnSpc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branches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some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who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both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loan(s)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account(s)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bank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9443" y="2916331"/>
            <a:ext cx="9500235" cy="1740535"/>
          </a:xfrm>
          <a:custGeom>
            <a:avLst/>
            <a:gdLst/>
            <a:ahLst/>
            <a:cxnLst/>
            <a:rect l="l" t="t" r="r" b="b"/>
            <a:pathLst>
              <a:path w="9500235" h="1740535">
                <a:moveTo>
                  <a:pt x="0" y="0"/>
                </a:moveTo>
                <a:lnTo>
                  <a:pt x="9500006" y="0"/>
                </a:lnTo>
                <a:lnTo>
                  <a:pt x="9500006" y="1739964"/>
                </a:lnTo>
                <a:lnTo>
                  <a:pt x="0" y="1739964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9443" y="183943"/>
            <a:ext cx="691324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IN</a:t>
            </a:r>
            <a:r>
              <a:rPr spc="-285" dirty="0"/>
              <a:t> </a:t>
            </a:r>
            <a:r>
              <a:rPr spc="-90" dirty="0"/>
              <a:t>and</a:t>
            </a:r>
            <a:r>
              <a:rPr spc="-275" dirty="0"/>
              <a:t> </a:t>
            </a:r>
            <a:r>
              <a:rPr spc="-90" dirty="0"/>
              <a:t>Set</a:t>
            </a:r>
            <a:r>
              <a:rPr spc="-270" dirty="0"/>
              <a:t> </a:t>
            </a:r>
            <a:r>
              <a:rPr spc="-120" dirty="0"/>
              <a:t>Membership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5733" y="2140711"/>
            <a:ext cx="6638290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3800"/>
              </a:lnSpc>
              <a:spcBef>
                <a:spcPts val="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need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know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takes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courses: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CS-101,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CS-315, BIO-101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7620" y="3134359"/>
            <a:ext cx="131127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spc="-4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*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7620" y="3466591"/>
            <a:ext cx="825500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R="5080">
              <a:lnSpc>
                <a:spcPct val="102899"/>
              </a:lnSpc>
              <a:spcBef>
                <a:spcPts val="25"/>
              </a:spcBef>
            </a:pP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2100" spc="-125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50419" y="3466591"/>
            <a:ext cx="1638300" cy="991869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62560" marR="5080" indent="-162560">
              <a:lnSpc>
                <a:spcPct val="102899"/>
              </a:lnSpc>
              <a:spcBef>
                <a:spcPts val="25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takes 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course_id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ts val="2495"/>
              </a:lnSpc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('CS-101',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8411" y="3795776"/>
            <a:ext cx="1475740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510"/>
              </a:lnSpc>
              <a:spcBef>
                <a:spcPts val="100"/>
              </a:spcBef>
            </a:pP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IN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ts val="2510"/>
              </a:lnSpc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'C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S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-315',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64011" y="4112767"/>
            <a:ext cx="18014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'BIO-101');</a:t>
            </a:r>
            <a:endParaRPr sz="21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76534" y="3118491"/>
            <a:ext cx="1282700" cy="694055"/>
            <a:chOff x="2976534" y="3118491"/>
            <a:chExt cx="1282700" cy="694055"/>
          </a:xfrm>
        </p:grpSpPr>
        <p:sp>
          <p:nvSpPr>
            <p:cNvPr id="11" name="object 11"/>
            <p:cNvSpPr/>
            <p:nvPr/>
          </p:nvSpPr>
          <p:spPr>
            <a:xfrm>
              <a:off x="2990822" y="3132778"/>
              <a:ext cx="1254125" cy="665480"/>
            </a:xfrm>
            <a:custGeom>
              <a:avLst/>
              <a:gdLst/>
              <a:ahLst/>
              <a:cxnLst/>
              <a:rect l="l" t="t" r="r" b="b"/>
              <a:pathLst>
                <a:path w="1254125" h="665479">
                  <a:moveTo>
                    <a:pt x="522514" y="404117"/>
                  </a:moveTo>
                  <a:lnTo>
                    <a:pt x="209006" y="404117"/>
                  </a:lnTo>
                  <a:lnTo>
                    <a:pt x="15800" y="665339"/>
                  </a:lnTo>
                  <a:lnTo>
                    <a:pt x="522514" y="404117"/>
                  </a:lnTo>
                  <a:close/>
                </a:path>
                <a:path w="1254125" h="665479">
                  <a:moveTo>
                    <a:pt x="1186680" y="0"/>
                  </a:moveTo>
                  <a:lnTo>
                    <a:pt x="67354" y="0"/>
                  </a:lnTo>
                  <a:lnTo>
                    <a:pt x="41137" y="5293"/>
                  </a:lnTo>
                  <a:lnTo>
                    <a:pt x="19727" y="19727"/>
                  </a:lnTo>
                  <a:lnTo>
                    <a:pt x="5293" y="41137"/>
                  </a:lnTo>
                  <a:lnTo>
                    <a:pt x="0" y="67354"/>
                  </a:lnTo>
                  <a:lnTo>
                    <a:pt x="0" y="336765"/>
                  </a:lnTo>
                  <a:lnTo>
                    <a:pt x="5293" y="362981"/>
                  </a:lnTo>
                  <a:lnTo>
                    <a:pt x="19727" y="384390"/>
                  </a:lnTo>
                  <a:lnTo>
                    <a:pt x="41137" y="398824"/>
                  </a:lnTo>
                  <a:lnTo>
                    <a:pt x="67354" y="404117"/>
                  </a:lnTo>
                  <a:lnTo>
                    <a:pt x="1186680" y="404117"/>
                  </a:lnTo>
                  <a:lnTo>
                    <a:pt x="1234306" y="384390"/>
                  </a:lnTo>
                  <a:lnTo>
                    <a:pt x="1254034" y="336765"/>
                  </a:lnTo>
                  <a:lnTo>
                    <a:pt x="1254034" y="67354"/>
                  </a:lnTo>
                  <a:lnTo>
                    <a:pt x="1248741" y="41137"/>
                  </a:lnTo>
                  <a:lnTo>
                    <a:pt x="1234306" y="19727"/>
                  </a:lnTo>
                  <a:lnTo>
                    <a:pt x="1212897" y="5293"/>
                  </a:lnTo>
                  <a:lnTo>
                    <a:pt x="1186680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90822" y="3132778"/>
              <a:ext cx="1254125" cy="665480"/>
            </a:xfrm>
            <a:custGeom>
              <a:avLst/>
              <a:gdLst/>
              <a:ahLst/>
              <a:cxnLst/>
              <a:rect l="l" t="t" r="r" b="b"/>
              <a:pathLst>
                <a:path w="1254125" h="665479">
                  <a:moveTo>
                    <a:pt x="0" y="67353"/>
                  </a:moveTo>
                  <a:lnTo>
                    <a:pt x="5292" y="41136"/>
                  </a:lnTo>
                  <a:lnTo>
                    <a:pt x="19727" y="19727"/>
                  </a:lnTo>
                  <a:lnTo>
                    <a:pt x="41136" y="5292"/>
                  </a:lnTo>
                  <a:lnTo>
                    <a:pt x="67353" y="0"/>
                  </a:lnTo>
                  <a:lnTo>
                    <a:pt x="209005" y="0"/>
                  </a:lnTo>
                  <a:lnTo>
                    <a:pt x="522514" y="0"/>
                  </a:lnTo>
                  <a:lnTo>
                    <a:pt x="1186680" y="0"/>
                  </a:lnTo>
                  <a:lnTo>
                    <a:pt x="1212897" y="5292"/>
                  </a:lnTo>
                  <a:lnTo>
                    <a:pt x="1234306" y="19727"/>
                  </a:lnTo>
                  <a:lnTo>
                    <a:pt x="1248741" y="41136"/>
                  </a:lnTo>
                  <a:lnTo>
                    <a:pt x="1254034" y="67353"/>
                  </a:lnTo>
                  <a:lnTo>
                    <a:pt x="1254034" y="235735"/>
                  </a:lnTo>
                  <a:lnTo>
                    <a:pt x="1254034" y="336764"/>
                  </a:lnTo>
                  <a:lnTo>
                    <a:pt x="1248741" y="362980"/>
                  </a:lnTo>
                  <a:lnTo>
                    <a:pt x="1234306" y="384389"/>
                  </a:lnTo>
                  <a:lnTo>
                    <a:pt x="1212897" y="398824"/>
                  </a:lnTo>
                  <a:lnTo>
                    <a:pt x="1186680" y="404117"/>
                  </a:lnTo>
                  <a:lnTo>
                    <a:pt x="522514" y="404117"/>
                  </a:lnTo>
                  <a:lnTo>
                    <a:pt x="15800" y="665338"/>
                  </a:lnTo>
                  <a:lnTo>
                    <a:pt x="209005" y="404117"/>
                  </a:lnTo>
                  <a:lnTo>
                    <a:pt x="67353" y="404117"/>
                  </a:lnTo>
                  <a:lnTo>
                    <a:pt x="41136" y="398824"/>
                  </a:lnTo>
                  <a:lnTo>
                    <a:pt x="19727" y="384389"/>
                  </a:lnTo>
                  <a:lnTo>
                    <a:pt x="5292" y="362980"/>
                  </a:lnTo>
                  <a:lnTo>
                    <a:pt x="0" y="336763"/>
                  </a:lnTo>
                  <a:lnTo>
                    <a:pt x="0" y="235735"/>
                  </a:lnTo>
                  <a:lnTo>
                    <a:pt x="0" y="67353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148785" y="3191255"/>
            <a:ext cx="9512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tt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97752" y="3449270"/>
            <a:ext cx="2445385" cy="607060"/>
            <a:chOff x="6197752" y="3449270"/>
            <a:chExt cx="2445385" cy="607060"/>
          </a:xfrm>
        </p:grpSpPr>
        <p:sp>
          <p:nvSpPr>
            <p:cNvPr id="15" name="object 15"/>
            <p:cNvSpPr/>
            <p:nvPr/>
          </p:nvSpPr>
          <p:spPr>
            <a:xfrm>
              <a:off x="6211845" y="3463363"/>
              <a:ext cx="2416810" cy="578485"/>
            </a:xfrm>
            <a:custGeom>
              <a:avLst/>
              <a:gdLst/>
              <a:ahLst/>
              <a:cxnLst/>
              <a:rect l="l" t="t" r="r" b="b"/>
              <a:pathLst>
                <a:path w="2416809" h="578485">
                  <a:moveTo>
                    <a:pt x="1006960" y="404117"/>
                  </a:moveTo>
                  <a:lnTo>
                    <a:pt x="402784" y="404117"/>
                  </a:lnTo>
                  <a:lnTo>
                    <a:pt x="131154" y="578256"/>
                  </a:lnTo>
                  <a:lnTo>
                    <a:pt x="1006960" y="404117"/>
                  </a:lnTo>
                  <a:close/>
                </a:path>
                <a:path w="2416809" h="578485">
                  <a:moveTo>
                    <a:pt x="2349347" y="0"/>
                  </a:moveTo>
                  <a:lnTo>
                    <a:pt x="67355" y="0"/>
                  </a:lnTo>
                  <a:lnTo>
                    <a:pt x="41137" y="5293"/>
                  </a:lnTo>
                  <a:lnTo>
                    <a:pt x="19728" y="19728"/>
                  </a:lnTo>
                  <a:lnTo>
                    <a:pt x="5293" y="41137"/>
                  </a:lnTo>
                  <a:lnTo>
                    <a:pt x="0" y="67355"/>
                  </a:lnTo>
                  <a:lnTo>
                    <a:pt x="0" y="336764"/>
                  </a:lnTo>
                  <a:lnTo>
                    <a:pt x="5293" y="362979"/>
                  </a:lnTo>
                  <a:lnTo>
                    <a:pt x="19728" y="384389"/>
                  </a:lnTo>
                  <a:lnTo>
                    <a:pt x="41137" y="398824"/>
                  </a:lnTo>
                  <a:lnTo>
                    <a:pt x="67355" y="404117"/>
                  </a:lnTo>
                  <a:lnTo>
                    <a:pt x="2349347" y="404117"/>
                  </a:lnTo>
                  <a:lnTo>
                    <a:pt x="2396974" y="384389"/>
                  </a:lnTo>
                  <a:lnTo>
                    <a:pt x="2416701" y="336764"/>
                  </a:lnTo>
                  <a:lnTo>
                    <a:pt x="2416702" y="67355"/>
                  </a:lnTo>
                  <a:lnTo>
                    <a:pt x="2411408" y="41137"/>
                  </a:lnTo>
                  <a:lnTo>
                    <a:pt x="2396974" y="19728"/>
                  </a:lnTo>
                  <a:lnTo>
                    <a:pt x="2375564" y="5293"/>
                  </a:lnTo>
                  <a:lnTo>
                    <a:pt x="2349347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11845" y="3463363"/>
              <a:ext cx="2416810" cy="578485"/>
            </a:xfrm>
            <a:custGeom>
              <a:avLst/>
              <a:gdLst/>
              <a:ahLst/>
              <a:cxnLst/>
              <a:rect l="l" t="t" r="r" b="b"/>
              <a:pathLst>
                <a:path w="2416809" h="578485">
                  <a:moveTo>
                    <a:pt x="0" y="67355"/>
                  </a:moveTo>
                  <a:lnTo>
                    <a:pt x="5293" y="41137"/>
                  </a:lnTo>
                  <a:lnTo>
                    <a:pt x="19727" y="19727"/>
                  </a:lnTo>
                  <a:lnTo>
                    <a:pt x="41137" y="5293"/>
                  </a:lnTo>
                  <a:lnTo>
                    <a:pt x="67355" y="0"/>
                  </a:lnTo>
                  <a:lnTo>
                    <a:pt x="402783" y="0"/>
                  </a:lnTo>
                  <a:lnTo>
                    <a:pt x="1006959" y="0"/>
                  </a:lnTo>
                  <a:lnTo>
                    <a:pt x="2349346" y="0"/>
                  </a:lnTo>
                  <a:lnTo>
                    <a:pt x="2375564" y="5293"/>
                  </a:lnTo>
                  <a:lnTo>
                    <a:pt x="2396973" y="19727"/>
                  </a:lnTo>
                  <a:lnTo>
                    <a:pt x="2411408" y="41137"/>
                  </a:lnTo>
                  <a:lnTo>
                    <a:pt x="2416701" y="67355"/>
                  </a:lnTo>
                  <a:lnTo>
                    <a:pt x="2416701" y="235735"/>
                  </a:lnTo>
                  <a:lnTo>
                    <a:pt x="2416701" y="336764"/>
                  </a:lnTo>
                  <a:lnTo>
                    <a:pt x="2411408" y="362979"/>
                  </a:lnTo>
                  <a:lnTo>
                    <a:pt x="2396973" y="384389"/>
                  </a:lnTo>
                  <a:lnTo>
                    <a:pt x="2375564" y="398824"/>
                  </a:lnTo>
                  <a:lnTo>
                    <a:pt x="2349346" y="404117"/>
                  </a:lnTo>
                  <a:lnTo>
                    <a:pt x="1006959" y="404117"/>
                  </a:lnTo>
                  <a:lnTo>
                    <a:pt x="131153" y="578255"/>
                  </a:lnTo>
                  <a:lnTo>
                    <a:pt x="402783" y="404117"/>
                  </a:lnTo>
                  <a:lnTo>
                    <a:pt x="67355" y="404117"/>
                  </a:lnTo>
                  <a:lnTo>
                    <a:pt x="41137" y="398824"/>
                  </a:lnTo>
                  <a:lnTo>
                    <a:pt x="19727" y="384389"/>
                  </a:lnTo>
                  <a:lnTo>
                    <a:pt x="5293" y="362979"/>
                  </a:lnTo>
                  <a:lnTo>
                    <a:pt x="0" y="336761"/>
                  </a:lnTo>
                  <a:lnTo>
                    <a:pt x="0" y="235735"/>
                  </a:lnTo>
                  <a:lnTo>
                    <a:pt x="0" y="67355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368434" y="3523488"/>
            <a:ext cx="21158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Set</a:t>
            </a:r>
            <a:r>
              <a:rPr sz="17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7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literal</a:t>
            </a:r>
            <a:r>
              <a:rPr sz="17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values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0081" y="1211579"/>
            <a:ext cx="7962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takes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14568" y="1211579"/>
            <a:ext cx="711263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course_id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sec_id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semester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year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grade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9443" y="5490641"/>
            <a:ext cx="9500235" cy="151003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467995">
              <a:lnSpc>
                <a:spcPct val="100000"/>
              </a:lnSpc>
              <a:spcBef>
                <a:spcPts val="695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spc="-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*</a:t>
            </a:r>
            <a:endParaRPr sz="2100">
              <a:latin typeface="Courier New"/>
              <a:cs typeface="Courier New"/>
            </a:endParaRPr>
          </a:p>
          <a:p>
            <a:pPr marL="467995">
              <a:lnSpc>
                <a:spcPct val="100000"/>
              </a:lnSpc>
              <a:spcBef>
                <a:spcPts val="75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2100" spc="-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takes</a:t>
            </a:r>
            <a:endParaRPr sz="2100">
              <a:latin typeface="Courier New"/>
              <a:cs typeface="Courier New"/>
            </a:endParaRPr>
          </a:p>
          <a:p>
            <a:pPr marL="1443355" marR="1058545" indent="-975360">
              <a:lnSpc>
                <a:spcPts val="2500"/>
              </a:lnSpc>
              <a:spcBef>
                <a:spcPts val="195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2100" spc="5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course_id='CS-101'</a:t>
            </a:r>
            <a:r>
              <a:rPr sz="2100" spc="6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Courier New"/>
                <a:cs typeface="Courier New"/>
              </a:rPr>
              <a:t>OR</a:t>
            </a:r>
            <a:r>
              <a:rPr sz="2100" spc="5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course_id='CS-315'</a:t>
            </a:r>
            <a:r>
              <a:rPr sz="2100" spc="6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OR </a:t>
            </a:r>
            <a:r>
              <a:rPr sz="2100" spc="-124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course_id='BIO-101';</a:t>
            </a:r>
            <a:endParaRPr sz="21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823229" y="4771518"/>
            <a:ext cx="380365" cy="589915"/>
            <a:chOff x="4823229" y="4771518"/>
            <a:chExt cx="380365" cy="589915"/>
          </a:xfrm>
        </p:grpSpPr>
        <p:sp>
          <p:nvSpPr>
            <p:cNvPr id="22" name="object 22"/>
            <p:cNvSpPr/>
            <p:nvPr/>
          </p:nvSpPr>
          <p:spPr>
            <a:xfrm>
              <a:off x="4837322" y="4785611"/>
              <a:ext cx="351790" cy="561340"/>
            </a:xfrm>
            <a:custGeom>
              <a:avLst/>
              <a:gdLst/>
              <a:ahLst/>
              <a:cxnLst/>
              <a:rect l="l" t="t" r="r" b="b"/>
              <a:pathLst>
                <a:path w="351789" h="561339">
                  <a:moveTo>
                    <a:pt x="175884" y="0"/>
                  </a:moveTo>
                  <a:lnTo>
                    <a:pt x="0" y="175883"/>
                  </a:lnTo>
                  <a:lnTo>
                    <a:pt x="87942" y="175883"/>
                  </a:lnTo>
                  <a:lnTo>
                    <a:pt x="87942" y="385241"/>
                  </a:lnTo>
                  <a:lnTo>
                    <a:pt x="0" y="385241"/>
                  </a:lnTo>
                  <a:lnTo>
                    <a:pt x="175884" y="561126"/>
                  </a:lnTo>
                  <a:lnTo>
                    <a:pt x="351768" y="385241"/>
                  </a:lnTo>
                  <a:lnTo>
                    <a:pt x="263827" y="385241"/>
                  </a:lnTo>
                  <a:lnTo>
                    <a:pt x="263827" y="175883"/>
                  </a:lnTo>
                  <a:lnTo>
                    <a:pt x="351768" y="175883"/>
                  </a:lnTo>
                  <a:lnTo>
                    <a:pt x="175884" y="0"/>
                  </a:lnTo>
                  <a:close/>
                </a:path>
              </a:pathLst>
            </a:custGeom>
            <a:solidFill>
              <a:srgbClr val="407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37322" y="4785611"/>
              <a:ext cx="351790" cy="561340"/>
            </a:xfrm>
            <a:custGeom>
              <a:avLst/>
              <a:gdLst/>
              <a:ahLst/>
              <a:cxnLst/>
              <a:rect l="l" t="t" r="r" b="b"/>
              <a:pathLst>
                <a:path w="351789" h="561339">
                  <a:moveTo>
                    <a:pt x="0" y="175884"/>
                  </a:moveTo>
                  <a:lnTo>
                    <a:pt x="175884" y="0"/>
                  </a:lnTo>
                  <a:lnTo>
                    <a:pt x="351768" y="175884"/>
                  </a:lnTo>
                  <a:lnTo>
                    <a:pt x="263826" y="175884"/>
                  </a:lnTo>
                  <a:lnTo>
                    <a:pt x="263826" y="385242"/>
                  </a:lnTo>
                  <a:lnTo>
                    <a:pt x="351768" y="385242"/>
                  </a:lnTo>
                  <a:lnTo>
                    <a:pt x="175884" y="561126"/>
                  </a:lnTo>
                  <a:lnTo>
                    <a:pt x="0" y="385242"/>
                  </a:lnTo>
                  <a:lnTo>
                    <a:pt x="87942" y="385242"/>
                  </a:lnTo>
                  <a:lnTo>
                    <a:pt x="87942" y="175884"/>
                  </a:lnTo>
                  <a:lnTo>
                    <a:pt x="0" y="175884"/>
                  </a:lnTo>
                  <a:close/>
                </a:path>
              </a:pathLst>
            </a:custGeom>
            <a:ln w="28185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9443" y="4243453"/>
            <a:ext cx="9500235" cy="2931795"/>
          </a:xfrm>
          <a:custGeom>
            <a:avLst/>
            <a:gdLst/>
            <a:ahLst/>
            <a:cxnLst/>
            <a:rect l="l" t="t" r="r" b="b"/>
            <a:pathLst>
              <a:path w="9500235" h="2931795">
                <a:moveTo>
                  <a:pt x="0" y="0"/>
                </a:moveTo>
                <a:lnTo>
                  <a:pt x="9500006" y="0"/>
                </a:lnTo>
                <a:lnTo>
                  <a:pt x="9500006" y="2931341"/>
                </a:lnTo>
                <a:lnTo>
                  <a:pt x="0" y="2931341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2613" y="274572"/>
            <a:ext cx="619887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25" dirty="0"/>
              <a:t>is</a:t>
            </a:r>
            <a:r>
              <a:rPr spc="-120" dirty="0"/>
              <a:t>t</a:t>
            </a:r>
            <a:r>
              <a:rPr spc="-125" dirty="0"/>
              <a:t>e</a:t>
            </a:r>
            <a:r>
              <a:rPr spc="-130" dirty="0"/>
              <a:t>n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0" dirty="0"/>
              <a:t>a</a:t>
            </a:r>
            <a:r>
              <a:rPr dirty="0"/>
              <a:t>l</a:t>
            </a:r>
            <a:r>
              <a:rPr spc="-245" dirty="0"/>
              <a:t> </a:t>
            </a:r>
            <a:r>
              <a:rPr spc="-140" dirty="0"/>
              <a:t>Q</a:t>
            </a:r>
            <a:r>
              <a:rPr spc="-130" dirty="0"/>
              <a:t>uan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20" dirty="0"/>
              <a:t>f</a:t>
            </a:r>
            <a:r>
              <a:rPr spc="-125" dirty="0"/>
              <a:t>ier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5078" y="3356864"/>
            <a:ext cx="8944610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made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some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purchases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&gt;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$1000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9532" y="4557776"/>
            <a:ext cx="24511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spc="-4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DISTINCT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75107" y="4557776"/>
            <a:ext cx="4401185" cy="67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T1.name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T1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NATURAL</a:t>
            </a:r>
            <a:r>
              <a:rPr sz="21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JOIN</a:t>
            </a:r>
            <a:r>
              <a:rPr sz="21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purchase</a:t>
            </a:r>
            <a:r>
              <a:rPr sz="21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T2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9532" y="4886959"/>
            <a:ext cx="2125980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5080">
              <a:lnSpc>
                <a:spcPct val="103800"/>
              </a:lnSpc>
              <a:spcBef>
                <a:spcPts val="5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2100" spc="-6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Customer </a:t>
            </a:r>
            <a:r>
              <a:rPr sz="2100" spc="-12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21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1000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&lt;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12638" y="5219192"/>
            <a:ext cx="13131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T2.price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6853" y="1159763"/>
            <a:ext cx="187325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Product(</a:t>
            </a:r>
            <a:r>
              <a:rPr sz="20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pid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, 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Company(</a:t>
            </a:r>
            <a:r>
              <a:rPr sz="20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cid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10058" y="1159763"/>
            <a:ext cx="187452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21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name, cid)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cname,</a:t>
            </a:r>
            <a:r>
              <a:rPr sz="2000" spc="-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city)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6853" y="1885188"/>
            <a:ext cx="3568065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Customer(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custId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name, 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Purchase(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purchase_date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50918" y="1885188"/>
            <a:ext cx="79629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 marR="5080" indent="-154305">
              <a:lnSpc>
                <a:spcPct val="121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city)  </a:t>
            </a:r>
            <a:r>
              <a:rPr sz="20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pid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75560" y="2318003"/>
            <a:ext cx="11029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custId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08298" y="2318003"/>
            <a:ext cx="14122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quantity,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49093" y="2318003"/>
            <a:ext cx="94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price)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9443" y="4243453"/>
            <a:ext cx="9500235" cy="2931795"/>
          </a:xfrm>
          <a:custGeom>
            <a:avLst/>
            <a:gdLst/>
            <a:ahLst/>
            <a:cxnLst/>
            <a:rect l="l" t="t" r="r" b="b"/>
            <a:pathLst>
              <a:path w="9500235" h="2931795">
                <a:moveTo>
                  <a:pt x="0" y="0"/>
                </a:moveTo>
                <a:lnTo>
                  <a:pt x="9500006" y="0"/>
                </a:lnTo>
                <a:lnTo>
                  <a:pt x="9500006" y="2931341"/>
                </a:lnTo>
                <a:lnTo>
                  <a:pt x="0" y="2931341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9443" y="299530"/>
            <a:ext cx="8182609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E</a:t>
            </a:r>
            <a:r>
              <a:rPr spc="-135" dirty="0"/>
              <a:t>x</a:t>
            </a:r>
            <a:r>
              <a:rPr spc="-125" dirty="0"/>
              <a:t>is</a:t>
            </a:r>
            <a:r>
              <a:rPr spc="-120" dirty="0"/>
              <a:t>t</a:t>
            </a:r>
            <a:r>
              <a:rPr spc="-125" dirty="0"/>
              <a:t>e</a:t>
            </a:r>
            <a:r>
              <a:rPr spc="-130" dirty="0"/>
              <a:t>n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30" dirty="0"/>
              <a:t>a</a:t>
            </a:r>
            <a:r>
              <a:rPr dirty="0"/>
              <a:t>l</a:t>
            </a:r>
            <a:r>
              <a:rPr spc="-245" dirty="0"/>
              <a:t> </a:t>
            </a:r>
            <a:r>
              <a:rPr spc="-140" dirty="0"/>
              <a:t>Q</a:t>
            </a:r>
            <a:r>
              <a:rPr spc="-130" dirty="0"/>
              <a:t>uan</a:t>
            </a:r>
            <a:r>
              <a:rPr spc="-120" dirty="0"/>
              <a:t>t</a:t>
            </a:r>
            <a:r>
              <a:rPr spc="-125" dirty="0"/>
              <a:t>i</a:t>
            </a:r>
            <a:r>
              <a:rPr spc="-120" dirty="0"/>
              <a:t>f</a:t>
            </a:r>
            <a:r>
              <a:rPr spc="-125" dirty="0"/>
              <a:t>ie</a:t>
            </a:r>
            <a:r>
              <a:rPr dirty="0"/>
              <a:t>r</a:t>
            </a:r>
            <a:r>
              <a:rPr spc="-245" dirty="0"/>
              <a:t> </a:t>
            </a:r>
            <a:r>
              <a:rPr spc="-130" dirty="0"/>
              <a:t>(</a:t>
            </a:r>
            <a:r>
              <a:rPr spc="-140" dirty="0"/>
              <a:t>A</a:t>
            </a:r>
            <a:r>
              <a:rPr spc="-135" dirty="0"/>
              <a:t>N</a:t>
            </a:r>
            <a:r>
              <a:rPr spc="-130" dirty="0"/>
              <a:t>Y</a:t>
            </a:r>
            <a:r>
              <a:rPr dirty="0"/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5078" y="3356864"/>
            <a:ext cx="8944610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made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some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purchases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&gt;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$1000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9532" y="4557776"/>
            <a:ext cx="375157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DISTINCT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T1.name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4893" y="5536183"/>
            <a:ext cx="11506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9532" y="4886959"/>
            <a:ext cx="3101340" cy="995044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492125">
              <a:lnSpc>
                <a:spcPct val="103800"/>
              </a:lnSpc>
              <a:spcBef>
                <a:spcPts val="5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Customer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 </a:t>
            </a:r>
            <a:r>
              <a:rPr sz="2100" spc="-12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21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1000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&lt;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ANY</a:t>
            </a:r>
            <a:endParaRPr sz="2100">
              <a:latin typeface="Courier New"/>
              <a:cs typeface="Courier New"/>
            </a:endParaRPr>
          </a:p>
          <a:p>
            <a:pPr marR="5080" algn="r">
              <a:lnSpc>
                <a:spcPts val="2495"/>
              </a:lnSpc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price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39485" y="5865367"/>
            <a:ext cx="825500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5080">
              <a:lnSpc>
                <a:spcPct val="103800"/>
              </a:lnSpc>
              <a:spcBef>
                <a:spcPts val="5"/>
              </a:spcBef>
            </a:pP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2100" spc="-125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52285" y="5865367"/>
            <a:ext cx="3751579" cy="67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purchase</a:t>
            </a:r>
            <a:r>
              <a:rPr sz="2100" spc="-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T2</a:t>
            </a:r>
            <a:endParaRPr sz="2100">
              <a:latin typeface="Courier New"/>
              <a:cs typeface="Courier New"/>
            </a:endParaRPr>
          </a:p>
          <a:p>
            <a:pPr marL="161925">
              <a:lnSpc>
                <a:spcPct val="100000"/>
              </a:lnSpc>
              <a:spcBef>
                <a:spcPts val="95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T1.custId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 =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T2.custId)</a:t>
            </a:r>
            <a:endParaRPr sz="2100">
              <a:latin typeface="Courier New"/>
              <a:cs typeface="Courier New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8416" y="4602479"/>
            <a:ext cx="2627376" cy="84124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282419" y="4620772"/>
            <a:ext cx="2329815" cy="53657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04775" rIns="0" bIns="0" rtlCol="0">
            <a:spAutoFit/>
          </a:bodyPr>
          <a:lstStyle/>
          <a:p>
            <a:pPr marL="456565">
              <a:lnSpc>
                <a:spcPct val="100000"/>
              </a:lnSpc>
              <a:spcBef>
                <a:spcPts val="825"/>
              </a:spcBef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Correlated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51400" y="5525520"/>
            <a:ext cx="1283970" cy="685800"/>
            <a:chOff x="551400" y="5525520"/>
            <a:chExt cx="1283970" cy="685800"/>
          </a:xfrm>
        </p:grpSpPr>
        <p:sp>
          <p:nvSpPr>
            <p:cNvPr id="13" name="object 13"/>
            <p:cNvSpPr/>
            <p:nvPr/>
          </p:nvSpPr>
          <p:spPr>
            <a:xfrm>
              <a:off x="565688" y="5539808"/>
              <a:ext cx="1255395" cy="657225"/>
            </a:xfrm>
            <a:custGeom>
              <a:avLst/>
              <a:gdLst/>
              <a:ahLst/>
              <a:cxnLst/>
              <a:rect l="l" t="t" r="r" b="b"/>
              <a:pathLst>
                <a:path w="1255395" h="657225">
                  <a:moveTo>
                    <a:pt x="1113993" y="252604"/>
                  </a:moveTo>
                  <a:lnTo>
                    <a:pt x="67353" y="252604"/>
                  </a:lnTo>
                  <a:lnTo>
                    <a:pt x="41136" y="257897"/>
                  </a:lnTo>
                  <a:lnTo>
                    <a:pt x="19727" y="272332"/>
                  </a:lnTo>
                  <a:lnTo>
                    <a:pt x="5293" y="293741"/>
                  </a:lnTo>
                  <a:lnTo>
                    <a:pt x="0" y="319957"/>
                  </a:lnTo>
                  <a:lnTo>
                    <a:pt x="0" y="589367"/>
                  </a:lnTo>
                  <a:lnTo>
                    <a:pt x="5293" y="615585"/>
                  </a:lnTo>
                  <a:lnTo>
                    <a:pt x="19727" y="636994"/>
                  </a:lnTo>
                  <a:lnTo>
                    <a:pt x="41136" y="651429"/>
                  </a:lnTo>
                  <a:lnTo>
                    <a:pt x="67353" y="656722"/>
                  </a:lnTo>
                  <a:lnTo>
                    <a:pt x="1113993" y="656722"/>
                  </a:lnTo>
                  <a:lnTo>
                    <a:pt x="1140210" y="651429"/>
                  </a:lnTo>
                  <a:lnTo>
                    <a:pt x="1161619" y="636994"/>
                  </a:lnTo>
                  <a:lnTo>
                    <a:pt x="1176054" y="615585"/>
                  </a:lnTo>
                  <a:lnTo>
                    <a:pt x="1181347" y="589367"/>
                  </a:lnTo>
                  <a:lnTo>
                    <a:pt x="1181347" y="319957"/>
                  </a:lnTo>
                  <a:lnTo>
                    <a:pt x="1176054" y="293741"/>
                  </a:lnTo>
                  <a:lnTo>
                    <a:pt x="1161619" y="272332"/>
                  </a:lnTo>
                  <a:lnTo>
                    <a:pt x="1140210" y="257897"/>
                  </a:lnTo>
                  <a:lnTo>
                    <a:pt x="1113993" y="252604"/>
                  </a:lnTo>
                  <a:close/>
                </a:path>
                <a:path w="1255395" h="657225">
                  <a:moveTo>
                    <a:pt x="1255181" y="0"/>
                  </a:moveTo>
                  <a:lnTo>
                    <a:pt x="689119" y="252604"/>
                  </a:lnTo>
                  <a:lnTo>
                    <a:pt x="984455" y="252604"/>
                  </a:lnTo>
                  <a:lnTo>
                    <a:pt x="1255181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5688" y="5539807"/>
              <a:ext cx="1255395" cy="657225"/>
            </a:xfrm>
            <a:custGeom>
              <a:avLst/>
              <a:gdLst/>
              <a:ahLst/>
              <a:cxnLst/>
              <a:rect l="l" t="t" r="r" b="b"/>
              <a:pathLst>
                <a:path w="1255395" h="657225">
                  <a:moveTo>
                    <a:pt x="0" y="319959"/>
                  </a:moveTo>
                  <a:lnTo>
                    <a:pt x="5292" y="293741"/>
                  </a:lnTo>
                  <a:lnTo>
                    <a:pt x="19727" y="272332"/>
                  </a:lnTo>
                  <a:lnTo>
                    <a:pt x="41136" y="257898"/>
                  </a:lnTo>
                  <a:lnTo>
                    <a:pt x="67353" y="252605"/>
                  </a:lnTo>
                  <a:lnTo>
                    <a:pt x="689119" y="252605"/>
                  </a:lnTo>
                  <a:lnTo>
                    <a:pt x="1255181" y="0"/>
                  </a:lnTo>
                  <a:lnTo>
                    <a:pt x="984455" y="252605"/>
                  </a:lnTo>
                  <a:lnTo>
                    <a:pt x="1113993" y="252605"/>
                  </a:lnTo>
                  <a:lnTo>
                    <a:pt x="1140210" y="257898"/>
                  </a:lnTo>
                  <a:lnTo>
                    <a:pt x="1161619" y="272332"/>
                  </a:lnTo>
                  <a:lnTo>
                    <a:pt x="1176054" y="293741"/>
                  </a:lnTo>
                  <a:lnTo>
                    <a:pt x="1181347" y="319959"/>
                  </a:lnTo>
                  <a:lnTo>
                    <a:pt x="1181347" y="420987"/>
                  </a:lnTo>
                  <a:lnTo>
                    <a:pt x="1181347" y="589368"/>
                  </a:lnTo>
                  <a:lnTo>
                    <a:pt x="1176054" y="615585"/>
                  </a:lnTo>
                  <a:lnTo>
                    <a:pt x="1161619" y="636994"/>
                  </a:lnTo>
                  <a:lnTo>
                    <a:pt x="1140210" y="651429"/>
                  </a:lnTo>
                  <a:lnTo>
                    <a:pt x="1113993" y="656722"/>
                  </a:lnTo>
                  <a:lnTo>
                    <a:pt x="984455" y="656722"/>
                  </a:lnTo>
                  <a:lnTo>
                    <a:pt x="689119" y="656722"/>
                  </a:lnTo>
                  <a:lnTo>
                    <a:pt x="67353" y="656722"/>
                  </a:lnTo>
                  <a:lnTo>
                    <a:pt x="41136" y="651429"/>
                  </a:lnTo>
                  <a:lnTo>
                    <a:pt x="19727" y="636994"/>
                  </a:lnTo>
                  <a:lnTo>
                    <a:pt x="5292" y="615585"/>
                  </a:lnTo>
                  <a:lnTo>
                    <a:pt x="0" y="589368"/>
                  </a:lnTo>
                  <a:lnTo>
                    <a:pt x="0" y="420987"/>
                  </a:lnTo>
                  <a:lnTo>
                    <a:pt x="0" y="319957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66395" y="5852160"/>
            <a:ext cx="5930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00" spc="-30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1700" spc="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ue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6853" y="1159763"/>
            <a:ext cx="187325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Product(</a:t>
            </a:r>
            <a:r>
              <a:rPr sz="20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pid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, 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Company(</a:t>
            </a:r>
            <a:r>
              <a:rPr sz="20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cid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10058" y="1159763"/>
            <a:ext cx="187452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21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name, cid)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cname,</a:t>
            </a:r>
            <a:r>
              <a:rPr sz="2000" spc="-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city)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6853" y="1885188"/>
            <a:ext cx="3568065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Customer(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custId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name, 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Purchase(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purchase_date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50918" y="1885188"/>
            <a:ext cx="79629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 marR="5080" indent="-154305">
              <a:lnSpc>
                <a:spcPct val="121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city)  </a:t>
            </a:r>
            <a:r>
              <a:rPr sz="20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pid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75560" y="2318003"/>
            <a:ext cx="11029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custId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08298" y="2318003"/>
            <a:ext cx="14122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quantity,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49093" y="2318003"/>
            <a:ext cx="9499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price)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47039" y="6196481"/>
            <a:ext cx="1785620" cy="446405"/>
          </a:xfrm>
          <a:custGeom>
            <a:avLst/>
            <a:gdLst/>
            <a:ahLst/>
            <a:cxnLst/>
            <a:rect l="l" t="t" r="r" b="b"/>
            <a:pathLst>
              <a:path w="1785620" h="446404">
                <a:moveTo>
                  <a:pt x="0" y="223175"/>
                </a:moveTo>
                <a:lnTo>
                  <a:pt x="25944" y="169543"/>
                </a:lnTo>
                <a:lnTo>
                  <a:pt x="70152" y="136305"/>
                </a:lnTo>
                <a:lnTo>
                  <a:pt x="133747" y="105616"/>
                </a:lnTo>
                <a:lnTo>
                  <a:pt x="172239" y="91370"/>
                </a:lnTo>
                <a:lnTo>
                  <a:pt x="214889" y="77935"/>
                </a:lnTo>
                <a:lnTo>
                  <a:pt x="261466" y="65366"/>
                </a:lnTo>
                <a:lnTo>
                  <a:pt x="311741" y="53722"/>
                </a:lnTo>
                <a:lnTo>
                  <a:pt x="365483" y="43059"/>
                </a:lnTo>
                <a:lnTo>
                  <a:pt x="422464" y="33436"/>
                </a:lnTo>
                <a:lnTo>
                  <a:pt x="482453" y="24910"/>
                </a:lnTo>
                <a:lnTo>
                  <a:pt x="545222" y="17538"/>
                </a:lnTo>
                <a:lnTo>
                  <a:pt x="610539" y="11377"/>
                </a:lnTo>
                <a:lnTo>
                  <a:pt x="678175" y="6486"/>
                </a:lnTo>
                <a:lnTo>
                  <a:pt x="747900" y="2920"/>
                </a:lnTo>
                <a:lnTo>
                  <a:pt x="819486" y="739"/>
                </a:lnTo>
                <a:lnTo>
                  <a:pt x="892701" y="0"/>
                </a:lnTo>
                <a:lnTo>
                  <a:pt x="965917" y="739"/>
                </a:lnTo>
                <a:lnTo>
                  <a:pt x="1037502" y="2920"/>
                </a:lnTo>
                <a:lnTo>
                  <a:pt x="1107228" y="6486"/>
                </a:lnTo>
                <a:lnTo>
                  <a:pt x="1174864" y="11377"/>
                </a:lnTo>
                <a:lnTo>
                  <a:pt x="1240181" y="17538"/>
                </a:lnTo>
                <a:lnTo>
                  <a:pt x="1302949" y="24910"/>
                </a:lnTo>
                <a:lnTo>
                  <a:pt x="1362938" y="33436"/>
                </a:lnTo>
                <a:lnTo>
                  <a:pt x="1419919" y="43059"/>
                </a:lnTo>
                <a:lnTo>
                  <a:pt x="1473662" y="53722"/>
                </a:lnTo>
                <a:lnTo>
                  <a:pt x="1523937" y="65366"/>
                </a:lnTo>
                <a:lnTo>
                  <a:pt x="1570514" y="77935"/>
                </a:lnTo>
                <a:lnTo>
                  <a:pt x="1613163" y="91370"/>
                </a:lnTo>
                <a:lnTo>
                  <a:pt x="1651656" y="105616"/>
                </a:lnTo>
                <a:lnTo>
                  <a:pt x="1715250" y="136305"/>
                </a:lnTo>
                <a:lnTo>
                  <a:pt x="1759459" y="169543"/>
                </a:lnTo>
                <a:lnTo>
                  <a:pt x="1782444" y="204871"/>
                </a:lnTo>
                <a:lnTo>
                  <a:pt x="1785403" y="223175"/>
                </a:lnTo>
                <a:lnTo>
                  <a:pt x="1782444" y="241479"/>
                </a:lnTo>
                <a:lnTo>
                  <a:pt x="1759459" y="276807"/>
                </a:lnTo>
                <a:lnTo>
                  <a:pt x="1715250" y="310045"/>
                </a:lnTo>
                <a:lnTo>
                  <a:pt x="1651656" y="340734"/>
                </a:lnTo>
                <a:lnTo>
                  <a:pt x="1613163" y="354980"/>
                </a:lnTo>
                <a:lnTo>
                  <a:pt x="1570514" y="368415"/>
                </a:lnTo>
                <a:lnTo>
                  <a:pt x="1523937" y="380984"/>
                </a:lnTo>
                <a:lnTo>
                  <a:pt x="1473662" y="392628"/>
                </a:lnTo>
                <a:lnTo>
                  <a:pt x="1419919" y="403291"/>
                </a:lnTo>
                <a:lnTo>
                  <a:pt x="1362938" y="412914"/>
                </a:lnTo>
                <a:lnTo>
                  <a:pt x="1302949" y="421440"/>
                </a:lnTo>
                <a:lnTo>
                  <a:pt x="1240181" y="428812"/>
                </a:lnTo>
                <a:lnTo>
                  <a:pt x="1174864" y="434973"/>
                </a:lnTo>
                <a:lnTo>
                  <a:pt x="1107228" y="439864"/>
                </a:lnTo>
                <a:lnTo>
                  <a:pt x="1037502" y="443429"/>
                </a:lnTo>
                <a:lnTo>
                  <a:pt x="965917" y="445611"/>
                </a:lnTo>
                <a:lnTo>
                  <a:pt x="892701" y="446350"/>
                </a:lnTo>
                <a:lnTo>
                  <a:pt x="819486" y="445611"/>
                </a:lnTo>
                <a:lnTo>
                  <a:pt x="747900" y="443429"/>
                </a:lnTo>
                <a:lnTo>
                  <a:pt x="678175" y="439864"/>
                </a:lnTo>
                <a:lnTo>
                  <a:pt x="610539" y="434973"/>
                </a:lnTo>
                <a:lnTo>
                  <a:pt x="545222" y="428812"/>
                </a:lnTo>
                <a:lnTo>
                  <a:pt x="482453" y="421440"/>
                </a:lnTo>
                <a:lnTo>
                  <a:pt x="422464" y="412914"/>
                </a:lnTo>
                <a:lnTo>
                  <a:pt x="365483" y="403291"/>
                </a:lnTo>
                <a:lnTo>
                  <a:pt x="311741" y="392628"/>
                </a:lnTo>
                <a:lnTo>
                  <a:pt x="261466" y="380984"/>
                </a:lnTo>
                <a:lnTo>
                  <a:pt x="214889" y="368415"/>
                </a:lnTo>
                <a:lnTo>
                  <a:pt x="172239" y="354980"/>
                </a:lnTo>
                <a:lnTo>
                  <a:pt x="133747" y="340734"/>
                </a:lnTo>
                <a:lnTo>
                  <a:pt x="70152" y="310045"/>
                </a:lnTo>
                <a:lnTo>
                  <a:pt x="25944" y="276807"/>
                </a:lnTo>
                <a:lnTo>
                  <a:pt x="2959" y="241479"/>
                </a:lnTo>
                <a:lnTo>
                  <a:pt x="0" y="223175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02464" y="6854952"/>
            <a:ext cx="47936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another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way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 solve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(with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subquery)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7638" y="275733"/>
            <a:ext cx="58877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U</a:t>
            </a:r>
            <a:r>
              <a:rPr spc="-130" dirty="0"/>
              <a:t>n</a:t>
            </a:r>
            <a:r>
              <a:rPr spc="-125" dirty="0"/>
              <a:t>i</a:t>
            </a:r>
            <a:r>
              <a:rPr spc="-130" dirty="0"/>
              <a:t>v</a:t>
            </a:r>
            <a:r>
              <a:rPr spc="-125" dirty="0"/>
              <a:t>ers</a:t>
            </a:r>
            <a:r>
              <a:rPr spc="-130" dirty="0"/>
              <a:t>a</a:t>
            </a:r>
            <a:r>
              <a:rPr dirty="0"/>
              <a:t>l</a:t>
            </a:r>
            <a:r>
              <a:rPr spc="-245" dirty="0"/>
              <a:t> </a:t>
            </a:r>
            <a:r>
              <a:rPr spc="-140" dirty="0"/>
              <a:t>Q</a:t>
            </a:r>
            <a:r>
              <a:rPr spc="-130" dirty="0"/>
              <a:t>uan</a:t>
            </a:r>
            <a:r>
              <a:rPr spc="-120" dirty="0"/>
              <a:t>t</a:t>
            </a:r>
            <a:r>
              <a:rPr spc="-125" dirty="0"/>
              <a:t>ifie</a:t>
            </a:r>
            <a:r>
              <a:rPr dirty="0"/>
              <a:t>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6853" y="1159763"/>
            <a:ext cx="187325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Product(</a:t>
            </a:r>
            <a:r>
              <a:rPr sz="20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pid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, 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Company(</a:t>
            </a:r>
            <a:r>
              <a:rPr sz="20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cid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10058" y="1159763"/>
            <a:ext cx="187452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21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name, cid)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cname,</a:t>
            </a:r>
            <a:r>
              <a:rPr sz="2000" spc="-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city)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6853" y="1885188"/>
            <a:ext cx="3568065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Customer(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custId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name, 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Purchase(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purchase_date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50918" y="1885188"/>
            <a:ext cx="4648200" cy="7632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city)</a:t>
            </a:r>
            <a:endParaRPr sz="2000">
              <a:latin typeface="Courier New"/>
              <a:cs typeface="Courier New"/>
            </a:endParaRPr>
          </a:p>
          <a:p>
            <a:pPr marL="166370">
              <a:lnSpc>
                <a:spcPct val="100000"/>
              </a:lnSpc>
              <a:spcBef>
                <a:spcPts val="505"/>
              </a:spcBef>
            </a:pP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custId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quantity,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price)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870606" y="3718582"/>
            <a:ext cx="353695" cy="588645"/>
            <a:chOff x="4870606" y="3718582"/>
            <a:chExt cx="353695" cy="588645"/>
          </a:xfrm>
        </p:grpSpPr>
        <p:sp>
          <p:nvSpPr>
            <p:cNvPr id="8" name="object 8"/>
            <p:cNvSpPr/>
            <p:nvPr/>
          </p:nvSpPr>
          <p:spPr>
            <a:xfrm>
              <a:off x="4884699" y="3732676"/>
              <a:ext cx="325120" cy="560070"/>
            </a:xfrm>
            <a:custGeom>
              <a:avLst/>
              <a:gdLst/>
              <a:ahLst/>
              <a:cxnLst/>
              <a:rect l="l" t="t" r="r" b="b"/>
              <a:pathLst>
                <a:path w="325120" h="560070">
                  <a:moveTo>
                    <a:pt x="162560" y="0"/>
                  </a:moveTo>
                  <a:lnTo>
                    <a:pt x="0" y="162560"/>
                  </a:lnTo>
                  <a:lnTo>
                    <a:pt x="81279" y="162560"/>
                  </a:lnTo>
                  <a:lnTo>
                    <a:pt x="81279" y="397367"/>
                  </a:lnTo>
                  <a:lnTo>
                    <a:pt x="0" y="397367"/>
                  </a:lnTo>
                  <a:lnTo>
                    <a:pt x="162560" y="559927"/>
                  </a:lnTo>
                  <a:lnTo>
                    <a:pt x="325119" y="397367"/>
                  </a:lnTo>
                  <a:lnTo>
                    <a:pt x="243839" y="397367"/>
                  </a:lnTo>
                  <a:lnTo>
                    <a:pt x="243839" y="162560"/>
                  </a:lnTo>
                  <a:lnTo>
                    <a:pt x="325119" y="162560"/>
                  </a:lnTo>
                  <a:lnTo>
                    <a:pt x="162560" y="0"/>
                  </a:lnTo>
                  <a:close/>
                </a:path>
              </a:pathLst>
            </a:custGeom>
            <a:solidFill>
              <a:srgbClr val="407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84699" y="3732676"/>
              <a:ext cx="325120" cy="560070"/>
            </a:xfrm>
            <a:custGeom>
              <a:avLst/>
              <a:gdLst/>
              <a:ahLst/>
              <a:cxnLst/>
              <a:rect l="l" t="t" r="r" b="b"/>
              <a:pathLst>
                <a:path w="325120" h="560070">
                  <a:moveTo>
                    <a:pt x="0" y="162559"/>
                  </a:moveTo>
                  <a:lnTo>
                    <a:pt x="162559" y="0"/>
                  </a:lnTo>
                  <a:lnTo>
                    <a:pt x="325119" y="162559"/>
                  </a:lnTo>
                  <a:lnTo>
                    <a:pt x="243840" y="162559"/>
                  </a:lnTo>
                  <a:lnTo>
                    <a:pt x="243840" y="397368"/>
                  </a:lnTo>
                  <a:lnTo>
                    <a:pt x="325119" y="397368"/>
                  </a:lnTo>
                  <a:lnTo>
                    <a:pt x="162559" y="559928"/>
                  </a:lnTo>
                  <a:lnTo>
                    <a:pt x="0" y="397368"/>
                  </a:lnTo>
                  <a:lnTo>
                    <a:pt x="81280" y="397368"/>
                  </a:lnTo>
                  <a:lnTo>
                    <a:pt x="81280" y="162559"/>
                  </a:lnTo>
                  <a:lnTo>
                    <a:pt x="0" y="162559"/>
                  </a:lnTo>
                  <a:close/>
                </a:path>
              </a:pathLst>
            </a:custGeom>
            <a:ln w="28186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17638" y="3067303"/>
            <a:ext cx="8763635" cy="3491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made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purchases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endParaRPr sz="2100">
              <a:latin typeface="Verdana"/>
              <a:cs typeface="Verdana"/>
            </a:endParaRPr>
          </a:p>
          <a:p>
            <a:pPr marL="328930" indent="-316865">
              <a:lnSpc>
                <a:spcPct val="100000"/>
              </a:lnSpc>
              <a:spcBef>
                <a:spcPts val="70"/>
              </a:spcBef>
              <a:buChar char="&gt;"/>
              <a:tabLst>
                <a:tab pos="329565" algn="l"/>
              </a:tabLst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$1000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only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Verdana"/>
              <a:cs typeface="Verdana"/>
            </a:endParaRPr>
          </a:p>
          <a:p>
            <a:pPr marL="12700" marR="304800">
              <a:lnSpc>
                <a:spcPct val="102899"/>
              </a:lnSpc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such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all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their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purchases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&gt;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$1000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50">
              <a:latin typeface="Verdana"/>
              <a:cs typeface="Verdana"/>
            </a:endParaRPr>
          </a:p>
          <a:p>
            <a:pPr marL="12700" marR="5080">
              <a:lnSpc>
                <a:spcPct val="103800"/>
              </a:lnSpc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There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not</a:t>
            </a:r>
            <a:r>
              <a:rPr sz="21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Verdana"/>
                <a:cs typeface="Verdana"/>
              </a:rPr>
              <a:t>exist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some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purchases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customer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made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where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price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&lt;=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$1000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70606" y="5100339"/>
            <a:ext cx="353695" cy="588645"/>
            <a:chOff x="4870606" y="5100339"/>
            <a:chExt cx="353695" cy="588645"/>
          </a:xfrm>
        </p:grpSpPr>
        <p:sp>
          <p:nvSpPr>
            <p:cNvPr id="12" name="object 12"/>
            <p:cNvSpPr/>
            <p:nvPr/>
          </p:nvSpPr>
          <p:spPr>
            <a:xfrm>
              <a:off x="4884699" y="5114432"/>
              <a:ext cx="325120" cy="560070"/>
            </a:xfrm>
            <a:custGeom>
              <a:avLst/>
              <a:gdLst/>
              <a:ahLst/>
              <a:cxnLst/>
              <a:rect l="l" t="t" r="r" b="b"/>
              <a:pathLst>
                <a:path w="325120" h="560070">
                  <a:moveTo>
                    <a:pt x="162560" y="0"/>
                  </a:moveTo>
                  <a:lnTo>
                    <a:pt x="0" y="162560"/>
                  </a:lnTo>
                  <a:lnTo>
                    <a:pt x="81279" y="162560"/>
                  </a:lnTo>
                  <a:lnTo>
                    <a:pt x="81279" y="397367"/>
                  </a:lnTo>
                  <a:lnTo>
                    <a:pt x="0" y="397367"/>
                  </a:lnTo>
                  <a:lnTo>
                    <a:pt x="162560" y="559927"/>
                  </a:lnTo>
                  <a:lnTo>
                    <a:pt x="325119" y="397367"/>
                  </a:lnTo>
                  <a:lnTo>
                    <a:pt x="243839" y="397367"/>
                  </a:lnTo>
                  <a:lnTo>
                    <a:pt x="243839" y="162560"/>
                  </a:lnTo>
                  <a:lnTo>
                    <a:pt x="325119" y="162560"/>
                  </a:lnTo>
                  <a:lnTo>
                    <a:pt x="162560" y="0"/>
                  </a:lnTo>
                  <a:close/>
                </a:path>
              </a:pathLst>
            </a:custGeom>
            <a:solidFill>
              <a:srgbClr val="407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84699" y="5114432"/>
              <a:ext cx="325120" cy="560070"/>
            </a:xfrm>
            <a:custGeom>
              <a:avLst/>
              <a:gdLst/>
              <a:ahLst/>
              <a:cxnLst/>
              <a:rect l="l" t="t" r="r" b="b"/>
              <a:pathLst>
                <a:path w="325120" h="560070">
                  <a:moveTo>
                    <a:pt x="0" y="162559"/>
                  </a:moveTo>
                  <a:lnTo>
                    <a:pt x="162559" y="0"/>
                  </a:lnTo>
                  <a:lnTo>
                    <a:pt x="325119" y="162559"/>
                  </a:lnTo>
                  <a:lnTo>
                    <a:pt x="243840" y="162559"/>
                  </a:lnTo>
                  <a:lnTo>
                    <a:pt x="243840" y="397368"/>
                  </a:lnTo>
                  <a:lnTo>
                    <a:pt x="325119" y="397368"/>
                  </a:lnTo>
                  <a:lnTo>
                    <a:pt x="162559" y="559928"/>
                  </a:lnTo>
                  <a:lnTo>
                    <a:pt x="0" y="397368"/>
                  </a:lnTo>
                  <a:lnTo>
                    <a:pt x="81280" y="397368"/>
                  </a:lnTo>
                  <a:lnTo>
                    <a:pt x="81280" y="162559"/>
                  </a:lnTo>
                  <a:lnTo>
                    <a:pt x="0" y="162559"/>
                  </a:lnTo>
                  <a:close/>
                </a:path>
              </a:pathLst>
            </a:custGeom>
            <a:ln w="28186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9443" y="4692111"/>
            <a:ext cx="9500235" cy="1851660"/>
          </a:xfrm>
          <a:custGeom>
            <a:avLst/>
            <a:gdLst/>
            <a:ahLst/>
            <a:cxnLst/>
            <a:rect l="l" t="t" r="r" b="b"/>
            <a:pathLst>
              <a:path w="9500235" h="1851659">
                <a:moveTo>
                  <a:pt x="0" y="0"/>
                </a:moveTo>
                <a:lnTo>
                  <a:pt x="9500006" y="0"/>
                </a:lnTo>
                <a:lnTo>
                  <a:pt x="9500006" y="1851531"/>
                </a:lnTo>
                <a:lnTo>
                  <a:pt x="0" y="1851531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9443" y="-97940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U</a:t>
            </a:r>
            <a:r>
              <a:rPr spc="-130" dirty="0"/>
              <a:t>n</a:t>
            </a:r>
            <a:r>
              <a:rPr spc="-125" dirty="0"/>
              <a:t>i</a:t>
            </a:r>
            <a:r>
              <a:rPr spc="-130" dirty="0"/>
              <a:t>v</a:t>
            </a:r>
            <a:r>
              <a:rPr spc="-125" dirty="0"/>
              <a:t>ers</a:t>
            </a:r>
            <a:r>
              <a:rPr spc="-130" dirty="0"/>
              <a:t>a</a:t>
            </a:r>
            <a:r>
              <a:rPr dirty="0"/>
              <a:t>l</a:t>
            </a:r>
            <a:r>
              <a:rPr spc="-245" dirty="0"/>
              <a:t> </a:t>
            </a:r>
            <a:r>
              <a:rPr spc="-140" dirty="0"/>
              <a:t>Q</a:t>
            </a:r>
            <a:r>
              <a:rPr spc="-130" dirty="0"/>
              <a:t>uan</a:t>
            </a:r>
            <a:r>
              <a:rPr spc="-120" dirty="0"/>
              <a:t>t</a:t>
            </a:r>
            <a:r>
              <a:rPr spc="-125" dirty="0"/>
              <a:t>ifie</a:t>
            </a:r>
            <a:r>
              <a:rPr dirty="0"/>
              <a:t>r</a:t>
            </a:r>
            <a:r>
              <a:rPr spc="-250" dirty="0"/>
              <a:t> </a:t>
            </a:r>
            <a:r>
              <a:rPr spc="-125" dirty="0"/>
              <a:t>(</a:t>
            </a:r>
            <a:r>
              <a:rPr spc="-135" dirty="0"/>
              <a:t>N</a:t>
            </a:r>
            <a:r>
              <a:rPr spc="-140" dirty="0"/>
              <a:t>O</a:t>
            </a:r>
            <a:r>
              <a:rPr dirty="0"/>
              <a:t>T</a:t>
            </a:r>
            <a:r>
              <a:rPr spc="-254" dirty="0"/>
              <a:t> </a:t>
            </a:r>
            <a:r>
              <a:rPr spc="-125" dirty="0"/>
              <a:t>I</a:t>
            </a:r>
            <a:r>
              <a:rPr spc="-135" dirty="0"/>
              <a:t>N</a:t>
            </a:r>
            <a:r>
              <a:rPr dirty="0"/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7638" y="3067303"/>
            <a:ext cx="8843645" cy="2034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made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purchases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endParaRPr sz="2100">
              <a:latin typeface="Verdana"/>
              <a:cs typeface="Verdana"/>
            </a:endParaRPr>
          </a:p>
          <a:p>
            <a:pPr marL="328930" indent="-316865">
              <a:lnSpc>
                <a:spcPct val="100000"/>
              </a:lnSpc>
              <a:spcBef>
                <a:spcPts val="70"/>
              </a:spcBef>
              <a:buChar char="&gt;"/>
              <a:tabLst>
                <a:tab pos="329565" algn="l"/>
              </a:tabLst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$1000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only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1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Step</a:t>
            </a:r>
            <a:r>
              <a:rPr sz="2100" u="sng" spc="2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 </a:t>
            </a:r>
            <a:r>
              <a:rPr sz="21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1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some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purchases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&lt;=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1000</a:t>
            </a:r>
            <a:endParaRPr sz="2100">
              <a:latin typeface="Verdana"/>
              <a:cs typeface="Verdana"/>
            </a:endParaRPr>
          </a:p>
          <a:p>
            <a:pPr marL="523240">
              <a:lnSpc>
                <a:spcPct val="100000"/>
              </a:lnSpc>
              <a:spcBef>
                <a:spcPts val="192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DISTINCT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T1.name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6853" y="1159763"/>
            <a:ext cx="3877945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Product(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name,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cid)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Company(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cname,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city)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6853" y="1885188"/>
            <a:ext cx="3568065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Customer(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custId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name, 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Purchase(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purchase_date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0918" y="1885188"/>
            <a:ext cx="4648200" cy="7632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city)</a:t>
            </a:r>
            <a:endParaRPr sz="2000">
              <a:latin typeface="Courier New"/>
              <a:cs typeface="Courier New"/>
            </a:endParaRPr>
          </a:p>
          <a:p>
            <a:pPr marL="166370">
              <a:lnSpc>
                <a:spcPct val="100000"/>
              </a:lnSpc>
              <a:spcBef>
                <a:spcPts val="505"/>
              </a:spcBef>
            </a:pP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custId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quantity,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price)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1100" y="5088128"/>
            <a:ext cx="2613660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R="5080">
              <a:lnSpc>
                <a:spcPct val="102899"/>
              </a:lnSpc>
              <a:spcBef>
                <a:spcPts val="25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Customer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 </a:t>
            </a:r>
            <a:r>
              <a:rPr sz="2100" spc="-12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2100" spc="-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T1.custId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1763" y="5417311"/>
            <a:ext cx="32645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IN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T2.custId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28200" y="5734304"/>
            <a:ext cx="2613660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R="5080">
              <a:lnSpc>
                <a:spcPct val="102899"/>
              </a:lnSpc>
              <a:spcBef>
                <a:spcPts val="25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Purchase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T2 </a:t>
            </a:r>
            <a:r>
              <a:rPr sz="2100" spc="-12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03560" y="6063488"/>
            <a:ext cx="27762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T2.price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&lt;=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1000)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69377" y="1183298"/>
            <a:ext cx="1570990" cy="318770"/>
          </a:xfrm>
          <a:prstGeom prst="rect">
            <a:avLst/>
          </a:prstGeom>
          <a:ln w="10159">
            <a:solidFill>
              <a:srgbClr val="7F7F7F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44145">
              <a:lnSpc>
                <a:spcPct val="100000"/>
              </a:lnSpc>
              <a:spcBef>
                <a:spcPts val="215"/>
              </a:spcBef>
            </a:pPr>
            <a:r>
              <a:rPr sz="1700" dirty="0">
                <a:solidFill>
                  <a:srgbClr val="57576E"/>
                </a:solidFill>
                <a:latin typeface="Verdana"/>
                <a:cs typeface="Verdana"/>
              </a:rPr>
              <a:t>Solution</a:t>
            </a:r>
            <a:r>
              <a:rPr sz="1700" spc="-45" dirty="0">
                <a:solidFill>
                  <a:srgbClr val="57576E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57576E"/>
                </a:solidFill>
                <a:latin typeface="Verdana"/>
                <a:cs typeface="Verdana"/>
              </a:rPr>
              <a:t>#1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9443" y="2698686"/>
            <a:ext cx="9500235" cy="1851660"/>
          </a:xfrm>
          <a:custGeom>
            <a:avLst/>
            <a:gdLst/>
            <a:ahLst/>
            <a:cxnLst/>
            <a:rect l="l" t="t" r="r" b="b"/>
            <a:pathLst>
              <a:path w="9500235" h="1851660">
                <a:moveTo>
                  <a:pt x="0" y="0"/>
                </a:moveTo>
                <a:lnTo>
                  <a:pt x="9500006" y="0"/>
                </a:lnTo>
                <a:lnTo>
                  <a:pt x="9500006" y="1851531"/>
                </a:lnTo>
                <a:lnTo>
                  <a:pt x="0" y="1851531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9443" y="5254181"/>
            <a:ext cx="9500235" cy="1851660"/>
          </a:xfrm>
          <a:custGeom>
            <a:avLst/>
            <a:gdLst/>
            <a:ahLst/>
            <a:cxnLst/>
            <a:rect l="l" t="t" r="r" b="b"/>
            <a:pathLst>
              <a:path w="9500235" h="1851659">
                <a:moveTo>
                  <a:pt x="0" y="0"/>
                </a:moveTo>
                <a:lnTo>
                  <a:pt x="9500006" y="0"/>
                </a:lnTo>
                <a:lnTo>
                  <a:pt x="9500006" y="1851531"/>
                </a:lnTo>
                <a:lnTo>
                  <a:pt x="0" y="1851531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0976" y="-189687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U</a:t>
            </a:r>
            <a:r>
              <a:rPr spc="-130" dirty="0"/>
              <a:t>n</a:t>
            </a:r>
            <a:r>
              <a:rPr spc="-125" dirty="0"/>
              <a:t>i</a:t>
            </a:r>
            <a:r>
              <a:rPr spc="-130" dirty="0"/>
              <a:t>v</a:t>
            </a:r>
            <a:r>
              <a:rPr spc="-125" dirty="0"/>
              <a:t>ers</a:t>
            </a:r>
            <a:r>
              <a:rPr spc="-130" dirty="0"/>
              <a:t>a</a:t>
            </a:r>
            <a:r>
              <a:rPr dirty="0"/>
              <a:t>l</a:t>
            </a:r>
            <a:r>
              <a:rPr spc="-245" dirty="0"/>
              <a:t> </a:t>
            </a:r>
            <a:r>
              <a:rPr spc="-140" dirty="0"/>
              <a:t>Q</a:t>
            </a:r>
            <a:r>
              <a:rPr spc="-130" dirty="0"/>
              <a:t>uan</a:t>
            </a:r>
            <a:r>
              <a:rPr spc="-120" dirty="0"/>
              <a:t>t</a:t>
            </a:r>
            <a:r>
              <a:rPr spc="-125" dirty="0"/>
              <a:t>ifie</a:t>
            </a:r>
            <a:r>
              <a:rPr dirty="0"/>
              <a:t>r</a:t>
            </a:r>
            <a:r>
              <a:rPr spc="-250" dirty="0"/>
              <a:t> </a:t>
            </a:r>
            <a:r>
              <a:rPr spc="-125" dirty="0"/>
              <a:t>(</a:t>
            </a:r>
            <a:r>
              <a:rPr spc="-135" dirty="0"/>
              <a:t>N</a:t>
            </a:r>
            <a:r>
              <a:rPr spc="-140" dirty="0"/>
              <a:t>O</a:t>
            </a:r>
            <a:r>
              <a:rPr dirty="0"/>
              <a:t>T</a:t>
            </a:r>
            <a:r>
              <a:rPr spc="-254" dirty="0"/>
              <a:t> </a:t>
            </a:r>
            <a:r>
              <a:rPr spc="-125" dirty="0"/>
              <a:t>I</a:t>
            </a:r>
            <a:r>
              <a:rPr spc="-135" dirty="0"/>
              <a:t>N</a:t>
            </a:r>
            <a:r>
              <a:rPr dirty="0"/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7638" y="1208023"/>
            <a:ext cx="8843645" cy="3899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made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purchases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endParaRPr sz="2100" dirty="0">
              <a:latin typeface="Verdana"/>
              <a:cs typeface="Verdana"/>
            </a:endParaRPr>
          </a:p>
          <a:p>
            <a:pPr marL="328930" indent="-316865">
              <a:lnSpc>
                <a:spcPct val="100000"/>
              </a:lnSpc>
              <a:spcBef>
                <a:spcPts val="70"/>
              </a:spcBef>
              <a:buChar char="&gt;"/>
              <a:tabLst>
                <a:tab pos="329565" algn="l"/>
              </a:tabLst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$1000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only</a:t>
            </a:r>
            <a:endParaRPr sz="21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1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Step</a:t>
            </a:r>
            <a:r>
              <a:rPr sz="2100" u="sng" spc="2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 </a:t>
            </a:r>
            <a:r>
              <a:rPr sz="21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1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some</a:t>
            </a:r>
            <a:r>
              <a:rPr sz="21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purchases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&lt;=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1000</a:t>
            </a:r>
            <a:endParaRPr sz="2100" dirty="0">
              <a:latin typeface="Verdana"/>
              <a:cs typeface="Verdana"/>
            </a:endParaRPr>
          </a:p>
          <a:p>
            <a:pPr marL="320040">
              <a:lnSpc>
                <a:spcPct val="100000"/>
              </a:lnSpc>
              <a:spcBef>
                <a:spcPts val="1705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DISTINCT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T1.name</a:t>
            </a:r>
            <a:endParaRPr sz="2100" dirty="0">
              <a:latin typeface="Courier New"/>
              <a:cs typeface="Courier New"/>
            </a:endParaRPr>
          </a:p>
          <a:p>
            <a:pPr marL="320040">
              <a:lnSpc>
                <a:spcPct val="100000"/>
              </a:lnSpc>
              <a:spcBef>
                <a:spcPts val="75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21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Customer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</a:t>
            </a:r>
            <a:endParaRPr sz="2100" dirty="0">
              <a:latin typeface="Courier New"/>
              <a:cs typeface="Courier New"/>
            </a:endParaRPr>
          </a:p>
          <a:p>
            <a:pPr marR="2663190" algn="r">
              <a:lnSpc>
                <a:spcPts val="2510"/>
              </a:lnSpc>
              <a:spcBef>
                <a:spcPts val="95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2100" spc="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T1.custId</a:t>
            </a:r>
            <a:r>
              <a:rPr sz="21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Courier New"/>
                <a:cs typeface="Courier New"/>
              </a:rPr>
              <a:t>IN</a:t>
            </a:r>
            <a:r>
              <a:rPr sz="2100" spc="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spc="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T2.custId</a:t>
            </a:r>
            <a:endParaRPr sz="2100" dirty="0">
              <a:latin typeface="Courier New"/>
              <a:cs typeface="Courier New"/>
            </a:endParaRPr>
          </a:p>
          <a:p>
            <a:pPr marR="2627630" algn="r">
              <a:lnSpc>
                <a:spcPts val="2510"/>
              </a:lnSpc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21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Purchase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T2</a:t>
            </a:r>
            <a:endParaRPr sz="2100" dirty="0">
              <a:latin typeface="Courier New"/>
              <a:cs typeface="Courier New"/>
            </a:endParaRPr>
          </a:p>
          <a:p>
            <a:pPr marL="3606800">
              <a:lnSpc>
                <a:spcPct val="100000"/>
              </a:lnSpc>
              <a:spcBef>
                <a:spcPts val="7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T2.price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&lt;=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 1000)</a:t>
            </a:r>
            <a:endParaRPr sz="21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1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Step</a:t>
            </a:r>
            <a:r>
              <a:rPr sz="2100" u="sng" spc="3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 </a:t>
            </a:r>
            <a:r>
              <a:rPr sz="21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2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: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all</a:t>
            </a:r>
            <a:r>
              <a:rPr sz="21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purchase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&gt;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1000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7900" y="5298440"/>
            <a:ext cx="24511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spc="-4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DISTINCT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3475" y="5298440"/>
            <a:ext cx="4236085" cy="67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T1.name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T1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NATURAL</a:t>
            </a:r>
            <a:r>
              <a:rPr sz="21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JOIN</a:t>
            </a:r>
            <a:r>
              <a:rPr sz="21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Purchase</a:t>
            </a:r>
            <a:r>
              <a:rPr sz="21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P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7900" y="5627623"/>
            <a:ext cx="2125980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5080">
              <a:lnSpc>
                <a:spcPct val="103800"/>
              </a:lnSpc>
              <a:spcBef>
                <a:spcPts val="5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2100" spc="-6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Customer </a:t>
            </a:r>
            <a:r>
              <a:rPr sz="2100" spc="-12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13261" y="5959855"/>
            <a:ext cx="55397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T1.custId</a:t>
            </a:r>
            <a:r>
              <a:rPr sz="21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NOT</a:t>
            </a:r>
            <a:r>
              <a:rPr sz="2100" spc="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Courier New"/>
                <a:cs typeface="Courier New"/>
              </a:rPr>
              <a:t>IN</a:t>
            </a:r>
            <a:r>
              <a:rPr sz="2100" spc="3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spc="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T2.custId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52141" y="6276847"/>
            <a:ext cx="18008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Purchase</a:t>
            </a:r>
            <a:r>
              <a:rPr sz="2100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T2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39341" y="6276847"/>
            <a:ext cx="3751579" cy="67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T2.price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&lt;=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 1000)</a:t>
            </a:r>
            <a:endParaRPr sz="2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9443" y="4243453"/>
            <a:ext cx="9500235" cy="2931795"/>
          </a:xfrm>
          <a:custGeom>
            <a:avLst/>
            <a:gdLst/>
            <a:ahLst/>
            <a:cxnLst/>
            <a:rect l="l" t="t" r="r" b="b"/>
            <a:pathLst>
              <a:path w="9500235" h="2931795">
                <a:moveTo>
                  <a:pt x="0" y="0"/>
                </a:moveTo>
                <a:lnTo>
                  <a:pt x="9500006" y="0"/>
                </a:lnTo>
                <a:lnTo>
                  <a:pt x="9500006" y="2931341"/>
                </a:lnTo>
                <a:lnTo>
                  <a:pt x="0" y="2931341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0059" y="361188"/>
            <a:ext cx="910082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80" dirty="0"/>
              <a:t>Universal</a:t>
            </a:r>
            <a:r>
              <a:rPr sz="3800" spc="-215" dirty="0"/>
              <a:t> </a:t>
            </a:r>
            <a:r>
              <a:rPr sz="3800" spc="-80" dirty="0"/>
              <a:t>Quantifier</a:t>
            </a:r>
            <a:r>
              <a:rPr sz="3800" spc="-200" dirty="0"/>
              <a:t> </a:t>
            </a:r>
            <a:r>
              <a:rPr sz="3800" spc="-60" dirty="0"/>
              <a:t>(NOT</a:t>
            </a:r>
            <a:r>
              <a:rPr sz="3800" spc="-195" dirty="0"/>
              <a:t> </a:t>
            </a:r>
            <a:r>
              <a:rPr sz="3800" spc="-80" dirty="0"/>
              <a:t>EXISTS)</a:t>
            </a:r>
            <a:endParaRPr sz="3800"/>
          </a:p>
        </p:txBody>
      </p:sp>
      <p:sp>
        <p:nvSpPr>
          <p:cNvPr id="4" name="object 4"/>
          <p:cNvSpPr txBox="1"/>
          <p:nvPr/>
        </p:nvSpPr>
        <p:spPr>
          <a:xfrm>
            <a:off x="717638" y="3067303"/>
            <a:ext cx="8651240" cy="67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made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purchases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endParaRPr sz="2100">
              <a:latin typeface="Verdana"/>
              <a:cs typeface="Verdana"/>
            </a:endParaRPr>
          </a:p>
          <a:p>
            <a:pPr marL="328930" indent="-316865">
              <a:lnSpc>
                <a:spcPct val="100000"/>
              </a:lnSpc>
              <a:spcBef>
                <a:spcPts val="70"/>
              </a:spcBef>
              <a:buChar char="&gt;"/>
              <a:tabLst>
                <a:tab pos="329565" algn="l"/>
              </a:tabLst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$1000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only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6853" y="1159763"/>
            <a:ext cx="3877945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Product(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name,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cid)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Company(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cname,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city)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6853" y="1885188"/>
            <a:ext cx="3568065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Customer(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custId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name, 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Purchase(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purchase_date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0918" y="1885188"/>
            <a:ext cx="4648200" cy="7632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city)</a:t>
            </a:r>
            <a:endParaRPr sz="2000">
              <a:latin typeface="Courier New"/>
              <a:cs typeface="Courier New"/>
            </a:endParaRPr>
          </a:p>
          <a:p>
            <a:pPr marL="166370">
              <a:lnSpc>
                <a:spcPct val="100000"/>
              </a:lnSpc>
              <a:spcBef>
                <a:spcPts val="505"/>
              </a:spcBef>
            </a:pP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custId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quantity,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price)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6226" y="4530344"/>
            <a:ext cx="24511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spc="-4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DISTINCT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09656" y="4859528"/>
            <a:ext cx="6502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JOIN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22320" y="4859528"/>
            <a:ext cx="13131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purchase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6226" y="4859528"/>
            <a:ext cx="2613660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5080">
              <a:lnSpc>
                <a:spcPct val="103800"/>
              </a:lnSpc>
              <a:spcBef>
                <a:spcPts val="5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Customer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 </a:t>
            </a:r>
            <a:r>
              <a:rPr sz="2100" spc="-12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2100" spc="-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NOT</a:t>
            </a:r>
            <a:r>
              <a:rPr sz="2100" spc="-1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EXISTS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46920" y="4530344"/>
            <a:ext cx="1623695" cy="100711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61925" indent="-162560">
              <a:lnSpc>
                <a:spcPct val="103299"/>
              </a:lnSpc>
              <a:spcBef>
                <a:spcPts val="15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T1.name 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NATURAL </a:t>
            </a:r>
            <a:r>
              <a:rPr sz="21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spc="-4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*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85106" y="5508752"/>
            <a:ext cx="18008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purchase</a:t>
            </a:r>
            <a:r>
              <a:rPr sz="2100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T2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72306" y="5508752"/>
            <a:ext cx="825500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R="5080">
              <a:lnSpc>
                <a:spcPct val="102899"/>
              </a:lnSpc>
              <a:spcBef>
                <a:spcPts val="25"/>
              </a:spcBef>
            </a:pP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FROM </a:t>
            </a:r>
            <a:r>
              <a:rPr sz="2100" spc="-125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47666" y="5837935"/>
            <a:ext cx="1475740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R="5080">
              <a:lnSpc>
                <a:spcPct val="102899"/>
              </a:lnSpc>
              <a:spcBef>
                <a:spcPts val="25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T1.custId  T2.price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10440" y="5837935"/>
            <a:ext cx="2613660" cy="67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=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T2.custId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AND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&lt;=</a:t>
            </a:r>
            <a:r>
              <a:rPr sz="2100" spc="-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1000)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98569" y="5832786"/>
            <a:ext cx="1785620" cy="446405"/>
          </a:xfrm>
          <a:custGeom>
            <a:avLst/>
            <a:gdLst/>
            <a:ahLst/>
            <a:cxnLst/>
            <a:rect l="l" t="t" r="r" b="b"/>
            <a:pathLst>
              <a:path w="1785620" h="446404">
                <a:moveTo>
                  <a:pt x="0" y="223175"/>
                </a:moveTo>
                <a:lnTo>
                  <a:pt x="25944" y="169543"/>
                </a:lnTo>
                <a:lnTo>
                  <a:pt x="70152" y="136305"/>
                </a:lnTo>
                <a:lnTo>
                  <a:pt x="133747" y="105616"/>
                </a:lnTo>
                <a:lnTo>
                  <a:pt x="172239" y="91370"/>
                </a:lnTo>
                <a:lnTo>
                  <a:pt x="214889" y="77935"/>
                </a:lnTo>
                <a:lnTo>
                  <a:pt x="261466" y="65366"/>
                </a:lnTo>
                <a:lnTo>
                  <a:pt x="311741" y="53722"/>
                </a:lnTo>
                <a:lnTo>
                  <a:pt x="365483" y="43059"/>
                </a:lnTo>
                <a:lnTo>
                  <a:pt x="422464" y="33436"/>
                </a:lnTo>
                <a:lnTo>
                  <a:pt x="482453" y="24910"/>
                </a:lnTo>
                <a:lnTo>
                  <a:pt x="545222" y="17538"/>
                </a:lnTo>
                <a:lnTo>
                  <a:pt x="610539" y="11377"/>
                </a:lnTo>
                <a:lnTo>
                  <a:pt x="678175" y="6486"/>
                </a:lnTo>
                <a:lnTo>
                  <a:pt x="747900" y="2920"/>
                </a:lnTo>
                <a:lnTo>
                  <a:pt x="819486" y="739"/>
                </a:lnTo>
                <a:lnTo>
                  <a:pt x="892701" y="0"/>
                </a:lnTo>
                <a:lnTo>
                  <a:pt x="965917" y="739"/>
                </a:lnTo>
                <a:lnTo>
                  <a:pt x="1037502" y="2920"/>
                </a:lnTo>
                <a:lnTo>
                  <a:pt x="1107228" y="6486"/>
                </a:lnTo>
                <a:lnTo>
                  <a:pt x="1174864" y="11377"/>
                </a:lnTo>
                <a:lnTo>
                  <a:pt x="1240181" y="17538"/>
                </a:lnTo>
                <a:lnTo>
                  <a:pt x="1302949" y="24910"/>
                </a:lnTo>
                <a:lnTo>
                  <a:pt x="1362938" y="33436"/>
                </a:lnTo>
                <a:lnTo>
                  <a:pt x="1419919" y="43059"/>
                </a:lnTo>
                <a:lnTo>
                  <a:pt x="1473662" y="53722"/>
                </a:lnTo>
                <a:lnTo>
                  <a:pt x="1523937" y="65366"/>
                </a:lnTo>
                <a:lnTo>
                  <a:pt x="1570514" y="77935"/>
                </a:lnTo>
                <a:lnTo>
                  <a:pt x="1613163" y="91370"/>
                </a:lnTo>
                <a:lnTo>
                  <a:pt x="1651656" y="105616"/>
                </a:lnTo>
                <a:lnTo>
                  <a:pt x="1715250" y="136305"/>
                </a:lnTo>
                <a:lnTo>
                  <a:pt x="1759459" y="169543"/>
                </a:lnTo>
                <a:lnTo>
                  <a:pt x="1782444" y="204871"/>
                </a:lnTo>
                <a:lnTo>
                  <a:pt x="1785403" y="223175"/>
                </a:lnTo>
                <a:lnTo>
                  <a:pt x="1782444" y="241479"/>
                </a:lnTo>
                <a:lnTo>
                  <a:pt x="1759459" y="276807"/>
                </a:lnTo>
                <a:lnTo>
                  <a:pt x="1715250" y="310045"/>
                </a:lnTo>
                <a:lnTo>
                  <a:pt x="1651656" y="340734"/>
                </a:lnTo>
                <a:lnTo>
                  <a:pt x="1613163" y="354980"/>
                </a:lnTo>
                <a:lnTo>
                  <a:pt x="1570514" y="368415"/>
                </a:lnTo>
                <a:lnTo>
                  <a:pt x="1523937" y="380984"/>
                </a:lnTo>
                <a:lnTo>
                  <a:pt x="1473662" y="392628"/>
                </a:lnTo>
                <a:lnTo>
                  <a:pt x="1419919" y="403291"/>
                </a:lnTo>
                <a:lnTo>
                  <a:pt x="1362938" y="412914"/>
                </a:lnTo>
                <a:lnTo>
                  <a:pt x="1302949" y="421440"/>
                </a:lnTo>
                <a:lnTo>
                  <a:pt x="1240181" y="428812"/>
                </a:lnTo>
                <a:lnTo>
                  <a:pt x="1174864" y="434973"/>
                </a:lnTo>
                <a:lnTo>
                  <a:pt x="1107228" y="439864"/>
                </a:lnTo>
                <a:lnTo>
                  <a:pt x="1037502" y="443429"/>
                </a:lnTo>
                <a:lnTo>
                  <a:pt x="965917" y="445611"/>
                </a:lnTo>
                <a:lnTo>
                  <a:pt x="892701" y="446350"/>
                </a:lnTo>
                <a:lnTo>
                  <a:pt x="819486" y="445611"/>
                </a:lnTo>
                <a:lnTo>
                  <a:pt x="747900" y="443429"/>
                </a:lnTo>
                <a:lnTo>
                  <a:pt x="678175" y="439864"/>
                </a:lnTo>
                <a:lnTo>
                  <a:pt x="610539" y="434973"/>
                </a:lnTo>
                <a:lnTo>
                  <a:pt x="545222" y="428812"/>
                </a:lnTo>
                <a:lnTo>
                  <a:pt x="482453" y="421440"/>
                </a:lnTo>
                <a:lnTo>
                  <a:pt x="422464" y="412914"/>
                </a:lnTo>
                <a:lnTo>
                  <a:pt x="365483" y="403291"/>
                </a:lnTo>
                <a:lnTo>
                  <a:pt x="311741" y="392628"/>
                </a:lnTo>
                <a:lnTo>
                  <a:pt x="261466" y="380984"/>
                </a:lnTo>
                <a:lnTo>
                  <a:pt x="214889" y="368415"/>
                </a:lnTo>
                <a:lnTo>
                  <a:pt x="172239" y="354980"/>
                </a:lnTo>
                <a:lnTo>
                  <a:pt x="133747" y="340734"/>
                </a:lnTo>
                <a:lnTo>
                  <a:pt x="70152" y="310045"/>
                </a:lnTo>
                <a:lnTo>
                  <a:pt x="25944" y="276807"/>
                </a:lnTo>
                <a:lnTo>
                  <a:pt x="2959" y="241479"/>
                </a:lnTo>
                <a:lnTo>
                  <a:pt x="0" y="223175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269377" y="1183298"/>
            <a:ext cx="1570990" cy="318770"/>
          </a:xfrm>
          <a:prstGeom prst="rect">
            <a:avLst/>
          </a:prstGeom>
          <a:ln w="10159">
            <a:solidFill>
              <a:srgbClr val="7F7F7F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44145">
              <a:lnSpc>
                <a:spcPct val="100000"/>
              </a:lnSpc>
              <a:spcBef>
                <a:spcPts val="215"/>
              </a:spcBef>
            </a:pPr>
            <a:r>
              <a:rPr sz="1700" dirty="0">
                <a:solidFill>
                  <a:srgbClr val="57576E"/>
                </a:solidFill>
                <a:latin typeface="Verdana"/>
                <a:cs typeface="Verdana"/>
              </a:rPr>
              <a:t>Solution</a:t>
            </a:r>
            <a:r>
              <a:rPr sz="1700" spc="-45" dirty="0">
                <a:solidFill>
                  <a:srgbClr val="57576E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57576E"/>
                </a:solidFill>
                <a:latin typeface="Verdana"/>
                <a:cs typeface="Verdana"/>
              </a:rPr>
              <a:t>#2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9443" y="4243453"/>
            <a:ext cx="9500235" cy="2931795"/>
          </a:xfrm>
          <a:custGeom>
            <a:avLst/>
            <a:gdLst/>
            <a:ahLst/>
            <a:cxnLst/>
            <a:rect l="l" t="t" r="r" b="b"/>
            <a:pathLst>
              <a:path w="9500235" h="2931795">
                <a:moveTo>
                  <a:pt x="0" y="0"/>
                </a:moveTo>
                <a:lnTo>
                  <a:pt x="9500006" y="0"/>
                </a:lnTo>
                <a:lnTo>
                  <a:pt x="9500006" y="2931341"/>
                </a:lnTo>
                <a:lnTo>
                  <a:pt x="0" y="2931341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9443" y="130260"/>
            <a:ext cx="7690484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U</a:t>
            </a:r>
            <a:r>
              <a:rPr spc="-130" dirty="0"/>
              <a:t>n</a:t>
            </a:r>
            <a:r>
              <a:rPr spc="-125" dirty="0"/>
              <a:t>i</a:t>
            </a:r>
            <a:r>
              <a:rPr spc="-130" dirty="0"/>
              <a:t>v</a:t>
            </a:r>
            <a:r>
              <a:rPr spc="-125" dirty="0"/>
              <a:t>ers</a:t>
            </a:r>
            <a:r>
              <a:rPr spc="-130" dirty="0"/>
              <a:t>a</a:t>
            </a:r>
            <a:r>
              <a:rPr dirty="0"/>
              <a:t>l</a:t>
            </a:r>
            <a:r>
              <a:rPr spc="-245" dirty="0"/>
              <a:t> </a:t>
            </a:r>
            <a:r>
              <a:rPr spc="-140" dirty="0"/>
              <a:t>Q</a:t>
            </a:r>
            <a:r>
              <a:rPr spc="-130" dirty="0"/>
              <a:t>uan</a:t>
            </a:r>
            <a:r>
              <a:rPr spc="-120" dirty="0"/>
              <a:t>t</a:t>
            </a:r>
            <a:r>
              <a:rPr spc="-125" dirty="0"/>
              <a:t>ifie</a:t>
            </a:r>
            <a:r>
              <a:rPr dirty="0"/>
              <a:t>r</a:t>
            </a:r>
            <a:r>
              <a:rPr spc="-250" dirty="0"/>
              <a:t> </a:t>
            </a:r>
            <a:r>
              <a:rPr spc="-125" dirty="0"/>
              <a:t>(</a:t>
            </a:r>
            <a:r>
              <a:rPr spc="-140" dirty="0"/>
              <a:t>A</a:t>
            </a:r>
            <a:r>
              <a:rPr spc="-130" dirty="0"/>
              <a:t>LL</a:t>
            </a:r>
            <a:r>
              <a:rPr dirty="0"/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7638" y="3067303"/>
            <a:ext cx="8651240" cy="67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names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made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purchases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endParaRPr sz="2100">
              <a:latin typeface="Verdana"/>
              <a:cs typeface="Verdana"/>
            </a:endParaRPr>
          </a:p>
          <a:p>
            <a:pPr marL="328930" indent="-316865">
              <a:lnSpc>
                <a:spcPct val="100000"/>
              </a:lnSpc>
              <a:spcBef>
                <a:spcPts val="70"/>
              </a:spcBef>
              <a:buChar char="&gt;"/>
              <a:tabLst>
                <a:tab pos="329565" algn="l"/>
              </a:tabLst>
            </a:pP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$1000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C00000"/>
                </a:solidFill>
                <a:latin typeface="Verdana"/>
                <a:cs typeface="Verdana"/>
              </a:rPr>
              <a:t>only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6853" y="1159763"/>
            <a:ext cx="3877945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Product(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name,</a:t>
            </a:r>
            <a:r>
              <a:rPr sz="2000" spc="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cid)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Company(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cname,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city)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6853" y="1885188"/>
            <a:ext cx="3568065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Customer(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custId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 name, 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Purchase(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purchase_date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0918" y="1885188"/>
            <a:ext cx="4648200" cy="7632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city)</a:t>
            </a:r>
            <a:endParaRPr sz="2000">
              <a:latin typeface="Courier New"/>
              <a:cs typeface="Courier New"/>
            </a:endParaRPr>
          </a:p>
          <a:p>
            <a:pPr marL="166370">
              <a:lnSpc>
                <a:spcPct val="100000"/>
              </a:lnSpc>
              <a:spcBef>
                <a:spcPts val="505"/>
              </a:spcBef>
            </a:pP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pid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u="sng" spc="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custId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Courier New"/>
                <a:cs typeface="Courier New"/>
              </a:rPr>
              <a:t>quantity,</a:t>
            </a:r>
            <a:r>
              <a:rPr sz="20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Courier New"/>
                <a:cs typeface="Courier New"/>
              </a:rPr>
              <a:t>price)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6226" y="4530344"/>
            <a:ext cx="24511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spc="-4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DISTINCT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21800" y="4530344"/>
            <a:ext cx="3914140" cy="67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T1.name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T1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 NATURAL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JOIN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Purchase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6226" y="4859528"/>
            <a:ext cx="2125980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R="5080">
              <a:lnSpc>
                <a:spcPct val="103800"/>
              </a:lnSpc>
              <a:spcBef>
                <a:spcPts val="5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r>
              <a:rPr sz="2100" spc="-6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Customer </a:t>
            </a:r>
            <a:r>
              <a:rPr sz="2100" spc="-12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2100" spc="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1000</a:t>
            </a:r>
            <a:r>
              <a:rPr sz="21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&lt;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59506" y="5191759"/>
            <a:ext cx="32639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ALL</a:t>
            </a:r>
            <a:r>
              <a:rPr sz="2100" spc="-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(</a:t>
            </a: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SELECT</a:t>
            </a:r>
            <a:r>
              <a:rPr sz="210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T2.price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85106" y="5508752"/>
            <a:ext cx="18008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purchase</a:t>
            </a:r>
            <a:r>
              <a:rPr sz="2100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T2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72306" y="5508752"/>
            <a:ext cx="4564380" cy="67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FROM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2100" spc="10" dirty="0">
                <a:solidFill>
                  <a:srgbClr val="C00000"/>
                </a:solidFill>
                <a:latin typeface="Courier New"/>
                <a:cs typeface="Courier New"/>
              </a:rPr>
              <a:t>WHERE</a:t>
            </a:r>
            <a:r>
              <a:rPr sz="2100" spc="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T1.custId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2100" spc="15" dirty="0">
                <a:solidFill>
                  <a:srgbClr val="292934"/>
                </a:solidFill>
                <a:latin typeface="Courier New"/>
                <a:cs typeface="Courier New"/>
              </a:rPr>
              <a:t> T2.custId)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715100" y="5849317"/>
            <a:ext cx="1785620" cy="446405"/>
          </a:xfrm>
          <a:custGeom>
            <a:avLst/>
            <a:gdLst/>
            <a:ahLst/>
            <a:cxnLst/>
            <a:rect l="l" t="t" r="r" b="b"/>
            <a:pathLst>
              <a:path w="1785620" h="446404">
                <a:moveTo>
                  <a:pt x="0" y="223175"/>
                </a:moveTo>
                <a:lnTo>
                  <a:pt x="25944" y="169543"/>
                </a:lnTo>
                <a:lnTo>
                  <a:pt x="70152" y="136305"/>
                </a:lnTo>
                <a:lnTo>
                  <a:pt x="133747" y="105616"/>
                </a:lnTo>
                <a:lnTo>
                  <a:pt x="172239" y="91370"/>
                </a:lnTo>
                <a:lnTo>
                  <a:pt x="214889" y="77935"/>
                </a:lnTo>
                <a:lnTo>
                  <a:pt x="261466" y="65366"/>
                </a:lnTo>
                <a:lnTo>
                  <a:pt x="311741" y="53722"/>
                </a:lnTo>
                <a:lnTo>
                  <a:pt x="365483" y="43059"/>
                </a:lnTo>
                <a:lnTo>
                  <a:pt x="422464" y="33436"/>
                </a:lnTo>
                <a:lnTo>
                  <a:pt x="482453" y="24910"/>
                </a:lnTo>
                <a:lnTo>
                  <a:pt x="545222" y="17538"/>
                </a:lnTo>
                <a:lnTo>
                  <a:pt x="610539" y="11377"/>
                </a:lnTo>
                <a:lnTo>
                  <a:pt x="678175" y="6486"/>
                </a:lnTo>
                <a:lnTo>
                  <a:pt x="747900" y="2920"/>
                </a:lnTo>
                <a:lnTo>
                  <a:pt x="819486" y="739"/>
                </a:lnTo>
                <a:lnTo>
                  <a:pt x="892701" y="0"/>
                </a:lnTo>
                <a:lnTo>
                  <a:pt x="965917" y="739"/>
                </a:lnTo>
                <a:lnTo>
                  <a:pt x="1037502" y="2920"/>
                </a:lnTo>
                <a:lnTo>
                  <a:pt x="1107228" y="6486"/>
                </a:lnTo>
                <a:lnTo>
                  <a:pt x="1174864" y="11377"/>
                </a:lnTo>
                <a:lnTo>
                  <a:pt x="1240181" y="17538"/>
                </a:lnTo>
                <a:lnTo>
                  <a:pt x="1302949" y="24910"/>
                </a:lnTo>
                <a:lnTo>
                  <a:pt x="1362938" y="33436"/>
                </a:lnTo>
                <a:lnTo>
                  <a:pt x="1419919" y="43059"/>
                </a:lnTo>
                <a:lnTo>
                  <a:pt x="1473662" y="53722"/>
                </a:lnTo>
                <a:lnTo>
                  <a:pt x="1523937" y="65366"/>
                </a:lnTo>
                <a:lnTo>
                  <a:pt x="1570514" y="77935"/>
                </a:lnTo>
                <a:lnTo>
                  <a:pt x="1613163" y="91370"/>
                </a:lnTo>
                <a:lnTo>
                  <a:pt x="1651656" y="105616"/>
                </a:lnTo>
                <a:lnTo>
                  <a:pt x="1715250" y="136305"/>
                </a:lnTo>
                <a:lnTo>
                  <a:pt x="1759459" y="169543"/>
                </a:lnTo>
                <a:lnTo>
                  <a:pt x="1782444" y="204871"/>
                </a:lnTo>
                <a:lnTo>
                  <a:pt x="1785403" y="223175"/>
                </a:lnTo>
                <a:lnTo>
                  <a:pt x="1782444" y="241479"/>
                </a:lnTo>
                <a:lnTo>
                  <a:pt x="1759459" y="276807"/>
                </a:lnTo>
                <a:lnTo>
                  <a:pt x="1715250" y="310045"/>
                </a:lnTo>
                <a:lnTo>
                  <a:pt x="1651656" y="340734"/>
                </a:lnTo>
                <a:lnTo>
                  <a:pt x="1613163" y="354980"/>
                </a:lnTo>
                <a:lnTo>
                  <a:pt x="1570514" y="368415"/>
                </a:lnTo>
                <a:lnTo>
                  <a:pt x="1523937" y="380984"/>
                </a:lnTo>
                <a:lnTo>
                  <a:pt x="1473662" y="392628"/>
                </a:lnTo>
                <a:lnTo>
                  <a:pt x="1419919" y="403291"/>
                </a:lnTo>
                <a:lnTo>
                  <a:pt x="1362938" y="412914"/>
                </a:lnTo>
                <a:lnTo>
                  <a:pt x="1302949" y="421440"/>
                </a:lnTo>
                <a:lnTo>
                  <a:pt x="1240181" y="428812"/>
                </a:lnTo>
                <a:lnTo>
                  <a:pt x="1174864" y="434973"/>
                </a:lnTo>
                <a:lnTo>
                  <a:pt x="1107228" y="439864"/>
                </a:lnTo>
                <a:lnTo>
                  <a:pt x="1037502" y="443429"/>
                </a:lnTo>
                <a:lnTo>
                  <a:pt x="965917" y="445611"/>
                </a:lnTo>
                <a:lnTo>
                  <a:pt x="892701" y="446350"/>
                </a:lnTo>
                <a:lnTo>
                  <a:pt x="819486" y="445611"/>
                </a:lnTo>
                <a:lnTo>
                  <a:pt x="747900" y="443429"/>
                </a:lnTo>
                <a:lnTo>
                  <a:pt x="678175" y="439864"/>
                </a:lnTo>
                <a:lnTo>
                  <a:pt x="610539" y="434973"/>
                </a:lnTo>
                <a:lnTo>
                  <a:pt x="545222" y="428812"/>
                </a:lnTo>
                <a:lnTo>
                  <a:pt x="482453" y="421440"/>
                </a:lnTo>
                <a:lnTo>
                  <a:pt x="422464" y="412914"/>
                </a:lnTo>
                <a:lnTo>
                  <a:pt x="365483" y="403291"/>
                </a:lnTo>
                <a:lnTo>
                  <a:pt x="311741" y="392628"/>
                </a:lnTo>
                <a:lnTo>
                  <a:pt x="261466" y="380984"/>
                </a:lnTo>
                <a:lnTo>
                  <a:pt x="214889" y="368415"/>
                </a:lnTo>
                <a:lnTo>
                  <a:pt x="172239" y="354980"/>
                </a:lnTo>
                <a:lnTo>
                  <a:pt x="133747" y="340734"/>
                </a:lnTo>
                <a:lnTo>
                  <a:pt x="70152" y="310045"/>
                </a:lnTo>
                <a:lnTo>
                  <a:pt x="25944" y="276807"/>
                </a:lnTo>
                <a:lnTo>
                  <a:pt x="2959" y="241479"/>
                </a:lnTo>
                <a:lnTo>
                  <a:pt x="0" y="223175"/>
                </a:lnTo>
                <a:close/>
              </a:path>
            </a:pathLst>
          </a:custGeom>
          <a:ln w="2818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269377" y="1183298"/>
            <a:ext cx="1570990" cy="318770"/>
          </a:xfrm>
          <a:prstGeom prst="rect">
            <a:avLst/>
          </a:prstGeom>
          <a:ln w="10159">
            <a:solidFill>
              <a:srgbClr val="7F7F7F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144145">
              <a:lnSpc>
                <a:spcPct val="100000"/>
              </a:lnSpc>
              <a:spcBef>
                <a:spcPts val="215"/>
              </a:spcBef>
            </a:pPr>
            <a:r>
              <a:rPr sz="1700" dirty="0">
                <a:solidFill>
                  <a:srgbClr val="57576E"/>
                </a:solidFill>
                <a:latin typeface="Verdana"/>
                <a:cs typeface="Verdana"/>
              </a:rPr>
              <a:t>Solution</a:t>
            </a:r>
            <a:r>
              <a:rPr sz="1700" spc="-45" dirty="0">
                <a:solidFill>
                  <a:srgbClr val="57576E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57576E"/>
                </a:solidFill>
                <a:latin typeface="Verdana"/>
                <a:cs typeface="Verdana"/>
              </a:rPr>
              <a:t>#3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2633" y="319023"/>
            <a:ext cx="26365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Wrap-Up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169" y="1174495"/>
            <a:ext cx="6256655" cy="406146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265"/>
              </a:spcBef>
              <a:buSzPct val="95238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Subqueries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WHERE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70"/>
              </a:spcBef>
              <a:buSzPct val="95238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Internal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interpretation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nested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queries</a:t>
            </a:r>
            <a:endParaRPr sz="210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70"/>
              </a:spcBef>
              <a:buSzPct val="95238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ways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express queries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92934"/>
              </a:buClr>
              <a:buFont typeface="Arial MT"/>
              <a:buChar char="•"/>
            </a:pPr>
            <a:endParaRPr sz="2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endParaRPr sz="2300">
              <a:latin typeface="Verdana"/>
              <a:cs typeface="Verdana"/>
            </a:endParaRPr>
          </a:p>
          <a:p>
            <a:pPr marL="503555" lvl="1" indent="-246379">
              <a:lnSpc>
                <a:spcPct val="100000"/>
              </a:lnSpc>
              <a:spcBef>
                <a:spcPts val="465"/>
              </a:spcBef>
              <a:buSzPct val="95238"/>
              <a:buFont typeface="Arial MT"/>
              <a:buChar char="•"/>
              <a:tabLst>
                <a:tab pos="503555" algn="l"/>
                <a:tab pos="504190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Avoid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nested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queries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aiming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speed</a:t>
            </a:r>
            <a:endParaRPr sz="2100">
              <a:latin typeface="Verdana"/>
              <a:cs typeface="Verdana"/>
            </a:endParaRPr>
          </a:p>
          <a:p>
            <a:pPr marL="503555" lvl="1" indent="-246379">
              <a:lnSpc>
                <a:spcPct val="100000"/>
              </a:lnSpc>
              <a:spcBef>
                <a:spcPts val="385"/>
              </a:spcBef>
              <a:buSzPct val="95238"/>
              <a:buFont typeface="Arial MT"/>
              <a:buChar char="•"/>
              <a:tabLst>
                <a:tab pos="503555" algn="l"/>
                <a:tab pos="504190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careful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semantics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nested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queries</a:t>
            </a:r>
            <a:endParaRPr sz="2100">
              <a:latin typeface="Verdana"/>
              <a:cs typeface="Verdana"/>
            </a:endParaRPr>
          </a:p>
          <a:p>
            <a:pPr marL="1003300" lvl="2" indent="-247650">
              <a:lnSpc>
                <a:spcPct val="100000"/>
              </a:lnSpc>
              <a:spcBef>
                <a:spcPts val="265"/>
              </a:spcBef>
              <a:buSzPct val="95000"/>
              <a:buFont typeface="Arial MT"/>
              <a:buChar char="•"/>
              <a:tabLst>
                <a:tab pos="1003300" algn="l"/>
                <a:tab pos="1003935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Correlated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vs.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Uncorrelated</a:t>
            </a:r>
            <a:endParaRPr sz="20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spcBef>
                <a:spcPts val="55"/>
              </a:spcBef>
              <a:buClr>
                <a:srgbClr val="292934"/>
              </a:buClr>
              <a:buFont typeface="Arial MT"/>
              <a:buChar char="•"/>
            </a:pPr>
            <a:endParaRPr sz="2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What’s</a:t>
            </a:r>
            <a:r>
              <a:rPr sz="2300" b="1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20" dirty="0">
                <a:solidFill>
                  <a:srgbClr val="292934"/>
                </a:solidFill>
                <a:latin typeface="Verdana"/>
                <a:cs typeface="Verdana"/>
              </a:rPr>
              <a:t>next?</a:t>
            </a:r>
            <a:endParaRPr sz="2300">
              <a:latin typeface="Verdana"/>
              <a:cs typeface="Verdana"/>
            </a:endParaRPr>
          </a:p>
          <a:p>
            <a:pPr marL="503555" lvl="1" indent="-246379">
              <a:lnSpc>
                <a:spcPct val="100000"/>
              </a:lnSpc>
              <a:spcBef>
                <a:spcPts val="250"/>
              </a:spcBef>
              <a:buSzPct val="95238"/>
              <a:buFont typeface="Arial MT"/>
              <a:buChar char="•"/>
              <a:tabLst>
                <a:tab pos="503555" algn="l"/>
                <a:tab pos="504190" algn="l"/>
              </a:tabLst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Advanced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SQL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8076</TotalTime>
  <Words>1429</Words>
  <Application>Microsoft Macintosh PowerPoint</Application>
  <PresentationFormat>Custom</PresentationFormat>
  <Paragraphs>230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MS UI Gothic</vt:lpstr>
      <vt:lpstr>Arial</vt:lpstr>
      <vt:lpstr>Arial MT</vt:lpstr>
      <vt:lpstr>Calibri</vt:lpstr>
      <vt:lpstr>Calibri Light</vt:lpstr>
      <vt:lpstr>Courier New</vt:lpstr>
      <vt:lpstr>Lato</vt:lpstr>
      <vt:lpstr>Times New Roman</vt:lpstr>
      <vt:lpstr>Verdana</vt:lpstr>
      <vt:lpstr>Office Theme</vt:lpstr>
      <vt:lpstr>SQL – Subqueries  in WHERE Clause  and Quantifiers</vt:lpstr>
      <vt:lpstr>Course Update</vt:lpstr>
      <vt:lpstr>Course Announcements</vt:lpstr>
      <vt:lpstr>Return a single value or a relation that can be compared to  another value in a WHERE clause</vt:lpstr>
      <vt:lpstr>Subqueries in WHERE</vt:lpstr>
      <vt:lpstr>Subqueries in WHERE</vt:lpstr>
      <vt:lpstr>Existential Quantifier (EXISTS)</vt:lpstr>
      <vt:lpstr>Existential Quantifier (IN)</vt:lpstr>
      <vt:lpstr>IN and Set Membership</vt:lpstr>
      <vt:lpstr>Existential Quantifier</vt:lpstr>
      <vt:lpstr>Existential Quantifier (ANY)</vt:lpstr>
      <vt:lpstr>Universal Quantifier</vt:lpstr>
      <vt:lpstr>Universal Quantifier (NOT IN)</vt:lpstr>
      <vt:lpstr>Universal Quantifier (NOT IN)</vt:lpstr>
      <vt:lpstr>Universal Quantifier (NOT EXISTS)</vt:lpstr>
      <vt:lpstr>Universal Quantifier (ALL)</vt:lpstr>
      <vt:lpstr>Wrap-Up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4750meet17-SQL-subqueries-where-before-class</dc:title>
  <dc:creator>upsorn</dc:creator>
  <cp:lastModifiedBy>Farhan Tanvir</cp:lastModifiedBy>
  <cp:revision>14</cp:revision>
  <dcterms:created xsi:type="dcterms:W3CDTF">2023-10-22T21:05:19Z</dcterms:created>
  <dcterms:modified xsi:type="dcterms:W3CDTF">2026-03-02T02:09:08Z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2023-09-17T00:00:00Z</vt:filetime>
  </property>
  <property fmtid="{D5CDD505-2E9C-101B-9397-08002B2CF9AE}" pid="3" name="Creator">
    <vt:lpwstr>PowerPoint</vt:lpwstr>
  </property>
  <property fmtid="{D5CDD505-2E9C-101B-9397-08002B2CF9AE}" pid="4" name="LastSaved">
    <vt:filetime>2023-10-22T00:00:00Z</vt:filetime>
  </property>
</Properties>
</file>