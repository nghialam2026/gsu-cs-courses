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94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3" r:id="rId36"/>
    <p:sldId id="290" r:id="rId37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83"/>
    <p:restoredTop sz="94694"/>
  </p:normalViewPr>
  <p:slideViewPr>
    <p:cSldViewPr>
      <p:cViewPr varScale="1">
        <p:scale>
          <a:sx n="107" d="100"/>
          <a:sy n="107" d="100"/>
        </p:scale>
        <p:origin x="1584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04A21-03EF-5FC9-E113-6AE210AED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300" y="1272011"/>
            <a:ext cx="7543800" cy="2705947"/>
          </a:xfrm>
        </p:spPr>
        <p:txBody>
          <a:bodyPr anchor="b"/>
          <a:lstStyle>
            <a:lvl1pPr algn="ctr">
              <a:defRPr sz="49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8F3BB2-2FCE-A4E5-50C9-393EBED08F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1980"/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43D28-4CC0-E715-2038-3D89796A7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839E1-0631-9168-DE97-836071AFA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E25B8-A4E8-13EB-9D97-99BAB296E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596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BDE66-157B-52E4-122A-56953F5F0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8E803-8893-C7CB-AA36-2E57AF6C2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0A84D-D583-1C37-0BB2-64D11EE20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70770-22D6-8CDB-7CB7-496CF0158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18112-8FDA-F162-3EA6-6903BF27D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779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8207F-CBE4-CBFD-C65E-03F151C4F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276" y="1937704"/>
            <a:ext cx="8675370" cy="3233102"/>
          </a:xfrm>
        </p:spPr>
        <p:txBody>
          <a:bodyPr anchor="b"/>
          <a:lstStyle>
            <a:lvl1pPr>
              <a:defRPr sz="49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54009-9F44-DAAC-284A-827BC542A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6276" y="5201392"/>
            <a:ext cx="8675370" cy="1700212"/>
          </a:xfrm>
        </p:spPr>
        <p:txBody>
          <a:bodyPr/>
          <a:lstStyle>
            <a:lvl1pPr marL="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1pPr>
            <a:lvl2pPr marL="377190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E2E33-923B-DF6E-0FAC-D49350D2E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F5EB4-44F8-B8B4-FC1A-0B2C7FDB8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B4534-9F37-A545-AFD2-E8582D700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718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A8B04-BCE3-E6BA-B818-853E400D0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1E4DF-929E-7E56-4800-8C66CEFF94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7423D-01BA-E065-AB36-69AA07CEE2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9FDFE-8410-8B5D-BFD1-7DD19F244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B40C0-BC18-13F2-637D-681F1C435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263B3-93D0-4142-CA61-B51CDB7F2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668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B3F41-D4C1-322E-D505-F03BF2CA7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413809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97BD1-7D97-A27E-E6F1-95EB198C3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FFE7E-9DF8-A65C-1FE7-0BA5CABECF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A79A9E-9E9F-AB2B-DA06-5CC71FC34E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92065" y="1905318"/>
            <a:ext cx="4276130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0041F6-8E02-E396-85C5-A8C9B0BB3E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92065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E4C3E4-4C8D-D418-F203-930F117E7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08F7BC-B7B9-88E0-CC09-C61B3D6F0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456518-548A-8D96-BE5F-77042C353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980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10042-92F0-1FD5-6DCA-FD3321A67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F2FBE9-0DDD-FB99-A48F-0C1E2D90F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0BF16C-87E2-3B42-437E-C6758E952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9D2E3F-E315-4F10-C2F9-45F70A6CA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630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5E8B46-0EA6-C818-53B1-9E53A0213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DC25F9-3867-941D-5086-5E3DB7E3E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198DE-6A25-49D7-4BC6-0FFB5C1E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268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AF536-6C47-7D3D-E113-33927964E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B3EC4-8D9A-ABC7-091F-BB5719AE7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6130" y="1119082"/>
            <a:ext cx="5092065" cy="5523442"/>
          </a:xfrm>
        </p:spPr>
        <p:txBody>
          <a:bodyPr/>
          <a:lstStyle>
            <a:lvl1pPr>
              <a:defRPr sz="2640"/>
            </a:lvl1pPr>
            <a:lvl2pPr>
              <a:defRPr sz="2310"/>
            </a:lvl2pPr>
            <a:lvl3pPr>
              <a:defRPr sz="198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D93E27-62B8-8959-132E-9E95F4CCCF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B4567A-8BFC-D848-6508-61D130769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F6951-CD83-F821-87BD-4FDE0EDAC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8ED3F3-1930-F8D7-7CBB-7DDEAC7C4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246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17FF7-B35A-D33B-1216-3350E542C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9738C5-61BB-CBF6-2466-947B8C5E59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76130" y="1119082"/>
            <a:ext cx="5092065" cy="5523442"/>
          </a:xfrm>
        </p:spPr>
        <p:txBody>
          <a:bodyPr/>
          <a:lstStyle>
            <a:lvl1pPr marL="0" indent="0">
              <a:buNone/>
              <a:defRPr sz="2640"/>
            </a:lvl1pPr>
            <a:lvl2pPr marL="377190" indent="0">
              <a:buNone/>
              <a:defRPr sz="2310"/>
            </a:lvl2pPr>
            <a:lvl3pPr marL="754380" indent="0">
              <a:buNone/>
              <a:defRPr sz="1980"/>
            </a:lvl3pPr>
            <a:lvl4pPr marL="1131570" indent="0">
              <a:buNone/>
              <a:defRPr sz="1650"/>
            </a:lvl4pPr>
            <a:lvl5pPr marL="1508760" indent="0">
              <a:buNone/>
              <a:defRPr sz="1650"/>
            </a:lvl5pPr>
            <a:lvl6pPr marL="1885950" indent="0">
              <a:buNone/>
              <a:defRPr sz="1650"/>
            </a:lvl6pPr>
            <a:lvl7pPr marL="2263140" indent="0">
              <a:buNone/>
              <a:defRPr sz="1650"/>
            </a:lvl7pPr>
            <a:lvl8pPr marL="2640330" indent="0">
              <a:buNone/>
              <a:defRPr sz="1650"/>
            </a:lvl8pPr>
            <a:lvl9pPr marL="3017520" indent="0">
              <a:buNone/>
              <a:defRPr sz="165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1D260-2329-0AAD-F780-D263736877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3F9443-ABF9-3911-AEEA-89E7C9441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1C6916-89A2-0FC7-A825-9C8A2CD6F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65FF9-C1B7-EED2-0C94-5DB6ABED2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454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AAC8D-955C-3BAE-1534-8682BD55F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183B5A-C4AE-874A-AFF0-B97616655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F7CCA-24F0-D590-16D7-7EF81ACB0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50098-0EA2-D734-28AF-7058B3350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74589-3A68-2323-E0A2-E5748862E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496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92791A-F412-F443-D8B6-1F40A35430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198042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93DBE6-4086-6C0A-2488-8668B2D4D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2AF17-6297-A6DC-92EE-42113557D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DE163-7EA9-726A-A4E9-C33E33B95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6DE86-807B-1D01-4180-81524F0FE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4050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rgbClr val="000099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spc="-15" dirty="0"/>
              <a:t>Fall</a:t>
            </a:r>
            <a:r>
              <a:rPr spc="-30" dirty="0"/>
              <a:t> </a:t>
            </a:r>
            <a:r>
              <a:rPr spc="-25" dirty="0"/>
              <a:t>2023</a:t>
            </a:r>
            <a:r>
              <a:rPr spc="-4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spc="-20" dirty="0"/>
              <a:t>University</a:t>
            </a:r>
            <a:r>
              <a:rPr spc="-35" dirty="0"/>
              <a:t> </a:t>
            </a:r>
            <a:r>
              <a:rPr spc="-15" dirty="0"/>
              <a:t>of</a:t>
            </a:r>
            <a:r>
              <a:rPr spc="-30" dirty="0"/>
              <a:t> </a:t>
            </a:r>
            <a:r>
              <a:rPr spc="-15" dirty="0"/>
              <a:t>Virginia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30" dirty="0"/>
              <a:t>©</a:t>
            </a:r>
            <a:r>
              <a:rPr spc="-70" dirty="0"/>
              <a:t> </a:t>
            </a:r>
            <a:r>
              <a:rPr spc="-45" dirty="0"/>
              <a:t>P</a:t>
            </a:r>
            <a:r>
              <a:rPr spc="-30" dirty="0"/>
              <a:t>r</a:t>
            </a:r>
            <a:r>
              <a:rPr spc="-130" dirty="0"/>
              <a:t>a</a:t>
            </a:r>
            <a:r>
              <a:rPr spc="-85" dirty="0"/>
              <a:t>p</a:t>
            </a:r>
            <a:r>
              <a:rPr spc="-75" dirty="0"/>
              <a:t>h</a:t>
            </a:r>
            <a:r>
              <a:rPr spc="-130" dirty="0"/>
              <a:t>a</a:t>
            </a:r>
            <a:r>
              <a:rPr spc="-90" dirty="0"/>
              <a:t>m</a:t>
            </a:r>
            <a:r>
              <a:rPr spc="-10" dirty="0"/>
              <a:t>o</a:t>
            </a:r>
            <a:r>
              <a:rPr spc="-75" dirty="0"/>
              <a:t>n</a:t>
            </a:r>
            <a:r>
              <a:rPr spc="-80" dirty="0"/>
              <a:t>t</a:t>
            </a:r>
            <a:r>
              <a:rPr spc="-5" dirty="0"/>
              <a:t>r</a:t>
            </a:r>
            <a:r>
              <a:rPr spc="-80" dirty="0"/>
              <a:t>i</a:t>
            </a:r>
            <a:r>
              <a:rPr spc="-85" dirty="0"/>
              <a:t>p</a:t>
            </a:r>
            <a:r>
              <a:rPr spc="-10" dirty="0"/>
              <a:t>o</a:t>
            </a:r>
            <a:r>
              <a:rPr spc="-75" dirty="0"/>
              <a:t>n</a:t>
            </a:r>
            <a:r>
              <a:rPr spc="-85" dirty="0"/>
              <a:t>g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29089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42A9BF-EBE5-414B-C0A8-04DD880D7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413809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575B0-4297-719D-8375-85F7A57F8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15C0D-B83A-C973-AB9A-11F9EB6BB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151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7F879-21F7-4811-6312-12F5F3E384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1845" y="7203864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FA8D5-ECF0-FED3-47E6-2C19704242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374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029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dumpty@uva.edu" TargetMode="External"/><Relationship Id="rId2" Type="http://schemas.openxmlformats.org/officeDocument/2006/relationships/hyperlink" Target="mailto:humpty@uva.edu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minnie@uva.edu" TargetMode="External"/><Relationship Id="rId4" Type="http://schemas.openxmlformats.org/officeDocument/2006/relationships/hyperlink" Target="mailto:mickey@uva.edu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dumpty@uva.edu" TargetMode="External"/><Relationship Id="rId2" Type="http://schemas.openxmlformats.org/officeDocument/2006/relationships/hyperlink" Target="mailto:humpty@uva.edu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minnie@uva.edu" TargetMode="External"/><Relationship Id="rId4" Type="http://schemas.openxmlformats.org/officeDocument/2006/relationships/hyperlink" Target="mailto:mickey@uva.edu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dumpty@uva.edu" TargetMode="External"/><Relationship Id="rId2" Type="http://schemas.openxmlformats.org/officeDocument/2006/relationships/hyperlink" Target="mailto:humpty@uva.edu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minnie@uva.edu" TargetMode="External"/><Relationship Id="rId4" Type="http://schemas.openxmlformats.org/officeDocument/2006/relationships/hyperlink" Target="mailto:mickey@uva.edu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dumpty@uva.edu" TargetMode="External"/><Relationship Id="rId2" Type="http://schemas.openxmlformats.org/officeDocument/2006/relationships/hyperlink" Target="mailto:humpty@uva.edu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minnie@uva.edu" TargetMode="External"/><Relationship Id="rId4" Type="http://schemas.openxmlformats.org/officeDocument/2006/relationships/hyperlink" Target="mailto:mickey@uva.edu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dumpty@uva.edu" TargetMode="External"/><Relationship Id="rId2" Type="http://schemas.openxmlformats.org/officeDocument/2006/relationships/hyperlink" Target="mailto:humpty@uva.edu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mailto:minnie@uva.edu" TargetMode="External"/><Relationship Id="rId4" Type="http://schemas.openxmlformats.org/officeDocument/2006/relationships/hyperlink" Target="mailto:mickey@uva.edu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786383" y="3642359"/>
            <a:ext cx="8453120" cy="0"/>
          </a:xfrm>
          <a:custGeom>
            <a:avLst/>
            <a:gdLst/>
            <a:ahLst/>
            <a:cxnLst/>
            <a:rect l="l" t="t" r="r" b="b"/>
            <a:pathLst>
              <a:path w="8453120">
                <a:moveTo>
                  <a:pt x="0" y="0"/>
                </a:moveTo>
                <a:lnTo>
                  <a:pt x="8453119" y="1"/>
                </a:lnTo>
              </a:path>
            </a:pathLst>
          </a:custGeom>
          <a:ln w="40639">
            <a:solidFill>
              <a:srgbClr val="431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86000" y="1744642"/>
            <a:ext cx="8007984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800" spc="-120" dirty="0">
                <a:solidFill>
                  <a:srgbClr val="001279"/>
                </a:solidFill>
              </a:rPr>
              <a:t>Schema</a:t>
            </a:r>
            <a:r>
              <a:rPr sz="5800" spc="-275" dirty="0">
                <a:solidFill>
                  <a:srgbClr val="001279"/>
                </a:solidFill>
              </a:rPr>
              <a:t> </a:t>
            </a:r>
            <a:r>
              <a:rPr sz="5800" spc="-140" dirty="0">
                <a:solidFill>
                  <a:srgbClr val="001279"/>
                </a:solidFill>
              </a:rPr>
              <a:t>Refinement</a:t>
            </a:r>
            <a:endParaRPr sz="5800" dirty="0"/>
          </a:p>
        </p:txBody>
      </p:sp>
      <p:sp>
        <p:nvSpPr>
          <p:cNvPr id="5" name="object 5"/>
          <p:cNvSpPr txBox="1"/>
          <p:nvPr/>
        </p:nvSpPr>
        <p:spPr>
          <a:xfrm>
            <a:off x="797559" y="2541015"/>
            <a:ext cx="8468995" cy="2595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900" b="1" spc="-95" dirty="0">
                <a:solidFill>
                  <a:srgbClr val="001279"/>
                </a:solidFill>
                <a:latin typeface="Verdana"/>
                <a:cs typeface="Verdana"/>
              </a:rPr>
              <a:t>Functional</a:t>
            </a:r>
            <a:r>
              <a:rPr sz="4900" b="1" spc="-240" dirty="0">
                <a:solidFill>
                  <a:srgbClr val="001279"/>
                </a:solidFill>
                <a:latin typeface="Verdana"/>
                <a:cs typeface="Verdana"/>
              </a:rPr>
              <a:t> </a:t>
            </a:r>
            <a:r>
              <a:rPr sz="4900" b="1" spc="-110" dirty="0">
                <a:solidFill>
                  <a:srgbClr val="001279"/>
                </a:solidFill>
                <a:latin typeface="Verdana"/>
                <a:cs typeface="Verdana"/>
              </a:rPr>
              <a:t>Dependencies</a:t>
            </a:r>
            <a:endParaRPr sz="4900" dirty="0">
              <a:latin typeface="Verdana"/>
              <a:cs typeface="Verdana"/>
            </a:endParaRPr>
          </a:p>
          <a:p>
            <a:pPr algn="ctr">
              <a:lnSpc>
                <a:spcPts val="4670"/>
              </a:lnSpc>
              <a:spcBef>
                <a:spcPts val="5025"/>
              </a:spcBef>
            </a:pPr>
            <a:r>
              <a:rPr sz="4100" b="1" spc="-14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4100" b="1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4100" b="1" spc="-2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4100" b="1" spc="-145" dirty="0">
                <a:solidFill>
                  <a:srgbClr val="292934"/>
                </a:solidFill>
                <a:latin typeface="Verdana"/>
                <a:cs typeface="Verdana"/>
              </a:rPr>
              <a:t>47</a:t>
            </a:r>
            <a:r>
              <a:rPr lang="en-US" sz="4100" b="1" spc="-145" dirty="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r>
              <a:rPr sz="4100" b="1" spc="-145" dirty="0">
                <a:solidFill>
                  <a:srgbClr val="292934"/>
                </a:solidFill>
                <a:latin typeface="Verdana"/>
                <a:cs typeface="Verdana"/>
              </a:rPr>
              <a:t>0</a:t>
            </a:r>
            <a:endParaRPr sz="4100" dirty="0">
              <a:latin typeface="Verdana"/>
              <a:cs typeface="Verdana"/>
            </a:endParaRPr>
          </a:p>
          <a:p>
            <a:pPr algn="ctr">
              <a:lnSpc>
                <a:spcPts val="4670"/>
              </a:lnSpc>
            </a:pPr>
            <a:r>
              <a:rPr sz="4100" b="1" spc="-15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4100" b="1" spc="-140" dirty="0">
                <a:solidFill>
                  <a:srgbClr val="292934"/>
                </a:solidFill>
                <a:latin typeface="Verdana"/>
                <a:cs typeface="Verdana"/>
              </a:rPr>
              <a:t>ata</a:t>
            </a:r>
            <a:r>
              <a:rPr sz="4100" b="1" spc="-135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4100" b="1" spc="-140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4100" b="1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4100" b="1" spc="-2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4100" b="1" spc="-140" dirty="0">
                <a:solidFill>
                  <a:srgbClr val="292934"/>
                </a:solidFill>
                <a:latin typeface="Verdana"/>
                <a:cs typeface="Verdana"/>
              </a:rPr>
              <a:t>Syste</a:t>
            </a:r>
            <a:r>
              <a:rPr sz="4100" b="1" spc="-155" dirty="0">
                <a:solidFill>
                  <a:srgbClr val="292934"/>
                </a:solidFill>
                <a:latin typeface="Verdana"/>
                <a:cs typeface="Verdana"/>
              </a:rPr>
              <a:t>ms</a:t>
            </a:r>
            <a:endParaRPr sz="41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51568" y="2368296"/>
            <a:ext cx="6032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9280" algn="l"/>
              </a:tabLst>
            </a:pPr>
            <a:r>
              <a:rPr sz="1700" u="heavy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700" u="heavy" spc="-6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b="1" u="heavy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Arial"/>
                <a:cs typeface="Arial"/>
              </a:rPr>
              <a:t>??	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3032" y="231480"/>
            <a:ext cx="5100955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75" dirty="0"/>
              <a:t>Recap:</a:t>
            </a:r>
            <a:r>
              <a:rPr sz="3700" spc="-200" dirty="0"/>
              <a:t> </a:t>
            </a:r>
            <a:r>
              <a:rPr sz="3700" spc="-65" dirty="0"/>
              <a:t>E-R</a:t>
            </a:r>
            <a:r>
              <a:rPr sz="3700" spc="-195" dirty="0"/>
              <a:t> </a:t>
            </a:r>
            <a:r>
              <a:rPr sz="3700" spc="-80" dirty="0"/>
              <a:t>Diagram</a:t>
            </a:r>
            <a:endParaRPr sz="3700" dirty="0"/>
          </a:p>
        </p:txBody>
      </p:sp>
      <p:sp>
        <p:nvSpPr>
          <p:cNvPr id="4" name="object 4"/>
          <p:cNvSpPr txBox="1"/>
          <p:nvPr/>
        </p:nvSpPr>
        <p:spPr>
          <a:xfrm>
            <a:off x="502840" y="1183640"/>
            <a:ext cx="757999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Convert</a:t>
            </a:r>
            <a:r>
              <a:rPr sz="2100" b="1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b="1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following</a:t>
            </a:r>
            <a:r>
              <a:rPr sz="2100" b="1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5" dirty="0">
                <a:solidFill>
                  <a:srgbClr val="292934"/>
                </a:solidFill>
                <a:latin typeface="Verdana"/>
                <a:cs typeface="Verdana"/>
              </a:rPr>
              <a:t>ER</a:t>
            </a:r>
            <a:r>
              <a:rPr sz="2100" b="1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0" dirty="0">
                <a:solidFill>
                  <a:srgbClr val="292934"/>
                </a:solidFill>
                <a:latin typeface="Verdana"/>
                <a:cs typeface="Verdana"/>
              </a:rPr>
              <a:t>into</a:t>
            </a:r>
            <a:r>
              <a:rPr sz="2100" b="1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Schema</a:t>
            </a:r>
            <a:r>
              <a:rPr sz="2100" b="1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statements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9934" y="5438649"/>
            <a:ext cx="9558655" cy="1702435"/>
          </a:xfrm>
          <a:custGeom>
            <a:avLst/>
            <a:gdLst/>
            <a:ahLst/>
            <a:cxnLst/>
            <a:rect l="l" t="t" r="r" b="b"/>
            <a:pathLst>
              <a:path w="9558655" h="1702434">
                <a:moveTo>
                  <a:pt x="0" y="0"/>
                </a:moveTo>
                <a:lnTo>
                  <a:pt x="9558527" y="0"/>
                </a:lnTo>
                <a:lnTo>
                  <a:pt x="9558527" y="1702047"/>
                </a:lnTo>
                <a:lnTo>
                  <a:pt x="0" y="1702047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21074" y="5592063"/>
            <a:ext cx="2905125" cy="659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Country(</a:t>
            </a:r>
            <a:r>
              <a:rPr sz="19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name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, region)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Course(</a:t>
            </a:r>
            <a:r>
              <a:rPr sz="19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courseID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9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dept)</a:t>
            </a:r>
            <a:endParaRPr sz="190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720" y="1799033"/>
            <a:ext cx="7826964" cy="330164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605695" y="2582671"/>
            <a:ext cx="42608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B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or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n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45633" y="2579623"/>
            <a:ext cx="6261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P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er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o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n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34578" y="1902967"/>
            <a:ext cx="1739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id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44056" y="1887728"/>
            <a:ext cx="49910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nam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80261" y="2579623"/>
            <a:ext cx="6883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oun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y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30265" y="1887728"/>
            <a:ext cx="49910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nam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00012" y="1890776"/>
            <a:ext cx="5511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reg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o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n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41607" y="3298952"/>
            <a:ext cx="3314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Is</a:t>
            </a:r>
            <a:r>
              <a:rPr sz="1500" spc="-9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63606" y="4027423"/>
            <a:ext cx="6775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St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uden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64043" y="3298952"/>
            <a:ext cx="3314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Is</a:t>
            </a:r>
            <a:r>
              <a:rPr sz="1500" spc="-9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07208" y="4027423"/>
            <a:ext cx="6356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Faculty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79763" y="4725416"/>
            <a:ext cx="5308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l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ar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y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58831" y="4725416"/>
            <a:ext cx="49910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ma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j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o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24923" y="4045711"/>
            <a:ext cx="5200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7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k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59072" y="3177032"/>
            <a:ext cx="6356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our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se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05526" y="2482088"/>
            <a:ext cx="7823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our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r>
              <a:rPr sz="1500" spc="-5" dirty="0">
                <a:solidFill>
                  <a:srgbClr val="292934"/>
                </a:solidFill>
                <a:latin typeface="Arial MT"/>
                <a:cs typeface="Arial MT"/>
              </a:rPr>
              <a:t>ID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70861" y="2485135"/>
            <a:ext cx="3924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Arial MT"/>
                <a:cs typeface="Arial MT"/>
              </a:rPr>
              <a:t>dept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51986" y="5592063"/>
            <a:ext cx="4406900" cy="130556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378460">
              <a:lnSpc>
                <a:spcPct val="111600"/>
              </a:lnSpc>
              <a:spcBef>
                <a:spcPts val="5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Person(</a:t>
            </a:r>
            <a:r>
              <a:rPr sz="19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id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name,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Country.name)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Student(</a:t>
            </a:r>
            <a:r>
              <a:rPr sz="19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People.id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, major)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Faculty(</a:t>
            </a:r>
            <a:r>
              <a:rPr sz="19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People.id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salary)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Takes(</a:t>
            </a:r>
            <a:r>
              <a:rPr sz="1900" u="sng" spc="-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Student.id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Course.courseID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)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184444" y="3543167"/>
            <a:ext cx="2139950" cy="582930"/>
          </a:xfrm>
          <a:custGeom>
            <a:avLst/>
            <a:gdLst/>
            <a:ahLst/>
            <a:cxnLst/>
            <a:rect l="l" t="t" r="r" b="b"/>
            <a:pathLst>
              <a:path w="2139950" h="582929">
                <a:moveTo>
                  <a:pt x="1783278" y="391304"/>
                </a:moveTo>
                <a:lnTo>
                  <a:pt x="1248294" y="391304"/>
                </a:lnTo>
                <a:lnTo>
                  <a:pt x="1098106" y="582532"/>
                </a:lnTo>
                <a:lnTo>
                  <a:pt x="1783278" y="391304"/>
                </a:lnTo>
                <a:close/>
              </a:path>
              <a:path w="2139950" h="582929">
                <a:moveTo>
                  <a:pt x="2074715" y="0"/>
                </a:moveTo>
                <a:lnTo>
                  <a:pt x="65218" y="0"/>
                </a:lnTo>
                <a:lnTo>
                  <a:pt x="39832" y="5125"/>
                </a:lnTo>
                <a:lnTo>
                  <a:pt x="19102" y="19101"/>
                </a:lnTo>
                <a:lnTo>
                  <a:pt x="5125" y="39832"/>
                </a:lnTo>
                <a:lnTo>
                  <a:pt x="0" y="65218"/>
                </a:lnTo>
                <a:lnTo>
                  <a:pt x="0" y="326086"/>
                </a:lnTo>
                <a:lnTo>
                  <a:pt x="5125" y="351472"/>
                </a:lnTo>
                <a:lnTo>
                  <a:pt x="19102" y="372203"/>
                </a:lnTo>
                <a:lnTo>
                  <a:pt x="39832" y="386179"/>
                </a:lnTo>
                <a:lnTo>
                  <a:pt x="65218" y="391304"/>
                </a:lnTo>
                <a:lnTo>
                  <a:pt x="2074715" y="391304"/>
                </a:lnTo>
                <a:lnTo>
                  <a:pt x="2100101" y="386179"/>
                </a:lnTo>
                <a:lnTo>
                  <a:pt x="2120831" y="372203"/>
                </a:lnTo>
                <a:lnTo>
                  <a:pt x="2134808" y="351472"/>
                </a:lnTo>
                <a:lnTo>
                  <a:pt x="2139933" y="326086"/>
                </a:lnTo>
                <a:lnTo>
                  <a:pt x="2139933" y="65218"/>
                </a:lnTo>
                <a:lnTo>
                  <a:pt x="2134808" y="39832"/>
                </a:lnTo>
                <a:lnTo>
                  <a:pt x="2120831" y="19101"/>
                </a:lnTo>
                <a:lnTo>
                  <a:pt x="2100101" y="5125"/>
                </a:lnTo>
                <a:lnTo>
                  <a:pt x="2074715" y="0"/>
                </a:lnTo>
                <a:close/>
              </a:path>
            </a:pathLst>
          </a:custGeom>
          <a:solidFill>
            <a:srgbClr val="0044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435684" y="3596640"/>
            <a:ext cx="1653539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Many-to-one</a:t>
            </a:r>
            <a:r>
              <a:rPr sz="17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fact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25053" y="4147557"/>
            <a:ext cx="3620135" cy="683260"/>
          </a:xfrm>
          <a:prstGeom prst="rect">
            <a:avLst/>
          </a:prstGeom>
          <a:ln w="10159">
            <a:solidFill>
              <a:srgbClr val="004479"/>
            </a:solidFill>
          </a:ln>
        </p:spPr>
        <p:txBody>
          <a:bodyPr vert="horz" wrap="square" lIns="0" tIns="71120" rIns="0" bIns="0" rtlCol="0">
            <a:spAutoFit/>
          </a:bodyPr>
          <a:lstStyle/>
          <a:p>
            <a:pPr marL="97155" marR="116205">
              <a:lnSpc>
                <a:spcPct val="103499"/>
              </a:lnSpc>
              <a:spcBef>
                <a:spcPts val="560"/>
              </a:spcBef>
            </a:pP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Person(</a:t>
            </a:r>
            <a:r>
              <a:rPr sz="17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id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name) 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Born(Person.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id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5" dirty="0">
                <a:solidFill>
                  <a:srgbClr val="292934"/>
                </a:solidFill>
                <a:latin typeface="Verdana"/>
                <a:cs typeface="Verdana"/>
              </a:rPr>
              <a:t>Country.name)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437492" y="3861815"/>
            <a:ext cx="2901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C00000"/>
                </a:solidFill>
                <a:latin typeface="Arial"/>
                <a:cs typeface="Arial"/>
              </a:rPr>
              <a:t>??</a:t>
            </a:r>
            <a:endParaRPr sz="17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007967" y="5443728"/>
            <a:ext cx="2901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C00000"/>
                </a:solidFill>
                <a:latin typeface="Arial"/>
                <a:cs typeface="Arial"/>
              </a:rPr>
              <a:t>??</a:t>
            </a:r>
            <a:endParaRPr sz="17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890057" y="6697241"/>
            <a:ext cx="1107440" cy="391795"/>
          </a:xfrm>
          <a:custGeom>
            <a:avLst/>
            <a:gdLst/>
            <a:ahLst/>
            <a:cxnLst/>
            <a:rect l="l" t="t" r="r" b="b"/>
            <a:pathLst>
              <a:path w="1107439" h="391795">
                <a:moveTo>
                  <a:pt x="825703" y="0"/>
                </a:moveTo>
                <a:lnTo>
                  <a:pt x="65219" y="0"/>
                </a:lnTo>
                <a:lnTo>
                  <a:pt x="39833" y="5125"/>
                </a:lnTo>
                <a:lnTo>
                  <a:pt x="19102" y="19102"/>
                </a:lnTo>
                <a:lnTo>
                  <a:pt x="5125" y="39833"/>
                </a:lnTo>
                <a:lnTo>
                  <a:pt x="0" y="65217"/>
                </a:lnTo>
                <a:lnTo>
                  <a:pt x="0" y="326086"/>
                </a:lnTo>
                <a:lnTo>
                  <a:pt x="5125" y="351472"/>
                </a:lnTo>
                <a:lnTo>
                  <a:pt x="19102" y="372203"/>
                </a:lnTo>
                <a:lnTo>
                  <a:pt x="39833" y="386180"/>
                </a:lnTo>
                <a:lnTo>
                  <a:pt x="65219" y="391305"/>
                </a:lnTo>
                <a:lnTo>
                  <a:pt x="825703" y="391305"/>
                </a:lnTo>
                <a:lnTo>
                  <a:pt x="851089" y="386180"/>
                </a:lnTo>
                <a:lnTo>
                  <a:pt x="871820" y="372203"/>
                </a:lnTo>
                <a:lnTo>
                  <a:pt x="885797" y="351472"/>
                </a:lnTo>
                <a:lnTo>
                  <a:pt x="890922" y="326086"/>
                </a:lnTo>
                <a:lnTo>
                  <a:pt x="890922" y="163043"/>
                </a:lnTo>
                <a:lnTo>
                  <a:pt x="1105040" y="65219"/>
                </a:lnTo>
                <a:lnTo>
                  <a:pt x="890922" y="65217"/>
                </a:lnTo>
                <a:lnTo>
                  <a:pt x="885797" y="39833"/>
                </a:lnTo>
                <a:lnTo>
                  <a:pt x="871820" y="19102"/>
                </a:lnTo>
                <a:lnTo>
                  <a:pt x="851089" y="5125"/>
                </a:lnTo>
                <a:lnTo>
                  <a:pt x="825703" y="0"/>
                </a:lnTo>
                <a:close/>
              </a:path>
              <a:path w="1107439" h="391795">
                <a:moveTo>
                  <a:pt x="1106900" y="64369"/>
                </a:moveTo>
                <a:lnTo>
                  <a:pt x="890922" y="65219"/>
                </a:lnTo>
                <a:lnTo>
                  <a:pt x="1105044" y="65217"/>
                </a:lnTo>
                <a:lnTo>
                  <a:pt x="1106900" y="64369"/>
                </a:lnTo>
                <a:close/>
              </a:path>
            </a:pathLst>
          </a:custGeom>
          <a:solidFill>
            <a:srgbClr val="0044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096758" y="6748271"/>
            <a:ext cx="49466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PK</a:t>
            </a:r>
            <a:r>
              <a:rPr sz="17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?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184444" y="5067170"/>
            <a:ext cx="2536190" cy="582930"/>
          </a:xfrm>
          <a:custGeom>
            <a:avLst/>
            <a:gdLst/>
            <a:ahLst/>
            <a:cxnLst/>
            <a:rect l="l" t="t" r="r" b="b"/>
            <a:pathLst>
              <a:path w="2536190" h="582929">
                <a:moveTo>
                  <a:pt x="2113478" y="391304"/>
                </a:moveTo>
                <a:lnTo>
                  <a:pt x="1479434" y="391304"/>
                </a:lnTo>
                <a:lnTo>
                  <a:pt x="1301436" y="582531"/>
                </a:lnTo>
                <a:lnTo>
                  <a:pt x="2113478" y="391304"/>
                </a:lnTo>
                <a:close/>
              </a:path>
              <a:path w="2536190" h="582929">
                <a:moveTo>
                  <a:pt x="2470955" y="0"/>
                </a:moveTo>
                <a:lnTo>
                  <a:pt x="65218" y="0"/>
                </a:lnTo>
                <a:lnTo>
                  <a:pt x="39832" y="5125"/>
                </a:lnTo>
                <a:lnTo>
                  <a:pt x="19102" y="19101"/>
                </a:lnTo>
                <a:lnTo>
                  <a:pt x="5125" y="39832"/>
                </a:lnTo>
                <a:lnTo>
                  <a:pt x="0" y="65218"/>
                </a:lnTo>
                <a:lnTo>
                  <a:pt x="0" y="326086"/>
                </a:lnTo>
                <a:lnTo>
                  <a:pt x="5125" y="351472"/>
                </a:lnTo>
                <a:lnTo>
                  <a:pt x="19102" y="372203"/>
                </a:lnTo>
                <a:lnTo>
                  <a:pt x="39832" y="386179"/>
                </a:lnTo>
                <a:lnTo>
                  <a:pt x="65218" y="391304"/>
                </a:lnTo>
                <a:lnTo>
                  <a:pt x="2470955" y="391304"/>
                </a:lnTo>
                <a:lnTo>
                  <a:pt x="2496341" y="386179"/>
                </a:lnTo>
                <a:lnTo>
                  <a:pt x="2517071" y="372203"/>
                </a:lnTo>
                <a:lnTo>
                  <a:pt x="2531048" y="351472"/>
                </a:lnTo>
                <a:lnTo>
                  <a:pt x="2536173" y="326086"/>
                </a:lnTo>
                <a:lnTo>
                  <a:pt x="2536173" y="65218"/>
                </a:lnTo>
                <a:lnTo>
                  <a:pt x="2531048" y="39832"/>
                </a:lnTo>
                <a:lnTo>
                  <a:pt x="2517071" y="19101"/>
                </a:lnTo>
                <a:lnTo>
                  <a:pt x="2496341" y="5125"/>
                </a:lnTo>
                <a:lnTo>
                  <a:pt x="2470955" y="0"/>
                </a:lnTo>
                <a:close/>
              </a:path>
            </a:pathLst>
          </a:custGeom>
          <a:solidFill>
            <a:srgbClr val="0044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400294" y="5120640"/>
            <a:ext cx="21221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40" dirty="0">
                <a:solidFill>
                  <a:srgbClr val="FFFFFF"/>
                </a:solidFill>
                <a:latin typeface="Arial MT"/>
                <a:cs typeface="Arial MT"/>
              </a:rPr>
              <a:t>Total</a:t>
            </a:r>
            <a:r>
              <a:rPr sz="17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participation</a:t>
            </a:r>
            <a:r>
              <a:rPr sz="17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fact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7159" y="252046"/>
          <a:ext cx="9719945" cy="8645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18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4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7F7F7F"/>
                      </a:solidFill>
                      <a:prstDash val="solid"/>
                    </a:lnR>
                    <a:solidFill>
                      <a:srgbClr val="E6E6FA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-15" dirty="0">
                          <a:solidFill>
                            <a:srgbClr val="7F7F7F"/>
                          </a:solidFill>
                          <a:latin typeface="Verdana"/>
                          <a:cs typeface="Verdana"/>
                        </a:rPr>
                        <a:t>revisit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7F7F7F"/>
                      </a:solidFill>
                      <a:prstDash val="solid"/>
                    </a:lnL>
                    <a:lnR w="12700">
                      <a:solidFill>
                        <a:srgbClr val="7F7F7F"/>
                      </a:solidFill>
                      <a:prstDash val="solid"/>
                    </a:lnR>
                    <a:lnT w="12700">
                      <a:solidFill>
                        <a:srgbClr val="7F7F7F"/>
                      </a:solidFill>
                      <a:prstDash val="solid"/>
                    </a:lnT>
                    <a:lnB w="12700">
                      <a:solidFill>
                        <a:srgbClr val="7F7F7F"/>
                      </a:solidFill>
                      <a:prstDash val="solid"/>
                    </a:lnB>
                    <a:solidFill>
                      <a:srgbClr val="E6E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126">
                <a:tc gridSpan="2">
                  <a:txBody>
                    <a:bodyPr/>
                    <a:lstStyle/>
                    <a:p>
                      <a:pPr marL="50165" algn="ctr">
                        <a:lnSpc>
                          <a:spcPts val="3420"/>
                        </a:lnSpc>
                      </a:pPr>
                      <a:r>
                        <a:rPr sz="4300" b="1" spc="-1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sz="4300" b="1" spc="-1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4300" b="1" spc="-1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4300" b="1" spc="-1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4300" b="1" spc="-1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r>
                        <a:rPr sz="4300" b="1" spc="-1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4300" b="1" spc="-1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</a:t>
                      </a:r>
                      <a:r>
                        <a:rPr sz="4300" b="1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sz="4300" b="1" spc="-2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4300" b="1" spc="-1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sz="4300" b="1" spc="-1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sz="4300" b="1" spc="-1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</a:t>
                      </a:r>
                      <a:r>
                        <a:rPr sz="4300" b="1" spc="-1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4300" b="1" spc="-1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g</a:t>
                      </a:r>
                      <a:r>
                        <a:rPr sz="4300" b="1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sz="4300" b="1" spc="-26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4300" b="1" spc="-1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</a:t>
                      </a:r>
                      <a:r>
                        <a:rPr sz="4300" b="1" spc="-1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oc</a:t>
                      </a:r>
                      <a:r>
                        <a:rPr sz="4300" b="1" spc="-1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sz="4300" b="1" spc="-1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</a:t>
                      </a:r>
                      <a:r>
                        <a:rPr sz="4300" b="1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</a:t>
                      </a:r>
                      <a:endParaRPr sz="43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38100">
                      <a:solidFill>
                        <a:srgbClr val="431FAA"/>
                      </a:solidFill>
                      <a:prstDash val="solid"/>
                    </a:lnB>
                    <a:solidFill>
                      <a:srgbClr val="E6E6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07837" y="4726402"/>
            <a:ext cx="9629140" cy="1217930"/>
            <a:chOff x="207837" y="4726402"/>
            <a:chExt cx="9629140" cy="1217930"/>
          </a:xfrm>
        </p:grpSpPr>
        <p:sp>
          <p:nvSpPr>
            <p:cNvPr id="4" name="object 4"/>
            <p:cNvSpPr/>
            <p:nvPr/>
          </p:nvSpPr>
          <p:spPr>
            <a:xfrm>
              <a:off x="223077" y="4741642"/>
              <a:ext cx="9598660" cy="1187450"/>
            </a:xfrm>
            <a:custGeom>
              <a:avLst/>
              <a:gdLst/>
              <a:ahLst/>
              <a:cxnLst/>
              <a:rect l="l" t="t" r="r" b="b"/>
              <a:pathLst>
                <a:path w="9598660" h="1187450">
                  <a:moveTo>
                    <a:pt x="9598107" y="0"/>
                  </a:moveTo>
                  <a:lnTo>
                    <a:pt x="0" y="0"/>
                  </a:lnTo>
                  <a:lnTo>
                    <a:pt x="0" y="1187396"/>
                  </a:lnTo>
                  <a:lnTo>
                    <a:pt x="9598107" y="1187396"/>
                  </a:lnTo>
                  <a:lnTo>
                    <a:pt x="9598107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3077" y="4741642"/>
              <a:ext cx="9598660" cy="1187450"/>
            </a:xfrm>
            <a:custGeom>
              <a:avLst/>
              <a:gdLst/>
              <a:ahLst/>
              <a:cxnLst/>
              <a:rect l="l" t="t" r="r" b="b"/>
              <a:pathLst>
                <a:path w="9598660" h="1187450">
                  <a:moveTo>
                    <a:pt x="0" y="0"/>
                  </a:moveTo>
                  <a:lnTo>
                    <a:pt x="9598107" y="0"/>
                  </a:lnTo>
                  <a:lnTo>
                    <a:pt x="9598107" y="1187397"/>
                  </a:lnTo>
                  <a:lnTo>
                    <a:pt x="0" y="1187397"/>
                  </a:lnTo>
                  <a:lnTo>
                    <a:pt x="0" y="0"/>
                  </a:lnTo>
                  <a:close/>
                </a:path>
              </a:pathLst>
            </a:custGeom>
            <a:ln w="3047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577461" y="4500879"/>
            <a:ext cx="121983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09/08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09/15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5512" y="1196896"/>
            <a:ext cx="4378960" cy="878205"/>
          </a:xfrm>
          <a:prstGeom prst="rect">
            <a:avLst/>
          </a:prstGeom>
          <a:solidFill>
            <a:srgbClr val="E8F2FF"/>
          </a:solidFill>
          <a:ln w="10159">
            <a:solidFill>
              <a:srgbClr val="7F7F7F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marL="915669" marR="121285" indent="-853440">
              <a:lnSpc>
                <a:spcPts val="2090"/>
              </a:lnSpc>
              <a:spcBef>
                <a:spcPts val="1310"/>
              </a:spcBef>
            </a:pP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Interact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with</a:t>
            </a:r>
            <a:r>
              <a:rPr sz="19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users</a:t>
            </a:r>
            <a:r>
              <a:rPr sz="19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19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domain</a:t>
            </a:r>
            <a:r>
              <a:rPr sz="19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experts </a:t>
            </a:r>
            <a:r>
              <a:rPr sz="1900" spc="-5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19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characterize</a:t>
            </a:r>
            <a:r>
              <a:rPr sz="19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19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data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7581" y="2385846"/>
            <a:ext cx="4378960" cy="878205"/>
          </a:xfrm>
          <a:prstGeom prst="rect">
            <a:avLst/>
          </a:prstGeom>
          <a:solidFill>
            <a:srgbClr val="E8F2FF"/>
          </a:solidFill>
          <a:ln w="10159">
            <a:solidFill>
              <a:srgbClr val="7F7F7F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marL="373380" marR="367030" indent="302260">
              <a:lnSpc>
                <a:spcPts val="2090"/>
              </a:lnSpc>
              <a:spcBef>
                <a:spcPts val="1310"/>
              </a:spcBef>
            </a:pP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Translate</a:t>
            </a:r>
            <a:r>
              <a:rPr sz="19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requirements</a:t>
            </a:r>
            <a:r>
              <a:rPr sz="19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into </a:t>
            </a:r>
            <a:r>
              <a:rPr sz="19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Arial MT"/>
                <a:cs typeface="Arial MT"/>
              </a:rPr>
              <a:t>conceptual</a:t>
            </a:r>
            <a:r>
              <a:rPr sz="1900" spc="-1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Arial MT"/>
                <a:cs typeface="Arial MT"/>
              </a:rPr>
              <a:t>model</a:t>
            </a:r>
            <a:r>
              <a:rPr sz="1900" spc="-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(E-R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diagrams)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5513" y="3641178"/>
            <a:ext cx="4378960" cy="878205"/>
          </a:xfrm>
          <a:prstGeom prst="rect">
            <a:avLst/>
          </a:prstGeom>
          <a:solidFill>
            <a:srgbClr val="E8F2FF"/>
          </a:solidFill>
          <a:ln w="10159">
            <a:solidFill>
              <a:srgbClr val="7F7F7F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marL="820419" marR="155575" indent="-657225">
              <a:lnSpc>
                <a:spcPts val="2090"/>
              </a:lnSpc>
              <a:spcBef>
                <a:spcPts val="1310"/>
              </a:spcBef>
            </a:pP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Convert the</a:t>
            </a:r>
            <a:r>
              <a:rPr sz="19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model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to </a:t>
            </a:r>
            <a:r>
              <a:rPr sz="1900" spc="5" dirty="0">
                <a:solidFill>
                  <a:srgbClr val="C00000"/>
                </a:solidFill>
                <a:latin typeface="Arial MT"/>
                <a:cs typeface="Arial MT"/>
              </a:rPr>
              <a:t>relational</a:t>
            </a:r>
            <a:r>
              <a:rPr sz="1900" spc="1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Arial MT"/>
                <a:cs typeface="Arial MT"/>
              </a:rPr>
              <a:t>model </a:t>
            </a:r>
            <a:r>
              <a:rPr sz="1900" spc="-51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(schema</a:t>
            </a:r>
            <a:r>
              <a:rPr sz="19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19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constraints)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7581" y="4905511"/>
            <a:ext cx="4378960" cy="878205"/>
          </a:xfrm>
          <a:prstGeom prst="rect">
            <a:avLst/>
          </a:prstGeom>
          <a:solidFill>
            <a:srgbClr val="E8F2FF"/>
          </a:solidFill>
          <a:ln w="10159">
            <a:solidFill>
              <a:srgbClr val="7F7F7F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644525" marR="706755" indent="1270" algn="ctr">
              <a:lnSpc>
                <a:spcPct val="92100"/>
              </a:lnSpc>
              <a:spcBef>
                <a:spcPts val="215"/>
              </a:spcBef>
            </a:pP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Normalize and</a:t>
            </a:r>
            <a:r>
              <a:rPr sz="19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develop </a:t>
            </a:r>
            <a:r>
              <a:rPr sz="19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5" dirty="0">
                <a:solidFill>
                  <a:srgbClr val="C00000"/>
                </a:solidFill>
                <a:latin typeface="Arial MT"/>
                <a:cs typeface="Arial MT"/>
              </a:rPr>
              <a:t>conceptual </a:t>
            </a:r>
            <a:r>
              <a:rPr sz="1900" dirty="0">
                <a:solidFill>
                  <a:srgbClr val="C00000"/>
                </a:solidFill>
                <a:latin typeface="Arial MT"/>
                <a:cs typeface="Arial MT"/>
              </a:rPr>
              <a:t>(logical) </a:t>
            </a:r>
            <a:r>
              <a:rPr sz="1900" spc="5" dirty="0">
                <a:solidFill>
                  <a:srgbClr val="C00000"/>
                </a:solidFill>
                <a:latin typeface="Arial MT"/>
                <a:cs typeface="Arial MT"/>
              </a:rPr>
              <a:t>schema </a:t>
            </a:r>
            <a:r>
              <a:rPr sz="1900" spc="-51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 the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 database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7581" y="6173827"/>
            <a:ext cx="4378960" cy="878205"/>
          </a:xfrm>
          <a:prstGeom prst="rect">
            <a:avLst/>
          </a:prstGeom>
          <a:solidFill>
            <a:srgbClr val="E8F2FF"/>
          </a:solidFill>
          <a:ln w="10159">
            <a:solidFill>
              <a:srgbClr val="7F7F7F"/>
            </a:solidFill>
          </a:ln>
        </p:spPr>
        <p:txBody>
          <a:bodyPr vert="horz" wrap="square" lIns="0" tIns="167005" rIns="0" bIns="0" rtlCol="0">
            <a:spAutoFit/>
          </a:bodyPr>
          <a:lstStyle/>
          <a:p>
            <a:pPr marL="786765" marR="778510" indent="-13970">
              <a:lnSpc>
                <a:spcPts val="2090"/>
              </a:lnSpc>
              <a:spcBef>
                <a:spcPts val="1315"/>
              </a:spcBef>
            </a:pP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Develop </a:t>
            </a:r>
            <a:r>
              <a:rPr sz="1900" spc="5" dirty="0">
                <a:solidFill>
                  <a:srgbClr val="C00000"/>
                </a:solidFill>
                <a:latin typeface="Arial MT"/>
                <a:cs typeface="Arial MT"/>
              </a:rPr>
              <a:t>physical schema </a:t>
            </a:r>
            <a:r>
              <a:rPr sz="1900" spc="-51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(partitioning</a:t>
            </a: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indexing)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40100" y="3263632"/>
            <a:ext cx="110489" cy="377825"/>
          </a:xfrm>
          <a:custGeom>
            <a:avLst/>
            <a:gdLst/>
            <a:ahLst/>
            <a:cxnLst/>
            <a:rect l="l" t="t" r="r" b="b"/>
            <a:pathLst>
              <a:path w="110489" h="377825">
                <a:moveTo>
                  <a:pt x="7597" y="274859"/>
                </a:moveTo>
                <a:lnTo>
                  <a:pt x="1113" y="278594"/>
                </a:lnTo>
                <a:lnTo>
                  <a:pt x="0" y="282736"/>
                </a:lnTo>
                <a:lnTo>
                  <a:pt x="54630" y="377577"/>
                </a:lnTo>
                <a:lnTo>
                  <a:pt x="62549" y="364171"/>
                </a:lnTo>
                <a:lnTo>
                  <a:pt x="47929" y="364097"/>
                </a:lnTo>
                <a:lnTo>
                  <a:pt x="48067" y="339044"/>
                </a:lnTo>
                <a:lnTo>
                  <a:pt x="11738" y="275974"/>
                </a:lnTo>
                <a:lnTo>
                  <a:pt x="7597" y="274859"/>
                </a:lnTo>
                <a:close/>
              </a:path>
              <a:path w="110489" h="377825">
                <a:moveTo>
                  <a:pt x="48067" y="339044"/>
                </a:moveTo>
                <a:lnTo>
                  <a:pt x="47929" y="364097"/>
                </a:lnTo>
                <a:lnTo>
                  <a:pt x="61476" y="364171"/>
                </a:lnTo>
                <a:lnTo>
                  <a:pt x="61495" y="360754"/>
                </a:lnTo>
                <a:lnTo>
                  <a:pt x="48872" y="360690"/>
                </a:lnTo>
                <a:lnTo>
                  <a:pt x="54777" y="350693"/>
                </a:lnTo>
                <a:lnTo>
                  <a:pt x="48067" y="339044"/>
                </a:lnTo>
                <a:close/>
              </a:path>
              <a:path w="110489" h="377825">
                <a:moveTo>
                  <a:pt x="102784" y="275381"/>
                </a:moveTo>
                <a:lnTo>
                  <a:pt x="98632" y="276451"/>
                </a:lnTo>
                <a:lnTo>
                  <a:pt x="61658" y="339044"/>
                </a:lnTo>
                <a:lnTo>
                  <a:pt x="61550" y="350693"/>
                </a:lnTo>
                <a:lnTo>
                  <a:pt x="61476" y="364171"/>
                </a:lnTo>
                <a:lnTo>
                  <a:pt x="62549" y="364171"/>
                </a:lnTo>
                <a:lnTo>
                  <a:pt x="110295" y="283340"/>
                </a:lnTo>
                <a:lnTo>
                  <a:pt x="109227" y="279186"/>
                </a:lnTo>
                <a:lnTo>
                  <a:pt x="102784" y="275381"/>
                </a:lnTo>
                <a:close/>
              </a:path>
              <a:path w="110489" h="377825">
                <a:moveTo>
                  <a:pt x="54777" y="350693"/>
                </a:moveTo>
                <a:lnTo>
                  <a:pt x="48872" y="360690"/>
                </a:lnTo>
                <a:lnTo>
                  <a:pt x="60572" y="360754"/>
                </a:lnTo>
                <a:lnTo>
                  <a:pt x="54777" y="350693"/>
                </a:lnTo>
                <a:close/>
              </a:path>
              <a:path w="110489" h="377825">
                <a:moveTo>
                  <a:pt x="61614" y="339119"/>
                </a:moveTo>
                <a:lnTo>
                  <a:pt x="54777" y="350693"/>
                </a:lnTo>
                <a:lnTo>
                  <a:pt x="60572" y="360754"/>
                </a:lnTo>
                <a:lnTo>
                  <a:pt x="61495" y="360754"/>
                </a:lnTo>
                <a:lnTo>
                  <a:pt x="61614" y="339119"/>
                </a:lnTo>
                <a:close/>
              </a:path>
              <a:path w="110489" h="377825">
                <a:moveTo>
                  <a:pt x="49924" y="0"/>
                </a:moveTo>
                <a:lnTo>
                  <a:pt x="48067" y="339044"/>
                </a:lnTo>
                <a:lnTo>
                  <a:pt x="54777" y="350693"/>
                </a:lnTo>
                <a:lnTo>
                  <a:pt x="61614" y="339119"/>
                </a:lnTo>
                <a:lnTo>
                  <a:pt x="63472" y="73"/>
                </a:lnTo>
                <a:lnTo>
                  <a:pt x="49924" y="0"/>
                </a:lnTo>
                <a:close/>
              </a:path>
            </a:pathLst>
          </a:custGeom>
          <a:solidFill>
            <a:srgbClr val="3E46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441022" y="2074674"/>
            <a:ext cx="110489" cy="311785"/>
          </a:xfrm>
          <a:custGeom>
            <a:avLst/>
            <a:gdLst/>
            <a:ahLst/>
            <a:cxnLst/>
            <a:rect l="l" t="t" r="r" b="b"/>
            <a:pathLst>
              <a:path w="110489" h="311785">
                <a:moveTo>
                  <a:pt x="7500" y="209063"/>
                </a:moveTo>
                <a:lnTo>
                  <a:pt x="1064" y="212876"/>
                </a:lnTo>
                <a:lnTo>
                  <a:pt x="0" y="217030"/>
                </a:lnTo>
                <a:lnTo>
                  <a:pt x="55777" y="311203"/>
                </a:lnTo>
                <a:lnTo>
                  <a:pt x="63473" y="297804"/>
                </a:lnTo>
                <a:lnTo>
                  <a:pt x="48914" y="297804"/>
                </a:lnTo>
                <a:lnTo>
                  <a:pt x="48747" y="272752"/>
                </a:lnTo>
                <a:lnTo>
                  <a:pt x="11656" y="210127"/>
                </a:lnTo>
                <a:lnTo>
                  <a:pt x="7500" y="209063"/>
                </a:lnTo>
                <a:close/>
              </a:path>
              <a:path w="110489" h="311785">
                <a:moveTo>
                  <a:pt x="48747" y="272752"/>
                </a:moveTo>
                <a:lnTo>
                  <a:pt x="48914" y="297804"/>
                </a:lnTo>
                <a:lnTo>
                  <a:pt x="62459" y="297714"/>
                </a:lnTo>
                <a:lnTo>
                  <a:pt x="62437" y="294387"/>
                </a:lnTo>
                <a:lnTo>
                  <a:pt x="49814" y="294387"/>
                </a:lnTo>
                <a:lnTo>
                  <a:pt x="55598" y="284318"/>
                </a:lnTo>
                <a:lnTo>
                  <a:pt x="48747" y="272752"/>
                </a:lnTo>
                <a:close/>
              </a:path>
              <a:path w="110489" h="311785">
                <a:moveTo>
                  <a:pt x="102688" y="208429"/>
                </a:moveTo>
                <a:lnTo>
                  <a:pt x="98549" y="209550"/>
                </a:lnTo>
                <a:lnTo>
                  <a:pt x="62293" y="272664"/>
                </a:lnTo>
                <a:lnTo>
                  <a:pt x="62459" y="297714"/>
                </a:lnTo>
                <a:lnTo>
                  <a:pt x="48914" y="297804"/>
                </a:lnTo>
                <a:lnTo>
                  <a:pt x="63473" y="297804"/>
                </a:lnTo>
                <a:lnTo>
                  <a:pt x="110295" y="216297"/>
                </a:lnTo>
                <a:lnTo>
                  <a:pt x="109176" y="212157"/>
                </a:lnTo>
                <a:lnTo>
                  <a:pt x="102688" y="208429"/>
                </a:lnTo>
                <a:close/>
              </a:path>
              <a:path w="110489" h="311785">
                <a:moveTo>
                  <a:pt x="55598" y="284318"/>
                </a:moveTo>
                <a:lnTo>
                  <a:pt x="49814" y="294387"/>
                </a:lnTo>
                <a:lnTo>
                  <a:pt x="61514" y="294308"/>
                </a:lnTo>
                <a:lnTo>
                  <a:pt x="55598" y="284318"/>
                </a:lnTo>
                <a:close/>
              </a:path>
              <a:path w="110489" h="311785">
                <a:moveTo>
                  <a:pt x="62293" y="272664"/>
                </a:moveTo>
                <a:lnTo>
                  <a:pt x="55598" y="284318"/>
                </a:lnTo>
                <a:lnTo>
                  <a:pt x="61514" y="294308"/>
                </a:lnTo>
                <a:lnTo>
                  <a:pt x="49814" y="294387"/>
                </a:lnTo>
                <a:lnTo>
                  <a:pt x="62437" y="294387"/>
                </a:lnTo>
                <a:lnTo>
                  <a:pt x="62293" y="272664"/>
                </a:lnTo>
                <a:close/>
              </a:path>
              <a:path w="110489" h="311785">
                <a:moveTo>
                  <a:pt x="60479" y="0"/>
                </a:moveTo>
                <a:lnTo>
                  <a:pt x="46934" y="90"/>
                </a:lnTo>
                <a:lnTo>
                  <a:pt x="48747" y="272752"/>
                </a:lnTo>
                <a:lnTo>
                  <a:pt x="55598" y="284318"/>
                </a:lnTo>
                <a:lnTo>
                  <a:pt x="62293" y="272664"/>
                </a:lnTo>
                <a:lnTo>
                  <a:pt x="60479" y="0"/>
                </a:lnTo>
                <a:close/>
              </a:path>
            </a:pathLst>
          </a:custGeom>
          <a:solidFill>
            <a:srgbClr val="3E465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5592687" y="2438890"/>
            <a:ext cx="3046730" cy="693420"/>
            <a:chOff x="5592687" y="2438890"/>
            <a:chExt cx="3046730" cy="693420"/>
          </a:xfrm>
        </p:grpSpPr>
        <p:sp>
          <p:nvSpPr>
            <p:cNvPr id="15" name="object 15"/>
            <p:cNvSpPr/>
            <p:nvPr/>
          </p:nvSpPr>
          <p:spPr>
            <a:xfrm>
              <a:off x="5950365" y="2822519"/>
              <a:ext cx="648335" cy="281305"/>
            </a:xfrm>
            <a:custGeom>
              <a:avLst/>
              <a:gdLst/>
              <a:ahLst/>
              <a:cxnLst/>
              <a:rect l="l" t="t" r="r" b="b"/>
              <a:pathLst>
                <a:path w="648334" h="281305">
                  <a:moveTo>
                    <a:pt x="648227" y="0"/>
                  </a:moveTo>
                  <a:lnTo>
                    <a:pt x="0" y="0"/>
                  </a:lnTo>
                  <a:lnTo>
                    <a:pt x="0" y="280682"/>
                  </a:lnTo>
                  <a:lnTo>
                    <a:pt x="648227" y="280682"/>
                  </a:lnTo>
                  <a:lnTo>
                    <a:pt x="648227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950365" y="2822519"/>
              <a:ext cx="648335" cy="281305"/>
            </a:xfrm>
            <a:custGeom>
              <a:avLst/>
              <a:gdLst/>
              <a:ahLst/>
              <a:cxnLst/>
              <a:rect l="l" t="t" r="r" b="b"/>
              <a:pathLst>
                <a:path w="648334" h="281305">
                  <a:moveTo>
                    <a:pt x="0" y="0"/>
                  </a:moveTo>
                  <a:lnTo>
                    <a:pt x="648227" y="0"/>
                  </a:lnTo>
                  <a:lnTo>
                    <a:pt x="648227" y="280682"/>
                  </a:lnTo>
                  <a:lnTo>
                    <a:pt x="0" y="280682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86011" y="2809165"/>
              <a:ext cx="675005" cy="318135"/>
            </a:xfrm>
            <a:custGeom>
              <a:avLst/>
              <a:gdLst/>
              <a:ahLst/>
              <a:cxnLst/>
              <a:rect l="l" t="t" r="r" b="b"/>
              <a:pathLst>
                <a:path w="675004" h="318135">
                  <a:moveTo>
                    <a:pt x="337403" y="0"/>
                  </a:moveTo>
                  <a:lnTo>
                    <a:pt x="0" y="158779"/>
                  </a:lnTo>
                  <a:lnTo>
                    <a:pt x="337403" y="317557"/>
                  </a:lnTo>
                  <a:lnTo>
                    <a:pt x="674806" y="158779"/>
                  </a:lnTo>
                  <a:lnTo>
                    <a:pt x="33740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86011" y="2809165"/>
              <a:ext cx="675005" cy="318135"/>
            </a:xfrm>
            <a:custGeom>
              <a:avLst/>
              <a:gdLst/>
              <a:ahLst/>
              <a:cxnLst/>
              <a:rect l="l" t="t" r="r" b="b"/>
              <a:pathLst>
                <a:path w="675004" h="318135">
                  <a:moveTo>
                    <a:pt x="0" y="158778"/>
                  </a:moveTo>
                  <a:lnTo>
                    <a:pt x="337403" y="0"/>
                  </a:lnTo>
                  <a:lnTo>
                    <a:pt x="674806" y="158778"/>
                  </a:lnTo>
                  <a:lnTo>
                    <a:pt x="337403" y="317557"/>
                  </a:lnTo>
                  <a:lnTo>
                    <a:pt x="0" y="158778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598591" y="2962860"/>
              <a:ext cx="287655" cy="5080"/>
            </a:xfrm>
            <a:custGeom>
              <a:avLst/>
              <a:gdLst/>
              <a:ahLst/>
              <a:cxnLst/>
              <a:rect l="l" t="t" r="r" b="b"/>
              <a:pathLst>
                <a:path w="287654" h="5080">
                  <a:moveTo>
                    <a:pt x="0" y="0"/>
                  </a:moveTo>
                  <a:lnTo>
                    <a:pt x="287420" y="5083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860729" y="2822519"/>
              <a:ext cx="648335" cy="281305"/>
            </a:xfrm>
            <a:custGeom>
              <a:avLst/>
              <a:gdLst/>
              <a:ahLst/>
              <a:cxnLst/>
              <a:rect l="l" t="t" r="r" b="b"/>
              <a:pathLst>
                <a:path w="648334" h="281305">
                  <a:moveTo>
                    <a:pt x="648227" y="0"/>
                  </a:moveTo>
                  <a:lnTo>
                    <a:pt x="0" y="0"/>
                  </a:lnTo>
                  <a:lnTo>
                    <a:pt x="0" y="280682"/>
                  </a:lnTo>
                  <a:lnTo>
                    <a:pt x="648227" y="280682"/>
                  </a:lnTo>
                  <a:lnTo>
                    <a:pt x="648227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860729" y="2822519"/>
              <a:ext cx="648335" cy="281305"/>
            </a:xfrm>
            <a:custGeom>
              <a:avLst/>
              <a:gdLst/>
              <a:ahLst/>
              <a:cxnLst/>
              <a:rect l="l" t="t" r="r" b="b"/>
              <a:pathLst>
                <a:path w="648334" h="281305">
                  <a:moveTo>
                    <a:pt x="0" y="0"/>
                  </a:moveTo>
                  <a:lnTo>
                    <a:pt x="648227" y="0"/>
                  </a:lnTo>
                  <a:lnTo>
                    <a:pt x="648227" y="280682"/>
                  </a:lnTo>
                  <a:lnTo>
                    <a:pt x="0" y="280682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560818" y="2962860"/>
              <a:ext cx="300355" cy="5080"/>
            </a:xfrm>
            <a:custGeom>
              <a:avLst/>
              <a:gdLst/>
              <a:ahLst/>
              <a:cxnLst/>
              <a:rect l="l" t="t" r="r" b="b"/>
              <a:pathLst>
                <a:path w="300354" h="5080">
                  <a:moveTo>
                    <a:pt x="0" y="5083"/>
                  </a:moveTo>
                  <a:lnTo>
                    <a:pt x="299911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731894" y="2491604"/>
              <a:ext cx="401320" cy="206375"/>
            </a:xfrm>
            <a:custGeom>
              <a:avLst/>
              <a:gdLst/>
              <a:ahLst/>
              <a:cxnLst/>
              <a:rect l="l" t="t" r="r" b="b"/>
              <a:pathLst>
                <a:path w="401320" h="206375">
                  <a:moveTo>
                    <a:pt x="200421" y="0"/>
                  </a:moveTo>
                  <a:lnTo>
                    <a:pt x="137072" y="5245"/>
                  </a:lnTo>
                  <a:lnTo>
                    <a:pt x="82055" y="19851"/>
                  </a:lnTo>
                  <a:lnTo>
                    <a:pt x="38669" y="42124"/>
                  </a:lnTo>
                  <a:lnTo>
                    <a:pt x="10217" y="70368"/>
                  </a:lnTo>
                  <a:lnTo>
                    <a:pt x="0" y="102889"/>
                  </a:lnTo>
                  <a:lnTo>
                    <a:pt x="10217" y="135409"/>
                  </a:lnTo>
                  <a:lnTo>
                    <a:pt x="38669" y="163653"/>
                  </a:lnTo>
                  <a:lnTo>
                    <a:pt x="82055" y="185926"/>
                  </a:lnTo>
                  <a:lnTo>
                    <a:pt x="137072" y="200532"/>
                  </a:lnTo>
                  <a:lnTo>
                    <a:pt x="200421" y="205778"/>
                  </a:lnTo>
                  <a:lnTo>
                    <a:pt x="263769" y="200532"/>
                  </a:lnTo>
                  <a:lnTo>
                    <a:pt x="318787" y="185926"/>
                  </a:lnTo>
                  <a:lnTo>
                    <a:pt x="362172" y="163653"/>
                  </a:lnTo>
                  <a:lnTo>
                    <a:pt x="390624" y="135409"/>
                  </a:lnTo>
                  <a:lnTo>
                    <a:pt x="400842" y="102889"/>
                  </a:lnTo>
                  <a:lnTo>
                    <a:pt x="390624" y="70368"/>
                  </a:lnTo>
                  <a:lnTo>
                    <a:pt x="362172" y="42124"/>
                  </a:lnTo>
                  <a:lnTo>
                    <a:pt x="318787" y="19851"/>
                  </a:lnTo>
                  <a:lnTo>
                    <a:pt x="263769" y="5245"/>
                  </a:lnTo>
                  <a:lnTo>
                    <a:pt x="200421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731894" y="2491604"/>
              <a:ext cx="401320" cy="206375"/>
            </a:xfrm>
            <a:custGeom>
              <a:avLst/>
              <a:gdLst/>
              <a:ahLst/>
              <a:cxnLst/>
              <a:rect l="l" t="t" r="r" b="b"/>
              <a:pathLst>
                <a:path w="401320" h="206375">
                  <a:moveTo>
                    <a:pt x="0" y="102889"/>
                  </a:moveTo>
                  <a:lnTo>
                    <a:pt x="38669" y="42124"/>
                  </a:lnTo>
                  <a:lnTo>
                    <a:pt x="82055" y="19851"/>
                  </a:lnTo>
                  <a:lnTo>
                    <a:pt x="137073" y="5245"/>
                  </a:lnTo>
                  <a:lnTo>
                    <a:pt x="200421" y="0"/>
                  </a:lnTo>
                  <a:lnTo>
                    <a:pt x="263770" y="5245"/>
                  </a:lnTo>
                  <a:lnTo>
                    <a:pt x="318788" y="19851"/>
                  </a:lnTo>
                  <a:lnTo>
                    <a:pt x="362173" y="42124"/>
                  </a:lnTo>
                  <a:lnTo>
                    <a:pt x="390626" y="70368"/>
                  </a:lnTo>
                  <a:lnTo>
                    <a:pt x="400843" y="102889"/>
                  </a:lnTo>
                  <a:lnTo>
                    <a:pt x="390626" y="135409"/>
                  </a:lnTo>
                  <a:lnTo>
                    <a:pt x="362173" y="163654"/>
                  </a:lnTo>
                  <a:lnTo>
                    <a:pt x="318788" y="185926"/>
                  </a:lnTo>
                  <a:lnTo>
                    <a:pt x="263770" y="200532"/>
                  </a:lnTo>
                  <a:lnTo>
                    <a:pt x="200421" y="205778"/>
                  </a:lnTo>
                  <a:lnTo>
                    <a:pt x="137073" y="200532"/>
                  </a:lnTo>
                  <a:lnTo>
                    <a:pt x="82055" y="185926"/>
                  </a:lnTo>
                  <a:lnTo>
                    <a:pt x="38669" y="163654"/>
                  </a:lnTo>
                  <a:lnTo>
                    <a:pt x="10217" y="135409"/>
                  </a:lnTo>
                  <a:lnTo>
                    <a:pt x="0" y="10288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232949" y="2491604"/>
              <a:ext cx="401320" cy="206375"/>
            </a:xfrm>
            <a:custGeom>
              <a:avLst/>
              <a:gdLst/>
              <a:ahLst/>
              <a:cxnLst/>
              <a:rect l="l" t="t" r="r" b="b"/>
              <a:pathLst>
                <a:path w="401320" h="206375">
                  <a:moveTo>
                    <a:pt x="200422" y="0"/>
                  </a:moveTo>
                  <a:lnTo>
                    <a:pt x="137073" y="5245"/>
                  </a:lnTo>
                  <a:lnTo>
                    <a:pt x="82055" y="19851"/>
                  </a:lnTo>
                  <a:lnTo>
                    <a:pt x="38669" y="42124"/>
                  </a:lnTo>
                  <a:lnTo>
                    <a:pt x="10217" y="70368"/>
                  </a:lnTo>
                  <a:lnTo>
                    <a:pt x="0" y="102889"/>
                  </a:lnTo>
                  <a:lnTo>
                    <a:pt x="10217" y="135409"/>
                  </a:lnTo>
                  <a:lnTo>
                    <a:pt x="38669" y="163653"/>
                  </a:lnTo>
                  <a:lnTo>
                    <a:pt x="82055" y="185926"/>
                  </a:lnTo>
                  <a:lnTo>
                    <a:pt x="137073" y="200532"/>
                  </a:lnTo>
                  <a:lnTo>
                    <a:pt x="200422" y="205778"/>
                  </a:lnTo>
                  <a:lnTo>
                    <a:pt x="263771" y="200532"/>
                  </a:lnTo>
                  <a:lnTo>
                    <a:pt x="318788" y="185926"/>
                  </a:lnTo>
                  <a:lnTo>
                    <a:pt x="362174" y="163653"/>
                  </a:lnTo>
                  <a:lnTo>
                    <a:pt x="390626" y="135409"/>
                  </a:lnTo>
                  <a:lnTo>
                    <a:pt x="400843" y="102889"/>
                  </a:lnTo>
                  <a:lnTo>
                    <a:pt x="390626" y="70368"/>
                  </a:lnTo>
                  <a:lnTo>
                    <a:pt x="362174" y="42124"/>
                  </a:lnTo>
                  <a:lnTo>
                    <a:pt x="318788" y="19851"/>
                  </a:lnTo>
                  <a:lnTo>
                    <a:pt x="263771" y="5245"/>
                  </a:lnTo>
                  <a:lnTo>
                    <a:pt x="200422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232949" y="2491604"/>
              <a:ext cx="401320" cy="206375"/>
            </a:xfrm>
            <a:custGeom>
              <a:avLst/>
              <a:gdLst/>
              <a:ahLst/>
              <a:cxnLst/>
              <a:rect l="l" t="t" r="r" b="b"/>
              <a:pathLst>
                <a:path w="401320" h="206375">
                  <a:moveTo>
                    <a:pt x="0" y="102889"/>
                  </a:moveTo>
                  <a:lnTo>
                    <a:pt x="38669" y="42124"/>
                  </a:lnTo>
                  <a:lnTo>
                    <a:pt x="82055" y="19851"/>
                  </a:lnTo>
                  <a:lnTo>
                    <a:pt x="137073" y="5245"/>
                  </a:lnTo>
                  <a:lnTo>
                    <a:pt x="200421" y="0"/>
                  </a:lnTo>
                  <a:lnTo>
                    <a:pt x="263770" y="5245"/>
                  </a:lnTo>
                  <a:lnTo>
                    <a:pt x="318788" y="19851"/>
                  </a:lnTo>
                  <a:lnTo>
                    <a:pt x="362173" y="42124"/>
                  </a:lnTo>
                  <a:lnTo>
                    <a:pt x="390626" y="70368"/>
                  </a:lnTo>
                  <a:lnTo>
                    <a:pt x="400843" y="102889"/>
                  </a:lnTo>
                  <a:lnTo>
                    <a:pt x="390626" y="135409"/>
                  </a:lnTo>
                  <a:lnTo>
                    <a:pt x="362173" y="163654"/>
                  </a:lnTo>
                  <a:lnTo>
                    <a:pt x="318788" y="185926"/>
                  </a:lnTo>
                  <a:lnTo>
                    <a:pt x="263770" y="200532"/>
                  </a:lnTo>
                  <a:lnTo>
                    <a:pt x="200421" y="205778"/>
                  </a:lnTo>
                  <a:lnTo>
                    <a:pt x="137073" y="200532"/>
                  </a:lnTo>
                  <a:lnTo>
                    <a:pt x="82055" y="185926"/>
                  </a:lnTo>
                  <a:lnTo>
                    <a:pt x="38669" y="163654"/>
                  </a:lnTo>
                  <a:lnTo>
                    <a:pt x="10217" y="135409"/>
                  </a:lnTo>
                  <a:lnTo>
                    <a:pt x="0" y="10288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932316" y="2697380"/>
              <a:ext cx="252729" cy="125730"/>
            </a:xfrm>
            <a:custGeom>
              <a:avLst/>
              <a:gdLst/>
              <a:ahLst/>
              <a:cxnLst/>
              <a:rect l="l" t="t" r="r" b="b"/>
              <a:pathLst>
                <a:path w="252729" h="125730">
                  <a:moveTo>
                    <a:pt x="0" y="0"/>
                  </a:moveTo>
                  <a:lnTo>
                    <a:pt x="252527" y="125137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184843" y="2697380"/>
              <a:ext cx="248920" cy="125730"/>
            </a:xfrm>
            <a:custGeom>
              <a:avLst/>
              <a:gdLst/>
              <a:ahLst/>
              <a:cxnLst/>
              <a:rect l="l" t="t" r="r" b="b"/>
              <a:pathLst>
                <a:path w="248920" h="125730">
                  <a:moveTo>
                    <a:pt x="248527" y="0"/>
                  </a:moveTo>
                  <a:lnTo>
                    <a:pt x="0" y="125137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597767" y="2523357"/>
              <a:ext cx="401320" cy="206375"/>
            </a:xfrm>
            <a:custGeom>
              <a:avLst/>
              <a:gdLst/>
              <a:ahLst/>
              <a:cxnLst/>
              <a:rect l="l" t="t" r="r" b="b"/>
              <a:pathLst>
                <a:path w="401320" h="206375">
                  <a:moveTo>
                    <a:pt x="200421" y="0"/>
                  </a:moveTo>
                  <a:lnTo>
                    <a:pt x="137072" y="5245"/>
                  </a:lnTo>
                  <a:lnTo>
                    <a:pt x="82055" y="19851"/>
                  </a:lnTo>
                  <a:lnTo>
                    <a:pt x="38669" y="42124"/>
                  </a:lnTo>
                  <a:lnTo>
                    <a:pt x="10217" y="70368"/>
                  </a:lnTo>
                  <a:lnTo>
                    <a:pt x="0" y="102889"/>
                  </a:lnTo>
                  <a:lnTo>
                    <a:pt x="10217" y="135410"/>
                  </a:lnTo>
                  <a:lnTo>
                    <a:pt x="38669" y="163654"/>
                  </a:lnTo>
                  <a:lnTo>
                    <a:pt x="82055" y="185926"/>
                  </a:lnTo>
                  <a:lnTo>
                    <a:pt x="137072" y="200532"/>
                  </a:lnTo>
                  <a:lnTo>
                    <a:pt x="200421" y="205778"/>
                  </a:lnTo>
                  <a:lnTo>
                    <a:pt x="263770" y="200532"/>
                  </a:lnTo>
                  <a:lnTo>
                    <a:pt x="318788" y="185926"/>
                  </a:lnTo>
                  <a:lnTo>
                    <a:pt x="362173" y="163654"/>
                  </a:lnTo>
                  <a:lnTo>
                    <a:pt x="390626" y="135410"/>
                  </a:lnTo>
                  <a:lnTo>
                    <a:pt x="400843" y="102889"/>
                  </a:lnTo>
                  <a:lnTo>
                    <a:pt x="390626" y="70368"/>
                  </a:lnTo>
                  <a:lnTo>
                    <a:pt x="362173" y="42124"/>
                  </a:lnTo>
                  <a:lnTo>
                    <a:pt x="318788" y="19851"/>
                  </a:lnTo>
                  <a:lnTo>
                    <a:pt x="263770" y="5245"/>
                  </a:lnTo>
                  <a:lnTo>
                    <a:pt x="200421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597767" y="2523357"/>
              <a:ext cx="401320" cy="206375"/>
            </a:xfrm>
            <a:custGeom>
              <a:avLst/>
              <a:gdLst/>
              <a:ahLst/>
              <a:cxnLst/>
              <a:rect l="l" t="t" r="r" b="b"/>
              <a:pathLst>
                <a:path w="401320" h="206375">
                  <a:moveTo>
                    <a:pt x="0" y="102889"/>
                  </a:moveTo>
                  <a:lnTo>
                    <a:pt x="38669" y="42124"/>
                  </a:lnTo>
                  <a:lnTo>
                    <a:pt x="82055" y="19851"/>
                  </a:lnTo>
                  <a:lnTo>
                    <a:pt x="137073" y="5245"/>
                  </a:lnTo>
                  <a:lnTo>
                    <a:pt x="200421" y="0"/>
                  </a:lnTo>
                  <a:lnTo>
                    <a:pt x="263770" y="5245"/>
                  </a:lnTo>
                  <a:lnTo>
                    <a:pt x="318788" y="19851"/>
                  </a:lnTo>
                  <a:lnTo>
                    <a:pt x="362173" y="42124"/>
                  </a:lnTo>
                  <a:lnTo>
                    <a:pt x="390626" y="70368"/>
                  </a:lnTo>
                  <a:lnTo>
                    <a:pt x="400843" y="102889"/>
                  </a:lnTo>
                  <a:lnTo>
                    <a:pt x="390626" y="135409"/>
                  </a:lnTo>
                  <a:lnTo>
                    <a:pt x="362173" y="163654"/>
                  </a:lnTo>
                  <a:lnTo>
                    <a:pt x="318788" y="185926"/>
                  </a:lnTo>
                  <a:lnTo>
                    <a:pt x="263770" y="200532"/>
                  </a:lnTo>
                  <a:lnTo>
                    <a:pt x="200421" y="205778"/>
                  </a:lnTo>
                  <a:lnTo>
                    <a:pt x="137073" y="200532"/>
                  </a:lnTo>
                  <a:lnTo>
                    <a:pt x="82055" y="185926"/>
                  </a:lnTo>
                  <a:lnTo>
                    <a:pt x="38669" y="163654"/>
                  </a:lnTo>
                  <a:lnTo>
                    <a:pt x="10217" y="135409"/>
                  </a:lnTo>
                  <a:lnTo>
                    <a:pt x="0" y="10288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052430" y="2443970"/>
              <a:ext cx="401320" cy="206375"/>
            </a:xfrm>
            <a:custGeom>
              <a:avLst/>
              <a:gdLst/>
              <a:ahLst/>
              <a:cxnLst/>
              <a:rect l="l" t="t" r="r" b="b"/>
              <a:pathLst>
                <a:path w="401320" h="206375">
                  <a:moveTo>
                    <a:pt x="200421" y="0"/>
                  </a:moveTo>
                  <a:lnTo>
                    <a:pt x="137072" y="5245"/>
                  </a:lnTo>
                  <a:lnTo>
                    <a:pt x="82055" y="19851"/>
                  </a:lnTo>
                  <a:lnTo>
                    <a:pt x="38669" y="42124"/>
                  </a:lnTo>
                  <a:lnTo>
                    <a:pt x="10217" y="70368"/>
                  </a:lnTo>
                  <a:lnTo>
                    <a:pt x="0" y="102889"/>
                  </a:lnTo>
                  <a:lnTo>
                    <a:pt x="10217" y="135410"/>
                  </a:lnTo>
                  <a:lnTo>
                    <a:pt x="38669" y="163654"/>
                  </a:lnTo>
                  <a:lnTo>
                    <a:pt x="82055" y="185926"/>
                  </a:lnTo>
                  <a:lnTo>
                    <a:pt x="137072" y="200532"/>
                  </a:lnTo>
                  <a:lnTo>
                    <a:pt x="200421" y="205778"/>
                  </a:lnTo>
                  <a:lnTo>
                    <a:pt x="263770" y="200532"/>
                  </a:lnTo>
                  <a:lnTo>
                    <a:pt x="318788" y="185926"/>
                  </a:lnTo>
                  <a:lnTo>
                    <a:pt x="362173" y="163654"/>
                  </a:lnTo>
                  <a:lnTo>
                    <a:pt x="390626" y="135410"/>
                  </a:lnTo>
                  <a:lnTo>
                    <a:pt x="400843" y="102889"/>
                  </a:lnTo>
                  <a:lnTo>
                    <a:pt x="390626" y="70368"/>
                  </a:lnTo>
                  <a:lnTo>
                    <a:pt x="362173" y="42124"/>
                  </a:lnTo>
                  <a:lnTo>
                    <a:pt x="318788" y="19851"/>
                  </a:lnTo>
                  <a:lnTo>
                    <a:pt x="263770" y="5245"/>
                  </a:lnTo>
                  <a:lnTo>
                    <a:pt x="200421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052430" y="2443970"/>
              <a:ext cx="401320" cy="206375"/>
            </a:xfrm>
            <a:custGeom>
              <a:avLst/>
              <a:gdLst/>
              <a:ahLst/>
              <a:cxnLst/>
              <a:rect l="l" t="t" r="r" b="b"/>
              <a:pathLst>
                <a:path w="401320" h="206375">
                  <a:moveTo>
                    <a:pt x="0" y="102889"/>
                  </a:moveTo>
                  <a:lnTo>
                    <a:pt x="38669" y="42124"/>
                  </a:lnTo>
                  <a:lnTo>
                    <a:pt x="82055" y="19851"/>
                  </a:lnTo>
                  <a:lnTo>
                    <a:pt x="137073" y="5245"/>
                  </a:lnTo>
                  <a:lnTo>
                    <a:pt x="200421" y="0"/>
                  </a:lnTo>
                  <a:lnTo>
                    <a:pt x="263770" y="5245"/>
                  </a:lnTo>
                  <a:lnTo>
                    <a:pt x="318788" y="19851"/>
                  </a:lnTo>
                  <a:lnTo>
                    <a:pt x="362173" y="42124"/>
                  </a:lnTo>
                  <a:lnTo>
                    <a:pt x="390626" y="70368"/>
                  </a:lnTo>
                  <a:lnTo>
                    <a:pt x="400843" y="102889"/>
                  </a:lnTo>
                  <a:lnTo>
                    <a:pt x="390626" y="135409"/>
                  </a:lnTo>
                  <a:lnTo>
                    <a:pt x="362173" y="163654"/>
                  </a:lnTo>
                  <a:lnTo>
                    <a:pt x="318788" y="185926"/>
                  </a:lnTo>
                  <a:lnTo>
                    <a:pt x="263770" y="200532"/>
                  </a:lnTo>
                  <a:lnTo>
                    <a:pt x="200421" y="205778"/>
                  </a:lnTo>
                  <a:lnTo>
                    <a:pt x="137073" y="200532"/>
                  </a:lnTo>
                  <a:lnTo>
                    <a:pt x="82055" y="185926"/>
                  </a:lnTo>
                  <a:lnTo>
                    <a:pt x="38669" y="163654"/>
                  </a:lnTo>
                  <a:lnTo>
                    <a:pt x="10217" y="135409"/>
                  </a:lnTo>
                  <a:lnTo>
                    <a:pt x="0" y="10288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488536" y="2523357"/>
              <a:ext cx="401320" cy="206375"/>
            </a:xfrm>
            <a:custGeom>
              <a:avLst/>
              <a:gdLst/>
              <a:ahLst/>
              <a:cxnLst/>
              <a:rect l="l" t="t" r="r" b="b"/>
              <a:pathLst>
                <a:path w="401320" h="206375">
                  <a:moveTo>
                    <a:pt x="200421" y="0"/>
                  </a:moveTo>
                  <a:lnTo>
                    <a:pt x="137072" y="5245"/>
                  </a:lnTo>
                  <a:lnTo>
                    <a:pt x="82055" y="19851"/>
                  </a:lnTo>
                  <a:lnTo>
                    <a:pt x="38669" y="42124"/>
                  </a:lnTo>
                  <a:lnTo>
                    <a:pt x="10217" y="70368"/>
                  </a:lnTo>
                  <a:lnTo>
                    <a:pt x="0" y="102889"/>
                  </a:lnTo>
                  <a:lnTo>
                    <a:pt x="10217" y="135410"/>
                  </a:lnTo>
                  <a:lnTo>
                    <a:pt x="38669" y="163654"/>
                  </a:lnTo>
                  <a:lnTo>
                    <a:pt x="82055" y="185926"/>
                  </a:lnTo>
                  <a:lnTo>
                    <a:pt x="137072" y="200532"/>
                  </a:lnTo>
                  <a:lnTo>
                    <a:pt x="200421" y="205778"/>
                  </a:lnTo>
                  <a:lnTo>
                    <a:pt x="263770" y="200532"/>
                  </a:lnTo>
                  <a:lnTo>
                    <a:pt x="318788" y="185926"/>
                  </a:lnTo>
                  <a:lnTo>
                    <a:pt x="362173" y="163654"/>
                  </a:lnTo>
                  <a:lnTo>
                    <a:pt x="390626" y="135410"/>
                  </a:lnTo>
                  <a:lnTo>
                    <a:pt x="400843" y="102889"/>
                  </a:lnTo>
                  <a:lnTo>
                    <a:pt x="390626" y="70368"/>
                  </a:lnTo>
                  <a:lnTo>
                    <a:pt x="362173" y="42124"/>
                  </a:lnTo>
                  <a:lnTo>
                    <a:pt x="318788" y="19851"/>
                  </a:lnTo>
                  <a:lnTo>
                    <a:pt x="263770" y="5245"/>
                  </a:lnTo>
                  <a:lnTo>
                    <a:pt x="200421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488536" y="2523357"/>
              <a:ext cx="401320" cy="206375"/>
            </a:xfrm>
            <a:custGeom>
              <a:avLst/>
              <a:gdLst/>
              <a:ahLst/>
              <a:cxnLst/>
              <a:rect l="l" t="t" r="r" b="b"/>
              <a:pathLst>
                <a:path w="401320" h="206375">
                  <a:moveTo>
                    <a:pt x="0" y="102889"/>
                  </a:moveTo>
                  <a:lnTo>
                    <a:pt x="38669" y="42124"/>
                  </a:lnTo>
                  <a:lnTo>
                    <a:pt x="82055" y="19851"/>
                  </a:lnTo>
                  <a:lnTo>
                    <a:pt x="137073" y="5245"/>
                  </a:lnTo>
                  <a:lnTo>
                    <a:pt x="200421" y="0"/>
                  </a:lnTo>
                  <a:lnTo>
                    <a:pt x="263770" y="5245"/>
                  </a:lnTo>
                  <a:lnTo>
                    <a:pt x="318788" y="19851"/>
                  </a:lnTo>
                  <a:lnTo>
                    <a:pt x="362173" y="42124"/>
                  </a:lnTo>
                  <a:lnTo>
                    <a:pt x="390626" y="70368"/>
                  </a:lnTo>
                  <a:lnTo>
                    <a:pt x="400843" y="102889"/>
                  </a:lnTo>
                  <a:lnTo>
                    <a:pt x="390626" y="135409"/>
                  </a:lnTo>
                  <a:lnTo>
                    <a:pt x="362173" y="163654"/>
                  </a:lnTo>
                  <a:lnTo>
                    <a:pt x="318788" y="185926"/>
                  </a:lnTo>
                  <a:lnTo>
                    <a:pt x="263770" y="200532"/>
                  </a:lnTo>
                  <a:lnTo>
                    <a:pt x="200421" y="205778"/>
                  </a:lnTo>
                  <a:lnTo>
                    <a:pt x="137073" y="200532"/>
                  </a:lnTo>
                  <a:lnTo>
                    <a:pt x="82055" y="185926"/>
                  </a:lnTo>
                  <a:lnTo>
                    <a:pt x="38669" y="163654"/>
                  </a:lnTo>
                  <a:lnTo>
                    <a:pt x="10217" y="135409"/>
                  </a:lnTo>
                  <a:lnTo>
                    <a:pt x="0" y="10288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274478" y="2699001"/>
              <a:ext cx="273050" cy="123825"/>
            </a:xfrm>
            <a:custGeom>
              <a:avLst/>
              <a:gdLst/>
              <a:ahLst/>
              <a:cxnLst/>
              <a:rect l="l" t="t" r="r" b="b"/>
              <a:pathLst>
                <a:path w="273050" h="123825">
                  <a:moveTo>
                    <a:pt x="272760" y="0"/>
                  </a:moveTo>
                  <a:lnTo>
                    <a:pt x="0" y="123517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252852" y="2649748"/>
              <a:ext cx="22225" cy="173355"/>
            </a:xfrm>
            <a:custGeom>
              <a:avLst/>
              <a:gdLst/>
              <a:ahLst/>
              <a:cxnLst/>
              <a:rect l="l" t="t" r="r" b="b"/>
              <a:pathLst>
                <a:path w="22225" h="173355">
                  <a:moveTo>
                    <a:pt x="0" y="0"/>
                  </a:moveTo>
                  <a:lnTo>
                    <a:pt x="21625" y="17277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939909" y="2699001"/>
              <a:ext cx="334645" cy="123825"/>
            </a:xfrm>
            <a:custGeom>
              <a:avLst/>
              <a:gdLst/>
              <a:ahLst/>
              <a:cxnLst/>
              <a:rect l="l" t="t" r="r" b="b"/>
              <a:pathLst>
                <a:path w="334645" h="123825">
                  <a:moveTo>
                    <a:pt x="0" y="0"/>
                  </a:moveTo>
                  <a:lnTo>
                    <a:pt x="334568" y="123517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5385240" y="3783616"/>
          <a:ext cx="1425573" cy="6502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2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25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7408212" y="3783616"/>
          <a:ext cx="1069339" cy="6502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25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EE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EE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E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0" name="object 40"/>
          <p:cNvSpPr/>
          <p:nvPr/>
        </p:nvSpPr>
        <p:spPr>
          <a:xfrm>
            <a:off x="6251055" y="3558504"/>
            <a:ext cx="1381125" cy="240665"/>
          </a:xfrm>
          <a:custGeom>
            <a:avLst/>
            <a:gdLst/>
            <a:ahLst/>
            <a:cxnLst/>
            <a:rect l="l" t="t" r="r" b="b"/>
            <a:pathLst>
              <a:path w="1381125" h="240664">
                <a:moveTo>
                  <a:pt x="697618" y="0"/>
                </a:moveTo>
                <a:lnTo>
                  <a:pt x="633103" y="1305"/>
                </a:lnTo>
                <a:lnTo>
                  <a:pt x="569109" y="5086"/>
                </a:lnTo>
                <a:lnTo>
                  <a:pt x="506129" y="11177"/>
                </a:lnTo>
                <a:lnTo>
                  <a:pt x="444647" y="19417"/>
                </a:lnTo>
                <a:lnTo>
                  <a:pt x="385152" y="29644"/>
                </a:lnTo>
                <a:lnTo>
                  <a:pt x="328131" y="41701"/>
                </a:lnTo>
                <a:lnTo>
                  <a:pt x="274062" y="55435"/>
                </a:lnTo>
                <a:lnTo>
                  <a:pt x="223424" y="70698"/>
                </a:lnTo>
                <a:lnTo>
                  <a:pt x="176900" y="87262"/>
                </a:lnTo>
                <a:lnTo>
                  <a:pt x="134556" y="105153"/>
                </a:lnTo>
                <a:lnTo>
                  <a:pt x="97020" y="124214"/>
                </a:lnTo>
                <a:lnTo>
                  <a:pt x="50670" y="154961"/>
                </a:lnTo>
                <a:lnTo>
                  <a:pt x="17668" y="188776"/>
                </a:lnTo>
                <a:lnTo>
                  <a:pt x="1242" y="224953"/>
                </a:lnTo>
                <a:lnTo>
                  <a:pt x="0" y="237224"/>
                </a:lnTo>
                <a:lnTo>
                  <a:pt x="30345" y="240093"/>
                </a:lnTo>
                <a:lnTo>
                  <a:pt x="31081" y="232300"/>
                </a:lnTo>
                <a:lnTo>
                  <a:pt x="30836" y="232300"/>
                </a:lnTo>
                <a:lnTo>
                  <a:pt x="31334" y="229623"/>
                </a:lnTo>
                <a:lnTo>
                  <a:pt x="31586" y="229623"/>
                </a:lnTo>
                <a:lnTo>
                  <a:pt x="33127" y="224125"/>
                </a:lnTo>
                <a:lnTo>
                  <a:pt x="32927" y="224125"/>
                </a:lnTo>
                <a:lnTo>
                  <a:pt x="33764" y="221851"/>
                </a:lnTo>
                <a:lnTo>
                  <a:pt x="33976" y="221851"/>
                </a:lnTo>
                <a:lnTo>
                  <a:pt x="37730" y="213716"/>
                </a:lnTo>
                <a:lnTo>
                  <a:pt x="43347" y="205195"/>
                </a:lnTo>
                <a:lnTo>
                  <a:pt x="70539" y="178074"/>
                </a:lnTo>
                <a:lnTo>
                  <a:pt x="112513" y="150463"/>
                </a:lnTo>
                <a:lnTo>
                  <a:pt x="147820" y="132596"/>
                </a:lnTo>
                <a:lnTo>
                  <a:pt x="188319" y="115523"/>
                </a:lnTo>
                <a:lnTo>
                  <a:pt x="233640" y="99414"/>
                </a:lnTo>
                <a:lnTo>
                  <a:pt x="282848" y="84621"/>
                </a:lnTo>
                <a:lnTo>
                  <a:pt x="335626" y="71245"/>
                </a:lnTo>
                <a:lnTo>
                  <a:pt x="391452" y="59466"/>
                </a:lnTo>
                <a:lnTo>
                  <a:pt x="449806" y="49457"/>
                </a:lnTo>
                <a:lnTo>
                  <a:pt x="510172" y="41388"/>
                </a:lnTo>
                <a:lnTo>
                  <a:pt x="572039" y="35424"/>
                </a:lnTo>
                <a:lnTo>
                  <a:pt x="634895" y="31732"/>
                </a:lnTo>
                <a:lnTo>
                  <a:pt x="698229" y="30473"/>
                </a:lnTo>
                <a:lnTo>
                  <a:pt x="1023799" y="30473"/>
                </a:lnTo>
                <a:lnTo>
                  <a:pt x="1009973" y="27732"/>
                </a:lnTo>
                <a:lnTo>
                  <a:pt x="950523" y="18152"/>
                </a:lnTo>
                <a:lnTo>
                  <a:pt x="889074" y="10435"/>
                </a:lnTo>
                <a:lnTo>
                  <a:pt x="826115" y="4734"/>
                </a:lnTo>
                <a:lnTo>
                  <a:pt x="762135" y="1203"/>
                </a:lnTo>
                <a:lnTo>
                  <a:pt x="697618" y="0"/>
                </a:lnTo>
                <a:close/>
              </a:path>
              <a:path w="1381125" h="240664">
                <a:moveTo>
                  <a:pt x="31334" y="229623"/>
                </a:moveTo>
                <a:lnTo>
                  <a:pt x="30836" y="232300"/>
                </a:lnTo>
                <a:lnTo>
                  <a:pt x="31206" y="230981"/>
                </a:lnTo>
                <a:lnTo>
                  <a:pt x="31334" y="229623"/>
                </a:lnTo>
                <a:close/>
              </a:path>
              <a:path w="1381125" h="240664">
                <a:moveTo>
                  <a:pt x="31206" y="230981"/>
                </a:moveTo>
                <a:lnTo>
                  <a:pt x="30836" y="232300"/>
                </a:lnTo>
                <a:lnTo>
                  <a:pt x="31081" y="232300"/>
                </a:lnTo>
                <a:lnTo>
                  <a:pt x="31206" y="230981"/>
                </a:lnTo>
                <a:close/>
              </a:path>
              <a:path w="1381125" h="240664">
                <a:moveTo>
                  <a:pt x="31586" y="229623"/>
                </a:moveTo>
                <a:lnTo>
                  <a:pt x="31334" y="229623"/>
                </a:lnTo>
                <a:lnTo>
                  <a:pt x="31206" y="230981"/>
                </a:lnTo>
                <a:lnTo>
                  <a:pt x="31586" y="229623"/>
                </a:lnTo>
                <a:close/>
              </a:path>
              <a:path w="1381125" h="240664">
                <a:moveTo>
                  <a:pt x="1313232" y="161160"/>
                </a:moveTo>
                <a:lnTo>
                  <a:pt x="1289776" y="178328"/>
                </a:lnTo>
                <a:lnTo>
                  <a:pt x="1380676" y="225112"/>
                </a:lnTo>
                <a:lnTo>
                  <a:pt x="1371942" y="173675"/>
                </a:lnTo>
                <a:lnTo>
                  <a:pt x="1324216" y="173675"/>
                </a:lnTo>
                <a:lnTo>
                  <a:pt x="1313232" y="161160"/>
                </a:lnTo>
                <a:close/>
              </a:path>
              <a:path w="1381125" h="240664">
                <a:moveTo>
                  <a:pt x="33764" y="221851"/>
                </a:moveTo>
                <a:lnTo>
                  <a:pt x="32927" y="224125"/>
                </a:lnTo>
                <a:lnTo>
                  <a:pt x="33435" y="223024"/>
                </a:lnTo>
                <a:lnTo>
                  <a:pt x="33764" y="221851"/>
                </a:lnTo>
                <a:close/>
              </a:path>
              <a:path w="1381125" h="240664">
                <a:moveTo>
                  <a:pt x="33435" y="223024"/>
                </a:moveTo>
                <a:lnTo>
                  <a:pt x="32927" y="224125"/>
                </a:lnTo>
                <a:lnTo>
                  <a:pt x="33127" y="224125"/>
                </a:lnTo>
                <a:lnTo>
                  <a:pt x="33435" y="223024"/>
                </a:lnTo>
                <a:close/>
              </a:path>
              <a:path w="1381125" h="240664">
                <a:moveTo>
                  <a:pt x="33976" y="221851"/>
                </a:moveTo>
                <a:lnTo>
                  <a:pt x="33764" y="221851"/>
                </a:lnTo>
                <a:lnTo>
                  <a:pt x="33435" y="223024"/>
                </a:lnTo>
                <a:lnTo>
                  <a:pt x="33976" y="221851"/>
                </a:lnTo>
                <a:close/>
              </a:path>
              <a:path w="1381125" h="240664">
                <a:moveTo>
                  <a:pt x="1313689" y="160825"/>
                </a:moveTo>
                <a:lnTo>
                  <a:pt x="1313232" y="161160"/>
                </a:lnTo>
                <a:lnTo>
                  <a:pt x="1324216" y="173675"/>
                </a:lnTo>
                <a:lnTo>
                  <a:pt x="1338658" y="161000"/>
                </a:lnTo>
                <a:lnTo>
                  <a:pt x="1313969" y="161000"/>
                </a:lnTo>
                <a:lnTo>
                  <a:pt x="1313689" y="160825"/>
                </a:lnTo>
                <a:close/>
              </a:path>
              <a:path w="1381125" h="240664">
                <a:moveTo>
                  <a:pt x="1363562" y="124321"/>
                </a:moveTo>
                <a:lnTo>
                  <a:pt x="1337924" y="143087"/>
                </a:lnTo>
                <a:lnTo>
                  <a:pt x="1347124" y="153570"/>
                </a:lnTo>
                <a:lnTo>
                  <a:pt x="1324216" y="173675"/>
                </a:lnTo>
                <a:lnTo>
                  <a:pt x="1371942" y="173675"/>
                </a:lnTo>
                <a:lnTo>
                  <a:pt x="1363562" y="124321"/>
                </a:lnTo>
                <a:close/>
              </a:path>
              <a:path w="1381125" h="240664">
                <a:moveTo>
                  <a:pt x="1312037" y="159798"/>
                </a:moveTo>
                <a:lnTo>
                  <a:pt x="1313232" y="161160"/>
                </a:lnTo>
                <a:lnTo>
                  <a:pt x="1313689" y="160825"/>
                </a:lnTo>
                <a:lnTo>
                  <a:pt x="1312037" y="159798"/>
                </a:lnTo>
                <a:close/>
              </a:path>
              <a:path w="1381125" h="240664">
                <a:moveTo>
                  <a:pt x="1313729" y="160796"/>
                </a:moveTo>
                <a:lnTo>
                  <a:pt x="1313969" y="161000"/>
                </a:lnTo>
                <a:lnTo>
                  <a:pt x="1313729" y="160796"/>
                </a:lnTo>
                <a:close/>
              </a:path>
              <a:path w="1381125" h="240664">
                <a:moveTo>
                  <a:pt x="1337924" y="143087"/>
                </a:moveTo>
                <a:lnTo>
                  <a:pt x="1313729" y="160796"/>
                </a:lnTo>
                <a:lnTo>
                  <a:pt x="1313969" y="161000"/>
                </a:lnTo>
                <a:lnTo>
                  <a:pt x="1338658" y="161000"/>
                </a:lnTo>
                <a:lnTo>
                  <a:pt x="1347124" y="153570"/>
                </a:lnTo>
                <a:lnTo>
                  <a:pt x="1337924" y="143087"/>
                </a:lnTo>
                <a:close/>
              </a:path>
              <a:path w="1381125" h="240664">
                <a:moveTo>
                  <a:pt x="1310547" y="158101"/>
                </a:moveTo>
                <a:lnTo>
                  <a:pt x="1312037" y="159798"/>
                </a:lnTo>
                <a:lnTo>
                  <a:pt x="1313689" y="160825"/>
                </a:lnTo>
                <a:lnTo>
                  <a:pt x="1310547" y="158101"/>
                </a:lnTo>
                <a:close/>
              </a:path>
              <a:path w="1381125" h="240664">
                <a:moveTo>
                  <a:pt x="1317411" y="158101"/>
                </a:moveTo>
                <a:lnTo>
                  <a:pt x="1310547" y="158101"/>
                </a:lnTo>
                <a:lnTo>
                  <a:pt x="1313729" y="160796"/>
                </a:lnTo>
                <a:lnTo>
                  <a:pt x="1317411" y="158101"/>
                </a:lnTo>
                <a:close/>
              </a:path>
              <a:path w="1381125" h="240664">
                <a:moveTo>
                  <a:pt x="1023799" y="30473"/>
                </a:moveTo>
                <a:lnTo>
                  <a:pt x="698229" y="30473"/>
                </a:lnTo>
                <a:lnTo>
                  <a:pt x="761561" y="31678"/>
                </a:lnTo>
                <a:lnTo>
                  <a:pt x="824431" y="35167"/>
                </a:lnTo>
                <a:lnTo>
                  <a:pt x="886321" y="40791"/>
                </a:lnTo>
                <a:lnTo>
                  <a:pt x="946721" y="48394"/>
                </a:lnTo>
                <a:lnTo>
                  <a:pt x="1005119" y="57823"/>
                </a:lnTo>
                <a:lnTo>
                  <a:pt x="1061003" y="68922"/>
                </a:lnTo>
                <a:lnTo>
                  <a:pt x="1113859" y="81531"/>
                </a:lnTo>
                <a:lnTo>
                  <a:pt x="1163170" y="95487"/>
                </a:lnTo>
                <a:lnTo>
                  <a:pt x="1208408" y="110623"/>
                </a:lnTo>
                <a:lnTo>
                  <a:pt x="1248826" y="126669"/>
                </a:lnTo>
                <a:lnTo>
                  <a:pt x="1284265" y="143565"/>
                </a:lnTo>
                <a:lnTo>
                  <a:pt x="1312037" y="159798"/>
                </a:lnTo>
                <a:lnTo>
                  <a:pt x="1310547" y="158101"/>
                </a:lnTo>
                <a:lnTo>
                  <a:pt x="1317411" y="158101"/>
                </a:lnTo>
                <a:lnTo>
                  <a:pt x="1337924" y="143087"/>
                </a:lnTo>
                <a:lnTo>
                  <a:pt x="1297898" y="116305"/>
                </a:lnTo>
                <a:lnTo>
                  <a:pt x="1260494" y="98512"/>
                </a:lnTo>
                <a:lnTo>
                  <a:pt x="1218068" y="81714"/>
                </a:lnTo>
                <a:lnTo>
                  <a:pt x="1171463" y="66158"/>
                </a:lnTo>
                <a:lnTo>
                  <a:pt x="1120926" y="51882"/>
                </a:lnTo>
                <a:lnTo>
                  <a:pt x="1066935" y="39024"/>
                </a:lnTo>
                <a:lnTo>
                  <a:pt x="1023799" y="30473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1" name="object 41"/>
          <p:cNvGraphicFramePr>
            <a:graphicFrameLocks noGrp="1"/>
          </p:cNvGraphicFramePr>
          <p:nvPr/>
        </p:nvGraphicFramePr>
        <p:xfrm>
          <a:off x="5385237" y="5016953"/>
          <a:ext cx="1425573" cy="6502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2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25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7408205" y="5016953"/>
          <a:ext cx="1069339" cy="6502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25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EE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EE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E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8618377" y="5016953"/>
          <a:ext cx="713105" cy="6502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5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EE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E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4" name="object 44"/>
          <p:cNvGrpSpPr/>
          <p:nvPr/>
        </p:nvGrpSpPr>
        <p:grpSpPr>
          <a:xfrm>
            <a:off x="2441145" y="4518964"/>
            <a:ext cx="7343775" cy="2417445"/>
            <a:chOff x="2441145" y="4518964"/>
            <a:chExt cx="7343775" cy="2417445"/>
          </a:xfrm>
        </p:grpSpPr>
        <p:sp>
          <p:nvSpPr>
            <p:cNvPr id="45" name="object 45"/>
            <p:cNvSpPr/>
            <p:nvPr/>
          </p:nvSpPr>
          <p:spPr>
            <a:xfrm>
              <a:off x="2441143" y="4518964"/>
              <a:ext cx="111125" cy="1655445"/>
            </a:xfrm>
            <a:custGeom>
              <a:avLst/>
              <a:gdLst/>
              <a:ahLst/>
              <a:cxnLst/>
              <a:rect l="l" t="t" r="r" b="b"/>
              <a:pathLst>
                <a:path w="111125" h="1655445">
                  <a:moveTo>
                    <a:pt x="110286" y="291744"/>
                  </a:moveTo>
                  <a:lnTo>
                    <a:pt x="109181" y="287604"/>
                  </a:lnTo>
                  <a:lnTo>
                    <a:pt x="102692" y="283870"/>
                  </a:lnTo>
                  <a:lnTo>
                    <a:pt x="98552" y="284988"/>
                  </a:lnTo>
                  <a:lnTo>
                    <a:pt x="62217" y="348056"/>
                  </a:lnTo>
                  <a:lnTo>
                    <a:pt x="60350" y="0"/>
                  </a:lnTo>
                  <a:lnTo>
                    <a:pt x="46812" y="76"/>
                  </a:lnTo>
                  <a:lnTo>
                    <a:pt x="48666" y="348119"/>
                  </a:lnTo>
                  <a:lnTo>
                    <a:pt x="48729" y="359702"/>
                  </a:lnTo>
                  <a:lnTo>
                    <a:pt x="48628" y="348056"/>
                  </a:lnTo>
                  <a:lnTo>
                    <a:pt x="11658" y="285445"/>
                  </a:lnTo>
                  <a:lnTo>
                    <a:pt x="7505" y="284378"/>
                  </a:lnTo>
                  <a:lnTo>
                    <a:pt x="1066" y="288188"/>
                  </a:lnTo>
                  <a:lnTo>
                    <a:pt x="0" y="292341"/>
                  </a:lnTo>
                  <a:lnTo>
                    <a:pt x="55651" y="386588"/>
                  </a:lnTo>
                  <a:lnTo>
                    <a:pt x="63373" y="373176"/>
                  </a:lnTo>
                  <a:lnTo>
                    <a:pt x="110286" y="291744"/>
                  </a:lnTo>
                  <a:close/>
                </a:path>
                <a:path w="111125" h="1655445">
                  <a:moveTo>
                    <a:pt x="110794" y="1560360"/>
                  </a:moveTo>
                  <a:lnTo>
                    <a:pt x="109702" y="1556207"/>
                  </a:lnTo>
                  <a:lnTo>
                    <a:pt x="103251" y="1552435"/>
                  </a:lnTo>
                  <a:lnTo>
                    <a:pt x="99098" y="1553527"/>
                  </a:lnTo>
                  <a:lnTo>
                    <a:pt x="62420" y="1616405"/>
                  </a:lnTo>
                  <a:lnTo>
                    <a:pt x="62420" y="1264373"/>
                  </a:lnTo>
                  <a:lnTo>
                    <a:pt x="48882" y="1264373"/>
                  </a:lnTo>
                  <a:lnTo>
                    <a:pt x="48882" y="1616405"/>
                  </a:lnTo>
                  <a:lnTo>
                    <a:pt x="12204" y="1553527"/>
                  </a:lnTo>
                  <a:lnTo>
                    <a:pt x="8051" y="1552435"/>
                  </a:lnTo>
                  <a:lnTo>
                    <a:pt x="1587" y="1556207"/>
                  </a:lnTo>
                  <a:lnTo>
                    <a:pt x="508" y="1560360"/>
                  </a:lnTo>
                  <a:lnTo>
                    <a:pt x="55651" y="1654898"/>
                  </a:lnTo>
                  <a:lnTo>
                    <a:pt x="63487" y="1641462"/>
                  </a:lnTo>
                  <a:lnTo>
                    <a:pt x="110794" y="1560360"/>
                  </a:lnTo>
                  <a:close/>
                </a:path>
              </a:pathLst>
            </a:custGeom>
            <a:solidFill>
              <a:srgbClr val="3E46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945361" y="5273752"/>
              <a:ext cx="351155" cy="121920"/>
            </a:xfrm>
            <a:custGeom>
              <a:avLst/>
              <a:gdLst/>
              <a:ahLst/>
              <a:cxnLst/>
              <a:rect l="l" t="t" r="r" b="b"/>
              <a:pathLst>
                <a:path w="351154" h="121920">
                  <a:moveTo>
                    <a:pt x="229210" y="0"/>
                  </a:moveTo>
                  <a:lnTo>
                    <a:pt x="229209" y="121919"/>
                  </a:lnTo>
                  <a:lnTo>
                    <a:pt x="310492" y="81280"/>
                  </a:lnTo>
                  <a:lnTo>
                    <a:pt x="249530" y="81280"/>
                  </a:lnTo>
                  <a:lnTo>
                    <a:pt x="249530" y="40639"/>
                  </a:lnTo>
                  <a:lnTo>
                    <a:pt x="310489" y="40639"/>
                  </a:lnTo>
                  <a:lnTo>
                    <a:pt x="229210" y="0"/>
                  </a:lnTo>
                  <a:close/>
                </a:path>
                <a:path w="351154" h="121920">
                  <a:moveTo>
                    <a:pt x="229210" y="40639"/>
                  </a:moveTo>
                  <a:lnTo>
                    <a:pt x="1" y="40639"/>
                  </a:lnTo>
                  <a:lnTo>
                    <a:pt x="0" y="81280"/>
                  </a:lnTo>
                  <a:lnTo>
                    <a:pt x="229210" y="81280"/>
                  </a:lnTo>
                  <a:lnTo>
                    <a:pt x="229210" y="40639"/>
                  </a:lnTo>
                  <a:close/>
                </a:path>
                <a:path w="351154" h="121920">
                  <a:moveTo>
                    <a:pt x="310489" y="40639"/>
                  </a:moveTo>
                  <a:lnTo>
                    <a:pt x="249530" y="40639"/>
                  </a:lnTo>
                  <a:lnTo>
                    <a:pt x="249530" y="81280"/>
                  </a:lnTo>
                  <a:lnTo>
                    <a:pt x="310492" y="81280"/>
                  </a:lnTo>
                  <a:lnTo>
                    <a:pt x="351130" y="60961"/>
                  </a:lnTo>
                  <a:lnTo>
                    <a:pt x="310489" y="40639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54928" y="6197575"/>
              <a:ext cx="2729645" cy="738390"/>
            </a:xfrm>
            <a:prstGeom prst="rect">
              <a:avLst/>
            </a:prstGeom>
          </p:spPr>
        </p:pic>
      </p:grpSp>
      <p:graphicFrame>
        <p:nvGraphicFramePr>
          <p:cNvPr id="48" name="object 48"/>
          <p:cNvGraphicFramePr>
            <a:graphicFrameLocks noGrp="1"/>
          </p:cNvGraphicFramePr>
          <p:nvPr/>
        </p:nvGraphicFramePr>
        <p:xfrm>
          <a:off x="5391914" y="6133667"/>
          <a:ext cx="1425573" cy="4876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2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25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9" name="object 49"/>
          <p:cNvGraphicFramePr>
            <a:graphicFrameLocks noGrp="1"/>
          </p:cNvGraphicFramePr>
          <p:nvPr/>
        </p:nvGraphicFramePr>
        <p:xfrm>
          <a:off x="5391914" y="6731292"/>
          <a:ext cx="1425573" cy="3604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2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02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2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383031"/>
            <a:ext cx="9333865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55" dirty="0"/>
              <a:t>Why</a:t>
            </a:r>
            <a:r>
              <a:rPr sz="3700" spc="-195" dirty="0"/>
              <a:t> </a:t>
            </a:r>
            <a:r>
              <a:rPr sz="3700" spc="-75" dirty="0"/>
              <a:t>Worry</a:t>
            </a:r>
            <a:r>
              <a:rPr sz="3700" spc="-190" dirty="0"/>
              <a:t> </a:t>
            </a:r>
            <a:r>
              <a:rPr sz="3700" spc="-75" dirty="0"/>
              <a:t>about</a:t>
            </a:r>
            <a:r>
              <a:rPr sz="3700" spc="-190" dirty="0"/>
              <a:t> </a:t>
            </a:r>
            <a:r>
              <a:rPr sz="3700" spc="-75" dirty="0"/>
              <a:t>Sound</a:t>
            </a:r>
            <a:r>
              <a:rPr sz="3700" spc="-180" dirty="0"/>
              <a:t> </a:t>
            </a:r>
            <a:r>
              <a:rPr sz="3700" spc="-85" dirty="0"/>
              <a:t>Structures?</a:t>
            </a:r>
            <a:endParaRPr sz="3700"/>
          </a:p>
        </p:txBody>
      </p:sp>
      <p:sp>
        <p:nvSpPr>
          <p:cNvPr id="3" name="object 3"/>
          <p:cNvSpPr txBox="1"/>
          <p:nvPr/>
        </p:nvSpPr>
        <p:spPr>
          <a:xfrm>
            <a:off x="502839" y="1250696"/>
            <a:ext cx="8082280" cy="3662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your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structure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isn’t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sound,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what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could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happen?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00">
              <a:latin typeface="Verdana"/>
              <a:cs typeface="Verdana"/>
            </a:endParaRPr>
          </a:p>
          <a:p>
            <a:pPr marL="27940">
              <a:lnSpc>
                <a:spcPct val="100000"/>
              </a:lnSpc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Let’s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share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opinion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/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idea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/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experience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!!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50">
              <a:latin typeface="Verdana"/>
              <a:cs typeface="Verdana"/>
            </a:endParaRPr>
          </a:p>
          <a:p>
            <a:pPr marL="27940">
              <a:lnSpc>
                <a:spcPct val="100000"/>
              </a:lnSpc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Does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“Bad”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design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impact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following?</a:t>
            </a:r>
            <a:endParaRPr sz="2100">
              <a:latin typeface="Verdana"/>
              <a:cs typeface="Verdana"/>
            </a:endParaRPr>
          </a:p>
          <a:p>
            <a:pPr marL="506730" indent="-247650">
              <a:lnSpc>
                <a:spcPct val="100000"/>
              </a:lnSpc>
              <a:spcBef>
                <a:spcPts val="1100"/>
              </a:spcBef>
              <a:buSzPct val="85714"/>
              <a:buFont typeface="Arial MT"/>
              <a:buChar char="•"/>
              <a:tabLst>
                <a:tab pos="506730" algn="l"/>
                <a:tab pos="50736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manipulation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adding,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updating,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deleting</a:t>
            </a:r>
            <a:endParaRPr sz="2100">
              <a:latin typeface="Verdana"/>
              <a:cs typeface="Verdana"/>
            </a:endParaRPr>
          </a:p>
          <a:p>
            <a:pPr marL="506730" indent="-247650">
              <a:lnSpc>
                <a:spcPct val="100000"/>
              </a:lnSpc>
              <a:spcBef>
                <a:spcPts val="1080"/>
              </a:spcBef>
              <a:buSzPct val="85714"/>
              <a:buFont typeface="Arial MT"/>
              <a:buChar char="•"/>
              <a:tabLst>
                <a:tab pos="506730" algn="l"/>
                <a:tab pos="507365" algn="l"/>
              </a:tabLst>
            </a:pP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Retrieving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endParaRPr sz="2100">
              <a:latin typeface="Verdana"/>
              <a:cs typeface="Verdana"/>
            </a:endParaRPr>
          </a:p>
          <a:p>
            <a:pPr marL="506730" indent="-247650">
              <a:lnSpc>
                <a:spcPct val="100000"/>
              </a:lnSpc>
              <a:spcBef>
                <a:spcPts val="1180"/>
              </a:spcBef>
              <a:buSzPct val="85714"/>
              <a:buFont typeface="Arial MT"/>
              <a:buChar char="•"/>
              <a:tabLst>
                <a:tab pos="506730" algn="l"/>
                <a:tab pos="50736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integrity,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consistency</a:t>
            </a:r>
            <a:endParaRPr sz="2100">
              <a:latin typeface="Verdana"/>
              <a:cs typeface="Verdana"/>
            </a:endParaRPr>
          </a:p>
          <a:p>
            <a:pPr marL="506730" indent="-247650">
              <a:lnSpc>
                <a:spcPct val="100000"/>
              </a:lnSpc>
              <a:spcBef>
                <a:spcPts val="1080"/>
              </a:spcBef>
              <a:buSzPct val="85714"/>
              <a:buFont typeface="Arial MT"/>
              <a:buChar char="•"/>
              <a:tabLst>
                <a:tab pos="506730" algn="l"/>
                <a:tab pos="507365" algn="l"/>
              </a:tabLst>
            </a:pPr>
            <a:r>
              <a:rPr sz="2100" spc="-40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relationships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2839" y="307747"/>
            <a:ext cx="801179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L</a:t>
            </a:r>
            <a:r>
              <a:rPr spc="-125" dirty="0"/>
              <a:t>e</a:t>
            </a:r>
            <a:r>
              <a:rPr spc="-120" dirty="0"/>
              <a:t>t</a:t>
            </a:r>
            <a:r>
              <a:rPr spc="-125" dirty="0"/>
              <a:t>’</a:t>
            </a:r>
            <a:r>
              <a:rPr dirty="0"/>
              <a:t>s</a:t>
            </a:r>
            <a:r>
              <a:rPr spc="-250" dirty="0"/>
              <a:t> </a:t>
            </a:r>
            <a:r>
              <a:rPr spc="-125" dirty="0"/>
              <a:t>Co</a:t>
            </a:r>
            <a:r>
              <a:rPr spc="-130" dirty="0"/>
              <a:t>n</a:t>
            </a:r>
            <a:r>
              <a:rPr spc="-125" dirty="0"/>
              <a:t>side</a:t>
            </a:r>
            <a:r>
              <a:rPr spc="-130" dirty="0"/>
              <a:t>r</a:t>
            </a:r>
            <a:r>
              <a:rPr dirty="0"/>
              <a:t>:</a:t>
            </a:r>
            <a:r>
              <a:rPr spc="-245" dirty="0"/>
              <a:t> </a:t>
            </a:r>
            <a:r>
              <a:rPr spc="-135" dirty="0"/>
              <a:t>F</a:t>
            </a:r>
            <a:r>
              <a:rPr spc="-130" dirty="0"/>
              <a:t>ri</a:t>
            </a:r>
            <a:r>
              <a:rPr spc="-125" dirty="0"/>
              <a:t>e</a:t>
            </a:r>
            <a:r>
              <a:rPr spc="-135" dirty="0"/>
              <a:t>n</a:t>
            </a:r>
            <a:r>
              <a:rPr dirty="0"/>
              <a:t>d</a:t>
            </a:r>
            <a:r>
              <a:rPr spc="-254" dirty="0"/>
              <a:t> </a:t>
            </a:r>
            <a:r>
              <a:rPr spc="-130" dirty="0"/>
              <a:t>B</a:t>
            </a:r>
            <a:r>
              <a:rPr spc="-125" dirty="0"/>
              <a:t>ook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2839" y="1101344"/>
            <a:ext cx="8126095" cy="1613535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Make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simple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friend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book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can:</a:t>
            </a:r>
            <a:endParaRPr sz="2100">
              <a:latin typeface="Verdana"/>
              <a:cs typeface="Verdana"/>
            </a:endParaRPr>
          </a:p>
          <a:p>
            <a:pPr marL="516890" indent="-198755">
              <a:lnSpc>
                <a:spcPct val="100000"/>
              </a:lnSpc>
              <a:spcBef>
                <a:spcPts val="1175"/>
              </a:spcBef>
              <a:buSzPct val="85714"/>
              <a:buFont typeface="Arial MT"/>
              <a:buChar char="•"/>
              <a:tabLst>
                <a:tab pos="51752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Hold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info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about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friend’s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name,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email,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phone, and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city</a:t>
            </a:r>
            <a:endParaRPr sz="2100">
              <a:latin typeface="Verdana"/>
              <a:cs typeface="Verdana"/>
            </a:endParaRPr>
          </a:p>
          <a:p>
            <a:pPr marL="516890" indent="-198755">
              <a:lnSpc>
                <a:spcPct val="100000"/>
              </a:lnSpc>
              <a:buSzPct val="85714"/>
              <a:buFont typeface="Arial MT"/>
              <a:buChar char="•"/>
              <a:tabLst>
                <a:tab pos="51752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Associate </a:t>
            </a: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friends</a:t>
            </a:r>
            <a:r>
              <a:rPr sz="2100" b="1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0" dirty="0">
                <a:solidFill>
                  <a:srgbClr val="292934"/>
                </a:solidFill>
                <a:latin typeface="Verdana"/>
                <a:cs typeface="Verdana"/>
              </a:rPr>
              <a:t>city</a:t>
            </a:r>
            <a:r>
              <a:rPr sz="2100" b="1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they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live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endParaRPr sz="2100">
              <a:latin typeface="Verdana"/>
              <a:cs typeface="Verdana"/>
            </a:endParaRPr>
          </a:p>
          <a:p>
            <a:pPr marL="516890" indent="-198755">
              <a:lnSpc>
                <a:spcPct val="100000"/>
              </a:lnSpc>
              <a:spcBef>
                <a:spcPts val="70"/>
              </a:spcBef>
              <a:buSzPct val="85714"/>
              <a:buFont typeface="Arial MT"/>
              <a:buChar char="•"/>
              <a:tabLst>
                <a:tab pos="51752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Associate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friends</a:t>
            </a:r>
            <a:r>
              <a:rPr sz="2100" b="1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phone</a:t>
            </a:r>
            <a:r>
              <a:rPr sz="2100" b="1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numbers</a:t>
            </a:r>
            <a:r>
              <a:rPr sz="2100" b="1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endParaRPr sz="21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80922" y="3123088"/>
          <a:ext cx="6700518" cy="19019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7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6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8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68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6991">
                <a:tc>
                  <a:txBody>
                    <a:bodyPr/>
                    <a:lstStyle/>
                    <a:p>
                      <a:pPr marL="30289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email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phone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city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  <a:hlinkClick r:id="rId2"/>
                        </a:rPr>
                        <a:t>humpty@uva.edu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434-111-1111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Charlottesville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  <a:hlinkClick r:id="rId3"/>
                        </a:rPr>
                        <a:t>dumpty@uva.edu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434-222-1111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Charlottesville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  <a:hlinkClick r:id="rId3"/>
                        </a:rPr>
                        <a:t>dumpty@uva.edu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434-222-2222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Charlottesville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  <a:hlinkClick r:id="rId4"/>
                        </a:rPr>
                        <a:t>mickey@uva.edu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434-333-3333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Fairfax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  <a:hlinkClick r:id="rId5"/>
                        </a:rPr>
                        <a:t>minnie@uva.edu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434-555-5555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Alexandria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02839" y="5478271"/>
            <a:ext cx="685609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This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instance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does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job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…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but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there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issues?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2839" y="254966"/>
            <a:ext cx="946277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-70" dirty="0"/>
              <a:t>Friend</a:t>
            </a:r>
            <a:r>
              <a:rPr sz="3900" spc="-185" dirty="0"/>
              <a:t> </a:t>
            </a:r>
            <a:r>
              <a:rPr sz="3900" spc="-65" dirty="0"/>
              <a:t>Book</a:t>
            </a:r>
            <a:r>
              <a:rPr sz="3900" b="0" spc="-65" dirty="0">
                <a:latin typeface="Verdana"/>
                <a:cs typeface="Verdana"/>
              </a:rPr>
              <a:t>:</a:t>
            </a:r>
            <a:r>
              <a:rPr sz="3900" b="0" spc="-200" dirty="0">
                <a:latin typeface="Verdana"/>
                <a:cs typeface="Verdana"/>
              </a:rPr>
              <a:t> </a:t>
            </a:r>
            <a:r>
              <a:rPr sz="3900" spc="-70" dirty="0"/>
              <a:t>Redundancy</a:t>
            </a:r>
            <a:r>
              <a:rPr sz="3900" spc="-180" dirty="0"/>
              <a:t> </a:t>
            </a:r>
            <a:r>
              <a:rPr sz="3900" spc="-65" dirty="0"/>
              <a:t>Anomaly</a:t>
            </a:r>
            <a:endParaRPr sz="39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2839" y="1101344"/>
            <a:ext cx="8126095" cy="1613535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Make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simple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friend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book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can:</a:t>
            </a:r>
            <a:endParaRPr sz="2100">
              <a:latin typeface="Verdana"/>
              <a:cs typeface="Verdana"/>
            </a:endParaRPr>
          </a:p>
          <a:p>
            <a:pPr marL="516890" indent="-198755">
              <a:lnSpc>
                <a:spcPct val="100000"/>
              </a:lnSpc>
              <a:spcBef>
                <a:spcPts val="1175"/>
              </a:spcBef>
              <a:buSzPct val="85714"/>
              <a:buFont typeface="Arial MT"/>
              <a:buChar char="•"/>
              <a:tabLst>
                <a:tab pos="51752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Hold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info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about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friend’s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name,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email,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phone, and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city</a:t>
            </a:r>
            <a:endParaRPr sz="2100">
              <a:latin typeface="Verdana"/>
              <a:cs typeface="Verdana"/>
            </a:endParaRPr>
          </a:p>
          <a:p>
            <a:pPr marL="516890" indent="-198755">
              <a:lnSpc>
                <a:spcPct val="100000"/>
              </a:lnSpc>
              <a:buSzPct val="85714"/>
              <a:buFont typeface="Arial MT"/>
              <a:buChar char="•"/>
              <a:tabLst>
                <a:tab pos="51752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Associate </a:t>
            </a: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friends</a:t>
            </a:r>
            <a:r>
              <a:rPr sz="2100" b="1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0" dirty="0">
                <a:solidFill>
                  <a:srgbClr val="292934"/>
                </a:solidFill>
                <a:latin typeface="Verdana"/>
                <a:cs typeface="Verdana"/>
              </a:rPr>
              <a:t>city</a:t>
            </a:r>
            <a:r>
              <a:rPr sz="2100" b="1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they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live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endParaRPr sz="2100">
              <a:latin typeface="Verdana"/>
              <a:cs typeface="Verdana"/>
            </a:endParaRPr>
          </a:p>
          <a:p>
            <a:pPr marL="516890" indent="-198755">
              <a:lnSpc>
                <a:spcPct val="100000"/>
              </a:lnSpc>
              <a:spcBef>
                <a:spcPts val="70"/>
              </a:spcBef>
              <a:buSzPct val="85714"/>
              <a:buFont typeface="Arial MT"/>
              <a:buChar char="•"/>
              <a:tabLst>
                <a:tab pos="51752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Associate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friends</a:t>
            </a:r>
            <a:r>
              <a:rPr sz="2100" b="1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phone</a:t>
            </a:r>
            <a:r>
              <a:rPr sz="2100" b="1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numbers</a:t>
            </a:r>
            <a:r>
              <a:rPr sz="2100" b="1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endParaRPr sz="21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80922" y="3123088"/>
          <a:ext cx="6700518" cy="19019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7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6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8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68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6991">
                <a:tc>
                  <a:txBody>
                    <a:bodyPr/>
                    <a:lstStyle/>
                    <a:p>
                      <a:pPr marL="30289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email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phone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city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  <a:hlinkClick r:id="rId2"/>
                        </a:rPr>
                        <a:t>humpty@uva.edu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434-111-1111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Charlottesville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  <a:hlinkClick r:id="rId3"/>
                        </a:rPr>
                        <a:t>dumpty@uva.edu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434-222-1111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Charlottesville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  <a:hlinkClick r:id="rId3"/>
                        </a:rPr>
                        <a:t>dumpty@uva.edu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434-222-2222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Charlottesville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  <a:hlinkClick r:id="rId4"/>
                        </a:rPr>
                        <a:t>mickey@uva.edu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434-333-3333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Fairfax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  <a:hlinkClick r:id="rId5"/>
                        </a:rPr>
                        <a:t>minnie@uva.edu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434-555-5555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Alexandria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02839" y="5478271"/>
            <a:ext cx="808100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Redundancy</a:t>
            </a:r>
            <a:r>
              <a:rPr sz="2100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part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derived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other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parts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2839" y="242126"/>
            <a:ext cx="8274050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spc="-135" dirty="0"/>
              <a:t>Fr</a:t>
            </a:r>
            <a:r>
              <a:rPr sz="4100" spc="-125" dirty="0"/>
              <a:t>i</a:t>
            </a:r>
            <a:r>
              <a:rPr sz="4100" spc="-140" dirty="0"/>
              <a:t>e</a:t>
            </a:r>
            <a:r>
              <a:rPr sz="4100" spc="-135" dirty="0"/>
              <a:t>n</a:t>
            </a:r>
            <a:r>
              <a:rPr sz="4100" dirty="0"/>
              <a:t>d</a:t>
            </a:r>
            <a:r>
              <a:rPr sz="4100" spc="-260" dirty="0"/>
              <a:t> </a:t>
            </a:r>
            <a:r>
              <a:rPr sz="4100" spc="-135" dirty="0"/>
              <a:t>Boo</a:t>
            </a:r>
            <a:r>
              <a:rPr sz="4100" spc="-140" dirty="0"/>
              <a:t>k</a:t>
            </a:r>
            <a:r>
              <a:rPr sz="4100" dirty="0"/>
              <a:t>:</a:t>
            </a:r>
            <a:r>
              <a:rPr sz="4100" spc="-254" dirty="0"/>
              <a:t> </a:t>
            </a:r>
            <a:r>
              <a:rPr sz="4100" spc="-145" dirty="0"/>
              <a:t>U</a:t>
            </a:r>
            <a:r>
              <a:rPr sz="4100" spc="-135" dirty="0"/>
              <a:t>pd</a:t>
            </a:r>
            <a:r>
              <a:rPr sz="4100" spc="-145" dirty="0"/>
              <a:t>a</a:t>
            </a:r>
            <a:r>
              <a:rPr sz="4100" spc="-135" dirty="0"/>
              <a:t>t</a:t>
            </a:r>
            <a:r>
              <a:rPr sz="4100" dirty="0"/>
              <a:t>e</a:t>
            </a:r>
            <a:r>
              <a:rPr sz="4100" spc="-260" dirty="0"/>
              <a:t> </a:t>
            </a:r>
            <a:r>
              <a:rPr sz="4100" spc="-145" dirty="0"/>
              <a:t>A</a:t>
            </a:r>
            <a:r>
              <a:rPr sz="4100" spc="-135" dirty="0"/>
              <a:t>n</a:t>
            </a:r>
            <a:r>
              <a:rPr sz="4100" spc="-140" dirty="0"/>
              <a:t>o</a:t>
            </a:r>
            <a:r>
              <a:rPr sz="4100" spc="-155" dirty="0"/>
              <a:t>m</a:t>
            </a:r>
            <a:r>
              <a:rPr sz="4100" spc="-140" dirty="0"/>
              <a:t>a</a:t>
            </a:r>
            <a:r>
              <a:rPr sz="4100" spc="-125" dirty="0"/>
              <a:t>l</a:t>
            </a:r>
            <a:r>
              <a:rPr sz="4100" dirty="0"/>
              <a:t>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2839" y="1101344"/>
            <a:ext cx="8126095" cy="1613535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Make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simple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friend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book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can:</a:t>
            </a:r>
            <a:endParaRPr sz="2100">
              <a:latin typeface="Verdana"/>
              <a:cs typeface="Verdana"/>
            </a:endParaRPr>
          </a:p>
          <a:p>
            <a:pPr marL="516890" indent="-198755">
              <a:lnSpc>
                <a:spcPct val="100000"/>
              </a:lnSpc>
              <a:spcBef>
                <a:spcPts val="1175"/>
              </a:spcBef>
              <a:buSzPct val="85714"/>
              <a:buFont typeface="Arial MT"/>
              <a:buChar char="•"/>
              <a:tabLst>
                <a:tab pos="51752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Hold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info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about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friend’s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name,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email,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phone, and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city</a:t>
            </a:r>
            <a:endParaRPr sz="2100">
              <a:latin typeface="Verdana"/>
              <a:cs typeface="Verdana"/>
            </a:endParaRPr>
          </a:p>
          <a:p>
            <a:pPr marL="516890" indent="-198755">
              <a:lnSpc>
                <a:spcPct val="100000"/>
              </a:lnSpc>
              <a:buSzPct val="85714"/>
              <a:buFont typeface="Arial MT"/>
              <a:buChar char="•"/>
              <a:tabLst>
                <a:tab pos="51752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Associate </a:t>
            </a: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friends</a:t>
            </a:r>
            <a:r>
              <a:rPr sz="2100" b="1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0" dirty="0">
                <a:solidFill>
                  <a:srgbClr val="292934"/>
                </a:solidFill>
                <a:latin typeface="Verdana"/>
                <a:cs typeface="Verdana"/>
              </a:rPr>
              <a:t>city</a:t>
            </a:r>
            <a:r>
              <a:rPr sz="2100" b="1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they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live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endParaRPr sz="2100">
              <a:latin typeface="Verdana"/>
              <a:cs typeface="Verdana"/>
            </a:endParaRPr>
          </a:p>
          <a:p>
            <a:pPr marL="516890" indent="-198755">
              <a:lnSpc>
                <a:spcPct val="100000"/>
              </a:lnSpc>
              <a:spcBef>
                <a:spcPts val="70"/>
              </a:spcBef>
              <a:buSzPct val="85714"/>
              <a:buFont typeface="Arial MT"/>
              <a:buChar char="•"/>
              <a:tabLst>
                <a:tab pos="51752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Associate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friends</a:t>
            </a:r>
            <a:r>
              <a:rPr sz="2100" b="1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phone</a:t>
            </a:r>
            <a:r>
              <a:rPr sz="2100" b="1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numbers</a:t>
            </a:r>
            <a:r>
              <a:rPr sz="2100" b="1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2839" y="5441696"/>
            <a:ext cx="7449820" cy="10922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What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if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Dumpty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moves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to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Norfolk</a:t>
            </a:r>
            <a:endParaRPr sz="2100">
              <a:latin typeface="Verdana"/>
              <a:cs typeface="Verdana"/>
            </a:endParaRPr>
          </a:p>
          <a:p>
            <a:pPr marL="516890" indent="-217170">
              <a:lnSpc>
                <a:spcPct val="100000"/>
              </a:lnSpc>
              <a:spcBef>
                <a:spcPts val="290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516890" algn="l"/>
                <a:tab pos="517525" algn="l"/>
              </a:tabLst>
            </a:pP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Redundancy</a:t>
            </a:r>
            <a:r>
              <a:rPr sz="2100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54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possible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inconsistency,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slow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update</a:t>
            </a:r>
            <a:endParaRPr sz="2100">
              <a:latin typeface="Verdana"/>
              <a:cs typeface="Verdana"/>
            </a:endParaRPr>
          </a:p>
          <a:p>
            <a:pPr marL="516890" indent="-217170">
              <a:lnSpc>
                <a:spcPct val="100000"/>
              </a:lnSpc>
              <a:spcBef>
                <a:spcPts val="265"/>
              </a:spcBef>
              <a:buSzPct val="85714"/>
              <a:buFont typeface="Arial MT"/>
              <a:buChar char="•"/>
              <a:tabLst>
                <a:tab pos="516890" algn="l"/>
                <a:tab pos="517525" algn="l"/>
              </a:tabLst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Update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once?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Update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all?</a:t>
            </a:r>
            <a:endParaRPr sz="2100">
              <a:latin typeface="Verdana"/>
              <a:cs typeface="Verdan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680922" y="3123088"/>
          <a:ext cx="6700518" cy="19019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7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6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8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68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6991">
                <a:tc>
                  <a:txBody>
                    <a:bodyPr/>
                    <a:lstStyle/>
                    <a:p>
                      <a:pPr marL="30289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email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phone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city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  <a:hlinkClick r:id="rId2"/>
                        </a:rPr>
                        <a:t>humpty@uva.edu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434-111-1111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Charlottesville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  <a:hlinkClick r:id="rId3"/>
                        </a:rPr>
                        <a:t>dumpty@uva.edu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434-222-1111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trike="sngStrike" spc="-6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trike="sngStrike" spc="-5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Charlottesville</a:t>
                      </a:r>
                      <a:r>
                        <a:rPr sz="1600" strike="sngStrike" spc="15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 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  <a:hlinkClick r:id="rId3"/>
                        </a:rPr>
                        <a:t>dumpty@uva.edu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434-222-2222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Charlottesville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  <a:hlinkClick r:id="rId4"/>
                        </a:rPr>
                        <a:t>mickey@uva.edu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434-333-3333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Fairfax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  <a:hlinkClick r:id="rId5"/>
                        </a:rPr>
                        <a:t>minnie@uva.edu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434-555-5555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Alexandria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8488851" y="3783076"/>
            <a:ext cx="11607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C00000"/>
                </a:solidFill>
                <a:latin typeface="Verdana"/>
                <a:cs typeface="Verdana"/>
              </a:rPr>
              <a:t>Norfolk</a:t>
            </a:r>
            <a:r>
              <a:rPr sz="1600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C00000"/>
                </a:solidFill>
                <a:latin typeface="Verdana"/>
                <a:cs typeface="Verdana"/>
              </a:rPr>
              <a:t>???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2839" y="236677"/>
            <a:ext cx="8606155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spc="-135" dirty="0"/>
              <a:t>Fr</a:t>
            </a:r>
            <a:r>
              <a:rPr sz="4100" spc="-125" dirty="0"/>
              <a:t>i</a:t>
            </a:r>
            <a:r>
              <a:rPr sz="4100" spc="-140" dirty="0"/>
              <a:t>e</a:t>
            </a:r>
            <a:r>
              <a:rPr sz="4100" spc="-135" dirty="0"/>
              <a:t>n</a:t>
            </a:r>
            <a:r>
              <a:rPr sz="4100" dirty="0"/>
              <a:t>d</a:t>
            </a:r>
            <a:r>
              <a:rPr sz="4100" spc="-260" dirty="0"/>
              <a:t> </a:t>
            </a:r>
            <a:r>
              <a:rPr sz="4100" spc="-135" dirty="0"/>
              <a:t>Boo</a:t>
            </a:r>
            <a:r>
              <a:rPr sz="4100" spc="-140" dirty="0"/>
              <a:t>k</a:t>
            </a:r>
            <a:r>
              <a:rPr sz="4100" dirty="0"/>
              <a:t>:</a:t>
            </a:r>
            <a:r>
              <a:rPr sz="4100" spc="-254" dirty="0"/>
              <a:t> </a:t>
            </a:r>
            <a:r>
              <a:rPr sz="4100" spc="-150" dirty="0"/>
              <a:t>D</a:t>
            </a:r>
            <a:r>
              <a:rPr sz="4100" spc="-140" dirty="0"/>
              <a:t>e</a:t>
            </a:r>
            <a:r>
              <a:rPr sz="4100" spc="-125" dirty="0"/>
              <a:t>l</a:t>
            </a:r>
            <a:r>
              <a:rPr sz="4100" spc="-140" dirty="0"/>
              <a:t>e</a:t>
            </a:r>
            <a:r>
              <a:rPr sz="4100" spc="-135" dirty="0"/>
              <a:t>t</a:t>
            </a:r>
            <a:r>
              <a:rPr sz="4100" spc="-125" dirty="0"/>
              <a:t>i</a:t>
            </a:r>
            <a:r>
              <a:rPr sz="4100" spc="-135" dirty="0"/>
              <a:t>o</a:t>
            </a:r>
            <a:r>
              <a:rPr sz="4100" dirty="0"/>
              <a:t>n</a:t>
            </a:r>
            <a:r>
              <a:rPr sz="4100" spc="-260" dirty="0"/>
              <a:t> </a:t>
            </a:r>
            <a:r>
              <a:rPr sz="4100" spc="-145" dirty="0"/>
              <a:t>A</a:t>
            </a:r>
            <a:r>
              <a:rPr sz="4100" spc="-135" dirty="0"/>
              <a:t>n</a:t>
            </a:r>
            <a:r>
              <a:rPr sz="4100" spc="-140" dirty="0"/>
              <a:t>o</a:t>
            </a:r>
            <a:r>
              <a:rPr sz="4100" spc="-155" dirty="0"/>
              <a:t>m</a:t>
            </a:r>
            <a:r>
              <a:rPr sz="4100" spc="-140" dirty="0"/>
              <a:t>a</a:t>
            </a:r>
            <a:r>
              <a:rPr sz="4100" spc="-125" dirty="0"/>
              <a:t>l</a:t>
            </a:r>
            <a:r>
              <a:rPr sz="4100" dirty="0"/>
              <a:t>y</a:t>
            </a:r>
            <a:endParaRPr sz="4100"/>
          </a:p>
        </p:txBody>
      </p:sp>
      <p:sp>
        <p:nvSpPr>
          <p:cNvPr id="3" name="object 3"/>
          <p:cNvSpPr txBox="1"/>
          <p:nvPr/>
        </p:nvSpPr>
        <p:spPr>
          <a:xfrm>
            <a:off x="502839" y="1101344"/>
            <a:ext cx="8126095" cy="1613535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Make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simple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friend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book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can:</a:t>
            </a:r>
            <a:endParaRPr sz="2100">
              <a:latin typeface="Verdana"/>
              <a:cs typeface="Verdana"/>
            </a:endParaRPr>
          </a:p>
          <a:p>
            <a:pPr marL="516890" indent="-198755">
              <a:lnSpc>
                <a:spcPct val="100000"/>
              </a:lnSpc>
              <a:spcBef>
                <a:spcPts val="1175"/>
              </a:spcBef>
              <a:buSzPct val="85714"/>
              <a:buFont typeface="Arial MT"/>
              <a:buChar char="•"/>
              <a:tabLst>
                <a:tab pos="51752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Hold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info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about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friend’s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name,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email,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phone, and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city</a:t>
            </a:r>
            <a:endParaRPr sz="2100">
              <a:latin typeface="Verdana"/>
              <a:cs typeface="Verdana"/>
            </a:endParaRPr>
          </a:p>
          <a:p>
            <a:pPr marL="516890" indent="-198755">
              <a:lnSpc>
                <a:spcPct val="100000"/>
              </a:lnSpc>
              <a:buSzPct val="85714"/>
              <a:buFont typeface="Arial MT"/>
              <a:buChar char="•"/>
              <a:tabLst>
                <a:tab pos="51752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Associate </a:t>
            </a: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friends</a:t>
            </a:r>
            <a:r>
              <a:rPr sz="2100" b="1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0" dirty="0">
                <a:solidFill>
                  <a:srgbClr val="292934"/>
                </a:solidFill>
                <a:latin typeface="Verdana"/>
                <a:cs typeface="Verdana"/>
              </a:rPr>
              <a:t>city</a:t>
            </a:r>
            <a:r>
              <a:rPr sz="2100" b="1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they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live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endParaRPr sz="2100">
              <a:latin typeface="Verdana"/>
              <a:cs typeface="Verdana"/>
            </a:endParaRPr>
          </a:p>
          <a:p>
            <a:pPr marL="516890" indent="-198755">
              <a:lnSpc>
                <a:spcPct val="100000"/>
              </a:lnSpc>
              <a:spcBef>
                <a:spcPts val="70"/>
              </a:spcBef>
              <a:buSzPct val="85714"/>
              <a:buFont typeface="Arial MT"/>
              <a:buChar char="•"/>
              <a:tabLst>
                <a:tab pos="51752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Associate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friends</a:t>
            </a:r>
            <a:r>
              <a:rPr sz="2100" b="1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phone</a:t>
            </a:r>
            <a:r>
              <a:rPr sz="2100" b="1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numbers</a:t>
            </a:r>
            <a:r>
              <a:rPr sz="2100" b="1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2839" y="5453888"/>
            <a:ext cx="5567680" cy="955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51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How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delete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Minnie’s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phone</a:t>
            </a:r>
            <a:endParaRPr sz="2100">
              <a:latin typeface="Verdana"/>
              <a:cs typeface="Verdana"/>
            </a:endParaRPr>
          </a:p>
          <a:p>
            <a:pPr marL="516890" indent="-217170">
              <a:lnSpc>
                <a:spcPts val="2400"/>
              </a:lnSpc>
              <a:buSzPct val="85714"/>
              <a:buFont typeface="Arial MT"/>
              <a:buChar char="•"/>
              <a:tabLst>
                <a:tab pos="516890" algn="l"/>
                <a:tab pos="51752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Delete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entire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tuple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5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lose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Minnie</a:t>
            </a:r>
            <a:endParaRPr sz="2100">
              <a:latin typeface="Verdana"/>
              <a:cs typeface="Verdana"/>
            </a:endParaRPr>
          </a:p>
          <a:p>
            <a:pPr marL="516890" indent="-217170">
              <a:lnSpc>
                <a:spcPts val="2410"/>
              </a:lnSpc>
              <a:buSzPct val="85714"/>
              <a:buFont typeface="Arial MT"/>
              <a:buChar char="•"/>
              <a:tabLst>
                <a:tab pos="516890" algn="l"/>
                <a:tab pos="51752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phone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2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NULL?</a:t>
            </a:r>
            <a:endParaRPr sz="2100">
              <a:latin typeface="Verdana"/>
              <a:cs typeface="Verdan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680922" y="3123088"/>
          <a:ext cx="6700518" cy="19019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7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6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8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68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6991">
                <a:tc>
                  <a:txBody>
                    <a:bodyPr/>
                    <a:lstStyle/>
                    <a:p>
                      <a:pPr marL="30289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email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phone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city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  <a:hlinkClick r:id="rId2"/>
                        </a:rPr>
                        <a:t>humpty@uva.edu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434-111-1111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Charlottesville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  <a:hlinkClick r:id="rId3"/>
                        </a:rPr>
                        <a:t>dumpty@uva.edu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434-222-1111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Charlottesville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  <a:hlinkClick r:id="rId3"/>
                        </a:rPr>
                        <a:t>dumpty@uva.edu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434-222-2222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Charlottesville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  <a:hlinkClick r:id="rId4"/>
                        </a:rPr>
                        <a:t>mickey@uva.edu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434-333-3333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Fairfax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  <a:hlinkClick r:id="rId5"/>
                        </a:rPr>
                        <a:t>minnie@uva.edu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434-555-5555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5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Alexandria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9946" y="383540"/>
            <a:ext cx="92316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0" dirty="0"/>
              <a:t>Friend</a:t>
            </a:r>
            <a:r>
              <a:rPr sz="3600" spc="-200" dirty="0"/>
              <a:t> </a:t>
            </a:r>
            <a:r>
              <a:rPr sz="3600" spc="-75" dirty="0"/>
              <a:t>Book:</a:t>
            </a:r>
            <a:r>
              <a:rPr sz="3600" spc="-204" dirty="0"/>
              <a:t> </a:t>
            </a:r>
            <a:r>
              <a:rPr sz="3600" spc="-80" dirty="0"/>
              <a:t>Prevent</a:t>
            </a:r>
            <a:r>
              <a:rPr sz="3600" spc="-200" dirty="0"/>
              <a:t> </a:t>
            </a:r>
            <a:r>
              <a:rPr sz="3600" spc="-65" dirty="0"/>
              <a:t>Data</a:t>
            </a:r>
            <a:r>
              <a:rPr sz="3600" spc="-185" dirty="0"/>
              <a:t> </a:t>
            </a:r>
            <a:r>
              <a:rPr sz="3600" spc="-80" dirty="0"/>
              <a:t>Anomalies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02839" y="1250696"/>
            <a:ext cx="74168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Decompose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relation,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separate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unrelated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endParaRPr sz="21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80922" y="1642420"/>
          <a:ext cx="6700518" cy="16776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7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6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8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68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9603">
                <a:tc>
                  <a:txBody>
                    <a:bodyPr/>
                    <a:lstStyle/>
                    <a:p>
                      <a:pPr marL="321310">
                        <a:lnSpc>
                          <a:spcPts val="1785"/>
                        </a:lnSpc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email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phone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785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city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603">
                <a:tc>
                  <a:txBody>
                    <a:bodyPr/>
                    <a:lstStyle/>
                    <a:p>
                      <a:pPr marL="97155">
                        <a:lnSpc>
                          <a:spcPts val="17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95"/>
                        </a:lnSpc>
                      </a:pPr>
                      <a:r>
                        <a:rPr sz="1500" spc="-1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  <a:hlinkClick r:id="rId2"/>
                        </a:rPr>
                        <a:t>humpty@uva.edu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9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434-111-1111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9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Charlottesville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603">
                <a:tc>
                  <a:txBody>
                    <a:bodyPr/>
                    <a:lstStyle/>
                    <a:p>
                      <a:pPr marL="97155">
                        <a:lnSpc>
                          <a:spcPts val="17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75"/>
                        </a:lnSpc>
                      </a:pPr>
                      <a:r>
                        <a:rPr sz="1500" spc="-1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  <a:hlinkClick r:id="rId3"/>
                        </a:rPr>
                        <a:t>dumpty@uva.edu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434-222-1111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7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Charlottesville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603">
                <a:tc>
                  <a:txBody>
                    <a:bodyPr/>
                    <a:lstStyle/>
                    <a:p>
                      <a:pPr marL="97155">
                        <a:lnSpc>
                          <a:spcPts val="17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80"/>
                        </a:lnSpc>
                      </a:pPr>
                      <a:r>
                        <a:rPr sz="1500" spc="-1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  <a:hlinkClick r:id="rId3"/>
                        </a:rPr>
                        <a:t>dumpty@uva.edu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434-222-2222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Charlottesville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603">
                <a:tc>
                  <a:txBody>
                    <a:bodyPr/>
                    <a:lstStyle/>
                    <a:p>
                      <a:pPr marL="97155">
                        <a:lnSpc>
                          <a:spcPts val="1789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789"/>
                        </a:lnSpc>
                      </a:pPr>
                      <a:r>
                        <a:rPr sz="1500" spc="-1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  <a:hlinkClick r:id="rId4"/>
                        </a:rPr>
                        <a:t>mickey@uva.edu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89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434-333-3333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789"/>
                        </a:lnSpc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Fairfax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603">
                <a:tc>
                  <a:txBody>
                    <a:bodyPr/>
                    <a:lstStyle/>
                    <a:p>
                      <a:pPr marL="97155">
                        <a:lnSpc>
                          <a:spcPts val="177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770"/>
                        </a:lnSpc>
                      </a:pPr>
                      <a:r>
                        <a:rPr sz="1500" spc="-1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  <a:hlinkClick r:id="rId5"/>
                        </a:rPr>
                        <a:t>minnie@uva.edu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7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434-555-5555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77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Alexandria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52692" y="3923336"/>
          <a:ext cx="4951730" cy="1398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7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6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603">
                <a:tc>
                  <a:txBody>
                    <a:bodyPr/>
                    <a:lstStyle/>
                    <a:p>
                      <a:pPr marL="321310">
                        <a:lnSpc>
                          <a:spcPts val="1780"/>
                        </a:lnSpc>
                      </a:pPr>
                      <a:r>
                        <a:rPr sz="15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80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email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780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city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603">
                <a:tc>
                  <a:txBody>
                    <a:bodyPr/>
                    <a:lstStyle/>
                    <a:p>
                      <a:pPr marL="97155">
                        <a:lnSpc>
                          <a:spcPts val="17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85"/>
                        </a:lnSpc>
                      </a:pPr>
                      <a:r>
                        <a:rPr sz="1500" spc="-1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  <a:hlinkClick r:id="rId2"/>
                        </a:rPr>
                        <a:t>humpty@uva.edu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85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Charlottesville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603">
                <a:tc>
                  <a:txBody>
                    <a:bodyPr/>
                    <a:lstStyle/>
                    <a:p>
                      <a:pPr marL="97155">
                        <a:lnSpc>
                          <a:spcPts val="1789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89"/>
                        </a:lnSpc>
                      </a:pPr>
                      <a:r>
                        <a:rPr sz="1500" spc="-1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  <a:hlinkClick r:id="rId3"/>
                        </a:rPr>
                        <a:t>dumpty@uva.edu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89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Charlottesville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603">
                <a:tc>
                  <a:txBody>
                    <a:bodyPr/>
                    <a:lstStyle/>
                    <a:p>
                      <a:pPr marL="97155">
                        <a:lnSpc>
                          <a:spcPts val="17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775"/>
                        </a:lnSpc>
                      </a:pPr>
                      <a:r>
                        <a:rPr sz="1500" spc="-1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  <a:hlinkClick r:id="rId4"/>
                        </a:rPr>
                        <a:t>mickey@uva.edu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775"/>
                        </a:lnSpc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Fairfax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603">
                <a:tc>
                  <a:txBody>
                    <a:bodyPr/>
                    <a:lstStyle/>
                    <a:p>
                      <a:pPr marL="97155">
                        <a:lnSpc>
                          <a:spcPts val="17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780"/>
                        </a:lnSpc>
                      </a:pPr>
                      <a:r>
                        <a:rPr sz="1500" spc="-1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  <a:hlinkClick r:id="rId5"/>
                        </a:rPr>
                        <a:t>minnie@uva.edu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780"/>
                        </a:lnSpc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Alexandria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764897" y="3923336"/>
          <a:ext cx="3895724" cy="16776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6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8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9603">
                <a:tc>
                  <a:txBody>
                    <a:bodyPr/>
                    <a:lstStyle/>
                    <a:p>
                      <a:pPr algn="ctr">
                        <a:lnSpc>
                          <a:spcPts val="1780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email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80"/>
                        </a:lnSpc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phone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603">
                <a:tc>
                  <a:txBody>
                    <a:bodyPr/>
                    <a:lstStyle/>
                    <a:p>
                      <a:pPr algn="ctr">
                        <a:lnSpc>
                          <a:spcPts val="1785"/>
                        </a:lnSpc>
                      </a:pPr>
                      <a:r>
                        <a:rPr sz="1500" spc="-1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  <a:hlinkClick r:id="rId2"/>
                        </a:rPr>
                        <a:t>humpty@uva.edu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434-111-1111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603">
                <a:tc>
                  <a:txBody>
                    <a:bodyPr/>
                    <a:lstStyle/>
                    <a:p>
                      <a:pPr algn="ctr">
                        <a:lnSpc>
                          <a:spcPts val="1789"/>
                        </a:lnSpc>
                      </a:pPr>
                      <a:r>
                        <a:rPr sz="1500" spc="-1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  <a:hlinkClick r:id="rId3"/>
                        </a:rPr>
                        <a:t>dumpty@uva.edu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89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434-222-1111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603">
                <a:tc>
                  <a:txBody>
                    <a:bodyPr/>
                    <a:lstStyle/>
                    <a:p>
                      <a:pPr algn="ctr">
                        <a:lnSpc>
                          <a:spcPts val="1775"/>
                        </a:lnSpc>
                      </a:pPr>
                      <a:r>
                        <a:rPr sz="1500" spc="-1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  <a:hlinkClick r:id="rId3"/>
                        </a:rPr>
                        <a:t>dumpty@uva.edu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7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434-222-2222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603">
                <a:tc>
                  <a:txBody>
                    <a:bodyPr/>
                    <a:lstStyle/>
                    <a:p>
                      <a:pPr marL="635" algn="ctr">
                        <a:lnSpc>
                          <a:spcPts val="1780"/>
                        </a:lnSpc>
                      </a:pPr>
                      <a:r>
                        <a:rPr sz="1500" spc="-1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  <a:hlinkClick r:id="rId4"/>
                        </a:rPr>
                        <a:t>mickey@uva.edu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8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434-333-3333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603">
                <a:tc>
                  <a:txBody>
                    <a:bodyPr/>
                    <a:lstStyle/>
                    <a:p>
                      <a:pPr marL="635" algn="ctr">
                        <a:lnSpc>
                          <a:spcPts val="1785"/>
                        </a:lnSpc>
                      </a:pPr>
                      <a:r>
                        <a:rPr sz="1500" spc="-1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  <a:hlinkClick r:id="rId5"/>
                        </a:rPr>
                        <a:t>minnie@uva.edu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85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434-555-5555</a:t>
                      </a:r>
                      <a:endParaRPr sz="15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3688079" y="3391231"/>
            <a:ext cx="698500" cy="417195"/>
          </a:xfrm>
          <a:custGeom>
            <a:avLst/>
            <a:gdLst/>
            <a:ahLst/>
            <a:cxnLst/>
            <a:rect l="l" t="t" r="r" b="b"/>
            <a:pathLst>
              <a:path w="698500" h="417195">
                <a:moveTo>
                  <a:pt x="113417" y="246481"/>
                </a:moveTo>
                <a:lnTo>
                  <a:pt x="0" y="416608"/>
                </a:lnTo>
                <a:lnTo>
                  <a:pt x="204151" y="405265"/>
                </a:lnTo>
                <a:lnTo>
                  <a:pt x="182548" y="367460"/>
                </a:lnTo>
                <a:lnTo>
                  <a:pt x="147443" y="367460"/>
                </a:lnTo>
                <a:lnTo>
                  <a:pt x="117198" y="314532"/>
                </a:lnTo>
                <a:lnTo>
                  <a:pt x="143662" y="299409"/>
                </a:lnTo>
                <a:lnTo>
                  <a:pt x="113417" y="246481"/>
                </a:lnTo>
                <a:close/>
              </a:path>
              <a:path w="698500" h="417195">
                <a:moveTo>
                  <a:pt x="143662" y="299409"/>
                </a:moveTo>
                <a:lnTo>
                  <a:pt x="117198" y="314532"/>
                </a:lnTo>
                <a:lnTo>
                  <a:pt x="147443" y="367460"/>
                </a:lnTo>
                <a:lnTo>
                  <a:pt x="173906" y="352338"/>
                </a:lnTo>
                <a:lnTo>
                  <a:pt x="143662" y="299409"/>
                </a:lnTo>
                <a:close/>
              </a:path>
              <a:path w="698500" h="417195">
                <a:moveTo>
                  <a:pt x="173906" y="352338"/>
                </a:moveTo>
                <a:lnTo>
                  <a:pt x="147443" y="367460"/>
                </a:lnTo>
                <a:lnTo>
                  <a:pt x="182548" y="367460"/>
                </a:lnTo>
                <a:lnTo>
                  <a:pt x="173906" y="352338"/>
                </a:lnTo>
                <a:close/>
              </a:path>
              <a:path w="698500" h="417195">
                <a:moveTo>
                  <a:pt x="667630" y="0"/>
                </a:moveTo>
                <a:lnTo>
                  <a:pt x="143662" y="299409"/>
                </a:lnTo>
                <a:lnTo>
                  <a:pt x="173906" y="352338"/>
                </a:lnTo>
                <a:lnTo>
                  <a:pt x="697873" y="52928"/>
                </a:lnTo>
                <a:lnTo>
                  <a:pt x="667630" y="0"/>
                </a:lnTo>
                <a:close/>
              </a:path>
            </a:pathLst>
          </a:custGeom>
          <a:solidFill>
            <a:srgbClr val="0044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08383" y="3391231"/>
            <a:ext cx="698500" cy="417195"/>
          </a:xfrm>
          <a:custGeom>
            <a:avLst/>
            <a:gdLst/>
            <a:ahLst/>
            <a:cxnLst/>
            <a:rect l="l" t="t" r="r" b="b"/>
            <a:pathLst>
              <a:path w="698500" h="417195">
                <a:moveTo>
                  <a:pt x="523967" y="352337"/>
                </a:moveTo>
                <a:lnTo>
                  <a:pt x="493722" y="405265"/>
                </a:lnTo>
                <a:lnTo>
                  <a:pt x="697873" y="416608"/>
                </a:lnTo>
                <a:lnTo>
                  <a:pt x="665108" y="367460"/>
                </a:lnTo>
                <a:lnTo>
                  <a:pt x="550431" y="367460"/>
                </a:lnTo>
                <a:lnTo>
                  <a:pt x="523967" y="352337"/>
                </a:lnTo>
                <a:close/>
              </a:path>
              <a:path w="698500" h="417195">
                <a:moveTo>
                  <a:pt x="554211" y="299409"/>
                </a:moveTo>
                <a:lnTo>
                  <a:pt x="523967" y="352337"/>
                </a:lnTo>
                <a:lnTo>
                  <a:pt x="550431" y="367460"/>
                </a:lnTo>
                <a:lnTo>
                  <a:pt x="580675" y="314532"/>
                </a:lnTo>
                <a:lnTo>
                  <a:pt x="554211" y="299409"/>
                </a:lnTo>
                <a:close/>
              </a:path>
              <a:path w="698500" h="417195">
                <a:moveTo>
                  <a:pt x="584456" y="246481"/>
                </a:moveTo>
                <a:lnTo>
                  <a:pt x="554211" y="299409"/>
                </a:lnTo>
                <a:lnTo>
                  <a:pt x="580675" y="314532"/>
                </a:lnTo>
                <a:lnTo>
                  <a:pt x="550431" y="367460"/>
                </a:lnTo>
                <a:lnTo>
                  <a:pt x="665108" y="367460"/>
                </a:lnTo>
                <a:lnTo>
                  <a:pt x="584456" y="246481"/>
                </a:lnTo>
                <a:close/>
              </a:path>
              <a:path w="698500" h="417195">
                <a:moveTo>
                  <a:pt x="30245" y="0"/>
                </a:moveTo>
                <a:lnTo>
                  <a:pt x="0" y="52928"/>
                </a:lnTo>
                <a:lnTo>
                  <a:pt x="523967" y="352337"/>
                </a:lnTo>
                <a:lnTo>
                  <a:pt x="554211" y="299409"/>
                </a:lnTo>
                <a:lnTo>
                  <a:pt x="30245" y="0"/>
                </a:lnTo>
                <a:close/>
              </a:path>
            </a:pathLst>
          </a:custGeom>
          <a:solidFill>
            <a:srgbClr val="00447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2400" y="6318503"/>
            <a:ext cx="9753600" cy="73152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31256" y="6337688"/>
            <a:ext cx="8978900" cy="464820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480"/>
              </a:spcBef>
            </a:pP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Functional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Dependencies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9772" y="5914135"/>
            <a:ext cx="81959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How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systematically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avoid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redundancy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anomaly?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1" y="108177"/>
            <a:ext cx="9689308" cy="1056443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2700" marR="5080" indent="772795">
              <a:lnSpc>
                <a:spcPct val="74700"/>
              </a:lnSpc>
              <a:spcBef>
                <a:spcPts val="1250"/>
              </a:spcBef>
            </a:pPr>
            <a:r>
              <a:rPr sz="3800" spc="-75" dirty="0"/>
              <a:t>Another Example: </a:t>
            </a:r>
            <a:r>
              <a:rPr sz="3800" spc="-45" dirty="0"/>
              <a:t>TA </a:t>
            </a:r>
            <a:r>
              <a:rPr sz="3800" spc="-70" dirty="0"/>
              <a:t>Info </a:t>
            </a:r>
            <a:r>
              <a:rPr sz="3800" spc="-65" dirty="0"/>
              <a:t> </a:t>
            </a:r>
            <a:r>
              <a:rPr sz="3800" spc="-75" dirty="0"/>
              <a:t>Problems</a:t>
            </a:r>
            <a:r>
              <a:rPr sz="3800" spc="-200" dirty="0"/>
              <a:t> </a:t>
            </a:r>
            <a:r>
              <a:rPr sz="3800" spc="-70" dirty="0"/>
              <a:t>with</a:t>
            </a:r>
            <a:r>
              <a:rPr lang="en-US" sz="3800" spc="-200" dirty="0"/>
              <a:t> </a:t>
            </a:r>
            <a:r>
              <a:rPr sz="3800" spc="-70" dirty="0"/>
              <a:t>“Bad”</a:t>
            </a:r>
            <a:r>
              <a:rPr sz="3800" spc="-200" dirty="0"/>
              <a:t> </a:t>
            </a:r>
            <a:r>
              <a:rPr sz="3800" spc="-40" dirty="0"/>
              <a:t>DB</a:t>
            </a:r>
            <a:r>
              <a:rPr sz="3800" spc="-200" dirty="0"/>
              <a:t> </a:t>
            </a:r>
            <a:r>
              <a:rPr sz="3800" spc="-75" dirty="0"/>
              <a:t>Design</a:t>
            </a:r>
            <a:endParaRPr sz="3800" dirty="0"/>
          </a:p>
        </p:txBody>
      </p:sp>
      <p:sp>
        <p:nvSpPr>
          <p:cNvPr id="9" name="object 9"/>
          <p:cNvSpPr txBox="1"/>
          <p:nvPr/>
        </p:nvSpPr>
        <p:spPr>
          <a:xfrm>
            <a:off x="1450183" y="7008497"/>
            <a:ext cx="8391525" cy="226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[Note: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hourly_rates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in this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example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are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made up.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They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associated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organization.]</a:t>
            </a:r>
            <a:endParaRPr sz="1300">
              <a:latin typeface="Verdana"/>
              <a:cs typeface="Verdan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66621" y="2765818"/>
          <a:ext cx="8891905" cy="19897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9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1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76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1622"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computingID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hourly_rate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hours_worked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62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ht1y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62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62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md3y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62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mn4e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62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dh5h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Duhhuh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29572" y="4801108"/>
            <a:ext cx="8836660" cy="49784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38100" marR="30480">
              <a:lnSpc>
                <a:spcPts val="1800"/>
              </a:lnSpc>
              <a:spcBef>
                <a:spcPts val="259"/>
              </a:spcBef>
            </a:pP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92934"/>
                </a:solidFill>
                <a:latin typeface="Verdana"/>
                <a:cs typeface="Verdana"/>
              </a:rPr>
              <a:t>hourly_rate</a:t>
            </a: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of </a:t>
            </a: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Humpty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 can</a:t>
            </a:r>
            <a:r>
              <a:rPr sz="16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92934"/>
                </a:solidFill>
                <a:latin typeface="Verdana"/>
                <a:cs typeface="Verdana"/>
              </a:rPr>
              <a:t>derived</a:t>
            </a:r>
            <a:r>
              <a:rPr sz="16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16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600" spc="-10" dirty="0">
                <a:solidFill>
                  <a:srgbClr val="292934"/>
                </a:solidFill>
                <a:latin typeface="Verdana"/>
                <a:cs typeface="Verdana"/>
              </a:rPr>
              <a:t> hourly_rate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 of </a:t>
            </a: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Mickey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(or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Minnie) </a:t>
            </a:r>
            <a:r>
              <a:rPr sz="1600" spc="-5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since</a:t>
            </a:r>
            <a:r>
              <a:rPr sz="16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they are</a:t>
            </a:r>
            <a:r>
              <a:rPr sz="16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all </a:t>
            </a:r>
            <a:r>
              <a:rPr sz="1600" spc="-10" dirty="0">
                <a:solidFill>
                  <a:srgbClr val="292934"/>
                </a:solidFill>
                <a:latin typeface="Verdana"/>
                <a:cs typeface="Verdana"/>
              </a:rPr>
              <a:t>4</a:t>
            </a:r>
            <a:r>
              <a:rPr sz="1650" spc="-15" baseline="25252" dirty="0">
                <a:solidFill>
                  <a:srgbClr val="292934"/>
                </a:solidFill>
                <a:latin typeface="Verdana"/>
                <a:cs typeface="Verdana"/>
              </a:rPr>
              <a:t>th</a:t>
            </a:r>
            <a:r>
              <a:rPr sz="1650" spc="232" baseline="2525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92934"/>
                </a:solidFill>
                <a:latin typeface="Verdana"/>
                <a:cs typeface="Verdana"/>
              </a:rPr>
              <a:t>year</a:t>
            </a: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 and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6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know</a:t>
            </a: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92934"/>
                </a:solidFill>
                <a:latin typeface="Verdana"/>
                <a:cs typeface="Verdana"/>
              </a:rPr>
              <a:t>year </a:t>
            </a: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determines</a:t>
            </a:r>
            <a:r>
              <a:rPr sz="16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92934"/>
                </a:solidFill>
                <a:latin typeface="Verdana"/>
                <a:cs typeface="Verdana"/>
              </a:rPr>
              <a:t>hourly_rate.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2839" y="1101344"/>
            <a:ext cx="5654675" cy="964565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Consider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info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about 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TAs</a:t>
            </a:r>
            <a:endParaRPr sz="2100">
              <a:latin typeface="Verdana"/>
              <a:cs typeface="Verdana"/>
            </a:endParaRPr>
          </a:p>
          <a:p>
            <a:pPr marL="516890" indent="-198755">
              <a:lnSpc>
                <a:spcPct val="100000"/>
              </a:lnSpc>
              <a:spcBef>
                <a:spcPts val="1175"/>
              </a:spcBef>
              <a:buSzPct val="85714"/>
              <a:buFont typeface="Arial MT"/>
              <a:buChar char="•"/>
              <a:tabLst>
                <a:tab pos="51752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Associate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0" dirty="0">
                <a:solidFill>
                  <a:srgbClr val="292934"/>
                </a:solidFill>
                <a:latin typeface="Verdana"/>
                <a:cs typeface="Verdana"/>
              </a:rPr>
              <a:t>year</a:t>
            </a:r>
            <a:r>
              <a:rPr sz="2100" b="1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hourly_rate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4971" y="6009640"/>
            <a:ext cx="838771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Redundancy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exists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because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existence</a:t>
            </a:r>
            <a:r>
              <a:rPr sz="19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integrity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constraints,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4971" y="6302247"/>
            <a:ext cx="52641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particular </a:t>
            </a:r>
            <a:r>
              <a:rPr sz="1900" spc="5" dirty="0">
                <a:solidFill>
                  <a:srgbClr val="C00000"/>
                </a:solidFill>
                <a:latin typeface="Verdana"/>
                <a:cs typeface="Verdana"/>
              </a:rPr>
              <a:t>Functional</a:t>
            </a:r>
            <a:r>
              <a:rPr sz="19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C00000"/>
                </a:solidFill>
                <a:latin typeface="Verdana"/>
                <a:cs typeface="Verdana"/>
              </a:rPr>
              <a:t>Dependencies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(FD)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34519" y="6329172"/>
            <a:ext cx="3286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[More</a:t>
            </a:r>
            <a:r>
              <a:rPr sz="14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functional dependencies</a:t>
            </a:r>
            <a:r>
              <a:rPr sz="14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later]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81400" y="1299250"/>
          <a:ext cx="8891905" cy="19900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9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1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76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5372"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computingID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9652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9652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9652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R="292735" algn="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hourly_rate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9652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hours_worked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9652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92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ht1y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243204" algn="r">
                        <a:lnSpc>
                          <a:spcPts val="2145"/>
                        </a:lnSpc>
                        <a:tabLst>
                          <a:tab pos="504825" algn="l"/>
                        </a:tabLst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	</a:t>
                      </a:r>
                      <a:r>
                        <a:rPr sz="2850" b="1" spc="15" baseline="-438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13</a:t>
                      </a:r>
                      <a:endParaRPr sz="2850" baseline="-4385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2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92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md3y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92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mn4e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92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dh5h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Duhhuh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82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1400" y="197483"/>
            <a:ext cx="824992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T</a:t>
            </a:r>
            <a:r>
              <a:rPr dirty="0"/>
              <a:t>A</a:t>
            </a:r>
            <a:r>
              <a:rPr spc="-260" dirty="0"/>
              <a:t> </a:t>
            </a:r>
            <a:r>
              <a:rPr spc="-120" dirty="0"/>
              <a:t>I</a:t>
            </a:r>
            <a:r>
              <a:rPr spc="-130" dirty="0"/>
              <a:t>n</a:t>
            </a:r>
            <a:r>
              <a:rPr spc="-125" dirty="0"/>
              <a:t>f</a:t>
            </a:r>
            <a:r>
              <a:rPr spc="-130" dirty="0"/>
              <a:t>o</a:t>
            </a:r>
            <a:r>
              <a:rPr dirty="0"/>
              <a:t>:</a:t>
            </a:r>
            <a:r>
              <a:rPr spc="-240" dirty="0"/>
              <a:t> </a:t>
            </a:r>
            <a:r>
              <a:rPr spc="-135" dirty="0"/>
              <a:t>U</a:t>
            </a:r>
            <a:r>
              <a:rPr spc="-125" dirty="0"/>
              <a:t>pda</a:t>
            </a:r>
            <a:r>
              <a:rPr spc="-120" dirty="0"/>
              <a:t>t</a:t>
            </a:r>
            <a:r>
              <a:rPr dirty="0"/>
              <a:t>e</a:t>
            </a:r>
            <a:r>
              <a:rPr spc="-245" dirty="0"/>
              <a:t> </a:t>
            </a:r>
            <a:r>
              <a:rPr spc="-140" dirty="0"/>
              <a:t>A</a:t>
            </a:r>
            <a:r>
              <a:rPr spc="-130" dirty="0"/>
              <a:t>no</a:t>
            </a:r>
            <a:r>
              <a:rPr spc="-140" dirty="0"/>
              <a:t>m</a:t>
            </a:r>
            <a:r>
              <a:rPr spc="-125" dirty="0"/>
              <a:t>al</a:t>
            </a:r>
            <a:r>
              <a:rPr dirty="0"/>
              <a:t>y</a:t>
            </a:r>
            <a:r>
              <a:rPr spc="-380" dirty="0"/>
              <a:t> </a:t>
            </a:r>
            <a:r>
              <a:rPr sz="3800" b="0" spc="-90" dirty="0">
                <a:latin typeface="Verdana"/>
                <a:cs typeface="Verdana"/>
              </a:rPr>
              <a:t>(2)</a:t>
            </a:r>
            <a:endParaRPr sz="38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4739" y="3920743"/>
            <a:ext cx="8993505" cy="247332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245745" indent="-195580">
              <a:lnSpc>
                <a:spcPct val="100000"/>
              </a:lnSpc>
              <a:spcBef>
                <a:spcPts val="965"/>
              </a:spcBef>
              <a:buSzPct val="85714"/>
              <a:buFont typeface="Arial MT"/>
              <a:buChar char="•"/>
              <a:tabLst>
                <a:tab pos="246379" algn="l"/>
              </a:tabLst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What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we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attempt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update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hourly_rate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Humpty?</a:t>
            </a:r>
            <a:endParaRPr sz="2100">
              <a:latin typeface="Verdana"/>
              <a:cs typeface="Verdana"/>
            </a:endParaRPr>
          </a:p>
          <a:p>
            <a:pPr marL="736600" lvl="1" indent="-182245">
              <a:lnSpc>
                <a:spcPct val="100000"/>
              </a:lnSpc>
              <a:spcBef>
                <a:spcPts val="860"/>
              </a:spcBef>
              <a:buSzPct val="85714"/>
              <a:buFont typeface="Arial MT"/>
              <a:buChar char="•"/>
              <a:tabLst>
                <a:tab pos="73723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copy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hourly_rate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has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been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updated</a:t>
            </a:r>
            <a:endParaRPr sz="21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292934"/>
              </a:buClr>
              <a:buFont typeface="Arial MT"/>
              <a:buChar char="•"/>
            </a:pPr>
            <a:endParaRPr sz="2100">
              <a:latin typeface="Verdana"/>
              <a:cs typeface="Verdana"/>
            </a:endParaRPr>
          </a:p>
          <a:p>
            <a:pPr marL="245745" marR="17780" indent="-195580">
              <a:lnSpc>
                <a:spcPts val="2500"/>
              </a:lnSpc>
              <a:buSzPct val="85714"/>
              <a:buFont typeface="Arial MT"/>
              <a:buChar char="•"/>
              <a:tabLst>
                <a:tab pos="246379" algn="l"/>
              </a:tabLst>
            </a:pP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Hourly_rate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determined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year=4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appears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multiple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tuples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292934"/>
              </a:buClr>
              <a:buFont typeface="Arial MT"/>
              <a:buChar char="•"/>
            </a:pPr>
            <a:endParaRPr sz="1950">
              <a:latin typeface="Verdana"/>
              <a:cs typeface="Verdana"/>
            </a:endParaRPr>
          </a:p>
          <a:p>
            <a:pPr marL="245745" indent="-195580">
              <a:lnSpc>
                <a:spcPct val="100000"/>
              </a:lnSpc>
              <a:spcBef>
                <a:spcPts val="5"/>
              </a:spcBef>
              <a:buSzPct val="85714"/>
              <a:buFont typeface="Arial MT"/>
              <a:buChar char="•"/>
              <a:tabLst>
                <a:tab pos="246379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Cannot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change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hourly_rate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just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r>
              <a:rPr sz="2100" spc="15" baseline="23809" dirty="0">
                <a:solidFill>
                  <a:srgbClr val="292934"/>
                </a:solidFill>
                <a:latin typeface="Verdana"/>
                <a:cs typeface="Verdana"/>
              </a:rPr>
              <a:t>st</a:t>
            </a:r>
            <a:r>
              <a:rPr sz="2100" spc="390" baseline="2380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tuple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67442" y="1862046"/>
            <a:ext cx="582930" cy="20955"/>
          </a:xfrm>
          <a:custGeom>
            <a:avLst/>
            <a:gdLst/>
            <a:ahLst/>
            <a:cxnLst/>
            <a:rect l="l" t="t" r="r" b="b"/>
            <a:pathLst>
              <a:path w="582929" h="20955">
                <a:moveTo>
                  <a:pt x="0" y="20519"/>
                </a:moveTo>
                <a:lnTo>
                  <a:pt x="582329" y="0"/>
                </a:lnTo>
              </a:path>
            </a:pathLst>
          </a:custGeom>
          <a:ln w="3047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67938" y="1683374"/>
            <a:ext cx="3256915" cy="347345"/>
          </a:xfrm>
          <a:custGeom>
            <a:avLst/>
            <a:gdLst/>
            <a:ahLst/>
            <a:cxnLst/>
            <a:rect l="l" t="t" r="r" b="b"/>
            <a:pathLst>
              <a:path w="3256915" h="347344">
                <a:moveTo>
                  <a:pt x="0" y="173581"/>
                </a:moveTo>
                <a:lnTo>
                  <a:pt x="29361" y="140596"/>
                </a:lnTo>
                <a:lnTo>
                  <a:pt x="65040" y="124851"/>
                </a:lnTo>
                <a:lnTo>
                  <a:pt x="113807" y="109701"/>
                </a:lnTo>
                <a:lnTo>
                  <a:pt x="174980" y="95219"/>
                </a:lnTo>
                <a:lnTo>
                  <a:pt x="247877" y="81477"/>
                </a:lnTo>
                <a:lnTo>
                  <a:pt x="288509" y="74907"/>
                </a:lnTo>
                <a:lnTo>
                  <a:pt x="331816" y="68549"/>
                </a:lnTo>
                <a:lnTo>
                  <a:pt x="377712" y="62412"/>
                </a:lnTo>
                <a:lnTo>
                  <a:pt x="426113" y="56506"/>
                </a:lnTo>
                <a:lnTo>
                  <a:pt x="476934" y="50840"/>
                </a:lnTo>
                <a:lnTo>
                  <a:pt x="530088" y="45423"/>
                </a:lnTo>
                <a:lnTo>
                  <a:pt x="585490" y="40263"/>
                </a:lnTo>
                <a:lnTo>
                  <a:pt x="643056" y="35371"/>
                </a:lnTo>
                <a:lnTo>
                  <a:pt x="702700" y="30754"/>
                </a:lnTo>
                <a:lnTo>
                  <a:pt x="764337" y="26423"/>
                </a:lnTo>
                <a:lnTo>
                  <a:pt x="827881" y="22386"/>
                </a:lnTo>
                <a:lnTo>
                  <a:pt x="893247" y="18652"/>
                </a:lnTo>
                <a:lnTo>
                  <a:pt x="960349" y="15231"/>
                </a:lnTo>
                <a:lnTo>
                  <a:pt x="1029104" y="12131"/>
                </a:lnTo>
                <a:lnTo>
                  <a:pt x="1099424" y="9362"/>
                </a:lnTo>
                <a:lnTo>
                  <a:pt x="1171225" y="6933"/>
                </a:lnTo>
                <a:lnTo>
                  <a:pt x="1244422" y="4852"/>
                </a:lnTo>
                <a:lnTo>
                  <a:pt x="1318929" y="3129"/>
                </a:lnTo>
                <a:lnTo>
                  <a:pt x="1394661" y="1774"/>
                </a:lnTo>
                <a:lnTo>
                  <a:pt x="1471533" y="794"/>
                </a:lnTo>
                <a:lnTo>
                  <a:pt x="1549459" y="200"/>
                </a:lnTo>
                <a:lnTo>
                  <a:pt x="1628355" y="0"/>
                </a:lnTo>
                <a:lnTo>
                  <a:pt x="1707250" y="200"/>
                </a:lnTo>
                <a:lnTo>
                  <a:pt x="1785176" y="794"/>
                </a:lnTo>
                <a:lnTo>
                  <a:pt x="1862048" y="1774"/>
                </a:lnTo>
                <a:lnTo>
                  <a:pt x="1937780" y="3129"/>
                </a:lnTo>
                <a:lnTo>
                  <a:pt x="2012287" y="4852"/>
                </a:lnTo>
                <a:lnTo>
                  <a:pt x="2085484" y="6933"/>
                </a:lnTo>
                <a:lnTo>
                  <a:pt x="2157285" y="9362"/>
                </a:lnTo>
                <a:lnTo>
                  <a:pt x="2227606" y="12131"/>
                </a:lnTo>
                <a:lnTo>
                  <a:pt x="2296360" y="15231"/>
                </a:lnTo>
                <a:lnTo>
                  <a:pt x="2363463" y="18652"/>
                </a:lnTo>
                <a:lnTo>
                  <a:pt x="2428829" y="22386"/>
                </a:lnTo>
                <a:lnTo>
                  <a:pt x="2492372" y="26423"/>
                </a:lnTo>
                <a:lnTo>
                  <a:pt x="2554009" y="30754"/>
                </a:lnTo>
                <a:lnTo>
                  <a:pt x="2613653" y="35371"/>
                </a:lnTo>
                <a:lnTo>
                  <a:pt x="2671219" y="40263"/>
                </a:lnTo>
                <a:lnTo>
                  <a:pt x="2726621" y="45423"/>
                </a:lnTo>
                <a:lnTo>
                  <a:pt x="2779775" y="50840"/>
                </a:lnTo>
                <a:lnTo>
                  <a:pt x="2830596" y="56506"/>
                </a:lnTo>
                <a:lnTo>
                  <a:pt x="2878997" y="62412"/>
                </a:lnTo>
                <a:lnTo>
                  <a:pt x="2924893" y="68549"/>
                </a:lnTo>
                <a:lnTo>
                  <a:pt x="2968200" y="74907"/>
                </a:lnTo>
                <a:lnTo>
                  <a:pt x="3008832" y="81477"/>
                </a:lnTo>
                <a:lnTo>
                  <a:pt x="3046703" y="88251"/>
                </a:lnTo>
                <a:lnTo>
                  <a:pt x="3113824" y="102372"/>
                </a:lnTo>
                <a:lnTo>
                  <a:pt x="3168879" y="117197"/>
                </a:lnTo>
                <a:lnTo>
                  <a:pt x="3211188" y="132654"/>
                </a:lnTo>
                <a:lnTo>
                  <a:pt x="3249256" y="156864"/>
                </a:lnTo>
                <a:lnTo>
                  <a:pt x="3256710" y="173581"/>
                </a:lnTo>
                <a:lnTo>
                  <a:pt x="3254832" y="181991"/>
                </a:lnTo>
                <a:lnTo>
                  <a:pt x="3211188" y="214508"/>
                </a:lnTo>
                <a:lnTo>
                  <a:pt x="3168879" y="229964"/>
                </a:lnTo>
                <a:lnTo>
                  <a:pt x="3113824" y="244790"/>
                </a:lnTo>
                <a:lnTo>
                  <a:pt x="3046703" y="258911"/>
                </a:lnTo>
                <a:lnTo>
                  <a:pt x="3008832" y="265684"/>
                </a:lnTo>
                <a:lnTo>
                  <a:pt x="2968200" y="272255"/>
                </a:lnTo>
                <a:lnTo>
                  <a:pt x="2924893" y="278613"/>
                </a:lnTo>
                <a:lnTo>
                  <a:pt x="2878997" y="284749"/>
                </a:lnTo>
                <a:lnTo>
                  <a:pt x="2830596" y="290655"/>
                </a:lnTo>
                <a:lnTo>
                  <a:pt x="2779775" y="296321"/>
                </a:lnTo>
                <a:lnTo>
                  <a:pt x="2726621" y="301739"/>
                </a:lnTo>
                <a:lnTo>
                  <a:pt x="2671219" y="306898"/>
                </a:lnTo>
                <a:lnTo>
                  <a:pt x="2613653" y="311791"/>
                </a:lnTo>
                <a:lnTo>
                  <a:pt x="2554009" y="316407"/>
                </a:lnTo>
                <a:lnTo>
                  <a:pt x="2492372" y="320739"/>
                </a:lnTo>
                <a:lnTo>
                  <a:pt x="2428829" y="324776"/>
                </a:lnTo>
                <a:lnTo>
                  <a:pt x="2363463" y="328509"/>
                </a:lnTo>
                <a:lnTo>
                  <a:pt x="2296360" y="331931"/>
                </a:lnTo>
                <a:lnTo>
                  <a:pt x="2227606" y="335030"/>
                </a:lnTo>
                <a:lnTo>
                  <a:pt x="2157285" y="337800"/>
                </a:lnTo>
                <a:lnTo>
                  <a:pt x="2085484" y="340229"/>
                </a:lnTo>
                <a:lnTo>
                  <a:pt x="2012287" y="342310"/>
                </a:lnTo>
                <a:lnTo>
                  <a:pt x="1937780" y="344032"/>
                </a:lnTo>
                <a:lnTo>
                  <a:pt x="1862048" y="345388"/>
                </a:lnTo>
                <a:lnTo>
                  <a:pt x="1785176" y="346368"/>
                </a:lnTo>
                <a:lnTo>
                  <a:pt x="1707250" y="346962"/>
                </a:lnTo>
                <a:lnTo>
                  <a:pt x="1628355" y="347162"/>
                </a:lnTo>
                <a:lnTo>
                  <a:pt x="1549459" y="346962"/>
                </a:lnTo>
                <a:lnTo>
                  <a:pt x="1471533" y="346368"/>
                </a:lnTo>
                <a:lnTo>
                  <a:pt x="1394661" y="345388"/>
                </a:lnTo>
                <a:lnTo>
                  <a:pt x="1318929" y="344032"/>
                </a:lnTo>
                <a:lnTo>
                  <a:pt x="1244422" y="342310"/>
                </a:lnTo>
                <a:lnTo>
                  <a:pt x="1171225" y="340229"/>
                </a:lnTo>
                <a:lnTo>
                  <a:pt x="1099424" y="337800"/>
                </a:lnTo>
                <a:lnTo>
                  <a:pt x="1029104" y="335030"/>
                </a:lnTo>
                <a:lnTo>
                  <a:pt x="960349" y="331931"/>
                </a:lnTo>
                <a:lnTo>
                  <a:pt x="893247" y="328509"/>
                </a:lnTo>
                <a:lnTo>
                  <a:pt x="827881" y="324776"/>
                </a:lnTo>
                <a:lnTo>
                  <a:pt x="764337" y="320739"/>
                </a:lnTo>
                <a:lnTo>
                  <a:pt x="702700" y="316407"/>
                </a:lnTo>
                <a:lnTo>
                  <a:pt x="643056" y="311791"/>
                </a:lnTo>
                <a:lnTo>
                  <a:pt x="585490" y="306898"/>
                </a:lnTo>
                <a:lnTo>
                  <a:pt x="530088" y="301739"/>
                </a:lnTo>
                <a:lnTo>
                  <a:pt x="476934" y="296321"/>
                </a:lnTo>
                <a:lnTo>
                  <a:pt x="426113" y="290655"/>
                </a:lnTo>
                <a:lnTo>
                  <a:pt x="377712" y="284749"/>
                </a:lnTo>
                <a:lnTo>
                  <a:pt x="331816" y="278613"/>
                </a:lnTo>
                <a:lnTo>
                  <a:pt x="288509" y="272255"/>
                </a:lnTo>
                <a:lnTo>
                  <a:pt x="247877" y="265684"/>
                </a:lnTo>
                <a:lnTo>
                  <a:pt x="210006" y="258911"/>
                </a:lnTo>
                <a:lnTo>
                  <a:pt x="142885" y="244790"/>
                </a:lnTo>
                <a:lnTo>
                  <a:pt x="87830" y="229964"/>
                </a:lnTo>
                <a:lnTo>
                  <a:pt x="45522" y="214508"/>
                </a:lnTo>
                <a:lnTo>
                  <a:pt x="7454" y="190298"/>
                </a:lnTo>
                <a:lnTo>
                  <a:pt x="0" y="173581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67938" y="2325348"/>
            <a:ext cx="3256915" cy="647700"/>
          </a:xfrm>
          <a:custGeom>
            <a:avLst/>
            <a:gdLst/>
            <a:ahLst/>
            <a:cxnLst/>
            <a:rect l="l" t="t" r="r" b="b"/>
            <a:pathLst>
              <a:path w="3256915" h="647700">
                <a:moveTo>
                  <a:pt x="0" y="323742"/>
                </a:moveTo>
                <a:lnTo>
                  <a:pt x="14864" y="279812"/>
                </a:lnTo>
                <a:lnTo>
                  <a:pt x="40692" y="251499"/>
                </a:lnTo>
                <a:lnTo>
                  <a:pt x="78584" y="224100"/>
                </a:lnTo>
                <a:lnTo>
                  <a:pt x="127964" y="197727"/>
                </a:lnTo>
                <a:lnTo>
                  <a:pt x="188258" y="172495"/>
                </a:lnTo>
                <a:lnTo>
                  <a:pt x="258891" y="148519"/>
                </a:lnTo>
                <a:lnTo>
                  <a:pt x="297905" y="137037"/>
                </a:lnTo>
                <a:lnTo>
                  <a:pt x="339288" y="125913"/>
                </a:lnTo>
                <a:lnTo>
                  <a:pt x="382968" y="115159"/>
                </a:lnTo>
                <a:lnTo>
                  <a:pt x="428874" y="104790"/>
                </a:lnTo>
                <a:lnTo>
                  <a:pt x="476934" y="94821"/>
                </a:lnTo>
                <a:lnTo>
                  <a:pt x="527075" y="85266"/>
                </a:lnTo>
                <a:lnTo>
                  <a:pt x="579226" y="76140"/>
                </a:lnTo>
                <a:lnTo>
                  <a:pt x="633315" y="67455"/>
                </a:lnTo>
                <a:lnTo>
                  <a:pt x="689271" y="59228"/>
                </a:lnTo>
                <a:lnTo>
                  <a:pt x="747020" y="51471"/>
                </a:lnTo>
                <a:lnTo>
                  <a:pt x="806493" y="44200"/>
                </a:lnTo>
                <a:lnTo>
                  <a:pt x="867615" y="37428"/>
                </a:lnTo>
                <a:lnTo>
                  <a:pt x="930317" y="31170"/>
                </a:lnTo>
                <a:lnTo>
                  <a:pt x="994525" y="25441"/>
                </a:lnTo>
                <a:lnTo>
                  <a:pt x="1060169" y="20254"/>
                </a:lnTo>
                <a:lnTo>
                  <a:pt x="1127175" y="15623"/>
                </a:lnTo>
                <a:lnTo>
                  <a:pt x="1195473" y="11564"/>
                </a:lnTo>
                <a:lnTo>
                  <a:pt x="1264991" y="8090"/>
                </a:lnTo>
                <a:lnTo>
                  <a:pt x="1335656" y="5215"/>
                </a:lnTo>
                <a:lnTo>
                  <a:pt x="1407397" y="2955"/>
                </a:lnTo>
                <a:lnTo>
                  <a:pt x="1480141" y="1323"/>
                </a:lnTo>
                <a:lnTo>
                  <a:pt x="1553818" y="333"/>
                </a:lnTo>
                <a:lnTo>
                  <a:pt x="1628355" y="0"/>
                </a:lnTo>
                <a:lnTo>
                  <a:pt x="1702891" y="333"/>
                </a:lnTo>
                <a:lnTo>
                  <a:pt x="1776568" y="1323"/>
                </a:lnTo>
                <a:lnTo>
                  <a:pt x="1849313" y="2955"/>
                </a:lnTo>
                <a:lnTo>
                  <a:pt x="1921053" y="5215"/>
                </a:lnTo>
                <a:lnTo>
                  <a:pt x="1991718" y="8090"/>
                </a:lnTo>
                <a:lnTo>
                  <a:pt x="2061236" y="11564"/>
                </a:lnTo>
                <a:lnTo>
                  <a:pt x="2129534" y="15623"/>
                </a:lnTo>
                <a:lnTo>
                  <a:pt x="2196540" y="20254"/>
                </a:lnTo>
                <a:lnTo>
                  <a:pt x="2262184" y="25441"/>
                </a:lnTo>
                <a:lnTo>
                  <a:pt x="2326392" y="31170"/>
                </a:lnTo>
                <a:lnTo>
                  <a:pt x="2389094" y="37428"/>
                </a:lnTo>
                <a:lnTo>
                  <a:pt x="2450216" y="44200"/>
                </a:lnTo>
                <a:lnTo>
                  <a:pt x="2509689" y="51471"/>
                </a:lnTo>
                <a:lnTo>
                  <a:pt x="2567438" y="59228"/>
                </a:lnTo>
                <a:lnTo>
                  <a:pt x="2623394" y="67455"/>
                </a:lnTo>
                <a:lnTo>
                  <a:pt x="2677483" y="76140"/>
                </a:lnTo>
                <a:lnTo>
                  <a:pt x="2729634" y="85266"/>
                </a:lnTo>
                <a:lnTo>
                  <a:pt x="2779775" y="94821"/>
                </a:lnTo>
                <a:lnTo>
                  <a:pt x="2827835" y="104790"/>
                </a:lnTo>
                <a:lnTo>
                  <a:pt x="2873741" y="115159"/>
                </a:lnTo>
                <a:lnTo>
                  <a:pt x="2917421" y="125913"/>
                </a:lnTo>
                <a:lnTo>
                  <a:pt x="2958805" y="137037"/>
                </a:lnTo>
                <a:lnTo>
                  <a:pt x="2997819" y="148519"/>
                </a:lnTo>
                <a:lnTo>
                  <a:pt x="3034392" y="160343"/>
                </a:lnTo>
                <a:lnTo>
                  <a:pt x="3099927" y="184961"/>
                </a:lnTo>
                <a:lnTo>
                  <a:pt x="3154836" y="210778"/>
                </a:lnTo>
                <a:lnTo>
                  <a:pt x="3198543" y="237678"/>
                </a:lnTo>
                <a:lnTo>
                  <a:pt x="3230475" y="265549"/>
                </a:lnTo>
                <a:lnTo>
                  <a:pt x="3255034" y="308923"/>
                </a:lnTo>
                <a:lnTo>
                  <a:pt x="3256710" y="323742"/>
                </a:lnTo>
                <a:lnTo>
                  <a:pt x="3255034" y="338561"/>
                </a:lnTo>
                <a:lnTo>
                  <a:pt x="3230475" y="381935"/>
                </a:lnTo>
                <a:lnTo>
                  <a:pt x="3198543" y="409805"/>
                </a:lnTo>
                <a:lnTo>
                  <a:pt x="3154836" y="436706"/>
                </a:lnTo>
                <a:lnTo>
                  <a:pt x="3099927" y="462523"/>
                </a:lnTo>
                <a:lnTo>
                  <a:pt x="3034392" y="487141"/>
                </a:lnTo>
                <a:lnTo>
                  <a:pt x="2997819" y="498965"/>
                </a:lnTo>
                <a:lnTo>
                  <a:pt x="2958805" y="510446"/>
                </a:lnTo>
                <a:lnTo>
                  <a:pt x="2917421" y="521571"/>
                </a:lnTo>
                <a:lnTo>
                  <a:pt x="2873741" y="532325"/>
                </a:lnTo>
                <a:lnTo>
                  <a:pt x="2827835" y="542693"/>
                </a:lnTo>
                <a:lnTo>
                  <a:pt x="2779775" y="552662"/>
                </a:lnTo>
                <a:lnTo>
                  <a:pt x="2729634" y="562217"/>
                </a:lnTo>
                <a:lnTo>
                  <a:pt x="2677483" y="571344"/>
                </a:lnTo>
                <a:lnTo>
                  <a:pt x="2623394" y="580028"/>
                </a:lnTo>
                <a:lnTo>
                  <a:pt x="2567438" y="588256"/>
                </a:lnTo>
                <a:lnTo>
                  <a:pt x="2509689" y="596013"/>
                </a:lnTo>
                <a:lnTo>
                  <a:pt x="2450216" y="603284"/>
                </a:lnTo>
                <a:lnTo>
                  <a:pt x="2389094" y="610056"/>
                </a:lnTo>
                <a:lnTo>
                  <a:pt x="2326392" y="616313"/>
                </a:lnTo>
                <a:lnTo>
                  <a:pt x="2262184" y="622043"/>
                </a:lnTo>
                <a:lnTo>
                  <a:pt x="2196540" y="627230"/>
                </a:lnTo>
                <a:lnTo>
                  <a:pt x="2129534" y="631861"/>
                </a:lnTo>
                <a:lnTo>
                  <a:pt x="2061236" y="635920"/>
                </a:lnTo>
                <a:lnTo>
                  <a:pt x="1991718" y="639394"/>
                </a:lnTo>
                <a:lnTo>
                  <a:pt x="1921053" y="642268"/>
                </a:lnTo>
                <a:lnTo>
                  <a:pt x="1849313" y="644529"/>
                </a:lnTo>
                <a:lnTo>
                  <a:pt x="1776568" y="646161"/>
                </a:lnTo>
                <a:lnTo>
                  <a:pt x="1702891" y="647151"/>
                </a:lnTo>
                <a:lnTo>
                  <a:pt x="1628355" y="647484"/>
                </a:lnTo>
                <a:lnTo>
                  <a:pt x="1553818" y="647151"/>
                </a:lnTo>
                <a:lnTo>
                  <a:pt x="1480141" y="646161"/>
                </a:lnTo>
                <a:lnTo>
                  <a:pt x="1407397" y="644529"/>
                </a:lnTo>
                <a:lnTo>
                  <a:pt x="1335656" y="642268"/>
                </a:lnTo>
                <a:lnTo>
                  <a:pt x="1264991" y="639394"/>
                </a:lnTo>
                <a:lnTo>
                  <a:pt x="1195473" y="635920"/>
                </a:lnTo>
                <a:lnTo>
                  <a:pt x="1127175" y="631861"/>
                </a:lnTo>
                <a:lnTo>
                  <a:pt x="1060169" y="627230"/>
                </a:lnTo>
                <a:lnTo>
                  <a:pt x="994525" y="622043"/>
                </a:lnTo>
                <a:lnTo>
                  <a:pt x="930317" y="616313"/>
                </a:lnTo>
                <a:lnTo>
                  <a:pt x="867615" y="610056"/>
                </a:lnTo>
                <a:lnTo>
                  <a:pt x="806493" y="603284"/>
                </a:lnTo>
                <a:lnTo>
                  <a:pt x="747020" y="596013"/>
                </a:lnTo>
                <a:lnTo>
                  <a:pt x="689271" y="588256"/>
                </a:lnTo>
                <a:lnTo>
                  <a:pt x="633315" y="580028"/>
                </a:lnTo>
                <a:lnTo>
                  <a:pt x="579226" y="571344"/>
                </a:lnTo>
                <a:lnTo>
                  <a:pt x="527075" y="562217"/>
                </a:lnTo>
                <a:lnTo>
                  <a:pt x="476934" y="552662"/>
                </a:lnTo>
                <a:lnTo>
                  <a:pt x="428874" y="542693"/>
                </a:lnTo>
                <a:lnTo>
                  <a:pt x="382968" y="532325"/>
                </a:lnTo>
                <a:lnTo>
                  <a:pt x="339288" y="521571"/>
                </a:lnTo>
                <a:lnTo>
                  <a:pt x="297905" y="510446"/>
                </a:lnTo>
                <a:lnTo>
                  <a:pt x="258891" y="498965"/>
                </a:lnTo>
                <a:lnTo>
                  <a:pt x="222318" y="487141"/>
                </a:lnTo>
                <a:lnTo>
                  <a:pt x="156782" y="462523"/>
                </a:lnTo>
                <a:lnTo>
                  <a:pt x="101874" y="436706"/>
                </a:lnTo>
                <a:lnTo>
                  <a:pt x="58166" y="409805"/>
                </a:lnTo>
                <a:lnTo>
                  <a:pt x="26234" y="381935"/>
                </a:lnTo>
                <a:lnTo>
                  <a:pt x="1675" y="338561"/>
                </a:lnTo>
                <a:lnTo>
                  <a:pt x="0" y="323742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50183" y="7008497"/>
            <a:ext cx="8391525" cy="226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[Note: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hourly_rates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in this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example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are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made up.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They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associated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organization.]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0126" y="315975"/>
            <a:ext cx="887793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T</a:t>
            </a:r>
            <a:r>
              <a:rPr dirty="0"/>
              <a:t>A</a:t>
            </a:r>
            <a:r>
              <a:rPr spc="-260" dirty="0"/>
              <a:t> </a:t>
            </a:r>
            <a:r>
              <a:rPr spc="-120" dirty="0"/>
              <a:t>I</a:t>
            </a:r>
            <a:r>
              <a:rPr spc="-130" dirty="0"/>
              <a:t>n</a:t>
            </a:r>
            <a:r>
              <a:rPr spc="-125" dirty="0"/>
              <a:t>f</a:t>
            </a:r>
            <a:r>
              <a:rPr spc="-130" dirty="0"/>
              <a:t>o</a:t>
            </a:r>
            <a:r>
              <a:rPr dirty="0"/>
              <a:t>:</a:t>
            </a:r>
            <a:r>
              <a:rPr spc="-240" dirty="0"/>
              <a:t> </a:t>
            </a:r>
            <a:r>
              <a:rPr spc="-120" dirty="0"/>
              <a:t>I</a:t>
            </a:r>
            <a:r>
              <a:rPr spc="-130" dirty="0"/>
              <a:t>n</a:t>
            </a:r>
            <a:r>
              <a:rPr spc="-125" dirty="0"/>
              <a:t>s</a:t>
            </a:r>
            <a:r>
              <a:rPr spc="-120" dirty="0"/>
              <a:t>e</a:t>
            </a:r>
            <a:r>
              <a:rPr spc="-125" dirty="0"/>
              <a:t>r</a:t>
            </a:r>
            <a:r>
              <a:rPr spc="-120" dirty="0"/>
              <a:t>t</a:t>
            </a:r>
            <a:r>
              <a:rPr spc="-125" dirty="0"/>
              <a:t>i</a:t>
            </a:r>
            <a:r>
              <a:rPr spc="-130" dirty="0"/>
              <a:t>o</a:t>
            </a:r>
            <a:r>
              <a:rPr dirty="0"/>
              <a:t>n</a:t>
            </a:r>
            <a:r>
              <a:rPr spc="-254" dirty="0"/>
              <a:t> </a:t>
            </a:r>
            <a:r>
              <a:rPr spc="-140" dirty="0"/>
              <a:t>A</a:t>
            </a:r>
            <a:r>
              <a:rPr spc="-130" dirty="0"/>
              <a:t>no</a:t>
            </a:r>
            <a:r>
              <a:rPr spc="-140" dirty="0"/>
              <a:t>m</a:t>
            </a:r>
            <a:r>
              <a:rPr spc="-125" dirty="0"/>
              <a:t>al</a:t>
            </a:r>
            <a:r>
              <a:rPr dirty="0"/>
              <a:t>y</a:t>
            </a:r>
            <a:r>
              <a:rPr spc="-270" dirty="0"/>
              <a:t> </a:t>
            </a:r>
            <a:r>
              <a:rPr sz="3800" b="0" spc="-90" dirty="0">
                <a:latin typeface="Verdana"/>
                <a:cs typeface="Verdana"/>
              </a:rPr>
              <a:t>(3)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4739" y="4429759"/>
            <a:ext cx="8687435" cy="127254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245745" marR="43180" indent="-195580">
              <a:lnSpc>
                <a:spcPct val="102899"/>
              </a:lnSpc>
              <a:spcBef>
                <a:spcPts val="25"/>
              </a:spcBef>
              <a:buSzPct val="85714"/>
              <a:buFont typeface="Arial MT"/>
              <a:buChar char="•"/>
              <a:tabLst>
                <a:tab pos="246379" algn="l"/>
              </a:tabLst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What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if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we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want to insert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new employee, who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is in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2</a:t>
            </a:r>
            <a:r>
              <a:rPr sz="2100" spc="22" baseline="23809" dirty="0">
                <a:solidFill>
                  <a:srgbClr val="292934"/>
                </a:solidFill>
                <a:latin typeface="Verdana"/>
                <a:cs typeface="Verdana"/>
              </a:rPr>
              <a:t>nd</a:t>
            </a:r>
            <a:r>
              <a:rPr sz="2100" spc="30" baseline="2380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5" dirty="0">
                <a:solidFill>
                  <a:srgbClr val="292934"/>
                </a:solidFill>
                <a:latin typeface="Verdana"/>
                <a:cs typeface="Verdana"/>
              </a:rPr>
              <a:t>year, </a:t>
            </a:r>
            <a:r>
              <a:rPr sz="2100" spc="-7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but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don’t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know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hourly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rate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2</a:t>
            </a:r>
            <a:r>
              <a:rPr sz="2100" spc="22" baseline="23809" dirty="0">
                <a:solidFill>
                  <a:srgbClr val="292934"/>
                </a:solidFill>
                <a:latin typeface="Verdana"/>
                <a:cs typeface="Verdana"/>
              </a:rPr>
              <a:t>nd</a:t>
            </a:r>
            <a:r>
              <a:rPr sz="2100" spc="390" baseline="2380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year?</a:t>
            </a:r>
            <a:endParaRPr sz="2100">
              <a:latin typeface="Verdana"/>
              <a:cs typeface="Verdana"/>
            </a:endParaRPr>
          </a:p>
          <a:p>
            <a:pPr marL="284480" indent="-233679">
              <a:lnSpc>
                <a:spcPct val="100000"/>
              </a:lnSpc>
              <a:spcBef>
                <a:spcPts val="2185"/>
              </a:spcBef>
              <a:buSzPct val="85714"/>
              <a:buFont typeface="Arial MT"/>
              <a:buChar char="•"/>
              <a:tabLst>
                <a:tab pos="283845" algn="l"/>
                <a:tab pos="28448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Cannot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insert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new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employee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endParaRPr sz="21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81400" y="1299251"/>
          <a:ext cx="8891905" cy="24180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9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1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76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7631"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computingID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3003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hourly_rate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hours_worked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55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ht1y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381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381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381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381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381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55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9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9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9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9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9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55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md3y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54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54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54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54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54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55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mn4e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31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31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31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31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31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55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dh5h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Duhhuh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aw6e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Awesome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334645">
                        <a:lnSpc>
                          <a:spcPct val="100000"/>
                        </a:lnSpc>
                        <a:spcBef>
                          <a:spcPts val="375"/>
                        </a:spcBef>
                        <a:tabLst>
                          <a:tab pos="751840" algn="l"/>
                        </a:tabLst>
                      </a:pPr>
                      <a:r>
                        <a:rPr sz="1700" b="1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??	Null</a:t>
                      </a:r>
                      <a:r>
                        <a:rPr sz="1700" b="1" spc="-45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700" b="1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?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4186091" y="3336526"/>
            <a:ext cx="3422650" cy="429895"/>
          </a:xfrm>
          <a:custGeom>
            <a:avLst/>
            <a:gdLst/>
            <a:ahLst/>
            <a:cxnLst/>
            <a:rect l="l" t="t" r="r" b="b"/>
            <a:pathLst>
              <a:path w="3422650" h="429895">
                <a:moveTo>
                  <a:pt x="0" y="214910"/>
                </a:moveTo>
                <a:lnTo>
                  <a:pt x="27566" y="176279"/>
                </a:lnTo>
                <a:lnTo>
                  <a:pt x="61119" y="157778"/>
                </a:lnTo>
                <a:lnTo>
                  <a:pt x="107045" y="139921"/>
                </a:lnTo>
                <a:lnTo>
                  <a:pt x="164741" y="122783"/>
                </a:lnTo>
                <a:lnTo>
                  <a:pt x="233603" y="106441"/>
                </a:lnTo>
                <a:lnTo>
                  <a:pt x="272032" y="98591"/>
                </a:lnTo>
                <a:lnTo>
                  <a:pt x="313027" y="90970"/>
                </a:lnTo>
                <a:lnTo>
                  <a:pt x="356510" y="83585"/>
                </a:lnTo>
                <a:lnTo>
                  <a:pt x="402408" y="76446"/>
                </a:lnTo>
                <a:lnTo>
                  <a:pt x="450644" y="69563"/>
                </a:lnTo>
                <a:lnTo>
                  <a:pt x="501143" y="62945"/>
                </a:lnTo>
                <a:lnTo>
                  <a:pt x="553830" y="56602"/>
                </a:lnTo>
                <a:lnTo>
                  <a:pt x="608628" y="50544"/>
                </a:lnTo>
                <a:lnTo>
                  <a:pt x="665463" y="44779"/>
                </a:lnTo>
                <a:lnTo>
                  <a:pt x="724259" y="39317"/>
                </a:lnTo>
                <a:lnTo>
                  <a:pt x="784940" y="34168"/>
                </a:lnTo>
                <a:lnTo>
                  <a:pt x="847431" y="29341"/>
                </a:lnTo>
                <a:lnTo>
                  <a:pt x="911657" y="24846"/>
                </a:lnTo>
                <a:lnTo>
                  <a:pt x="977541" y="20692"/>
                </a:lnTo>
                <a:lnTo>
                  <a:pt x="1045009" y="16888"/>
                </a:lnTo>
                <a:lnTo>
                  <a:pt x="1113984" y="13445"/>
                </a:lnTo>
                <a:lnTo>
                  <a:pt x="1184392" y="10371"/>
                </a:lnTo>
                <a:lnTo>
                  <a:pt x="1256157" y="7676"/>
                </a:lnTo>
                <a:lnTo>
                  <a:pt x="1329203" y="5370"/>
                </a:lnTo>
                <a:lnTo>
                  <a:pt x="1403455" y="3462"/>
                </a:lnTo>
                <a:lnTo>
                  <a:pt x="1478838" y="1961"/>
                </a:lnTo>
                <a:lnTo>
                  <a:pt x="1555275" y="878"/>
                </a:lnTo>
                <a:lnTo>
                  <a:pt x="1632691" y="221"/>
                </a:lnTo>
                <a:lnTo>
                  <a:pt x="1711012" y="0"/>
                </a:lnTo>
                <a:lnTo>
                  <a:pt x="1789332" y="221"/>
                </a:lnTo>
                <a:lnTo>
                  <a:pt x="1866749" y="878"/>
                </a:lnTo>
                <a:lnTo>
                  <a:pt x="1943186" y="1961"/>
                </a:lnTo>
                <a:lnTo>
                  <a:pt x="2018569" y="3462"/>
                </a:lnTo>
                <a:lnTo>
                  <a:pt x="2092821" y="5370"/>
                </a:lnTo>
                <a:lnTo>
                  <a:pt x="2165867" y="7676"/>
                </a:lnTo>
                <a:lnTo>
                  <a:pt x="2237632" y="10371"/>
                </a:lnTo>
                <a:lnTo>
                  <a:pt x="2308040" y="13445"/>
                </a:lnTo>
                <a:lnTo>
                  <a:pt x="2377015" y="16888"/>
                </a:lnTo>
                <a:lnTo>
                  <a:pt x="2444483" y="20692"/>
                </a:lnTo>
                <a:lnTo>
                  <a:pt x="2510367" y="24846"/>
                </a:lnTo>
                <a:lnTo>
                  <a:pt x="2574593" y="29341"/>
                </a:lnTo>
                <a:lnTo>
                  <a:pt x="2637084" y="34168"/>
                </a:lnTo>
                <a:lnTo>
                  <a:pt x="2697765" y="39317"/>
                </a:lnTo>
                <a:lnTo>
                  <a:pt x="2756561" y="44779"/>
                </a:lnTo>
                <a:lnTo>
                  <a:pt x="2813396" y="50544"/>
                </a:lnTo>
                <a:lnTo>
                  <a:pt x="2868194" y="56602"/>
                </a:lnTo>
                <a:lnTo>
                  <a:pt x="2920881" y="62945"/>
                </a:lnTo>
                <a:lnTo>
                  <a:pt x="2971380" y="69563"/>
                </a:lnTo>
                <a:lnTo>
                  <a:pt x="3019616" y="76446"/>
                </a:lnTo>
                <a:lnTo>
                  <a:pt x="3065514" y="83585"/>
                </a:lnTo>
                <a:lnTo>
                  <a:pt x="3108998" y="90970"/>
                </a:lnTo>
                <a:lnTo>
                  <a:pt x="3149992" y="98591"/>
                </a:lnTo>
                <a:lnTo>
                  <a:pt x="3188422" y="106441"/>
                </a:lnTo>
                <a:lnTo>
                  <a:pt x="3257284" y="122783"/>
                </a:lnTo>
                <a:lnTo>
                  <a:pt x="3314980" y="139921"/>
                </a:lnTo>
                <a:lnTo>
                  <a:pt x="3360906" y="157778"/>
                </a:lnTo>
                <a:lnTo>
                  <a:pt x="3394458" y="176279"/>
                </a:lnTo>
                <a:lnTo>
                  <a:pt x="3420264" y="205073"/>
                </a:lnTo>
                <a:lnTo>
                  <a:pt x="3422025" y="214910"/>
                </a:lnTo>
                <a:lnTo>
                  <a:pt x="3420264" y="224747"/>
                </a:lnTo>
                <a:lnTo>
                  <a:pt x="3394458" y="253540"/>
                </a:lnTo>
                <a:lnTo>
                  <a:pt x="3360906" y="272042"/>
                </a:lnTo>
                <a:lnTo>
                  <a:pt x="3314980" y="289899"/>
                </a:lnTo>
                <a:lnTo>
                  <a:pt x="3257284" y="307037"/>
                </a:lnTo>
                <a:lnTo>
                  <a:pt x="3188422" y="323379"/>
                </a:lnTo>
                <a:lnTo>
                  <a:pt x="3149992" y="331228"/>
                </a:lnTo>
                <a:lnTo>
                  <a:pt x="3108998" y="338850"/>
                </a:lnTo>
                <a:lnTo>
                  <a:pt x="3065514" y="346235"/>
                </a:lnTo>
                <a:lnTo>
                  <a:pt x="3019616" y="353374"/>
                </a:lnTo>
                <a:lnTo>
                  <a:pt x="2971380" y="360257"/>
                </a:lnTo>
                <a:lnTo>
                  <a:pt x="2920881" y="366874"/>
                </a:lnTo>
                <a:lnTo>
                  <a:pt x="2868194" y="373217"/>
                </a:lnTo>
                <a:lnTo>
                  <a:pt x="2813396" y="379276"/>
                </a:lnTo>
                <a:lnTo>
                  <a:pt x="2756561" y="385041"/>
                </a:lnTo>
                <a:lnTo>
                  <a:pt x="2697765" y="390503"/>
                </a:lnTo>
                <a:lnTo>
                  <a:pt x="2637084" y="395652"/>
                </a:lnTo>
                <a:lnTo>
                  <a:pt x="2574593" y="400479"/>
                </a:lnTo>
                <a:lnTo>
                  <a:pt x="2510367" y="404974"/>
                </a:lnTo>
                <a:lnTo>
                  <a:pt x="2444483" y="409128"/>
                </a:lnTo>
                <a:lnTo>
                  <a:pt x="2377015" y="412932"/>
                </a:lnTo>
                <a:lnTo>
                  <a:pt x="2308040" y="416375"/>
                </a:lnTo>
                <a:lnTo>
                  <a:pt x="2237632" y="419449"/>
                </a:lnTo>
                <a:lnTo>
                  <a:pt x="2165867" y="422143"/>
                </a:lnTo>
                <a:lnTo>
                  <a:pt x="2092821" y="424450"/>
                </a:lnTo>
                <a:lnTo>
                  <a:pt x="2018569" y="426358"/>
                </a:lnTo>
                <a:lnTo>
                  <a:pt x="1943186" y="427858"/>
                </a:lnTo>
                <a:lnTo>
                  <a:pt x="1866749" y="428942"/>
                </a:lnTo>
                <a:lnTo>
                  <a:pt x="1789332" y="429599"/>
                </a:lnTo>
                <a:lnTo>
                  <a:pt x="1711012" y="429820"/>
                </a:lnTo>
                <a:lnTo>
                  <a:pt x="1632691" y="429599"/>
                </a:lnTo>
                <a:lnTo>
                  <a:pt x="1555275" y="428942"/>
                </a:lnTo>
                <a:lnTo>
                  <a:pt x="1478838" y="427858"/>
                </a:lnTo>
                <a:lnTo>
                  <a:pt x="1403455" y="426358"/>
                </a:lnTo>
                <a:lnTo>
                  <a:pt x="1329203" y="424450"/>
                </a:lnTo>
                <a:lnTo>
                  <a:pt x="1256157" y="422143"/>
                </a:lnTo>
                <a:lnTo>
                  <a:pt x="1184392" y="419449"/>
                </a:lnTo>
                <a:lnTo>
                  <a:pt x="1113984" y="416375"/>
                </a:lnTo>
                <a:lnTo>
                  <a:pt x="1045009" y="412932"/>
                </a:lnTo>
                <a:lnTo>
                  <a:pt x="977541" y="409128"/>
                </a:lnTo>
                <a:lnTo>
                  <a:pt x="911657" y="404974"/>
                </a:lnTo>
                <a:lnTo>
                  <a:pt x="847431" y="400479"/>
                </a:lnTo>
                <a:lnTo>
                  <a:pt x="784940" y="395652"/>
                </a:lnTo>
                <a:lnTo>
                  <a:pt x="724259" y="390503"/>
                </a:lnTo>
                <a:lnTo>
                  <a:pt x="665463" y="385041"/>
                </a:lnTo>
                <a:lnTo>
                  <a:pt x="608628" y="379276"/>
                </a:lnTo>
                <a:lnTo>
                  <a:pt x="553830" y="373217"/>
                </a:lnTo>
                <a:lnTo>
                  <a:pt x="501143" y="366874"/>
                </a:lnTo>
                <a:lnTo>
                  <a:pt x="450644" y="360257"/>
                </a:lnTo>
                <a:lnTo>
                  <a:pt x="402408" y="353374"/>
                </a:lnTo>
                <a:lnTo>
                  <a:pt x="356510" y="346235"/>
                </a:lnTo>
                <a:lnTo>
                  <a:pt x="313027" y="338850"/>
                </a:lnTo>
                <a:lnTo>
                  <a:pt x="272032" y="331228"/>
                </a:lnTo>
                <a:lnTo>
                  <a:pt x="233603" y="323379"/>
                </a:lnTo>
                <a:lnTo>
                  <a:pt x="164741" y="307037"/>
                </a:lnTo>
                <a:lnTo>
                  <a:pt x="107045" y="289899"/>
                </a:lnTo>
                <a:lnTo>
                  <a:pt x="61119" y="272042"/>
                </a:lnTo>
                <a:lnTo>
                  <a:pt x="27566" y="253540"/>
                </a:lnTo>
                <a:lnTo>
                  <a:pt x="1760" y="224747"/>
                </a:lnTo>
                <a:lnTo>
                  <a:pt x="0" y="214910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50183" y="7008497"/>
            <a:ext cx="8391525" cy="226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[Note: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hourly_rates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in this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example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are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made up.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They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associated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organization.]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2206" y="322071"/>
            <a:ext cx="861377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T</a:t>
            </a:r>
            <a:r>
              <a:rPr dirty="0"/>
              <a:t>A</a:t>
            </a:r>
            <a:r>
              <a:rPr spc="-260" dirty="0"/>
              <a:t> </a:t>
            </a:r>
            <a:r>
              <a:rPr spc="-120" dirty="0"/>
              <a:t>I</a:t>
            </a:r>
            <a:r>
              <a:rPr spc="-130" dirty="0"/>
              <a:t>n</a:t>
            </a:r>
            <a:r>
              <a:rPr spc="-125" dirty="0"/>
              <a:t>f</a:t>
            </a:r>
            <a:r>
              <a:rPr spc="-130" dirty="0"/>
              <a:t>o</a:t>
            </a:r>
            <a:r>
              <a:rPr dirty="0"/>
              <a:t>:</a:t>
            </a:r>
            <a:r>
              <a:rPr spc="-240" dirty="0"/>
              <a:t> </a:t>
            </a:r>
            <a:r>
              <a:rPr spc="-130" dirty="0"/>
              <a:t>D</a:t>
            </a:r>
            <a:r>
              <a:rPr spc="-120" dirty="0"/>
              <a:t>e</a:t>
            </a:r>
            <a:r>
              <a:rPr spc="-125" dirty="0"/>
              <a:t>l</a:t>
            </a:r>
            <a:r>
              <a:rPr spc="-120" dirty="0"/>
              <a:t>et</a:t>
            </a:r>
            <a:r>
              <a:rPr spc="-125" dirty="0"/>
              <a:t>i</a:t>
            </a:r>
            <a:r>
              <a:rPr spc="-130" dirty="0"/>
              <a:t>o</a:t>
            </a:r>
            <a:r>
              <a:rPr dirty="0"/>
              <a:t>n</a:t>
            </a:r>
            <a:r>
              <a:rPr spc="-254" dirty="0"/>
              <a:t> </a:t>
            </a:r>
            <a:r>
              <a:rPr spc="-140" dirty="0"/>
              <a:t>A</a:t>
            </a:r>
            <a:r>
              <a:rPr spc="-130" dirty="0"/>
              <a:t>no</a:t>
            </a:r>
            <a:r>
              <a:rPr spc="-140" dirty="0"/>
              <a:t>m</a:t>
            </a:r>
            <a:r>
              <a:rPr spc="-125" dirty="0"/>
              <a:t>al</a:t>
            </a:r>
            <a:r>
              <a:rPr dirty="0"/>
              <a:t>y</a:t>
            </a:r>
            <a:r>
              <a:rPr spc="-270" dirty="0"/>
              <a:t> </a:t>
            </a:r>
            <a:r>
              <a:rPr sz="3800" b="0" spc="-90" dirty="0">
                <a:latin typeface="Verdana"/>
                <a:cs typeface="Verdana"/>
              </a:rPr>
              <a:t>(4)</a:t>
            </a:r>
            <a:endParaRPr sz="38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0183" y="7008497"/>
            <a:ext cx="8391525" cy="226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[Note: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hourly_rates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in this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example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are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made up.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They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associated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organization.]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439" y="3972559"/>
            <a:ext cx="74225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3045" indent="-195580">
              <a:lnSpc>
                <a:spcPct val="100000"/>
              </a:lnSpc>
              <a:spcBef>
                <a:spcPts val="100"/>
              </a:spcBef>
              <a:buSzPct val="85714"/>
              <a:buFont typeface="Arial MT"/>
              <a:buChar char="•"/>
              <a:tabLst>
                <a:tab pos="233679" algn="l"/>
              </a:tabLst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What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delete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employees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3</a:t>
            </a:r>
            <a:r>
              <a:rPr sz="2100" spc="22" baseline="23809" dirty="0">
                <a:solidFill>
                  <a:srgbClr val="292934"/>
                </a:solidFill>
                <a:latin typeface="Verdana"/>
                <a:cs typeface="Verdana"/>
              </a:rPr>
              <a:t>rd</a:t>
            </a:r>
            <a:r>
              <a:rPr sz="2100" spc="390" baseline="2380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year?</a:t>
            </a:r>
            <a:endParaRPr sz="2100">
              <a:latin typeface="Verdana"/>
              <a:cs typeface="Verdana"/>
            </a:endParaRPr>
          </a:p>
          <a:p>
            <a:pPr marL="233045" indent="-195580">
              <a:lnSpc>
                <a:spcPct val="100000"/>
              </a:lnSpc>
              <a:spcBef>
                <a:spcPts val="2160"/>
              </a:spcBef>
              <a:buSzPct val="85714"/>
              <a:buFont typeface="Arial MT"/>
              <a:buChar char="•"/>
              <a:tabLst>
                <a:tab pos="233679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Lose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information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about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hourly_rate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3</a:t>
            </a:r>
            <a:r>
              <a:rPr sz="2100" spc="15" baseline="23809" dirty="0">
                <a:solidFill>
                  <a:srgbClr val="292934"/>
                </a:solidFill>
                <a:latin typeface="Verdana"/>
                <a:cs typeface="Verdana"/>
              </a:rPr>
              <a:t>rd</a:t>
            </a:r>
            <a:r>
              <a:rPr sz="2100" spc="397" baseline="2380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year</a:t>
            </a:r>
            <a:endParaRPr sz="21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01428" y="1299251"/>
          <a:ext cx="9256393" cy="20609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9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6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1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376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7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7631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  <a:lnB w="53975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computingID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hourly_rate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hours_worked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53975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55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  <a:lnB w="53975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ht1y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381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381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381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381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381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53975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35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  <a:lnB w="53975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150"/>
                        </a:lnSpc>
                        <a:spcBef>
                          <a:spcPts val="1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9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C00000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150"/>
                        </a:lnSpc>
                        <a:spcBef>
                          <a:spcPts val="1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9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C00000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  <a:spcBef>
                          <a:spcPts val="1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9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C00000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  <a:spcBef>
                          <a:spcPts val="1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9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C00000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  <a:spcBef>
                          <a:spcPts val="1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9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C00000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53975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202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C00000"/>
                      </a:solidFill>
                      <a:prstDash val="solid"/>
                    </a:lnT>
                    <a:lnB w="53975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C00000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C00000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C00000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C00000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C00000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53975">
                      <a:solidFill>
                        <a:srgbClr val="C00000"/>
                      </a:solidFill>
                      <a:prstDash val="solid"/>
                    </a:lnT>
                    <a:lnB w="53975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55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C00000"/>
                      </a:solidFill>
                      <a:prstDash val="solid"/>
                    </a:lnT>
                    <a:lnB w="53975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md3y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54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54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54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54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54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53975">
                      <a:solidFill>
                        <a:srgbClr val="C00000"/>
                      </a:solidFill>
                      <a:prstDash val="solid"/>
                    </a:lnT>
                    <a:lnB w="53975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55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C00000"/>
                      </a:solidFill>
                      <a:prstDash val="solid"/>
                    </a:lnT>
                    <a:lnB w="53975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mn4e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31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31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31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31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31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53975">
                      <a:solidFill>
                        <a:srgbClr val="C00000"/>
                      </a:solidFill>
                      <a:prstDash val="solid"/>
                    </a:lnT>
                    <a:lnB w="53975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400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C00000"/>
                      </a:solidFill>
                      <a:prstDash val="solid"/>
                    </a:lnT>
                    <a:lnB w="53975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105"/>
                        </a:lnSpc>
                        <a:spcBef>
                          <a:spcPts val="1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dh5h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C00000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105"/>
                        </a:lnSpc>
                        <a:spcBef>
                          <a:spcPts val="1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Duhhuh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C00000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5"/>
                        </a:lnSpc>
                        <a:spcBef>
                          <a:spcPts val="1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C00000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5"/>
                        </a:lnSpc>
                        <a:spcBef>
                          <a:spcPts val="1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C00000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5"/>
                        </a:lnSpc>
                        <a:spcBef>
                          <a:spcPts val="1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C00000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53975">
                      <a:solidFill>
                        <a:srgbClr val="C00000"/>
                      </a:solidFill>
                      <a:prstDash val="solid"/>
                    </a:lnT>
                    <a:lnB w="53975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65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C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C00000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C00000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C00000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C00000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C00000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53975">
                      <a:solidFill>
                        <a:srgbClr val="C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4426" y="331216"/>
            <a:ext cx="864933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T</a:t>
            </a:r>
            <a:r>
              <a:rPr dirty="0"/>
              <a:t>A</a:t>
            </a:r>
            <a:r>
              <a:rPr spc="-260" dirty="0"/>
              <a:t> </a:t>
            </a:r>
            <a:r>
              <a:rPr spc="-120" dirty="0"/>
              <a:t>I</a:t>
            </a:r>
            <a:r>
              <a:rPr spc="-130" dirty="0"/>
              <a:t>n</a:t>
            </a:r>
            <a:r>
              <a:rPr spc="-125" dirty="0"/>
              <a:t>f</a:t>
            </a:r>
            <a:r>
              <a:rPr spc="-130" dirty="0"/>
              <a:t>o</a:t>
            </a:r>
            <a:r>
              <a:rPr dirty="0"/>
              <a:t>:</a:t>
            </a:r>
            <a:r>
              <a:rPr spc="-240" dirty="0"/>
              <a:t> </a:t>
            </a:r>
            <a:r>
              <a:rPr spc="-125" dirty="0"/>
              <a:t>P</a:t>
            </a:r>
            <a:r>
              <a:rPr spc="-130" dirty="0"/>
              <a:t>o</a:t>
            </a:r>
            <a:r>
              <a:rPr spc="-120" dirty="0"/>
              <a:t>te</a:t>
            </a:r>
            <a:r>
              <a:rPr spc="-130" dirty="0"/>
              <a:t>n</a:t>
            </a:r>
            <a:r>
              <a:rPr spc="-120" dirty="0"/>
              <a:t>t</a:t>
            </a:r>
            <a:r>
              <a:rPr spc="-125" dirty="0"/>
              <a:t>ia</a:t>
            </a:r>
            <a:r>
              <a:rPr dirty="0"/>
              <a:t>l</a:t>
            </a:r>
            <a:r>
              <a:rPr spc="-250" dirty="0"/>
              <a:t> </a:t>
            </a:r>
            <a:r>
              <a:rPr spc="-135" dirty="0"/>
              <a:t>So</a:t>
            </a:r>
            <a:r>
              <a:rPr spc="-125" dirty="0"/>
              <a:t>l</a:t>
            </a:r>
            <a:r>
              <a:rPr spc="-130" dirty="0"/>
              <a:t>u</a:t>
            </a:r>
            <a:r>
              <a:rPr spc="-120" dirty="0"/>
              <a:t>t</a:t>
            </a:r>
            <a:r>
              <a:rPr spc="-125" dirty="0"/>
              <a:t>i</a:t>
            </a:r>
            <a:r>
              <a:rPr spc="-130" dirty="0"/>
              <a:t>o</a:t>
            </a:r>
            <a:r>
              <a:rPr dirty="0"/>
              <a:t>n</a:t>
            </a:r>
            <a:r>
              <a:rPr spc="-265" dirty="0"/>
              <a:t> </a:t>
            </a:r>
            <a:r>
              <a:rPr sz="3800" b="0" spc="-90" dirty="0">
                <a:latin typeface="Verdana"/>
                <a:cs typeface="Verdana"/>
              </a:rPr>
              <a:t>(5)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2840" y="1223264"/>
            <a:ext cx="74168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Decompose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relation,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separate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unrelated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endParaRPr sz="21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92786" y="1619327"/>
          <a:ext cx="7002144" cy="19019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6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3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39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13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6991"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computingID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3714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hourly_rate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hours_worked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ht1y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md3y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mn4e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dh5h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Duhhuh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005264" y="4097668"/>
          <a:ext cx="5050154" cy="19019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6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8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20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38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6991"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computingID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hours_worked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ht1y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md3y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mn4e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dh5h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Duhhuh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549273" y="4097668"/>
          <a:ext cx="2523489" cy="9509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5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69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hourly_rate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4632443" y="1617248"/>
            <a:ext cx="2182495" cy="1901189"/>
          </a:xfrm>
          <a:custGeom>
            <a:avLst/>
            <a:gdLst/>
            <a:ahLst/>
            <a:cxnLst/>
            <a:rect l="l" t="t" r="r" b="b"/>
            <a:pathLst>
              <a:path w="2182495" h="1901189">
                <a:moveTo>
                  <a:pt x="0" y="316859"/>
                </a:moveTo>
                <a:lnTo>
                  <a:pt x="3435" y="270036"/>
                </a:lnTo>
                <a:lnTo>
                  <a:pt x="13415" y="225346"/>
                </a:lnTo>
                <a:lnTo>
                  <a:pt x="29449" y="183279"/>
                </a:lnTo>
                <a:lnTo>
                  <a:pt x="51048" y="144326"/>
                </a:lnTo>
                <a:lnTo>
                  <a:pt x="77720" y="108976"/>
                </a:lnTo>
                <a:lnTo>
                  <a:pt x="108976" y="77720"/>
                </a:lnTo>
                <a:lnTo>
                  <a:pt x="144326" y="51048"/>
                </a:lnTo>
                <a:lnTo>
                  <a:pt x="183279" y="29449"/>
                </a:lnTo>
                <a:lnTo>
                  <a:pt x="225346" y="13415"/>
                </a:lnTo>
                <a:lnTo>
                  <a:pt x="270036" y="3435"/>
                </a:lnTo>
                <a:lnTo>
                  <a:pt x="316859" y="0"/>
                </a:lnTo>
                <a:lnTo>
                  <a:pt x="1865301" y="0"/>
                </a:lnTo>
                <a:lnTo>
                  <a:pt x="1912124" y="3435"/>
                </a:lnTo>
                <a:lnTo>
                  <a:pt x="1956814" y="13415"/>
                </a:lnTo>
                <a:lnTo>
                  <a:pt x="1998881" y="29449"/>
                </a:lnTo>
                <a:lnTo>
                  <a:pt x="2037834" y="51048"/>
                </a:lnTo>
                <a:lnTo>
                  <a:pt x="2073184" y="77720"/>
                </a:lnTo>
                <a:lnTo>
                  <a:pt x="2104440" y="108976"/>
                </a:lnTo>
                <a:lnTo>
                  <a:pt x="2131113" y="144326"/>
                </a:lnTo>
                <a:lnTo>
                  <a:pt x="2152711" y="183279"/>
                </a:lnTo>
                <a:lnTo>
                  <a:pt x="2168745" y="225346"/>
                </a:lnTo>
                <a:lnTo>
                  <a:pt x="2178725" y="270036"/>
                </a:lnTo>
                <a:lnTo>
                  <a:pt x="2182161" y="316859"/>
                </a:lnTo>
                <a:lnTo>
                  <a:pt x="2182161" y="1584265"/>
                </a:lnTo>
                <a:lnTo>
                  <a:pt x="2178725" y="1631088"/>
                </a:lnTo>
                <a:lnTo>
                  <a:pt x="2168745" y="1675778"/>
                </a:lnTo>
                <a:lnTo>
                  <a:pt x="2152711" y="1717845"/>
                </a:lnTo>
                <a:lnTo>
                  <a:pt x="2131113" y="1756798"/>
                </a:lnTo>
                <a:lnTo>
                  <a:pt x="2104440" y="1792148"/>
                </a:lnTo>
                <a:lnTo>
                  <a:pt x="2073184" y="1823404"/>
                </a:lnTo>
                <a:lnTo>
                  <a:pt x="2037834" y="1850077"/>
                </a:lnTo>
                <a:lnTo>
                  <a:pt x="1998881" y="1871675"/>
                </a:lnTo>
                <a:lnTo>
                  <a:pt x="1956814" y="1887709"/>
                </a:lnTo>
                <a:lnTo>
                  <a:pt x="1912124" y="1897689"/>
                </a:lnTo>
                <a:lnTo>
                  <a:pt x="1865301" y="1901125"/>
                </a:lnTo>
                <a:lnTo>
                  <a:pt x="316859" y="1901125"/>
                </a:lnTo>
                <a:lnTo>
                  <a:pt x="270036" y="1897689"/>
                </a:lnTo>
                <a:lnTo>
                  <a:pt x="225346" y="1887709"/>
                </a:lnTo>
                <a:lnTo>
                  <a:pt x="183279" y="1871675"/>
                </a:lnTo>
                <a:lnTo>
                  <a:pt x="144326" y="1850077"/>
                </a:lnTo>
                <a:lnTo>
                  <a:pt x="108976" y="1823404"/>
                </a:lnTo>
                <a:lnTo>
                  <a:pt x="77720" y="1792148"/>
                </a:lnTo>
                <a:lnTo>
                  <a:pt x="51048" y="1756798"/>
                </a:lnTo>
                <a:lnTo>
                  <a:pt x="29449" y="1717845"/>
                </a:lnTo>
                <a:lnTo>
                  <a:pt x="13415" y="1675778"/>
                </a:lnTo>
                <a:lnTo>
                  <a:pt x="3435" y="1631088"/>
                </a:lnTo>
                <a:lnTo>
                  <a:pt x="0" y="1584265"/>
                </a:lnTo>
                <a:lnTo>
                  <a:pt x="0" y="316859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472255" y="3582901"/>
            <a:ext cx="574040" cy="414020"/>
          </a:xfrm>
          <a:custGeom>
            <a:avLst/>
            <a:gdLst/>
            <a:ahLst/>
            <a:cxnLst/>
            <a:rect l="l" t="t" r="r" b="b"/>
            <a:pathLst>
              <a:path w="574040" h="414020">
                <a:moveTo>
                  <a:pt x="402059" y="357704"/>
                </a:moveTo>
                <a:lnTo>
                  <a:pt x="394041" y="358611"/>
                </a:lnTo>
                <a:lnTo>
                  <a:pt x="387230" y="362391"/>
                </a:lnTo>
                <a:lnTo>
                  <a:pt x="382333" y="368449"/>
                </a:lnTo>
                <a:lnTo>
                  <a:pt x="380057" y="376190"/>
                </a:lnTo>
                <a:lnTo>
                  <a:pt x="380964" y="384208"/>
                </a:lnTo>
                <a:lnTo>
                  <a:pt x="384744" y="391020"/>
                </a:lnTo>
                <a:lnTo>
                  <a:pt x="390802" y="395917"/>
                </a:lnTo>
                <a:lnTo>
                  <a:pt x="398545" y="398191"/>
                </a:lnTo>
                <a:lnTo>
                  <a:pt x="573867" y="413410"/>
                </a:lnTo>
                <a:lnTo>
                  <a:pt x="570830" y="406754"/>
                </a:lnTo>
                <a:lnTo>
                  <a:pt x="529201" y="406754"/>
                </a:lnTo>
                <a:lnTo>
                  <a:pt x="467797" y="363410"/>
                </a:lnTo>
                <a:lnTo>
                  <a:pt x="402059" y="357704"/>
                </a:lnTo>
                <a:close/>
              </a:path>
              <a:path w="574040" h="414020">
                <a:moveTo>
                  <a:pt x="467797" y="363410"/>
                </a:moveTo>
                <a:lnTo>
                  <a:pt x="529201" y="406754"/>
                </a:lnTo>
                <a:lnTo>
                  <a:pt x="534964" y="398589"/>
                </a:lnTo>
                <a:lnTo>
                  <a:pt x="522433" y="398589"/>
                </a:lnTo>
                <a:lnTo>
                  <a:pt x="507973" y="366898"/>
                </a:lnTo>
                <a:lnTo>
                  <a:pt x="467797" y="363410"/>
                </a:lnTo>
                <a:close/>
              </a:path>
              <a:path w="574040" h="414020">
                <a:moveTo>
                  <a:pt x="481753" y="241425"/>
                </a:moveTo>
                <a:lnTo>
                  <a:pt x="473894" y="243255"/>
                </a:lnTo>
                <a:lnTo>
                  <a:pt x="467361" y="247991"/>
                </a:lnTo>
                <a:lnTo>
                  <a:pt x="463293" y="254634"/>
                </a:lnTo>
                <a:lnTo>
                  <a:pt x="462012" y="262318"/>
                </a:lnTo>
                <a:lnTo>
                  <a:pt x="463843" y="270177"/>
                </a:lnTo>
                <a:lnTo>
                  <a:pt x="491233" y="330208"/>
                </a:lnTo>
                <a:lnTo>
                  <a:pt x="552637" y="373552"/>
                </a:lnTo>
                <a:lnTo>
                  <a:pt x="529201" y="406754"/>
                </a:lnTo>
                <a:lnTo>
                  <a:pt x="570830" y="406754"/>
                </a:lnTo>
                <a:lnTo>
                  <a:pt x="500815" y="253307"/>
                </a:lnTo>
                <a:lnTo>
                  <a:pt x="496079" y="246774"/>
                </a:lnTo>
                <a:lnTo>
                  <a:pt x="489437" y="242705"/>
                </a:lnTo>
                <a:lnTo>
                  <a:pt x="481753" y="241425"/>
                </a:lnTo>
                <a:close/>
              </a:path>
              <a:path w="574040" h="414020">
                <a:moveTo>
                  <a:pt x="507973" y="366898"/>
                </a:moveTo>
                <a:lnTo>
                  <a:pt x="522433" y="398589"/>
                </a:lnTo>
                <a:lnTo>
                  <a:pt x="542677" y="369910"/>
                </a:lnTo>
                <a:lnTo>
                  <a:pt x="507973" y="366898"/>
                </a:lnTo>
                <a:close/>
              </a:path>
              <a:path w="574040" h="414020">
                <a:moveTo>
                  <a:pt x="491233" y="330208"/>
                </a:moveTo>
                <a:lnTo>
                  <a:pt x="507973" y="366898"/>
                </a:lnTo>
                <a:lnTo>
                  <a:pt x="542677" y="369910"/>
                </a:lnTo>
                <a:lnTo>
                  <a:pt x="522433" y="398589"/>
                </a:lnTo>
                <a:lnTo>
                  <a:pt x="534964" y="398589"/>
                </a:lnTo>
                <a:lnTo>
                  <a:pt x="552637" y="373552"/>
                </a:lnTo>
                <a:lnTo>
                  <a:pt x="491233" y="330208"/>
                </a:lnTo>
                <a:close/>
              </a:path>
              <a:path w="574040" h="414020">
                <a:moveTo>
                  <a:pt x="23436" y="0"/>
                </a:moveTo>
                <a:lnTo>
                  <a:pt x="0" y="33200"/>
                </a:lnTo>
                <a:lnTo>
                  <a:pt x="467797" y="363410"/>
                </a:lnTo>
                <a:lnTo>
                  <a:pt x="507973" y="366898"/>
                </a:lnTo>
                <a:lnTo>
                  <a:pt x="491233" y="330208"/>
                </a:lnTo>
                <a:lnTo>
                  <a:pt x="2343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6318503"/>
            <a:ext cx="9753600" cy="73152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31256" y="6337688"/>
            <a:ext cx="8978900" cy="464820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16510" algn="ctr">
              <a:lnSpc>
                <a:spcPct val="100000"/>
              </a:lnSpc>
              <a:spcBef>
                <a:spcPts val="480"/>
              </a:spcBef>
            </a:pP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Functional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Dependencies</a:t>
            </a:r>
            <a:r>
              <a:rPr sz="22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9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rescue!!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50183" y="7008497"/>
            <a:ext cx="8391525" cy="226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[Note: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hourly_rates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in this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example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are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made up.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They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associated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organization.]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56604-15F6-5C10-7377-D23C581A3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51947-F00C-AB3A-49E1-753D6CD50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" y="1676400"/>
            <a:ext cx="8675370" cy="4931516"/>
          </a:xfrm>
        </p:spPr>
        <p:txBody>
          <a:bodyPr>
            <a:normAutofit fontScale="92500" lnSpcReduction="20000"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Vrinda" panose="020B0502040204020203" pitchFamily="34" charset="0"/>
              </a:rPr>
              <a:t>Consider the following table for a university database: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Vrinda" panose="020B0502040204020203" pitchFamily="34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Vrinda" panose="020B0502040204020203" pitchFamily="34" charset="0"/>
              </a:rPr>
              <a:t> 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Vrinda" panose="020B0502040204020203" pitchFamily="34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Vrinda" panose="020B0502040204020203" pitchFamily="34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Vrinda" panose="020B0502040204020203" pitchFamily="34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Vrinda" panose="020B0502040204020203" pitchFamily="34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Vrinda" panose="020B0502040204020203" pitchFamily="34" charset="0"/>
              </a:rPr>
              <a:t>Given the functional dependencies: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Vrinda" panose="020B0502040204020203" pitchFamily="34" charset="0"/>
              </a:rPr>
              <a:t>StudentID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Vrinda" panose="020B0502040204020203" pitchFamily="34" charset="0"/>
              </a:rPr>
              <a:t> → Name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Vrinda" panose="020B0502040204020203" pitchFamily="34" charset="0"/>
              </a:rPr>
              <a:t>CourseID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Vrinda" panose="020B0502040204020203" pitchFamily="34" charset="0"/>
              </a:rPr>
              <a:t> →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Vrinda" panose="020B0502040204020203" pitchFamily="34" charset="0"/>
              </a:rPr>
              <a:t>CourseName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Vrinda" panose="020B0502040204020203" pitchFamily="34" charset="0"/>
              </a:rPr>
              <a:t>, Instructor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Vrinda" panose="020B0502040204020203" pitchFamily="34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Vrinda" panose="020B0502040204020203" pitchFamily="34" charset="0"/>
              </a:rPr>
              <a:t>Identify any insertion, update, or deletion anomalies.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Vrinda" panose="020B0502040204020203" pitchFamily="34" charset="0"/>
              </a:rPr>
              <a:t>Suggest a way to decompose the table to avoid these anomalies.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8BC32C3-74E2-938E-C615-87C9AD0489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56255"/>
              </p:ext>
            </p:extLst>
          </p:nvPr>
        </p:nvGraphicFramePr>
        <p:xfrm>
          <a:off x="1676400" y="2155985"/>
          <a:ext cx="6705600" cy="17480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120">
                  <a:extLst>
                    <a:ext uri="{9D8B030D-6E8A-4147-A177-3AD203B41FA5}">
                      <a16:colId xmlns:a16="http://schemas.microsoft.com/office/drawing/2014/main" val="1299621547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10167311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358394021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700378061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37666270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StudentID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CourseID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CourseName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Instructor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240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CSC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Prof.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11612"/>
                  </a:ext>
                </a:extLst>
              </a:tr>
              <a:tr h="225806"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CSC 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Algorithms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543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Prof.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55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CSC 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Algorithms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Prof.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833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CSC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543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Prof.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762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3043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2839" y="202449"/>
            <a:ext cx="770699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G</a:t>
            </a:r>
            <a:r>
              <a:rPr spc="-125" dirty="0"/>
              <a:t>e</a:t>
            </a:r>
            <a:r>
              <a:rPr spc="-130" dirty="0"/>
              <a:t>n</a:t>
            </a:r>
            <a:r>
              <a:rPr spc="-125" dirty="0"/>
              <a:t>er</a:t>
            </a:r>
            <a:r>
              <a:rPr spc="-130" dirty="0"/>
              <a:t>a</a:t>
            </a:r>
            <a:r>
              <a:rPr dirty="0"/>
              <a:t>l</a:t>
            </a:r>
            <a:r>
              <a:rPr spc="-245" dirty="0"/>
              <a:t> </a:t>
            </a:r>
            <a:r>
              <a:rPr spc="-130" dirty="0"/>
              <a:t>D</a:t>
            </a:r>
            <a:r>
              <a:rPr spc="-125" dirty="0"/>
              <a:t>esi</a:t>
            </a:r>
            <a:r>
              <a:rPr spc="-130" dirty="0"/>
              <a:t>g</a:t>
            </a:r>
            <a:r>
              <a:rPr dirty="0"/>
              <a:t>n</a:t>
            </a:r>
            <a:r>
              <a:rPr spc="-254" dirty="0"/>
              <a:t> </a:t>
            </a:r>
            <a:r>
              <a:rPr spc="-130" dirty="0"/>
              <a:t>Gu</a:t>
            </a:r>
            <a:r>
              <a:rPr spc="-125" dirty="0"/>
              <a:t>i</a:t>
            </a:r>
            <a:r>
              <a:rPr spc="-130" dirty="0"/>
              <a:t>d</a:t>
            </a:r>
            <a:r>
              <a:rPr spc="-125" dirty="0"/>
              <a:t>eli</a:t>
            </a:r>
            <a:r>
              <a:rPr spc="-130" dirty="0"/>
              <a:t>n</a:t>
            </a:r>
            <a:r>
              <a:rPr spc="-125" dirty="0"/>
              <a:t>e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2839" y="1189736"/>
            <a:ext cx="7103109" cy="15494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07645" indent="-195580">
              <a:lnSpc>
                <a:spcPct val="100000"/>
              </a:lnSpc>
              <a:spcBef>
                <a:spcPts val="580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Semantics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attributes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should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self-evident</a:t>
            </a:r>
            <a:endParaRPr sz="21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480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Avoid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redundancy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between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tuples,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endParaRPr sz="21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480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Avoid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NULL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values in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tuples</a:t>
            </a:r>
            <a:endParaRPr sz="21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480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certain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tuples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should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exist,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don’t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allow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them</a:t>
            </a:r>
            <a:endParaRPr sz="21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880" y="3240023"/>
            <a:ext cx="8948928" cy="160629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68415" y="3211695"/>
            <a:ext cx="8522335" cy="1267460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57480" rIns="0" bIns="0" rtlCol="0">
            <a:spAutoFit/>
          </a:bodyPr>
          <a:lstStyle/>
          <a:p>
            <a:pPr marL="13335" algn="ctr">
              <a:lnSpc>
                <a:spcPts val="2460"/>
              </a:lnSpc>
              <a:spcBef>
                <a:spcPts val="1240"/>
              </a:spcBef>
            </a:pP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design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process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organizing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into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endParaRPr sz="2100">
              <a:latin typeface="Verdana"/>
              <a:cs typeface="Verdana"/>
            </a:endParaRPr>
          </a:p>
          <a:p>
            <a:pPr marL="147320" marR="123825" algn="ctr">
              <a:lnSpc>
                <a:spcPts val="2500"/>
              </a:lnSpc>
              <a:spcBef>
                <a:spcPts val="40"/>
              </a:spcBef>
            </a:pP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model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considering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data</a:t>
            </a:r>
            <a:r>
              <a:rPr sz="2100" spc="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needs</a:t>
            </a:r>
            <a:r>
              <a:rPr sz="210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to</a:t>
            </a:r>
            <a:r>
              <a:rPr sz="2100" spc="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be</a:t>
            </a:r>
            <a:r>
              <a:rPr sz="210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stored</a:t>
            </a:r>
            <a:r>
              <a:rPr sz="2100" spc="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and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interrelationship</a:t>
            </a:r>
            <a:r>
              <a:rPr sz="2100" spc="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of</a:t>
            </a:r>
            <a:r>
              <a:rPr sz="21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the</a:t>
            </a:r>
            <a:r>
              <a:rPr sz="2100" spc="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data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79576" y="4716271"/>
            <a:ext cx="6014085" cy="67500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 indent="1263015">
              <a:lnSpc>
                <a:spcPct val="102899"/>
              </a:lnSpc>
              <a:spcBef>
                <a:spcPts val="25"/>
              </a:spcBef>
            </a:pP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design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about 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characterizing</a:t>
            </a:r>
            <a:r>
              <a:rPr sz="2100" spc="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data</a:t>
            </a:r>
            <a:r>
              <a:rPr sz="2100" spc="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organizing</a:t>
            </a:r>
            <a:r>
              <a:rPr sz="2100" spc="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data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13966" y="5459453"/>
            <a:ext cx="3665220" cy="1139825"/>
          </a:xfrm>
          <a:custGeom>
            <a:avLst/>
            <a:gdLst/>
            <a:ahLst/>
            <a:cxnLst/>
            <a:rect l="l" t="t" r="r" b="b"/>
            <a:pathLst>
              <a:path w="3665220" h="1139825">
                <a:moveTo>
                  <a:pt x="3512276" y="223433"/>
                </a:moveTo>
                <a:lnTo>
                  <a:pt x="152711" y="223433"/>
                </a:lnTo>
                <a:lnTo>
                  <a:pt x="104443" y="231219"/>
                </a:lnTo>
                <a:lnTo>
                  <a:pt x="62522" y="252898"/>
                </a:lnTo>
                <a:lnTo>
                  <a:pt x="29464" y="285956"/>
                </a:lnTo>
                <a:lnTo>
                  <a:pt x="7785" y="327877"/>
                </a:lnTo>
                <a:lnTo>
                  <a:pt x="0" y="376142"/>
                </a:lnTo>
                <a:lnTo>
                  <a:pt x="0" y="986969"/>
                </a:lnTo>
                <a:lnTo>
                  <a:pt x="7785" y="1035237"/>
                </a:lnTo>
                <a:lnTo>
                  <a:pt x="29464" y="1077158"/>
                </a:lnTo>
                <a:lnTo>
                  <a:pt x="62522" y="1110216"/>
                </a:lnTo>
                <a:lnTo>
                  <a:pt x="104443" y="1131895"/>
                </a:lnTo>
                <a:lnTo>
                  <a:pt x="152711" y="1139681"/>
                </a:lnTo>
                <a:lnTo>
                  <a:pt x="3512276" y="1139681"/>
                </a:lnTo>
                <a:lnTo>
                  <a:pt x="3560545" y="1131895"/>
                </a:lnTo>
                <a:lnTo>
                  <a:pt x="3602466" y="1110216"/>
                </a:lnTo>
                <a:lnTo>
                  <a:pt x="3635524" y="1077158"/>
                </a:lnTo>
                <a:lnTo>
                  <a:pt x="3657203" y="1035237"/>
                </a:lnTo>
                <a:lnTo>
                  <a:pt x="3664989" y="986969"/>
                </a:lnTo>
                <a:lnTo>
                  <a:pt x="3664988" y="376142"/>
                </a:lnTo>
                <a:lnTo>
                  <a:pt x="3657203" y="327877"/>
                </a:lnTo>
                <a:lnTo>
                  <a:pt x="3635524" y="285956"/>
                </a:lnTo>
                <a:lnTo>
                  <a:pt x="3602466" y="252898"/>
                </a:lnTo>
                <a:lnTo>
                  <a:pt x="3560545" y="231219"/>
                </a:lnTo>
                <a:lnTo>
                  <a:pt x="3512276" y="223433"/>
                </a:lnTo>
                <a:close/>
              </a:path>
              <a:path w="3665220" h="1139825">
                <a:moveTo>
                  <a:pt x="1763519" y="0"/>
                </a:moveTo>
                <a:lnTo>
                  <a:pt x="610831" y="223433"/>
                </a:lnTo>
                <a:lnTo>
                  <a:pt x="1527078" y="223433"/>
                </a:lnTo>
                <a:lnTo>
                  <a:pt x="1763519" y="0"/>
                </a:lnTo>
                <a:close/>
              </a:path>
            </a:pathLst>
          </a:custGeom>
          <a:solidFill>
            <a:srgbClr val="0044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58114" y="5854700"/>
            <a:ext cx="3175000" cy="553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indent="18415">
              <a:lnSpc>
                <a:spcPts val="1989"/>
              </a:lnSpc>
              <a:spcBef>
                <a:spcPts val="305"/>
              </a:spcBef>
            </a:pP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How to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describe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properties </a:t>
            </a:r>
            <a:r>
              <a:rPr sz="1800" spc="-6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we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know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or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 see 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17860" y="5489007"/>
            <a:ext cx="4226560" cy="1110615"/>
          </a:xfrm>
          <a:custGeom>
            <a:avLst/>
            <a:gdLst/>
            <a:ahLst/>
            <a:cxnLst/>
            <a:rect l="l" t="t" r="r" b="b"/>
            <a:pathLst>
              <a:path w="4226559" h="1110615">
                <a:moveTo>
                  <a:pt x="4073851" y="193879"/>
                </a:moveTo>
                <a:lnTo>
                  <a:pt x="152708" y="193879"/>
                </a:lnTo>
                <a:lnTo>
                  <a:pt x="104441" y="201664"/>
                </a:lnTo>
                <a:lnTo>
                  <a:pt x="62521" y="223343"/>
                </a:lnTo>
                <a:lnTo>
                  <a:pt x="29464" y="256400"/>
                </a:lnTo>
                <a:lnTo>
                  <a:pt x="7785" y="298321"/>
                </a:lnTo>
                <a:lnTo>
                  <a:pt x="0" y="346589"/>
                </a:lnTo>
                <a:lnTo>
                  <a:pt x="0" y="957417"/>
                </a:lnTo>
                <a:lnTo>
                  <a:pt x="7785" y="1005685"/>
                </a:lnTo>
                <a:lnTo>
                  <a:pt x="29464" y="1047605"/>
                </a:lnTo>
                <a:lnTo>
                  <a:pt x="62521" y="1080663"/>
                </a:lnTo>
                <a:lnTo>
                  <a:pt x="104441" y="1102341"/>
                </a:lnTo>
                <a:lnTo>
                  <a:pt x="152708" y="1110127"/>
                </a:lnTo>
                <a:lnTo>
                  <a:pt x="4073851" y="1110127"/>
                </a:lnTo>
                <a:lnTo>
                  <a:pt x="4122118" y="1102341"/>
                </a:lnTo>
                <a:lnTo>
                  <a:pt x="4164038" y="1080663"/>
                </a:lnTo>
                <a:lnTo>
                  <a:pt x="4197095" y="1047605"/>
                </a:lnTo>
                <a:lnTo>
                  <a:pt x="4218774" y="1005685"/>
                </a:lnTo>
                <a:lnTo>
                  <a:pt x="4226560" y="957417"/>
                </a:lnTo>
                <a:lnTo>
                  <a:pt x="4226560" y="346589"/>
                </a:lnTo>
                <a:lnTo>
                  <a:pt x="4218774" y="298321"/>
                </a:lnTo>
                <a:lnTo>
                  <a:pt x="4197095" y="256400"/>
                </a:lnTo>
                <a:lnTo>
                  <a:pt x="4164038" y="223343"/>
                </a:lnTo>
                <a:lnTo>
                  <a:pt x="4122118" y="201664"/>
                </a:lnTo>
                <a:lnTo>
                  <a:pt x="4073851" y="193879"/>
                </a:lnTo>
                <a:close/>
              </a:path>
              <a:path w="4226559" h="1110615">
                <a:moveTo>
                  <a:pt x="2239272" y="0"/>
                </a:moveTo>
                <a:lnTo>
                  <a:pt x="2465492" y="193879"/>
                </a:lnTo>
                <a:lnTo>
                  <a:pt x="3522132" y="193879"/>
                </a:lnTo>
                <a:lnTo>
                  <a:pt x="2239272" y="0"/>
                </a:lnTo>
                <a:close/>
              </a:path>
            </a:pathLst>
          </a:custGeom>
          <a:solidFill>
            <a:srgbClr val="0044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295489" y="5854700"/>
            <a:ext cx="3869690" cy="553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437515" marR="5080" indent="-425450">
              <a:lnSpc>
                <a:spcPts val="1989"/>
              </a:lnSpc>
              <a:spcBef>
                <a:spcPts val="305"/>
              </a:spcBef>
            </a:pP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How</a:t>
            </a:r>
            <a:r>
              <a:rPr sz="18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18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organize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data to</a:t>
            </a:r>
            <a:r>
              <a:rPr sz="18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promote </a:t>
            </a:r>
            <a:r>
              <a:rPr sz="1800" spc="-6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ease of</a:t>
            </a:r>
            <a:r>
              <a:rPr sz="18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use</a:t>
            </a:r>
            <a:r>
              <a:rPr sz="18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18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efficiency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327" y="119786"/>
            <a:ext cx="685736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D</a:t>
            </a:r>
            <a:r>
              <a:rPr spc="-125" dirty="0"/>
              <a:t>a</a:t>
            </a:r>
            <a:r>
              <a:rPr spc="-120" dirty="0"/>
              <a:t>t</a:t>
            </a:r>
            <a:r>
              <a:rPr dirty="0"/>
              <a:t>a</a:t>
            </a:r>
            <a:r>
              <a:rPr spc="-250" dirty="0"/>
              <a:t> </a:t>
            </a:r>
            <a:r>
              <a:rPr spc="-120" dirty="0"/>
              <a:t>I</a:t>
            </a:r>
            <a:r>
              <a:rPr spc="-135" dirty="0"/>
              <a:t>n</a:t>
            </a:r>
            <a:r>
              <a:rPr spc="-125" dirty="0"/>
              <a:t>terrela</a:t>
            </a:r>
            <a:r>
              <a:rPr spc="-120" dirty="0"/>
              <a:t>t</a:t>
            </a:r>
            <a:r>
              <a:rPr spc="-125" dirty="0"/>
              <a:t>i</a:t>
            </a:r>
            <a:r>
              <a:rPr spc="-130" dirty="0"/>
              <a:t>on</a:t>
            </a:r>
            <a:r>
              <a:rPr spc="-125" dirty="0"/>
              <a:t>s</a:t>
            </a:r>
            <a:r>
              <a:rPr spc="-135" dirty="0"/>
              <a:t>h</a:t>
            </a:r>
            <a:r>
              <a:rPr spc="-130" dirty="0"/>
              <a:t>ip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6416" y="1151467"/>
            <a:ext cx="8084184" cy="221361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2300" b="1" spc="20" dirty="0">
                <a:solidFill>
                  <a:srgbClr val="292934"/>
                </a:solidFill>
                <a:latin typeface="Verdana"/>
                <a:cs typeface="Verdana"/>
              </a:rPr>
              <a:t>Rules</a:t>
            </a:r>
            <a:r>
              <a:rPr sz="2300" b="1" spc="15" dirty="0">
                <a:solidFill>
                  <a:srgbClr val="292934"/>
                </a:solidFill>
                <a:latin typeface="Verdana"/>
                <a:cs typeface="Verdana"/>
              </a:rPr>
              <a:t> that</a:t>
            </a:r>
            <a:r>
              <a:rPr sz="2300" b="1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20" dirty="0">
                <a:solidFill>
                  <a:srgbClr val="292934"/>
                </a:solidFill>
                <a:latin typeface="Verdana"/>
                <a:cs typeface="Verdana"/>
              </a:rPr>
              <a:t>govern</a:t>
            </a:r>
            <a:r>
              <a:rPr sz="2300" b="1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2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endParaRPr sz="2300">
              <a:latin typeface="Verdana"/>
              <a:cs typeface="Verdana"/>
            </a:endParaRPr>
          </a:p>
          <a:p>
            <a:pPr marL="439420" indent="-236220">
              <a:lnSpc>
                <a:spcPct val="100000"/>
              </a:lnSpc>
              <a:spcBef>
                <a:spcPts val="730"/>
              </a:spcBef>
              <a:buSzPct val="85714"/>
              <a:buFont typeface="Arial MT"/>
              <a:buChar char="•"/>
              <a:tabLst>
                <a:tab pos="438784" algn="l"/>
                <a:tab pos="439420" algn="l"/>
              </a:tabLst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Domain knowledge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things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real world</a:t>
            </a:r>
            <a:endParaRPr sz="2100">
              <a:latin typeface="Verdana"/>
              <a:cs typeface="Verdana"/>
            </a:endParaRPr>
          </a:p>
          <a:p>
            <a:pPr marL="439420" indent="-236220">
              <a:lnSpc>
                <a:spcPct val="100000"/>
              </a:lnSpc>
              <a:spcBef>
                <a:spcPts val="670"/>
              </a:spcBef>
              <a:buSzPct val="85714"/>
              <a:buFont typeface="Arial MT"/>
              <a:buChar char="•"/>
              <a:tabLst>
                <a:tab pos="438784" algn="l"/>
                <a:tab pos="439420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Pattern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analysis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500">
              <a:latin typeface="Verdana"/>
              <a:cs typeface="Verdana"/>
            </a:endParaRPr>
          </a:p>
          <a:p>
            <a:pPr marL="97155">
              <a:lnSpc>
                <a:spcPct val="100000"/>
              </a:lnSpc>
              <a:spcBef>
                <a:spcPts val="1914"/>
              </a:spcBef>
            </a:pP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ATA_Emp(computingID,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name,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year,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hourly_rate,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hours_worked)</a:t>
            </a:r>
            <a:endParaRPr sz="19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81400" y="3386280"/>
          <a:ext cx="8891905" cy="19897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9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1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76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1622"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computingID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hourly_rate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hours_worked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62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ht1y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62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62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md3y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62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mn4e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62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dh5h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Duhhuh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450183" y="7009383"/>
            <a:ext cx="839152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[Note: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hourly_rates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in this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example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are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made up.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They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associated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organization.]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2840" y="5606796"/>
            <a:ext cx="4939030" cy="93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90"/>
              </a:lnSpc>
              <a:spcBef>
                <a:spcPts val="100"/>
              </a:spcBef>
            </a:pPr>
            <a:r>
              <a:rPr sz="2000" spc="-4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20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can:</a:t>
            </a:r>
            <a:endParaRPr sz="2000">
              <a:latin typeface="Verdana"/>
              <a:cs typeface="Verdana"/>
            </a:endParaRPr>
          </a:p>
          <a:p>
            <a:pPr marL="512445" indent="-251460">
              <a:lnSpc>
                <a:spcPts val="2390"/>
              </a:lnSpc>
              <a:buSzPct val="85000"/>
              <a:buFont typeface="Arial MT"/>
              <a:buChar char="•"/>
              <a:tabLst>
                <a:tab pos="512445" algn="l"/>
                <a:tab pos="513080" algn="l"/>
              </a:tabLst>
            </a:pP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Associate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computingID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name</a:t>
            </a:r>
            <a:endParaRPr sz="2000">
              <a:latin typeface="Verdana"/>
              <a:cs typeface="Verdana"/>
            </a:endParaRPr>
          </a:p>
          <a:p>
            <a:pPr marL="512445" indent="-251460">
              <a:lnSpc>
                <a:spcPct val="100000"/>
              </a:lnSpc>
              <a:buSzPct val="85000"/>
              <a:buFont typeface="Arial MT"/>
              <a:buChar char="•"/>
              <a:tabLst>
                <a:tab pos="512445" algn="l"/>
                <a:tab pos="513080" algn="l"/>
              </a:tabLst>
            </a:pP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Associate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year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hourly_rate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90367" y="5912103"/>
            <a:ext cx="2406650" cy="6076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computing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19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name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year</a:t>
            </a: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20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hourly_rate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199" y="322071"/>
            <a:ext cx="916241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Functional</a:t>
            </a:r>
            <a:r>
              <a:rPr spc="-250" dirty="0"/>
              <a:t> </a:t>
            </a:r>
            <a:r>
              <a:rPr spc="-120" dirty="0"/>
              <a:t>Dependencies</a:t>
            </a:r>
            <a:r>
              <a:rPr spc="-245" dirty="0"/>
              <a:t> </a:t>
            </a:r>
            <a:r>
              <a:rPr spc="-105" dirty="0"/>
              <a:t>(FDs)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2839" y="1091184"/>
            <a:ext cx="7205980" cy="151003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207645" indent="-195580">
              <a:lnSpc>
                <a:spcPct val="100000"/>
              </a:lnSpc>
              <a:spcBef>
                <a:spcPts val="1225"/>
              </a:spcBef>
              <a:buSzPct val="86956"/>
              <a:buFont typeface="Arial MT"/>
              <a:buChar char="•"/>
              <a:tabLst>
                <a:tab pos="208279" algn="l"/>
              </a:tabLst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Describe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interrelationships</a:t>
            </a:r>
            <a:endParaRPr sz="23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1130"/>
              </a:spcBef>
              <a:buSzPct val="86956"/>
              <a:buFont typeface="Arial MT"/>
              <a:buChar char="•"/>
              <a:tabLst>
                <a:tab pos="208279" algn="l"/>
              </a:tabLst>
            </a:pP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Constraints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endParaRPr sz="23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1150"/>
              </a:spcBef>
              <a:buSzPct val="86956"/>
              <a:buFont typeface="Arial MT"/>
              <a:buChar char="•"/>
              <a:tabLst>
                <a:tab pos="208279" algn="l"/>
              </a:tabLst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Determine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C00000"/>
                </a:solidFill>
                <a:latin typeface="Verdana"/>
                <a:cs typeface="Verdana"/>
              </a:rPr>
              <a:t>how</a:t>
            </a:r>
            <a:r>
              <a:rPr sz="2300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C00000"/>
                </a:solidFill>
                <a:latin typeface="Verdana"/>
                <a:cs typeface="Verdana"/>
              </a:rPr>
              <a:t>to</a:t>
            </a:r>
            <a:r>
              <a:rPr sz="23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spc="25" dirty="0">
                <a:solidFill>
                  <a:srgbClr val="C00000"/>
                </a:solidFill>
                <a:latin typeface="Verdana"/>
                <a:cs typeface="Verdana"/>
              </a:rPr>
              <a:t>break/decompose </a:t>
            </a:r>
            <a:r>
              <a:rPr sz="2300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23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C00000"/>
                </a:solidFill>
                <a:latin typeface="Verdana"/>
                <a:cs typeface="Verdana"/>
              </a:rPr>
              <a:t>relation</a:t>
            </a:r>
            <a:endParaRPr sz="23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3519" y="3764279"/>
            <a:ext cx="7016496" cy="8382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53509" y="3782205"/>
            <a:ext cx="6273165" cy="53657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88900" rIns="0" bIns="0" rtlCol="0">
            <a:spAutoFit/>
          </a:bodyPr>
          <a:lstStyle/>
          <a:p>
            <a:pPr marL="20320" algn="ctr">
              <a:lnSpc>
                <a:spcPct val="100000"/>
              </a:lnSpc>
              <a:spcBef>
                <a:spcPts val="700"/>
              </a:spcBef>
            </a:pPr>
            <a:r>
              <a:rPr sz="2300" i="1" spc="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400" i="1" spc="7" baseline="-17361" dirty="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r>
              <a:rPr sz="2300" i="1" spc="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300" i="1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i="1" spc="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400" i="1" spc="7" baseline="-17361" dirty="0">
                <a:solidFill>
                  <a:srgbClr val="292934"/>
                </a:solidFill>
                <a:latin typeface="Verdana"/>
                <a:cs typeface="Verdana"/>
              </a:rPr>
              <a:t>2</a:t>
            </a:r>
            <a:r>
              <a:rPr sz="2300" i="1" spc="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300" i="1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i="1" spc="20" dirty="0">
                <a:solidFill>
                  <a:srgbClr val="292934"/>
                </a:solidFill>
                <a:latin typeface="Verdana"/>
                <a:cs typeface="Verdana"/>
              </a:rPr>
              <a:t>…,</a:t>
            </a:r>
            <a:r>
              <a:rPr sz="2300" i="1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i="1" spc="2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400" i="1" spc="30" baseline="-17361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400" i="1" spc="375" baseline="-1736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300" spc="30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300" i="1" spc="1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2400" i="1" spc="15" baseline="-17361" dirty="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r>
              <a:rPr sz="2300" i="1" spc="1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300" i="1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i="1" spc="1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2400" i="1" spc="15" baseline="-17361" dirty="0">
                <a:solidFill>
                  <a:srgbClr val="292934"/>
                </a:solidFill>
                <a:latin typeface="Verdana"/>
                <a:cs typeface="Verdana"/>
              </a:rPr>
              <a:t>2</a:t>
            </a:r>
            <a:r>
              <a:rPr sz="2300" i="1" spc="1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300" i="1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i="1" spc="15" dirty="0">
                <a:solidFill>
                  <a:srgbClr val="292934"/>
                </a:solidFill>
                <a:latin typeface="Verdana"/>
                <a:cs typeface="Verdana"/>
              </a:rPr>
              <a:t>...,</a:t>
            </a:r>
            <a:r>
              <a:rPr sz="2300" i="1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i="1" spc="2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2400" i="1" spc="30" baseline="-17361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endParaRPr sz="2400" baseline="-17361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85771" y="4402213"/>
            <a:ext cx="5455920" cy="516890"/>
          </a:xfrm>
          <a:custGeom>
            <a:avLst/>
            <a:gdLst/>
            <a:ahLst/>
            <a:cxnLst/>
            <a:rect l="l" t="t" r="r" b="b"/>
            <a:pathLst>
              <a:path w="5455920" h="516889">
                <a:moveTo>
                  <a:pt x="1884591" y="184886"/>
                </a:moveTo>
                <a:lnTo>
                  <a:pt x="1879384" y="159067"/>
                </a:lnTo>
                <a:lnTo>
                  <a:pt x="1865172" y="137985"/>
                </a:lnTo>
                <a:lnTo>
                  <a:pt x="1844090" y="123774"/>
                </a:lnTo>
                <a:lnTo>
                  <a:pt x="1818284" y="118567"/>
                </a:lnTo>
                <a:lnTo>
                  <a:pt x="785253" y="118567"/>
                </a:lnTo>
                <a:lnTo>
                  <a:pt x="853859" y="0"/>
                </a:lnTo>
                <a:lnTo>
                  <a:pt x="314096" y="118567"/>
                </a:lnTo>
                <a:lnTo>
                  <a:pt x="66319" y="118567"/>
                </a:lnTo>
                <a:lnTo>
                  <a:pt x="40500" y="123774"/>
                </a:lnTo>
                <a:lnTo>
                  <a:pt x="19431" y="137985"/>
                </a:lnTo>
                <a:lnTo>
                  <a:pt x="5219" y="159067"/>
                </a:lnTo>
                <a:lnTo>
                  <a:pt x="0" y="184886"/>
                </a:lnTo>
                <a:lnTo>
                  <a:pt x="0" y="450126"/>
                </a:lnTo>
                <a:lnTo>
                  <a:pt x="5219" y="475945"/>
                </a:lnTo>
                <a:lnTo>
                  <a:pt x="19431" y="497014"/>
                </a:lnTo>
                <a:lnTo>
                  <a:pt x="40500" y="511225"/>
                </a:lnTo>
                <a:lnTo>
                  <a:pt x="66319" y="516445"/>
                </a:lnTo>
                <a:lnTo>
                  <a:pt x="1818284" y="516445"/>
                </a:lnTo>
                <a:lnTo>
                  <a:pt x="1844090" y="511225"/>
                </a:lnTo>
                <a:lnTo>
                  <a:pt x="1865172" y="497014"/>
                </a:lnTo>
                <a:lnTo>
                  <a:pt x="1879384" y="475945"/>
                </a:lnTo>
                <a:lnTo>
                  <a:pt x="1884591" y="450126"/>
                </a:lnTo>
                <a:lnTo>
                  <a:pt x="1884591" y="184886"/>
                </a:lnTo>
                <a:close/>
              </a:path>
              <a:path w="5455920" h="516889">
                <a:moveTo>
                  <a:pt x="5455399" y="184873"/>
                </a:moveTo>
                <a:lnTo>
                  <a:pt x="5450192" y="159067"/>
                </a:lnTo>
                <a:lnTo>
                  <a:pt x="5435981" y="137985"/>
                </a:lnTo>
                <a:lnTo>
                  <a:pt x="5414899" y="123774"/>
                </a:lnTo>
                <a:lnTo>
                  <a:pt x="5389092" y="118567"/>
                </a:lnTo>
                <a:lnTo>
                  <a:pt x="4288548" y="118567"/>
                </a:lnTo>
                <a:lnTo>
                  <a:pt x="3694607" y="12814"/>
                </a:lnTo>
                <a:lnTo>
                  <a:pt x="3788473" y="118567"/>
                </a:lnTo>
                <a:lnTo>
                  <a:pt x="3521405" y="118567"/>
                </a:lnTo>
                <a:lnTo>
                  <a:pt x="3495586" y="123774"/>
                </a:lnTo>
                <a:lnTo>
                  <a:pt x="3474504" y="137985"/>
                </a:lnTo>
                <a:lnTo>
                  <a:pt x="3460292" y="159067"/>
                </a:lnTo>
                <a:lnTo>
                  <a:pt x="3455085" y="184873"/>
                </a:lnTo>
                <a:lnTo>
                  <a:pt x="3455085" y="450126"/>
                </a:lnTo>
                <a:lnTo>
                  <a:pt x="3460292" y="475945"/>
                </a:lnTo>
                <a:lnTo>
                  <a:pt x="3474504" y="497014"/>
                </a:lnTo>
                <a:lnTo>
                  <a:pt x="3495586" y="511225"/>
                </a:lnTo>
                <a:lnTo>
                  <a:pt x="3521405" y="516445"/>
                </a:lnTo>
                <a:lnTo>
                  <a:pt x="5389092" y="516445"/>
                </a:lnTo>
                <a:lnTo>
                  <a:pt x="5414899" y="511225"/>
                </a:lnTo>
                <a:lnTo>
                  <a:pt x="5435981" y="497014"/>
                </a:lnTo>
                <a:lnTo>
                  <a:pt x="5450192" y="475945"/>
                </a:lnTo>
                <a:lnTo>
                  <a:pt x="5455399" y="450126"/>
                </a:lnTo>
                <a:lnTo>
                  <a:pt x="5455399" y="184873"/>
                </a:lnTo>
                <a:close/>
              </a:path>
            </a:pathLst>
          </a:custGeom>
          <a:solidFill>
            <a:srgbClr val="0044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64739" y="4558792"/>
            <a:ext cx="8651875" cy="1987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775" algn="ctr">
              <a:lnSpc>
                <a:spcPct val="100000"/>
              </a:lnSpc>
              <a:spcBef>
                <a:spcPts val="100"/>
              </a:spcBef>
              <a:tabLst>
                <a:tab pos="3717290" algn="l"/>
              </a:tabLst>
            </a:pPr>
            <a:r>
              <a:rPr sz="1900" i="1" spc="5" dirty="0">
                <a:solidFill>
                  <a:srgbClr val="FFFFFF"/>
                </a:solidFill>
                <a:latin typeface="Arial"/>
                <a:cs typeface="Arial"/>
              </a:rPr>
              <a:t>“antecedent”	“consequent”</a:t>
            </a: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00">
              <a:latin typeface="Arial"/>
              <a:cs typeface="Arial"/>
            </a:endParaRPr>
          </a:p>
          <a:p>
            <a:pPr marL="245745" indent="-195580">
              <a:lnSpc>
                <a:spcPct val="100000"/>
              </a:lnSpc>
              <a:spcBef>
                <a:spcPts val="1310"/>
              </a:spcBef>
              <a:buSzPct val="86956"/>
              <a:buFont typeface="Arial MT"/>
              <a:buChar char="•"/>
              <a:tabLst>
                <a:tab pos="246379" algn="l"/>
              </a:tabLst>
            </a:pPr>
            <a:r>
              <a:rPr sz="2300" spc="-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pair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tuples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i="1" spc="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400" i="1" spc="7" baseline="-17361" dirty="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r>
              <a:rPr sz="2400" i="1" spc="359" baseline="-1736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i="1" spc="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400" i="1" spc="7" baseline="-17361" dirty="0">
                <a:solidFill>
                  <a:srgbClr val="292934"/>
                </a:solidFill>
                <a:latin typeface="Verdana"/>
                <a:cs typeface="Verdana"/>
              </a:rPr>
              <a:t>2</a:t>
            </a:r>
            <a:r>
              <a:rPr sz="2400" i="1" spc="367" baseline="-1736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i="1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endParaRPr sz="2300">
              <a:latin typeface="Verdana"/>
              <a:cs typeface="Verdana"/>
            </a:endParaRPr>
          </a:p>
          <a:p>
            <a:pPr marL="727710" lvl="1" indent="-186690">
              <a:lnSpc>
                <a:spcPct val="100000"/>
              </a:lnSpc>
              <a:spcBef>
                <a:spcPts val="944"/>
              </a:spcBef>
              <a:buSzPct val="85714"/>
              <a:buFont typeface="Arial MT"/>
              <a:buChar char="•"/>
              <a:tabLst>
                <a:tab pos="728345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two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tuples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agree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attributes,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spc="1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i="1" spc="15" baseline="-15873" dirty="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r>
              <a:rPr sz="2100" i="1" spc="1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i="1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spc="1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i="1" spc="15" baseline="-15873" dirty="0">
                <a:solidFill>
                  <a:srgbClr val="292934"/>
                </a:solidFill>
                <a:latin typeface="Verdana"/>
                <a:cs typeface="Verdana"/>
              </a:rPr>
              <a:t>2</a:t>
            </a:r>
            <a:r>
              <a:rPr sz="2100" i="1" spc="10" dirty="0">
                <a:solidFill>
                  <a:srgbClr val="292934"/>
                </a:solidFill>
                <a:latin typeface="Verdana"/>
                <a:cs typeface="Verdana"/>
              </a:rPr>
              <a:t>, …,</a:t>
            </a:r>
            <a:r>
              <a:rPr sz="2100" i="1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spc="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i="1" spc="7" baseline="-15873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endParaRPr sz="2100" baseline="-15873">
              <a:latin typeface="Verdana"/>
              <a:cs typeface="Verdana"/>
            </a:endParaRPr>
          </a:p>
          <a:p>
            <a:pPr marL="727710" lvl="1" indent="-186690">
              <a:lnSpc>
                <a:spcPct val="100000"/>
              </a:lnSpc>
              <a:spcBef>
                <a:spcPts val="695"/>
              </a:spcBef>
              <a:buSzPct val="85714"/>
              <a:buFont typeface="Arial MT"/>
              <a:buChar char="•"/>
              <a:tabLst>
                <a:tab pos="72834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must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also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agree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spc="1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2100" i="1" spc="15" baseline="-15873" dirty="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r>
              <a:rPr sz="2100" i="1" spc="1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i="1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spc="1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2100" i="1" spc="15" baseline="-15873" dirty="0">
                <a:solidFill>
                  <a:srgbClr val="292934"/>
                </a:solidFill>
                <a:latin typeface="Verdana"/>
                <a:cs typeface="Verdana"/>
              </a:rPr>
              <a:t>2</a:t>
            </a:r>
            <a:r>
              <a:rPr sz="2100" i="1" spc="1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i="1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spc="10" dirty="0">
                <a:solidFill>
                  <a:srgbClr val="292934"/>
                </a:solidFill>
                <a:latin typeface="Verdana"/>
                <a:cs typeface="Verdana"/>
              </a:rPr>
              <a:t>…,</a:t>
            </a:r>
            <a:r>
              <a:rPr sz="2100" i="1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spc="1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2100" i="1" spc="15" baseline="-15873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endParaRPr sz="2100" baseline="-15873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06834" y="3100191"/>
            <a:ext cx="2802255" cy="640080"/>
          </a:xfrm>
          <a:custGeom>
            <a:avLst/>
            <a:gdLst/>
            <a:ahLst/>
            <a:cxnLst/>
            <a:rect l="l" t="t" r="r" b="b"/>
            <a:pathLst>
              <a:path w="2802254" h="640079">
                <a:moveTo>
                  <a:pt x="1167540" y="468123"/>
                </a:moveTo>
                <a:lnTo>
                  <a:pt x="467015" y="468123"/>
                </a:lnTo>
                <a:lnTo>
                  <a:pt x="275894" y="639975"/>
                </a:lnTo>
                <a:lnTo>
                  <a:pt x="1167540" y="468123"/>
                </a:lnTo>
                <a:close/>
              </a:path>
              <a:path w="2802254" h="640079">
                <a:moveTo>
                  <a:pt x="2724071" y="0"/>
                </a:moveTo>
                <a:lnTo>
                  <a:pt x="78023" y="0"/>
                </a:lnTo>
                <a:lnTo>
                  <a:pt x="47653" y="6131"/>
                </a:lnTo>
                <a:lnTo>
                  <a:pt x="22852" y="22852"/>
                </a:lnTo>
                <a:lnTo>
                  <a:pt x="6131" y="47652"/>
                </a:lnTo>
                <a:lnTo>
                  <a:pt x="0" y="78022"/>
                </a:lnTo>
                <a:lnTo>
                  <a:pt x="0" y="390103"/>
                </a:lnTo>
                <a:lnTo>
                  <a:pt x="6131" y="420469"/>
                </a:lnTo>
                <a:lnTo>
                  <a:pt x="22852" y="445270"/>
                </a:lnTo>
                <a:lnTo>
                  <a:pt x="47653" y="461991"/>
                </a:lnTo>
                <a:lnTo>
                  <a:pt x="78023" y="468123"/>
                </a:lnTo>
                <a:lnTo>
                  <a:pt x="2724071" y="468123"/>
                </a:lnTo>
                <a:lnTo>
                  <a:pt x="2779241" y="445270"/>
                </a:lnTo>
                <a:lnTo>
                  <a:pt x="2802092" y="390103"/>
                </a:lnTo>
                <a:lnTo>
                  <a:pt x="2802093" y="78022"/>
                </a:lnTo>
                <a:lnTo>
                  <a:pt x="2795962" y="47652"/>
                </a:lnTo>
                <a:lnTo>
                  <a:pt x="2779241" y="22852"/>
                </a:lnTo>
                <a:lnTo>
                  <a:pt x="2754441" y="6131"/>
                </a:lnTo>
                <a:lnTo>
                  <a:pt x="2724071" y="0"/>
                </a:lnTo>
                <a:close/>
              </a:path>
            </a:pathLst>
          </a:custGeom>
          <a:solidFill>
            <a:srgbClr val="0044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938634" y="3175000"/>
            <a:ext cx="235521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i="1" spc="5" dirty="0">
                <a:solidFill>
                  <a:srgbClr val="FFFFFF"/>
                </a:solidFill>
                <a:latin typeface="Arial"/>
                <a:cs typeface="Arial"/>
              </a:rPr>
              <a:t>“determines</a:t>
            </a:r>
            <a:r>
              <a:rPr sz="19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i="1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19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i="1" spc="5" dirty="0">
                <a:solidFill>
                  <a:srgbClr val="FFFFFF"/>
                </a:solidFill>
                <a:latin typeface="Arial"/>
                <a:cs typeface="Arial"/>
              </a:rPr>
              <a:t>implies”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199" y="306831"/>
            <a:ext cx="916241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Functional</a:t>
            </a:r>
            <a:r>
              <a:rPr spc="-250" dirty="0"/>
              <a:t> </a:t>
            </a:r>
            <a:r>
              <a:rPr spc="-120" dirty="0"/>
              <a:t>Dependencies</a:t>
            </a:r>
            <a:r>
              <a:rPr spc="-245" dirty="0"/>
              <a:t> </a:t>
            </a:r>
            <a:r>
              <a:rPr spc="-105" dirty="0"/>
              <a:t>(FDs)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2839" y="1121712"/>
            <a:ext cx="8949055" cy="562864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58445" indent="-205740">
              <a:lnSpc>
                <a:spcPct val="100000"/>
              </a:lnSpc>
              <a:spcBef>
                <a:spcPts val="1105"/>
              </a:spcBef>
              <a:buSzPct val="86956"/>
              <a:buFont typeface="Arial MT"/>
              <a:buChar char="•"/>
              <a:tabLst>
                <a:tab pos="259079" algn="l"/>
              </a:tabLst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multiple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functional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dependencies</a:t>
            </a:r>
            <a:endParaRPr sz="2300">
              <a:latin typeface="Verdana"/>
              <a:cs typeface="Verdana"/>
            </a:endParaRPr>
          </a:p>
          <a:p>
            <a:pPr marL="750570" marR="2417445" lvl="1" indent="-750570">
              <a:lnSpc>
                <a:spcPts val="3600"/>
              </a:lnSpc>
              <a:spcBef>
                <a:spcPts val="140"/>
              </a:spcBef>
              <a:buSzPct val="85714"/>
              <a:buFont typeface="Arial MT"/>
              <a:buChar char="•"/>
              <a:tabLst>
                <a:tab pos="750570" algn="l"/>
                <a:tab pos="751205" algn="l"/>
              </a:tabLst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Example: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schema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R(A,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B,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C, D)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FDs: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5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B,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5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C,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5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CD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21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buClr>
                <a:srgbClr val="292934"/>
              </a:buClr>
              <a:buFont typeface="Arial MT"/>
              <a:buChar char="•"/>
            </a:pPr>
            <a:endParaRPr sz="25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1960"/>
              </a:spcBef>
              <a:buClr>
                <a:srgbClr val="292934"/>
              </a:buClr>
              <a:buSzPct val="86956"/>
              <a:buFont typeface="Arial MT"/>
              <a:buChar char="•"/>
              <a:tabLst>
                <a:tab pos="208279" algn="l"/>
              </a:tabLst>
            </a:pPr>
            <a:r>
              <a:rPr sz="2300" spc="10" dirty="0">
                <a:solidFill>
                  <a:srgbClr val="C00000"/>
                </a:solidFill>
                <a:latin typeface="Verdana"/>
                <a:cs typeface="Verdana"/>
              </a:rPr>
              <a:t>FD</a:t>
            </a:r>
            <a:r>
              <a:rPr sz="2300" spc="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C00000"/>
                </a:solidFill>
                <a:latin typeface="Verdana"/>
                <a:cs typeface="Verdana"/>
              </a:rPr>
              <a:t>holds</a:t>
            </a:r>
            <a:r>
              <a:rPr sz="230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over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i="1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300" i="1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45" dirty="0">
                <a:solidFill>
                  <a:srgbClr val="292934"/>
                </a:solidFill>
                <a:latin typeface="Verdana"/>
                <a:cs typeface="Verdana"/>
              </a:rPr>
              <a:t>if,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C00000"/>
                </a:solidFill>
                <a:latin typeface="Verdana"/>
                <a:cs typeface="Verdana"/>
              </a:rPr>
              <a:t>every</a:t>
            </a:r>
            <a:r>
              <a:rPr sz="2300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C00000"/>
                </a:solidFill>
                <a:latin typeface="Verdana"/>
                <a:cs typeface="Verdana"/>
              </a:rPr>
              <a:t>allowable</a:t>
            </a:r>
            <a:r>
              <a:rPr sz="230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C00000"/>
                </a:solidFill>
                <a:latin typeface="Verdana"/>
                <a:cs typeface="Verdana"/>
              </a:rPr>
              <a:t>instance</a:t>
            </a:r>
            <a:endParaRPr sz="2300">
              <a:latin typeface="Verdana"/>
              <a:cs typeface="Verdana"/>
            </a:endParaRPr>
          </a:p>
          <a:p>
            <a:pPr marL="207645">
              <a:lnSpc>
                <a:spcPct val="100000"/>
              </a:lnSpc>
              <a:spcBef>
                <a:spcPts val="45"/>
              </a:spcBef>
            </a:pPr>
            <a:r>
              <a:rPr sz="2300" i="1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300" i="1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i="1" spc="1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i="1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300" i="1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C00000"/>
                </a:solidFill>
                <a:latin typeface="Verdana"/>
                <a:cs typeface="Verdana"/>
              </a:rPr>
              <a:t>satisfies</a:t>
            </a:r>
            <a:r>
              <a:rPr sz="2300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C00000"/>
                </a:solidFill>
                <a:latin typeface="Verdana"/>
                <a:cs typeface="Verdana"/>
              </a:rPr>
              <a:t>the</a:t>
            </a:r>
            <a:r>
              <a:rPr sz="23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C00000"/>
                </a:solidFill>
                <a:latin typeface="Verdana"/>
                <a:cs typeface="Verdana"/>
              </a:rPr>
              <a:t>FD</a:t>
            </a:r>
            <a:endParaRPr sz="2300">
              <a:latin typeface="Verdana"/>
              <a:cs typeface="Verdana"/>
            </a:endParaRPr>
          </a:p>
          <a:p>
            <a:pPr marL="750570" marR="5080" lvl="1" indent="-267970">
              <a:lnSpc>
                <a:spcPct val="102899"/>
              </a:lnSpc>
              <a:spcBef>
                <a:spcPts val="1664"/>
              </a:spcBef>
              <a:buSzPct val="85714"/>
              <a:buFont typeface="Arial MT"/>
              <a:buChar char="•"/>
              <a:tabLst>
                <a:tab pos="750570" algn="l"/>
                <a:tab pos="75120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some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instance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i="1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spc="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check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violates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some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FD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not</a:t>
            </a:r>
            <a:endParaRPr sz="2100">
              <a:latin typeface="Verdana"/>
              <a:cs typeface="Verdana"/>
            </a:endParaRPr>
          </a:p>
          <a:p>
            <a:pPr marL="1490980">
              <a:lnSpc>
                <a:spcPct val="100000"/>
              </a:lnSpc>
              <a:spcBef>
                <a:spcPts val="890"/>
              </a:spcBef>
              <a:tabLst>
                <a:tab pos="3409315" algn="l"/>
                <a:tab pos="4236085" algn="l"/>
              </a:tabLst>
            </a:pPr>
            <a:r>
              <a:rPr sz="2100" i="1" spc="10" dirty="0">
                <a:solidFill>
                  <a:srgbClr val="292934"/>
                </a:solidFill>
                <a:latin typeface="Verdana"/>
                <a:cs typeface="Verdana"/>
              </a:rPr>
              <a:t>t1.X</a:t>
            </a:r>
            <a:r>
              <a:rPr sz="2100" i="1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spc="10" dirty="0">
                <a:solidFill>
                  <a:srgbClr val="292934"/>
                </a:solidFill>
                <a:latin typeface="Verdana"/>
                <a:cs typeface="Verdana"/>
              </a:rPr>
              <a:t>t2.X	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but	</a:t>
            </a:r>
            <a:r>
              <a:rPr sz="2100" i="1" spc="10" dirty="0">
                <a:solidFill>
                  <a:srgbClr val="292934"/>
                </a:solidFill>
                <a:latin typeface="Verdana"/>
                <a:cs typeface="Verdana"/>
              </a:rPr>
              <a:t>t1.Y</a:t>
            </a:r>
            <a:r>
              <a:rPr sz="2100" i="1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≠ </a:t>
            </a:r>
            <a:r>
              <a:rPr sz="2100" i="1" spc="10" dirty="0">
                <a:solidFill>
                  <a:srgbClr val="292934"/>
                </a:solidFill>
                <a:latin typeface="Verdana"/>
                <a:cs typeface="Verdana"/>
              </a:rPr>
              <a:t>t2.Y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50">
              <a:latin typeface="Verdana"/>
              <a:cs typeface="Verdana"/>
            </a:endParaRPr>
          </a:p>
          <a:p>
            <a:pPr marL="750570" marR="227329" lvl="1" indent="-267970">
              <a:lnSpc>
                <a:spcPct val="103800"/>
              </a:lnSpc>
              <a:buSzPct val="85714"/>
              <a:buFont typeface="Arial MT"/>
              <a:buChar char="•"/>
              <a:tabLst>
                <a:tab pos="750570" algn="l"/>
                <a:tab pos="751205" algn="l"/>
              </a:tabLst>
            </a:pPr>
            <a:r>
              <a:rPr sz="2100" spc="-4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cannot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tell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holds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over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looking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instance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cannot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prove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non-existence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violation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)</a:t>
            </a:r>
            <a:endParaRPr sz="2100">
              <a:latin typeface="Verdana"/>
              <a:cs typeface="Verdana"/>
            </a:endParaRPr>
          </a:p>
          <a:p>
            <a:pPr marL="750570" lvl="1" indent="-267970">
              <a:lnSpc>
                <a:spcPct val="100000"/>
              </a:lnSpc>
              <a:spcBef>
                <a:spcPts val="1775"/>
              </a:spcBef>
              <a:buSzPct val="85714"/>
              <a:buFont typeface="Arial MT"/>
              <a:buChar char="•"/>
              <a:tabLst>
                <a:tab pos="750570" algn="l"/>
                <a:tab pos="751205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This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same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integrity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constraints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2839" y="177462"/>
            <a:ext cx="283527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E</a:t>
            </a:r>
            <a:r>
              <a:rPr spc="-135" dirty="0"/>
              <a:t>x</a:t>
            </a:r>
            <a:r>
              <a:rPr spc="-130" dirty="0"/>
              <a:t>a</a:t>
            </a:r>
            <a:r>
              <a:rPr spc="-140" dirty="0"/>
              <a:t>m</a:t>
            </a:r>
            <a:r>
              <a:rPr spc="-130" dirty="0"/>
              <a:t>p</a:t>
            </a:r>
            <a:r>
              <a:rPr spc="-125" dirty="0"/>
              <a:t>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2839" y="3465576"/>
            <a:ext cx="290766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year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300" spc="2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hourly_rate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08835" y="3465576"/>
            <a:ext cx="81470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h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l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endParaRPr sz="2300">
              <a:latin typeface="Verdana"/>
              <a:cs typeface="Verdan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050631" y="1292742"/>
          <a:ext cx="7891778" cy="21371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0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2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1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38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38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6187">
                <a:tc>
                  <a:txBody>
                    <a:bodyPr/>
                    <a:lstStyle/>
                    <a:p>
                      <a:pPr marL="20002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computingID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hourly_rate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hours_worked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18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ht1y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18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18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md3y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18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mn4e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18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dh5h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Duhhuh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02839" y="6412991"/>
            <a:ext cx="290766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year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300" spc="2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hourly_rate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03848" y="6412991"/>
            <a:ext cx="205613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does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hold</a:t>
            </a:r>
            <a:endParaRPr sz="2300">
              <a:latin typeface="Verdana"/>
              <a:cs typeface="Verdan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050633" y="4276056"/>
          <a:ext cx="7891778" cy="20946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0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2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1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38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38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9111">
                <a:tc>
                  <a:txBody>
                    <a:bodyPr/>
                    <a:lstStyle/>
                    <a:p>
                      <a:pPr marL="20002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computingID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hourly_rate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hours_worked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11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ht1y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11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dt2y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11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md3y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11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mn4e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11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dh5h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Duhhuh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4614152" y="4641988"/>
            <a:ext cx="2324735" cy="311785"/>
          </a:xfrm>
          <a:custGeom>
            <a:avLst/>
            <a:gdLst/>
            <a:ahLst/>
            <a:cxnLst/>
            <a:rect l="l" t="t" r="r" b="b"/>
            <a:pathLst>
              <a:path w="2324734" h="311785">
                <a:moveTo>
                  <a:pt x="0" y="51881"/>
                </a:moveTo>
                <a:lnTo>
                  <a:pt x="4077" y="31686"/>
                </a:lnTo>
                <a:lnTo>
                  <a:pt x="15195" y="15195"/>
                </a:lnTo>
                <a:lnTo>
                  <a:pt x="31686" y="4077"/>
                </a:lnTo>
                <a:lnTo>
                  <a:pt x="51881" y="0"/>
                </a:lnTo>
                <a:lnTo>
                  <a:pt x="2272382" y="0"/>
                </a:lnTo>
                <a:lnTo>
                  <a:pt x="2292577" y="4077"/>
                </a:lnTo>
                <a:lnTo>
                  <a:pt x="2309068" y="15195"/>
                </a:lnTo>
                <a:lnTo>
                  <a:pt x="2320187" y="31686"/>
                </a:lnTo>
                <a:lnTo>
                  <a:pt x="2324264" y="51881"/>
                </a:lnTo>
                <a:lnTo>
                  <a:pt x="2324264" y="259405"/>
                </a:lnTo>
                <a:lnTo>
                  <a:pt x="2320187" y="279600"/>
                </a:lnTo>
                <a:lnTo>
                  <a:pt x="2309068" y="296091"/>
                </a:lnTo>
                <a:lnTo>
                  <a:pt x="2292577" y="307210"/>
                </a:lnTo>
                <a:lnTo>
                  <a:pt x="2272382" y="311287"/>
                </a:lnTo>
                <a:lnTo>
                  <a:pt x="51881" y="311287"/>
                </a:lnTo>
                <a:lnTo>
                  <a:pt x="31686" y="307210"/>
                </a:lnTo>
                <a:lnTo>
                  <a:pt x="15195" y="296091"/>
                </a:lnTo>
                <a:lnTo>
                  <a:pt x="4077" y="279600"/>
                </a:lnTo>
                <a:lnTo>
                  <a:pt x="0" y="259405"/>
                </a:lnTo>
                <a:lnTo>
                  <a:pt x="0" y="51881"/>
                </a:lnTo>
                <a:close/>
              </a:path>
            </a:pathLst>
          </a:custGeom>
          <a:ln w="4063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4593832" y="5319948"/>
            <a:ext cx="2365375" cy="695325"/>
            <a:chOff x="4593832" y="5319948"/>
            <a:chExt cx="2365375" cy="695325"/>
          </a:xfrm>
        </p:grpSpPr>
        <p:sp>
          <p:nvSpPr>
            <p:cNvPr id="11" name="object 11"/>
            <p:cNvSpPr/>
            <p:nvPr/>
          </p:nvSpPr>
          <p:spPr>
            <a:xfrm>
              <a:off x="4614152" y="5340268"/>
              <a:ext cx="2324735" cy="311785"/>
            </a:xfrm>
            <a:custGeom>
              <a:avLst/>
              <a:gdLst/>
              <a:ahLst/>
              <a:cxnLst/>
              <a:rect l="l" t="t" r="r" b="b"/>
              <a:pathLst>
                <a:path w="2324734" h="311785">
                  <a:moveTo>
                    <a:pt x="0" y="51881"/>
                  </a:moveTo>
                  <a:lnTo>
                    <a:pt x="4077" y="31686"/>
                  </a:lnTo>
                  <a:lnTo>
                    <a:pt x="15195" y="15195"/>
                  </a:lnTo>
                  <a:lnTo>
                    <a:pt x="31686" y="4077"/>
                  </a:lnTo>
                  <a:lnTo>
                    <a:pt x="51881" y="0"/>
                  </a:lnTo>
                  <a:lnTo>
                    <a:pt x="2272382" y="0"/>
                  </a:lnTo>
                  <a:lnTo>
                    <a:pt x="2292577" y="4077"/>
                  </a:lnTo>
                  <a:lnTo>
                    <a:pt x="2309068" y="15195"/>
                  </a:lnTo>
                  <a:lnTo>
                    <a:pt x="2320187" y="31686"/>
                  </a:lnTo>
                  <a:lnTo>
                    <a:pt x="2324264" y="51881"/>
                  </a:lnTo>
                  <a:lnTo>
                    <a:pt x="2324264" y="259405"/>
                  </a:lnTo>
                  <a:lnTo>
                    <a:pt x="2320187" y="279600"/>
                  </a:lnTo>
                  <a:lnTo>
                    <a:pt x="2309068" y="296091"/>
                  </a:lnTo>
                  <a:lnTo>
                    <a:pt x="2292577" y="307210"/>
                  </a:lnTo>
                  <a:lnTo>
                    <a:pt x="2272382" y="311287"/>
                  </a:lnTo>
                  <a:lnTo>
                    <a:pt x="51881" y="311287"/>
                  </a:lnTo>
                  <a:lnTo>
                    <a:pt x="31686" y="307210"/>
                  </a:lnTo>
                  <a:lnTo>
                    <a:pt x="15195" y="296091"/>
                  </a:lnTo>
                  <a:lnTo>
                    <a:pt x="4077" y="279600"/>
                  </a:lnTo>
                  <a:lnTo>
                    <a:pt x="0" y="259405"/>
                  </a:lnTo>
                  <a:lnTo>
                    <a:pt x="0" y="51881"/>
                  </a:lnTo>
                  <a:close/>
                </a:path>
              </a:pathLst>
            </a:custGeom>
            <a:ln w="4063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14152" y="5683070"/>
              <a:ext cx="2324735" cy="311785"/>
            </a:xfrm>
            <a:custGeom>
              <a:avLst/>
              <a:gdLst/>
              <a:ahLst/>
              <a:cxnLst/>
              <a:rect l="l" t="t" r="r" b="b"/>
              <a:pathLst>
                <a:path w="2324734" h="311785">
                  <a:moveTo>
                    <a:pt x="0" y="51881"/>
                  </a:moveTo>
                  <a:lnTo>
                    <a:pt x="4077" y="31686"/>
                  </a:lnTo>
                  <a:lnTo>
                    <a:pt x="15195" y="15195"/>
                  </a:lnTo>
                  <a:lnTo>
                    <a:pt x="31686" y="4077"/>
                  </a:lnTo>
                  <a:lnTo>
                    <a:pt x="51881" y="0"/>
                  </a:lnTo>
                  <a:lnTo>
                    <a:pt x="2272382" y="0"/>
                  </a:lnTo>
                  <a:lnTo>
                    <a:pt x="2292577" y="4077"/>
                  </a:lnTo>
                  <a:lnTo>
                    <a:pt x="2309068" y="15195"/>
                  </a:lnTo>
                  <a:lnTo>
                    <a:pt x="2320187" y="31686"/>
                  </a:lnTo>
                  <a:lnTo>
                    <a:pt x="2324264" y="51881"/>
                  </a:lnTo>
                  <a:lnTo>
                    <a:pt x="2324264" y="259405"/>
                  </a:lnTo>
                  <a:lnTo>
                    <a:pt x="2320187" y="279600"/>
                  </a:lnTo>
                  <a:lnTo>
                    <a:pt x="2309068" y="296091"/>
                  </a:lnTo>
                  <a:lnTo>
                    <a:pt x="2292577" y="307210"/>
                  </a:lnTo>
                  <a:lnTo>
                    <a:pt x="2272382" y="311287"/>
                  </a:lnTo>
                  <a:lnTo>
                    <a:pt x="51881" y="311287"/>
                  </a:lnTo>
                  <a:lnTo>
                    <a:pt x="31686" y="307210"/>
                  </a:lnTo>
                  <a:lnTo>
                    <a:pt x="15195" y="296091"/>
                  </a:lnTo>
                  <a:lnTo>
                    <a:pt x="4077" y="279600"/>
                  </a:lnTo>
                  <a:lnTo>
                    <a:pt x="0" y="259405"/>
                  </a:lnTo>
                  <a:lnTo>
                    <a:pt x="0" y="51881"/>
                  </a:lnTo>
                  <a:close/>
                </a:path>
              </a:pathLst>
            </a:custGeom>
            <a:ln w="4063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5092" y="183558"/>
            <a:ext cx="400748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L</a:t>
            </a:r>
            <a:r>
              <a:rPr spc="-125" dirty="0"/>
              <a:t>e</a:t>
            </a:r>
            <a:r>
              <a:rPr spc="-120" dirty="0"/>
              <a:t>t</a:t>
            </a:r>
            <a:r>
              <a:rPr spc="-125" dirty="0"/>
              <a:t>’</a:t>
            </a:r>
            <a:r>
              <a:rPr dirty="0"/>
              <a:t>s</a:t>
            </a:r>
            <a:r>
              <a:rPr spc="-250" dirty="0"/>
              <a:t> </a:t>
            </a:r>
            <a:r>
              <a:rPr spc="-135" dirty="0"/>
              <a:t>T</a:t>
            </a:r>
            <a:r>
              <a:rPr spc="-130" dirty="0"/>
              <a:t>r</a:t>
            </a:r>
            <a:r>
              <a:rPr spc="-135" dirty="0"/>
              <a:t>y</a:t>
            </a:r>
            <a:r>
              <a:rPr dirty="0"/>
              <a:t>:</a:t>
            </a:r>
            <a:r>
              <a:rPr spc="-245" dirty="0"/>
              <a:t> </a:t>
            </a:r>
            <a:r>
              <a:rPr spc="-135" dirty="0"/>
              <a:t>FD</a:t>
            </a:r>
            <a:r>
              <a:rPr dirty="0"/>
              <a:t>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94823" y="1337481"/>
            <a:ext cx="3733800" cy="2173605"/>
            <a:chOff x="3094823" y="1337481"/>
            <a:chExt cx="3733800" cy="2173605"/>
          </a:xfrm>
        </p:grpSpPr>
        <p:sp>
          <p:nvSpPr>
            <p:cNvPr id="4" name="object 4"/>
            <p:cNvSpPr/>
            <p:nvPr/>
          </p:nvSpPr>
          <p:spPr>
            <a:xfrm>
              <a:off x="3121914" y="1351241"/>
              <a:ext cx="3679190" cy="358140"/>
            </a:xfrm>
            <a:custGeom>
              <a:avLst/>
              <a:gdLst/>
              <a:ahLst/>
              <a:cxnLst/>
              <a:rect l="l" t="t" r="r" b="b"/>
              <a:pathLst>
                <a:path w="3679190" h="358139">
                  <a:moveTo>
                    <a:pt x="3679177" y="0"/>
                  </a:moveTo>
                  <a:lnTo>
                    <a:pt x="2437930" y="0"/>
                  </a:lnTo>
                  <a:lnTo>
                    <a:pt x="1234694" y="0"/>
                  </a:lnTo>
                  <a:lnTo>
                    <a:pt x="0" y="0"/>
                  </a:lnTo>
                  <a:lnTo>
                    <a:pt x="0" y="357632"/>
                  </a:lnTo>
                  <a:lnTo>
                    <a:pt x="1234694" y="357632"/>
                  </a:lnTo>
                  <a:lnTo>
                    <a:pt x="2437930" y="357632"/>
                  </a:lnTo>
                  <a:lnTo>
                    <a:pt x="3679177" y="357632"/>
                  </a:lnTo>
                  <a:lnTo>
                    <a:pt x="3679177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21914" y="1708873"/>
              <a:ext cx="3679190" cy="358140"/>
            </a:xfrm>
            <a:custGeom>
              <a:avLst/>
              <a:gdLst/>
              <a:ahLst/>
              <a:cxnLst/>
              <a:rect l="l" t="t" r="r" b="b"/>
              <a:pathLst>
                <a:path w="3679190" h="358139">
                  <a:moveTo>
                    <a:pt x="3679177" y="0"/>
                  </a:moveTo>
                  <a:lnTo>
                    <a:pt x="2437930" y="0"/>
                  </a:lnTo>
                  <a:lnTo>
                    <a:pt x="1234694" y="0"/>
                  </a:lnTo>
                  <a:lnTo>
                    <a:pt x="0" y="0"/>
                  </a:lnTo>
                  <a:lnTo>
                    <a:pt x="0" y="357632"/>
                  </a:lnTo>
                  <a:lnTo>
                    <a:pt x="1234694" y="357632"/>
                  </a:lnTo>
                  <a:lnTo>
                    <a:pt x="2437930" y="357632"/>
                  </a:lnTo>
                  <a:lnTo>
                    <a:pt x="3679177" y="357632"/>
                  </a:lnTo>
                  <a:lnTo>
                    <a:pt x="3679177" y="0"/>
                  </a:lnTo>
                  <a:close/>
                </a:path>
              </a:pathLst>
            </a:custGeom>
            <a:solidFill>
              <a:srgbClr val="D8D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21914" y="2066505"/>
              <a:ext cx="3679190" cy="358140"/>
            </a:xfrm>
            <a:custGeom>
              <a:avLst/>
              <a:gdLst/>
              <a:ahLst/>
              <a:cxnLst/>
              <a:rect l="l" t="t" r="r" b="b"/>
              <a:pathLst>
                <a:path w="3679190" h="358139">
                  <a:moveTo>
                    <a:pt x="3679177" y="0"/>
                  </a:moveTo>
                  <a:lnTo>
                    <a:pt x="2437930" y="0"/>
                  </a:lnTo>
                  <a:lnTo>
                    <a:pt x="1234694" y="0"/>
                  </a:lnTo>
                  <a:lnTo>
                    <a:pt x="0" y="0"/>
                  </a:lnTo>
                  <a:lnTo>
                    <a:pt x="0" y="357632"/>
                  </a:lnTo>
                  <a:lnTo>
                    <a:pt x="1234694" y="357632"/>
                  </a:lnTo>
                  <a:lnTo>
                    <a:pt x="2437930" y="357632"/>
                  </a:lnTo>
                  <a:lnTo>
                    <a:pt x="3679177" y="357632"/>
                  </a:lnTo>
                  <a:lnTo>
                    <a:pt x="3679177" y="0"/>
                  </a:lnTo>
                  <a:close/>
                </a:path>
              </a:pathLst>
            </a:custGeom>
            <a:solidFill>
              <a:srgbClr val="EDEE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21914" y="2424137"/>
              <a:ext cx="3679190" cy="358140"/>
            </a:xfrm>
            <a:custGeom>
              <a:avLst/>
              <a:gdLst/>
              <a:ahLst/>
              <a:cxnLst/>
              <a:rect l="l" t="t" r="r" b="b"/>
              <a:pathLst>
                <a:path w="3679190" h="358139">
                  <a:moveTo>
                    <a:pt x="3679177" y="0"/>
                  </a:moveTo>
                  <a:lnTo>
                    <a:pt x="2437930" y="0"/>
                  </a:lnTo>
                  <a:lnTo>
                    <a:pt x="1234694" y="0"/>
                  </a:lnTo>
                  <a:lnTo>
                    <a:pt x="0" y="0"/>
                  </a:lnTo>
                  <a:lnTo>
                    <a:pt x="0" y="357632"/>
                  </a:lnTo>
                  <a:lnTo>
                    <a:pt x="1234694" y="357632"/>
                  </a:lnTo>
                  <a:lnTo>
                    <a:pt x="2437930" y="357632"/>
                  </a:lnTo>
                  <a:lnTo>
                    <a:pt x="3679177" y="357632"/>
                  </a:lnTo>
                  <a:lnTo>
                    <a:pt x="3679177" y="0"/>
                  </a:lnTo>
                  <a:close/>
                </a:path>
              </a:pathLst>
            </a:custGeom>
            <a:solidFill>
              <a:srgbClr val="D8D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21914" y="2781769"/>
              <a:ext cx="3679190" cy="358140"/>
            </a:xfrm>
            <a:custGeom>
              <a:avLst/>
              <a:gdLst/>
              <a:ahLst/>
              <a:cxnLst/>
              <a:rect l="l" t="t" r="r" b="b"/>
              <a:pathLst>
                <a:path w="3679190" h="358139">
                  <a:moveTo>
                    <a:pt x="3679177" y="0"/>
                  </a:moveTo>
                  <a:lnTo>
                    <a:pt x="2437930" y="0"/>
                  </a:lnTo>
                  <a:lnTo>
                    <a:pt x="1234694" y="0"/>
                  </a:lnTo>
                  <a:lnTo>
                    <a:pt x="0" y="0"/>
                  </a:lnTo>
                  <a:lnTo>
                    <a:pt x="0" y="357632"/>
                  </a:lnTo>
                  <a:lnTo>
                    <a:pt x="1234694" y="357632"/>
                  </a:lnTo>
                  <a:lnTo>
                    <a:pt x="2437930" y="357632"/>
                  </a:lnTo>
                  <a:lnTo>
                    <a:pt x="3679177" y="357632"/>
                  </a:lnTo>
                  <a:lnTo>
                    <a:pt x="3679177" y="0"/>
                  </a:lnTo>
                  <a:close/>
                </a:path>
              </a:pathLst>
            </a:custGeom>
            <a:solidFill>
              <a:srgbClr val="EDEE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21914" y="3139401"/>
              <a:ext cx="3679190" cy="358140"/>
            </a:xfrm>
            <a:custGeom>
              <a:avLst/>
              <a:gdLst/>
              <a:ahLst/>
              <a:cxnLst/>
              <a:rect l="l" t="t" r="r" b="b"/>
              <a:pathLst>
                <a:path w="3679190" h="358139">
                  <a:moveTo>
                    <a:pt x="3679177" y="0"/>
                  </a:moveTo>
                  <a:lnTo>
                    <a:pt x="2437930" y="0"/>
                  </a:lnTo>
                  <a:lnTo>
                    <a:pt x="1234694" y="0"/>
                  </a:lnTo>
                  <a:lnTo>
                    <a:pt x="0" y="0"/>
                  </a:lnTo>
                  <a:lnTo>
                    <a:pt x="0" y="357632"/>
                  </a:lnTo>
                  <a:lnTo>
                    <a:pt x="1234694" y="357632"/>
                  </a:lnTo>
                  <a:lnTo>
                    <a:pt x="2437930" y="357632"/>
                  </a:lnTo>
                  <a:lnTo>
                    <a:pt x="3679177" y="357632"/>
                  </a:lnTo>
                  <a:lnTo>
                    <a:pt x="3679177" y="0"/>
                  </a:lnTo>
                  <a:close/>
                </a:path>
              </a:pathLst>
            </a:custGeom>
            <a:solidFill>
              <a:srgbClr val="D8D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56618" y="1344466"/>
              <a:ext cx="1203325" cy="2159635"/>
            </a:xfrm>
            <a:custGeom>
              <a:avLst/>
              <a:gdLst/>
              <a:ahLst/>
              <a:cxnLst/>
              <a:rect l="l" t="t" r="r" b="b"/>
              <a:pathLst>
                <a:path w="1203325" h="2159635">
                  <a:moveTo>
                    <a:pt x="0" y="0"/>
                  </a:moveTo>
                  <a:lnTo>
                    <a:pt x="0" y="2159338"/>
                  </a:lnTo>
                </a:path>
                <a:path w="1203325" h="2159635">
                  <a:moveTo>
                    <a:pt x="1203228" y="0"/>
                  </a:moveTo>
                  <a:lnTo>
                    <a:pt x="1203228" y="2159338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15143" y="1708871"/>
              <a:ext cx="3693160" cy="0"/>
            </a:xfrm>
            <a:custGeom>
              <a:avLst/>
              <a:gdLst/>
              <a:ahLst/>
              <a:cxnLst/>
              <a:rect l="l" t="t" r="r" b="b"/>
              <a:pathLst>
                <a:path w="3693159">
                  <a:moveTo>
                    <a:pt x="0" y="0"/>
                  </a:moveTo>
                  <a:lnTo>
                    <a:pt x="3692733" y="0"/>
                  </a:lnTo>
                </a:path>
              </a:pathLst>
            </a:custGeom>
            <a:ln w="4063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15143" y="1344466"/>
              <a:ext cx="3693160" cy="2159635"/>
            </a:xfrm>
            <a:custGeom>
              <a:avLst/>
              <a:gdLst/>
              <a:ahLst/>
              <a:cxnLst/>
              <a:rect l="l" t="t" r="r" b="b"/>
              <a:pathLst>
                <a:path w="3693159" h="2159635">
                  <a:moveTo>
                    <a:pt x="0" y="722037"/>
                  </a:moveTo>
                  <a:lnTo>
                    <a:pt x="3692733" y="722037"/>
                  </a:lnTo>
                </a:path>
                <a:path w="3693159" h="2159635">
                  <a:moveTo>
                    <a:pt x="0" y="1079669"/>
                  </a:moveTo>
                  <a:lnTo>
                    <a:pt x="3692733" y="1079669"/>
                  </a:lnTo>
                </a:path>
                <a:path w="3693159" h="2159635">
                  <a:moveTo>
                    <a:pt x="0" y="1437301"/>
                  </a:moveTo>
                  <a:lnTo>
                    <a:pt x="3692733" y="1437301"/>
                  </a:lnTo>
                </a:path>
                <a:path w="3693159" h="2159635">
                  <a:moveTo>
                    <a:pt x="0" y="1794933"/>
                  </a:moveTo>
                  <a:lnTo>
                    <a:pt x="3692733" y="1794933"/>
                  </a:lnTo>
                </a:path>
                <a:path w="3693159" h="2159635">
                  <a:moveTo>
                    <a:pt x="6773" y="0"/>
                  </a:moveTo>
                  <a:lnTo>
                    <a:pt x="6773" y="2159338"/>
                  </a:lnTo>
                </a:path>
                <a:path w="3693159" h="2159635">
                  <a:moveTo>
                    <a:pt x="3685960" y="0"/>
                  </a:moveTo>
                  <a:lnTo>
                    <a:pt x="3685960" y="2159338"/>
                  </a:lnTo>
                </a:path>
                <a:path w="3693159" h="2159635">
                  <a:moveTo>
                    <a:pt x="0" y="6773"/>
                  </a:moveTo>
                  <a:lnTo>
                    <a:pt x="3692733" y="6773"/>
                  </a:lnTo>
                </a:path>
                <a:path w="3693159" h="2159635">
                  <a:moveTo>
                    <a:pt x="0" y="2152565"/>
                  </a:moveTo>
                  <a:lnTo>
                    <a:pt x="3692733" y="2152565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648674" y="1386840"/>
            <a:ext cx="1816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71025" y="1386840"/>
            <a:ext cx="1739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92422" y="1386840"/>
            <a:ext cx="1765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57987" y="1743455"/>
            <a:ext cx="1631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15146" y="1743455"/>
            <a:ext cx="2863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aa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03429" y="1743455"/>
            <a:ext cx="1536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x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57987" y="2103120"/>
            <a:ext cx="1631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15146" y="2103120"/>
            <a:ext cx="2863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aa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03429" y="2103120"/>
            <a:ext cx="1536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x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57987" y="2459735"/>
            <a:ext cx="1631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2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810065" y="2459735"/>
            <a:ext cx="29654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bb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103429" y="2459735"/>
            <a:ext cx="1536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57987" y="2816352"/>
            <a:ext cx="1631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2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832079" y="2816352"/>
            <a:ext cx="252729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cc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103429" y="2816352"/>
            <a:ext cx="1536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57987" y="3176015"/>
            <a:ext cx="25920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64590" algn="l"/>
                <a:tab pos="2465070" algn="l"/>
              </a:tabLst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3	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	z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03977" y="5011928"/>
            <a:ext cx="1649730" cy="11684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624205" indent="-612140">
              <a:lnSpc>
                <a:spcPct val="100000"/>
              </a:lnSpc>
              <a:spcBef>
                <a:spcPts val="580"/>
              </a:spcBef>
              <a:buSzPct val="95238"/>
              <a:buAutoNum type="alphaLcParenBoth" startAt="3"/>
              <a:tabLst>
                <a:tab pos="624205" algn="l"/>
                <a:tab pos="624840" algn="l"/>
              </a:tabLst>
            </a:pP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1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2100">
              <a:latin typeface="Verdana"/>
              <a:cs typeface="Verdana"/>
            </a:endParaRPr>
          </a:p>
          <a:p>
            <a:pPr marL="624205" indent="-612140">
              <a:lnSpc>
                <a:spcPct val="100000"/>
              </a:lnSpc>
              <a:spcBef>
                <a:spcPts val="480"/>
              </a:spcBef>
              <a:buSzPct val="95238"/>
              <a:buAutoNum type="alphaLcParenBoth" startAt="3"/>
              <a:tabLst>
                <a:tab pos="624205" algn="l"/>
                <a:tab pos="624840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04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2100">
              <a:latin typeface="Verdana"/>
              <a:cs typeface="Verdana"/>
            </a:endParaRPr>
          </a:p>
          <a:p>
            <a:pPr marL="624205" indent="-612140">
              <a:lnSpc>
                <a:spcPct val="100000"/>
              </a:lnSpc>
              <a:spcBef>
                <a:spcPts val="480"/>
              </a:spcBef>
              <a:buSzPct val="95238"/>
              <a:buAutoNum type="alphaLcParenBoth" startAt="3"/>
              <a:tabLst>
                <a:tab pos="624205" algn="l"/>
                <a:tab pos="624840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04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09898" y="3575061"/>
            <a:ext cx="7325359" cy="1751330"/>
          </a:xfrm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Which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following</a:t>
            </a:r>
            <a:r>
              <a:rPr sz="23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functional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dependency?</a:t>
            </a:r>
            <a:endParaRPr sz="2300">
              <a:latin typeface="Verdana"/>
              <a:cs typeface="Verdana"/>
            </a:endParaRPr>
          </a:p>
          <a:p>
            <a:pPr marL="1518285" indent="-612775">
              <a:lnSpc>
                <a:spcPct val="100000"/>
              </a:lnSpc>
              <a:spcBef>
                <a:spcPts val="1445"/>
              </a:spcBef>
              <a:buSzPct val="95238"/>
              <a:buAutoNum type="alphaLcParenBoth"/>
              <a:tabLst>
                <a:tab pos="1518285" algn="l"/>
                <a:tab pos="1518920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04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endParaRPr sz="2100">
              <a:latin typeface="Verdana"/>
              <a:cs typeface="Verdana"/>
            </a:endParaRPr>
          </a:p>
          <a:p>
            <a:pPr marL="1518285" indent="-612775">
              <a:lnSpc>
                <a:spcPct val="100000"/>
              </a:lnSpc>
              <a:spcBef>
                <a:spcPts val="480"/>
              </a:spcBef>
              <a:buSzPct val="95238"/>
              <a:buAutoNum type="alphaLcParenBoth"/>
              <a:tabLst>
                <a:tab pos="1518285" algn="l"/>
                <a:tab pos="1518920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04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2100">
              <a:latin typeface="Verdana"/>
              <a:cs typeface="Verdana"/>
            </a:endParaRPr>
          </a:p>
          <a:p>
            <a:pPr marL="293370" algn="ctr">
              <a:lnSpc>
                <a:spcPct val="100000"/>
              </a:lnSpc>
              <a:spcBef>
                <a:spcPts val="235"/>
              </a:spcBef>
            </a:pP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Possible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173115" y="5306567"/>
            <a:ext cx="4533900" cy="541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3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enough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information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ts val="2030"/>
              </a:lnSpc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(cannot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prove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 non-existence of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violation)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273902" y="4367235"/>
            <a:ext cx="302895" cy="272415"/>
            <a:chOff x="1273902" y="4367235"/>
            <a:chExt cx="302895" cy="272415"/>
          </a:xfrm>
        </p:grpSpPr>
        <p:sp>
          <p:nvSpPr>
            <p:cNvPr id="33" name="object 33"/>
            <p:cNvSpPr/>
            <p:nvPr/>
          </p:nvSpPr>
          <p:spPr>
            <a:xfrm>
              <a:off x="1287995" y="4381328"/>
              <a:ext cx="274955" cy="244475"/>
            </a:xfrm>
            <a:custGeom>
              <a:avLst/>
              <a:gdLst/>
              <a:ahLst/>
              <a:cxnLst/>
              <a:rect l="l" t="t" r="r" b="b"/>
              <a:pathLst>
                <a:path w="274955" h="244475">
                  <a:moveTo>
                    <a:pt x="223354" y="0"/>
                  </a:moveTo>
                  <a:lnTo>
                    <a:pt x="137330" y="69481"/>
                  </a:lnTo>
                  <a:lnTo>
                    <a:pt x="51304" y="0"/>
                  </a:lnTo>
                  <a:lnTo>
                    <a:pt x="0" y="63520"/>
                  </a:lnTo>
                  <a:lnTo>
                    <a:pt x="72354" y="121961"/>
                  </a:lnTo>
                  <a:lnTo>
                    <a:pt x="0" y="180402"/>
                  </a:lnTo>
                  <a:lnTo>
                    <a:pt x="51304" y="243922"/>
                  </a:lnTo>
                  <a:lnTo>
                    <a:pt x="137330" y="174440"/>
                  </a:lnTo>
                  <a:lnTo>
                    <a:pt x="223354" y="243922"/>
                  </a:lnTo>
                  <a:lnTo>
                    <a:pt x="274660" y="180402"/>
                  </a:lnTo>
                  <a:lnTo>
                    <a:pt x="202304" y="121961"/>
                  </a:lnTo>
                  <a:lnTo>
                    <a:pt x="274660" y="63520"/>
                  </a:lnTo>
                  <a:lnTo>
                    <a:pt x="22335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287995" y="4381328"/>
              <a:ext cx="274955" cy="244475"/>
            </a:xfrm>
            <a:custGeom>
              <a:avLst/>
              <a:gdLst/>
              <a:ahLst/>
              <a:cxnLst/>
              <a:rect l="l" t="t" r="r" b="b"/>
              <a:pathLst>
                <a:path w="274955" h="244475">
                  <a:moveTo>
                    <a:pt x="0" y="63520"/>
                  </a:moveTo>
                  <a:lnTo>
                    <a:pt x="51304" y="0"/>
                  </a:lnTo>
                  <a:lnTo>
                    <a:pt x="137330" y="69481"/>
                  </a:lnTo>
                  <a:lnTo>
                    <a:pt x="223355" y="0"/>
                  </a:lnTo>
                  <a:lnTo>
                    <a:pt x="274660" y="63520"/>
                  </a:lnTo>
                  <a:lnTo>
                    <a:pt x="202305" y="121961"/>
                  </a:lnTo>
                  <a:lnTo>
                    <a:pt x="274660" y="180402"/>
                  </a:lnTo>
                  <a:lnTo>
                    <a:pt x="223355" y="243922"/>
                  </a:lnTo>
                  <a:lnTo>
                    <a:pt x="137330" y="174440"/>
                  </a:lnTo>
                  <a:lnTo>
                    <a:pt x="51304" y="243922"/>
                  </a:lnTo>
                  <a:lnTo>
                    <a:pt x="0" y="180402"/>
                  </a:lnTo>
                  <a:lnTo>
                    <a:pt x="72355" y="121961"/>
                  </a:lnTo>
                  <a:lnTo>
                    <a:pt x="0" y="63520"/>
                  </a:lnTo>
                  <a:close/>
                </a:path>
              </a:pathLst>
            </a:custGeom>
            <a:ln w="2818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1273902" y="4754347"/>
            <a:ext cx="302895" cy="272415"/>
            <a:chOff x="1273902" y="4754347"/>
            <a:chExt cx="302895" cy="272415"/>
          </a:xfrm>
        </p:grpSpPr>
        <p:sp>
          <p:nvSpPr>
            <p:cNvPr id="36" name="object 36"/>
            <p:cNvSpPr/>
            <p:nvPr/>
          </p:nvSpPr>
          <p:spPr>
            <a:xfrm>
              <a:off x="1287995" y="4768440"/>
              <a:ext cx="274955" cy="244475"/>
            </a:xfrm>
            <a:custGeom>
              <a:avLst/>
              <a:gdLst/>
              <a:ahLst/>
              <a:cxnLst/>
              <a:rect l="l" t="t" r="r" b="b"/>
              <a:pathLst>
                <a:path w="274955" h="244475">
                  <a:moveTo>
                    <a:pt x="223354" y="0"/>
                  </a:moveTo>
                  <a:lnTo>
                    <a:pt x="137330" y="69481"/>
                  </a:lnTo>
                  <a:lnTo>
                    <a:pt x="51304" y="0"/>
                  </a:lnTo>
                  <a:lnTo>
                    <a:pt x="0" y="63521"/>
                  </a:lnTo>
                  <a:lnTo>
                    <a:pt x="72354" y="121961"/>
                  </a:lnTo>
                  <a:lnTo>
                    <a:pt x="0" y="180402"/>
                  </a:lnTo>
                  <a:lnTo>
                    <a:pt x="51304" y="243923"/>
                  </a:lnTo>
                  <a:lnTo>
                    <a:pt x="137330" y="174440"/>
                  </a:lnTo>
                  <a:lnTo>
                    <a:pt x="223354" y="243923"/>
                  </a:lnTo>
                  <a:lnTo>
                    <a:pt x="274660" y="180402"/>
                  </a:lnTo>
                  <a:lnTo>
                    <a:pt x="202304" y="121961"/>
                  </a:lnTo>
                  <a:lnTo>
                    <a:pt x="274660" y="63521"/>
                  </a:lnTo>
                  <a:lnTo>
                    <a:pt x="22335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287995" y="4768441"/>
              <a:ext cx="274955" cy="244475"/>
            </a:xfrm>
            <a:custGeom>
              <a:avLst/>
              <a:gdLst/>
              <a:ahLst/>
              <a:cxnLst/>
              <a:rect l="l" t="t" r="r" b="b"/>
              <a:pathLst>
                <a:path w="274955" h="244475">
                  <a:moveTo>
                    <a:pt x="0" y="63520"/>
                  </a:moveTo>
                  <a:lnTo>
                    <a:pt x="51304" y="0"/>
                  </a:lnTo>
                  <a:lnTo>
                    <a:pt x="137330" y="69481"/>
                  </a:lnTo>
                  <a:lnTo>
                    <a:pt x="223355" y="0"/>
                  </a:lnTo>
                  <a:lnTo>
                    <a:pt x="274660" y="63520"/>
                  </a:lnTo>
                  <a:lnTo>
                    <a:pt x="202305" y="121961"/>
                  </a:lnTo>
                  <a:lnTo>
                    <a:pt x="274660" y="180402"/>
                  </a:lnTo>
                  <a:lnTo>
                    <a:pt x="223355" y="243922"/>
                  </a:lnTo>
                  <a:lnTo>
                    <a:pt x="137330" y="174440"/>
                  </a:lnTo>
                  <a:lnTo>
                    <a:pt x="51304" y="243922"/>
                  </a:lnTo>
                  <a:lnTo>
                    <a:pt x="0" y="180402"/>
                  </a:lnTo>
                  <a:lnTo>
                    <a:pt x="72355" y="121961"/>
                  </a:lnTo>
                  <a:lnTo>
                    <a:pt x="0" y="63520"/>
                  </a:lnTo>
                  <a:close/>
                </a:path>
              </a:pathLst>
            </a:custGeom>
            <a:ln w="2818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1273902" y="5907422"/>
            <a:ext cx="302895" cy="272415"/>
            <a:chOff x="1273902" y="5907422"/>
            <a:chExt cx="302895" cy="272415"/>
          </a:xfrm>
        </p:grpSpPr>
        <p:sp>
          <p:nvSpPr>
            <p:cNvPr id="39" name="object 39"/>
            <p:cNvSpPr/>
            <p:nvPr/>
          </p:nvSpPr>
          <p:spPr>
            <a:xfrm>
              <a:off x="1287995" y="5921515"/>
              <a:ext cx="274955" cy="244475"/>
            </a:xfrm>
            <a:custGeom>
              <a:avLst/>
              <a:gdLst/>
              <a:ahLst/>
              <a:cxnLst/>
              <a:rect l="l" t="t" r="r" b="b"/>
              <a:pathLst>
                <a:path w="274955" h="244475">
                  <a:moveTo>
                    <a:pt x="223354" y="0"/>
                  </a:moveTo>
                  <a:lnTo>
                    <a:pt x="137330" y="69481"/>
                  </a:lnTo>
                  <a:lnTo>
                    <a:pt x="51304" y="0"/>
                  </a:lnTo>
                  <a:lnTo>
                    <a:pt x="0" y="63521"/>
                  </a:lnTo>
                  <a:lnTo>
                    <a:pt x="72354" y="121961"/>
                  </a:lnTo>
                  <a:lnTo>
                    <a:pt x="0" y="180402"/>
                  </a:lnTo>
                  <a:lnTo>
                    <a:pt x="51304" y="243923"/>
                  </a:lnTo>
                  <a:lnTo>
                    <a:pt x="137330" y="174440"/>
                  </a:lnTo>
                  <a:lnTo>
                    <a:pt x="223354" y="243923"/>
                  </a:lnTo>
                  <a:lnTo>
                    <a:pt x="274660" y="180402"/>
                  </a:lnTo>
                  <a:lnTo>
                    <a:pt x="202304" y="121961"/>
                  </a:lnTo>
                  <a:lnTo>
                    <a:pt x="274660" y="63521"/>
                  </a:lnTo>
                  <a:lnTo>
                    <a:pt x="22335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287995" y="5921516"/>
              <a:ext cx="274955" cy="244475"/>
            </a:xfrm>
            <a:custGeom>
              <a:avLst/>
              <a:gdLst/>
              <a:ahLst/>
              <a:cxnLst/>
              <a:rect l="l" t="t" r="r" b="b"/>
              <a:pathLst>
                <a:path w="274955" h="244475">
                  <a:moveTo>
                    <a:pt x="0" y="63520"/>
                  </a:moveTo>
                  <a:lnTo>
                    <a:pt x="51304" y="0"/>
                  </a:lnTo>
                  <a:lnTo>
                    <a:pt x="137330" y="69481"/>
                  </a:lnTo>
                  <a:lnTo>
                    <a:pt x="223355" y="0"/>
                  </a:lnTo>
                  <a:lnTo>
                    <a:pt x="274660" y="63520"/>
                  </a:lnTo>
                  <a:lnTo>
                    <a:pt x="202305" y="121961"/>
                  </a:lnTo>
                  <a:lnTo>
                    <a:pt x="274660" y="180402"/>
                  </a:lnTo>
                  <a:lnTo>
                    <a:pt x="223355" y="243922"/>
                  </a:lnTo>
                  <a:lnTo>
                    <a:pt x="137330" y="174440"/>
                  </a:lnTo>
                  <a:lnTo>
                    <a:pt x="51304" y="243922"/>
                  </a:lnTo>
                  <a:lnTo>
                    <a:pt x="0" y="180402"/>
                  </a:lnTo>
                  <a:lnTo>
                    <a:pt x="72355" y="121961"/>
                  </a:lnTo>
                  <a:lnTo>
                    <a:pt x="0" y="63520"/>
                  </a:lnTo>
                  <a:close/>
                </a:path>
              </a:pathLst>
            </a:custGeom>
            <a:ln w="2818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3173374" y="2414833"/>
            <a:ext cx="3601720" cy="1082040"/>
            <a:chOff x="3173374" y="2414833"/>
            <a:chExt cx="3601720" cy="1082040"/>
          </a:xfrm>
        </p:grpSpPr>
        <p:sp>
          <p:nvSpPr>
            <p:cNvPr id="42" name="object 42"/>
            <p:cNvSpPr/>
            <p:nvPr/>
          </p:nvSpPr>
          <p:spPr>
            <a:xfrm>
              <a:off x="3187467" y="2428927"/>
              <a:ext cx="2182495" cy="725170"/>
            </a:xfrm>
            <a:custGeom>
              <a:avLst/>
              <a:gdLst/>
              <a:ahLst/>
              <a:cxnLst/>
              <a:rect l="l" t="t" r="r" b="b"/>
              <a:pathLst>
                <a:path w="2182495" h="725169">
                  <a:moveTo>
                    <a:pt x="0" y="120825"/>
                  </a:moveTo>
                  <a:lnTo>
                    <a:pt x="9495" y="73794"/>
                  </a:lnTo>
                  <a:lnTo>
                    <a:pt x="35388" y="35388"/>
                  </a:lnTo>
                  <a:lnTo>
                    <a:pt x="73794" y="9495"/>
                  </a:lnTo>
                  <a:lnTo>
                    <a:pt x="120825" y="0"/>
                  </a:lnTo>
                  <a:lnTo>
                    <a:pt x="2061335" y="0"/>
                  </a:lnTo>
                  <a:lnTo>
                    <a:pt x="2108366" y="9495"/>
                  </a:lnTo>
                  <a:lnTo>
                    <a:pt x="2146772" y="35388"/>
                  </a:lnTo>
                  <a:lnTo>
                    <a:pt x="2172666" y="73794"/>
                  </a:lnTo>
                  <a:lnTo>
                    <a:pt x="2182161" y="120825"/>
                  </a:lnTo>
                  <a:lnTo>
                    <a:pt x="2182161" y="604113"/>
                  </a:lnTo>
                  <a:lnTo>
                    <a:pt x="2172666" y="651143"/>
                  </a:lnTo>
                  <a:lnTo>
                    <a:pt x="2146772" y="689549"/>
                  </a:lnTo>
                  <a:lnTo>
                    <a:pt x="2108366" y="715443"/>
                  </a:lnTo>
                  <a:lnTo>
                    <a:pt x="2061335" y="724938"/>
                  </a:lnTo>
                  <a:lnTo>
                    <a:pt x="120825" y="724938"/>
                  </a:lnTo>
                  <a:lnTo>
                    <a:pt x="73794" y="715443"/>
                  </a:lnTo>
                  <a:lnTo>
                    <a:pt x="35388" y="689549"/>
                  </a:lnTo>
                  <a:lnTo>
                    <a:pt x="9495" y="651143"/>
                  </a:lnTo>
                  <a:lnTo>
                    <a:pt x="0" y="604113"/>
                  </a:lnTo>
                  <a:lnTo>
                    <a:pt x="0" y="120825"/>
                  </a:lnTo>
                  <a:close/>
                </a:path>
              </a:pathLst>
            </a:custGeom>
            <a:ln w="2818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379573" y="2428927"/>
              <a:ext cx="2182495" cy="331470"/>
            </a:xfrm>
            <a:custGeom>
              <a:avLst/>
              <a:gdLst/>
              <a:ahLst/>
              <a:cxnLst/>
              <a:rect l="l" t="t" r="r" b="b"/>
              <a:pathLst>
                <a:path w="2182495" h="331469">
                  <a:moveTo>
                    <a:pt x="0" y="55200"/>
                  </a:moveTo>
                  <a:lnTo>
                    <a:pt x="4337" y="33714"/>
                  </a:lnTo>
                  <a:lnTo>
                    <a:pt x="16167" y="16167"/>
                  </a:lnTo>
                  <a:lnTo>
                    <a:pt x="33714" y="4337"/>
                  </a:lnTo>
                  <a:lnTo>
                    <a:pt x="55200" y="0"/>
                  </a:lnTo>
                  <a:lnTo>
                    <a:pt x="2126959" y="0"/>
                  </a:lnTo>
                  <a:lnTo>
                    <a:pt x="2148446" y="4337"/>
                  </a:lnTo>
                  <a:lnTo>
                    <a:pt x="2165992" y="16167"/>
                  </a:lnTo>
                  <a:lnTo>
                    <a:pt x="2177823" y="33714"/>
                  </a:lnTo>
                  <a:lnTo>
                    <a:pt x="2182161" y="55200"/>
                  </a:lnTo>
                  <a:lnTo>
                    <a:pt x="2182161" y="276004"/>
                  </a:lnTo>
                  <a:lnTo>
                    <a:pt x="2177823" y="297491"/>
                  </a:lnTo>
                  <a:lnTo>
                    <a:pt x="2165992" y="315037"/>
                  </a:lnTo>
                  <a:lnTo>
                    <a:pt x="2148446" y="326867"/>
                  </a:lnTo>
                  <a:lnTo>
                    <a:pt x="2126959" y="331205"/>
                  </a:lnTo>
                  <a:lnTo>
                    <a:pt x="55200" y="331205"/>
                  </a:lnTo>
                  <a:lnTo>
                    <a:pt x="33714" y="326867"/>
                  </a:lnTo>
                  <a:lnTo>
                    <a:pt x="16167" y="315037"/>
                  </a:lnTo>
                  <a:lnTo>
                    <a:pt x="4337" y="297491"/>
                  </a:lnTo>
                  <a:lnTo>
                    <a:pt x="0" y="276004"/>
                  </a:lnTo>
                  <a:lnTo>
                    <a:pt x="0" y="55200"/>
                  </a:lnTo>
                  <a:close/>
                </a:path>
              </a:pathLst>
            </a:custGeom>
            <a:ln w="2818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379573" y="3151416"/>
              <a:ext cx="2182495" cy="331470"/>
            </a:xfrm>
            <a:custGeom>
              <a:avLst/>
              <a:gdLst/>
              <a:ahLst/>
              <a:cxnLst/>
              <a:rect l="l" t="t" r="r" b="b"/>
              <a:pathLst>
                <a:path w="2182495" h="331470">
                  <a:moveTo>
                    <a:pt x="0" y="55200"/>
                  </a:moveTo>
                  <a:lnTo>
                    <a:pt x="4337" y="33714"/>
                  </a:lnTo>
                  <a:lnTo>
                    <a:pt x="16167" y="16167"/>
                  </a:lnTo>
                  <a:lnTo>
                    <a:pt x="33714" y="4337"/>
                  </a:lnTo>
                  <a:lnTo>
                    <a:pt x="55200" y="0"/>
                  </a:lnTo>
                  <a:lnTo>
                    <a:pt x="2126959" y="0"/>
                  </a:lnTo>
                  <a:lnTo>
                    <a:pt x="2148446" y="4337"/>
                  </a:lnTo>
                  <a:lnTo>
                    <a:pt x="2165992" y="16167"/>
                  </a:lnTo>
                  <a:lnTo>
                    <a:pt x="2177823" y="33714"/>
                  </a:lnTo>
                  <a:lnTo>
                    <a:pt x="2182161" y="55200"/>
                  </a:lnTo>
                  <a:lnTo>
                    <a:pt x="2182161" y="276004"/>
                  </a:lnTo>
                  <a:lnTo>
                    <a:pt x="2177823" y="297491"/>
                  </a:lnTo>
                  <a:lnTo>
                    <a:pt x="2165992" y="315037"/>
                  </a:lnTo>
                  <a:lnTo>
                    <a:pt x="2148446" y="326867"/>
                  </a:lnTo>
                  <a:lnTo>
                    <a:pt x="2126959" y="331205"/>
                  </a:lnTo>
                  <a:lnTo>
                    <a:pt x="55200" y="331205"/>
                  </a:lnTo>
                  <a:lnTo>
                    <a:pt x="33714" y="326867"/>
                  </a:lnTo>
                  <a:lnTo>
                    <a:pt x="16167" y="315037"/>
                  </a:lnTo>
                  <a:lnTo>
                    <a:pt x="4337" y="297491"/>
                  </a:lnTo>
                  <a:lnTo>
                    <a:pt x="0" y="276004"/>
                  </a:lnTo>
                  <a:lnTo>
                    <a:pt x="0" y="55200"/>
                  </a:lnTo>
                  <a:close/>
                </a:path>
              </a:pathLst>
            </a:custGeom>
            <a:ln w="2818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578253" y="2428927"/>
              <a:ext cx="2182495" cy="725170"/>
            </a:xfrm>
            <a:custGeom>
              <a:avLst/>
              <a:gdLst/>
              <a:ahLst/>
              <a:cxnLst/>
              <a:rect l="l" t="t" r="r" b="b"/>
              <a:pathLst>
                <a:path w="2182495" h="725169">
                  <a:moveTo>
                    <a:pt x="0" y="120825"/>
                  </a:moveTo>
                  <a:lnTo>
                    <a:pt x="9495" y="73794"/>
                  </a:lnTo>
                  <a:lnTo>
                    <a:pt x="35388" y="35388"/>
                  </a:lnTo>
                  <a:lnTo>
                    <a:pt x="73794" y="9495"/>
                  </a:lnTo>
                  <a:lnTo>
                    <a:pt x="120825" y="0"/>
                  </a:lnTo>
                  <a:lnTo>
                    <a:pt x="2061335" y="0"/>
                  </a:lnTo>
                  <a:lnTo>
                    <a:pt x="2108366" y="9495"/>
                  </a:lnTo>
                  <a:lnTo>
                    <a:pt x="2146772" y="35388"/>
                  </a:lnTo>
                  <a:lnTo>
                    <a:pt x="2172666" y="73794"/>
                  </a:lnTo>
                  <a:lnTo>
                    <a:pt x="2182161" y="120825"/>
                  </a:lnTo>
                  <a:lnTo>
                    <a:pt x="2182161" y="604113"/>
                  </a:lnTo>
                  <a:lnTo>
                    <a:pt x="2172666" y="651143"/>
                  </a:lnTo>
                  <a:lnTo>
                    <a:pt x="2146772" y="689549"/>
                  </a:lnTo>
                  <a:lnTo>
                    <a:pt x="2108366" y="715443"/>
                  </a:lnTo>
                  <a:lnTo>
                    <a:pt x="2061335" y="724938"/>
                  </a:lnTo>
                  <a:lnTo>
                    <a:pt x="120825" y="724938"/>
                  </a:lnTo>
                  <a:lnTo>
                    <a:pt x="73794" y="715443"/>
                  </a:lnTo>
                  <a:lnTo>
                    <a:pt x="35388" y="689549"/>
                  </a:lnTo>
                  <a:lnTo>
                    <a:pt x="9495" y="651143"/>
                  </a:lnTo>
                  <a:lnTo>
                    <a:pt x="0" y="604113"/>
                  </a:lnTo>
                  <a:lnTo>
                    <a:pt x="0" y="120825"/>
                  </a:lnTo>
                  <a:close/>
                </a:path>
              </a:pathLst>
            </a:custGeom>
            <a:ln w="2818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5241" y="214243"/>
            <a:ext cx="510032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L</a:t>
            </a:r>
            <a:r>
              <a:rPr spc="-125" dirty="0"/>
              <a:t>e</a:t>
            </a:r>
            <a:r>
              <a:rPr spc="-120" dirty="0"/>
              <a:t>t</a:t>
            </a:r>
            <a:r>
              <a:rPr spc="-125" dirty="0"/>
              <a:t>’</a:t>
            </a:r>
            <a:r>
              <a:rPr dirty="0"/>
              <a:t>s</a:t>
            </a:r>
            <a:r>
              <a:rPr spc="-250" dirty="0"/>
              <a:t> </a:t>
            </a:r>
            <a:r>
              <a:rPr spc="-135" dirty="0"/>
              <a:t>T</a:t>
            </a:r>
            <a:r>
              <a:rPr spc="-130" dirty="0"/>
              <a:t>r</a:t>
            </a:r>
            <a:r>
              <a:rPr spc="-135" dirty="0"/>
              <a:t>y</a:t>
            </a:r>
            <a:r>
              <a:rPr dirty="0"/>
              <a:t>:</a:t>
            </a:r>
            <a:r>
              <a:rPr spc="-245" dirty="0"/>
              <a:t> </a:t>
            </a:r>
            <a:r>
              <a:rPr spc="-135" dirty="0"/>
              <a:t>FD</a:t>
            </a:r>
            <a:r>
              <a:rPr dirty="0"/>
              <a:t>s</a:t>
            </a:r>
            <a:r>
              <a:rPr spc="-250" dirty="0"/>
              <a:t> </a:t>
            </a:r>
            <a:r>
              <a:rPr spc="-125" dirty="0"/>
              <a:t>(</a:t>
            </a:r>
            <a:r>
              <a:rPr spc="-130" dirty="0"/>
              <a:t>2)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67338" y="1344465"/>
          <a:ext cx="6878953" cy="21457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5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54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5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6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EmpID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Name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xPhone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Position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E1001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6543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Clerk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E2353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Helpdesk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E4567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Daisy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9876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Salesrep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E1234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Donald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9876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Salesrep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6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E9372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Lawyer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09898" y="3776471"/>
            <a:ext cx="278638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List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possible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FD(s)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5241" y="4280113"/>
            <a:ext cx="8796020" cy="2064385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 marL="696595">
              <a:lnSpc>
                <a:spcPct val="100000"/>
              </a:lnSpc>
              <a:spcBef>
                <a:spcPts val="2250"/>
              </a:spcBef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EmpID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300" spc="28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Name,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xPhone,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Position</a:t>
            </a:r>
            <a:endParaRPr sz="2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2153" y="221800"/>
            <a:ext cx="417258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M</a:t>
            </a:r>
            <a:r>
              <a:rPr spc="-125" dirty="0"/>
              <a:t>o</a:t>
            </a:r>
            <a:r>
              <a:rPr spc="-130" dirty="0"/>
              <a:t>r</a:t>
            </a:r>
            <a:r>
              <a:rPr dirty="0"/>
              <a:t>e</a:t>
            </a:r>
            <a:r>
              <a:rPr spc="-250" dirty="0"/>
              <a:t> </a:t>
            </a:r>
            <a:r>
              <a:rPr spc="-125" dirty="0"/>
              <a:t>E</a:t>
            </a:r>
            <a:r>
              <a:rPr spc="-135" dirty="0"/>
              <a:t>x</a:t>
            </a:r>
            <a:r>
              <a:rPr spc="-130" dirty="0"/>
              <a:t>a</a:t>
            </a:r>
            <a:r>
              <a:rPr spc="-135" dirty="0"/>
              <a:t>m</a:t>
            </a:r>
            <a:r>
              <a:rPr spc="-130" dirty="0"/>
              <a:t>pl</a:t>
            </a:r>
            <a:r>
              <a:rPr dirty="0"/>
              <a:t>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53237" y="1344465"/>
          <a:ext cx="8018143" cy="10746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5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54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2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6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ProductName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Category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Color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Department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Price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022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Beyblade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Gadget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Green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Toys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0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Drone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Gadget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Green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Toys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80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93367" y="2785871"/>
            <a:ext cx="693864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following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hold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this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instance?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34220" y="3207512"/>
            <a:ext cx="3334385" cy="13208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34800"/>
              </a:lnSpc>
              <a:spcBef>
                <a:spcPts val="11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ProductName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Color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Category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29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Department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40" dirty="0">
                <a:solidFill>
                  <a:srgbClr val="292934"/>
                </a:solidFill>
                <a:latin typeface="Verdana"/>
                <a:cs typeface="Verdana"/>
              </a:rPr>
              <a:t>Color,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Category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4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Price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62445" y="4379306"/>
            <a:ext cx="4017645" cy="0"/>
          </a:xfrm>
          <a:custGeom>
            <a:avLst/>
            <a:gdLst/>
            <a:ahLst/>
            <a:cxnLst/>
            <a:rect l="l" t="t" r="r" b="b"/>
            <a:pathLst>
              <a:path w="4017645">
                <a:moveTo>
                  <a:pt x="0" y="0"/>
                </a:moveTo>
                <a:lnTo>
                  <a:pt x="4017160" y="1"/>
                </a:lnTo>
              </a:path>
            </a:pathLst>
          </a:custGeom>
          <a:ln w="4063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3568" y="4907279"/>
            <a:ext cx="9204960" cy="135026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90844" y="4949600"/>
            <a:ext cx="8860155" cy="102552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78435" rIns="0" bIns="0" rtlCol="0">
            <a:spAutoFit/>
          </a:bodyPr>
          <a:lstStyle/>
          <a:p>
            <a:pPr marL="581025" marR="130810" indent="-428625">
              <a:lnSpc>
                <a:spcPct val="102899"/>
              </a:lnSpc>
              <a:spcBef>
                <a:spcPts val="1405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sure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every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instance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will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which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FD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true,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then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say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C00000"/>
                </a:solidFill>
                <a:latin typeface="Verdana"/>
                <a:cs typeface="Verdana"/>
              </a:rPr>
              <a:t>R</a:t>
            </a:r>
            <a:r>
              <a:rPr sz="2100" b="1" spc="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spc="25" dirty="0">
                <a:solidFill>
                  <a:srgbClr val="C00000"/>
                </a:solidFill>
                <a:latin typeface="Verdana"/>
                <a:cs typeface="Verdana"/>
              </a:rPr>
              <a:t>satisfies</a:t>
            </a:r>
            <a:r>
              <a:rPr sz="2100" b="1" spc="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C00000"/>
                </a:solidFill>
                <a:latin typeface="Verdana"/>
                <a:cs typeface="Verdana"/>
              </a:rPr>
              <a:t>the</a:t>
            </a:r>
            <a:r>
              <a:rPr sz="2100" b="1" spc="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C00000"/>
                </a:solidFill>
                <a:latin typeface="Verdana"/>
                <a:cs typeface="Verdana"/>
              </a:rPr>
              <a:t>FD</a:t>
            </a:r>
            <a:endParaRPr sz="210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6178296"/>
            <a:ext cx="9753600" cy="88391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50113" y="6195844"/>
            <a:ext cx="9376410" cy="59753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 marL="258445">
              <a:lnSpc>
                <a:spcPct val="100000"/>
              </a:lnSpc>
              <a:spcBef>
                <a:spcPts val="107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say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satisfies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FD,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stating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constraint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77482" y="3515359"/>
            <a:ext cx="110363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Possible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343290" y="3321286"/>
            <a:ext cx="198755" cy="727710"/>
          </a:xfrm>
          <a:custGeom>
            <a:avLst/>
            <a:gdLst/>
            <a:ahLst/>
            <a:cxnLst/>
            <a:rect l="l" t="t" r="r" b="b"/>
            <a:pathLst>
              <a:path w="198754" h="727710">
                <a:moveTo>
                  <a:pt x="0" y="0"/>
                </a:moveTo>
                <a:lnTo>
                  <a:pt x="77220" y="1299"/>
                </a:lnTo>
                <a:lnTo>
                  <a:pt x="140278" y="4842"/>
                </a:lnTo>
                <a:lnTo>
                  <a:pt x="182794" y="10096"/>
                </a:lnTo>
                <a:lnTo>
                  <a:pt x="198383" y="16531"/>
                </a:lnTo>
                <a:lnTo>
                  <a:pt x="198383" y="710856"/>
                </a:lnTo>
                <a:lnTo>
                  <a:pt x="182794" y="717290"/>
                </a:lnTo>
                <a:lnTo>
                  <a:pt x="140278" y="722545"/>
                </a:lnTo>
                <a:lnTo>
                  <a:pt x="77220" y="726088"/>
                </a:lnTo>
                <a:lnTo>
                  <a:pt x="0" y="727387"/>
                </a:lnTo>
              </a:path>
            </a:pathLst>
          </a:custGeom>
          <a:ln w="3047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332" y="214435"/>
            <a:ext cx="705040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I</a:t>
            </a:r>
            <a:r>
              <a:rPr spc="-130" dirty="0"/>
              <a:t>n</a:t>
            </a:r>
            <a:r>
              <a:rPr spc="-120" dirty="0"/>
              <a:t>te</a:t>
            </a:r>
            <a:r>
              <a:rPr spc="-125" dirty="0"/>
              <a:t>re</a:t>
            </a:r>
            <a:r>
              <a:rPr spc="-130" dirty="0"/>
              <a:t>s</a:t>
            </a:r>
            <a:r>
              <a:rPr spc="-120" dirty="0"/>
              <a:t>t</a:t>
            </a:r>
            <a:r>
              <a:rPr spc="-125" dirty="0"/>
              <a:t>i</a:t>
            </a:r>
            <a:r>
              <a:rPr spc="-135" dirty="0"/>
              <a:t>n</a:t>
            </a:r>
            <a:r>
              <a:rPr dirty="0"/>
              <a:t>g</a:t>
            </a:r>
            <a:r>
              <a:rPr spc="-254" dirty="0"/>
              <a:t> </a:t>
            </a:r>
            <a:r>
              <a:rPr spc="-135" dirty="0"/>
              <a:t>O</a:t>
            </a:r>
            <a:r>
              <a:rPr spc="-130" dirty="0"/>
              <a:t>bs</a:t>
            </a:r>
            <a:r>
              <a:rPr spc="-125" dirty="0"/>
              <a:t>e</a:t>
            </a:r>
            <a:r>
              <a:rPr spc="-130" dirty="0"/>
              <a:t>rva</a:t>
            </a:r>
            <a:r>
              <a:rPr spc="-120" dirty="0"/>
              <a:t>t</a:t>
            </a:r>
            <a:r>
              <a:rPr spc="-125" dirty="0"/>
              <a:t>io</a:t>
            </a:r>
            <a:r>
              <a:rPr dirty="0"/>
              <a:t>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114" y="1228101"/>
            <a:ext cx="3875404" cy="1946910"/>
          </a:xfrm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 these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true:</a:t>
            </a:r>
            <a:endParaRPr sz="2300">
              <a:latin typeface="Verdana"/>
              <a:cs typeface="Verdana"/>
            </a:endParaRPr>
          </a:p>
          <a:p>
            <a:pPr marL="553085" marR="5080">
              <a:lnSpc>
                <a:spcPct val="135200"/>
              </a:lnSpc>
              <a:spcBef>
                <a:spcPts val="56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ProductName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Color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Category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29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Department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40" dirty="0">
                <a:solidFill>
                  <a:srgbClr val="292934"/>
                </a:solidFill>
                <a:latin typeface="Verdana"/>
                <a:cs typeface="Verdana"/>
              </a:rPr>
              <a:t>Color,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Category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4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Price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1114" y="3992348"/>
            <a:ext cx="4916170" cy="1087755"/>
          </a:xfrm>
          <a:prstGeom prst="rect">
            <a:avLst/>
          </a:prstGeom>
        </p:spPr>
        <p:txBody>
          <a:bodyPr vert="horz" wrap="square" lIns="0" tIns="217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10"/>
              </a:spcBef>
            </a:pP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Then,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this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FD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also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holds:</a:t>
            </a:r>
            <a:endParaRPr sz="2300">
              <a:latin typeface="Verdana"/>
              <a:cs typeface="Verdana"/>
            </a:endParaRPr>
          </a:p>
          <a:p>
            <a:pPr marL="553085">
              <a:lnSpc>
                <a:spcPct val="100000"/>
              </a:lnSpc>
              <a:spcBef>
                <a:spcPts val="1475"/>
              </a:spcBef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ProductName,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Category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3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Price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25640" y="1949170"/>
            <a:ext cx="859790" cy="396875"/>
          </a:xfrm>
          <a:custGeom>
            <a:avLst/>
            <a:gdLst/>
            <a:ahLst/>
            <a:cxnLst/>
            <a:rect l="l" t="t" r="r" b="b"/>
            <a:pathLst>
              <a:path w="859789" h="396875">
                <a:moveTo>
                  <a:pt x="0" y="66127"/>
                </a:moveTo>
                <a:lnTo>
                  <a:pt x="5196" y="40387"/>
                </a:lnTo>
                <a:lnTo>
                  <a:pt x="19368" y="19368"/>
                </a:lnTo>
                <a:lnTo>
                  <a:pt x="40387" y="5196"/>
                </a:lnTo>
                <a:lnTo>
                  <a:pt x="66127" y="0"/>
                </a:lnTo>
                <a:lnTo>
                  <a:pt x="793511" y="0"/>
                </a:lnTo>
                <a:lnTo>
                  <a:pt x="819251" y="5196"/>
                </a:lnTo>
                <a:lnTo>
                  <a:pt x="840271" y="19368"/>
                </a:lnTo>
                <a:lnTo>
                  <a:pt x="854442" y="40387"/>
                </a:lnTo>
                <a:lnTo>
                  <a:pt x="859639" y="66127"/>
                </a:lnTo>
                <a:lnTo>
                  <a:pt x="859639" y="330628"/>
                </a:lnTo>
                <a:lnTo>
                  <a:pt x="854442" y="356368"/>
                </a:lnTo>
                <a:lnTo>
                  <a:pt x="840271" y="377387"/>
                </a:lnTo>
                <a:lnTo>
                  <a:pt x="819251" y="391559"/>
                </a:lnTo>
                <a:lnTo>
                  <a:pt x="793511" y="396756"/>
                </a:lnTo>
                <a:lnTo>
                  <a:pt x="66127" y="396756"/>
                </a:lnTo>
                <a:lnTo>
                  <a:pt x="40387" y="391559"/>
                </a:lnTo>
                <a:lnTo>
                  <a:pt x="19368" y="377387"/>
                </a:lnTo>
                <a:lnTo>
                  <a:pt x="5196" y="356368"/>
                </a:lnTo>
                <a:lnTo>
                  <a:pt x="0" y="330628"/>
                </a:lnTo>
                <a:lnTo>
                  <a:pt x="0" y="66127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41535" y="2812942"/>
            <a:ext cx="859790" cy="396875"/>
          </a:xfrm>
          <a:custGeom>
            <a:avLst/>
            <a:gdLst/>
            <a:ahLst/>
            <a:cxnLst/>
            <a:rect l="l" t="t" r="r" b="b"/>
            <a:pathLst>
              <a:path w="859789" h="396875">
                <a:moveTo>
                  <a:pt x="0" y="66127"/>
                </a:moveTo>
                <a:lnTo>
                  <a:pt x="5196" y="40387"/>
                </a:lnTo>
                <a:lnTo>
                  <a:pt x="19368" y="19368"/>
                </a:lnTo>
                <a:lnTo>
                  <a:pt x="40387" y="5196"/>
                </a:lnTo>
                <a:lnTo>
                  <a:pt x="66127" y="0"/>
                </a:lnTo>
                <a:lnTo>
                  <a:pt x="793511" y="0"/>
                </a:lnTo>
                <a:lnTo>
                  <a:pt x="819251" y="5196"/>
                </a:lnTo>
                <a:lnTo>
                  <a:pt x="840271" y="19368"/>
                </a:lnTo>
                <a:lnTo>
                  <a:pt x="854442" y="40387"/>
                </a:lnTo>
                <a:lnTo>
                  <a:pt x="859639" y="66127"/>
                </a:lnTo>
                <a:lnTo>
                  <a:pt x="859639" y="330628"/>
                </a:lnTo>
                <a:lnTo>
                  <a:pt x="854442" y="356368"/>
                </a:lnTo>
                <a:lnTo>
                  <a:pt x="840271" y="377387"/>
                </a:lnTo>
                <a:lnTo>
                  <a:pt x="819251" y="391559"/>
                </a:lnTo>
                <a:lnTo>
                  <a:pt x="793511" y="396756"/>
                </a:lnTo>
                <a:lnTo>
                  <a:pt x="66127" y="396756"/>
                </a:lnTo>
                <a:lnTo>
                  <a:pt x="40387" y="391559"/>
                </a:lnTo>
                <a:lnTo>
                  <a:pt x="19368" y="377387"/>
                </a:lnTo>
                <a:lnTo>
                  <a:pt x="5196" y="356368"/>
                </a:lnTo>
                <a:lnTo>
                  <a:pt x="0" y="330628"/>
                </a:lnTo>
                <a:lnTo>
                  <a:pt x="0" y="66127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1784" y="2002535"/>
            <a:ext cx="3666744" cy="390753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987815" y="1922652"/>
            <a:ext cx="3518535" cy="3581400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55575" rIns="0" bIns="0" rtlCol="0">
            <a:spAutoFit/>
          </a:bodyPr>
          <a:lstStyle/>
          <a:p>
            <a:pPr marL="127635" marR="103505" indent="-5715" algn="ctr">
              <a:lnSpc>
                <a:spcPct val="102499"/>
              </a:lnSpc>
              <a:spcBef>
                <a:spcPts val="1225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out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from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application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domain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that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relation  satisfies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some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FDs,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it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does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not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mean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found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all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FDs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satisfies.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Verdana"/>
              <a:cs typeface="Verdana"/>
            </a:endParaRPr>
          </a:p>
          <a:p>
            <a:pPr marL="415290" marR="394335" algn="ctr">
              <a:lnSpc>
                <a:spcPct val="101400"/>
              </a:lnSpc>
            </a:pP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There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may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more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FDs 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implied</a:t>
            </a:r>
            <a:r>
              <a:rPr sz="210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ones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have.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346" y="194866"/>
            <a:ext cx="620204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R</a:t>
            </a:r>
            <a:r>
              <a:rPr spc="-125" dirty="0"/>
              <a:t>e</a:t>
            </a:r>
            <a:r>
              <a:rPr spc="-130" dirty="0"/>
              <a:t>a</a:t>
            </a:r>
            <a:r>
              <a:rPr spc="-125" dirty="0"/>
              <a:t>s</a:t>
            </a:r>
            <a:r>
              <a:rPr spc="-130" dirty="0"/>
              <a:t>on</a:t>
            </a:r>
            <a:r>
              <a:rPr spc="-125" dirty="0"/>
              <a:t>i</a:t>
            </a:r>
            <a:r>
              <a:rPr spc="-130" dirty="0"/>
              <a:t>n</a:t>
            </a:r>
            <a:r>
              <a:rPr dirty="0"/>
              <a:t>g</a:t>
            </a:r>
            <a:r>
              <a:rPr spc="-254" dirty="0"/>
              <a:t> </a:t>
            </a:r>
            <a:r>
              <a:rPr spc="-130" dirty="0"/>
              <a:t>abou</a:t>
            </a:r>
            <a:r>
              <a:rPr dirty="0"/>
              <a:t>t</a:t>
            </a:r>
            <a:r>
              <a:rPr spc="-240" dirty="0"/>
              <a:t> </a:t>
            </a:r>
            <a:r>
              <a:rPr spc="-130" dirty="0"/>
              <a:t>FD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2839" y="1237996"/>
            <a:ext cx="9030335" cy="118681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868680">
              <a:lnSpc>
                <a:spcPts val="2400"/>
              </a:lnSpc>
              <a:spcBef>
                <a:spcPts val="380"/>
              </a:spcBef>
            </a:pPr>
            <a:r>
              <a:rPr sz="2200" spc="-10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use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break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relation,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focus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list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all </a:t>
            </a:r>
            <a:r>
              <a:rPr sz="2200" spc="-7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possible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200" spc="5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some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FDs,</a:t>
            </a:r>
            <a:r>
              <a:rPr sz="22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infer</a:t>
            </a:r>
            <a:r>
              <a:rPr sz="22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additional</a:t>
            </a:r>
            <a:r>
              <a:rPr sz="22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22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using</a:t>
            </a:r>
            <a:r>
              <a:rPr sz="22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2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0" dirty="0">
                <a:solidFill>
                  <a:srgbClr val="292934"/>
                </a:solidFill>
                <a:latin typeface="Verdana"/>
                <a:cs typeface="Verdana"/>
              </a:rPr>
              <a:t>following</a:t>
            </a:r>
            <a:r>
              <a:rPr sz="22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15" dirty="0">
                <a:solidFill>
                  <a:srgbClr val="292934"/>
                </a:solidFill>
                <a:latin typeface="Verdana"/>
                <a:cs typeface="Verdana"/>
              </a:rPr>
              <a:t>rules:</a:t>
            </a:r>
            <a:endParaRPr sz="22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0121" y="2468911"/>
          <a:ext cx="9464675" cy="30107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23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1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313">
                <a:tc>
                  <a:txBody>
                    <a:bodyPr/>
                    <a:lstStyle/>
                    <a:p>
                      <a:pPr marL="220979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2100" b="1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Reflexivity</a:t>
                      </a:r>
                      <a:endParaRPr sz="2100">
                        <a:latin typeface="Verdana"/>
                        <a:cs typeface="Verdana"/>
                      </a:endParaRPr>
                    </a:p>
                  </a:txBody>
                  <a:tcPr marL="0" marR="0" marT="8001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220979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20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if</a:t>
                      </a:r>
                      <a:r>
                        <a:rPr sz="20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r>
                        <a:rPr sz="20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subset</a:t>
                      </a:r>
                      <a:r>
                        <a:rPr sz="20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a,</a:t>
                      </a:r>
                      <a:r>
                        <a:rPr sz="20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2000" spc="215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8953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682">
                <a:tc>
                  <a:txBody>
                    <a:bodyPr/>
                    <a:lstStyle/>
                    <a:p>
                      <a:pPr marL="220979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100" b="1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Augmentation</a:t>
                      </a:r>
                      <a:endParaRPr sz="2100">
                        <a:latin typeface="Verdana"/>
                        <a:cs typeface="Verdana"/>
                      </a:endParaRPr>
                    </a:p>
                  </a:txBody>
                  <a:tcPr marL="0" marR="0" marT="825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220979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20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if</a:t>
                      </a:r>
                      <a:r>
                        <a:rPr sz="20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0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2000" spc="215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b, </a:t>
                      </a:r>
                      <a:r>
                        <a:rPr sz="20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then</a:t>
                      </a:r>
                      <a:r>
                        <a:rPr sz="20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ac</a:t>
                      </a:r>
                      <a:r>
                        <a:rPr sz="20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2000" spc="220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bc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920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682">
                <a:tc>
                  <a:txBody>
                    <a:bodyPr/>
                    <a:lstStyle/>
                    <a:p>
                      <a:pPr marL="220979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100" b="1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Transitivity</a:t>
                      </a:r>
                      <a:endParaRPr sz="2100">
                        <a:latin typeface="Verdana"/>
                        <a:cs typeface="Verdana"/>
                      </a:endParaRPr>
                    </a:p>
                  </a:txBody>
                  <a:tcPr marL="0" marR="0" marT="8255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220979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20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if</a:t>
                      </a:r>
                      <a:r>
                        <a:rPr sz="20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0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2000" spc="220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r>
                        <a:rPr sz="20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sz="20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r>
                        <a:rPr sz="20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2000" spc="225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c,</a:t>
                      </a:r>
                      <a:r>
                        <a:rPr sz="20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then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0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2000" spc="225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920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682">
                <a:tc>
                  <a:txBody>
                    <a:bodyPr/>
                    <a:lstStyle/>
                    <a:p>
                      <a:pPr marL="220979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2100" b="1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Union</a:t>
                      </a:r>
                      <a:endParaRPr sz="21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220979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20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if</a:t>
                      </a:r>
                      <a:r>
                        <a:rPr sz="20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0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2000" spc="220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r>
                        <a:rPr sz="20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sz="20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0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2000" spc="225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c,</a:t>
                      </a:r>
                      <a:r>
                        <a:rPr sz="20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then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0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2000" spc="225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bc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9271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682">
                <a:tc>
                  <a:txBody>
                    <a:bodyPr/>
                    <a:lstStyle/>
                    <a:p>
                      <a:pPr marL="220979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2100" b="1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Decomposition</a:t>
                      </a:r>
                      <a:endParaRPr sz="21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220979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20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if</a:t>
                      </a:r>
                      <a:r>
                        <a:rPr sz="20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0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2000" spc="225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bc, then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0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2000" spc="229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r>
                        <a:rPr sz="20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sz="20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0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2000" spc="225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sz="20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(separately)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8953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682">
                <a:tc>
                  <a:txBody>
                    <a:bodyPr/>
                    <a:lstStyle/>
                    <a:p>
                      <a:pPr marL="220979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2100" b="1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Pseudo-transitivity</a:t>
                      </a:r>
                      <a:endParaRPr sz="2100">
                        <a:latin typeface="Verdana"/>
                        <a:cs typeface="Verdana"/>
                      </a:endParaRPr>
                    </a:p>
                  </a:txBody>
                  <a:tcPr marL="0" marR="0" marT="831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220979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0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if</a:t>
                      </a:r>
                      <a:r>
                        <a:rPr sz="20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0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2000" spc="220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r>
                        <a:rPr sz="20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sz="20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cb</a:t>
                      </a:r>
                      <a:r>
                        <a:rPr sz="2000" spc="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2000" spc="225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d,</a:t>
                      </a:r>
                      <a:r>
                        <a:rPr sz="20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then </a:t>
                      </a:r>
                      <a:r>
                        <a:rPr sz="20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ac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sz="2000" spc="225" dirty="0">
                          <a:solidFill>
                            <a:srgbClr val="29293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5897879"/>
            <a:ext cx="9720072" cy="135026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85346" y="5941488"/>
            <a:ext cx="9473565" cy="102552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19380" rIns="0" bIns="0" rtlCol="0">
            <a:spAutoFit/>
          </a:bodyPr>
          <a:lstStyle/>
          <a:p>
            <a:pPr marL="123825" marR="98425" indent="53340" algn="just">
              <a:lnSpc>
                <a:spcPct val="95000"/>
              </a:lnSpc>
              <a:spcBef>
                <a:spcPts val="940"/>
              </a:spcBef>
            </a:pP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There are many rules that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let us 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infer that one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FD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X </a:t>
            </a:r>
            <a:r>
              <a:rPr sz="18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80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A </a:t>
            </a:r>
            <a:r>
              <a:rPr sz="1800" spc="10" dirty="0">
                <a:solidFill>
                  <a:srgbClr val="C00000"/>
                </a:solidFill>
                <a:latin typeface="Verdana"/>
                <a:cs typeface="Verdana"/>
              </a:rPr>
              <a:t>holds </a:t>
            </a:r>
            <a:r>
              <a:rPr sz="1800" spc="5" dirty="0">
                <a:solidFill>
                  <a:srgbClr val="C00000"/>
                </a:solidFill>
                <a:latin typeface="Verdana"/>
                <a:cs typeface="Verdana"/>
              </a:rPr>
              <a:t>in any </a:t>
            </a:r>
            <a:r>
              <a:rPr sz="1800" spc="10" dirty="0">
                <a:solidFill>
                  <a:srgbClr val="C00000"/>
                </a:solidFill>
                <a:latin typeface="Verdana"/>
                <a:cs typeface="Verdana"/>
              </a:rPr>
              <a:t>relation </a:t>
            </a:r>
            <a:r>
              <a:rPr sz="18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C00000"/>
                </a:solidFill>
                <a:latin typeface="Verdana"/>
                <a:cs typeface="Verdana"/>
              </a:rPr>
              <a:t>instance 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that satisfies </a:t>
            </a:r>
            <a:r>
              <a:rPr sz="1800" spc="15" dirty="0">
                <a:solidFill>
                  <a:srgbClr val="292934"/>
                </a:solidFill>
                <a:latin typeface="Verdana"/>
                <a:cs typeface="Verdana"/>
              </a:rPr>
              <a:t>some other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given 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set of FDs. </a:t>
            </a:r>
            <a:r>
              <a:rPr sz="1800" spc="-90" dirty="0">
                <a:solidFill>
                  <a:srgbClr val="292934"/>
                </a:solidFill>
                <a:latin typeface="Verdana"/>
                <a:cs typeface="Verdana"/>
              </a:rPr>
              <a:t>To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verify 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that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X </a:t>
            </a:r>
            <a:r>
              <a:rPr sz="18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80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A </a:t>
            </a:r>
            <a:r>
              <a:rPr sz="1800" spc="15" dirty="0">
                <a:solidFill>
                  <a:srgbClr val="292934"/>
                </a:solidFill>
                <a:latin typeface="Verdana"/>
                <a:cs typeface="Verdana"/>
              </a:rPr>
              <a:t>holds, </a:t>
            </a:r>
            <a:r>
              <a:rPr sz="18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292934"/>
                </a:solidFill>
                <a:latin typeface="Verdana"/>
                <a:cs typeface="Verdana"/>
              </a:rPr>
              <a:t>compute</a:t>
            </a:r>
            <a:r>
              <a:rPr sz="18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closure</a:t>
            </a:r>
            <a:r>
              <a:rPr sz="18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8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X,</a:t>
            </a:r>
            <a:r>
              <a:rPr sz="18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using</a:t>
            </a:r>
            <a:r>
              <a:rPr sz="18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18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8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8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expand</a:t>
            </a:r>
            <a:r>
              <a:rPr sz="18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X</a:t>
            </a:r>
            <a:r>
              <a:rPr sz="18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until</a:t>
            </a:r>
            <a:r>
              <a:rPr sz="18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it</a:t>
            </a:r>
            <a:r>
              <a:rPr sz="18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includes</a:t>
            </a:r>
            <a:r>
              <a:rPr sz="18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0304" y="1330282"/>
            <a:ext cx="2907030" cy="979169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Supposed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 we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know</a:t>
            </a:r>
            <a:endParaRPr sz="2300">
              <a:latin typeface="Verdana"/>
              <a:cs typeface="Verdana"/>
            </a:endParaRPr>
          </a:p>
          <a:p>
            <a:pPr marL="454025">
              <a:lnSpc>
                <a:spcPct val="100000"/>
              </a:lnSpc>
              <a:spcBef>
                <a:spcPts val="1065"/>
              </a:spcBef>
            </a:pP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custID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29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name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0304" y="2698544"/>
            <a:ext cx="4730750" cy="985519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conclude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following?</a:t>
            </a:r>
            <a:endParaRPr sz="2300">
              <a:latin typeface="Verdana"/>
              <a:cs typeface="Verdana"/>
            </a:endParaRPr>
          </a:p>
          <a:p>
            <a:pPr marL="454025">
              <a:lnSpc>
                <a:spcPct val="100000"/>
              </a:lnSpc>
              <a:spcBef>
                <a:spcPts val="109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custID,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hair_color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4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name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0226" y="114656"/>
            <a:ext cx="597090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E</a:t>
            </a:r>
            <a:r>
              <a:rPr spc="-135" dirty="0"/>
              <a:t>x</a:t>
            </a:r>
            <a:r>
              <a:rPr spc="-130" dirty="0"/>
              <a:t>a</a:t>
            </a:r>
            <a:r>
              <a:rPr spc="-140" dirty="0"/>
              <a:t>m</a:t>
            </a:r>
            <a:r>
              <a:rPr spc="-130" dirty="0"/>
              <a:t>p</a:t>
            </a:r>
            <a:r>
              <a:rPr spc="-125" dirty="0"/>
              <a:t>le</a:t>
            </a:r>
            <a:r>
              <a:rPr dirty="0"/>
              <a:t>:</a:t>
            </a:r>
            <a:r>
              <a:rPr spc="-240" dirty="0"/>
              <a:t> </a:t>
            </a:r>
            <a:r>
              <a:rPr spc="-140" dirty="0"/>
              <a:t>R</a:t>
            </a:r>
            <a:r>
              <a:rPr spc="-125" dirty="0"/>
              <a:t>e</a:t>
            </a:r>
            <a:r>
              <a:rPr spc="-130" dirty="0"/>
              <a:t>a</a:t>
            </a:r>
            <a:r>
              <a:rPr spc="-125" dirty="0"/>
              <a:t>s</a:t>
            </a:r>
            <a:r>
              <a:rPr spc="-130" dirty="0"/>
              <a:t>on</a:t>
            </a:r>
            <a:r>
              <a:rPr spc="-125" dirty="0"/>
              <a:t>i</a:t>
            </a:r>
            <a:r>
              <a:rPr spc="-130" dirty="0"/>
              <a:t>n</a:t>
            </a:r>
            <a:r>
              <a:rPr dirty="0"/>
              <a:t>g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1784" y="1557527"/>
            <a:ext cx="3666744" cy="390448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987815" y="1476302"/>
            <a:ext cx="3518535" cy="3581400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50">
              <a:latin typeface="Times New Roman"/>
              <a:cs typeface="Times New Roman"/>
            </a:endParaRPr>
          </a:p>
          <a:p>
            <a:pPr marL="13335" algn="ctr">
              <a:lnSpc>
                <a:spcPct val="100000"/>
              </a:lnSpc>
            </a:pP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Yes!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50">
              <a:latin typeface="Verdana"/>
              <a:cs typeface="Verdana"/>
            </a:endParaRPr>
          </a:p>
          <a:p>
            <a:pPr marL="179070" marR="157480" algn="ctr">
              <a:lnSpc>
                <a:spcPct val="101200"/>
              </a:lnSpc>
            </a:pP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Adding more attributes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antecedent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can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never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remove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attributes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consequent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0304" y="1330282"/>
            <a:ext cx="2907030" cy="979169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Supposed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 we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know</a:t>
            </a:r>
            <a:endParaRPr sz="2300">
              <a:latin typeface="Verdana"/>
              <a:cs typeface="Verdana"/>
            </a:endParaRPr>
          </a:p>
          <a:p>
            <a:pPr marL="454025">
              <a:lnSpc>
                <a:spcPct val="100000"/>
              </a:lnSpc>
              <a:spcBef>
                <a:spcPts val="1065"/>
              </a:spcBef>
            </a:pP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custID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29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name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0304" y="2698544"/>
            <a:ext cx="4730750" cy="985519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conclude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following?</a:t>
            </a:r>
            <a:endParaRPr sz="2300">
              <a:latin typeface="Verdana"/>
              <a:cs typeface="Verdana"/>
            </a:endParaRPr>
          </a:p>
          <a:p>
            <a:pPr marL="454025">
              <a:lnSpc>
                <a:spcPct val="100000"/>
              </a:lnSpc>
              <a:spcBef>
                <a:spcPts val="1090"/>
              </a:spcBef>
            </a:pP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custID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4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name,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hair_color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4800" y="140056"/>
            <a:ext cx="706310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E</a:t>
            </a:r>
            <a:r>
              <a:rPr spc="-135" dirty="0"/>
              <a:t>x</a:t>
            </a:r>
            <a:r>
              <a:rPr spc="-130" dirty="0"/>
              <a:t>a</a:t>
            </a:r>
            <a:r>
              <a:rPr spc="-140" dirty="0"/>
              <a:t>m</a:t>
            </a:r>
            <a:r>
              <a:rPr spc="-130" dirty="0"/>
              <a:t>p</a:t>
            </a:r>
            <a:r>
              <a:rPr spc="-125" dirty="0"/>
              <a:t>le</a:t>
            </a:r>
            <a:r>
              <a:rPr dirty="0"/>
              <a:t>:</a:t>
            </a:r>
            <a:r>
              <a:rPr spc="-240" dirty="0"/>
              <a:t> </a:t>
            </a:r>
            <a:r>
              <a:rPr spc="-140" dirty="0"/>
              <a:t>R</a:t>
            </a:r>
            <a:r>
              <a:rPr spc="-125" dirty="0"/>
              <a:t>e</a:t>
            </a:r>
            <a:r>
              <a:rPr spc="-130" dirty="0"/>
              <a:t>a</a:t>
            </a:r>
            <a:r>
              <a:rPr spc="-125" dirty="0"/>
              <a:t>s</a:t>
            </a:r>
            <a:r>
              <a:rPr spc="-130" dirty="0"/>
              <a:t>on</a:t>
            </a:r>
            <a:r>
              <a:rPr spc="-125" dirty="0"/>
              <a:t>i</a:t>
            </a:r>
            <a:r>
              <a:rPr spc="-130" dirty="0"/>
              <a:t>n</a:t>
            </a:r>
            <a:r>
              <a:rPr dirty="0"/>
              <a:t>g</a:t>
            </a:r>
            <a:r>
              <a:rPr spc="-254" dirty="0"/>
              <a:t> </a:t>
            </a:r>
            <a:r>
              <a:rPr spc="-130" dirty="0"/>
              <a:t>(2)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1784" y="1557527"/>
            <a:ext cx="3666744" cy="390448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987815" y="1476302"/>
            <a:ext cx="3518535" cy="3581400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50">
              <a:latin typeface="Times New Roman"/>
              <a:cs typeface="Times New Roman"/>
            </a:endParaRPr>
          </a:p>
          <a:p>
            <a:pPr marL="13335" algn="ctr">
              <a:lnSpc>
                <a:spcPct val="100000"/>
              </a:lnSpc>
            </a:pP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No!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50">
              <a:latin typeface="Verdana"/>
              <a:cs typeface="Verdana"/>
            </a:endParaRPr>
          </a:p>
          <a:p>
            <a:pPr marL="148590" marR="126364" algn="ctr">
              <a:lnSpc>
                <a:spcPct val="101200"/>
              </a:lnSpc>
            </a:pP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Impossible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introduce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hair_color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consequent</a:t>
            </a:r>
            <a:r>
              <a:rPr sz="2100" spc="1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without 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also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introducing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it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to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the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antecedent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2839" y="166582"/>
            <a:ext cx="725170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A</a:t>
            </a:r>
            <a:r>
              <a:rPr spc="-125" dirty="0"/>
              <a:t>t</a:t>
            </a:r>
            <a:r>
              <a:rPr spc="-120" dirty="0"/>
              <a:t>t</a:t>
            </a:r>
            <a:r>
              <a:rPr spc="-125" dirty="0"/>
              <a:t>rib</a:t>
            </a:r>
            <a:r>
              <a:rPr spc="-130" dirty="0"/>
              <a:t>u</a:t>
            </a:r>
            <a:r>
              <a:rPr spc="-120" dirty="0"/>
              <a:t>t</a:t>
            </a:r>
            <a:r>
              <a:rPr dirty="0"/>
              <a:t>e</a:t>
            </a:r>
            <a:r>
              <a:rPr spc="-245" dirty="0"/>
              <a:t> </a:t>
            </a:r>
            <a:r>
              <a:rPr spc="-130" dirty="0"/>
              <a:t>C</a:t>
            </a:r>
            <a:r>
              <a:rPr spc="-125" dirty="0"/>
              <a:t>l</a:t>
            </a:r>
            <a:r>
              <a:rPr spc="-130" dirty="0"/>
              <a:t>o</a:t>
            </a:r>
            <a:r>
              <a:rPr spc="-125" dirty="0"/>
              <a:t>s</a:t>
            </a:r>
            <a:r>
              <a:rPr spc="-130" dirty="0"/>
              <a:t>u</a:t>
            </a:r>
            <a:r>
              <a:rPr spc="-125" dirty="0"/>
              <a:t>r</a:t>
            </a:r>
            <a:r>
              <a:rPr dirty="0"/>
              <a:t>e</a:t>
            </a:r>
            <a:r>
              <a:rPr spc="-245" dirty="0"/>
              <a:t> </a:t>
            </a:r>
            <a:r>
              <a:rPr spc="-125" dirty="0"/>
              <a:t>a</a:t>
            </a:r>
            <a:r>
              <a:rPr spc="-130" dirty="0"/>
              <a:t>n</a:t>
            </a:r>
            <a:r>
              <a:rPr dirty="0"/>
              <a:t>d</a:t>
            </a:r>
            <a:r>
              <a:rPr spc="-250" dirty="0"/>
              <a:t> </a:t>
            </a:r>
            <a:r>
              <a:rPr spc="-130" dirty="0"/>
              <a:t>F</a:t>
            </a:r>
            <a:r>
              <a:rPr dirty="0"/>
              <a:t>+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1104" y="3721608"/>
            <a:ext cx="9171940" cy="3380740"/>
            <a:chOff x="451104" y="3721608"/>
            <a:chExt cx="9171940" cy="33807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1104" y="3721608"/>
              <a:ext cx="1426464" cy="33802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96072" y="3721608"/>
              <a:ext cx="1426464" cy="338023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96917" y="3956738"/>
              <a:ext cx="8277225" cy="2925445"/>
            </a:xfrm>
            <a:custGeom>
              <a:avLst/>
              <a:gdLst/>
              <a:ahLst/>
              <a:cxnLst/>
              <a:rect l="l" t="t" r="r" b="b"/>
              <a:pathLst>
                <a:path w="8277225" h="2925445">
                  <a:moveTo>
                    <a:pt x="8276941" y="0"/>
                  </a:moveTo>
                  <a:lnTo>
                    <a:pt x="0" y="0"/>
                  </a:lnTo>
                  <a:lnTo>
                    <a:pt x="0" y="2924944"/>
                  </a:lnTo>
                  <a:lnTo>
                    <a:pt x="8276941" y="2924944"/>
                  </a:lnTo>
                  <a:lnTo>
                    <a:pt x="8276941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6917" y="3956738"/>
              <a:ext cx="8277225" cy="2925445"/>
            </a:xfrm>
            <a:custGeom>
              <a:avLst/>
              <a:gdLst/>
              <a:ahLst/>
              <a:cxnLst/>
              <a:rect l="l" t="t" r="r" b="b"/>
              <a:pathLst>
                <a:path w="8277225" h="2925445">
                  <a:moveTo>
                    <a:pt x="0" y="0"/>
                  </a:moveTo>
                  <a:lnTo>
                    <a:pt x="8276941" y="0"/>
                  </a:lnTo>
                  <a:lnTo>
                    <a:pt x="8276941" y="2924943"/>
                  </a:lnTo>
                  <a:lnTo>
                    <a:pt x="0" y="2924943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5757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02839" y="1211580"/>
            <a:ext cx="8877935" cy="5542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645" indent="-195580">
              <a:lnSpc>
                <a:spcPct val="100000"/>
              </a:lnSpc>
              <a:spcBef>
                <a:spcPts val="100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Attribute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Closure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C00000"/>
                </a:solidFill>
                <a:latin typeface="Verdana"/>
                <a:cs typeface="Verdana"/>
              </a:rPr>
              <a:t>(</a:t>
            </a:r>
            <a:r>
              <a:rPr sz="2600" b="1" spc="-5" dirty="0">
                <a:solidFill>
                  <a:srgbClr val="C00000"/>
                </a:solidFill>
                <a:latin typeface="Calibri"/>
                <a:cs typeface="Calibri"/>
              </a:rPr>
              <a:t>α</a:t>
            </a:r>
            <a:r>
              <a:rPr sz="2100" b="1" spc="-5" dirty="0">
                <a:solidFill>
                  <a:srgbClr val="C00000"/>
                </a:solidFill>
                <a:latin typeface="Trebuchet MS"/>
                <a:cs typeface="Trebuchet MS"/>
              </a:rPr>
              <a:t>+</a:t>
            </a:r>
            <a:r>
              <a:rPr sz="2100" spc="-5" dirty="0">
                <a:solidFill>
                  <a:srgbClr val="C00000"/>
                </a:solidFill>
                <a:latin typeface="Verdana"/>
                <a:cs typeface="Verdana"/>
              </a:rPr>
              <a:t>)</a:t>
            </a:r>
            <a:r>
              <a:rPr sz="21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particular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attribute</a:t>
            </a:r>
            <a:r>
              <a:rPr sz="21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imply</a:t>
            </a:r>
            <a:endParaRPr sz="21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1889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Closure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F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(</a:t>
            </a:r>
            <a:r>
              <a:rPr sz="2100" b="1" spc="15" dirty="0">
                <a:solidFill>
                  <a:srgbClr val="C00000"/>
                </a:solidFill>
                <a:latin typeface="Verdana"/>
                <a:cs typeface="Verdana"/>
              </a:rPr>
              <a:t>F+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)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all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implied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F</a:t>
            </a:r>
            <a:endParaRPr sz="2100">
              <a:latin typeface="Verdana"/>
              <a:cs typeface="Verdana"/>
            </a:endParaRPr>
          </a:p>
          <a:p>
            <a:pPr marL="207645" marR="5080" indent="-195580">
              <a:lnSpc>
                <a:spcPct val="102899"/>
              </a:lnSpc>
              <a:spcBef>
                <a:spcPts val="1705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dirty="0">
                <a:solidFill>
                  <a:srgbClr val="292934"/>
                </a:solidFill>
                <a:latin typeface="Verdana"/>
                <a:cs typeface="Verdana"/>
              </a:rPr>
              <a:t>f</a:t>
            </a:r>
            <a:r>
              <a:rPr sz="2100" i="1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logically</a:t>
            </a:r>
            <a:r>
              <a:rPr sz="21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implied</a:t>
            </a:r>
            <a:r>
              <a:rPr sz="2100" spc="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dirty="0">
                <a:solidFill>
                  <a:srgbClr val="292934"/>
                </a:solidFill>
                <a:latin typeface="Verdana"/>
                <a:cs typeface="Verdana"/>
              </a:rPr>
              <a:t>F</a:t>
            </a:r>
            <a:r>
              <a:rPr sz="2100" i="1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dirty="0">
                <a:solidFill>
                  <a:srgbClr val="292934"/>
                </a:solidFill>
                <a:latin typeface="Verdana"/>
                <a:cs typeface="Verdana"/>
              </a:rPr>
              <a:t>f</a:t>
            </a:r>
            <a:r>
              <a:rPr sz="2100" i="1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holds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whenever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FDs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dirty="0">
                <a:solidFill>
                  <a:srgbClr val="292934"/>
                </a:solidFill>
                <a:latin typeface="Verdana"/>
                <a:cs typeface="Verdana"/>
              </a:rPr>
              <a:t>F</a:t>
            </a:r>
            <a:r>
              <a:rPr sz="2100" i="1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hold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292934"/>
              </a:buClr>
              <a:buFont typeface="Arial MT"/>
              <a:buChar char="•"/>
            </a:pPr>
            <a:endParaRPr sz="35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-10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compute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closure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functional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dependencies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F</a:t>
            </a:r>
            <a:endParaRPr sz="2100">
              <a:latin typeface="Verdana"/>
              <a:cs typeface="Verdana"/>
            </a:endParaRPr>
          </a:p>
          <a:p>
            <a:pPr marL="798195">
              <a:lnSpc>
                <a:spcPct val="100000"/>
              </a:lnSpc>
              <a:spcBef>
                <a:spcPts val="1450"/>
              </a:spcBef>
            </a:pPr>
            <a:r>
              <a:rPr sz="1900" i="1" spc="5" dirty="0">
                <a:solidFill>
                  <a:srgbClr val="292934"/>
                </a:solidFill>
                <a:latin typeface="Verdana"/>
                <a:cs typeface="Verdana"/>
              </a:rPr>
              <a:t>F+</a:t>
            </a:r>
            <a:r>
              <a:rPr sz="1900" i="1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900" i="1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F</a:t>
            </a:r>
            <a:endParaRPr sz="1900">
              <a:latin typeface="Verdana"/>
              <a:cs typeface="Verdana"/>
            </a:endParaRPr>
          </a:p>
          <a:p>
            <a:pPr marL="798195">
              <a:lnSpc>
                <a:spcPct val="100000"/>
              </a:lnSpc>
              <a:spcBef>
                <a:spcPts val="25"/>
              </a:spcBef>
            </a:pPr>
            <a:r>
              <a:rPr sz="1900" b="1" spc="10" dirty="0">
                <a:solidFill>
                  <a:srgbClr val="292934"/>
                </a:solidFill>
                <a:latin typeface="Verdana"/>
                <a:cs typeface="Verdana"/>
              </a:rPr>
              <a:t>repeat</a:t>
            </a:r>
            <a:endParaRPr sz="1900">
              <a:latin typeface="Verdana"/>
              <a:cs typeface="Verdana"/>
            </a:endParaRPr>
          </a:p>
          <a:p>
            <a:pPr marL="1143635">
              <a:lnSpc>
                <a:spcPct val="100000"/>
              </a:lnSpc>
              <a:spcBef>
                <a:spcPts val="25"/>
              </a:spcBef>
            </a:pPr>
            <a:r>
              <a:rPr sz="1900" b="1" spc="5" dirty="0">
                <a:solidFill>
                  <a:srgbClr val="292934"/>
                </a:solidFill>
                <a:latin typeface="Verdana"/>
                <a:cs typeface="Verdana"/>
              </a:rPr>
              <a:t>for </a:t>
            </a:r>
            <a:r>
              <a:rPr sz="1900" b="1" spc="1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1900" b="1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functional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dependency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f</a:t>
            </a:r>
            <a:r>
              <a:rPr sz="1900" i="1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spc="10" dirty="0">
                <a:solidFill>
                  <a:srgbClr val="292934"/>
                </a:solidFill>
                <a:latin typeface="Verdana"/>
                <a:cs typeface="Verdana"/>
              </a:rPr>
              <a:t>F+</a:t>
            </a:r>
            <a:endParaRPr sz="1900">
              <a:latin typeface="Verdana"/>
              <a:cs typeface="Verdana"/>
            </a:endParaRPr>
          </a:p>
          <a:p>
            <a:pPr marL="1489075">
              <a:lnSpc>
                <a:spcPct val="100000"/>
              </a:lnSpc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apply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reflexivity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augmentation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rules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dirty="0">
                <a:solidFill>
                  <a:srgbClr val="292934"/>
                </a:solidFill>
                <a:latin typeface="Verdana"/>
                <a:cs typeface="Verdana"/>
              </a:rPr>
              <a:t>f</a:t>
            </a:r>
            <a:endParaRPr sz="1900">
              <a:latin typeface="Verdana"/>
              <a:cs typeface="Verdana"/>
            </a:endParaRPr>
          </a:p>
          <a:p>
            <a:pPr marL="1489075">
              <a:lnSpc>
                <a:spcPct val="100000"/>
              </a:lnSpc>
              <a:spcBef>
                <a:spcPts val="120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add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resulting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functional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dependencies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spc="10" dirty="0">
                <a:solidFill>
                  <a:srgbClr val="292934"/>
                </a:solidFill>
                <a:latin typeface="Verdana"/>
                <a:cs typeface="Verdana"/>
              </a:rPr>
              <a:t>F+</a:t>
            </a:r>
            <a:endParaRPr sz="1900">
              <a:latin typeface="Verdana"/>
              <a:cs typeface="Verdana"/>
            </a:endParaRPr>
          </a:p>
          <a:p>
            <a:pPr marL="1143635">
              <a:lnSpc>
                <a:spcPct val="100000"/>
              </a:lnSpc>
              <a:spcBef>
                <a:spcPts val="20"/>
              </a:spcBef>
            </a:pPr>
            <a:r>
              <a:rPr sz="1900" b="1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900" b="1" spc="10" dirty="0">
                <a:solidFill>
                  <a:srgbClr val="292934"/>
                </a:solidFill>
                <a:latin typeface="Verdana"/>
                <a:cs typeface="Verdana"/>
              </a:rPr>
              <a:t> each</a:t>
            </a:r>
            <a:r>
              <a:rPr sz="1900" b="1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pair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functional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dependencies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spc="5" dirty="0">
                <a:solidFill>
                  <a:srgbClr val="292934"/>
                </a:solidFill>
                <a:latin typeface="Verdana"/>
                <a:cs typeface="Verdana"/>
              </a:rPr>
              <a:t>f1</a:t>
            </a:r>
            <a:r>
              <a:rPr sz="1900" i="1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spc="5" dirty="0">
                <a:solidFill>
                  <a:srgbClr val="292934"/>
                </a:solidFill>
                <a:latin typeface="Verdana"/>
                <a:cs typeface="Verdana"/>
              </a:rPr>
              <a:t>f2</a:t>
            </a:r>
            <a:r>
              <a:rPr sz="1900" i="1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spc="10" dirty="0">
                <a:solidFill>
                  <a:srgbClr val="292934"/>
                </a:solidFill>
                <a:latin typeface="Verdana"/>
                <a:cs typeface="Verdana"/>
              </a:rPr>
              <a:t>F+</a:t>
            </a:r>
            <a:endParaRPr sz="1900">
              <a:latin typeface="Verdana"/>
              <a:cs typeface="Verdana"/>
            </a:endParaRPr>
          </a:p>
          <a:p>
            <a:pPr marL="1489075">
              <a:lnSpc>
                <a:spcPct val="100000"/>
              </a:lnSpc>
              <a:spcBef>
                <a:spcPts val="25"/>
              </a:spcBef>
            </a:pPr>
            <a:r>
              <a:rPr sz="1900" b="1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1900" b="1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spc="5" dirty="0">
                <a:solidFill>
                  <a:srgbClr val="292934"/>
                </a:solidFill>
                <a:latin typeface="Verdana"/>
                <a:cs typeface="Verdana"/>
              </a:rPr>
              <a:t>f1</a:t>
            </a:r>
            <a:r>
              <a:rPr sz="1900" i="1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spc="5" dirty="0">
                <a:solidFill>
                  <a:srgbClr val="292934"/>
                </a:solidFill>
                <a:latin typeface="Verdana"/>
                <a:cs typeface="Verdana"/>
              </a:rPr>
              <a:t>f2</a:t>
            </a:r>
            <a:r>
              <a:rPr sz="1900" i="1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combined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using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transitivity</a:t>
            </a:r>
            <a:endParaRPr sz="1900">
              <a:latin typeface="Verdana"/>
              <a:cs typeface="Verdana"/>
            </a:endParaRPr>
          </a:p>
          <a:p>
            <a:pPr marL="1834514">
              <a:lnSpc>
                <a:spcPct val="100000"/>
              </a:lnSpc>
              <a:spcBef>
                <a:spcPts val="25"/>
              </a:spcBef>
            </a:pPr>
            <a:r>
              <a:rPr sz="1900" b="1" spc="10" dirty="0">
                <a:solidFill>
                  <a:srgbClr val="292934"/>
                </a:solidFill>
                <a:latin typeface="Verdana"/>
                <a:cs typeface="Verdana"/>
              </a:rPr>
              <a:t>then</a:t>
            </a:r>
            <a:r>
              <a:rPr sz="1900" b="1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add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resulting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functional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dependency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spc="10" dirty="0">
                <a:solidFill>
                  <a:srgbClr val="292934"/>
                </a:solidFill>
                <a:latin typeface="Verdana"/>
                <a:cs typeface="Verdana"/>
              </a:rPr>
              <a:t>F+</a:t>
            </a:r>
            <a:endParaRPr sz="1900">
              <a:latin typeface="Verdana"/>
              <a:cs typeface="Verdana"/>
            </a:endParaRPr>
          </a:p>
          <a:p>
            <a:pPr marL="798195">
              <a:lnSpc>
                <a:spcPct val="100000"/>
              </a:lnSpc>
              <a:spcBef>
                <a:spcPts val="25"/>
              </a:spcBef>
            </a:pPr>
            <a:r>
              <a:rPr sz="1900" b="1" spc="5" dirty="0">
                <a:solidFill>
                  <a:srgbClr val="292934"/>
                </a:solidFill>
                <a:latin typeface="Verdana"/>
                <a:cs typeface="Verdana"/>
              </a:rPr>
              <a:t>until</a:t>
            </a:r>
            <a:r>
              <a:rPr sz="1900" b="1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i="1" spc="5" dirty="0">
                <a:solidFill>
                  <a:srgbClr val="292934"/>
                </a:solidFill>
                <a:latin typeface="Verdana"/>
                <a:cs typeface="Verdana"/>
              </a:rPr>
              <a:t>F+</a:t>
            </a:r>
            <a:r>
              <a:rPr sz="1900" i="1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does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change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further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2026" y="180660"/>
            <a:ext cx="7887334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E</a:t>
            </a:r>
            <a:r>
              <a:rPr spc="-135" dirty="0"/>
              <a:t>x</a:t>
            </a:r>
            <a:r>
              <a:rPr spc="-130" dirty="0"/>
              <a:t>a</a:t>
            </a:r>
            <a:r>
              <a:rPr spc="-140" dirty="0"/>
              <a:t>m</a:t>
            </a:r>
            <a:r>
              <a:rPr spc="-130" dirty="0"/>
              <a:t>p</a:t>
            </a:r>
            <a:r>
              <a:rPr spc="-125" dirty="0"/>
              <a:t>le</a:t>
            </a:r>
            <a:r>
              <a:rPr dirty="0"/>
              <a:t>:</a:t>
            </a:r>
            <a:r>
              <a:rPr spc="-240" dirty="0"/>
              <a:t> </a:t>
            </a:r>
            <a:r>
              <a:rPr spc="-140" dirty="0"/>
              <a:t>A</a:t>
            </a:r>
            <a:r>
              <a:rPr spc="-120" dirty="0"/>
              <a:t>tt</a:t>
            </a:r>
            <a:r>
              <a:rPr spc="-125" dirty="0"/>
              <a:t>ri</a:t>
            </a:r>
            <a:r>
              <a:rPr spc="-130" dirty="0"/>
              <a:t>bu</a:t>
            </a:r>
            <a:r>
              <a:rPr spc="-120" dirty="0"/>
              <a:t>t</a:t>
            </a:r>
            <a:r>
              <a:rPr dirty="0"/>
              <a:t>e</a:t>
            </a:r>
            <a:r>
              <a:rPr spc="-250" dirty="0"/>
              <a:t> </a:t>
            </a:r>
            <a:r>
              <a:rPr spc="-130" dirty="0"/>
              <a:t>C</a:t>
            </a:r>
            <a:r>
              <a:rPr spc="-125" dirty="0"/>
              <a:t>l</a:t>
            </a:r>
            <a:r>
              <a:rPr spc="-130" dirty="0"/>
              <a:t>o</a:t>
            </a:r>
            <a:r>
              <a:rPr spc="-125" dirty="0"/>
              <a:t>s</a:t>
            </a:r>
            <a:r>
              <a:rPr spc="-130" dirty="0"/>
              <a:t>u</a:t>
            </a:r>
            <a:r>
              <a:rPr spc="-125" dirty="0"/>
              <a:t>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1123" y="1354328"/>
            <a:ext cx="79819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G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v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44056" y="1293368"/>
            <a:ext cx="3245485" cy="7874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R(A,B,C)</a:t>
            </a:r>
            <a:endParaRPr sz="2100">
              <a:latin typeface="Verdana"/>
              <a:cs typeface="Verdana"/>
            </a:endParaRPr>
          </a:p>
          <a:p>
            <a:pPr marL="31115">
              <a:lnSpc>
                <a:spcPct val="100000"/>
              </a:lnSpc>
              <a:spcBef>
                <a:spcPts val="48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{A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4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B,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4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1444" y="2116328"/>
            <a:ext cx="8750935" cy="67500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25"/>
              </a:spcBef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Compute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attribute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closures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attribute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combination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attributes.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Then,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think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about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what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inferred.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32991" y="3294812"/>
            <a:ext cx="139065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77149" y="3294812"/>
            <a:ext cx="13970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19614" y="3294812"/>
            <a:ext cx="14224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90581" y="3294812"/>
            <a:ext cx="27813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AB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22129" y="3294812"/>
            <a:ext cx="28067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AC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71747" y="3294812"/>
            <a:ext cx="28067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BC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57901" y="3294812"/>
            <a:ext cx="419734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AB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6336" y="3636188"/>
            <a:ext cx="139065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26218" y="3621206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70376" y="3621206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14534" y="3621206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53234" y="3621206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86476" y="3621206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36094" y="3621206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91673" y="3621206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6336" y="3977564"/>
            <a:ext cx="13970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70376" y="3962582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14534" y="3962582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36094" y="3962582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76336" y="4318940"/>
            <a:ext cx="14224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14534" y="4303958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6336" y="4660316"/>
            <a:ext cx="27813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26218" y="4645334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70376" y="4645334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714534" y="4645334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353234" y="4645334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986476" y="4645334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636094" y="4645334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291673" y="4645334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76336" y="5001692"/>
            <a:ext cx="28067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AC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426218" y="4986710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070376" y="4986710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714534" y="4986710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353234" y="4986710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986476" y="4986710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636094" y="4986710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291673" y="4986710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76336" y="5343068"/>
            <a:ext cx="28067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BC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070376" y="5328086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714534" y="5328086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636094" y="5328086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76336" y="5684444"/>
            <a:ext cx="419734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426218" y="5669462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070376" y="5669462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714534" y="5669462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353234" y="5669462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986476" y="5669462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636094" y="5669462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291673" y="5669462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graphicFrame>
        <p:nvGraphicFramePr>
          <p:cNvPr id="55" name="object 55"/>
          <p:cNvGraphicFramePr>
            <a:graphicFrameLocks noGrp="1"/>
          </p:cNvGraphicFramePr>
          <p:nvPr/>
        </p:nvGraphicFramePr>
        <p:xfrm>
          <a:off x="472026" y="3242171"/>
          <a:ext cx="5222238" cy="27378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8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4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37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37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57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82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52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B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52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52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600" spc="-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AB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52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600" spc="-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AC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52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600" spc="-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BC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52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600" spc="-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ABC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52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486"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5244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5244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AB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5244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AC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5244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BC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5244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265"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ABC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5244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6" name="object 56"/>
          <p:cNvSpPr txBox="1"/>
          <p:nvPr/>
        </p:nvSpPr>
        <p:spPr>
          <a:xfrm>
            <a:off x="6406551" y="3267380"/>
            <a:ext cx="283464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Summary: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attribute</a:t>
            </a:r>
            <a:r>
              <a:rPr sz="16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closure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184751" y="3636188"/>
            <a:ext cx="1104265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683895" algn="l"/>
              </a:tabLst>
            </a:pP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+</a:t>
            </a: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=	</a:t>
            </a: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184751" y="3977564"/>
            <a:ext cx="96520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683895" algn="l"/>
              </a:tabLst>
            </a:pP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+</a:t>
            </a: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=	</a:t>
            </a: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BC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184751" y="4318940"/>
            <a:ext cx="829944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687070" algn="l"/>
              </a:tabLst>
            </a:pP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C+</a:t>
            </a: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=	C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184751" y="4660316"/>
            <a:ext cx="1242695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822325" algn="l"/>
              </a:tabLst>
            </a:pP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+</a:t>
            </a:r>
            <a:r>
              <a:rPr sz="16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=	</a:t>
            </a: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184751" y="5001692"/>
            <a:ext cx="1246505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826135" algn="l"/>
              </a:tabLst>
            </a:pP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C+</a:t>
            </a:r>
            <a:r>
              <a:rPr sz="16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=	</a:t>
            </a: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184751" y="5343068"/>
            <a:ext cx="110744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826135" algn="l"/>
              </a:tabLst>
            </a:pP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C+</a:t>
            </a:r>
            <a:r>
              <a:rPr sz="16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=	</a:t>
            </a: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BC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184751" y="5684444"/>
            <a:ext cx="1384935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964565" algn="l"/>
              </a:tabLst>
            </a:pP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C+</a:t>
            </a:r>
            <a:r>
              <a:rPr sz="16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=	A</a:t>
            </a: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1600">
              <a:latin typeface="Verdana"/>
              <a:cs typeface="Verdana"/>
            </a:endParaRPr>
          </a:p>
        </p:txBody>
      </p:sp>
      <p:graphicFrame>
        <p:nvGraphicFramePr>
          <p:cNvPr id="64" name="object 64"/>
          <p:cNvGraphicFramePr>
            <a:graphicFrameLocks noGrp="1"/>
          </p:cNvGraphicFramePr>
          <p:nvPr/>
        </p:nvGraphicFramePr>
        <p:xfrm>
          <a:off x="6080442" y="3214034"/>
          <a:ext cx="3478529" cy="27660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8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9515">
                <a:tc>
                  <a:txBody>
                    <a:bodyPr/>
                    <a:lstStyle/>
                    <a:p>
                      <a:pPr marL="32575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600" spc="-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Summary: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attribute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closure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588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264"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434"/>
                        </a:spcBef>
                        <a:tabLst>
                          <a:tab pos="788035" algn="l"/>
                        </a:tabLst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A+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=	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ABC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55244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B+</a:t>
                      </a:r>
                      <a:r>
                        <a:rPr sz="1600" spc="-5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=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C+</a:t>
                      </a:r>
                      <a:r>
                        <a:rPr sz="1600" spc="-6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=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AB+</a:t>
                      </a:r>
                      <a:r>
                        <a:rPr sz="1600" spc="-6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=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AC+</a:t>
                      </a:r>
                      <a:r>
                        <a:rPr sz="1600" spc="-6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=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BC+</a:t>
                      </a:r>
                      <a:r>
                        <a:rPr sz="1600" spc="-6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=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ABC+</a:t>
                      </a:r>
                      <a:r>
                        <a:rPr sz="1600" spc="-6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=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5" name="object 65"/>
          <p:cNvSpPr txBox="1"/>
          <p:nvPr/>
        </p:nvSpPr>
        <p:spPr>
          <a:xfrm>
            <a:off x="7112171" y="1205788"/>
            <a:ext cx="2711450" cy="341630"/>
          </a:xfrm>
          <a:prstGeom prst="rect">
            <a:avLst/>
          </a:prstGeom>
          <a:ln w="10159">
            <a:solidFill>
              <a:srgbClr val="D9D9D9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198120">
              <a:lnSpc>
                <a:spcPct val="100000"/>
              </a:lnSpc>
              <a:spcBef>
                <a:spcPts val="229"/>
              </a:spcBef>
            </a:pPr>
            <a:r>
              <a:rPr sz="1700" spc="-15" dirty="0">
                <a:solidFill>
                  <a:srgbClr val="8A8AA3"/>
                </a:solidFill>
                <a:latin typeface="Verdana"/>
                <a:cs typeface="Verdana"/>
              </a:rPr>
              <a:t>Let’s </a:t>
            </a:r>
            <a:r>
              <a:rPr sz="1700" dirty="0">
                <a:solidFill>
                  <a:srgbClr val="8A8AA3"/>
                </a:solidFill>
                <a:latin typeface="Verdana"/>
                <a:cs typeface="Verdana"/>
              </a:rPr>
              <a:t>do</a:t>
            </a:r>
            <a:r>
              <a:rPr sz="1700" spc="-10" dirty="0">
                <a:solidFill>
                  <a:srgbClr val="8A8AA3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8A8AA3"/>
                </a:solidFill>
                <a:latin typeface="Verdana"/>
                <a:cs typeface="Verdana"/>
              </a:rPr>
              <a:t>this</a:t>
            </a:r>
            <a:r>
              <a:rPr sz="1700" spc="-10" dirty="0">
                <a:solidFill>
                  <a:srgbClr val="8A8AA3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8A8AA3"/>
                </a:solidFill>
                <a:latin typeface="Verdana"/>
                <a:cs typeface="Verdana"/>
              </a:rPr>
              <a:t>together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46771" y="3310052"/>
            <a:ext cx="139065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463551" y="136512"/>
            <a:ext cx="7887334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E</a:t>
            </a:r>
            <a:r>
              <a:rPr spc="-135" dirty="0"/>
              <a:t>x</a:t>
            </a:r>
            <a:r>
              <a:rPr spc="-130" dirty="0"/>
              <a:t>a</a:t>
            </a:r>
            <a:r>
              <a:rPr spc="-140" dirty="0"/>
              <a:t>m</a:t>
            </a:r>
            <a:r>
              <a:rPr spc="-130" dirty="0"/>
              <a:t>p</a:t>
            </a:r>
            <a:r>
              <a:rPr spc="-125" dirty="0"/>
              <a:t>le</a:t>
            </a:r>
            <a:r>
              <a:rPr dirty="0"/>
              <a:t>:</a:t>
            </a:r>
            <a:r>
              <a:rPr spc="-240" dirty="0"/>
              <a:t> </a:t>
            </a:r>
            <a:r>
              <a:rPr spc="-140" dirty="0"/>
              <a:t>A</a:t>
            </a:r>
            <a:r>
              <a:rPr spc="-120" dirty="0"/>
              <a:t>tt</a:t>
            </a:r>
            <a:r>
              <a:rPr spc="-125" dirty="0"/>
              <a:t>ri</a:t>
            </a:r>
            <a:r>
              <a:rPr spc="-130" dirty="0"/>
              <a:t>bu</a:t>
            </a:r>
            <a:r>
              <a:rPr spc="-120" dirty="0"/>
              <a:t>t</a:t>
            </a:r>
            <a:r>
              <a:rPr dirty="0"/>
              <a:t>e</a:t>
            </a:r>
            <a:r>
              <a:rPr spc="-250" dirty="0"/>
              <a:t> </a:t>
            </a:r>
            <a:r>
              <a:rPr spc="-130" dirty="0"/>
              <a:t>C</a:t>
            </a:r>
            <a:r>
              <a:rPr spc="-125" dirty="0"/>
              <a:t>l</a:t>
            </a:r>
            <a:r>
              <a:rPr spc="-130" dirty="0"/>
              <a:t>o</a:t>
            </a:r>
            <a:r>
              <a:rPr spc="-125" dirty="0"/>
              <a:t>s</a:t>
            </a:r>
            <a:r>
              <a:rPr spc="-130" dirty="0"/>
              <a:t>u</a:t>
            </a:r>
            <a:r>
              <a:rPr spc="-125" dirty="0"/>
              <a:t>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90929" y="3310052"/>
            <a:ext cx="13970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33394" y="3310052"/>
            <a:ext cx="14224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04359" y="3310052"/>
            <a:ext cx="27813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AB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35908" y="3310052"/>
            <a:ext cx="28067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AC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85526" y="3310052"/>
            <a:ext cx="28067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BC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71680" y="3310052"/>
            <a:ext cx="419734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AB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0115" y="3651428"/>
            <a:ext cx="139065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39998" y="3636446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84155" y="3636446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28313" y="3636446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67013" y="3636446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00255" y="3636446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49872" y="3636446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05452" y="3636446"/>
            <a:ext cx="152400" cy="270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292934"/>
                </a:solidFill>
                <a:latin typeface="Segoe UI Symbol"/>
                <a:cs typeface="Segoe UI Symbol"/>
              </a:rPr>
              <a:t>✓</a:t>
            </a:r>
            <a:endParaRPr sz="1600">
              <a:latin typeface="Segoe UI Symbol"/>
              <a:cs typeface="Segoe UI 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0115" y="3992804"/>
            <a:ext cx="13970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0115" y="4334180"/>
            <a:ext cx="14224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0115" y="4675556"/>
            <a:ext cx="27813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0115" y="5016932"/>
            <a:ext cx="28067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AC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0115" y="5358308"/>
            <a:ext cx="28067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BC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0115" y="5699684"/>
            <a:ext cx="419734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1600">
              <a:latin typeface="Verdana"/>
              <a:cs typeface="Verdana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472026" y="3242171"/>
          <a:ext cx="5222237" cy="2737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4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37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37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27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13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B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25082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AB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AC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BC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ABC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26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AB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AC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BC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ABC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Segoe UI Symbol"/>
                          <a:cs typeface="Segoe UI Symbol"/>
                        </a:rPr>
                        <a:t>✓</a:t>
                      </a:r>
                      <a:endParaRPr sz="1600">
                        <a:latin typeface="Segoe UI Symbol"/>
                        <a:cs typeface="Segoe UI Symbol"/>
                      </a:endParaRPr>
                    </a:p>
                  </a:txBody>
                  <a:tcPr marL="0" marR="0" marT="400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" name="object 24"/>
          <p:cNvSpPr txBox="1"/>
          <p:nvPr/>
        </p:nvSpPr>
        <p:spPr>
          <a:xfrm>
            <a:off x="6420330" y="3282620"/>
            <a:ext cx="283464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Summary: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attribute</a:t>
            </a:r>
            <a:r>
              <a:rPr sz="16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closure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198529" y="3651428"/>
            <a:ext cx="1104265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683895" algn="l"/>
              </a:tabLst>
            </a:pP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+</a:t>
            </a: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=	</a:t>
            </a: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AB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198529" y="3992804"/>
            <a:ext cx="542925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B+</a:t>
            </a:r>
            <a:r>
              <a:rPr sz="16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198529" y="4334180"/>
            <a:ext cx="54610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C+</a:t>
            </a:r>
            <a:r>
              <a:rPr sz="16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198529" y="4675556"/>
            <a:ext cx="681355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AB+</a:t>
            </a:r>
            <a:r>
              <a:rPr sz="16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198529" y="5016932"/>
            <a:ext cx="685165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AC+</a:t>
            </a:r>
            <a:r>
              <a:rPr sz="16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198529" y="5358308"/>
            <a:ext cx="685165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BC+</a:t>
            </a:r>
            <a:r>
              <a:rPr sz="16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198529" y="5699684"/>
            <a:ext cx="823594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292934"/>
                </a:solidFill>
                <a:latin typeface="Verdana"/>
                <a:cs typeface="Verdana"/>
              </a:rPr>
              <a:t>ABC+</a:t>
            </a:r>
            <a:r>
              <a:rPr sz="16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endParaRPr sz="1600">
              <a:latin typeface="Verdana"/>
              <a:cs typeface="Verdana"/>
            </a:endParaRPr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6080442" y="3214034"/>
          <a:ext cx="3478529" cy="27660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8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9514"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Summary: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attribute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closure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781685" algn="l"/>
                        </a:tabLst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A+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=	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ABC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781685" algn="l"/>
                        </a:tabLst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B+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=	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BC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784860" algn="l"/>
                        </a:tabLst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C+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=	C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920115" algn="l"/>
                        </a:tabLst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AB+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=	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ABC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923925" algn="l"/>
                        </a:tabLst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AC+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=	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ABC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923925" algn="l"/>
                        </a:tabLst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BC+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=	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BC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26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  <a:tabLst>
                          <a:tab pos="1062355" algn="l"/>
                        </a:tabLst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ABC+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=	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ABC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4" name="object 34"/>
          <p:cNvSpPr txBox="1"/>
          <p:nvPr/>
        </p:nvSpPr>
        <p:spPr>
          <a:xfrm>
            <a:off x="611123" y="1354328"/>
            <a:ext cx="79819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G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v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44056" y="1293368"/>
            <a:ext cx="3245485" cy="7874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R(A,B,C)</a:t>
            </a:r>
            <a:endParaRPr sz="2100">
              <a:latin typeface="Verdana"/>
              <a:cs typeface="Verdana"/>
            </a:endParaRPr>
          </a:p>
          <a:p>
            <a:pPr marL="31115">
              <a:lnSpc>
                <a:spcPct val="100000"/>
              </a:lnSpc>
              <a:spcBef>
                <a:spcPts val="48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{A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4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B,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4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31444" y="2116328"/>
            <a:ext cx="8750935" cy="67500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25"/>
              </a:spcBef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Compute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attribute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closures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attribute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combination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attributes.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Then,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think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about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what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inferred.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112171" y="1205788"/>
            <a:ext cx="2711450" cy="341630"/>
          </a:xfrm>
          <a:prstGeom prst="rect">
            <a:avLst/>
          </a:prstGeom>
          <a:ln w="10159">
            <a:solidFill>
              <a:srgbClr val="D9D9D9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198120">
              <a:lnSpc>
                <a:spcPct val="100000"/>
              </a:lnSpc>
              <a:spcBef>
                <a:spcPts val="229"/>
              </a:spcBef>
            </a:pPr>
            <a:r>
              <a:rPr sz="1700" spc="-15" dirty="0">
                <a:solidFill>
                  <a:srgbClr val="8A8AA3"/>
                </a:solidFill>
                <a:latin typeface="Verdana"/>
                <a:cs typeface="Verdana"/>
              </a:rPr>
              <a:t>Let’s </a:t>
            </a:r>
            <a:r>
              <a:rPr sz="1700" dirty="0">
                <a:solidFill>
                  <a:srgbClr val="8A8AA3"/>
                </a:solidFill>
                <a:latin typeface="Verdana"/>
                <a:cs typeface="Verdana"/>
              </a:rPr>
              <a:t>do</a:t>
            </a:r>
            <a:r>
              <a:rPr sz="1700" spc="-10" dirty="0">
                <a:solidFill>
                  <a:srgbClr val="8A8AA3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8A8AA3"/>
                </a:solidFill>
                <a:latin typeface="Verdana"/>
                <a:cs typeface="Verdana"/>
              </a:rPr>
              <a:t>this</a:t>
            </a:r>
            <a:r>
              <a:rPr sz="1700" spc="-10" dirty="0">
                <a:solidFill>
                  <a:srgbClr val="8A8AA3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8A8AA3"/>
                </a:solidFill>
                <a:latin typeface="Verdana"/>
                <a:cs typeface="Verdana"/>
              </a:rPr>
              <a:t>together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224" y="-114151"/>
            <a:ext cx="8675370" cy="1502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E</a:t>
            </a:r>
            <a:r>
              <a:rPr spc="-135" dirty="0"/>
              <a:t>x</a:t>
            </a:r>
            <a:r>
              <a:rPr spc="-130" dirty="0"/>
              <a:t>a</a:t>
            </a:r>
            <a:r>
              <a:rPr spc="-140" dirty="0"/>
              <a:t>m</a:t>
            </a:r>
            <a:r>
              <a:rPr spc="-130" dirty="0"/>
              <a:t>p</a:t>
            </a:r>
            <a:r>
              <a:rPr spc="-125" dirty="0"/>
              <a:t>le1</a:t>
            </a:r>
            <a:r>
              <a:rPr dirty="0"/>
              <a:t>:</a:t>
            </a:r>
            <a:r>
              <a:rPr spc="-240" dirty="0"/>
              <a:t> </a:t>
            </a:r>
            <a:r>
              <a:rPr spc="-130" dirty="0"/>
              <a:t>Co</a:t>
            </a:r>
            <a:r>
              <a:rPr spc="-140" dirty="0"/>
              <a:t>m</a:t>
            </a:r>
            <a:r>
              <a:rPr spc="-130" dirty="0"/>
              <a:t>pu</a:t>
            </a:r>
            <a:r>
              <a:rPr spc="-120" dirty="0"/>
              <a:t>t</a:t>
            </a:r>
            <a:r>
              <a:rPr spc="-125" dirty="0"/>
              <a:t>i</a:t>
            </a:r>
            <a:r>
              <a:rPr spc="-130" dirty="0"/>
              <a:t>n</a:t>
            </a:r>
            <a:r>
              <a:rPr dirty="0"/>
              <a:t>g</a:t>
            </a:r>
            <a:r>
              <a:rPr spc="-254" dirty="0"/>
              <a:t> </a:t>
            </a:r>
            <a:r>
              <a:rPr spc="-130" dirty="0"/>
              <a:t>F</a:t>
            </a:r>
            <a:r>
              <a:rPr dirty="0"/>
              <a:t>+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591" y="1427479"/>
            <a:ext cx="281368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4521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Given	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R(A,B,C,D,E)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3911" y="1747519"/>
            <a:ext cx="6607175" cy="7874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043940">
              <a:lnSpc>
                <a:spcPct val="100000"/>
              </a:lnSpc>
              <a:spcBef>
                <a:spcPts val="58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5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C,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5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B,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5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BD,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5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2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Compute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F+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9224" y="3017520"/>
            <a:ext cx="1810385" cy="553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39420" marR="5080" indent="-426720">
              <a:lnSpc>
                <a:spcPct val="103499"/>
              </a:lnSpc>
              <a:spcBef>
                <a:spcPts val="25"/>
              </a:spcBef>
            </a:pP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(1)</a:t>
            </a:r>
            <a:r>
              <a:rPr sz="17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write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LHS </a:t>
            </a:r>
            <a:r>
              <a:rPr sz="1700" spc="-5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&amp;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remaining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7064" y="3532632"/>
            <a:ext cx="715010" cy="159829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490220" indent="-477520">
              <a:lnSpc>
                <a:spcPct val="100000"/>
              </a:lnSpc>
              <a:spcBef>
                <a:spcPts val="555"/>
              </a:spcBef>
              <a:buFont typeface="Verdana"/>
              <a:buAutoNum type="alphaUcPeriod"/>
              <a:tabLst>
                <a:tab pos="489584" algn="l"/>
                <a:tab pos="490220" algn="l"/>
              </a:tabLst>
            </a:pP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endParaRPr sz="1700">
              <a:latin typeface="Wingdings"/>
              <a:cs typeface="Wingdings"/>
            </a:endParaRPr>
          </a:p>
          <a:p>
            <a:pPr marL="490220" indent="-477520">
              <a:lnSpc>
                <a:spcPct val="100000"/>
              </a:lnSpc>
              <a:spcBef>
                <a:spcPts val="455"/>
              </a:spcBef>
              <a:buFont typeface="Verdana"/>
              <a:buAutoNum type="alphaUcPeriod"/>
              <a:tabLst>
                <a:tab pos="489584" algn="l"/>
                <a:tab pos="490220" algn="l"/>
              </a:tabLst>
            </a:pP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endParaRPr sz="1700">
              <a:latin typeface="Wingdings"/>
              <a:cs typeface="Wingdings"/>
            </a:endParaRPr>
          </a:p>
          <a:p>
            <a:pPr marL="490220" indent="-477520">
              <a:lnSpc>
                <a:spcPct val="100000"/>
              </a:lnSpc>
              <a:spcBef>
                <a:spcPts val="455"/>
              </a:spcBef>
              <a:buFont typeface="Verdana"/>
              <a:buAutoNum type="alphaUcPeriod"/>
              <a:tabLst>
                <a:tab pos="489584" algn="l"/>
                <a:tab pos="490220" algn="l"/>
              </a:tabLst>
            </a:pP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endParaRPr sz="1700">
              <a:latin typeface="Wingdings"/>
              <a:cs typeface="Wingdings"/>
            </a:endParaRPr>
          </a:p>
          <a:p>
            <a:pPr marL="490220" indent="-477520">
              <a:lnSpc>
                <a:spcPct val="100000"/>
              </a:lnSpc>
              <a:spcBef>
                <a:spcPts val="360"/>
              </a:spcBef>
              <a:buFont typeface="Verdana"/>
              <a:buAutoNum type="alphaUcPeriod"/>
              <a:tabLst>
                <a:tab pos="489584" algn="l"/>
                <a:tab pos="490220" algn="l"/>
              </a:tabLst>
            </a:pP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endParaRPr sz="1700">
              <a:latin typeface="Wingdings"/>
              <a:cs typeface="Wingdings"/>
            </a:endParaRPr>
          </a:p>
          <a:p>
            <a:pPr marL="490220" indent="-477520">
              <a:lnSpc>
                <a:spcPct val="100000"/>
              </a:lnSpc>
              <a:spcBef>
                <a:spcPts val="455"/>
              </a:spcBef>
              <a:buFont typeface="Verdana"/>
              <a:buAutoNum type="alphaUcPeriod"/>
              <a:tabLst>
                <a:tab pos="489584" algn="l"/>
                <a:tab pos="490220" algn="l"/>
              </a:tabLst>
            </a:pP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endParaRPr sz="1700">
              <a:latin typeface="Wingdings"/>
              <a:cs typeface="Wingding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73972" y="3017520"/>
            <a:ext cx="19958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(2)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copy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endParaRPr sz="1700">
              <a:latin typeface="Verdana"/>
              <a:cs typeface="Verdan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852762" y="3641708"/>
          <a:ext cx="6673843" cy="18889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3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8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9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32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6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47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512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38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7121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95892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70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C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 marR="16637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R="16637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R="32384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700" spc="5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B</a:t>
                      </a:r>
                      <a:r>
                        <a:rPr sz="17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sz="1700" spc="5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DE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70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B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73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B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16573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09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70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B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70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D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R="16319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r>
                        <a:rPr sz="170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16319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BCD</a:t>
                      </a:r>
                      <a:r>
                        <a:rPr sz="170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416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13335" marB="0"/>
                </a:tc>
                <a:tc gridSpan="2">
                  <a:txBody>
                    <a:bodyPr/>
                    <a:lstStyle/>
                    <a:p>
                      <a:pPr marL="60960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70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333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7955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1270" marB="0"/>
                </a:tc>
                <a:tc gridSpan="2">
                  <a:txBody>
                    <a:bodyPr/>
                    <a:lstStyle/>
                    <a:p>
                      <a:pPr marL="5334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5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sz="1700" spc="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7955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5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33019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33019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84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3495" marB="0"/>
                </a:tc>
                <a:tc gridSpan="2">
                  <a:txBody>
                    <a:bodyPr/>
                    <a:lstStyle/>
                    <a:p>
                      <a:pPr marL="68580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solidFill>
                            <a:srgbClr val="C00000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349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84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349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4823425" y="3008376"/>
            <a:ext cx="21742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(3)</a:t>
            </a:r>
            <a:r>
              <a:rPr sz="17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apply</a:t>
            </a:r>
            <a:r>
              <a:rPr sz="17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reflexivity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78836" y="2752726"/>
            <a:ext cx="9483090" cy="0"/>
          </a:xfrm>
          <a:custGeom>
            <a:avLst/>
            <a:gdLst/>
            <a:ahLst/>
            <a:cxnLst/>
            <a:rect l="l" t="t" r="r" b="b"/>
            <a:pathLst>
              <a:path w="9483090">
                <a:moveTo>
                  <a:pt x="0" y="0"/>
                </a:moveTo>
                <a:lnTo>
                  <a:pt x="9482666" y="1"/>
                </a:lnTo>
              </a:path>
            </a:pathLst>
          </a:custGeom>
          <a:ln w="10159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41962" y="2897224"/>
            <a:ext cx="0" cy="2633980"/>
          </a:xfrm>
          <a:custGeom>
            <a:avLst/>
            <a:gdLst/>
            <a:ahLst/>
            <a:cxnLst/>
            <a:rect l="l" t="t" r="r" b="b"/>
            <a:pathLst>
              <a:path h="2633979">
                <a:moveTo>
                  <a:pt x="0" y="0"/>
                </a:moveTo>
                <a:lnTo>
                  <a:pt x="1" y="2633471"/>
                </a:lnTo>
              </a:path>
            </a:pathLst>
          </a:custGeom>
          <a:ln w="10159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705970" y="2897224"/>
            <a:ext cx="0" cy="2633980"/>
          </a:xfrm>
          <a:custGeom>
            <a:avLst/>
            <a:gdLst/>
            <a:ahLst/>
            <a:cxnLst/>
            <a:rect l="l" t="t" r="r" b="b"/>
            <a:pathLst>
              <a:path h="2633979">
                <a:moveTo>
                  <a:pt x="0" y="0"/>
                </a:moveTo>
                <a:lnTo>
                  <a:pt x="1" y="2633471"/>
                </a:lnTo>
              </a:path>
            </a:pathLst>
          </a:custGeom>
          <a:ln w="10159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260288" y="2897224"/>
            <a:ext cx="0" cy="2633980"/>
          </a:xfrm>
          <a:custGeom>
            <a:avLst/>
            <a:gdLst/>
            <a:ahLst/>
            <a:cxnLst/>
            <a:rect l="l" t="t" r="r" b="b"/>
            <a:pathLst>
              <a:path h="2633979">
                <a:moveTo>
                  <a:pt x="0" y="0"/>
                </a:moveTo>
                <a:lnTo>
                  <a:pt x="1" y="2633471"/>
                </a:lnTo>
              </a:path>
            </a:pathLst>
          </a:custGeom>
          <a:ln w="10159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378825" y="3008376"/>
            <a:ext cx="225806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(4)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apply</a:t>
            </a:r>
            <a:r>
              <a:rPr sz="17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transitivity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3591" y="6051296"/>
            <a:ext cx="275907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F+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4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ABCDE,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65594" y="6062563"/>
            <a:ext cx="826135" cy="32448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1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78547" y="6051296"/>
            <a:ext cx="29527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, C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4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BCDE,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4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DE,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14058" y="6062563"/>
            <a:ext cx="795020" cy="32448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04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93389" y="6051296"/>
            <a:ext cx="1949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78836" y="5650091"/>
            <a:ext cx="9483090" cy="0"/>
          </a:xfrm>
          <a:custGeom>
            <a:avLst/>
            <a:gdLst/>
            <a:ahLst/>
            <a:cxnLst/>
            <a:rect l="l" t="t" r="r" b="b"/>
            <a:pathLst>
              <a:path w="9483090">
                <a:moveTo>
                  <a:pt x="0" y="0"/>
                </a:moveTo>
                <a:lnTo>
                  <a:pt x="9482666" y="1"/>
                </a:lnTo>
              </a:path>
            </a:pathLst>
          </a:custGeom>
          <a:ln w="10159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306064" y="6048247"/>
            <a:ext cx="927100" cy="358140"/>
          </a:xfrm>
          <a:custGeom>
            <a:avLst/>
            <a:gdLst/>
            <a:ahLst/>
            <a:cxnLst/>
            <a:rect l="l" t="t" r="r" b="b"/>
            <a:pathLst>
              <a:path w="927100" h="358139">
                <a:moveTo>
                  <a:pt x="926591" y="0"/>
                </a:moveTo>
                <a:lnTo>
                  <a:pt x="0" y="0"/>
                </a:lnTo>
                <a:lnTo>
                  <a:pt x="0" y="357631"/>
                </a:lnTo>
                <a:lnTo>
                  <a:pt x="926591" y="357631"/>
                </a:lnTo>
                <a:lnTo>
                  <a:pt x="926591" y="0"/>
                </a:lnTo>
                <a:close/>
              </a:path>
            </a:pathLst>
          </a:custGeom>
          <a:solidFill>
            <a:srgbClr val="CCD1D9">
              <a:alpha val="6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42480" y="6048247"/>
            <a:ext cx="927100" cy="358140"/>
          </a:xfrm>
          <a:custGeom>
            <a:avLst/>
            <a:gdLst/>
            <a:ahLst/>
            <a:cxnLst/>
            <a:rect l="l" t="t" r="r" b="b"/>
            <a:pathLst>
              <a:path w="927100" h="358139">
                <a:moveTo>
                  <a:pt x="926592" y="0"/>
                </a:moveTo>
                <a:lnTo>
                  <a:pt x="0" y="0"/>
                </a:lnTo>
                <a:lnTo>
                  <a:pt x="0" y="357631"/>
                </a:lnTo>
                <a:lnTo>
                  <a:pt x="926592" y="357631"/>
                </a:lnTo>
                <a:lnTo>
                  <a:pt x="926592" y="0"/>
                </a:lnTo>
                <a:close/>
              </a:path>
            </a:pathLst>
          </a:custGeom>
          <a:solidFill>
            <a:srgbClr val="CCD1D9">
              <a:alpha val="6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112171" y="1205788"/>
            <a:ext cx="2711450" cy="341630"/>
          </a:xfrm>
          <a:prstGeom prst="rect">
            <a:avLst/>
          </a:prstGeom>
          <a:ln w="10159">
            <a:solidFill>
              <a:srgbClr val="D9D9D9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198120">
              <a:lnSpc>
                <a:spcPct val="100000"/>
              </a:lnSpc>
              <a:spcBef>
                <a:spcPts val="229"/>
              </a:spcBef>
            </a:pPr>
            <a:r>
              <a:rPr sz="1700" spc="-15" dirty="0">
                <a:solidFill>
                  <a:srgbClr val="8A8AA3"/>
                </a:solidFill>
                <a:latin typeface="Verdana"/>
                <a:cs typeface="Verdana"/>
              </a:rPr>
              <a:t>Let’s </a:t>
            </a:r>
            <a:r>
              <a:rPr sz="1700" dirty="0">
                <a:solidFill>
                  <a:srgbClr val="8A8AA3"/>
                </a:solidFill>
                <a:latin typeface="Verdana"/>
                <a:cs typeface="Verdana"/>
              </a:rPr>
              <a:t>do</a:t>
            </a:r>
            <a:r>
              <a:rPr sz="1700" spc="-10" dirty="0">
                <a:solidFill>
                  <a:srgbClr val="8A8AA3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8A8AA3"/>
                </a:solidFill>
                <a:latin typeface="Verdana"/>
                <a:cs typeface="Verdana"/>
              </a:rPr>
              <a:t>this</a:t>
            </a:r>
            <a:r>
              <a:rPr sz="1700" spc="-10" dirty="0">
                <a:solidFill>
                  <a:srgbClr val="8A8AA3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8A8AA3"/>
                </a:solidFill>
                <a:latin typeface="Verdana"/>
                <a:cs typeface="Verdana"/>
              </a:rPr>
              <a:t>together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214" y="-161627"/>
            <a:ext cx="8675370" cy="1502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E</a:t>
            </a:r>
            <a:r>
              <a:rPr spc="-135" dirty="0"/>
              <a:t>x</a:t>
            </a:r>
            <a:r>
              <a:rPr spc="-130" dirty="0"/>
              <a:t>a</a:t>
            </a:r>
            <a:r>
              <a:rPr spc="-140" dirty="0"/>
              <a:t>m</a:t>
            </a:r>
            <a:r>
              <a:rPr spc="-130" dirty="0"/>
              <a:t>p</a:t>
            </a:r>
            <a:r>
              <a:rPr spc="-125" dirty="0"/>
              <a:t>le2</a:t>
            </a:r>
            <a:r>
              <a:rPr dirty="0"/>
              <a:t>:</a:t>
            </a:r>
            <a:r>
              <a:rPr spc="-240" dirty="0"/>
              <a:t> </a:t>
            </a:r>
            <a:r>
              <a:rPr spc="-130" dirty="0"/>
              <a:t>Co</a:t>
            </a:r>
            <a:r>
              <a:rPr spc="-140" dirty="0"/>
              <a:t>m</a:t>
            </a:r>
            <a:r>
              <a:rPr spc="-130" dirty="0"/>
              <a:t>pu</a:t>
            </a:r>
            <a:r>
              <a:rPr spc="-120" dirty="0"/>
              <a:t>t</a:t>
            </a:r>
            <a:r>
              <a:rPr spc="-125" dirty="0"/>
              <a:t>i</a:t>
            </a:r>
            <a:r>
              <a:rPr spc="-130" dirty="0"/>
              <a:t>n</a:t>
            </a:r>
            <a:r>
              <a:rPr dirty="0"/>
              <a:t>g</a:t>
            </a:r>
            <a:r>
              <a:rPr spc="-254" dirty="0"/>
              <a:t> </a:t>
            </a:r>
            <a:r>
              <a:rPr spc="-130" dirty="0"/>
              <a:t>F</a:t>
            </a:r>
            <a:r>
              <a:rPr dirty="0"/>
              <a:t>+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591" y="1427479"/>
            <a:ext cx="79819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G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v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56524" y="1366519"/>
            <a:ext cx="4667250" cy="7874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R(A,B,C,D,E)</a:t>
            </a:r>
            <a:endParaRPr sz="2100">
              <a:latin typeface="Verdana"/>
              <a:cs typeface="Verdana"/>
            </a:endParaRPr>
          </a:p>
          <a:p>
            <a:pPr marL="31115">
              <a:lnSpc>
                <a:spcPct val="100000"/>
              </a:lnSpc>
              <a:spcBef>
                <a:spcPts val="48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FDs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{A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4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BC,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5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D,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CD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5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3911" y="2189479"/>
            <a:ext cx="1720214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Compute</a:t>
            </a:r>
            <a:r>
              <a:rPr sz="21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F+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9224" y="2987040"/>
            <a:ext cx="1810385" cy="54991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39420" marR="5080" indent="-426720">
              <a:lnSpc>
                <a:spcPct val="102400"/>
              </a:lnSpc>
              <a:spcBef>
                <a:spcPts val="50"/>
              </a:spcBef>
            </a:pP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(1)</a:t>
            </a:r>
            <a:r>
              <a:rPr sz="17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write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LHS </a:t>
            </a:r>
            <a:r>
              <a:rPr sz="1700" spc="-5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&amp;</a:t>
            </a:r>
            <a:r>
              <a:rPr sz="17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remaining</a:t>
            </a:r>
            <a:endParaRPr sz="1700">
              <a:latin typeface="Verdana"/>
              <a:cs typeface="Verdan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08014" y="3568556"/>
          <a:ext cx="753109" cy="18384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9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796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5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794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984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984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794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796">
                <a:tc>
                  <a:txBody>
                    <a:bodyPr/>
                    <a:lstStyle/>
                    <a:p>
                      <a:pPr marL="31750">
                        <a:lnSpc>
                          <a:spcPts val="1960"/>
                        </a:lnSpc>
                        <a:spcBef>
                          <a:spcPts val="220"/>
                        </a:spcBef>
                      </a:pPr>
                      <a:r>
                        <a:rPr sz="17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CD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960"/>
                        </a:lnSpc>
                        <a:spcBef>
                          <a:spcPts val="22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1700">
                        <a:latin typeface="Wingdings"/>
                        <a:cs typeface="Wingdings"/>
                      </a:endParaRPr>
                    </a:p>
                  </a:txBody>
                  <a:tcPr marL="0" marR="0" marT="2794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2373972" y="2987040"/>
            <a:ext cx="19958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(2)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copy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70600" y="3925823"/>
            <a:ext cx="1917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D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71812" y="3550920"/>
            <a:ext cx="1320165" cy="191833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490220" indent="-477520">
              <a:lnSpc>
                <a:spcPct val="100000"/>
              </a:lnSpc>
              <a:spcBef>
                <a:spcPts val="555"/>
              </a:spcBef>
              <a:buFont typeface="Verdana"/>
              <a:buAutoNum type="alphaUcPeriod"/>
              <a:tabLst>
                <a:tab pos="489584" algn="l"/>
                <a:tab pos="490220" algn="l"/>
                <a:tab pos="1006475" algn="l"/>
              </a:tabLst>
            </a:pP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5" dirty="0">
                <a:solidFill>
                  <a:srgbClr val="C00000"/>
                </a:solidFill>
                <a:latin typeface="Verdana"/>
                <a:cs typeface="Verdana"/>
              </a:rPr>
              <a:t>BC</a:t>
            </a:r>
            <a:endParaRPr sz="1700">
              <a:latin typeface="Verdana"/>
              <a:cs typeface="Verdana"/>
            </a:endParaRPr>
          </a:p>
          <a:p>
            <a:pPr marL="490220" indent="-477520">
              <a:lnSpc>
                <a:spcPct val="100000"/>
              </a:lnSpc>
              <a:spcBef>
                <a:spcPts val="455"/>
              </a:spcBef>
              <a:buFont typeface="Verdana"/>
              <a:buAutoNum type="alphaUcPeriod"/>
              <a:tabLst>
                <a:tab pos="489584" algn="l"/>
                <a:tab pos="490220" algn="l"/>
              </a:tabLst>
            </a:pP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endParaRPr sz="1700">
              <a:latin typeface="Wingdings"/>
              <a:cs typeface="Wingdings"/>
            </a:endParaRPr>
          </a:p>
          <a:p>
            <a:pPr marL="490220" indent="-477520">
              <a:lnSpc>
                <a:spcPct val="100000"/>
              </a:lnSpc>
              <a:spcBef>
                <a:spcPts val="455"/>
              </a:spcBef>
              <a:buFont typeface="Verdana"/>
              <a:buAutoNum type="alphaUcPeriod"/>
              <a:tabLst>
                <a:tab pos="489584" algn="l"/>
                <a:tab pos="490220" algn="l"/>
              </a:tabLst>
            </a:pP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endParaRPr sz="1700">
              <a:latin typeface="Wingdings"/>
              <a:cs typeface="Wingdings"/>
            </a:endParaRPr>
          </a:p>
          <a:p>
            <a:pPr marL="490220" indent="-477520">
              <a:lnSpc>
                <a:spcPct val="100000"/>
              </a:lnSpc>
              <a:spcBef>
                <a:spcPts val="455"/>
              </a:spcBef>
              <a:buFont typeface="Verdana"/>
              <a:buAutoNum type="alphaUcPeriod"/>
              <a:tabLst>
                <a:tab pos="489584" algn="l"/>
                <a:tab pos="490220" algn="l"/>
              </a:tabLst>
            </a:pP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endParaRPr sz="1700">
              <a:latin typeface="Wingdings"/>
              <a:cs typeface="Wingdings"/>
            </a:endParaRPr>
          </a:p>
          <a:p>
            <a:pPr marL="490220" indent="-477520">
              <a:lnSpc>
                <a:spcPct val="100000"/>
              </a:lnSpc>
              <a:spcBef>
                <a:spcPts val="480"/>
              </a:spcBef>
              <a:buFont typeface="Verdana"/>
              <a:buAutoNum type="alphaUcPeriod"/>
              <a:tabLst>
                <a:tab pos="489584" algn="l"/>
                <a:tab pos="490220" algn="l"/>
              </a:tabLst>
            </a:pP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endParaRPr sz="17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  <a:tabLst>
                <a:tab pos="489584" algn="l"/>
              </a:tabLst>
            </a:pP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CD	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endParaRPr sz="1700">
              <a:latin typeface="Wingdings"/>
              <a:cs typeface="Wingding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23000" y="5184648"/>
            <a:ext cx="1619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88753" y="3538728"/>
            <a:ext cx="1626870" cy="191833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490220" indent="-477520">
              <a:lnSpc>
                <a:spcPct val="100000"/>
              </a:lnSpc>
              <a:spcBef>
                <a:spcPts val="555"/>
              </a:spcBef>
              <a:buFont typeface="Verdana"/>
              <a:buAutoNum type="alphaUcPeriod"/>
              <a:tabLst>
                <a:tab pos="489584" algn="l"/>
                <a:tab pos="490220" algn="l"/>
                <a:tab pos="854075" algn="l"/>
              </a:tabLst>
            </a:pP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5" dirty="0">
                <a:solidFill>
                  <a:srgbClr val="C00000"/>
                </a:solidFill>
                <a:latin typeface="Verdana"/>
                <a:cs typeface="Verdana"/>
              </a:rPr>
              <a:t>A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BC</a:t>
            </a:r>
            <a:endParaRPr sz="1700">
              <a:latin typeface="Verdana"/>
              <a:cs typeface="Verdana"/>
            </a:endParaRPr>
          </a:p>
          <a:p>
            <a:pPr marL="490220" indent="-477520">
              <a:lnSpc>
                <a:spcPct val="100000"/>
              </a:lnSpc>
              <a:spcBef>
                <a:spcPts val="455"/>
              </a:spcBef>
              <a:buFont typeface="Verdana"/>
              <a:buAutoNum type="alphaUcPeriod"/>
              <a:tabLst>
                <a:tab pos="489584" algn="l"/>
                <a:tab pos="490220" algn="l"/>
                <a:tab pos="1006475" algn="l"/>
                <a:tab pos="1307465" algn="l"/>
              </a:tabLst>
            </a:pP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B	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endParaRPr sz="1700">
              <a:latin typeface="Verdana"/>
              <a:cs typeface="Verdana"/>
            </a:endParaRPr>
          </a:p>
          <a:p>
            <a:pPr marL="490220" indent="-477520">
              <a:lnSpc>
                <a:spcPct val="100000"/>
              </a:lnSpc>
              <a:spcBef>
                <a:spcPts val="480"/>
              </a:spcBef>
              <a:buFont typeface="Verdana"/>
              <a:buAutoNum type="alphaUcPeriod"/>
              <a:tabLst>
                <a:tab pos="489584" algn="l"/>
                <a:tab pos="490220" algn="l"/>
                <a:tab pos="1158875" algn="l"/>
              </a:tabLst>
            </a:pP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C</a:t>
            </a:r>
            <a:endParaRPr sz="1700">
              <a:latin typeface="Verdana"/>
              <a:cs typeface="Verdana"/>
            </a:endParaRPr>
          </a:p>
          <a:p>
            <a:pPr marL="490220" indent="-477520">
              <a:lnSpc>
                <a:spcPct val="100000"/>
              </a:lnSpc>
              <a:spcBef>
                <a:spcPts val="455"/>
              </a:spcBef>
              <a:buFont typeface="Verdana"/>
              <a:buAutoNum type="alphaUcPeriod"/>
              <a:tabLst>
                <a:tab pos="489584" algn="l"/>
                <a:tab pos="490220" algn="l"/>
                <a:tab pos="1311275" algn="l"/>
              </a:tabLst>
            </a:pP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D</a:t>
            </a:r>
            <a:endParaRPr sz="1700">
              <a:latin typeface="Verdana"/>
              <a:cs typeface="Verdana"/>
            </a:endParaRPr>
          </a:p>
          <a:p>
            <a:pPr marL="490220" indent="-477520">
              <a:lnSpc>
                <a:spcPct val="100000"/>
              </a:lnSpc>
              <a:spcBef>
                <a:spcPts val="455"/>
              </a:spcBef>
              <a:buFont typeface="Verdana"/>
              <a:buAutoNum type="alphaUcPeriod"/>
              <a:tabLst>
                <a:tab pos="489584" algn="l"/>
                <a:tab pos="490220" algn="l"/>
                <a:tab pos="1463675" algn="l"/>
              </a:tabLst>
            </a:pP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  <a:tabLst>
                <a:tab pos="489584" algn="l"/>
                <a:tab pos="1158875" algn="l"/>
              </a:tabLst>
            </a:pP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	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5" dirty="0">
                <a:solidFill>
                  <a:srgbClr val="C00000"/>
                </a:solidFill>
                <a:latin typeface="Verdana"/>
                <a:cs typeface="Verdana"/>
              </a:rPr>
              <a:t>C</a:t>
            </a:r>
            <a:r>
              <a:rPr sz="1700" spc="10" dirty="0">
                <a:solidFill>
                  <a:srgbClr val="C00000"/>
                </a:solidFill>
                <a:latin typeface="Verdana"/>
                <a:cs typeface="Verdana"/>
              </a:rPr>
              <a:t>D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41962" y="2897224"/>
            <a:ext cx="0" cy="2633980"/>
          </a:xfrm>
          <a:custGeom>
            <a:avLst/>
            <a:gdLst/>
            <a:ahLst/>
            <a:cxnLst/>
            <a:rect l="l" t="t" r="r" b="b"/>
            <a:pathLst>
              <a:path h="2633979">
                <a:moveTo>
                  <a:pt x="0" y="0"/>
                </a:moveTo>
                <a:lnTo>
                  <a:pt x="1" y="2633471"/>
                </a:lnTo>
              </a:path>
            </a:pathLst>
          </a:custGeom>
          <a:ln w="10159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673458" y="2897224"/>
            <a:ext cx="0" cy="2633980"/>
          </a:xfrm>
          <a:custGeom>
            <a:avLst/>
            <a:gdLst/>
            <a:ahLst/>
            <a:cxnLst/>
            <a:rect l="l" t="t" r="r" b="b"/>
            <a:pathLst>
              <a:path h="2633979">
                <a:moveTo>
                  <a:pt x="0" y="0"/>
                </a:moveTo>
                <a:lnTo>
                  <a:pt x="1" y="2633471"/>
                </a:lnTo>
              </a:path>
            </a:pathLst>
          </a:custGeom>
          <a:ln w="10159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273756" y="2747646"/>
            <a:ext cx="9493250" cy="2788285"/>
            <a:chOff x="273756" y="2747646"/>
            <a:chExt cx="9493250" cy="2788285"/>
          </a:xfrm>
        </p:grpSpPr>
        <p:sp>
          <p:nvSpPr>
            <p:cNvPr id="16" name="object 16"/>
            <p:cNvSpPr/>
            <p:nvPr/>
          </p:nvSpPr>
          <p:spPr>
            <a:xfrm>
              <a:off x="278836" y="2752726"/>
              <a:ext cx="9483090" cy="0"/>
            </a:xfrm>
            <a:custGeom>
              <a:avLst/>
              <a:gdLst/>
              <a:ahLst/>
              <a:cxnLst/>
              <a:rect l="l" t="t" r="r" b="b"/>
              <a:pathLst>
                <a:path w="9483090">
                  <a:moveTo>
                    <a:pt x="0" y="0"/>
                  </a:moveTo>
                  <a:lnTo>
                    <a:pt x="9482666" y="1"/>
                  </a:lnTo>
                </a:path>
              </a:pathLst>
            </a:custGeom>
            <a:ln w="10159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60288" y="2897224"/>
              <a:ext cx="0" cy="2633980"/>
            </a:xfrm>
            <a:custGeom>
              <a:avLst/>
              <a:gdLst/>
              <a:ahLst/>
              <a:cxnLst/>
              <a:rect l="l" t="t" r="r" b="b"/>
              <a:pathLst>
                <a:path h="2633979">
                  <a:moveTo>
                    <a:pt x="0" y="0"/>
                  </a:moveTo>
                  <a:lnTo>
                    <a:pt x="1" y="2633471"/>
                  </a:lnTo>
                </a:path>
              </a:pathLst>
            </a:custGeom>
            <a:ln w="10159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876665" y="3538728"/>
            <a:ext cx="1626870" cy="191833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490220" indent="-477520">
              <a:lnSpc>
                <a:spcPct val="100000"/>
              </a:lnSpc>
              <a:spcBef>
                <a:spcPts val="555"/>
              </a:spcBef>
              <a:buFont typeface="Verdana"/>
              <a:buAutoNum type="alphaUcPeriod"/>
              <a:tabLst>
                <a:tab pos="489584" algn="l"/>
                <a:tab pos="490220" algn="l"/>
                <a:tab pos="854075" algn="l"/>
              </a:tabLst>
            </a:pP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D</a:t>
            </a:r>
            <a:endParaRPr sz="1700">
              <a:latin typeface="Verdana"/>
              <a:cs typeface="Verdana"/>
            </a:endParaRPr>
          </a:p>
          <a:p>
            <a:pPr marL="490220" indent="-477520">
              <a:lnSpc>
                <a:spcPct val="100000"/>
              </a:lnSpc>
              <a:spcBef>
                <a:spcPts val="455"/>
              </a:spcBef>
              <a:buFont typeface="Verdana"/>
              <a:buAutoNum type="alphaUcPeriod"/>
              <a:tabLst>
                <a:tab pos="489584" algn="l"/>
                <a:tab pos="490220" algn="l"/>
                <a:tab pos="1006475" algn="l"/>
                <a:tab pos="1308100" algn="l"/>
              </a:tabLst>
            </a:pP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	D</a:t>
            </a:r>
            <a:endParaRPr sz="1700">
              <a:latin typeface="Verdana"/>
              <a:cs typeface="Verdana"/>
            </a:endParaRPr>
          </a:p>
          <a:p>
            <a:pPr marL="490220" indent="-477520">
              <a:lnSpc>
                <a:spcPct val="100000"/>
              </a:lnSpc>
              <a:spcBef>
                <a:spcPts val="480"/>
              </a:spcBef>
              <a:buFont typeface="Verdana"/>
              <a:buAutoNum type="alphaUcPeriod"/>
              <a:tabLst>
                <a:tab pos="489584" algn="l"/>
                <a:tab pos="490220" algn="l"/>
                <a:tab pos="1158875" algn="l"/>
              </a:tabLst>
            </a:pP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1700">
              <a:latin typeface="Verdana"/>
              <a:cs typeface="Verdana"/>
            </a:endParaRPr>
          </a:p>
          <a:p>
            <a:pPr marL="490220" indent="-477520">
              <a:lnSpc>
                <a:spcPct val="100000"/>
              </a:lnSpc>
              <a:spcBef>
                <a:spcPts val="455"/>
              </a:spcBef>
              <a:buFont typeface="Verdana"/>
              <a:buAutoNum type="alphaUcPeriod"/>
              <a:tabLst>
                <a:tab pos="489584" algn="l"/>
                <a:tab pos="490220" algn="l"/>
                <a:tab pos="1311275" algn="l"/>
              </a:tabLst>
            </a:pP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endParaRPr sz="1700">
              <a:latin typeface="Verdana"/>
              <a:cs typeface="Verdana"/>
            </a:endParaRPr>
          </a:p>
          <a:p>
            <a:pPr marL="490220" indent="-477520">
              <a:lnSpc>
                <a:spcPct val="100000"/>
              </a:lnSpc>
              <a:spcBef>
                <a:spcPts val="455"/>
              </a:spcBef>
              <a:buFont typeface="Verdana"/>
              <a:buAutoNum type="alphaUcPeriod"/>
              <a:tabLst>
                <a:tab pos="489584" algn="l"/>
                <a:tab pos="490220" algn="l"/>
                <a:tab pos="1463675" algn="l"/>
              </a:tabLst>
            </a:pP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  <a:tabLst>
                <a:tab pos="489584" algn="l"/>
                <a:tab pos="1158875" algn="l"/>
              </a:tabLst>
            </a:pP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	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197855" y="3778323"/>
            <a:ext cx="2644140" cy="476250"/>
            <a:chOff x="5197855" y="3778323"/>
            <a:chExt cx="2644140" cy="476250"/>
          </a:xfrm>
        </p:grpSpPr>
        <p:sp>
          <p:nvSpPr>
            <p:cNvPr id="20" name="object 20"/>
            <p:cNvSpPr/>
            <p:nvPr/>
          </p:nvSpPr>
          <p:spPr>
            <a:xfrm>
              <a:off x="5208015" y="3902455"/>
              <a:ext cx="1853564" cy="341630"/>
            </a:xfrm>
            <a:custGeom>
              <a:avLst/>
              <a:gdLst/>
              <a:ahLst/>
              <a:cxnLst/>
              <a:rect l="l" t="t" r="r" b="b"/>
              <a:pathLst>
                <a:path w="1853565" h="341629">
                  <a:moveTo>
                    <a:pt x="0" y="56896"/>
                  </a:moveTo>
                  <a:lnTo>
                    <a:pt x="4471" y="34749"/>
                  </a:lnTo>
                  <a:lnTo>
                    <a:pt x="16664" y="16664"/>
                  </a:lnTo>
                  <a:lnTo>
                    <a:pt x="34749" y="4471"/>
                  </a:lnTo>
                  <a:lnTo>
                    <a:pt x="56896" y="0"/>
                  </a:lnTo>
                  <a:lnTo>
                    <a:pt x="1796286" y="0"/>
                  </a:lnTo>
                  <a:lnTo>
                    <a:pt x="1818434" y="4471"/>
                  </a:lnTo>
                  <a:lnTo>
                    <a:pt x="1836519" y="16664"/>
                  </a:lnTo>
                  <a:lnTo>
                    <a:pt x="1848712" y="34749"/>
                  </a:lnTo>
                  <a:lnTo>
                    <a:pt x="1853183" y="56896"/>
                  </a:lnTo>
                  <a:lnTo>
                    <a:pt x="1853183" y="284479"/>
                  </a:lnTo>
                  <a:lnTo>
                    <a:pt x="1848712" y="306626"/>
                  </a:lnTo>
                  <a:lnTo>
                    <a:pt x="1836519" y="324711"/>
                  </a:lnTo>
                  <a:lnTo>
                    <a:pt x="1818434" y="336904"/>
                  </a:lnTo>
                  <a:lnTo>
                    <a:pt x="1796286" y="341375"/>
                  </a:lnTo>
                  <a:lnTo>
                    <a:pt x="56896" y="341375"/>
                  </a:lnTo>
                  <a:lnTo>
                    <a:pt x="34749" y="336904"/>
                  </a:lnTo>
                  <a:lnTo>
                    <a:pt x="16664" y="324711"/>
                  </a:lnTo>
                  <a:lnTo>
                    <a:pt x="4471" y="306626"/>
                  </a:lnTo>
                  <a:lnTo>
                    <a:pt x="0" y="284479"/>
                  </a:lnTo>
                  <a:lnTo>
                    <a:pt x="0" y="56896"/>
                  </a:lnTo>
                  <a:close/>
                </a:path>
              </a:pathLst>
            </a:custGeom>
            <a:ln w="2031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59459" y="3778323"/>
              <a:ext cx="782320" cy="299720"/>
            </a:xfrm>
            <a:custGeom>
              <a:avLst/>
              <a:gdLst/>
              <a:ahLst/>
              <a:cxnLst/>
              <a:rect l="l" t="t" r="r" b="b"/>
              <a:pathLst>
                <a:path w="782320" h="299720">
                  <a:moveTo>
                    <a:pt x="703924" y="33407"/>
                  </a:moveTo>
                  <a:lnTo>
                    <a:pt x="0" y="290047"/>
                  </a:lnTo>
                  <a:lnTo>
                    <a:pt x="3479" y="299592"/>
                  </a:lnTo>
                  <a:lnTo>
                    <a:pt x="707404" y="42954"/>
                  </a:lnTo>
                  <a:lnTo>
                    <a:pt x="703924" y="33407"/>
                  </a:lnTo>
                  <a:close/>
                </a:path>
                <a:path w="782320" h="299720">
                  <a:moveTo>
                    <a:pt x="764599" y="28768"/>
                  </a:moveTo>
                  <a:lnTo>
                    <a:pt x="716650" y="28768"/>
                  </a:lnTo>
                  <a:lnTo>
                    <a:pt x="720131" y="38314"/>
                  </a:lnTo>
                  <a:lnTo>
                    <a:pt x="707404" y="42954"/>
                  </a:lnTo>
                  <a:lnTo>
                    <a:pt x="719584" y="76362"/>
                  </a:lnTo>
                  <a:lnTo>
                    <a:pt x="764599" y="28768"/>
                  </a:lnTo>
                  <a:close/>
                </a:path>
                <a:path w="782320" h="299720">
                  <a:moveTo>
                    <a:pt x="716650" y="28768"/>
                  </a:moveTo>
                  <a:lnTo>
                    <a:pt x="703924" y="33407"/>
                  </a:lnTo>
                  <a:lnTo>
                    <a:pt x="707404" y="42954"/>
                  </a:lnTo>
                  <a:lnTo>
                    <a:pt x="720131" y="38314"/>
                  </a:lnTo>
                  <a:lnTo>
                    <a:pt x="716650" y="28768"/>
                  </a:lnTo>
                  <a:close/>
                </a:path>
                <a:path w="782320" h="299720">
                  <a:moveTo>
                    <a:pt x="691744" y="0"/>
                  </a:moveTo>
                  <a:lnTo>
                    <a:pt x="703924" y="33407"/>
                  </a:lnTo>
                  <a:lnTo>
                    <a:pt x="716650" y="28768"/>
                  </a:lnTo>
                  <a:lnTo>
                    <a:pt x="764599" y="28768"/>
                  </a:lnTo>
                  <a:lnTo>
                    <a:pt x="782027" y="10340"/>
                  </a:lnTo>
                  <a:lnTo>
                    <a:pt x="69174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790913" y="2369311"/>
            <a:ext cx="4846320" cy="8902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96975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Decompose: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5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spc="13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A,</a:t>
            </a:r>
            <a:r>
              <a:rPr sz="15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spc="13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B,</a:t>
            </a:r>
            <a:r>
              <a:rPr sz="15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5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spc="13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tabLst>
                <a:tab pos="2600325" algn="l"/>
              </a:tabLst>
            </a:pP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(3)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apply</a:t>
            </a: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reflexivity	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(4)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apply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transitivity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815584" y="2299207"/>
            <a:ext cx="3548379" cy="1278255"/>
            <a:chOff x="5815584" y="2299207"/>
            <a:chExt cx="3548379" cy="1278255"/>
          </a:xfrm>
        </p:grpSpPr>
        <p:sp>
          <p:nvSpPr>
            <p:cNvPr id="24" name="object 24"/>
            <p:cNvSpPr/>
            <p:nvPr/>
          </p:nvSpPr>
          <p:spPr>
            <a:xfrm>
              <a:off x="5825744" y="2309367"/>
              <a:ext cx="3528060" cy="341630"/>
            </a:xfrm>
            <a:custGeom>
              <a:avLst/>
              <a:gdLst/>
              <a:ahLst/>
              <a:cxnLst/>
              <a:rect l="l" t="t" r="r" b="b"/>
              <a:pathLst>
                <a:path w="3528059" h="341630">
                  <a:moveTo>
                    <a:pt x="0" y="56898"/>
                  </a:moveTo>
                  <a:lnTo>
                    <a:pt x="4471" y="34751"/>
                  </a:lnTo>
                  <a:lnTo>
                    <a:pt x="16665" y="16665"/>
                  </a:lnTo>
                  <a:lnTo>
                    <a:pt x="34750" y="4471"/>
                  </a:lnTo>
                  <a:lnTo>
                    <a:pt x="56898" y="0"/>
                  </a:lnTo>
                  <a:lnTo>
                    <a:pt x="3470653" y="0"/>
                  </a:lnTo>
                  <a:lnTo>
                    <a:pt x="3492801" y="4471"/>
                  </a:lnTo>
                  <a:lnTo>
                    <a:pt x="3510886" y="16665"/>
                  </a:lnTo>
                  <a:lnTo>
                    <a:pt x="3523080" y="34751"/>
                  </a:lnTo>
                  <a:lnTo>
                    <a:pt x="3527551" y="56898"/>
                  </a:lnTo>
                  <a:lnTo>
                    <a:pt x="3527551" y="284477"/>
                  </a:lnTo>
                  <a:lnTo>
                    <a:pt x="3523080" y="306624"/>
                  </a:lnTo>
                  <a:lnTo>
                    <a:pt x="3510886" y="324710"/>
                  </a:lnTo>
                  <a:lnTo>
                    <a:pt x="3492801" y="336904"/>
                  </a:lnTo>
                  <a:lnTo>
                    <a:pt x="3470653" y="341375"/>
                  </a:lnTo>
                  <a:lnTo>
                    <a:pt x="56898" y="341375"/>
                  </a:lnTo>
                  <a:lnTo>
                    <a:pt x="34750" y="336904"/>
                  </a:lnTo>
                  <a:lnTo>
                    <a:pt x="16665" y="324710"/>
                  </a:lnTo>
                  <a:lnTo>
                    <a:pt x="4471" y="306624"/>
                  </a:lnTo>
                  <a:lnTo>
                    <a:pt x="0" y="284477"/>
                  </a:lnTo>
                  <a:lnTo>
                    <a:pt x="0" y="56898"/>
                  </a:lnTo>
                  <a:close/>
                </a:path>
              </a:pathLst>
            </a:custGeom>
            <a:ln w="2031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378448" y="2646709"/>
              <a:ext cx="1214755" cy="930910"/>
            </a:xfrm>
            <a:custGeom>
              <a:avLst/>
              <a:gdLst/>
              <a:ahLst/>
              <a:cxnLst/>
              <a:rect l="l" t="t" r="r" b="b"/>
              <a:pathLst>
                <a:path w="1214754" h="930910">
                  <a:moveTo>
                    <a:pt x="39857" y="848960"/>
                  </a:moveTo>
                  <a:lnTo>
                    <a:pt x="0" y="930626"/>
                  </a:lnTo>
                  <a:lnTo>
                    <a:pt x="89247" y="913513"/>
                  </a:lnTo>
                  <a:lnTo>
                    <a:pt x="73937" y="893503"/>
                  </a:lnTo>
                  <a:lnTo>
                    <a:pt x="56882" y="893503"/>
                  </a:lnTo>
                  <a:lnTo>
                    <a:pt x="50708" y="885433"/>
                  </a:lnTo>
                  <a:lnTo>
                    <a:pt x="61466" y="877203"/>
                  </a:lnTo>
                  <a:lnTo>
                    <a:pt x="39857" y="848960"/>
                  </a:lnTo>
                  <a:close/>
                </a:path>
                <a:path w="1214754" h="930910">
                  <a:moveTo>
                    <a:pt x="61466" y="877203"/>
                  </a:moveTo>
                  <a:lnTo>
                    <a:pt x="50708" y="885433"/>
                  </a:lnTo>
                  <a:lnTo>
                    <a:pt x="56882" y="893503"/>
                  </a:lnTo>
                  <a:lnTo>
                    <a:pt x="67640" y="885272"/>
                  </a:lnTo>
                  <a:lnTo>
                    <a:pt x="61466" y="877203"/>
                  </a:lnTo>
                  <a:close/>
                </a:path>
                <a:path w="1214754" h="930910">
                  <a:moveTo>
                    <a:pt x="67640" y="885272"/>
                  </a:moveTo>
                  <a:lnTo>
                    <a:pt x="56882" y="893503"/>
                  </a:lnTo>
                  <a:lnTo>
                    <a:pt x="73937" y="893503"/>
                  </a:lnTo>
                  <a:lnTo>
                    <a:pt x="67640" y="885272"/>
                  </a:lnTo>
                  <a:close/>
                </a:path>
                <a:path w="1214754" h="930910">
                  <a:moveTo>
                    <a:pt x="1207984" y="0"/>
                  </a:moveTo>
                  <a:lnTo>
                    <a:pt x="61466" y="877203"/>
                  </a:lnTo>
                  <a:lnTo>
                    <a:pt x="67640" y="885272"/>
                  </a:lnTo>
                  <a:lnTo>
                    <a:pt x="1214158" y="8069"/>
                  </a:lnTo>
                  <a:lnTo>
                    <a:pt x="120798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112171" y="1205788"/>
            <a:ext cx="2711450" cy="341630"/>
          </a:xfrm>
          <a:prstGeom prst="rect">
            <a:avLst/>
          </a:prstGeom>
          <a:ln w="10159">
            <a:solidFill>
              <a:srgbClr val="D9D9D9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198120">
              <a:lnSpc>
                <a:spcPct val="100000"/>
              </a:lnSpc>
              <a:spcBef>
                <a:spcPts val="229"/>
              </a:spcBef>
            </a:pPr>
            <a:r>
              <a:rPr sz="1700" spc="-15" dirty="0">
                <a:solidFill>
                  <a:srgbClr val="8A8AA3"/>
                </a:solidFill>
                <a:latin typeface="Verdana"/>
                <a:cs typeface="Verdana"/>
              </a:rPr>
              <a:t>Let’s </a:t>
            </a:r>
            <a:r>
              <a:rPr sz="1700" dirty="0">
                <a:solidFill>
                  <a:srgbClr val="8A8AA3"/>
                </a:solidFill>
                <a:latin typeface="Verdana"/>
                <a:cs typeface="Verdana"/>
              </a:rPr>
              <a:t>do</a:t>
            </a:r>
            <a:r>
              <a:rPr sz="1700" spc="-10" dirty="0">
                <a:solidFill>
                  <a:srgbClr val="8A8AA3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8A8AA3"/>
                </a:solidFill>
                <a:latin typeface="Verdana"/>
                <a:cs typeface="Verdana"/>
              </a:rPr>
              <a:t>this</a:t>
            </a:r>
            <a:r>
              <a:rPr sz="1700" spc="-10" dirty="0">
                <a:solidFill>
                  <a:srgbClr val="8A8AA3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8A8AA3"/>
                </a:solidFill>
                <a:latin typeface="Verdana"/>
                <a:cs typeface="Verdana"/>
              </a:rPr>
              <a:t>together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2073" y="306831"/>
            <a:ext cx="906589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>
                <a:solidFill>
                  <a:srgbClr val="011EAA"/>
                </a:solidFill>
              </a:rPr>
              <a:t>E</a:t>
            </a:r>
            <a:r>
              <a:rPr spc="-135" dirty="0">
                <a:solidFill>
                  <a:srgbClr val="011EAA"/>
                </a:solidFill>
              </a:rPr>
              <a:t>x</a:t>
            </a:r>
            <a:r>
              <a:rPr spc="-130" dirty="0">
                <a:solidFill>
                  <a:srgbClr val="011EAA"/>
                </a:solidFill>
              </a:rPr>
              <a:t>a</a:t>
            </a:r>
            <a:r>
              <a:rPr spc="-140" dirty="0">
                <a:solidFill>
                  <a:srgbClr val="011EAA"/>
                </a:solidFill>
              </a:rPr>
              <a:t>m</a:t>
            </a:r>
            <a:r>
              <a:rPr spc="-130" dirty="0">
                <a:solidFill>
                  <a:srgbClr val="011EAA"/>
                </a:solidFill>
              </a:rPr>
              <a:t>p</a:t>
            </a:r>
            <a:r>
              <a:rPr spc="-125" dirty="0">
                <a:solidFill>
                  <a:srgbClr val="011EAA"/>
                </a:solidFill>
              </a:rPr>
              <a:t>le</a:t>
            </a:r>
            <a:r>
              <a:rPr spc="-120" dirty="0">
                <a:solidFill>
                  <a:srgbClr val="011EAA"/>
                </a:solidFill>
              </a:rPr>
              <a:t>2</a:t>
            </a:r>
            <a:r>
              <a:rPr dirty="0"/>
              <a:t>:</a:t>
            </a:r>
            <a:r>
              <a:rPr spc="-245" dirty="0"/>
              <a:t> </a:t>
            </a:r>
            <a:r>
              <a:rPr spc="-130" dirty="0"/>
              <a:t>Co</a:t>
            </a:r>
            <a:r>
              <a:rPr spc="-140" dirty="0"/>
              <a:t>m</a:t>
            </a:r>
            <a:r>
              <a:rPr spc="-125" dirty="0"/>
              <a:t>p</a:t>
            </a:r>
            <a:r>
              <a:rPr spc="-130" dirty="0"/>
              <a:t>u</a:t>
            </a:r>
            <a:r>
              <a:rPr spc="-120" dirty="0"/>
              <a:t>t</a:t>
            </a:r>
            <a:r>
              <a:rPr spc="-125" dirty="0"/>
              <a:t>i</a:t>
            </a:r>
            <a:r>
              <a:rPr spc="-130" dirty="0"/>
              <a:t>n</a:t>
            </a:r>
            <a:r>
              <a:rPr dirty="0"/>
              <a:t>g</a:t>
            </a:r>
            <a:r>
              <a:rPr spc="-250" dirty="0"/>
              <a:t> </a:t>
            </a:r>
            <a:r>
              <a:rPr spc="-130" dirty="0"/>
              <a:t>F</a:t>
            </a:r>
            <a:r>
              <a:rPr dirty="0"/>
              <a:t>+</a:t>
            </a:r>
            <a:r>
              <a:rPr spc="-430" dirty="0"/>
              <a:t> </a:t>
            </a:r>
            <a:r>
              <a:rPr sz="3600" b="0" spc="-90" dirty="0">
                <a:latin typeface="Verdana"/>
                <a:cs typeface="Verdana"/>
              </a:rPr>
              <a:t>(c</a:t>
            </a:r>
            <a:r>
              <a:rPr sz="3600" b="0" spc="-95" dirty="0">
                <a:latin typeface="Verdana"/>
                <a:cs typeface="Verdana"/>
              </a:rPr>
              <a:t>on</a:t>
            </a:r>
            <a:r>
              <a:rPr sz="3600" b="0" spc="-100" dirty="0">
                <a:latin typeface="Verdana"/>
                <a:cs typeface="Verdana"/>
              </a:rPr>
              <a:t>t.</a:t>
            </a:r>
            <a:r>
              <a:rPr sz="3600" b="0" dirty="0">
                <a:latin typeface="Verdana"/>
                <a:cs typeface="Verdana"/>
              </a:rPr>
              <a:t>)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485290" y="2653384"/>
            <a:ext cx="0" cy="2633980"/>
          </a:xfrm>
          <a:custGeom>
            <a:avLst/>
            <a:gdLst/>
            <a:ahLst/>
            <a:cxnLst/>
            <a:rect l="l" t="t" r="r" b="b"/>
            <a:pathLst>
              <a:path h="2633979">
                <a:moveTo>
                  <a:pt x="0" y="0"/>
                </a:moveTo>
                <a:lnTo>
                  <a:pt x="1" y="2633471"/>
                </a:lnTo>
              </a:path>
            </a:pathLst>
          </a:custGeom>
          <a:ln w="10159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23591" y="6118352"/>
            <a:ext cx="398208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F+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4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ABCDE,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4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BD,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10683" y="6118352"/>
            <a:ext cx="126364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88647" y="6129619"/>
            <a:ext cx="835025" cy="32448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1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69165" y="6118352"/>
            <a:ext cx="1187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3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16135" y="6129619"/>
            <a:ext cx="866140" cy="32448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1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-3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75079" y="6129619"/>
            <a:ext cx="897255" cy="32448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1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E,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52600" y="6118352"/>
            <a:ext cx="171196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CD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2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CDE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78836" y="5747627"/>
            <a:ext cx="9483090" cy="0"/>
          </a:xfrm>
          <a:custGeom>
            <a:avLst/>
            <a:gdLst/>
            <a:ahLst/>
            <a:cxnLst/>
            <a:rect l="l" t="t" r="r" b="b"/>
            <a:pathLst>
              <a:path w="9483090">
                <a:moveTo>
                  <a:pt x="0" y="0"/>
                </a:moveTo>
                <a:lnTo>
                  <a:pt x="9482666" y="1"/>
                </a:lnTo>
              </a:path>
            </a:pathLst>
          </a:custGeom>
          <a:ln w="10159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41520" y="6113271"/>
            <a:ext cx="927100" cy="358140"/>
          </a:xfrm>
          <a:custGeom>
            <a:avLst/>
            <a:gdLst/>
            <a:ahLst/>
            <a:cxnLst/>
            <a:rect l="l" t="t" r="r" b="b"/>
            <a:pathLst>
              <a:path w="927100" h="358139">
                <a:moveTo>
                  <a:pt x="926591" y="0"/>
                </a:moveTo>
                <a:lnTo>
                  <a:pt x="0" y="0"/>
                </a:lnTo>
                <a:lnTo>
                  <a:pt x="0" y="357631"/>
                </a:lnTo>
                <a:lnTo>
                  <a:pt x="926591" y="357631"/>
                </a:lnTo>
                <a:lnTo>
                  <a:pt x="926591" y="0"/>
                </a:lnTo>
                <a:close/>
              </a:path>
            </a:pathLst>
          </a:custGeom>
          <a:solidFill>
            <a:srgbClr val="CCD1D9">
              <a:alpha val="6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349626" y="3230879"/>
            <a:ext cx="1626870" cy="191833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490220" indent="-477520">
              <a:lnSpc>
                <a:spcPct val="100000"/>
              </a:lnSpc>
              <a:spcBef>
                <a:spcPts val="555"/>
              </a:spcBef>
              <a:buFont typeface="Verdana"/>
              <a:buAutoNum type="alphaUcPeriod"/>
              <a:tabLst>
                <a:tab pos="489584" algn="l"/>
                <a:tab pos="490220" algn="l"/>
                <a:tab pos="854075" algn="l"/>
              </a:tabLst>
            </a:pP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ABCD</a:t>
            </a:r>
            <a:endParaRPr sz="1700">
              <a:latin typeface="Verdana"/>
              <a:cs typeface="Verdana"/>
            </a:endParaRPr>
          </a:p>
          <a:p>
            <a:pPr marL="490220" indent="-477520">
              <a:lnSpc>
                <a:spcPct val="100000"/>
              </a:lnSpc>
              <a:spcBef>
                <a:spcPts val="455"/>
              </a:spcBef>
              <a:buFont typeface="Verdana"/>
              <a:buAutoNum type="alphaUcPeriod"/>
              <a:tabLst>
                <a:tab pos="489584" algn="l"/>
                <a:tab pos="490220" algn="l"/>
                <a:tab pos="1006475" algn="l"/>
                <a:tab pos="1308100" algn="l"/>
              </a:tabLst>
            </a:pP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	D</a:t>
            </a:r>
            <a:endParaRPr sz="1700">
              <a:latin typeface="Verdana"/>
              <a:cs typeface="Verdana"/>
            </a:endParaRPr>
          </a:p>
          <a:p>
            <a:pPr marL="490220" indent="-477520">
              <a:lnSpc>
                <a:spcPct val="100000"/>
              </a:lnSpc>
              <a:spcBef>
                <a:spcPts val="455"/>
              </a:spcBef>
              <a:buFont typeface="Verdana"/>
              <a:buAutoNum type="alphaUcPeriod"/>
              <a:tabLst>
                <a:tab pos="489584" algn="l"/>
                <a:tab pos="490220" algn="l"/>
                <a:tab pos="1158875" algn="l"/>
              </a:tabLst>
            </a:pP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1700">
              <a:latin typeface="Verdana"/>
              <a:cs typeface="Verdana"/>
            </a:endParaRPr>
          </a:p>
          <a:p>
            <a:pPr marL="490220" indent="-477520">
              <a:lnSpc>
                <a:spcPct val="100000"/>
              </a:lnSpc>
              <a:spcBef>
                <a:spcPts val="459"/>
              </a:spcBef>
              <a:buFont typeface="Verdana"/>
              <a:buAutoNum type="alphaUcPeriod"/>
              <a:tabLst>
                <a:tab pos="489584" algn="l"/>
                <a:tab pos="490220" algn="l"/>
                <a:tab pos="1311275" algn="l"/>
              </a:tabLst>
            </a:pP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endParaRPr sz="1700">
              <a:latin typeface="Verdana"/>
              <a:cs typeface="Verdana"/>
            </a:endParaRPr>
          </a:p>
          <a:p>
            <a:pPr marL="490220" indent="-477520">
              <a:lnSpc>
                <a:spcPct val="100000"/>
              </a:lnSpc>
              <a:spcBef>
                <a:spcPts val="480"/>
              </a:spcBef>
              <a:buFont typeface="Verdana"/>
              <a:buAutoNum type="alphaUcPeriod"/>
              <a:tabLst>
                <a:tab pos="489584" algn="l"/>
                <a:tab pos="490220" algn="l"/>
                <a:tab pos="1463675" algn="l"/>
              </a:tabLst>
            </a:pP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  <a:tabLst>
                <a:tab pos="489584" algn="l"/>
                <a:tab pos="1158875" algn="l"/>
              </a:tabLst>
            </a:pP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	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11272" y="2337039"/>
            <a:ext cx="3098800" cy="61468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(from</a:t>
            </a:r>
            <a:r>
              <a:rPr sz="15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previous</a:t>
            </a:r>
            <a:r>
              <a:rPr sz="15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page)</a:t>
            </a:r>
            <a:endParaRPr sz="1500">
              <a:latin typeface="Verdana"/>
              <a:cs typeface="Verdana"/>
            </a:endParaRPr>
          </a:p>
          <a:p>
            <a:pPr marL="852805">
              <a:lnSpc>
                <a:spcPct val="100000"/>
              </a:lnSpc>
              <a:spcBef>
                <a:spcPts val="420"/>
              </a:spcBef>
            </a:pP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(4)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apply</a:t>
            </a:r>
            <a:r>
              <a:rPr sz="17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transitivity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59145" y="2667000"/>
            <a:ext cx="225806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(5)</a:t>
            </a:r>
            <a:r>
              <a:rPr sz="17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apply</a:t>
            </a:r>
            <a:r>
              <a:rPr sz="17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transitivity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56985" y="3230879"/>
            <a:ext cx="1626870" cy="191833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490220" indent="-477520">
              <a:lnSpc>
                <a:spcPct val="100000"/>
              </a:lnSpc>
              <a:spcBef>
                <a:spcPts val="555"/>
              </a:spcBef>
              <a:buFont typeface="Verdana"/>
              <a:buAutoNum type="alphaUcPeriod"/>
              <a:tabLst>
                <a:tab pos="489584" algn="l"/>
                <a:tab pos="490220" algn="l"/>
                <a:tab pos="854075" algn="l"/>
              </a:tabLst>
            </a:pP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ABCD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  <a:p>
            <a:pPr marL="490220" indent="-477520">
              <a:lnSpc>
                <a:spcPct val="100000"/>
              </a:lnSpc>
              <a:spcBef>
                <a:spcPts val="455"/>
              </a:spcBef>
              <a:buFont typeface="Verdana"/>
              <a:buAutoNum type="alphaUcPeriod"/>
              <a:tabLst>
                <a:tab pos="489584" algn="l"/>
                <a:tab pos="490220" algn="l"/>
                <a:tab pos="1006475" algn="l"/>
                <a:tab pos="1308100" algn="l"/>
              </a:tabLst>
            </a:pP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B	D</a:t>
            </a:r>
            <a:endParaRPr sz="1700">
              <a:latin typeface="Verdana"/>
              <a:cs typeface="Verdana"/>
            </a:endParaRPr>
          </a:p>
          <a:p>
            <a:pPr marL="490220" indent="-477520">
              <a:lnSpc>
                <a:spcPct val="100000"/>
              </a:lnSpc>
              <a:spcBef>
                <a:spcPts val="455"/>
              </a:spcBef>
              <a:buFont typeface="Verdana"/>
              <a:buAutoNum type="alphaUcPeriod"/>
              <a:tabLst>
                <a:tab pos="489584" algn="l"/>
                <a:tab pos="490220" algn="l"/>
                <a:tab pos="1158875" algn="l"/>
              </a:tabLst>
            </a:pP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1700">
              <a:latin typeface="Verdana"/>
              <a:cs typeface="Verdana"/>
            </a:endParaRPr>
          </a:p>
          <a:p>
            <a:pPr marL="490220" indent="-477520">
              <a:lnSpc>
                <a:spcPct val="100000"/>
              </a:lnSpc>
              <a:spcBef>
                <a:spcPts val="459"/>
              </a:spcBef>
              <a:buFont typeface="Verdana"/>
              <a:buAutoNum type="alphaUcPeriod"/>
              <a:tabLst>
                <a:tab pos="489584" algn="l"/>
                <a:tab pos="490220" algn="l"/>
                <a:tab pos="1311275" algn="l"/>
              </a:tabLst>
            </a:pP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endParaRPr sz="1700">
              <a:latin typeface="Verdana"/>
              <a:cs typeface="Verdana"/>
            </a:endParaRPr>
          </a:p>
          <a:p>
            <a:pPr marL="490220" indent="-477520">
              <a:lnSpc>
                <a:spcPct val="100000"/>
              </a:lnSpc>
              <a:spcBef>
                <a:spcPts val="480"/>
              </a:spcBef>
              <a:buFont typeface="Verdana"/>
              <a:buAutoNum type="alphaUcPeriod"/>
              <a:tabLst>
                <a:tab pos="489584" algn="l"/>
                <a:tab pos="490220" algn="l"/>
                <a:tab pos="1463675" algn="l"/>
              </a:tabLst>
            </a:pP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  <a:tabLst>
                <a:tab pos="489584" algn="l"/>
                <a:tab pos="1158875" algn="l"/>
              </a:tabLst>
            </a:pP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	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206751" y="3512311"/>
            <a:ext cx="3082925" cy="1668780"/>
            <a:chOff x="2206751" y="3512311"/>
            <a:chExt cx="3082925" cy="1668780"/>
          </a:xfrm>
        </p:grpSpPr>
        <p:sp>
          <p:nvSpPr>
            <p:cNvPr id="18" name="object 18"/>
            <p:cNvSpPr/>
            <p:nvPr/>
          </p:nvSpPr>
          <p:spPr>
            <a:xfrm>
              <a:off x="2216911" y="4829047"/>
              <a:ext cx="1853564" cy="341630"/>
            </a:xfrm>
            <a:custGeom>
              <a:avLst/>
              <a:gdLst/>
              <a:ahLst/>
              <a:cxnLst/>
              <a:rect l="l" t="t" r="r" b="b"/>
              <a:pathLst>
                <a:path w="1853564" h="341629">
                  <a:moveTo>
                    <a:pt x="0" y="56896"/>
                  </a:moveTo>
                  <a:lnTo>
                    <a:pt x="4471" y="34749"/>
                  </a:lnTo>
                  <a:lnTo>
                    <a:pt x="16664" y="16664"/>
                  </a:lnTo>
                  <a:lnTo>
                    <a:pt x="34749" y="4471"/>
                  </a:lnTo>
                  <a:lnTo>
                    <a:pt x="56896" y="0"/>
                  </a:lnTo>
                  <a:lnTo>
                    <a:pt x="1796286" y="0"/>
                  </a:lnTo>
                  <a:lnTo>
                    <a:pt x="1818434" y="4471"/>
                  </a:lnTo>
                  <a:lnTo>
                    <a:pt x="1836519" y="16664"/>
                  </a:lnTo>
                  <a:lnTo>
                    <a:pt x="1848712" y="34749"/>
                  </a:lnTo>
                  <a:lnTo>
                    <a:pt x="1853183" y="56896"/>
                  </a:lnTo>
                  <a:lnTo>
                    <a:pt x="1853183" y="284479"/>
                  </a:lnTo>
                  <a:lnTo>
                    <a:pt x="1848712" y="306626"/>
                  </a:lnTo>
                  <a:lnTo>
                    <a:pt x="1836519" y="324711"/>
                  </a:lnTo>
                  <a:lnTo>
                    <a:pt x="1818434" y="336904"/>
                  </a:lnTo>
                  <a:lnTo>
                    <a:pt x="1796286" y="341375"/>
                  </a:lnTo>
                  <a:lnTo>
                    <a:pt x="56896" y="341375"/>
                  </a:lnTo>
                  <a:lnTo>
                    <a:pt x="34749" y="336904"/>
                  </a:lnTo>
                  <a:lnTo>
                    <a:pt x="16664" y="324711"/>
                  </a:lnTo>
                  <a:lnTo>
                    <a:pt x="4471" y="306626"/>
                  </a:lnTo>
                  <a:lnTo>
                    <a:pt x="0" y="284479"/>
                  </a:lnTo>
                  <a:lnTo>
                    <a:pt x="0" y="56896"/>
                  </a:lnTo>
                  <a:close/>
                </a:path>
              </a:pathLst>
            </a:custGeom>
            <a:ln w="2031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066166" y="3512311"/>
              <a:ext cx="1223645" cy="1490980"/>
            </a:xfrm>
            <a:custGeom>
              <a:avLst/>
              <a:gdLst/>
              <a:ahLst/>
              <a:cxnLst/>
              <a:rect l="l" t="t" r="r" b="b"/>
              <a:pathLst>
                <a:path w="1223645" h="1490979">
                  <a:moveTo>
                    <a:pt x="1167674" y="59641"/>
                  </a:moveTo>
                  <a:lnTo>
                    <a:pt x="0" y="1484203"/>
                  </a:lnTo>
                  <a:lnTo>
                    <a:pt x="7858" y="1490644"/>
                  </a:lnTo>
                  <a:lnTo>
                    <a:pt x="1175532" y="66082"/>
                  </a:lnTo>
                  <a:lnTo>
                    <a:pt x="1167674" y="59641"/>
                  </a:lnTo>
                  <a:close/>
                </a:path>
                <a:path w="1223645" h="1490979">
                  <a:moveTo>
                    <a:pt x="1211981" y="49162"/>
                  </a:moveTo>
                  <a:lnTo>
                    <a:pt x="1176263" y="49162"/>
                  </a:lnTo>
                  <a:lnTo>
                    <a:pt x="1184121" y="55604"/>
                  </a:lnTo>
                  <a:lnTo>
                    <a:pt x="1175532" y="66082"/>
                  </a:lnTo>
                  <a:lnTo>
                    <a:pt x="1203034" y="88624"/>
                  </a:lnTo>
                  <a:lnTo>
                    <a:pt x="1211981" y="49162"/>
                  </a:lnTo>
                  <a:close/>
                </a:path>
                <a:path w="1223645" h="1490979">
                  <a:moveTo>
                    <a:pt x="1176263" y="49162"/>
                  </a:moveTo>
                  <a:lnTo>
                    <a:pt x="1167674" y="59641"/>
                  </a:lnTo>
                  <a:lnTo>
                    <a:pt x="1175532" y="66082"/>
                  </a:lnTo>
                  <a:lnTo>
                    <a:pt x="1184121" y="55604"/>
                  </a:lnTo>
                  <a:lnTo>
                    <a:pt x="1176263" y="49162"/>
                  </a:lnTo>
                  <a:close/>
                </a:path>
                <a:path w="1223645" h="1490979">
                  <a:moveTo>
                    <a:pt x="1223129" y="0"/>
                  </a:moveTo>
                  <a:lnTo>
                    <a:pt x="1140172" y="37099"/>
                  </a:lnTo>
                  <a:lnTo>
                    <a:pt x="1167674" y="59641"/>
                  </a:lnTo>
                  <a:lnTo>
                    <a:pt x="1176263" y="49162"/>
                  </a:lnTo>
                  <a:lnTo>
                    <a:pt x="1211981" y="49162"/>
                  </a:lnTo>
                  <a:lnTo>
                    <a:pt x="122312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5581903" y="6113271"/>
            <a:ext cx="927100" cy="358140"/>
          </a:xfrm>
          <a:custGeom>
            <a:avLst/>
            <a:gdLst/>
            <a:ahLst/>
            <a:cxnLst/>
            <a:rect l="l" t="t" r="r" b="b"/>
            <a:pathLst>
              <a:path w="927100" h="358139">
                <a:moveTo>
                  <a:pt x="926592" y="0"/>
                </a:moveTo>
                <a:lnTo>
                  <a:pt x="0" y="0"/>
                </a:lnTo>
                <a:lnTo>
                  <a:pt x="0" y="357631"/>
                </a:lnTo>
                <a:lnTo>
                  <a:pt x="926592" y="357631"/>
                </a:lnTo>
                <a:lnTo>
                  <a:pt x="926592" y="0"/>
                </a:lnTo>
                <a:close/>
              </a:path>
            </a:pathLst>
          </a:custGeom>
          <a:solidFill>
            <a:srgbClr val="CCD1D9">
              <a:alpha val="6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312339" y="1380744"/>
            <a:ext cx="4596130" cy="659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24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Decompose: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7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A,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7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B,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7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C,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 A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7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D </a:t>
            </a:r>
            <a:r>
              <a:rPr sz="1700" spc="-5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Union: A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7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and A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7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spc="-20" dirty="0">
                <a:solidFill>
                  <a:srgbClr val="292934"/>
                </a:solidFill>
                <a:latin typeface="Verdana"/>
                <a:cs typeface="Verdana"/>
              </a:rPr>
              <a:t>D,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then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 A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spc="17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CD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139293" y="1351920"/>
            <a:ext cx="4912360" cy="1965325"/>
            <a:chOff x="2139293" y="1351920"/>
            <a:chExt cx="4912360" cy="1965325"/>
          </a:xfrm>
        </p:grpSpPr>
        <p:sp>
          <p:nvSpPr>
            <p:cNvPr id="23" name="object 23"/>
            <p:cNvSpPr/>
            <p:nvPr/>
          </p:nvSpPr>
          <p:spPr>
            <a:xfrm>
              <a:off x="2149453" y="1362080"/>
              <a:ext cx="4892040" cy="743585"/>
            </a:xfrm>
            <a:custGeom>
              <a:avLst/>
              <a:gdLst/>
              <a:ahLst/>
              <a:cxnLst/>
              <a:rect l="l" t="t" r="r" b="b"/>
              <a:pathLst>
                <a:path w="4892040" h="743585">
                  <a:moveTo>
                    <a:pt x="0" y="123895"/>
                  </a:moveTo>
                  <a:lnTo>
                    <a:pt x="9736" y="75669"/>
                  </a:lnTo>
                  <a:lnTo>
                    <a:pt x="36287" y="36288"/>
                  </a:lnTo>
                  <a:lnTo>
                    <a:pt x="75669" y="9736"/>
                  </a:lnTo>
                  <a:lnTo>
                    <a:pt x="123894" y="0"/>
                  </a:lnTo>
                  <a:lnTo>
                    <a:pt x="4767683" y="0"/>
                  </a:lnTo>
                  <a:lnTo>
                    <a:pt x="4815908" y="9736"/>
                  </a:lnTo>
                  <a:lnTo>
                    <a:pt x="4855289" y="36288"/>
                  </a:lnTo>
                  <a:lnTo>
                    <a:pt x="4881841" y="75669"/>
                  </a:lnTo>
                  <a:lnTo>
                    <a:pt x="4891577" y="123895"/>
                  </a:lnTo>
                  <a:lnTo>
                    <a:pt x="4891577" y="619454"/>
                  </a:lnTo>
                  <a:lnTo>
                    <a:pt x="4881841" y="667679"/>
                  </a:lnTo>
                  <a:lnTo>
                    <a:pt x="4855289" y="707061"/>
                  </a:lnTo>
                  <a:lnTo>
                    <a:pt x="4815908" y="733613"/>
                  </a:lnTo>
                  <a:lnTo>
                    <a:pt x="4767683" y="743349"/>
                  </a:lnTo>
                  <a:lnTo>
                    <a:pt x="123894" y="743349"/>
                  </a:lnTo>
                  <a:lnTo>
                    <a:pt x="75669" y="733613"/>
                  </a:lnTo>
                  <a:lnTo>
                    <a:pt x="36287" y="707061"/>
                  </a:lnTo>
                  <a:lnTo>
                    <a:pt x="9736" y="667679"/>
                  </a:lnTo>
                  <a:lnTo>
                    <a:pt x="0" y="619454"/>
                  </a:lnTo>
                  <a:lnTo>
                    <a:pt x="0" y="123895"/>
                  </a:lnTo>
                  <a:close/>
                </a:path>
              </a:pathLst>
            </a:custGeom>
            <a:ln w="2031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696404" y="2101574"/>
              <a:ext cx="1414780" cy="1216025"/>
            </a:xfrm>
            <a:custGeom>
              <a:avLst/>
              <a:gdLst/>
              <a:ahLst/>
              <a:cxnLst/>
              <a:rect l="l" t="t" r="r" b="b"/>
              <a:pathLst>
                <a:path w="1414779" h="1216025">
                  <a:moveTo>
                    <a:pt x="35191" y="1131881"/>
                  </a:moveTo>
                  <a:lnTo>
                    <a:pt x="0" y="1215664"/>
                  </a:lnTo>
                  <a:lnTo>
                    <a:pt x="88140" y="1193548"/>
                  </a:lnTo>
                  <a:lnTo>
                    <a:pt x="72554" y="1175396"/>
                  </a:lnTo>
                  <a:lnTo>
                    <a:pt x="54696" y="1175396"/>
                  </a:lnTo>
                  <a:lnTo>
                    <a:pt x="48077" y="1167687"/>
                  </a:lnTo>
                  <a:lnTo>
                    <a:pt x="58356" y="1158860"/>
                  </a:lnTo>
                  <a:lnTo>
                    <a:pt x="35191" y="1131881"/>
                  </a:lnTo>
                  <a:close/>
                </a:path>
                <a:path w="1414779" h="1216025">
                  <a:moveTo>
                    <a:pt x="58356" y="1158860"/>
                  </a:moveTo>
                  <a:lnTo>
                    <a:pt x="48077" y="1167687"/>
                  </a:lnTo>
                  <a:lnTo>
                    <a:pt x="54696" y="1175396"/>
                  </a:lnTo>
                  <a:lnTo>
                    <a:pt x="64976" y="1166569"/>
                  </a:lnTo>
                  <a:lnTo>
                    <a:pt x="58356" y="1158860"/>
                  </a:lnTo>
                  <a:close/>
                </a:path>
                <a:path w="1414779" h="1216025">
                  <a:moveTo>
                    <a:pt x="64976" y="1166569"/>
                  </a:moveTo>
                  <a:lnTo>
                    <a:pt x="54696" y="1175396"/>
                  </a:lnTo>
                  <a:lnTo>
                    <a:pt x="72554" y="1175396"/>
                  </a:lnTo>
                  <a:lnTo>
                    <a:pt x="64976" y="1166569"/>
                  </a:lnTo>
                  <a:close/>
                </a:path>
                <a:path w="1414779" h="1216025">
                  <a:moveTo>
                    <a:pt x="1408004" y="0"/>
                  </a:moveTo>
                  <a:lnTo>
                    <a:pt x="58356" y="1158860"/>
                  </a:lnTo>
                  <a:lnTo>
                    <a:pt x="64976" y="1166569"/>
                  </a:lnTo>
                  <a:lnTo>
                    <a:pt x="1414623" y="7708"/>
                  </a:lnTo>
                  <a:lnTo>
                    <a:pt x="140800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/>
          <p:nvPr/>
        </p:nvSpPr>
        <p:spPr>
          <a:xfrm>
            <a:off x="6622288" y="6113271"/>
            <a:ext cx="927100" cy="358140"/>
          </a:xfrm>
          <a:custGeom>
            <a:avLst/>
            <a:gdLst/>
            <a:ahLst/>
            <a:cxnLst/>
            <a:rect l="l" t="t" r="r" b="b"/>
            <a:pathLst>
              <a:path w="927100" h="358139">
                <a:moveTo>
                  <a:pt x="926591" y="0"/>
                </a:moveTo>
                <a:lnTo>
                  <a:pt x="0" y="0"/>
                </a:lnTo>
                <a:lnTo>
                  <a:pt x="0" y="357631"/>
                </a:lnTo>
                <a:lnTo>
                  <a:pt x="926591" y="357631"/>
                </a:lnTo>
                <a:lnTo>
                  <a:pt x="926591" y="0"/>
                </a:lnTo>
                <a:close/>
              </a:path>
            </a:pathLst>
          </a:custGeom>
          <a:solidFill>
            <a:srgbClr val="CCD1D9">
              <a:alpha val="6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112171" y="1205788"/>
            <a:ext cx="2711450" cy="341630"/>
          </a:xfrm>
          <a:prstGeom prst="rect">
            <a:avLst/>
          </a:prstGeom>
          <a:ln w="10159">
            <a:solidFill>
              <a:srgbClr val="D9D9D9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198120">
              <a:lnSpc>
                <a:spcPct val="100000"/>
              </a:lnSpc>
              <a:spcBef>
                <a:spcPts val="229"/>
              </a:spcBef>
            </a:pPr>
            <a:r>
              <a:rPr sz="1700" spc="-15" dirty="0">
                <a:solidFill>
                  <a:srgbClr val="8A8AA3"/>
                </a:solidFill>
                <a:latin typeface="Verdana"/>
                <a:cs typeface="Verdana"/>
              </a:rPr>
              <a:t>Let’s </a:t>
            </a:r>
            <a:r>
              <a:rPr sz="1700" dirty="0">
                <a:solidFill>
                  <a:srgbClr val="8A8AA3"/>
                </a:solidFill>
                <a:latin typeface="Verdana"/>
                <a:cs typeface="Verdana"/>
              </a:rPr>
              <a:t>do</a:t>
            </a:r>
            <a:r>
              <a:rPr sz="1700" spc="-10" dirty="0">
                <a:solidFill>
                  <a:srgbClr val="8A8AA3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8A8AA3"/>
                </a:solidFill>
                <a:latin typeface="Verdana"/>
                <a:cs typeface="Verdana"/>
              </a:rPr>
              <a:t>this</a:t>
            </a:r>
            <a:r>
              <a:rPr sz="1700" spc="-10" dirty="0">
                <a:solidFill>
                  <a:srgbClr val="8A8AA3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8A8AA3"/>
                </a:solidFill>
                <a:latin typeface="Verdana"/>
                <a:cs typeface="Verdana"/>
              </a:rPr>
              <a:t>together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106" y="303783"/>
            <a:ext cx="920178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E</a:t>
            </a:r>
            <a:r>
              <a:rPr spc="-135" dirty="0"/>
              <a:t>x</a:t>
            </a:r>
            <a:r>
              <a:rPr spc="-130" dirty="0"/>
              <a:t>a</a:t>
            </a:r>
            <a:r>
              <a:rPr spc="-140" dirty="0"/>
              <a:t>m</a:t>
            </a:r>
            <a:r>
              <a:rPr spc="-130" dirty="0"/>
              <a:t>p</a:t>
            </a:r>
            <a:r>
              <a:rPr spc="-125" dirty="0"/>
              <a:t>le3</a:t>
            </a:r>
            <a:r>
              <a:rPr dirty="0"/>
              <a:t>:</a:t>
            </a:r>
            <a:r>
              <a:rPr spc="-240" dirty="0"/>
              <a:t> </a:t>
            </a:r>
            <a:r>
              <a:rPr spc="-130" dirty="0"/>
              <a:t>F</a:t>
            </a:r>
            <a:r>
              <a:rPr dirty="0"/>
              <a:t>+</a:t>
            </a:r>
            <a:r>
              <a:rPr spc="-254" dirty="0"/>
              <a:t> </a:t>
            </a:r>
            <a:r>
              <a:rPr spc="-120" dirty="0"/>
              <a:t>t</a:t>
            </a:r>
            <a:r>
              <a:rPr dirty="0"/>
              <a:t>o</a:t>
            </a:r>
            <a:r>
              <a:rPr spc="-250" dirty="0"/>
              <a:t> </a:t>
            </a:r>
            <a:r>
              <a:rPr spc="-130" dirty="0"/>
              <a:t>Cand</a:t>
            </a:r>
            <a:r>
              <a:rPr spc="-125" dirty="0"/>
              <a:t>i</a:t>
            </a:r>
            <a:r>
              <a:rPr spc="-130" dirty="0"/>
              <a:t>da</a:t>
            </a:r>
            <a:r>
              <a:rPr spc="-120" dirty="0"/>
              <a:t>t</a:t>
            </a:r>
            <a:r>
              <a:rPr dirty="0"/>
              <a:t>e</a:t>
            </a:r>
            <a:r>
              <a:rPr spc="-250" dirty="0"/>
              <a:t> </a:t>
            </a:r>
            <a:r>
              <a:rPr spc="-130" dirty="0"/>
              <a:t>K</a:t>
            </a:r>
            <a:r>
              <a:rPr spc="-125" dirty="0"/>
              <a:t>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591" y="1242567"/>
            <a:ext cx="9189720" cy="182372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ct val="90500"/>
              </a:lnSpc>
              <a:spcBef>
                <a:spcPts val="315"/>
              </a:spcBef>
            </a:pP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Consider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Stocks(B,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O,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S,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Q,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D),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whose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may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be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thought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informally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35" dirty="0">
                <a:solidFill>
                  <a:srgbClr val="292934"/>
                </a:solidFill>
                <a:latin typeface="Verdana"/>
                <a:cs typeface="Verdana"/>
              </a:rPr>
              <a:t>broker,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office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(of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broker),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292934"/>
                </a:solidFill>
                <a:latin typeface="Verdana"/>
                <a:cs typeface="Verdana"/>
              </a:rPr>
              <a:t>investor,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stock,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quantity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(of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stock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owned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investor),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dividend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(of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stock). </a:t>
            </a:r>
            <a:r>
              <a:rPr sz="1900" spc="-6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Let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Stocks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endParaRPr sz="1900">
              <a:latin typeface="Verdana"/>
              <a:cs typeface="Verdana"/>
            </a:endParaRPr>
          </a:p>
          <a:p>
            <a:pPr marL="508634">
              <a:lnSpc>
                <a:spcPct val="100000"/>
              </a:lnSpc>
              <a:spcBef>
                <a:spcPts val="430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{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21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D,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21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B,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IS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21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Q,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spc="21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}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List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candidate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keys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Stocks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8836" y="3274757"/>
            <a:ext cx="9483090" cy="0"/>
          </a:xfrm>
          <a:custGeom>
            <a:avLst/>
            <a:gdLst/>
            <a:ahLst/>
            <a:cxnLst/>
            <a:rect l="l" t="t" r="r" b="b"/>
            <a:pathLst>
              <a:path w="9483090">
                <a:moveTo>
                  <a:pt x="0" y="0"/>
                </a:moveTo>
                <a:lnTo>
                  <a:pt x="9482666" y="1"/>
                </a:lnTo>
              </a:path>
            </a:pathLst>
          </a:custGeom>
          <a:ln w="10159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45099" y="3866896"/>
            <a:ext cx="8476615" cy="1089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10" dirty="0">
                <a:solidFill>
                  <a:srgbClr val="292934"/>
                </a:solidFill>
                <a:latin typeface="Verdana"/>
                <a:cs typeface="Verdana"/>
              </a:rPr>
              <a:t>Usual</a:t>
            </a:r>
            <a:r>
              <a:rPr sz="1900" b="1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b="1" spc="10" dirty="0">
                <a:solidFill>
                  <a:srgbClr val="292934"/>
                </a:solidFill>
                <a:latin typeface="Verdana"/>
                <a:cs typeface="Verdana"/>
              </a:rPr>
              <a:t>procedure:</a:t>
            </a:r>
            <a:r>
              <a:rPr sz="1900" b="1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reasoning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/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computing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attribute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closures.</a:t>
            </a:r>
            <a:endParaRPr sz="1900">
              <a:latin typeface="Verdana"/>
              <a:cs typeface="Verdana"/>
            </a:endParaRPr>
          </a:p>
          <a:p>
            <a:pPr marL="1843405" marR="5080" indent="-1831339">
              <a:lnSpc>
                <a:spcPts val="2110"/>
              </a:lnSpc>
              <a:spcBef>
                <a:spcPts val="1914"/>
              </a:spcBef>
            </a:pPr>
            <a:r>
              <a:rPr sz="1900" b="1" spc="10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1900" b="1" spc="15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900" b="1" spc="5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900" b="1" spc="15" dirty="0">
                <a:solidFill>
                  <a:srgbClr val="292934"/>
                </a:solidFill>
                <a:latin typeface="Verdana"/>
                <a:cs typeface="Verdana"/>
              </a:rPr>
              <a:t>erv</a:t>
            </a:r>
            <a:r>
              <a:rPr sz="1900" b="1" spc="10" dirty="0">
                <a:solidFill>
                  <a:srgbClr val="292934"/>
                </a:solidFill>
                <a:latin typeface="Verdana"/>
                <a:cs typeface="Verdana"/>
              </a:rPr>
              <a:t>at</a:t>
            </a:r>
            <a:r>
              <a:rPr sz="1900" b="1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1900" b="1" spc="15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1900" b="1" spc="2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900" b="1" dirty="0">
                <a:solidFill>
                  <a:srgbClr val="292934"/>
                </a:solidFill>
                <a:latin typeface="Verdana"/>
                <a:cs typeface="Verdana"/>
              </a:rPr>
              <a:t>:</a:t>
            </a:r>
            <a:r>
              <a:rPr sz="1900" b="1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th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RH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FD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co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nt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I</a:t>
            </a:r>
            <a:r>
              <a:rPr sz="1900" spc="-45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S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hu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w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e 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k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w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th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tt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ut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I</a:t>
            </a:r>
            <a:r>
              <a:rPr sz="1900" spc="-45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S</a:t>
            </a:r>
            <a:r>
              <a:rPr sz="1900" spc="-45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m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us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p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rt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f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k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5099" y="5186679"/>
            <a:ext cx="241490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Let’s</a:t>
            </a: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reasoning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94313" y="5427472"/>
            <a:ext cx="46164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S</a:t>
            </a:r>
            <a:r>
              <a:rPr sz="1900" spc="-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D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6166" y="5427472"/>
            <a:ext cx="1720850" cy="1116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95"/>
              </a:lnSpc>
              <a:spcBef>
                <a:spcPts val="100"/>
              </a:spcBef>
              <a:tabLst>
                <a:tab pos="448945" algn="l"/>
              </a:tabLst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S	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endParaRPr sz="1900">
              <a:latin typeface="Wingdings"/>
              <a:cs typeface="Wingdings"/>
            </a:endParaRPr>
          </a:p>
          <a:p>
            <a:pPr marL="12700">
              <a:lnSpc>
                <a:spcPts val="2100"/>
              </a:lnSpc>
              <a:tabLst>
                <a:tab pos="448945" algn="l"/>
                <a:tab pos="833755" algn="l"/>
              </a:tabLst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I	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BOI</a:t>
            </a:r>
            <a:endParaRPr sz="1900">
              <a:latin typeface="Courier New"/>
              <a:cs typeface="Courier New"/>
            </a:endParaRPr>
          </a:p>
          <a:p>
            <a:pPr marL="12700" marR="5080">
              <a:lnSpc>
                <a:spcPts val="2110"/>
              </a:lnSpc>
              <a:spcBef>
                <a:spcPts val="114"/>
              </a:spcBef>
              <a:tabLst>
                <a:tab pos="448945" algn="l"/>
                <a:tab pos="833755" algn="l"/>
              </a:tabLst>
            </a:pP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I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S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BOISQD 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B	</a:t>
            </a:r>
            <a:r>
              <a:rPr sz="19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9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BO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13819" y="5850501"/>
            <a:ext cx="5513705" cy="737235"/>
          </a:xfrm>
          <a:custGeom>
            <a:avLst/>
            <a:gdLst/>
            <a:ahLst/>
            <a:cxnLst/>
            <a:rect l="l" t="t" r="r" b="b"/>
            <a:pathLst>
              <a:path w="5513705" h="737234">
                <a:moveTo>
                  <a:pt x="5390330" y="0"/>
                </a:moveTo>
                <a:lnTo>
                  <a:pt x="850314" y="0"/>
                </a:lnTo>
                <a:lnTo>
                  <a:pt x="802499" y="9653"/>
                </a:lnTo>
                <a:lnTo>
                  <a:pt x="763453" y="35978"/>
                </a:lnTo>
                <a:lnTo>
                  <a:pt x="737128" y="75024"/>
                </a:lnTo>
                <a:lnTo>
                  <a:pt x="727475" y="122839"/>
                </a:lnTo>
                <a:lnTo>
                  <a:pt x="0" y="253781"/>
                </a:lnTo>
                <a:lnTo>
                  <a:pt x="727475" y="307092"/>
                </a:lnTo>
                <a:lnTo>
                  <a:pt x="727475" y="614185"/>
                </a:lnTo>
                <a:lnTo>
                  <a:pt x="737128" y="662000"/>
                </a:lnTo>
                <a:lnTo>
                  <a:pt x="763453" y="701046"/>
                </a:lnTo>
                <a:lnTo>
                  <a:pt x="802499" y="727372"/>
                </a:lnTo>
                <a:lnTo>
                  <a:pt x="850314" y="737025"/>
                </a:lnTo>
                <a:lnTo>
                  <a:pt x="5390330" y="737025"/>
                </a:lnTo>
                <a:lnTo>
                  <a:pt x="5438146" y="727372"/>
                </a:lnTo>
                <a:lnTo>
                  <a:pt x="5477192" y="701046"/>
                </a:lnTo>
                <a:lnTo>
                  <a:pt x="5503518" y="662000"/>
                </a:lnTo>
                <a:lnTo>
                  <a:pt x="5513171" y="614185"/>
                </a:lnTo>
                <a:lnTo>
                  <a:pt x="5513171" y="122839"/>
                </a:lnTo>
                <a:lnTo>
                  <a:pt x="5503518" y="75024"/>
                </a:lnTo>
                <a:lnTo>
                  <a:pt x="5477192" y="35978"/>
                </a:lnTo>
                <a:lnTo>
                  <a:pt x="5438146" y="9653"/>
                </a:lnTo>
                <a:lnTo>
                  <a:pt x="5390330" y="0"/>
                </a:lnTo>
                <a:close/>
              </a:path>
            </a:pathLst>
          </a:custGeom>
          <a:solidFill>
            <a:srgbClr val="0044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122759" y="5934455"/>
            <a:ext cx="4239260" cy="52578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365760">
              <a:lnSpc>
                <a:spcPts val="1900"/>
              </a:lnSpc>
              <a:spcBef>
                <a:spcPts val="280"/>
              </a:spcBef>
            </a:pPr>
            <a:r>
              <a:rPr sz="1700" spc="5" dirty="0">
                <a:solidFill>
                  <a:srgbClr val="FFFFFF"/>
                </a:solidFill>
                <a:latin typeface="Courier New"/>
                <a:cs typeface="Courier New"/>
              </a:rPr>
              <a:t>I</a:t>
            </a:r>
            <a:r>
              <a:rPr sz="1700" dirty="0">
                <a:solidFill>
                  <a:srgbClr val="FFFFFF"/>
                </a:solidFill>
                <a:latin typeface="Courier New"/>
                <a:cs typeface="Courier New"/>
              </a:rPr>
              <a:t>S</a:t>
            </a:r>
            <a:r>
              <a:rPr sz="1700" spc="-4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he </a:t>
            </a: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nly</a:t>
            </a: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1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ini</a:t>
            </a:r>
            <a:r>
              <a:rPr sz="1700" spc="1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 s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700" spc="-10" dirty="0">
                <a:solidFill>
                  <a:srgbClr val="FFFFFF"/>
                </a:solidFill>
                <a:latin typeface="Verdana"/>
                <a:cs typeface="Verdana"/>
              </a:rPr>
              <a:t>k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ey  (candidate</a:t>
            </a: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 key)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the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Stocks</a:t>
            </a: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relation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33146" y="5367528"/>
            <a:ext cx="419290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What</a:t>
            </a:r>
            <a:r>
              <a:rPr sz="1700" spc="-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C00000"/>
                </a:solidFill>
                <a:latin typeface="Verdana"/>
                <a:cs typeface="Verdana"/>
              </a:rPr>
              <a:t>if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 we</a:t>
            </a:r>
            <a:r>
              <a:rPr sz="1700" spc="-5" dirty="0">
                <a:solidFill>
                  <a:srgbClr val="C00000"/>
                </a:solidFill>
                <a:latin typeface="Verdana"/>
                <a:cs typeface="Verdana"/>
              </a:rPr>
              <a:t> want to</a:t>
            </a:r>
            <a:r>
              <a:rPr sz="1700" spc="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C00000"/>
                </a:solidFill>
                <a:latin typeface="Verdana"/>
                <a:cs typeface="Verdana"/>
              </a:rPr>
              <a:t>find</a:t>
            </a:r>
            <a:r>
              <a:rPr sz="1700" dirty="0">
                <a:solidFill>
                  <a:srgbClr val="C00000"/>
                </a:solidFill>
                <a:latin typeface="Verdana"/>
                <a:cs typeface="Verdana"/>
              </a:rPr>
              <a:t> all superkeys?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8198" y="6996176"/>
            <a:ext cx="21520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RHS</a:t>
            </a:r>
            <a:r>
              <a:rPr sz="15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=</a:t>
            </a:r>
            <a:r>
              <a:rPr sz="15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right</a:t>
            </a:r>
            <a:r>
              <a:rPr sz="15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hand</a:t>
            </a:r>
            <a:r>
              <a:rPr sz="15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side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7ADE5-EBC1-58B0-4816-EC40C13AE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51CE9-6C72-6C6B-AE15-37EC01CE4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Given the relation R(P,Q,R,S) and functional dependencies: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P→Q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Q→R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P→S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0" indent="0" algn="l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Find the attribute closure of P (i.e., P+).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9932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8262" y="198052"/>
            <a:ext cx="263652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>
                <a:solidFill>
                  <a:srgbClr val="011EAA"/>
                </a:solidFill>
              </a:rPr>
              <a:t>Wrap-Up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9795" y="1034287"/>
            <a:ext cx="9034780" cy="2360295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256540" indent="-243840">
              <a:lnSpc>
                <a:spcPct val="100000"/>
              </a:lnSpc>
              <a:spcBef>
                <a:spcPts val="1465"/>
              </a:spcBef>
              <a:buSzPct val="95238"/>
              <a:buFont typeface="Arial MT"/>
              <a:buChar char="•"/>
              <a:tabLst>
                <a:tab pos="255904" algn="l"/>
                <a:tab pos="25654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Problems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“Bad”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DB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design</a:t>
            </a:r>
            <a:endParaRPr sz="2100">
              <a:latin typeface="Verdana"/>
              <a:cs typeface="Verdana"/>
            </a:endParaRPr>
          </a:p>
          <a:p>
            <a:pPr marL="256540" marR="5080" indent="-243840">
              <a:lnSpc>
                <a:spcPct val="111400"/>
              </a:lnSpc>
              <a:spcBef>
                <a:spcPts val="1080"/>
              </a:spcBef>
              <a:buSzPct val="95238"/>
              <a:buFont typeface="Arial MT"/>
              <a:buChar char="•"/>
              <a:tabLst>
                <a:tab pos="255904" algn="l"/>
                <a:tab pos="256540" algn="l"/>
              </a:tabLst>
            </a:pP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Characterizing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/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describe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properties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Functional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dependencies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(FDs)</a:t>
            </a:r>
            <a:endParaRPr sz="2100">
              <a:latin typeface="Verdana"/>
              <a:cs typeface="Verdana"/>
            </a:endParaRPr>
          </a:p>
          <a:p>
            <a:pPr marL="256540" indent="-243840">
              <a:lnSpc>
                <a:spcPct val="100000"/>
              </a:lnSpc>
              <a:spcBef>
                <a:spcPts val="1370"/>
              </a:spcBef>
              <a:buSzPct val="95238"/>
              <a:buFont typeface="Arial MT"/>
              <a:buChar char="•"/>
              <a:tabLst>
                <a:tab pos="255904" algn="l"/>
                <a:tab pos="256540" algn="l"/>
              </a:tabLst>
            </a:pP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Reasoning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about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FDs</a:t>
            </a:r>
            <a:endParaRPr sz="2100">
              <a:latin typeface="Verdana"/>
              <a:cs typeface="Verdana"/>
            </a:endParaRPr>
          </a:p>
          <a:p>
            <a:pPr marL="256540" indent="-243840">
              <a:lnSpc>
                <a:spcPct val="100000"/>
              </a:lnSpc>
              <a:spcBef>
                <a:spcPts val="1390"/>
              </a:spcBef>
              <a:buSzPct val="95238"/>
              <a:buFont typeface="Arial MT"/>
              <a:buChar char="•"/>
              <a:tabLst>
                <a:tab pos="255904" algn="l"/>
                <a:tab pos="256540" algn="l"/>
              </a:tabLst>
            </a:pP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Attribute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closure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F+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9795" y="4230817"/>
            <a:ext cx="7395209" cy="1005205"/>
          </a:xfrm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2300" b="1" spc="20" dirty="0">
                <a:solidFill>
                  <a:srgbClr val="292934"/>
                </a:solidFill>
                <a:latin typeface="Verdana"/>
                <a:cs typeface="Verdana"/>
              </a:rPr>
              <a:t>What’s</a:t>
            </a:r>
            <a:r>
              <a:rPr sz="2300" b="1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20" dirty="0">
                <a:solidFill>
                  <a:srgbClr val="292934"/>
                </a:solidFill>
                <a:latin typeface="Verdana"/>
                <a:cs typeface="Verdana"/>
              </a:rPr>
              <a:t>next?</a:t>
            </a:r>
            <a:endParaRPr sz="2300">
              <a:latin typeface="Verdana"/>
              <a:cs typeface="Verdana"/>
            </a:endParaRPr>
          </a:p>
          <a:p>
            <a:pPr marL="502284" indent="-246379">
              <a:lnSpc>
                <a:spcPct val="100000"/>
              </a:lnSpc>
              <a:spcBef>
                <a:spcPts val="1160"/>
              </a:spcBef>
              <a:buSzPct val="95238"/>
              <a:buFont typeface="Arial MT"/>
              <a:buChar char="•"/>
              <a:tabLst>
                <a:tab pos="502284" algn="l"/>
                <a:tab pos="50292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Fine-tuning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structures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normalization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5713</TotalTime>
  <Words>3573</Words>
  <Application>Microsoft Macintosh PowerPoint</Application>
  <PresentationFormat>Custom</PresentationFormat>
  <Paragraphs>1100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8" baseType="lpstr">
      <vt:lpstr>Aptos</vt:lpstr>
      <vt:lpstr>Arial</vt:lpstr>
      <vt:lpstr>Arial MT</vt:lpstr>
      <vt:lpstr>Calibri</vt:lpstr>
      <vt:lpstr>Calibri Light</vt:lpstr>
      <vt:lpstr>Courier New</vt:lpstr>
      <vt:lpstr>Segoe UI Symbol</vt:lpstr>
      <vt:lpstr>Times New Roman</vt:lpstr>
      <vt:lpstr>Trebuchet MS</vt:lpstr>
      <vt:lpstr>Verdana</vt:lpstr>
      <vt:lpstr>Wingdings</vt:lpstr>
      <vt:lpstr>Office Theme</vt:lpstr>
      <vt:lpstr>Schema Refinement</vt:lpstr>
      <vt:lpstr>Recap: E-R Diagram</vt:lpstr>
      <vt:lpstr>PowerPoint Presentation</vt:lpstr>
      <vt:lpstr>Why Worry about Sound Structures?</vt:lpstr>
      <vt:lpstr>Let’s Consider: Friend Book</vt:lpstr>
      <vt:lpstr>Friend Book: Redundancy Anomaly</vt:lpstr>
      <vt:lpstr>Friend Book: Update Anomaly</vt:lpstr>
      <vt:lpstr>Friend Book: Deletion Anomaly</vt:lpstr>
      <vt:lpstr>Friend Book: Prevent Data Anomalies</vt:lpstr>
      <vt:lpstr>Another Example: TA Info  Problems with “Bad” DB Design</vt:lpstr>
      <vt:lpstr>TA Info: Update Anomaly (2)</vt:lpstr>
      <vt:lpstr>TA Info: Insertion Anomaly (3)</vt:lpstr>
      <vt:lpstr>TA Info: Deletion Anomaly (4)</vt:lpstr>
      <vt:lpstr>TA Info: Potential Solution (5)</vt:lpstr>
      <vt:lpstr>Practice</vt:lpstr>
      <vt:lpstr>General Design Guidelines</vt:lpstr>
      <vt:lpstr>Data Interrelationships</vt:lpstr>
      <vt:lpstr>Functional Dependencies (FDs)</vt:lpstr>
      <vt:lpstr>Functional Dependencies (FDs)</vt:lpstr>
      <vt:lpstr>Examples</vt:lpstr>
      <vt:lpstr>Let’s Try: FDs</vt:lpstr>
      <vt:lpstr>Let’s Try: FDs (2)</vt:lpstr>
      <vt:lpstr>More Example</vt:lpstr>
      <vt:lpstr>Interesting Observation</vt:lpstr>
      <vt:lpstr>Reasoning about FDs</vt:lpstr>
      <vt:lpstr>Example: Reasoning</vt:lpstr>
      <vt:lpstr>Example: Reasoning (2)</vt:lpstr>
      <vt:lpstr>Attribute Closure and F+</vt:lpstr>
      <vt:lpstr>Example: Attribute Closure</vt:lpstr>
      <vt:lpstr>Example: Attribute Closure</vt:lpstr>
      <vt:lpstr>Example1: Computing F+</vt:lpstr>
      <vt:lpstr>Example2: Computing F+</vt:lpstr>
      <vt:lpstr>Example2: Computing F+ (cont.)</vt:lpstr>
      <vt:lpstr>Example3: F+ to Candidate Key</vt:lpstr>
      <vt:lpstr>Practice</vt:lpstr>
      <vt:lpstr>Wrap-Up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4750meet08-FD-present</dc:title>
  <dc:creator>upsorn</dc:creator>
  <cp:lastModifiedBy>Farhan Tanvir</cp:lastModifiedBy>
  <cp:revision>56</cp:revision>
  <dcterms:created xsi:type="dcterms:W3CDTF">2023-10-22T21:06:39Z</dcterms:created>
  <dcterms:modified xsi:type="dcterms:W3CDTF">2026-03-09T03:52:53Z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2023-09-12T00:00:00Z</vt:filetime>
  </property>
  <property fmtid="{D5CDD505-2E9C-101B-9397-08002B2CF9AE}" pid="3" name="Creator">
    <vt:lpwstr>PowerPoint</vt:lpwstr>
  </property>
  <property fmtid="{D5CDD505-2E9C-101B-9397-08002B2CF9AE}" pid="4" name="LastSaved">
    <vt:filetime>2023-10-22T00:00:00Z</vt:filetime>
  </property>
</Properties>
</file>