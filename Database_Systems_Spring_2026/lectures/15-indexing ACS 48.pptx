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jpeg"/>
  <Override PartName="/ppt/media/image7.jpg" ContentType="image/jpeg"/>
  <Override PartName="/ppt/media/image8.jpg" ContentType="image/jpeg"/>
  <Override PartName="/ppt/notesSlides/notesSlide1.xml" ContentType="application/vnd.openxmlformats-officedocument.presentationml.notesSlide+xml"/>
  <Override PartName="/ppt/media/image36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6" r:id="rId2"/>
    <p:sldId id="298" r:id="rId3"/>
    <p:sldId id="257" r:id="rId4"/>
    <p:sldId id="386" r:id="rId5"/>
    <p:sldId id="387" r:id="rId6"/>
    <p:sldId id="388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80" r:id="rId26"/>
    <p:sldId id="282" r:id="rId27"/>
    <p:sldId id="384" r:id="rId28"/>
    <p:sldId id="401" r:id="rId29"/>
    <p:sldId id="457" r:id="rId30"/>
    <p:sldId id="405" r:id="rId31"/>
    <p:sldId id="402" r:id="rId32"/>
    <p:sldId id="281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7" r:id="rId41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/>
    <p:restoredTop sz="94694"/>
  </p:normalViewPr>
  <p:slideViewPr>
    <p:cSldViewPr>
      <p:cViewPr varScale="1">
        <p:scale>
          <a:sx n="107" d="100"/>
          <a:sy n="107" d="100"/>
        </p:scale>
        <p:origin x="1640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72626A-07FF-5946-AC47-C308869005BD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8632F-CAE3-1946-AD8C-698153AFC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539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7AE23FA1-4B2D-4601-851C-ECD0CB09AA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F2444E7-F831-4EFF-81F2-8750125B908F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892FCD3F-58BB-4317-B232-6CA5A54D82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87DA6ED1-6550-441A-ABAF-A5BB29E4B4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70" dirty="0"/>
              <a:t> </a:t>
            </a:r>
            <a:r>
              <a:rPr spc="-45" dirty="0"/>
              <a:t>P</a:t>
            </a:r>
            <a:r>
              <a:rPr spc="-30" dirty="0"/>
              <a:t>r</a:t>
            </a:r>
            <a:r>
              <a:rPr spc="-130" dirty="0"/>
              <a:t>a</a:t>
            </a:r>
            <a:r>
              <a:rPr spc="-85" dirty="0"/>
              <a:t>p</a:t>
            </a:r>
            <a:r>
              <a:rPr spc="-75" dirty="0"/>
              <a:t>h</a:t>
            </a:r>
            <a:r>
              <a:rPr spc="-130" dirty="0"/>
              <a:t>a</a:t>
            </a:r>
            <a:r>
              <a:rPr spc="-90" dirty="0"/>
              <a:t>m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0" dirty="0"/>
              <a:t>t</a:t>
            </a:r>
            <a:r>
              <a:rPr spc="-5" dirty="0"/>
              <a:t>r</a:t>
            </a:r>
            <a:r>
              <a:rPr spc="-80" dirty="0"/>
              <a:t>i</a:t>
            </a:r>
            <a:r>
              <a:rPr spc="-85" dirty="0"/>
              <a:t>p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5" dirty="0"/>
              <a:t>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20" dirty="0"/>
              <a:t>Spring</a:t>
            </a:r>
            <a:r>
              <a:rPr spc="-45" dirty="0"/>
              <a:t> </a:t>
            </a:r>
            <a:r>
              <a:rPr spc="-20" dirty="0"/>
              <a:t>2024</a:t>
            </a:r>
            <a:r>
              <a:rPr spc="-45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spc="-20" dirty="0"/>
              <a:t>University</a:t>
            </a:r>
            <a:r>
              <a:rPr spc="-35" dirty="0"/>
              <a:t> </a:t>
            </a:r>
            <a:r>
              <a:rPr spc="-15" dirty="0"/>
              <a:t>of</a:t>
            </a:r>
            <a:r>
              <a:rPr spc="-25" dirty="0"/>
              <a:t> </a:t>
            </a:r>
            <a:r>
              <a:rPr spc="-15" dirty="0"/>
              <a:t>Virginia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00009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29293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70" dirty="0"/>
              <a:t> </a:t>
            </a:r>
            <a:r>
              <a:rPr spc="-45" dirty="0"/>
              <a:t>P</a:t>
            </a:r>
            <a:r>
              <a:rPr spc="-30" dirty="0"/>
              <a:t>r</a:t>
            </a:r>
            <a:r>
              <a:rPr spc="-130" dirty="0"/>
              <a:t>a</a:t>
            </a:r>
            <a:r>
              <a:rPr spc="-85" dirty="0"/>
              <a:t>p</a:t>
            </a:r>
            <a:r>
              <a:rPr spc="-75" dirty="0"/>
              <a:t>h</a:t>
            </a:r>
            <a:r>
              <a:rPr spc="-130" dirty="0"/>
              <a:t>a</a:t>
            </a:r>
            <a:r>
              <a:rPr spc="-90" dirty="0"/>
              <a:t>m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0" dirty="0"/>
              <a:t>t</a:t>
            </a:r>
            <a:r>
              <a:rPr spc="-5" dirty="0"/>
              <a:t>r</a:t>
            </a:r>
            <a:r>
              <a:rPr spc="-80" dirty="0"/>
              <a:t>i</a:t>
            </a:r>
            <a:r>
              <a:rPr spc="-85" dirty="0"/>
              <a:t>p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5" dirty="0"/>
              <a:t>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20" dirty="0"/>
              <a:t>Spring</a:t>
            </a:r>
            <a:r>
              <a:rPr spc="-45" dirty="0"/>
              <a:t> </a:t>
            </a:r>
            <a:r>
              <a:rPr spc="-20" dirty="0"/>
              <a:t>2024</a:t>
            </a:r>
            <a:r>
              <a:rPr spc="-45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spc="-20" dirty="0"/>
              <a:t>University</a:t>
            </a:r>
            <a:r>
              <a:rPr spc="-35" dirty="0"/>
              <a:t> </a:t>
            </a:r>
            <a:r>
              <a:rPr spc="-15" dirty="0"/>
              <a:t>of</a:t>
            </a:r>
            <a:r>
              <a:rPr spc="-25" dirty="0"/>
              <a:t> </a:t>
            </a:r>
            <a:r>
              <a:rPr spc="-15" dirty="0"/>
              <a:t>Virginia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00009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70" dirty="0"/>
              <a:t> </a:t>
            </a:r>
            <a:r>
              <a:rPr spc="-45" dirty="0"/>
              <a:t>P</a:t>
            </a:r>
            <a:r>
              <a:rPr spc="-30" dirty="0"/>
              <a:t>r</a:t>
            </a:r>
            <a:r>
              <a:rPr spc="-130" dirty="0"/>
              <a:t>a</a:t>
            </a:r>
            <a:r>
              <a:rPr spc="-85" dirty="0"/>
              <a:t>p</a:t>
            </a:r>
            <a:r>
              <a:rPr spc="-75" dirty="0"/>
              <a:t>h</a:t>
            </a:r>
            <a:r>
              <a:rPr spc="-130" dirty="0"/>
              <a:t>a</a:t>
            </a:r>
            <a:r>
              <a:rPr spc="-90" dirty="0"/>
              <a:t>m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0" dirty="0"/>
              <a:t>t</a:t>
            </a:r>
            <a:r>
              <a:rPr spc="-5" dirty="0"/>
              <a:t>r</a:t>
            </a:r>
            <a:r>
              <a:rPr spc="-80" dirty="0"/>
              <a:t>i</a:t>
            </a:r>
            <a:r>
              <a:rPr spc="-85" dirty="0"/>
              <a:t>p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5" dirty="0"/>
              <a:t>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20" dirty="0"/>
              <a:t>Spring</a:t>
            </a:r>
            <a:r>
              <a:rPr spc="-45" dirty="0"/>
              <a:t> </a:t>
            </a:r>
            <a:r>
              <a:rPr spc="-20" dirty="0"/>
              <a:t>2024</a:t>
            </a:r>
            <a:r>
              <a:rPr spc="-45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spc="-20" dirty="0"/>
              <a:t>University</a:t>
            </a:r>
            <a:r>
              <a:rPr spc="-35" dirty="0"/>
              <a:t> </a:t>
            </a:r>
            <a:r>
              <a:rPr spc="-15" dirty="0"/>
              <a:t>of</a:t>
            </a:r>
            <a:r>
              <a:rPr spc="-25" dirty="0"/>
              <a:t> </a:t>
            </a:r>
            <a:r>
              <a:rPr spc="-15" dirty="0"/>
              <a:t>Virginia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00009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70" dirty="0"/>
              <a:t> </a:t>
            </a:r>
            <a:r>
              <a:rPr spc="-45" dirty="0"/>
              <a:t>P</a:t>
            </a:r>
            <a:r>
              <a:rPr spc="-30" dirty="0"/>
              <a:t>r</a:t>
            </a:r>
            <a:r>
              <a:rPr spc="-130" dirty="0"/>
              <a:t>a</a:t>
            </a:r>
            <a:r>
              <a:rPr spc="-85" dirty="0"/>
              <a:t>p</a:t>
            </a:r>
            <a:r>
              <a:rPr spc="-75" dirty="0"/>
              <a:t>h</a:t>
            </a:r>
            <a:r>
              <a:rPr spc="-130" dirty="0"/>
              <a:t>a</a:t>
            </a:r>
            <a:r>
              <a:rPr spc="-90" dirty="0"/>
              <a:t>m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0" dirty="0"/>
              <a:t>t</a:t>
            </a:r>
            <a:r>
              <a:rPr spc="-5" dirty="0"/>
              <a:t>r</a:t>
            </a:r>
            <a:r>
              <a:rPr spc="-80" dirty="0"/>
              <a:t>i</a:t>
            </a:r>
            <a:r>
              <a:rPr spc="-85" dirty="0"/>
              <a:t>p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5" dirty="0"/>
              <a:t>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20" dirty="0"/>
              <a:t>Spring</a:t>
            </a:r>
            <a:r>
              <a:rPr spc="-45" dirty="0"/>
              <a:t> </a:t>
            </a:r>
            <a:r>
              <a:rPr spc="-20" dirty="0"/>
              <a:t>2024</a:t>
            </a:r>
            <a:r>
              <a:rPr spc="-45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spc="-20" dirty="0"/>
              <a:t>University</a:t>
            </a:r>
            <a:r>
              <a:rPr spc="-35" dirty="0"/>
              <a:t> </a:t>
            </a:r>
            <a:r>
              <a:rPr spc="-15" dirty="0"/>
              <a:t>of</a:t>
            </a:r>
            <a:r>
              <a:rPr spc="-25" dirty="0"/>
              <a:t> </a:t>
            </a:r>
            <a:r>
              <a:rPr spc="-15" dirty="0"/>
              <a:t>Virginia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70" dirty="0"/>
              <a:t> </a:t>
            </a:r>
            <a:r>
              <a:rPr spc="-45" dirty="0"/>
              <a:t>P</a:t>
            </a:r>
            <a:r>
              <a:rPr spc="-30" dirty="0"/>
              <a:t>r</a:t>
            </a:r>
            <a:r>
              <a:rPr spc="-130" dirty="0"/>
              <a:t>a</a:t>
            </a:r>
            <a:r>
              <a:rPr spc="-85" dirty="0"/>
              <a:t>p</a:t>
            </a:r>
            <a:r>
              <a:rPr spc="-75" dirty="0"/>
              <a:t>h</a:t>
            </a:r>
            <a:r>
              <a:rPr spc="-130" dirty="0"/>
              <a:t>a</a:t>
            </a:r>
            <a:r>
              <a:rPr spc="-90" dirty="0"/>
              <a:t>m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0" dirty="0"/>
              <a:t>t</a:t>
            </a:r>
            <a:r>
              <a:rPr spc="-5" dirty="0"/>
              <a:t>r</a:t>
            </a:r>
            <a:r>
              <a:rPr spc="-80" dirty="0"/>
              <a:t>i</a:t>
            </a:r>
            <a:r>
              <a:rPr spc="-85" dirty="0"/>
              <a:t>p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5" dirty="0"/>
              <a:t>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20" dirty="0"/>
              <a:t>Spring</a:t>
            </a:r>
            <a:r>
              <a:rPr spc="-45" dirty="0"/>
              <a:t> </a:t>
            </a:r>
            <a:r>
              <a:rPr spc="-20" dirty="0"/>
              <a:t>2024</a:t>
            </a:r>
            <a:r>
              <a:rPr spc="-45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spc="-20" dirty="0"/>
              <a:t>University</a:t>
            </a:r>
            <a:r>
              <a:rPr spc="-35" dirty="0"/>
              <a:t> </a:t>
            </a:r>
            <a:r>
              <a:rPr spc="-15" dirty="0"/>
              <a:t>of</a:t>
            </a:r>
            <a:r>
              <a:rPr spc="-25" dirty="0"/>
              <a:t> </a:t>
            </a:r>
            <a:r>
              <a:rPr spc="-15" dirty="0"/>
              <a:t>Virginia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0" y="7251192"/>
            <a:ext cx="9753600" cy="292735"/>
          </a:xfrm>
          <a:custGeom>
            <a:avLst/>
            <a:gdLst/>
            <a:ahLst/>
            <a:cxnLst/>
            <a:rect l="l" t="t" r="r" b="b"/>
            <a:pathLst>
              <a:path w="9753600" h="292734">
                <a:moveTo>
                  <a:pt x="9753600" y="0"/>
                </a:moveTo>
                <a:lnTo>
                  <a:pt x="0" y="0"/>
                </a:lnTo>
                <a:lnTo>
                  <a:pt x="0" y="292607"/>
                </a:lnTo>
                <a:lnTo>
                  <a:pt x="9753600" y="292607"/>
                </a:lnTo>
                <a:lnTo>
                  <a:pt x="9753600" y="0"/>
                </a:lnTo>
                <a:close/>
              </a:path>
            </a:pathLst>
          </a:custGeom>
          <a:solidFill>
            <a:srgbClr val="0012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121718"/>
            <a:ext cx="9753600" cy="0"/>
          </a:xfrm>
          <a:custGeom>
            <a:avLst/>
            <a:gdLst/>
            <a:ahLst/>
            <a:cxnLst/>
            <a:rect l="l" t="t" r="r" b="b"/>
            <a:pathLst>
              <a:path w="9753600">
                <a:moveTo>
                  <a:pt x="0" y="0"/>
                </a:moveTo>
                <a:lnTo>
                  <a:pt x="9753599" y="1"/>
                </a:lnTo>
              </a:path>
            </a:pathLst>
          </a:custGeom>
          <a:ln w="30479">
            <a:solidFill>
              <a:srgbClr val="431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52400" y="228600"/>
            <a:ext cx="9753600" cy="878205"/>
          </a:xfrm>
          <a:custGeom>
            <a:avLst/>
            <a:gdLst/>
            <a:ahLst/>
            <a:cxnLst/>
            <a:rect l="l" t="t" r="r" b="b"/>
            <a:pathLst>
              <a:path w="9753600" h="878205">
                <a:moveTo>
                  <a:pt x="9753600" y="0"/>
                </a:moveTo>
                <a:lnTo>
                  <a:pt x="0" y="0"/>
                </a:lnTo>
                <a:lnTo>
                  <a:pt x="0" y="877824"/>
                </a:lnTo>
                <a:lnTo>
                  <a:pt x="9753600" y="877824"/>
                </a:lnTo>
                <a:lnTo>
                  <a:pt x="9753600" y="0"/>
                </a:lnTo>
                <a:close/>
              </a:path>
            </a:pathLst>
          </a:custGeom>
          <a:solidFill>
            <a:srgbClr val="E6E6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5726" y="315975"/>
            <a:ext cx="8146947" cy="680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rgbClr val="00009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0733" y="1189735"/>
            <a:ext cx="9256933" cy="3198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29293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38225" y="7285466"/>
            <a:ext cx="1184275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70" dirty="0"/>
              <a:t> </a:t>
            </a:r>
            <a:r>
              <a:rPr spc="-45" dirty="0"/>
              <a:t>P</a:t>
            </a:r>
            <a:r>
              <a:rPr spc="-30" dirty="0"/>
              <a:t>r</a:t>
            </a:r>
            <a:r>
              <a:rPr spc="-130" dirty="0"/>
              <a:t>a</a:t>
            </a:r>
            <a:r>
              <a:rPr spc="-85" dirty="0"/>
              <a:t>p</a:t>
            </a:r>
            <a:r>
              <a:rPr spc="-75" dirty="0"/>
              <a:t>h</a:t>
            </a:r>
            <a:r>
              <a:rPr spc="-130" dirty="0"/>
              <a:t>a</a:t>
            </a:r>
            <a:r>
              <a:rPr spc="-90" dirty="0"/>
              <a:t>m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0" dirty="0"/>
              <a:t>t</a:t>
            </a:r>
            <a:r>
              <a:rPr spc="-5" dirty="0"/>
              <a:t>r</a:t>
            </a:r>
            <a:r>
              <a:rPr spc="-80" dirty="0"/>
              <a:t>i</a:t>
            </a:r>
            <a:r>
              <a:rPr spc="-85" dirty="0"/>
              <a:t>p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5" dirty="0"/>
              <a:t>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18515" y="7288809"/>
            <a:ext cx="2133600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20" dirty="0"/>
              <a:t>Spring</a:t>
            </a:r>
            <a:r>
              <a:rPr spc="-45" dirty="0"/>
              <a:t> </a:t>
            </a:r>
            <a:r>
              <a:rPr spc="-20" dirty="0"/>
              <a:t>2024</a:t>
            </a:r>
            <a:r>
              <a:rPr spc="-45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spc="-20" dirty="0"/>
              <a:t>University</a:t>
            </a:r>
            <a:r>
              <a:rPr spc="-35" dirty="0"/>
              <a:t> </a:t>
            </a:r>
            <a:r>
              <a:rPr spc="-15" dirty="0"/>
              <a:t>of</a:t>
            </a:r>
            <a:r>
              <a:rPr spc="-25" dirty="0"/>
              <a:t> </a:t>
            </a:r>
            <a:r>
              <a:rPr spc="-15" dirty="0"/>
              <a:t>Virginia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549552" y="7319289"/>
            <a:ext cx="225425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86383" y="3642359"/>
            <a:ext cx="8453120" cy="0"/>
          </a:xfrm>
          <a:custGeom>
            <a:avLst/>
            <a:gdLst/>
            <a:ahLst/>
            <a:cxnLst/>
            <a:rect l="l" t="t" r="r" b="b"/>
            <a:pathLst>
              <a:path w="8453120">
                <a:moveTo>
                  <a:pt x="0" y="0"/>
                </a:moveTo>
                <a:lnTo>
                  <a:pt x="8453119" y="1"/>
                </a:lnTo>
              </a:path>
            </a:pathLst>
          </a:custGeom>
          <a:ln w="40639">
            <a:solidFill>
              <a:srgbClr val="431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24952" y="2380995"/>
            <a:ext cx="3615054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800" spc="-130" dirty="0">
                <a:solidFill>
                  <a:srgbClr val="001279"/>
                </a:solidFill>
              </a:rPr>
              <a:t>Indexing</a:t>
            </a:r>
            <a:endParaRPr sz="5800"/>
          </a:p>
        </p:txBody>
      </p:sp>
      <p:sp>
        <p:nvSpPr>
          <p:cNvPr id="5" name="object 5"/>
          <p:cNvSpPr txBox="1"/>
          <p:nvPr/>
        </p:nvSpPr>
        <p:spPr>
          <a:xfrm>
            <a:off x="2471420" y="3904488"/>
            <a:ext cx="5120640" cy="1208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655"/>
              </a:lnSpc>
              <a:spcBef>
                <a:spcPts val="100"/>
              </a:spcBef>
            </a:pPr>
            <a:r>
              <a:rPr sz="4100" b="1" spc="-14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4100" b="1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4100" b="1" spc="-2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100" b="1" spc="-145" dirty="0">
                <a:solidFill>
                  <a:srgbClr val="292934"/>
                </a:solidFill>
                <a:latin typeface="Verdana"/>
                <a:cs typeface="Verdana"/>
              </a:rPr>
              <a:t>4750</a:t>
            </a:r>
            <a:endParaRPr sz="4100">
              <a:latin typeface="Verdana"/>
              <a:cs typeface="Verdana"/>
            </a:endParaRPr>
          </a:p>
          <a:p>
            <a:pPr algn="ctr">
              <a:lnSpc>
                <a:spcPts val="4655"/>
              </a:lnSpc>
            </a:pPr>
            <a:r>
              <a:rPr sz="4100" b="1" spc="-1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ata</a:t>
            </a:r>
            <a:r>
              <a:rPr sz="4100" b="1" spc="-13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4100" b="1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4100" b="1" spc="-2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Syste</a:t>
            </a:r>
            <a:r>
              <a:rPr sz="4100" b="1" spc="-155" dirty="0">
                <a:solidFill>
                  <a:srgbClr val="292934"/>
                </a:solidFill>
                <a:latin typeface="Verdana"/>
                <a:cs typeface="Verdana"/>
              </a:rPr>
              <a:t>ms</a:t>
            </a:r>
            <a:endParaRPr sz="4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9184" y="6688328"/>
            <a:ext cx="8751570" cy="531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05964">
              <a:lnSpc>
                <a:spcPct val="1107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[Silberschatz, </a:t>
            </a:r>
            <a:r>
              <a:rPr sz="1500" spc="-15" dirty="0">
                <a:solidFill>
                  <a:srgbClr val="292934"/>
                </a:solidFill>
                <a:latin typeface="Verdana"/>
                <a:cs typeface="Verdana"/>
              </a:rPr>
              <a:t>Korth,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Sudarshan,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“Database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System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Concepts,”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 Ch.14] </a:t>
            </a:r>
            <a:r>
              <a:rPr sz="1500" spc="-5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2060"/>
                </a:solidFill>
                <a:latin typeface="Verdana"/>
                <a:cs typeface="Verdana"/>
              </a:rPr>
              <a:t>[H.</a:t>
            </a:r>
            <a:r>
              <a:rPr sz="1500" spc="15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2060"/>
                </a:solidFill>
                <a:latin typeface="Verdana"/>
                <a:cs typeface="Verdana"/>
              </a:rPr>
              <a:t>Garcia-Molina,</a:t>
            </a:r>
            <a:r>
              <a:rPr sz="1500" spc="20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2060"/>
                </a:solidFill>
                <a:latin typeface="Verdana"/>
                <a:cs typeface="Verdana"/>
              </a:rPr>
              <a:t>J.D.</a:t>
            </a:r>
            <a:r>
              <a:rPr sz="1500" spc="25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2060"/>
                </a:solidFill>
                <a:latin typeface="Verdana"/>
                <a:cs typeface="Verdana"/>
              </a:rPr>
              <a:t>Ullman,</a:t>
            </a:r>
            <a:r>
              <a:rPr sz="1500" spc="20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02060"/>
                </a:solidFill>
                <a:latin typeface="Verdana"/>
                <a:cs typeface="Verdana"/>
              </a:rPr>
              <a:t>J.</a:t>
            </a:r>
            <a:r>
              <a:rPr sz="1500" spc="20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spc="5" dirty="0">
                <a:solidFill>
                  <a:srgbClr val="002060"/>
                </a:solidFill>
                <a:latin typeface="Verdana"/>
                <a:cs typeface="Verdana"/>
              </a:rPr>
              <a:t>Widom,</a:t>
            </a:r>
            <a:r>
              <a:rPr sz="1500" spc="20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2060"/>
                </a:solidFill>
                <a:latin typeface="Verdana"/>
                <a:cs typeface="Verdana"/>
              </a:rPr>
              <a:t>Database</a:t>
            </a:r>
            <a:r>
              <a:rPr sz="1500" spc="20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2060"/>
                </a:solidFill>
                <a:latin typeface="Verdana"/>
                <a:cs typeface="Verdana"/>
              </a:rPr>
              <a:t>Systems:</a:t>
            </a:r>
            <a:r>
              <a:rPr sz="1500" spc="15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2060"/>
                </a:solidFill>
                <a:latin typeface="Verdana"/>
                <a:cs typeface="Verdana"/>
              </a:rPr>
              <a:t>The</a:t>
            </a:r>
            <a:r>
              <a:rPr sz="1500" spc="20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2060"/>
                </a:solidFill>
                <a:latin typeface="Verdana"/>
                <a:cs typeface="Verdana"/>
              </a:rPr>
              <a:t>Complete</a:t>
            </a:r>
            <a:r>
              <a:rPr sz="1500" spc="15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2060"/>
                </a:solidFill>
                <a:latin typeface="Verdana"/>
                <a:cs typeface="Verdana"/>
              </a:rPr>
              <a:t>Book,</a:t>
            </a:r>
            <a:r>
              <a:rPr sz="1500" spc="25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2060"/>
                </a:solidFill>
                <a:latin typeface="Verdana"/>
                <a:cs typeface="Verdana"/>
              </a:rPr>
              <a:t>Ch.14]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C5DC9-9602-2CCF-351A-3EF4C8725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Announcements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26158-BF5D-D6FA-C49F-B9D945895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733" y="1471167"/>
            <a:ext cx="9256933" cy="1873654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Phase 4 due on 03/31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Course Calendar: https://</a:t>
            </a:r>
            <a:r>
              <a:rPr lang="en-US" b="1" dirty="0" err="1"/>
              <a:t>docs.google.com</a:t>
            </a:r>
            <a:r>
              <a:rPr lang="en-US" b="1" dirty="0"/>
              <a:t>/spreadsheets/d/1QEXtib2QHE9eCnLVg2DY2obcndftr54ly-EiPqGJQNk/</a:t>
            </a:r>
            <a:r>
              <a:rPr lang="en-US" b="1" dirty="0" err="1"/>
              <a:t>edit?gid</a:t>
            </a:r>
            <a:r>
              <a:rPr lang="en-US" b="1"/>
              <a:t>=0#gid=0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75204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6527" y="322071"/>
            <a:ext cx="554101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I</a:t>
            </a:r>
            <a:r>
              <a:rPr spc="-130" dirty="0"/>
              <a:t>nd</a:t>
            </a:r>
            <a:r>
              <a:rPr spc="-125" dirty="0"/>
              <a:t>e</a:t>
            </a:r>
            <a:r>
              <a:rPr spc="-135" dirty="0"/>
              <a:t>x</a:t>
            </a:r>
            <a:r>
              <a:rPr spc="-125" dirty="0"/>
              <a:t>i</a:t>
            </a:r>
            <a:r>
              <a:rPr spc="-135" dirty="0"/>
              <a:t>n</a:t>
            </a:r>
            <a:r>
              <a:rPr dirty="0"/>
              <a:t>g</a:t>
            </a:r>
            <a:r>
              <a:rPr spc="-254" dirty="0"/>
              <a:t> </a:t>
            </a:r>
            <a:r>
              <a:rPr spc="-125" dirty="0"/>
              <a:t>i</a:t>
            </a:r>
            <a:r>
              <a:rPr dirty="0"/>
              <a:t>n</a:t>
            </a:r>
            <a:r>
              <a:rPr spc="-260" dirty="0"/>
              <a:t> </a:t>
            </a:r>
            <a:r>
              <a:rPr dirty="0"/>
              <a:t>a</a:t>
            </a:r>
            <a:r>
              <a:rPr spc="-254" dirty="0"/>
              <a:t> </a:t>
            </a:r>
            <a:r>
              <a:rPr spc="-130" dirty="0"/>
              <a:t>B</a:t>
            </a:r>
            <a:r>
              <a:rPr spc="-125" dirty="0"/>
              <a:t>oo</a:t>
            </a:r>
            <a:r>
              <a:rPr dirty="0"/>
              <a:t>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10523" y="1826889"/>
            <a:ext cx="5948045" cy="4460875"/>
            <a:chOff x="3810523" y="1826889"/>
            <a:chExt cx="5948045" cy="44608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523" y="1826889"/>
              <a:ext cx="5947686" cy="44607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168654" y="3139805"/>
              <a:ext cx="1072515" cy="532130"/>
            </a:xfrm>
            <a:custGeom>
              <a:avLst/>
              <a:gdLst/>
              <a:ahLst/>
              <a:cxnLst/>
              <a:rect l="l" t="t" r="r" b="b"/>
              <a:pathLst>
                <a:path w="1072515" h="532129">
                  <a:moveTo>
                    <a:pt x="0" y="266055"/>
                  </a:moveTo>
                  <a:lnTo>
                    <a:pt x="14160" y="205051"/>
                  </a:lnTo>
                  <a:lnTo>
                    <a:pt x="54496" y="149051"/>
                  </a:lnTo>
                  <a:lnTo>
                    <a:pt x="83474" y="123426"/>
                  </a:lnTo>
                  <a:lnTo>
                    <a:pt x="117789" y="99651"/>
                  </a:lnTo>
                  <a:lnTo>
                    <a:pt x="157038" y="77925"/>
                  </a:lnTo>
                  <a:lnTo>
                    <a:pt x="200820" y="58449"/>
                  </a:lnTo>
                  <a:lnTo>
                    <a:pt x="248732" y="41421"/>
                  </a:lnTo>
                  <a:lnTo>
                    <a:pt x="300372" y="27042"/>
                  </a:lnTo>
                  <a:lnTo>
                    <a:pt x="355337" y="15510"/>
                  </a:lnTo>
                  <a:lnTo>
                    <a:pt x="413225" y="7026"/>
                  </a:lnTo>
                  <a:lnTo>
                    <a:pt x="473635" y="1789"/>
                  </a:lnTo>
                  <a:lnTo>
                    <a:pt x="536163" y="0"/>
                  </a:lnTo>
                  <a:lnTo>
                    <a:pt x="598691" y="1789"/>
                  </a:lnTo>
                  <a:lnTo>
                    <a:pt x="659100" y="7026"/>
                  </a:lnTo>
                  <a:lnTo>
                    <a:pt x="716988" y="15510"/>
                  </a:lnTo>
                  <a:lnTo>
                    <a:pt x="771954" y="27042"/>
                  </a:lnTo>
                  <a:lnTo>
                    <a:pt x="823593" y="41421"/>
                  </a:lnTo>
                  <a:lnTo>
                    <a:pt x="871505" y="58449"/>
                  </a:lnTo>
                  <a:lnTo>
                    <a:pt x="915287" y="77925"/>
                  </a:lnTo>
                  <a:lnTo>
                    <a:pt x="954537" y="99651"/>
                  </a:lnTo>
                  <a:lnTo>
                    <a:pt x="988852" y="123426"/>
                  </a:lnTo>
                  <a:lnTo>
                    <a:pt x="1017830" y="149051"/>
                  </a:lnTo>
                  <a:lnTo>
                    <a:pt x="1058165" y="205051"/>
                  </a:lnTo>
                  <a:lnTo>
                    <a:pt x="1072326" y="266055"/>
                  </a:lnTo>
                  <a:lnTo>
                    <a:pt x="1068719" y="297083"/>
                  </a:lnTo>
                  <a:lnTo>
                    <a:pt x="1041068" y="355784"/>
                  </a:lnTo>
                  <a:lnTo>
                    <a:pt x="988852" y="408684"/>
                  </a:lnTo>
                  <a:lnTo>
                    <a:pt x="954537" y="432459"/>
                  </a:lnTo>
                  <a:lnTo>
                    <a:pt x="915287" y="454185"/>
                  </a:lnTo>
                  <a:lnTo>
                    <a:pt x="871505" y="473661"/>
                  </a:lnTo>
                  <a:lnTo>
                    <a:pt x="823593" y="490689"/>
                  </a:lnTo>
                  <a:lnTo>
                    <a:pt x="771954" y="505068"/>
                  </a:lnTo>
                  <a:lnTo>
                    <a:pt x="716988" y="516600"/>
                  </a:lnTo>
                  <a:lnTo>
                    <a:pt x="659100" y="525084"/>
                  </a:lnTo>
                  <a:lnTo>
                    <a:pt x="598691" y="530320"/>
                  </a:lnTo>
                  <a:lnTo>
                    <a:pt x="536163" y="532110"/>
                  </a:lnTo>
                  <a:lnTo>
                    <a:pt x="473635" y="530320"/>
                  </a:lnTo>
                  <a:lnTo>
                    <a:pt x="413225" y="525084"/>
                  </a:lnTo>
                  <a:lnTo>
                    <a:pt x="355337" y="516600"/>
                  </a:lnTo>
                  <a:lnTo>
                    <a:pt x="300372" y="505068"/>
                  </a:lnTo>
                  <a:lnTo>
                    <a:pt x="248732" y="490689"/>
                  </a:lnTo>
                  <a:lnTo>
                    <a:pt x="200820" y="473661"/>
                  </a:lnTo>
                  <a:lnTo>
                    <a:pt x="157038" y="454185"/>
                  </a:lnTo>
                  <a:lnTo>
                    <a:pt x="117789" y="432459"/>
                  </a:lnTo>
                  <a:lnTo>
                    <a:pt x="83474" y="408684"/>
                  </a:lnTo>
                  <a:lnTo>
                    <a:pt x="54496" y="383059"/>
                  </a:lnTo>
                  <a:lnTo>
                    <a:pt x="14160" y="327059"/>
                  </a:lnTo>
                  <a:lnTo>
                    <a:pt x="0" y="266055"/>
                  </a:lnTo>
                  <a:close/>
                </a:path>
              </a:pathLst>
            </a:custGeom>
            <a:ln w="3047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37815" y="1250696"/>
            <a:ext cx="662368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information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about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“Google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Cloud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SQL”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from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7815" y="4455160"/>
            <a:ext cx="3255645" cy="20554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7645" marR="5080" indent="-195580">
              <a:lnSpc>
                <a:spcPct val="101099"/>
              </a:lnSpc>
              <a:spcBef>
                <a:spcPts val="75"/>
              </a:spcBef>
              <a:buSzPct val="84210"/>
              <a:buFont typeface="Arial MT"/>
              <a:buChar char="•"/>
              <a:tabLst>
                <a:tab pos="208279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Look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for the keywords in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endParaRPr sz="1900" dirty="0">
              <a:latin typeface="Verdana"/>
              <a:cs typeface="Verdana"/>
            </a:endParaRPr>
          </a:p>
          <a:p>
            <a:pPr marL="207645" marR="400050" indent="-195580">
              <a:lnSpc>
                <a:spcPct val="101099"/>
              </a:lnSpc>
              <a:spcBef>
                <a:spcPts val="1075"/>
              </a:spcBef>
              <a:buSzPct val="84210"/>
              <a:buFont typeface="Arial MT"/>
              <a:buChar char="•"/>
              <a:tabLst>
                <a:tab pos="208279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Find the pages where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words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occur</a:t>
            </a:r>
            <a:endParaRPr sz="1900" dirty="0">
              <a:latin typeface="Verdana"/>
              <a:cs typeface="Verdana"/>
            </a:endParaRPr>
          </a:p>
          <a:p>
            <a:pPr marL="207645" marR="265430" indent="-195580">
              <a:lnSpc>
                <a:spcPct val="101099"/>
              </a:lnSpc>
              <a:spcBef>
                <a:spcPts val="1105"/>
              </a:spcBef>
              <a:buSzPct val="84210"/>
              <a:buFont typeface="Arial MT"/>
              <a:buChar char="•"/>
              <a:tabLst>
                <a:tab pos="208279" algn="l"/>
              </a:tabLst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Read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pages to find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information</a:t>
            </a:r>
            <a:endParaRPr sz="19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43937" y="6271767"/>
            <a:ext cx="157480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Sorted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order</a:t>
            </a:r>
            <a:endParaRPr sz="19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206" y="1871225"/>
            <a:ext cx="1735362" cy="22767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79094" y="3057144"/>
            <a:ext cx="1560830" cy="9753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250">
              <a:latin typeface="Times New Roman"/>
              <a:cs typeface="Times New Roman"/>
            </a:endParaRPr>
          </a:p>
          <a:p>
            <a:pPr marL="177800">
              <a:lnSpc>
                <a:spcPct val="100000"/>
              </a:lnSpc>
            </a:pPr>
            <a:r>
              <a:rPr sz="1900" dirty="0">
                <a:solidFill>
                  <a:srgbClr val="292934"/>
                </a:solidFill>
                <a:latin typeface="Consolas"/>
                <a:cs typeface="Consolas"/>
              </a:rPr>
              <a:t>Some</a:t>
            </a:r>
            <a:r>
              <a:rPr sz="1900" spc="-40" dirty="0">
                <a:solidFill>
                  <a:srgbClr val="292934"/>
                </a:solidFill>
                <a:latin typeface="Consolas"/>
                <a:cs typeface="Consolas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nsolas"/>
                <a:cs typeface="Consolas"/>
              </a:rPr>
              <a:t>book</a:t>
            </a:r>
            <a:endParaRPr sz="1900">
              <a:latin typeface="Consolas"/>
              <a:cs typeface="Consola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6205" y="1888337"/>
            <a:ext cx="431800" cy="130810"/>
          </a:xfrm>
          <a:custGeom>
            <a:avLst/>
            <a:gdLst/>
            <a:ahLst/>
            <a:cxnLst/>
            <a:rect l="l" t="t" r="r" b="b"/>
            <a:pathLst>
              <a:path w="431800" h="130810">
                <a:moveTo>
                  <a:pt x="431554" y="0"/>
                </a:moveTo>
                <a:lnTo>
                  <a:pt x="0" y="0"/>
                </a:lnTo>
                <a:lnTo>
                  <a:pt x="0" y="130756"/>
                </a:lnTo>
                <a:lnTo>
                  <a:pt x="431554" y="130756"/>
                </a:lnTo>
                <a:lnTo>
                  <a:pt x="4315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7920990" cy="661720"/>
          </a:xfrm>
        </p:spPr>
        <p:txBody>
          <a:bodyPr/>
          <a:lstStyle/>
          <a:p>
            <a:r>
              <a:rPr lang="en-US" dirty="0"/>
              <a:t>What is Indexing?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5457" y="1911754"/>
            <a:ext cx="7920990" cy="1066446"/>
          </a:xfrm>
        </p:spPr>
        <p:txBody>
          <a:bodyPr/>
          <a:lstStyle/>
          <a:p>
            <a:pPr marL="282893" lvl="1" indent="-282893">
              <a:buFont typeface="Arial" charset="0"/>
              <a:buChar char="•"/>
            </a:pPr>
            <a:r>
              <a:rPr lang="en-US" altLang="zh-CN" sz="2310" b="1" dirty="0">
                <a:ea typeface="宋体" charset="-122"/>
              </a:rPr>
              <a:t>A “</a:t>
            </a:r>
            <a:r>
              <a:rPr lang="en-US" altLang="zh-CN" sz="2310" b="1" dirty="0">
                <a:solidFill>
                  <a:srgbClr val="C00000"/>
                </a:solidFill>
                <a:ea typeface="宋体" charset="-122"/>
              </a:rPr>
              <a:t>labeled</a:t>
            </a:r>
            <a:r>
              <a:rPr lang="en-US" altLang="zh-CN" sz="2310" b="1" dirty="0">
                <a:ea typeface="宋体" charset="-122"/>
              </a:rPr>
              <a:t>” </a:t>
            </a:r>
            <a:r>
              <a:rPr lang="en-US" altLang="zh-CN" sz="2310" b="1" dirty="0">
                <a:solidFill>
                  <a:srgbClr val="C00000"/>
                </a:solidFill>
                <a:ea typeface="宋体" charset="-122"/>
              </a:rPr>
              <a:t>pointer</a:t>
            </a:r>
            <a:r>
              <a:rPr lang="en-US" altLang="zh-CN" sz="2310" b="1" dirty="0">
                <a:ea typeface="宋体" charset="-122"/>
              </a:rPr>
              <a:t> to an (a collection of) </a:t>
            </a:r>
            <a:r>
              <a:rPr lang="en-US" altLang="zh-CN" sz="2310" b="1" dirty="0">
                <a:solidFill>
                  <a:srgbClr val="C00000"/>
                </a:solidFill>
                <a:ea typeface="宋体" charset="-122"/>
              </a:rPr>
              <a:t>item</a:t>
            </a:r>
            <a:r>
              <a:rPr lang="en-US" altLang="zh-CN" sz="2310" b="1" dirty="0">
                <a:ea typeface="宋体" charset="-122"/>
              </a:rPr>
              <a:t> that satisfies some common property</a:t>
            </a:r>
          </a:p>
          <a:p>
            <a:pPr marL="282893" lvl="1" indent="-282893">
              <a:buFont typeface="Arial" charset="0"/>
              <a:buChar char="•"/>
            </a:pPr>
            <a:r>
              <a:rPr lang="en-US" altLang="zh-CN" sz="2310" b="1" dirty="0">
                <a:ea typeface="宋体" charset="-122"/>
              </a:rPr>
              <a:t>Examples in the Real World?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9E57DC2-970A-4B3E-BB1C-7A09969E49DF}" type="slidenum">
              <a:rPr lang="en-US" smtClean="0"/>
              <a:pPr/>
              <a:t>4</a:t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953" y="3137621"/>
            <a:ext cx="3207956" cy="33267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14" y="3232727"/>
            <a:ext cx="3434963" cy="326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45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920990" cy="661720"/>
          </a:xfrm>
        </p:spPr>
        <p:txBody>
          <a:bodyPr/>
          <a:lstStyle/>
          <a:p>
            <a:r>
              <a:rPr lang="en-US" dirty="0"/>
              <a:t>What is Indexing?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844" y="1295546"/>
            <a:ext cx="7920990" cy="1066446"/>
          </a:xfrm>
        </p:spPr>
        <p:txBody>
          <a:bodyPr/>
          <a:lstStyle/>
          <a:p>
            <a:pPr marL="282893" lvl="1" indent="-282893">
              <a:buFont typeface="Arial" charset="0"/>
              <a:buChar char="•"/>
            </a:pPr>
            <a:r>
              <a:rPr lang="en-US" altLang="zh-CN" sz="2310" b="1" dirty="0">
                <a:ea typeface="宋体" charset="-122"/>
              </a:rPr>
              <a:t>A “</a:t>
            </a:r>
            <a:r>
              <a:rPr lang="en-US" altLang="zh-CN" sz="2310" b="1" dirty="0">
                <a:solidFill>
                  <a:srgbClr val="C00000"/>
                </a:solidFill>
                <a:ea typeface="宋体" charset="-122"/>
              </a:rPr>
              <a:t>labeled</a:t>
            </a:r>
            <a:r>
              <a:rPr lang="en-US" altLang="zh-CN" sz="2310" b="1" dirty="0">
                <a:ea typeface="宋体" charset="-122"/>
              </a:rPr>
              <a:t>” </a:t>
            </a:r>
            <a:r>
              <a:rPr lang="en-US" altLang="zh-CN" sz="2310" b="1" dirty="0">
                <a:solidFill>
                  <a:srgbClr val="C00000"/>
                </a:solidFill>
                <a:ea typeface="宋体" charset="-122"/>
              </a:rPr>
              <a:t>pointer</a:t>
            </a:r>
            <a:r>
              <a:rPr lang="en-US" altLang="zh-CN" sz="2310" b="1" dirty="0">
                <a:ea typeface="宋体" charset="-122"/>
              </a:rPr>
              <a:t> to an (a collection of) </a:t>
            </a:r>
            <a:r>
              <a:rPr lang="en-US" altLang="zh-CN" sz="2310" b="1" dirty="0">
                <a:solidFill>
                  <a:srgbClr val="C00000"/>
                </a:solidFill>
                <a:ea typeface="宋体" charset="-122"/>
              </a:rPr>
              <a:t>item</a:t>
            </a:r>
            <a:r>
              <a:rPr lang="en-US" altLang="zh-CN" sz="2310" b="1" dirty="0">
                <a:ea typeface="宋体" charset="-122"/>
              </a:rPr>
              <a:t> that satisfies some common property</a:t>
            </a:r>
          </a:p>
          <a:p>
            <a:pPr marL="282893" lvl="1" indent="-282893">
              <a:buFont typeface="Arial" charset="0"/>
              <a:buChar char="•"/>
            </a:pPr>
            <a:r>
              <a:rPr lang="en-US" altLang="zh-CN" sz="2310" b="1" dirty="0">
                <a:ea typeface="宋体" charset="-122"/>
              </a:rPr>
              <a:t>Examples in the Real World?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9E57DC2-970A-4B3E-BB1C-7A09969E49DF}" type="slidenum">
              <a:rPr lang="en-US" smtClean="0"/>
              <a:pPr/>
              <a:t>5</a:t>
            </a:fld>
            <a:endParaRPr lang="zh-CN" altLang="en-US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964" y="3253008"/>
            <a:ext cx="5909310" cy="3247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964" y="3253007"/>
            <a:ext cx="1760220" cy="1289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697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Indexing?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0250"/>
            <a:ext cx="7920990" cy="1066446"/>
          </a:xfrm>
        </p:spPr>
        <p:txBody>
          <a:bodyPr/>
          <a:lstStyle/>
          <a:p>
            <a:pPr marL="282893" lvl="1" indent="-282893">
              <a:buFont typeface="Arial" charset="0"/>
              <a:buChar char="•"/>
            </a:pPr>
            <a:r>
              <a:rPr lang="en-US" altLang="zh-CN" sz="2310" b="1" dirty="0">
                <a:ea typeface="宋体" charset="-122"/>
              </a:rPr>
              <a:t>A “</a:t>
            </a:r>
            <a:r>
              <a:rPr lang="en-US" altLang="zh-CN" sz="2310" b="1" dirty="0">
                <a:solidFill>
                  <a:srgbClr val="C00000"/>
                </a:solidFill>
                <a:ea typeface="宋体" charset="-122"/>
              </a:rPr>
              <a:t>labeled</a:t>
            </a:r>
            <a:r>
              <a:rPr lang="en-US" altLang="zh-CN" sz="2310" b="1" dirty="0">
                <a:ea typeface="宋体" charset="-122"/>
              </a:rPr>
              <a:t>” </a:t>
            </a:r>
            <a:r>
              <a:rPr lang="en-US" altLang="zh-CN" sz="2310" b="1" dirty="0">
                <a:solidFill>
                  <a:srgbClr val="C00000"/>
                </a:solidFill>
                <a:ea typeface="宋体" charset="-122"/>
              </a:rPr>
              <a:t>pointer</a:t>
            </a:r>
            <a:r>
              <a:rPr lang="en-US" altLang="zh-CN" sz="2310" b="1" dirty="0">
                <a:ea typeface="宋体" charset="-122"/>
              </a:rPr>
              <a:t> to an (a collection of) </a:t>
            </a:r>
            <a:r>
              <a:rPr lang="en-US" altLang="zh-CN" sz="2310" b="1" dirty="0">
                <a:solidFill>
                  <a:srgbClr val="C00000"/>
                </a:solidFill>
                <a:ea typeface="宋体" charset="-122"/>
              </a:rPr>
              <a:t>item</a:t>
            </a:r>
            <a:r>
              <a:rPr lang="en-US" altLang="zh-CN" sz="2310" b="1" dirty="0">
                <a:ea typeface="宋体" charset="-122"/>
              </a:rPr>
              <a:t> that satisfies some common property</a:t>
            </a:r>
          </a:p>
          <a:p>
            <a:pPr marL="282893" lvl="1" indent="-282893">
              <a:buFont typeface="Arial" charset="0"/>
              <a:buChar char="•"/>
            </a:pPr>
            <a:r>
              <a:rPr lang="en-US" altLang="zh-CN" sz="2310" b="1" dirty="0">
                <a:ea typeface="宋体" charset="-122"/>
              </a:rPr>
              <a:t>Examples in the Real World?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9E57DC2-970A-4B3E-BB1C-7A09969E49DF}" type="slidenum">
              <a:rPr lang="en-US" smtClean="0"/>
              <a:pPr/>
              <a:t>6</a:t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2819400"/>
            <a:ext cx="3598143" cy="23891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17" y="2938214"/>
            <a:ext cx="3148550" cy="201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21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1452" y="322071"/>
            <a:ext cx="629031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I</a:t>
            </a:r>
            <a:r>
              <a:rPr spc="-130" dirty="0"/>
              <a:t>nd</a:t>
            </a:r>
            <a:r>
              <a:rPr spc="-125" dirty="0"/>
              <a:t>e</a:t>
            </a:r>
            <a:r>
              <a:rPr spc="-135" dirty="0"/>
              <a:t>x</a:t>
            </a:r>
            <a:r>
              <a:rPr spc="-125" dirty="0"/>
              <a:t>i</a:t>
            </a:r>
            <a:r>
              <a:rPr spc="-135" dirty="0"/>
              <a:t>n</a:t>
            </a:r>
            <a:r>
              <a:rPr dirty="0"/>
              <a:t>g</a:t>
            </a:r>
            <a:r>
              <a:rPr spc="-254" dirty="0"/>
              <a:t> </a:t>
            </a:r>
            <a:r>
              <a:rPr spc="-125" dirty="0"/>
              <a:t>i</a:t>
            </a:r>
            <a:r>
              <a:rPr dirty="0"/>
              <a:t>n</a:t>
            </a:r>
            <a:r>
              <a:rPr spc="-260" dirty="0"/>
              <a:t> </a:t>
            </a:r>
            <a:r>
              <a:rPr spc="-135" dirty="0"/>
              <a:t>D</a:t>
            </a:r>
            <a:r>
              <a:rPr spc="-130" dirty="0"/>
              <a:t>a</a:t>
            </a:r>
            <a:r>
              <a:rPr spc="-120" dirty="0"/>
              <a:t>t</a:t>
            </a:r>
            <a:r>
              <a:rPr spc="-125" dirty="0"/>
              <a:t>a</a:t>
            </a:r>
            <a:r>
              <a:rPr spc="-130" dirty="0"/>
              <a:t>bas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2856" y="1211071"/>
            <a:ext cx="84861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Example: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2100" spc="15" baseline="23809" dirty="0">
                <a:solidFill>
                  <a:srgbClr val="292934"/>
                </a:solidFill>
                <a:latin typeface="Verdana"/>
                <a:cs typeface="Verdana"/>
              </a:rPr>
              <a:t>nd</a:t>
            </a:r>
            <a:r>
              <a:rPr sz="2100" spc="397" baseline="2380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year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students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taken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&lt;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45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credits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32458" y="3097784"/>
            <a:ext cx="21386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credits</a:t>
            </a:r>
            <a:r>
              <a:rPr sz="21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&lt;</a:t>
            </a:r>
            <a:r>
              <a:rPr sz="21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45;</a:t>
            </a:r>
            <a:endParaRPr sz="210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66704" y="1865230"/>
            <a:ext cx="3178175" cy="987425"/>
            <a:chOff x="4566704" y="1865230"/>
            <a:chExt cx="3178175" cy="987425"/>
          </a:xfrm>
        </p:grpSpPr>
        <p:sp>
          <p:nvSpPr>
            <p:cNvPr id="6" name="object 6"/>
            <p:cNvSpPr/>
            <p:nvPr/>
          </p:nvSpPr>
          <p:spPr>
            <a:xfrm>
              <a:off x="4573478" y="1872004"/>
              <a:ext cx="3164205" cy="974090"/>
            </a:xfrm>
            <a:custGeom>
              <a:avLst/>
              <a:gdLst/>
              <a:ahLst/>
              <a:cxnLst/>
              <a:rect l="l" t="t" r="r" b="b"/>
              <a:pathLst>
                <a:path w="3164204" h="974089">
                  <a:moveTo>
                    <a:pt x="1318348" y="703825"/>
                  </a:moveTo>
                  <a:lnTo>
                    <a:pt x="527339" y="703825"/>
                  </a:lnTo>
                  <a:lnTo>
                    <a:pt x="188291" y="973665"/>
                  </a:lnTo>
                  <a:lnTo>
                    <a:pt x="1318348" y="703825"/>
                  </a:lnTo>
                  <a:close/>
                </a:path>
                <a:path w="3164204" h="974089">
                  <a:moveTo>
                    <a:pt x="3046732" y="0"/>
                  </a:moveTo>
                  <a:lnTo>
                    <a:pt x="117304" y="0"/>
                  </a:lnTo>
                  <a:lnTo>
                    <a:pt x="71644" y="9218"/>
                  </a:lnTo>
                  <a:lnTo>
                    <a:pt x="34357" y="34358"/>
                  </a:lnTo>
                  <a:lnTo>
                    <a:pt x="9218" y="71645"/>
                  </a:lnTo>
                  <a:lnTo>
                    <a:pt x="0" y="117306"/>
                  </a:lnTo>
                  <a:lnTo>
                    <a:pt x="0" y="586522"/>
                  </a:lnTo>
                  <a:lnTo>
                    <a:pt x="9218" y="632179"/>
                  </a:lnTo>
                  <a:lnTo>
                    <a:pt x="34357" y="669467"/>
                  </a:lnTo>
                  <a:lnTo>
                    <a:pt x="71644" y="694606"/>
                  </a:lnTo>
                  <a:lnTo>
                    <a:pt x="117304" y="703825"/>
                  </a:lnTo>
                  <a:lnTo>
                    <a:pt x="3046732" y="703825"/>
                  </a:lnTo>
                  <a:lnTo>
                    <a:pt x="3092393" y="694606"/>
                  </a:lnTo>
                  <a:lnTo>
                    <a:pt x="3129680" y="669467"/>
                  </a:lnTo>
                  <a:lnTo>
                    <a:pt x="3154820" y="632179"/>
                  </a:lnTo>
                  <a:lnTo>
                    <a:pt x="3164037" y="586522"/>
                  </a:lnTo>
                  <a:lnTo>
                    <a:pt x="3164038" y="117306"/>
                  </a:lnTo>
                  <a:lnTo>
                    <a:pt x="3154820" y="71645"/>
                  </a:lnTo>
                  <a:lnTo>
                    <a:pt x="3129680" y="34358"/>
                  </a:lnTo>
                  <a:lnTo>
                    <a:pt x="3092393" y="9218"/>
                  </a:lnTo>
                  <a:lnTo>
                    <a:pt x="3046732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3478" y="1872004"/>
              <a:ext cx="3164205" cy="974090"/>
            </a:xfrm>
            <a:custGeom>
              <a:avLst/>
              <a:gdLst/>
              <a:ahLst/>
              <a:cxnLst/>
              <a:rect l="l" t="t" r="r" b="b"/>
              <a:pathLst>
                <a:path w="3164204" h="974089">
                  <a:moveTo>
                    <a:pt x="0" y="117305"/>
                  </a:moveTo>
                  <a:lnTo>
                    <a:pt x="9218" y="71645"/>
                  </a:lnTo>
                  <a:lnTo>
                    <a:pt x="34357" y="34358"/>
                  </a:lnTo>
                  <a:lnTo>
                    <a:pt x="71644" y="9218"/>
                  </a:lnTo>
                  <a:lnTo>
                    <a:pt x="117305" y="0"/>
                  </a:lnTo>
                  <a:lnTo>
                    <a:pt x="527339" y="0"/>
                  </a:lnTo>
                  <a:lnTo>
                    <a:pt x="1318349" y="0"/>
                  </a:lnTo>
                  <a:lnTo>
                    <a:pt x="3046732" y="0"/>
                  </a:lnTo>
                  <a:lnTo>
                    <a:pt x="3092393" y="9218"/>
                  </a:lnTo>
                  <a:lnTo>
                    <a:pt x="3129680" y="34358"/>
                  </a:lnTo>
                  <a:lnTo>
                    <a:pt x="3154819" y="71645"/>
                  </a:lnTo>
                  <a:lnTo>
                    <a:pt x="3164038" y="117305"/>
                  </a:lnTo>
                  <a:lnTo>
                    <a:pt x="3164038" y="410565"/>
                  </a:lnTo>
                  <a:lnTo>
                    <a:pt x="3164038" y="586522"/>
                  </a:lnTo>
                  <a:lnTo>
                    <a:pt x="3154819" y="632179"/>
                  </a:lnTo>
                  <a:lnTo>
                    <a:pt x="3129680" y="669466"/>
                  </a:lnTo>
                  <a:lnTo>
                    <a:pt x="3092393" y="694606"/>
                  </a:lnTo>
                  <a:lnTo>
                    <a:pt x="3046732" y="703825"/>
                  </a:lnTo>
                  <a:lnTo>
                    <a:pt x="1318349" y="703825"/>
                  </a:lnTo>
                  <a:lnTo>
                    <a:pt x="188292" y="973665"/>
                  </a:lnTo>
                  <a:lnTo>
                    <a:pt x="527339" y="703825"/>
                  </a:lnTo>
                  <a:lnTo>
                    <a:pt x="117305" y="703825"/>
                  </a:lnTo>
                  <a:lnTo>
                    <a:pt x="71644" y="694606"/>
                  </a:lnTo>
                  <a:lnTo>
                    <a:pt x="34357" y="669466"/>
                  </a:lnTo>
                  <a:lnTo>
                    <a:pt x="9218" y="632179"/>
                  </a:lnTo>
                  <a:lnTo>
                    <a:pt x="0" y="586519"/>
                  </a:lnTo>
                  <a:lnTo>
                    <a:pt x="0" y="410565"/>
                  </a:lnTo>
                  <a:lnTo>
                    <a:pt x="0" y="117305"/>
                  </a:lnTo>
                  <a:close/>
                </a:path>
              </a:pathLst>
            </a:custGeom>
            <a:ln w="13546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69411" y="1973071"/>
            <a:ext cx="4752975" cy="845819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091689" marR="5080" indent="225425">
              <a:lnSpc>
                <a:spcPts val="1490"/>
              </a:lnSpc>
              <a:spcBef>
                <a:spcPts val="405"/>
              </a:spcBef>
            </a:pP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There might be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10,000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 tup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ourier New"/>
                <a:cs typeface="Courier New"/>
              </a:rPr>
              <a:t>student</a:t>
            </a:r>
            <a:r>
              <a:rPr sz="15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1500" spc="-3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re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2100" spc="-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*</a:t>
            </a:r>
            <a:endParaRPr sz="21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29933" y="3445665"/>
            <a:ext cx="4554220" cy="950594"/>
            <a:chOff x="729933" y="3445665"/>
            <a:chExt cx="4554220" cy="950594"/>
          </a:xfrm>
        </p:grpSpPr>
        <p:sp>
          <p:nvSpPr>
            <p:cNvPr id="10" name="object 10"/>
            <p:cNvSpPr/>
            <p:nvPr/>
          </p:nvSpPr>
          <p:spPr>
            <a:xfrm>
              <a:off x="736707" y="3452437"/>
              <a:ext cx="4540885" cy="937260"/>
            </a:xfrm>
            <a:custGeom>
              <a:avLst/>
              <a:gdLst/>
              <a:ahLst/>
              <a:cxnLst/>
              <a:rect l="l" t="t" r="r" b="b"/>
              <a:pathLst>
                <a:path w="4540885" h="937260">
                  <a:moveTo>
                    <a:pt x="4423161" y="233127"/>
                  </a:moveTo>
                  <a:lnTo>
                    <a:pt x="117305" y="233127"/>
                  </a:lnTo>
                  <a:lnTo>
                    <a:pt x="71644" y="242346"/>
                  </a:lnTo>
                  <a:lnTo>
                    <a:pt x="34357" y="267485"/>
                  </a:lnTo>
                  <a:lnTo>
                    <a:pt x="9218" y="304772"/>
                  </a:lnTo>
                  <a:lnTo>
                    <a:pt x="0" y="350433"/>
                  </a:lnTo>
                  <a:lnTo>
                    <a:pt x="0" y="819646"/>
                  </a:lnTo>
                  <a:lnTo>
                    <a:pt x="9218" y="865307"/>
                  </a:lnTo>
                  <a:lnTo>
                    <a:pt x="34357" y="902594"/>
                  </a:lnTo>
                  <a:lnTo>
                    <a:pt x="71644" y="927734"/>
                  </a:lnTo>
                  <a:lnTo>
                    <a:pt x="117305" y="936952"/>
                  </a:lnTo>
                  <a:lnTo>
                    <a:pt x="4423161" y="936952"/>
                  </a:lnTo>
                  <a:lnTo>
                    <a:pt x="4468821" y="927734"/>
                  </a:lnTo>
                  <a:lnTo>
                    <a:pt x="4506108" y="902594"/>
                  </a:lnTo>
                  <a:lnTo>
                    <a:pt x="4531248" y="865307"/>
                  </a:lnTo>
                  <a:lnTo>
                    <a:pt x="4540466" y="819646"/>
                  </a:lnTo>
                  <a:lnTo>
                    <a:pt x="4540466" y="350433"/>
                  </a:lnTo>
                  <a:lnTo>
                    <a:pt x="4531248" y="304772"/>
                  </a:lnTo>
                  <a:lnTo>
                    <a:pt x="4506108" y="267485"/>
                  </a:lnTo>
                  <a:lnTo>
                    <a:pt x="4468821" y="242346"/>
                  </a:lnTo>
                  <a:lnTo>
                    <a:pt x="4423161" y="233127"/>
                  </a:lnTo>
                  <a:close/>
                </a:path>
                <a:path w="4540885" h="937260">
                  <a:moveTo>
                    <a:pt x="2228780" y="0"/>
                  </a:moveTo>
                  <a:lnTo>
                    <a:pt x="756744" y="233127"/>
                  </a:lnTo>
                  <a:lnTo>
                    <a:pt x="1891861" y="233127"/>
                  </a:lnTo>
                  <a:lnTo>
                    <a:pt x="2228780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6707" y="3452438"/>
              <a:ext cx="4540885" cy="937260"/>
            </a:xfrm>
            <a:custGeom>
              <a:avLst/>
              <a:gdLst/>
              <a:ahLst/>
              <a:cxnLst/>
              <a:rect l="l" t="t" r="r" b="b"/>
              <a:pathLst>
                <a:path w="4540885" h="937260">
                  <a:moveTo>
                    <a:pt x="0" y="350432"/>
                  </a:moveTo>
                  <a:lnTo>
                    <a:pt x="9218" y="304772"/>
                  </a:lnTo>
                  <a:lnTo>
                    <a:pt x="34357" y="267485"/>
                  </a:lnTo>
                  <a:lnTo>
                    <a:pt x="71644" y="242345"/>
                  </a:lnTo>
                  <a:lnTo>
                    <a:pt x="117305" y="233126"/>
                  </a:lnTo>
                  <a:lnTo>
                    <a:pt x="756744" y="233126"/>
                  </a:lnTo>
                  <a:lnTo>
                    <a:pt x="2228781" y="0"/>
                  </a:lnTo>
                  <a:lnTo>
                    <a:pt x="1891861" y="233126"/>
                  </a:lnTo>
                  <a:lnTo>
                    <a:pt x="4423161" y="233126"/>
                  </a:lnTo>
                  <a:lnTo>
                    <a:pt x="4468822" y="242345"/>
                  </a:lnTo>
                  <a:lnTo>
                    <a:pt x="4506109" y="267485"/>
                  </a:lnTo>
                  <a:lnTo>
                    <a:pt x="4531248" y="304772"/>
                  </a:lnTo>
                  <a:lnTo>
                    <a:pt x="4540467" y="350432"/>
                  </a:lnTo>
                  <a:lnTo>
                    <a:pt x="4540467" y="526386"/>
                  </a:lnTo>
                  <a:lnTo>
                    <a:pt x="4540467" y="819646"/>
                  </a:lnTo>
                  <a:lnTo>
                    <a:pt x="4531248" y="865306"/>
                  </a:lnTo>
                  <a:lnTo>
                    <a:pt x="4506109" y="902593"/>
                  </a:lnTo>
                  <a:lnTo>
                    <a:pt x="4468822" y="927733"/>
                  </a:lnTo>
                  <a:lnTo>
                    <a:pt x="4423161" y="936951"/>
                  </a:lnTo>
                  <a:lnTo>
                    <a:pt x="1891861" y="936951"/>
                  </a:lnTo>
                  <a:lnTo>
                    <a:pt x="756744" y="936951"/>
                  </a:lnTo>
                  <a:lnTo>
                    <a:pt x="117305" y="936951"/>
                  </a:lnTo>
                  <a:lnTo>
                    <a:pt x="71644" y="927733"/>
                  </a:lnTo>
                  <a:lnTo>
                    <a:pt x="34357" y="902593"/>
                  </a:lnTo>
                  <a:lnTo>
                    <a:pt x="9218" y="865306"/>
                  </a:lnTo>
                  <a:lnTo>
                    <a:pt x="0" y="819646"/>
                  </a:lnTo>
                  <a:lnTo>
                    <a:pt x="0" y="526386"/>
                  </a:lnTo>
                  <a:lnTo>
                    <a:pt x="0" y="350432"/>
                  </a:lnTo>
                  <a:close/>
                </a:path>
              </a:pathLst>
            </a:custGeom>
            <a:ln w="13546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06984" y="2792984"/>
            <a:ext cx="4488815" cy="144018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874520" marR="5080">
              <a:lnSpc>
                <a:spcPts val="2400"/>
              </a:lnSpc>
              <a:spcBef>
                <a:spcPts val="28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FROM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students 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WHERE</a:t>
            </a:r>
            <a:r>
              <a:rPr sz="21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year=2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AND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>
              <a:latin typeface="Courier New"/>
              <a:cs typeface="Courier New"/>
            </a:endParaRPr>
          </a:p>
          <a:p>
            <a:pPr marL="432434" marR="316230" indent="-420370">
              <a:lnSpc>
                <a:spcPts val="1510"/>
              </a:lnSpc>
            </a:pP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Get</a:t>
            </a:r>
            <a:r>
              <a:rPr sz="15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all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10,000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tuples</a:t>
            </a:r>
            <a:r>
              <a:rPr sz="15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test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condition </a:t>
            </a:r>
            <a:r>
              <a:rPr sz="1500" spc="-5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th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ourier New"/>
                <a:cs typeface="Courier New"/>
              </a:rPr>
              <a:t>WHER</a:t>
            </a:r>
            <a:r>
              <a:rPr sz="15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1500" spc="-3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ac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tup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?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34622" y="6245388"/>
            <a:ext cx="6312535" cy="717550"/>
            <a:chOff x="3234622" y="6245388"/>
            <a:chExt cx="6312535" cy="717550"/>
          </a:xfrm>
        </p:grpSpPr>
        <p:sp>
          <p:nvSpPr>
            <p:cNvPr id="14" name="object 14"/>
            <p:cNvSpPr/>
            <p:nvPr/>
          </p:nvSpPr>
          <p:spPr>
            <a:xfrm>
              <a:off x="3241395" y="6252161"/>
              <a:ext cx="6298565" cy="704215"/>
            </a:xfrm>
            <a:custGeom>
              <a:avLst/>
              <a:gdLst/>
              <a:ahLst/>
              <a:cxnLst/>
              <a:rect l="l" t="t" r="r" b="b"/>
              <a:pathLst>
                <a:path w="6298565" h="704215">
                  <a:moveTo>
                    <a:pt x="6181205" y="0"/>
                  </a:moveTo>
                  <a:lnTo>
                    <a:pt x="117306" y="0"/>
                  </a:lnTo>
                  <a:lnTo>
                    <a:pt x="71645" y="9218"/>
                  </a:lnTo>
                  <a:lnTo>
                    <a:pt x="34358" y="34357"/>
                  </a:lnTo>
                  <a:lnTo>
                    <a:pt x="9218" y="71644"/>
                  </a:lnTo>
                  <a:lnTo>
                    <a:pt x="0" y="117304"/>
                  </a:lnTo>
                  <a:lnTo>
                    <a:pt x="0" y="586519"/>
                  </a:lnTo>
                  <a:lnTo>
                    <a:pt x="9218" y="632180"/>
                  </a:lnTo>
                  <a:lnTo>
                    <a:pt x="34358" y="669467"/>
                  </a:lnTo>
                  <a:lnTo>
                    <a:pt x="71645" y="694606"/>
                  </a:lnTo>
                  <a:lnTo>
                    <a:pt x="117306" y="703824"/>
                  </a:lnTo>
                  <a:lnTo>
                    <a:pt x="6181205" y="703824"/>
                  </a:lnTo>
                  <a:lnTo>
                    <a:pt x="6226866" y="694606"/>
                  </a:lnTo>
                  <a:lnTo>
                    <a:pt x="6264153" y="669467"/>
                  </a:lnTo>
                  <a:lnTo>
                    <a:pt x="6289293" y="632180"/>
                  </a:lnTo>
                  <a:lnTo>
                    <a:pt x="6298511" y="586519"/>
                  </a:lnTo>
                  <a:lnTo>
                    <a:pt x="6298511" y="117304"/>
                  </a:lnTo>
                  <a:lnTo>
                    <a:pt x="6289293" y="71644"/>
                  </a:lnTo>
                  <a:lnTo>
                    <a:pt x="6264153" y="34357"/>
                  </a:lnTo>
                  <a:lnTo>
                    <a:pt x="6226866" y="9218"/>
                  </a:lnTo>
                  <a:lnTo>
                    <a:pt x="6181205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41395" y="6252161"/>
              <a:ext cx="6298565" cy="704215"/>
            </a:xfrm>
            <a:custGeom>
              <a:avLst/>
              <a:gdLst/>
              <a:ahLst/>
              <a:cxnLst/>
              <a:rect l="l" t="t" r="r" b="b"/>
              <a:pathLst>
                <a:path w="6298565" h="704215">
                  <a:moveTo>
                    <a:pt x="0" y="117305"/>
                  </a:moveTo>
                  <a:lnTo>
                    <a:pt x="9218" y="71644"/>
                  </a:lnTo>
                  <a:lnTo>
                    <a:pt x="34357" y="34357"/>
                  </a:lnTo>
                  <a:lnTo>
                    <a:pt x="71644" y="9218"/>
                  </a:lnTo>
                  <a:lnTo>
                    <a:pt x="117304" y="0"/>
                  </a:lnTo>
                  <a:lnTo>
                    <a:pt x="1049751" y="0"/>
                  </a:lnTo>
                  <a:lnTo>
                    <a:pt x="3091753" y="0"/>
                  </a:lnTo>
                  <a:lnTo>
                    <a:pt x="2624379" y="0"/>
                  </a:lnTo>
                  <a:lnTo>
                    <a:pt x="6181206" y="0"/>
                  </a:lnTo>
                  <a:lnTo>
                    <a:pt x="6226866" y="9218"/>
                  </a:lnTo>
                  <a:lnTo>
                    <a:pt x="6264152" y="34357"/>
                  </a:lnTo>
                  <a:lnTo>
                    <a:pt x="6289292" y="71644"/>
                  </a:lnTo>
                  <a:lnTo>
                    <a:pt x="6298510" y="117305"/>
                  </a:lnTo>
                  <a:lnTo>
                    <a:pt x="6298510" y="293263"/>
                  </a:lnTo>
                  <a:lnTo>
                    <a:pt x="6298510" y="586519"/>
                  </a:lnTo>
                  <a:lnTo>
                    <a:pt x="6289292" y="632180"/>
                  </a:lnTo>
                  <a:lnTo>
                    <a:pt x="6264152" y="669467"/>
                  </a:lnTo>
                  <a:lnTo>
                    <a:pt x="6226866" y="694606"/>
                  </a:lnTo>
                  <a:lnTo>
                    <a:pt x="6181206" y="703825"/>
                  </a:lnTo>
                  <a:lnTo>
                    <a:pt x="2624379" y="703825"/>
                  </a:lnTo>
                  <a:lnTo>
                    <a:pt x="1049751" y="703825"/>
                  </a:lnTo>
                  <a:lnTo>
                    <a:pt x="117304" y="703825"/>
                  </a:lnTo>
                  <a:lnTo>
                    <a:pt x="71644" y="694606"/>
                  </a:lnTo>
                  <a:lnTo>
                    <a:pt x="34357" y="669467"/>
                  </a:lnTo>
                  <a:lnTo>
                    <a:pt x="9218" y="632180"/>
                  </a:lnTo>
                  <a:lnTo>
                    <a:pt x="0" y="586519"/>
                  </a:lnTo>
                  <a:lnTo>
                    <a:pt x="0" y="293263"/>
                  </a:lnTo>
                  <a:lnTo>
                    <a:pt x="0" y="117305"/>
                  </a:lnTo>
                  <a:close/>
                </a:path>
              </a:pathLst>
            </a:custGeom>
            <a:ln w="13546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82826" y="6353047"/>
            <a:ext cx="5785485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62255" marR="30480" indent="-224790">
              <a:lnSpc>
                <a:spcPts val="1610"/>
              </a:lnSpc>
              <a:spcBef>
                <a:spcPts val="310"/>
              </a:spcBef>
            </a:pP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there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 way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get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only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tuples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1500" spc="-15" baseline="22222" dirty="0">
                <a:solidFill>
                  <a:srgbClr val="FFFFFF"/>
                </a:solidFill>
                <a:latin typeface="Verdana"/>
                <a:cs typeface="Verdana"/>
              </a:rPr>
              <a:t>nd</a:t>
            </a:r>
            <a:r>
              <a:rPr sz="1500" spc="254" baseline="22222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year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students </a:t>
            </a:r>
            <a:r>
              <a:rPr sz="1500" spc="-5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then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test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each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them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see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if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credits</a:t>
            </a:r>
            <a:r>
              <a:rPr sz="15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match?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7995" y="4796535"/>
            <a:ext cx="6975475" cy="105600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32410" indent="-220345">
              <a:lnSpc>
                <a:spcPct val="100000"/>
              </a:lnSpc>
              <a:spcBef>
                <a:spcPts val="530"/>
              </a:spcBef>
              <a:buSzPct val="84210"/>
              <a:buFont typeface="Arial MT"/>
              <a:buChar char="•"/>
              <a:tabLst>
                <a:tab pos="232410" algn="l"/>
                <a:tab pos="233045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disk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block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corresponding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record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resides</a:t>
            </a:r>
            <a:endParaRPr sz="1900">
              <a:latin typeface="Verdana"/>
              <a:cs typeface="Verdana"/>
            </a:endParaRPr>
          </a:p>
          <a:p>
            <a:pPr marL="232410" indent="-220345">
              <a:lnSpc>
                <a:spcPct val="100000"/>
              </a:lnSpc>
              <a:spcBef>
                <a:spcPts val="430"/>
              </a:spcBef>
              <a:buSzPct val="84210"/>
              <a:buFont typeface="Arial MT"/>
              <a:buChar char="•"/>
              <a:tabLst>
                <a:tab pos="232410" algn="l"/>
                <a:tab pos="233045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Fetch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disk block</a:t>
            </a:r>
            <a:endParaRPr sz="1900">
              <a:latin typeface="Verdana"/>
              <a:cs typeface="Verdana"/>
            </a:endParaRPr>
          </a:p>
          <a:p>
            <a:pPr marL="232410" indent="-220345">
              <a:lnSpc>
                <a:spcPct val="100000"/>
              </a:lnSpc>
              <a:spcBef>
                <a:spcPts val="409"/>
              </a:spcBef>
              <a:buSzPct val="84210"/>
              <a:buFont typeface="Arial MT"/>
              <a:buChar char="•"/>
              <a:tabLst>
                <a:tab pos="232410" algn="l"/>
                <a:tab pos="233045" algn="l"/>
              </a:tabLst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Get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the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appropriate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student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records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1452" y="322071"/>
            <a:ext cx="629031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I</a:t>
            </a:r>
            <a:r>
              <a:rPr spc="-130" dirty="0"/>
              <a:t>nd</a:t>
            </a:r>
            <a:r>
              <a:rPr spc="-125" dirty="0"/>
              <a:t>e</a:t>
            </a:r>
            <a:r>
              <a:rPr spc="-135" dirty="0"/>
              <a:t>x</a:t>
            </a:r>
            <a:r>
              <a:rPr spc="-125" dirty="0"/>
              <a:t>i</a:t>
            </a:r>
            <a:r>
              <a:rPr spc="-135" dirty="0"/>
              <a:t>n</a:t>
            </a:r>
            <a:r>
              <a:rPr dirty="0"/>
              <a:t>g</a:t>
            </a:r>
            <a:r>
              <a:rPr spc="-254" dirty="0"/>
              <a:t> </a:t>
            </a:r>
            <a:r>
              <a:rPr spc="-125" dirty="0"/>
              <a:t>i</a:t>
            </a:r>
            <a:r>
              <a:rPr dirty="0"/>
              <a:t>n</a:t>
            </a:r>
            <a:r>
              <a:rPr spc="-260" dirty="0"/>
              <a:t> </a:t>
            </a:r>
            <a:r>
              <a:rPr spc="-135" dirty="0"/>
              <a:t>D</a:t>
            </a:r>
            <a:r>
              <a:rPr spc="-130" dirty="0"/>
              <a:t>a</a:t>
            </a:r>
            <a:r>
              <a:rPr spc="-120" dirty="0"/>
              <a:t>t</a:t>
            </a:r>
            <a:r>
              <a:rPr spc="-125" dirty="0"/>
              <a:t>a</a:t>
            </a:r>
            <a:r>
              <a:rPr spc="-130" dirty="0"/>
              <a:t>bas</a:t>
            </a:r>
            <a:r>
              <a:rPr dirty="0"/>
              <a:t>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936" y="4514088"/>
            <a:ext cx="1685544" cy="990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01583" y="4593335"/>
            <a:ext cx="1645920" cy="8930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75543" y="4638643"/>
            <a:ext cx="8507730" cy="75755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273050" marR="113664">
              <a:lnSpc>
                <a:spcPts val="2110"/>
              </a:lnSpc>
              <a:spcBef>
                <a:spcPts val="905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for 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built.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575091" y="3822593"/>
            <a:ext cx="3178175" cy="717550"/>
            <a:chOff x="6575091" y="3822593"/>
            <a:chExt cx="3178175" cy="717550"/>
          </a:xfrm>
        </p:grpSpPr>
        <p:sp>
          <p:nvSpPr>
            <p:cNvPr id="7" name="object 7"/>
            <p:cNvSpPr/>
            <p:nvPr/>
          </p:nvSpPr>
          <p:spPr>
            <a:xfrm>
              <a:off x="6581865" y="3829366"/>
              <a:ext cx="3164205" cy="704215"/>
            </a:xfrm>
            <a:custGeom>
              <a:avLst/>
              <a:gdLst/>
              <a:ahLst/>
              <a:cxnLst/>
              <a:rect l="l" t="t" r="r" b="b"/>
              <a:pathLst>
                <a:path w="3164204" h="704214">
                  <a:moveTo>
                    <a:pt x="3046733" y="0"/>
                  </a:moveTo>
                  <a:lnTo>
                    <a:pt x="117306" y="0"/>
                  </a:lnTo>
                  <a:lnTo>
                    <a:pt x="71645" y="9218"/>
                  </a:lnTo>
                  <a:lnTo>
                    <a:pt x="34358" y="34358"/>
                  </a:lnTo>
                  <a:lnTo>
                    <a:pt x="9218" y="71645"/>
                  </a:lnTo>
                  <a:lnTo>
                    <a:pt x="0" y="117306"/>
                  </a:lnTo>
                  <a:lnTo>
                    <a:pt x="0" y="586522"/>
                  </a:lnTo>
                  <a:lnTo>
                    <a:pt x="9218" y="632179"/>
                  </a:lnTo>
                  <a:lnTo>
                    <a:pt x="34358" y="669467"/>
                  </a:lnTo>
                  <a:lnTo>
                    <a:pt x="71645" y="694606"/>
                  </a:lnTo>
                  <a:lnTo>
                    <a:pt x="117306" y="703825"/>
                  </a:lnTo>
                  <a:lnTo>
                    <a:pt x="3046733" y="703825"/>
                  </a:lnTo>
                  <a:lnTo>
                    <a:pt x="3092393" y="694606"/>
                  </a:lnTo>
                  <a:lnTo>
                    <a:pt x="3129680" y="669467"/>
                  </a:lnTo>
                  <a:lnTo>
                    <a:pt x="3154820" y="632179"/>
                  </a:lnTo>
                  <a:lnTo>
                    <a:pt x="3164037" y="586522"/>
                  </a:lnTo>
                  <a:lnTo>
                    <a:pt x="3164038" y="117306"/>
                  </a:lnTo>
                  <a:lnTo>
                    <a:pt x="3154820" y="71645"/>
                  </a:lnTo>
                  <a:lnTo>
                    <a:pt x="3129680" y="34358"/>
                  </a:lnTo>
                  <a:lnTo>
                    <a:pt x="3092393" y="9218"/>
                  </a:lnTo>
                  <a:lnTo>
                    <a:pt x="3046733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81865" y="3829366"/>
              <a:ext cx="3164205" cy="704215"/>
            </a:xfrm>
            <a:custGeom>
              <a:avLst/>
              <a:gdLst/>
              <a:ahLst/>
              <a:cxnLst/>
              <a:rect l="l" t="t" r="r" b="b"/>
              <a:pathLst>
                <a:path w="3164204" h="704214">
                  <a:moveTo>
                    <a:pt x="0" y="117305"/>
                  </a:moveTo>
                  <a:lnTo>
                    <a:pt x="9218" y="71645"/>
                  </a:lnTo>
                  <a:lnTo>
                    <a:pt x="34357" y="34358"/>
                  </a:lnTo>
                  <a:lnTo>
                    <a:pt x="71644" y="9218"/>
                  </a:lnTo>
                  <a:lnTo>
                    <a:pt x="117305" y="0"/>
                  </a:lnTo>
                  <a:lnTo>
                    <a:pt x="527339" y="0"/>
                  </a:lnTo>
                  <a:lnTo>
                    <a:pt x="1318349" y="0"/>
                  </a:lnTo>
                  <a:lnTo>
                    <a:pt x="3046732" y="0"/>
                  </a:lnTo>
                  <a:lnTo>
                    <a:pt x="3092393" y="9218"/>
                  </a:lnTo>
                  <a:lnTo>
                    <a:pt x="3129680" y="34358"/>
                  </a:lnTo>
                  <a:lnTo>
                    <a:pt x="3154819" y="71645"/>
                  </a:lnTo>
                  <a:lnTo>
                    <a:pt x="3164038" y="117305"/>
                  </a:lnTo>
                  <a:lnTo>
                    <a:pt x="3164038" y="410565"/>
                  </a:lnTo>
                  <a:lnTo>
                    <a:pt x="3164038" y="586522"/>
                  </a:lnTo>
                  <a:lnTo>
                    <a:pt x="3154819" y="632179"/>
                  </a:lnTo>
                  <a:lnTo>
                    <a:pt x="3129680" y="669466"/>
                  </a:lnTo>
                  <a:lnTo>
                    <a:pt x="3092393" y="694606"/>
                  </a:lnTo>
                  <a:lnTo>
                    <a:pt x="3046732" y="703825"/>
                  </a:lnTo>
                  <a:lnTo>
                    <a:pt x="1318349" y="703825"/>
                  </a:lnTo>
                  <a:lnTo>
                    <a:pt x="527339" y="703825"/>
                  </a:lnTo>
                  <a:lnTo>
                    <a:pt x="117305" y="703825"/>
                  </a:lnTo>
                  <a:lnTo>
                    <a:pt x="71644" y="694606"/>
                  </a:lnTo>
                  <a:lnTo>
                    <a:pt x="34357" y="669466"/>
                  </a:lnTo>
                  <a:lnTo>
                    <a:pt x="9218" y="632179"/>
                  </a:lnTo>
                  <a:lnTo>
                    <a:pt x="0" y="586519"/>
                  </a:lnTo>
                  <a:lnTo>
                    <a:pt x="0" y="494255"/>
                  </a:lnTo>
                  <a:lnTo>
                    <a:pt x="0" y="410565"/>
                  </a:lnTo>
                  <a:lnTo>
                    <a:pt x="0" y="117305"/>
                  </a:lnTo>
                  <a:close/>
                </a:path>
              </a:pathLst>
            </a:custGeom>
            <a:ln w="13546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214629" marR="5080" indent="-195580">
              <a:lnSpc>
                <a:spcPct val="97100"/>
              </a:lnSpc>
              <a:spcBef>
                <a:spcPts val="17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15900" algn="l"/>
              </a:tabLst>
            </a:pPr>
            <a:r>
              <a:rPr spc="10" dirty="0">
                <a:solidFill>
                  <a:srgbClr val="C00000"/>
                </a:solidFill>
              </a:rPr>
              <a:t>Indexing</a:t>
            </a:r>
            <a:r>
              <a:rPr spc="30" dirty="0">
                <a:solidFill>
                  <a:srgbClr val="C00000"/>
                </a:solidFill>
              </a:rPr>
              <a:t> </a:t>
            </a:r>
            <a:r>
              <a:rPr dirty="0"/>
              <a:t>=</a:t>
            </a:r>
            <a:r>
              <a:rPr spc="35" dirty="0"/>
              <a:t> </a:t>
            </a:r>
            <a:r>
              <a:rPr spc="10" dirty="0"/>
              <a:t>data</a:t>
            </a:r>
            <a:r>
              <a:rPr spc="30" dirty="0"/>
              <a:t> </a:t>
            </a:r>
            <a:r>
              <a:rPr spc="10" dirty="0"/>
              <a:t>structure</a:t>
            </a:r>
            <a:r>
              <a:rPr spc="25" dirty="0"/>
              <a:t> </a:t>
            </a:r>
            <a:r>
              <a:rPr spc="10" dirty="0"/>
              <a:t>technique</a:t>
            </a:r>
            <a:r>
              <a:rPr spc="30" dirty="0"/>
              <a:t> </a:t>
            </a:r>
            <a:r>
              <a:rPr spc="5" dirty="0"/>
              <a:t>to</a:t>
            </a:r>
            <a:r>
              <a:rPr spc="20" dirty="0"/>
              <a:t> </a:t>
            </a:r>
            <a:r>
              <a:rPr spc="10" dirty="0">
                <a:solidFill>
                  <a:srgbClr val="C00000"/>
                </a:solidFill>
              </a:rPr>
              <a:t>optimize</a:t>
            </a:r>
            <a:r>
              <a:rPr spc="20" dirty="0">
                <a:solidFill>
                  <a:srgbClr val="C00000"/>
                </a:solidFill>
              </a:rPr>
              <a:t> </a:t>
            </a:r>
            <a:r>
              <a:rPr spc="5" dirty="0">
                <a:solidFill>
                  <a:srgbClr val="C00000"/>
                </a:solidFill>
              </a:rPr>
              <a:t>the</a:t>
            </a:r>
            <a:r>
              <a:rPr spc="25" dirty="0">
                <a:solidFill>
                  <a:srgbClr val="C00000"/>
                </a:solidFill>
              </a:rPr>
              <a:t> </a:t>
            </a:r>
            <a:r>
              <a:rPr spc="10" dirty="0">
                <a:solidFill>
                  <a:srgbClr val="C00000"/>
                </a:solidFill>
              </a:rPr>
              <a:t>performance </a:t>
            </a:r>
            <a:r>
              <a:rPr spc="15" dirty="0">
                <a:solidFill>
                  <a:srgbClr val="C00000"/>
                </a:solidFill>
              </a:rPr>
              <a:t> </a:t>
            </a:r>
            <a:r>
              <a:rPr spc="5" dirty="0"/>
              <a:t>of</a:t>
            </a:r>
            <a:r>
              <a:rPr spc="15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10" dirty="0"/>
              <a:t>database</a:t>
            </a:r>
            <a:r>
              <a:rPr spc="25" dirty="0"/>
              <a:t> </a:t>
            </a:r>
            <a:r>
              <a:rPr spc="10" dirty="0"/>
              <a:t>by</a:t>
            </a:r>
            <a:r>
              <a:rPr spc="30" dirty="0"/>
              <a:t> </a:t>
            </a:r>
            <a:r>
              <a:rPr spc="10" dirty="0"/>
              <a:t>minimizing</a:t>
            </a:r>
            <a:r>
              <a:rPr spc="35" dirty="0"/>
              <a:t> </a:t>
            </a:r>
            <a:r>
              <a:rPr spc="5" dirty="0"/>
              <a:t>the</a:t>
            </a:r>
            <a:r>
              <a:rPr spc="20" dirty="0"/>
              <a:t> </a:t>
            </a:r>
            <a:r>
              <a:rPr spc="15" dirty="0"/>
              <a:t>number</a:t>
            </a:r>
            <a:r>
              <a:rPr spc="20" dirty="0"/>
              <a:t> </a:t>
            </a:r>
            <a:r>
              <a:rPr spc="5" dirty="0"/>
              <a:t>of</a:t>
            </a:r>
            <a:r>
              <a:rPr spc="15" dirty="0"/>
              <a:t> </a:t>
            </a:r>
            <a:r>
              <a:rPr spc="5" dirty="0"/>
              <a:t>disk</a:t>
            </a:r>
            <a:r>
              <a:rPr spc="35" dirty="0"/>
              <a:t> </a:t>
            </a:r>
            <a:r>
              <a:rPr spc="10" dirty="0"/>
              <a:t>accesses</a:t>
            </a:r>
            <a:r>
              <a:rPr spc="20" dirty="0"/>
              <a:t> </a:t>
            </a:r>
            <a:r>
              <a:rPr spc="10" dirty="0"/>
              <a:t>required </a:t>
            </a:r>
            <a:r>
              <a:rPr spc="-720" dirty="0"/>
              <a:t> </a:t>
            </a:r>
            <a:r>
              <a:rPr spc="10" dirty="0"/>
              <a:t>when</a:t>
            </a:r>
            <a:r>
              <a:rPr spc="20" dirty="0"/>
              <a:t> </a:t>
            </a:r>
            <a:r>
              <a:rPr spc="10" dirty="0"/>
              <a:t>query</a:t>
            </a:r>
            <a:r>
              <a:rPr spc="30" dirty="0"/>
              <a:t> </a:t>
            </a:r>
            <a:r>
              <a:rPr spc="5" dirty="0"/>
              <a:t>is</a:t>
            </a:r>
            <a:r>
              <a:rPr spc="20" dirty="0"/>
              <a:t> </a:t>
            </a:r>
            <a:r>
              <a:rPr spc="10" dirty="0"/>
              <a:t>processed</a:t>
            </a:r>
          </a:p>
          <a:p>
            <a:pPr marL="6985">
              <a:lnSpc>
                <a:spcPct val="100000"/>
              </a:lnSpc>
              <a:spcBef>
                <a:spcPts val="35"/>
              </a:spcBef>
              <a:buClr>
                <a:srgbClr val="292934"/>
              </a:buClr>
              <a:buFont typeface="Arial MT"/>
              <a:buChar char="•"/>
            </a:pPr>
            <a:endParaRPr sz="2500"/>
          </a:p>
          <a:p>
            <a:pPr marL="214629" marR="847090" indent="-195580">
              <a:lnSpc>
                <a:spcPct val="100000"/>
              </a:lnSpc>
              <a:buSzPct val="85714"/>
              <a:buFont typeface="Arial MT"/>
              <a:buChar char="•"/>
              <a:tabLst>
                <a:tab pos="215900" algn="l"/>
              </a:tabLst>
            </a:pPr>
            <a:r>
              <a:rPr spc="10" dirty="0"/>
              <a:t>Basic</a:t>
            </a:r>
            <a:r>
              <a:rPr spc="15" dirty="0"/>
              <a:t> </a:t>
            </a:r>
            <a:r>
              <a:rPr spc="10" dirty="0"/>
              <a:t>algorithm</a:t>
            </a:r>
            <a:r>
              <a:rPr spc="45" dirty="0"/>
              <a:t> </a:t>
            </a:r>
            <a:r>
              <a:rPr spc="5" dirty="0"/>
              <a:t>to</a:t>
            </a:r>
            <a:r>
              <a:rPr spc="25" dirty="0"/>
              <a:t> </a:t>
            </a:r>
            <a:r>
              <a:rPr spc="5" dirty="0"/>
              <a:t>search</a:t>
            </a:r>
            <a:r>
              <a:rPr spc="25" dirty="0"/>
              <a:t> </a:t>
            </a:r>
            <a:r>
              <a:rPr dirty="0"/>
              <a:t>–</a:t>
            </a:r>
            <a:r>
              <a:rPr spc="25" dirty="0"/>
              <a:t> </a:t>
            </a:r>
            <a:r>
              <a:rPr spc="-35" dirty="0">
                <a:solidFill>
                  <a:srgbClr val="C00000"/>
                </a:solidFill>
              </a:rPr>
              <a:t>linear</a:t>
            </a:r>
            <a:r>
              <a:rPr spc="-35" dirty="0"/>
              <a:t>.</a:t>
            </a:r>
            <a:r>
              <a:rPr spc="15" dirty="0"/>
              <a:t> </a:t>
            </a:r>
            <a:r>
              <a:rPr spc="-25" dirty="0"/>
              <a:t>However,</a:t>
            </a:r>
            <a:r>
              <a:rPr spc="15" dirty="0"/>
              <a:t> complex</a:t>
            </a:r>
            <a:r>
              <a:rPr spc="30" dirty="0"/>
              <a:t> </a:t>
            </a:r>
            <a:r>
              <a:rPr spc="5" dirty="0"/>
              <a:t>search </a:t>
            </a:r>
            <a:r>
              <a:rPr spc="-725" dirty="0"/>
              <a:t> </a:t>
            </a:r>
            <a:r>
              <a:rPr spc="10" dirty="0"/>
              <a:t>queries</a:t>
            </a:r>
            <a:r>
              <a:rPr spc="15" dirty="0"/>
              <a:t> </a:t>
            </a:r>
            <a:r>
              <a:rPr spc="10" dirty="0"/>
              <a:t>(especially</a:t>
            </a:r>
            <a:r>
              <a:rPr spc="30" dirty="0"/>
              <a:t> </a:t>
            </a:r>
            <a:r>
              <a:rPr spc="10" dirty="0"/>
              <a:t>with</a:t>
            </a:r>
            <a:r>
              <a:rPr spc="25" dirty="0"/>
              <a:t> </a:t>
            </a:r>
            <a:r>
              <a:rPr spc="5" dirty="0"/>
              <a:t>joins)</a:t>
            </a:r>
            <a:r>
              <a:rPr spc="25" dirty="0"/>
              <a:t> </a:t>
            </a:r>
            <a:r>
              <a:rPr spc="10" dirty="0"/>
              <a:t>impacts</a:t>
            </a:r>
            <a:r>
              <a:rPr spc="20" dirty="0"/>
              <a:t> </a:t>
            </a:r>
            <a:r>
              <a:rPr spc="10" dirty="0"/>
              <a:t>performance</a:t>
            </a:r>
          </a:p>
          <a:p>
            <a:pPr marL="6985">
              <a:lnSpc>
                <a:spcPct val="100000"/>
              </a:lnSpc>
              <a:spcBef>
                <a:spcPts val="35"/>
              </a:spcBef>
              <a:buClr>
                <a:srgbClr val="292934"/>
              </a:buClr>
              <a:buFont typeface="Arial MT"/>
              <a:buChar char="•"/>
            </a:pPr>
            <a:endParaRPr sz="2500"/>
          </a:p>
          <a:p>
            <a:pPr marL="214629" indent="-195580">
              <a:lnSpc>
                <a:spcPct val="100000"/>
              </a:lnSpc>
              <a:buSzPct val="85714"/>
              <a:buFont typeface="Arial MT"/>
              <a:buChar char="•"/>
              <a:tabLst>
                <a:tab pos="215900" algn="l"/>
              </a:tabLst>
            </a:pPr>
            <a:r>
              <a:rPr spc="10" dirty="0"/>
              <a:t>Indexing</a:t>
            </a:r>
            <a:r>
              <a:rPr spc="25" dirty="0"/>
              <a:t> </a:t>
            </a:r>
            <a:r>
              <a:rPr spc="10" dirty="0"/>
              <a:t>helps </a:t>
            </a:r>
            <a:r>
              <a:rPr spc="10" dirty="0">
                <a:solidFill>
                  <a:srgbClr val="C00000"/>
                </a:solidFill>
              </a:rPr>
              <a:t>improve</a:t>
            </a:r>
            <a:r>
              <a:rPr spc="15" dirty="0">
                <a:solidFill>
                  <a:srgbClr val="C00000"/>
                </a:solidFill>
              </a:rPr>
              <a:t> </a:t>
            </a:r>
            <a:r>
              <a:rPr spc="10" dirty="0">
                <a:solidFill>
                  <a:srgbClr val="C00000"/>
                </a:solidFill>
              </a:rPr>
              <a:t>performance</a:t>
            </a:r>
          </a:p>
          <a:p>
            <a:pPr marL="6567805" marR="158750" indent="-71755">
              <a:lnSpc>
                <a:spcPts val="1610"/>
              </a:lnSpc>
              <a:spcBef>
                <a:spcPts val="665"/>
              </a:spcBef>
            </a:pPr>
            <a:r>
              <a:rPr sz="1500" spc="-5" dirty="0">
                <a:solidFill>
                  <a:srgbClr val="FFFFFF"/>
                </a:solidFill>
              </a:rPr>
              <a:t>Common</a:t>
            </a:r>
            <a:r>
              <a:rPr sz="1500" spc="-35" dirty="0">
                <a:solidFill>
                  <a:srgbClr val="FFFFFF"/>
                </a:solidFill>
              </a:rPr>
              <a:t> </a:t>
            </a:r>
            <a:r>
              <a:rPr sz="1500" spc="-10" dirty="0">
                <a:solidFill>
                  <a:srgbClr val="FFFFFF"/>
                </a:solidFill>
              </a:rPr>
              <a:t>structure</a:t>
            </a:r>
            <a:r>
              <a:rPr sz="1500" spc="-30" dirty="0">
                <a:solidFill>
                  <a:srgbClr val="FFFFFF"/>
                </a:solidFill>
              </a:rPr>
              <a:t> </a:t>
            </a:r>
            <a:r>
              <a:rPr sz="1500" spc="-5" dirty="0">
                <a:solidFill>
                  <a:srgbClr val="FFFFFF"/>
                </a:solidFill>
              </a:rPr>
              <a:t>used</a:t>
            </a:r>
            <a:r>
              <a:rPr sz="1500" spc="-30" dirty="0">
                <a:solidFill>
                  <a:srgbClr val="FFFFFF"/>
                </a:solidFill>
              </a:rPr>
              <a:t> </a:t>
            </a:r>
            <a:r>
              <a:rPr sz="1500" spc="-5" dirty="0">
                <a:solidFill>
                  <a:srgbClr val="FFFFFF"/>
                </a:solidFill>
              </a:rPr>
              <a:t>by </a:t>
            </a:r>
            <a:r>
              <a:rPr sz="1500" spc="-509" dirty="0">
                <a:solidFill>
                  <a:srgbClr val="FFFFFF"/>
                </a:solidFill>
              </a:rPr>
              <a:t> </a:t>
            </a:r>
            <a:r>
              <a:rPr sz="1500" dirty="0">
                <a:solidFill>
                  <a:srgbClr val="FFFFFF"/>
                </a:solidFill>
              </a:rPr>
              <a:t>a</a:t>
            </a:r>
            <a:r>
              <a:rPr sz="1500" spc="-25" dirty="0">
                <a:solidFill>
                  <a:srgbClr val="FFFFFF"/>
                </a:solidFill>
              </a:rPr>
              <a:t> </a:t>
            </a:r>
            <a:r>
              <a:rPr sz="1500" spc="-10" dirty="0">
                <a:solidFill>
                  <a:srgbClr val="FFFFFF"/>
                </a:solidFill>
              </a:rPr>
              <a:t>typical</a:t>
            </a:r>
            <a:r>
              <a:rPr sz="1500" spc="-15" dirty="0">
                <a:solidFill>
                  <a:srgbClr val="FFFFFF"/>
                </a:solidFill>
              </a:rPr>
              <a:t> </a:t>
            </a:r>
            <a:r>
              <a:rPr sz="1500" spc="-10" dirty="0">
                <a:solidFill>
                  <a:srgbClr val="FFFFFF"/>
                </a:solidFill>
              </a:rPr>
              <a:t>DBMS</a:t>
            </a:r>
            <a:r>
              <a:rPr sz="1500" spc="-20" dirty="0">
                <a:solidFill>
                  <a:srgbClr val="FFFFFF"/>
                </a:solidFill>
              </a:rPr>
              <a:t> </a:t>
            </a:r>
            <a:r>
              <a:rPr sz="1500" dirty="0">
                <a:solidFill>
                  <a:srgbClr val="FFFFFF"/>
                </a:solidFill>
              </a:rPr>
              <a:t>is</a:t>
            </a:r>
            <a:r>
              <a:rPr sz="1500" spc="-30" dirty="0">
                <a:solidFill>
                  <a:srgbClr val="FFFFFF"/>
                </a:solidFill>
              </a:rPr>
              <a:t> </a:t>
            </a:r>
            <a:r>
              <a:rPr sz="1500" spc="-5" dirty="0">
                <a:solidFill>
                  <a:srgbClr val="FFFFFF"/>
                </a:solidFill>
              </a:rPr>
              <a:t>B+</a:t>
            </a:r>
            <a:r>
              <a:rPr sz="1500" spc="-20" dirty="0">
                <a:solidFill>
                  <a:srgbClr val="FFFFFF"/>
                </a:solidFill>
              </a:rPr>
              <a:t> </a:t>
            </a:r>
            <a:r>
              <a:rPr sz="1500" spc="-5" dirty="0">
                <a:solidFill>
                  <a:srgbClr val="FFFFFF"/>
                </a:solidFill>
              </a:rPr>
              <a:t>tree</a:t>
            </a:r>
            <a:endParaRPr sz="1500"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9936" y="5772911"/>
            <a:ext cx="1685544" cy="98755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01583" y="5849111"/>
            <a:ext cx="1645920" cy="89306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75543" y="5895773"/>
            <a:ext cx="8507730" cy="75755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2799080" marR="527685" indent="-2243455">
              <a:lnSpc>
                <a:spcPts val="2090"/>
              </a:lnSpc>
              <a:spcBef>
                <a:spcPts val="935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Rule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thumb: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Create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used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frequently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1452" y="322071"/>
            <a:ext cx="629031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I</a:t>
            </a:r>
            <a:r>
              <a:rPr spc="-130" dirty="0"/>
              <a:t>nd</a:t>
            </a:r>
            <a:r>
              <a:rPr spc="-125" dirty="0"/>
              <a:t>e</a:t>
            </a:r>
            <a:r>
              <a:rPr spc="-135" dirty="0"/>
              <a:t>x</a:t>
            </a:r>
            <a:r>
              <a:rPr spc="-125" dirty="0"/>
              <a:t>i</a:t>
            </a:r>
            <a:r>
              <a:rPr spc="-135" dirty="0"/>
              <a:t>n</a:t>
            </a:r>
            <a:r>
              <a:rPr dirty="0"/>
              <a:t>g</a:t>
            </a:r>
            <a:r>
              <a:rPr spc="-254" dirty="0"/>
              <a:t> </a:t>
            </a:r>
            <a:r>
              <a:rPr spc="-125" dirty="0"/>
              <a:t>i</a:t>
            </a:r>
            <a:r>
              <a:rPr dirty="0"/>
              <a:t>n</a:t>
            </a:r>
            <a:r>
              <a:rPr spc="-260" dirty="0"/>
              <a:t> </a:t>
            </a:r>
            <a:r>
              <a:rPr spc="-135" dirty="0"/>
              <a:t>D</a:t>
            </a:r>
            <a:r>
              <a:rPr spc="-130" dirty="0"/>
              <a:t>a</a:t>
            </a:r>
            <a:r>
              <a:rPr spc="-120" dirty="0"/>
              <a:t>t</a:t>
            </a:r>
            <a:r>
              <a:rPr spc="-125" dirty="0"/>
              <a:t>a</a:t>
            </a:r>
            <a:r>
              <a:rPr spc="-130" dirty="0"/>
              <a:t>bas</a:t>
            </a:r>
            <a:r>
              <a:rPr dirty="0"/>
              <a:t>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89199" y="2600330"/>
            <a:ext cx="859155" cy="1494790"/>
            <a:chOff x="3289199" y="2600330"/>
            <a:chExt cx="859155" cy="1494790"/>
          </a:xfrm>
        </p:grpSpPr>
        <p:sp>
          <p:nvSpPr>
            <p:cNvPr id="4" name="object 4"/>
            <p:cNvSpPr/>
            <p:nvPr/>
          </p:nvSpPr>
          <p:spPr>
            <a:xfrm>
              <a:off x="3296184" y="2607315"/>
              <a:ext cx="845185" cy="1480820"/>
            </a:xfrm>
            <a:custGeom>
              <a:avLst/>
              <a:gdLst/>
              <a:ahLst/>
              <a:cxnLst/>
              <a:rect l="l" t="t" r="r" b="b"/>
              <a:pathLst>
                <a:path w="845185" h="1480820">
                  <a:moveTo>
                    <a:pt x="0" y="0"/>
                  </a:moveTo>
                  <a:lnTo>
                    <a:pt x="0" y="1480458"/>
                  </a:lnTo>
                  <a:lnTo>
                    <a:pt x="844730" y="1184366"/>
                  </a:lnTo>
                  <a:lnTo>
                    <a:pt x="844730" y="2960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96184" y="2607315"/>
              <a:ext cx="845185" cy="1480820"/>
            </a:xfrm>
            <a:custGeom>
              <a:avLst/>
              <a:gdLst/>
              <a:ahLst/>
              <a:cxnLst/>
              <a:rect l="l" t="t" r="r" b="b"/>
              <a:pathLst>
                <a:path w="845185" h="1480820">
                  <a:moveTo>
                    <a:pt x="0" y="1480457"/>
                  </a:moveTo>
                  <a:lnTo>
                    <a:pt x="0" y="0"/>
                  </a:lnTo>
                  <a:lnTo>
                    <a:pt x="844730" y="296091"/>
                  </a:lnTo>
                  <a:lnTo>
                    <a:pt x="844730" y="1184366"/>
                  </a:lnTo>
                  <a:lnTo>
                    <a:pt x="0" y="1480457"/>
                  </a:lnTo>
                  <a:close/>
                </a:path>
              </a:pathLst>
            </a:custGeom>
            <a:ln w="1354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49788" y="3172459"/>
            <a:ext cx="640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00" spc="-5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15748" y="3178555"/>
            <a:ext cx="650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65193" y="2949955"/>
            <a:ext cx="882650" cy="79692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60960" algn="just">
              <a:lnSpc>
                <a:spcPct val="90600"/>
              </a:lnSpc>
              <a:spcBef>
                <a:spcPts val="300"/>
              </a:spcBef>
            </a:pP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Blocks </a:t>
            </a:r>
            <a:r>
              <a:rPr sz="1800" spc="-6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holding </a:t>
            </a:r>
            <a:r>
              <a:rPr sz="1800" spc="-6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rec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79080" y="3074923"/>
            <a:ext cx="1066800" cy="5562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04775" marR="5080" indent="-92710">
              <a:lnSpc>
                <a:spcPts val="2020"/>
              </a:lnSpc>
              <a:spcBef>
                <a:spcPts val="280"/>
              </a:spcBef>
            </a:pPr>
            <a:r>
              <a:rPr sz="1800" spc="15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at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ch</a:t>
            </a:r>
            <a:r>
              <a:rPr sz="1800" spc="-5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g 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records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64371" y="3294331"/>
            <a:ext cx="854075" cy="106680"/>
          </a:xfrm>
          <a:custGeom>
            <a:avLst/>
            <a:gdLst/>
            <a:ahLst/>
            <a:cxnLst/>
            <a:rect l="l" t="t" r="r" b="b"/>
            <a:pathLst>
              <a:path w="854075" h="106679">
                <a:moveTo>
                  <a:pt x="762238" y="0"/>
                </a:moveTo>
                <a:lnTo>
                  <a:pt x="759127" y="817"/>
                </a:lnTo>
                <a:lnTo>
                  <a:pt x="756300" y="5664"/>
                </a:lnTo>
                <a:lnTo>
                  <a:pt x="757119" y="8775"/>
                </a:lnTo>
                <a:lnTo>
                  <a:pt x="824591" y="48134"/>
                </a:lnTo>
                <a:lnTo>
                  <a:pt x="843381" y="48134"/>
                </a:lnTo>
                <a:lnTo>
                  <a:pt x="843381" y="58294"/>
                </a:lnTo>
                <a:lnTo>
                  <a:pt x="824591" y="58294"/>
                </a:lnTo>
                <a:lnTo>
                  <a:pt x="757119" y="97652"/>
                </a:lnTo>
                <a:lnTo>
                  <a:pt x="756300" y="100764"/>
                </a:lnTo>
                <a:lnTo>
                  <a:pt x="759127" y="105610"/>
                </a:lnTo>
                <a:lnTo>
                  <a:pt x="762238" y="106429"/>
                </a:lnTo>
                <a:lnTo>
                  <a:pt x="844755" y="58294"/>
                </a:lnTo>
                <a:lnTo>
                  <a:pt x="843381" y="58294"/>
                </a:lnTo>
                <a:lnTo>
                  <a:pt x="844757" y="58292"/>
                </a:lnTo>
                <a:lnTo>
                  <a:pt x="853464" y="53214"/>
                </a:lnTo>
                <a:lnTo>
                  <a:pt x="762238" y="0"/>
                </a:lnTo>
                <a:close/>
              </a:path>
              <a:path w="854075" h="106679">
                <a:moveTo>
                  <a:pt x="833300" y="53214"/>
                </a:moveTo>
                <a:lnTo>
                  <a:pt x="824591" y="58294"/>
                </a:lnTo>
                <a:lnTo>
                  <a:pt x="843381" y="58294"/>
                </a:lnTo>
                <a:lnTo>
                  <a:pt x="843381" y="57602"/>
                </a:lnTo>
                <a:lnTo>
                  <a:pt x="840822" y="57602"/>
                </a:lnTo>
                <a:lnTo>
                  <a:pt x="833300" y="53214"/>
                </a:lnTo>
                <a:close/>
              </a:path>
              <a:path w="854075" h="106679">
                <a:moveTo>
                  <a:pt x="0" y="48132"/>
                </a:moveTo>
                <a:lnTo>
                  <a:pt x="0" y="58292"/>
                </a:lnTo>
                <a:lnTo>
                  <a:pt x="824593" y="58292"/>
                </a:lnTo>
                <a:lnTo>
                  <a:pt x="833300" y="53214"/>
                </a:lnTo>
                <a:lnTo>
                  <a:pt x="824591" y="48134"/>
                </a:lnTo>
                <a:lnTo>
                  <a:pt x="0" y="48132"/>
                </a:lnTo>
                <a:close/>
              </a:path>
              <a:path w="854075" h="106679">
                <a:moveTo>
                  <a:pt x="840822" y="48826"/>
                </a:moveTo>
                <a:lnTo>
                  <a:pt x="833300" y="53214"/>
                </a:lnTo>
                <a:lnTo>
                  <a:pt x="840822" y="57602"/>
                </a:lnTo>
                <a:lnTo>
                  <a:pt x="840822" y="48826"/>
                </a:lnTo>
                <a:close/>
              </a:path>
              <a:path w="854075" h="106679">
                <a:moveTo>
                  <a:pt x="843381" y="48826"/>
                </a:moveTo>
                <a:lnTo>
                  <a:pt x="840822" y="48826"/>
                </a:lnTo>
                <a:lnTo>
                  <a:pt x="840822" y="57602"/>
                </a:lnTo>
                <a:lnTo>
                  <a:pt x="843381" y="57602"/>
                </a:lnTo>
                <a:lnTo>
                  <a:pt x="843381" y="48826"/>
                </a:lnTo>
                <a:close/>
              </a:path>
              <a:path w="854075" h="106679">
                <a:moveTo>
                  <a:pt x="824591" y="48134"/>
                </a:moveTo>
                <a:lnTo>
                  <a:pt x="833300" y="53214"/>
                </a:lnTo>
                <a:lnTo>
                  <a:pt x="840822" y="48826"/>
                </a:lnTo>
                <a:lnTo>
                  <a:pt x="843381" y="48826"/>
                </a:lnTo>
                <a:lnTo>
                  <a:pt x="843381" y="48134"/>
                </a:lnTo>
                <a:lnTo>
                  <a:pt x="824591" y="48134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45421" y="3294331"/>
            <a:ext cx="854075" cy="106680"/>
          </a:xfrm>
          <a:custGeom>
            <a:avLst/>
            <a:gdLst/>
            <a:ahLst/>
            <a:cxnLst/>
            <a:rect l="l" t="t" r="r" b="b"/>
            <a:pathLst>
              <a:path w="854075" h="106679">
                <a:moveTo>
                  <a:pt x="762237" y="0"/>
                </a:moveTo>
                <a:lnTo>
                  <a:pt x="759127" y="817"/>
                </a:lnTo>
                <a:lnTo>
                  <a:pt x="756300" y="5664"/>
                </a:lnTo>
                <a:lnTo>
                  <a:pt x="757118" y="8775"/>
                </a:lnTo>
                <a:lnTo>
                  <a:pt x="824590" y="48134"/>
                </a:lnTo>
                <a:lnTo>
                  <a:pt x="843380" y="48134"/>
                </a:lnTo>
                <a:lnTo>
                  <a:pt x="843380" y="58294"/>
                </a:lnTo>
                <a:lnTo>
                  <a:pt x="824590" y="58294"/>
                </a:lnTo>
                <a:lnTo>
                  <a:pt x="757118" y="97652"/>
                </a:lnTo>
                <a:lnTo>
                  <a:pt x="756300" y="100764"/>
                </a:lnTo>
                <a:lnTo>
                  <a:pt x="759127" y="105610"/>
                </a:lnTo>
                <a:lnTo>
                  <a:pt x="762237" y="106429"/>
                </a:lnTo>
                <a:lnTo>
                  <a:pt x="844754" y="58294"/>
                </a:lnTo>
                <a:lnTo>
                  <a:pt x="843380" y="58294"/>
                </a:lnTo>
                <a:lnTo>
                  <a:pt x="844756" y="58292"/>
                </a:lnTo>
                <a:lnTo>
                  <a:pt x="853462" y="53214"/>
                </a:lnTo>
                <a:lnTo>
                  <a:pt x="762237" y="0"/>
                </a:lnTo>
                <a:close/>
              </a:path>
              <a:path w="854075" h="106679">
                <a:moveTo>
                  <a:pt x="833299" y="53214"/>
                </a:moveTo>
                <a:lnTo>
                  <a:pt x="824590" y="58294"/>
                </a:lnTo>
                <a:lnTo>
                  <a:pt x="843380" y="58294"/>
                </a:lnTo>
                <a:lnTo>
                  <a:pt x="843380" y="57602"/>
                </a:lnTo>
                <a:lnTo>
                  <a:pt x="840821" y="57602"/>
                </a:lnTo>
                <a:lnTo>
                  <a:pt x="833299" y="53214"/>
                </a:lnTo>
                <a:close/>
              </a:path>
              <a:path w="854075" h="106679">
                <a:moveTo>
                  <a:pt x="0" y="48132"/>
                </a:moveTo>
                <a:lnTo>
                  <a:pt x="0" y="58292"/>
                </a:lnTo>
                <a:lnTo>
                  <a:pt x="824592" y="58292"/>
                </a:lnTo>
                <a:lnTo>
                  <a:pt x="833299" y="53214"/>
                </a:lnTo>
                <a:lnTo>
                  <a:pt x="824590" y="48134"/>
                </a:lnTo>
                <a:lnTo>
                  <a:pt x="0" y="48132"/>
                </a:lnTo>
                <a:close/>
              </a:path>
              <a:path w="854075" h="106679">
                <a:moveTo>
                  <a:pt x="840821" y="48826"/>
                </a:moveTo>
                <a:lnTo>
                  <a:pt x="833299" y="53214"/>
                </a:lnTo>
                <a:lnTo>
                  <a:pt x="840821" y="57602"/>
                </a:lnTo>
                <a:lnTo>
                  <a:pt x="840821" y="48826"/>
                </a:lnTo>
                <a:close/>
              </a:path>
              <a:path w="854075" h="106679">
                <a:moveTo>
                  <a:pt x="843380" y="48826"/>
                </a:moveTo>
                <a:lnTo>
                  <a:pt x="840821" y="48826"/>
                </a:lnTo>
                <a:lnTo>
                  <a:pt x="840821" y="57602"/>
                </a:lnTo>
                <a:lnTo>
                  <a:pt x="843380" y="57602"/>
                </a:lnTo>
                <a:lnTo>
                  <a:pt x="843380" y="48826"/>
                </a:lnTo>
                <a:close/>
              </a:path>
              <a:path w="854075" h="106679">
                <a:moveTo>
                  <a:pt x="824590" y="48134"/>
                </a:moveTo>
                <a:lnTo>
                  <a:pt x="833299" y="53214"/>
                </a:lnTo>
                <a:lnTo>
                  <a:pt x="840821" y="48826"/>
                </a:lnTo>
                <a:lnTo>
                  <a:pt x="843380" y="48826"/>
                </a:lnTo>
                <a:lnTo>
                  <a:pt x="843380" y="48134"/>
                </a:lnTo>
                <a:lnTo>
                  <a:pt x="824590" y="48134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21262" y="3294331"/>
            <a:ext cx="854075" cy="106680"/>
          </a:xfrm>
          <a:custGeom>
            <a:avLst/>
            <a:gdLst/>
            <a:ahLst/>
            <a:cxnLst/>
            <a:rect l="l" t="t" r="r" b="b"/>
            <a:pathLst>
              <a:path w="854075" h="106679">
                <a:moveTo>
                  <a:pt x="762237" y="0"/>
                </a:moveTo>
                <a:lnTo>
                  <a:pt x="759127" y="817"/>
                </a:lnTo>
                <a:lnTo>
                  <a:pt x="756300" y="5664"/>
                </a:lnTo>
                <a:lnTo>
                  <a:pt x="757118" y="8775"/>
                </a:lnTo>
                <a:lnTo>
                  <a:pt x="824591" y="48134"/>
                </a:lnTo>
                <a:lnTo>
                  <a:pt x="843380" y="48134"/>
                </a:lnTo>
                <a:lnTo>
                  <a:pt x="843380" y="58294"/>
                </a:lnTo>
                <a:lnTo>
                  <a:pt x="824591" y="58294"/>
                </a:lnTo>
                <a:lnTo>
                  <a:pt x="757118" y="97652"/>
                </a:lnTo>
                <a:lnTo>
                  <a:pt x="756300" y="100764"/>
                </a:lnTo>
                <a:lnTo>
                  <a:pt x="759127" y="105610"/>
                </a:lnTo>
                <a:lnTo>
                  <a:pt x="762237" y="106429"/>
                </a:lnTo>
                <a:lnTo>
                  <a:pt x="844755" y="58294"/>
                </a:lnTo>
                <a:lnTo>
                  <a:pt x="843380" y="58294"/>
                </a:lnTo>
                <a:lnTo>
                  <a:pt x="844757" y="58292"/>
                </a:lnTo>
                <a:lnTo>
                  <a:pt x="853464" y="53214"/>
                </a:lnTo>
                <a:lnTo>
                  <a:pt x="762237" y="0"/>
                </a:lnTo>
                <a:close/>
              </a:path>
              <a:path w="854075" h="106679">
                <a:moveTo>
                  <a:pt x="833300" y="53214"/>
                </a:moveTo>
                <a:lnTo>
                  <a:pt x="824591" y="58294"/>
                </a:lnTo>
                <a:lnTo>
                  <a:pt x="843380" y="58294"/>
                </a:lnTo>
                <a:lnTo>
                  <a:pt x="843380" y="57602"/>
                </a:lnTo>
                <a:lnTo>
                  <a:pt x="840822" y="57602"/>
                </a:lnTo>
                <a:lnTo>
                  <a:pt x="833300" y="53214"/>
                </a:lnTo>
                <a:close/>
              </a:path>
              <a:path w="854075" h="106679">
                <a:moveTo>
                  <a:pt x="0" y="48132"/>
                </a:moveTo>
                <a:lnTo>
                  <a:pt x="0" y="58292"/>
                </a:lnTo>
                <a:lnTo>
                  <a:pt x="824593" y="58292"/>
                </a:lnTo>
                <a:lnTo>
                  <a:pt x="833300" y="53214"/>
                </a:lnTo>
                <a:lnTo>
                  <a:pt x="824591" y="48134"/>
                </a:lnTo>
                <a:lnTo>
                  <a:pt x="0" y="48132"/>
                </a:lnTo>
                <a:close/>
              </a:path>
              <a:path w="854075" h="106679">
                <a:moveTo>
                  <a:pt x="840822" y="48826"/>
                </a:moveTo>
                <a:lnTo>
                  <a:pt x="833300" y="53214"/>
                </a:lnTo>
                <a:lnTo>
                  <a:pt x="840822" y="57602"/>
                </a:lnTo>
                <a:lnTo>
                  <a:pt x="840822" y="48826"/>
                </a:lnTo>
                <a:close/>
              </a:path>
              <a:path w="854075" h="106679">
                <a:moveTo>
                  <a:pt x="843380" y="48826"/>
                </a:moveTo>
                <a:lnTo>
                  <a:pt x="840822" y="48826"/>
                </a:lnTo>
                <a:lnTo>
                  <a:pt x="840822" y="57602"/>
                </a:lnTo>
                <a:lnTo>
                  <a:pt x="843380" y="57602"/>
                </a:lnTo>
                <a:lnTo>
                  <a:pt x="843380" y="48826"/>
                </a:lnTo>
                <a:close/>
              </a:path>
              <a:path w="854075" h="106679">
                <a:moveTo>
                  <a:pt x="824591" y="48134"/>
                </a:moveTo>
                <a:lnTo>
                  <a:pt x="833300" y="53214"/>
                </a:lnTo>
                <a:lnTo>
                  <a:pt x="840822" y="48826"/>
                </a:lnTo>
                <a:lnTo>
                  <a:pt x="843380" y="48826"/>
                </a:lnTo>
                <a:lnTo>
                  <a:pt x="843380" y="48134"/>
                </a:lnTo>
                <a:lnTo>
                  <a:pt x="824591" y="48134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3034519" y="2556786"/>
            <a:ext cx="3395345" cy="2939415"/>
            <a:chOff x="3034519" y="2556786"/>
            <a:chExt cx="3395345" cy="2939415"/>
          </a:xfrm>
        </p:grpSpPr>
        <p:sp>
          <p:nvSpPr>
            <p:cNvPr id="14" name="object 14"/>
            <p:cNvSpPr/>
            <p:nvPr/>
          </p:nvSpPr>
          <p:spPr>
            <a:xfrm>
              <a:off x="3039599" y="5115550"/>
              <a:ext cx="2577465" cy="375285"/>
            </a:xfrm>
            <a:custGeom>
              <a:avLst/>
              <a:gdLst/>
              <a:ahLst/>
              <a:cxnLst/>
              <a:rect l="l" t="t" r="r" b="b"/>
              <a:pathLst>
                <a:path w="2577465" h="375285">
                  <a:moveTo>
                    <a:pt x="0" y="0"/>
                  </a:moveTo>
                  <a:lnTo>
                    <a:pt x="2577433" y="0"/>
                  </a:lnTo>
                  <a:lnTo>
                    <a:pt x="2577433" y="375021"/>
                  </a:lnTo>
                  <a:lnTo>
                    <a:pt x="0" y="375021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85946" y="2563771"/>
              <a:ext cx="1236980" cy="1584960"/>
            </a:xfrm>
            <a:custGeom>
              <a:avLst/>
              <a:gdLst/>
              <a:ahLst/>
              <a:cxnLst/>
              <a:rect l="l" t="t" r="r" b="b"/>
              <a:pathLst>
                <a:path w="1236979" h="1584960">
                  <a:moveTo>
                    <a:pt x="0" y="0"/>
                  </a:moveTo>
                  <a:lnTo>
                    <a:pt x="1236617" y="0"/>
                  </a:lnTo>
                  <a:lnTo>
                    <a:pt x="1236617" y="1584959"/>
                  </a:lnTo>
                  <a:lnTo>
                    <a:pt x="0" y="1584959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44678" y="5150611"/>
            <a:ext cx="2567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0715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solidFill>
                  <a:srgbClr val="011EAA"/>
                </a:solidFill>
                <a:latin typeface="Verdana"/>
                <a:cs typeface="Verdana"/>
              </a:rPr>
              <a:t>Search</a:t>
            </a:r>
            <a:r>
              <a:rPr sz="1800" spc="-4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011EAA"/>
                </a:solidFill>
                <a:latin typeface="Verdana"/>
                <a:cs typeface="Verdana"/>
              </a:rPr>
              <a:t>key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623854" y="5115550"/>
            <a:ext cx="2577465" cy="375285"/>
          </a:xfrm>
          <a:custGeom>
            <a:avLst/>
            <a:gdLst/>
            <a:ahLst/>
            <a:cxnLst/>
            <a:rect l="l" t="t" r="r" b="b"/>
            <a:pathLst>
              <a:path w="2577465" h="375285">
                <a:moveTo>
                  <a:pt x="0" y="0"/>
                </a:moveTo>
                <a:lnTo>
                  <a:pt x="2577433" y="0"/>
                </a:lnTo>
                <a:lnTo>
                  <a:pt x="2577433" y="375021"/>
                </a:lnTo>
                <a:lnTo>
                  <a:pt x="0" y="375021"/>
                </a:lnTo>
                <a:lnTo>
                  <a:pt x="0" y="0"/>
                </a:lnTo>
                <a:close/>
              </a:path>
            </a:pathLst>
          </a:custGeom>
          <a:ln w="10159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628934" y="5150611"/>
            <a:ext cx="2567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2909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solidFill>
                  <a:srgbClr val="407700"/>
                </a:solidFill>
                <a:latin typeface="Verdana"/>
                <a:cs typeface="Verdana"/>
              </a:rPr>
              <a:t>Data</a:t>
            </a:r>
            <a:r>
              <a:rPr sz="1800" spc="-1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7700"/>
                </a:solidFill>
                <a:latin typeface="Verdana"/>
                <a:cs typeface="Verdana"/>
              </a:rPr>
              <a:t>reference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14906" y="5530088"/>
            <a:ext cx="3169920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4475" marR="5080" indent="-232410">
              <a:lnSpc>
                <a:spcPts val="1610"/>
              </a:lnSpc>
              <a:spcBef>
                <a:spcPts val="310"/>
              </a:spcBef>
            </a:pPr>
            <a:r>
              <a:rPr sz="1500" spc="-15" dirty="0">
                <a:solidFill>
                  <a:srgbClr val="011EAA"/>
                </a:solidFill>
                <a:latin typeface="Verdana"/>
                <a:cs typeface="Verdana"/>
              </a:rPr>
              <a:t>May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be primary </a:t>
            </a:r>
            <a:r>
              <a:rPr sz="1500" spc="-10" dirty="0">
                <a:solidFill>
                  <a:srgbClr val="011EAA"/>
                </a:solidFill>
                <a:latin typeface="Verdana"/>
                <a:cs typeface="Verdana"/>
              </a:rPr>
              <a:t>key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or </a:t>
            </a:r>
            <a:r>
              <a:rPr sz="1500" spc="-10" dirty="0">
                <a:solidFill>
                  <a:srgbClr val="011EAA"/>
                </a:solidFill>
                <a:latin typeface="Verdana"/>
                <a:cs typeface="Verdana"/>
              </a:rPr>
              <a:t>candidate </a:t>
            </a:r>
            <a:r>
              <a:rPr sz="1500" spc="-51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11EAA"/>
                </a:solidFill>
                <a:latin typeface="Verdana"/>
                <a:cs typeface="Verdana"/>
              </a:rPr>
              <a:t>key</a:t>
            </a:r>
            <a:r>
              <a:rPr sz="1500" spc="-2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of</a:t>
            </a:r>
            <a:r>
              <a:rPr sz="1500" spc="-2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the</a:t>
            </a:r>
            <a:r>
              <a:rPr sz="1500" spc="-2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table</a:t>
            </a:r>
            <a:r>
              <a:rPr sz="1500" spc="-2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(sorted</a:t>
            </a:r>
            <a:r>
              <a:rPr sz="1500" spc="-2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order)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55092" y="5530088"/>
            <a:ext cx="3268345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610"/>
              </a:lnSpc>
              <a:spcBef>
                <a:spcPts val="310"/>
              </a:spcBef>
            </a:pP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Hold</a:t>
            </a:r>
            <a:r>
              <a:rPr sz="1500" spc="-2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the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address</a:t>
            </a:r>
            <a:r>
              <a:rPr sz="1500" spc="-3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of</a:t>
            </a:r>
            <a:r>
              <a:rPr sz="1500" spc="-3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the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disk</a:t>
            </a:r>
            <a:r>
              <a:rPr sz="1500" spc="-2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block </a:t>
            </a:r>
            <a:r>
              <a:rPr sz="1500" spc="-51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where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the</a:t>
            </a:r>
            <a:r>
              <a:rPr sz="1500" spc="-1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407700"/>
                </a:solidFill>
                <a:latin typeface="Verdana"/>
                <a:cs typeface="Verdana"/>
              </a:rPr>
              <a:t>key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15" dirty="0">
                <a:solidFill>
                  <a:srgbClr val="407700"/>
                </a:solidFill>
                <a:latin typeface="Verdana"/>
                <a:cs typeface="Verdana"/>
              </a:rPr>
              <a:t>value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407700"/>
                </a:solidFill>
                <a:latin typeface="Verdana"/>
                <a:cs typeface="Verdana"/>
              </a:rPr>
              <a:t>can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be</a:t>
            </a:r>
            <a:r>
              <a:rPr sz="1500" spc="-1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found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18376" y="4077293"/>
            <a:ext cx="7309484" cy="2004060"/>
          </a:xfrm>
          <a:custGeom>
            <a:avLst/>
            <a:gdLst/>
            <a:ahLst/>
            <a:cxnLst/>
            <a:rect l="l" t="t" r="r" b="b"/>
            <a:pathLst>
              <a:path w="7309484" h="2004060">
                <a:moveTo>
                  <a:pt x="0" y="912593"/>
                </a:moveTo>
                <a:lnTo>
                  <a:pt x="7309155" y="912593"/>
                </a:lnTo>
                <a:lnTo>
                  <a:pt x="7309155" y="2003472"/>
                </a:lnTo>
                <a:lnTo>
                  <a:pt x="0" y="2003472"/>
                </a:lnTo>
                <a:lnTo>
                  <a:pt x="0" y="912593"/>
                </a:lnTo>
                <a:close/>
              </a:path>
              <a:path w="7309484" h="2004060">
                <a:moveTo>
                  <a:pt x="2641671" y="870388"/>
                </a:moveTo>
                <a:lnTo>
                  <a:pt x="2638242" y="640345"/>
                </a:lnTo>
                <a:lnTo>
                  <a:pt x="1488657" y="0"/>
                </a:lnTo>
              </a:path>
            </a:pathLst>
          </a:custGeom>
          <a:ln w="28185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02755" y="6087871"/>
            <a:ext cx="31203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57576E"/>
                </a:solidFill>
                <a:latin typeface="Verdana"/>
                <a:cs typeface="Verdana"/>
              </a:rPr>
              <a:t>General</a:t>
            </a:r>
            <a:r>
              <a:rPr sz="1500" spc="-20" dirty="0">
                <a:solidFill>
                  <a:srgbClr val="57576E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57576E"/>
                </a:solidFill>
                <a:latin typeface="Verdana"/>
                <a:cs typeface="Verdana"/>
              </a:rPr>
              <a:t>index</a:t>
            </a:r>
            <a:r>
              <a:rPr sz="1500" spc="-30" dirty="0">
                <a:solidFill>
                  <a:srgbClr val="57576E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57576E"/>
                </a:solidFill>
                <a:latin typeface="Verdana"/>
                <a:cs typeface="Verdana"/>
              </a:rPr>
              <a:t>record</a:t>
            </a:r>
            <a:r>
              <a:rPr sz="1500" spc="-20" dirty="0">
                <a:solidFill>
                  <a:srgbClr val="57576E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57576E"/>
                </a:solidFill>
                <a:latin typeface="Verdana"/>
                <a:cs typeface="Verdana"/>
              </a:rPr>
              <a:t>(structure)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425531" y="1973639"/>
            <a:ext cx="3355975" cy="701675"/>
            <a:chOff x="3425531" y="1973639"/>
            <a:chExt cx="3355975" cy="701675"/>
          </a:xfrm>
        </p:grpSpPr>
        <p:sp>
          <p:nvSpPr>
            <p:cNvPr id="24" name="object 24"/>
            <p:cNvSpPr/>
            <p:nvPr/>
          </p:nvSpPr>
          <p:spPr>
            <a:xfrm>
              <a:off x="3432516" y="1980624"/>
              <a:ext cx="3342004" cy="687705"/>
            </a:xfrm>
            <a:custGeom>
              <a:avLst/>
              <a:gdLst/>
              <a:ahLst/>
              <a:cxnLst/>
              <a:rect l="l" t="t" r="r" b="b"/>
              <a:pathLst>
                <a:path w="3342004" h="687705">
                  <a:moveTo>
                    <a:pt x="1392298" y="433503"/>
                  </a:moveTo>
                  <a:lnTo>
                    <a:pt x="556919" y="433503"/>
                  </a:lnTo>
                  <a:lnTo>
                    <a:pt x="233504" y="687412"/>
                  </a:lnTo>
                  <a:lnTo>
                    <a:pt x="1392298" y="433503"/>
                  </a:lnTo>
                  <a:close/>
                </a:path>
                <a:path w="3342004" h="687705">
                  <a:moveTo>
                    <a:pt x="3269263" y="0"/>
                  </a:moveTo>
                  <a:lnTo>
                    <a:pt x="72254" y="0"/>
                  </a:lnTo>
                  <a:lnTo>
                    <a:pt x="44129" y="5678"/>
                  </a:lnTo>
                  <a:lnTo>
                    <a:pt x="21162" y="21162"/>
                  </a:lnTo>
                  <a:lnTo>
                    <a:pt x="5678" y="44129"/>
                  </a:lnTo>
                  <a:lnTo>
                    <a:pt x="0" y="72254"/>
                  </a:lnTo>
                  <a:lnTo>
                    <a:pt x="0" y="361252"/>
                  </a:lnTo>
                  <a:lnTo>
                    <a:pt x="5678" y="389373"/>
                  </a:lnTo>
                  <a:lnTo>
                    <a:pt x="21162" y="412340"/>
                  </a:lnTo>
                  <a:lnTo>
                    <a:pt x="44129" y="427824"/>
                  </a:lnTo>
                  <a:lnTo>
                    <a:pt x="72254" y="433503"/>
                  </a:lnTo>
                  <a:lnTo>
                    <a:pt x="3269263" y="433503"/>
                  </a:lnTo>
                  <a:lnTo>
                    <a:pt x="3320353" y="412340"/>
                  </a:lnTo>
                  <a:lnTo>
                    <a:pt x="3341515" y="361252"/>
                  </a:lnTo>
                  <a:lnTo>
                    <a:pt x="3341516" y="72254"/>
                  </a:lnTo>
                  <a:lnTo>
                    <a:pt x="3335837" y="44129"/>
                  </a:lnTo>
                  <a:lnTo>
                    <a:pt x="3320353" y="21162"/>
                  </a:lnTo>
                  <a:lnTo>
                    <a:pt x="3297386" y="5678"/>
                  </a:lnTo>
                  <a:lnTo>
                    <a:pt x="3269263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32516" y="1980624"/>
              <a:ext cx="3342004" cy="687705"/>
            </a:xfrm>
            <a:custGeom>
              <a:avLst/>
              <a:gdLst/>
              <a:ahLst/>
              <a:cxnLst/>
              <a:rect l="l" t="t" r="r" b="b"/>
              <a:pathLst>
                <a:path w="3342004" h="687705">
                  <a:moveTo>
                    <a:pt x="0" y="72253"/>
                  </a:moveTo>
                  <a:lnTo>
                    <a:pt x="5678" y="44129"/>
                  </a:lnTo>
                  <a:lnTo>
                    <a:pt x="21162" y="21162"/>
                  </a:lnTo>
                  <a:lnTo>
                    <a:pt x="44129" y="5678"/>
                  </a:lnTo>
                  <a:lnTo>
                    <a:pt x="72253" y="0"/>
                  </a:lnTo>
                  <a:lnTo>
                    <a:pt x="556919" y="0"/>
                  </a:lnTo>
                  <a:lnTo>
                    <a:pt x="1392298" y="0"/>
                  </a:lnTo>
                  <a:lnTo>
                    <a:pt x="3269262" y="0"/>
                  </a:lnTo>
                  <a:lnTo>
                    <a:pt x="3297386" y="5678"/>
                  </a:lnTo>
                  <a:lnTo>
                    <a:pt x="3320353" y="21162"/>
                  </a:lnTo>
                  <a:lnTo>
                    <a:pt x="3335837" y="44129"/>
                  </a:lnTo>
                  <a:lnTo>
                    <a:pt x="3341515" y="72253"/>
                  </a:lnTo>
                  <a:lnTo>
                    <a:pt x="3341515" y="252876"/>
                  </a:lnTo>
                  <a:lnTo>
                    <a:pt x="3341515" y="361253"/>
                  </a:lnTo>
                  <a:lnTo>
                    <a:pt x="3335837" y="389373"/>
                  </a:lnTo>
                  <a:lnTo>
                    <a:pt x="3320353" y="412340"/>
                  </a:lnTo>
                  <a:lnTo>
                    <a:pt x="3297386" y="427824"/>
                  </a:lnTo>
                  <a:lnTo>
                    <a:pt x="3269262" y="433502"/>
                  </a:lnTo>
                  <a:lnTo>
                    <a:pt x="1392298" y="433502"/>
                  </a:lnTo>
                  <a:lnTo>
                    <a:pt x="233504" y="687413"/>
                  </a:lnTo>
                  <a:lnTo>
                    <a:pt x="556919" y="433502"/>
                  </a:lnTo>
                  <a:lnTo>
                    <a:pt x="72253" y="433502"/>
                  </a:lnTo>
                  <a:lnTo>
                    <a:pt x="44129" y="427824"/>
                  </a:lnTo>
                  <a:lnTo>
                    <a:pt x="21162" y="412340"/>
                  </a:lnTo>
                  <a:lnTo>
                    <a:pt x="5678" y="389373"/>
                  </a:lnTo>
                  <a:lnTo>
                    <a:pt x="0" y="361249"/>
                  </a:lnTo>
                  <a:lnTo>
                    <a:pt x="0" y="252876"/>
                  </a:lnTo>
                  <a:lnTo>
                    <a:pt x="0" y="72253"/>
                  </a:lnTo>
                  <a:close/>
                </a:path>
              </a:pathLst>
            </a:custGeom>
            <a:ln w="13546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08256" y="1189735"/>
            <a:ext cx="9303385" cy="112903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07645" marR="5080" indent="-195580">
              <a:lnSpc>
                <a:spcPts val="2400"/>
              </a:lnSpc>
              <a:spcBef>
                <a:spcPts val="28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takes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some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field(s)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records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matching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quickly</a:t>
            </a:r>
            <a:endParaRPr sz="2100">
              <a:latin typeface="Verdana"/>
              <a:cs typeface="Verdana"/>
            </a:endParaRPr>
          </a:p>
          <a:p>
            <a:pPr marL="104775" algn="ctr">
              <a:lnSpc>
                <a:spcPct val="100000"/>
              </a:lnSpc>
              <a:spcBef>
                <a:spcPts val="1905"/>
              </a:spcBef>
            </a:pP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File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containing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list</a:t>
            </a:r>
            <a:r>
              <a:rPr sz="15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5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indices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90124" y="6002258"/>
            <a:ext cx="3843020" cy="1097280"/>
            <a:chOff x="290124" y="6002258"/>
            <a:chExt cx="3843020" cy="1097280"/>
          </a:xfrm>
        </p:grpSpPr>
        <p:sp>
          <p:nvSpPr>
            <p:cNvPr id="28" name="object 28"/>
            <p:cNvSpPr/>
            <p:nvPr/>
          </p:nvSpPr>
          <p:spPr>
            <a:xfrm>
              <a:off x="296898" y="6009031"/>
              <a:ext cx="3829685" cy="1083310"/>
            </a:xfrm>
            <a:custGeom>
              <a:avLst/>
              <a:gdLst/>
              <a:ahLst/>
              <a:cxnLst/>
              <a:rect l="l" t="t" r="r" b="b"/>
              <a:pathLst>
                <a:path w="3829685" h="1083309">
                  <a:moveTo>
                    <a:pt x="3714790" y="396836"/>
                  </a:moveTo>
                  <a:lnTo>
                    <a:pt x="114398" y="396836"/>
                  </a:lnTo>
                  <a:lnTo>
                    <a:pt x="69869" y="405826"/>
                  </a:lnTo>
                  <a:lnTo>
                    <a:pt x="33506" y="430343"/>
                  </a:lnTo>
                  <a:lnTo>
                    <a:pt x="8989" y="466706"/>
                  </a:lnTo>
                  <a:lnTo>
                    <a:pt x="0" y="511231"/>
                  </a:lnTo>
                  <a:lnTo>
                    <a:pt x="0" y="968814"/>
                  </a:lnTo>
                  <a:lnTo>
                    <a:pt x="8989" y="1013343"/>
                  </a:lnTo>
                  <a:lnTo>
                    <a:pt x="33506" y="1049706"/>
                  </a:lnTo>
                  <a:lnTo>
                    <a:pt x="69869" y="1074223"/>
                  </a:lnTo>
                  <a:lnTo>
                    <a:pt x="114398" y="1083213"/>
                  </a:lnTo>
                  <a:lnTo>
                    <a:pt x="3714790" y="1083213"/>
                  </a:lnTo>
                  <a:lnTo>
                    <a:pt x="3759319" y="1074223"/>
                  </a:lnTo>
                  <a:lnTo>
                    <a:pt x="3795683" y="1049706"/>
                  </a:lnTo>
                  <a:lnTo>
                    <a:pt x="3820199" y="1013343"/>
                  </a:lnTo>
                  <a:lnTo>
                    <a:pt x="3829189" y="968814"/>
                  </a:lnTo>
                  <a:lnTo>
                    <a:pt x="3829188" y="511231"/>
                  </a:lnTo>
                  <a:lnTo>
                    <a:pt x="3820199" y="466706"/>
                  </a:lnTo>
                  <a:lnTo>
                    <a:pt x="3795683" y="430343"/>
                  </a:lnTo>
                  <a:lnTo>
                    <a:pt x="3759319" y="405826"/>
                  </a:lnTo>
                  <a:lnTo>
                    <a:pt x="3714790" y="396836"/>
                  </a:lnTo>
                  <a:close/>
                </a:path>
                <a:path w="3829685" h="1083309">
                  <a:moveTo>
                    <a:pt x="3414833" y="0"/>
                  </a:moveTo>
                  <a:lnTo>
                    <a:pt x="2233693" y="396836"/>
                  </a:lnTo>
                  <a:lnTo>
                    <a:pt x="3190990" y="396836"/>
                  </a:lnTo>
                  <a:lnTo>
                    <a:pt x="3414833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96898" y="6009032"/>
              <a:ext cx="3829685" cy="1083310"/>
            </a:xfrm>
            <a:custGeom>
              <a:avLst/>
              <a:gdLst/>
              <a:ahLst/>
              <a:cxnLst/>
              <a:rect l="l" t="t" r="r" b="b"/>
              <a:pathLst>
                <a:path w="3829685" h="1083309">
                  <a:moveTo>
                    <a:pt x="0" y="511235"/>
                  </a:moveTo>
                  <a:lnTo>
                    <a:pt x="8989" y="466706"/>
                  </a:lnTo>
                  <a:lnTo>
                    <a:pt x="33506" y="430343"/>
                  </a:lnTo>
                  <a:lnTo>
                    <a:pt x="69869" y="405826"/>
                  </a:lnTo>
                  <a:lnTo>
                    <a:pt x="114398" y="396836"/>
                  </a:lnTo>
                  <a:lnTo>
                    <a:pt x="2233693" y="396836"/>
                  </a:lnTo>
                  <a:lnTo>
                    <a:pt x="3414834" y="0"/>
                  </a:lnTo>
                  <a:lnTo>
                    <a:pt x="3190990" y="396836"/>
                  </a:lnTo>
                  <a:lnTo>
                    <a:pt x="3714791" y="396836"/>
                  </a:lnTo>
                  <a:lnTo>
                    <a:pt x="3759320" y="405826"/>
                  </a:lnTo>
                  <a:lnTo>
                    <a:pt x="3795682" y="430343"/>
                  </a:lnTo>
                  <a:lnTo>
                    <a:pt x="3820199" y="466706"/>
                  </a:lnTo>
                  <a:lnTo>
                    <a:pt x="3829189" y="511235"/>
                  </a:lnTo>
                  <a:lnTo>
                    <a:pt x="3829189" y="682825"/>
                  </a:lnTo>
                  <a:lnTo>
                    <a:pt x="3829189" y="968814"/>
                  </a:lnTo>
                  <a:lnTo>
                    <a:pt x="3820199" y="1013343"/>
                  </a:lnTo>
                  <a:lnTo>
                    <a:pt x="3795682" y="1049706"/>
                  </a:lnTo>
                  <a:lnTo>
                    <a:pt x="3759320" y="1074223"/>
                  </a:lnTo>
                  <a:lnTo>
                    <a:pt x="3714791" y="1083213"/>
                  </a:lnTo>
                  <a:lnTo>
                    <a:pt x="3190990" y="1083213"/>
                  </a:lnTo>
                  <a:lnTo>
                    <a:pt x="2233693" y="1083213"/>
                  </a:lnTo>
                  <a:lnTo>
                    <a:pt x="114398" y="1083213"/>
                  </a:lnTo>
                  <a:lnTo>
                    <a:pt x="69869" y="1074223"/>
                  </a:lnTo>
                  <a:lnTo>
                    <a:pt x="33506" y="1049706"/>
                  </a:lnTo>
                  <a:lnTo>
                    <a:pt x="8989" y="1013343"/>
                  </a:lnTo>
                  <a:lnTo>
                    <a:pt x="0" y="968814"/>
                  </a:lnTo>
                  <a:lnTo>
                    <a:pt x="0" y="682825"/>
                  </a:lnTo>
                  <a:lnTo>
                    <a:pt x="0" y="511231"/>
                  </a:lnTo>
                  <a:close/>
                </a:path>
              </a:pathLst>
            </a:custGeom>
            <a:ln w="13546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41973" y="6520688"/>
            <a:ext cx="3402965" cy="45529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66675">
              <a:lnSpc>
                <a:spcPts val="1580"/>
              </a:lnSpc>
              <a:spcBef>
                <a:spcPts val="335"/>
              </a:spcBef>
            </a:pP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“Search key”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(or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“key”)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=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Field(s)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 on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whose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values</a:t>
            </a:r>
            <a:r>
              <a:rPr sz="15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index</a:t>
            </a:r>
            <a:r>
              <a:rPr sz="15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5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3692" y="322071"/>
            <a:ext cx="600837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S</a:t>
            </a:r>
            <a:r>
              <a:rPr spc="-125" dirty="0"/>
              <a:t>ele</a:t>
            </a:r>
            <a:r>
              <a:rPr spc="-135" dirty="0"/>
              <a:t>c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0" dirty="0"/>
              <a:t>o</a:t>
            </a:r>
            <a:r>
              <a:rPr dirty="0"/>
              <a:t>n</a:t>
            </a:r>
            <a:r>
              <a:rPr spc="-254" dirty="0"/>
              <a:t> </a:t>
            </a:r>
            <a:r>
              <a:rPr spc="-130" dirty="0"/>
              <a:t>o</a:t>
            </a:r>
            <a:r>
              <a:rPr dirty="0"/>
              <a:t>f</a:t>
            </a:r>
            <a:r>
              <a:rPr spc="-245" dirty="0"/>
              <a:t> </a:t>
            </a:r>
            <a:r>
              <a:rPr spc="-120" dirty="0"/>
              <a:t>I</a:t>
            </a:r>
            <a:r>
              <a:rPr spc="-135" dirty="0"/>
              <a:t>n</a:t>
            </a:r>
            <a:r>
              <a:rPr spc="-130" dirty="0"/>
              <a:t>d</a:t>
            </a:r>
            <a:r>
              <a:rPr spc="-125" dirty="0"/>
              <a:t>e</a:t>
            </a:r>
            <a:r>
              <a:rPr spc="-130" dirty="0"/>
              <a:t>x</a:t>
            </a:r>
            <a:r>
              <a:rPr spc="-125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8256" y="1189735"/>
            <a:ext cx="9187180" cy="23025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207645" marR="236220" indent="-195580">
              <a:lnSpc>
                <a:spcPct val="97100"/>
              </a:lnSpc>
              <a:spcBef>
                <a:spcPts val="17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speed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up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execution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those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queries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value,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range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values,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specified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attribute, 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speed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up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joins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involving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attribute.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292934"/>
              </a:buClr>
              <a:buFont typeface="Arial MT"/>
              <a:buChar char="•"/>
            </a:pPr>
            <a:endParaRPr sz="2550">
              <a:latin typeface="Verdana"/>
              <a:cs typeface="Verdana"/>
            </a:endParaRPr>
          </a:p>
          <a:p>
            <a:pPr marL="207645" marR="5080" indent="-195580">
              <a:lnSpc>
                <a:spcPct val="97600"/>
              </a:lnSpc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other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hand,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built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more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some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makes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insertions, deletions,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updates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more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complex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time-consuming.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936" y="4364735"/>
            <a:ext cx="1685544" cy="9875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01583" y="4440935"/>
            <a:ext cx="1645920" cy="8930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5543" y="4486920"/>
            <a:ext cx="8507730" cy="75755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19050" algn="ctr">
              <a:lnSpc>
                <a:spcPct val="100000"/>
              </a:lnSpc>
              <a:spcBef>
                <a:spcPts val="1614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designers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analyze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trade-off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226" y="364236"/>
            <a:ext cx="881189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70" dirty="0"/>
              <a:t>Which</a:t>
            </a:r>
            <a:r>
              <a:rPr sz="3800" spc="-195" dirty="0"/>
              <a:t> </a:t>
            </a:r>
            <a:r>
              <a:rPr sz="3800" spc="-80" dirty="0"/>
              <a:t>Indexing</a:t>
            </a:r>
            <a:r>
              <a:rPr sz="3800" spc="-195" dirty="0"/>
              <a:t> </a:t>
            </a:r>
            <a:r>
              <a:rPr sz="3800" spc="-80" dirty="0"/>
              <a:t>Technique</a:t>
            </a:r>
            <a:r>
              <a:rPr sz="3800" spc="-195" dirty="0"/>
              <a:t> </a:t>
            </a:r>
            <a:r>
              <a:rPr sz="3800" spc="-50" dirty="0"/>
              <a:t>to</a:t>
            </a:r>
            <a:r>
              <a:rPr sz="3800" spc="-185" dirty="0"/>
              <a:t> </a:t>
            </a:r>
            <a:r>
              <a:rPr sz="3800" spc="-55" dirty="0"/>
              <a:t>Use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467371" y="1028191"/>
            <a:ext cx="8911590" cy="5900420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Aspects that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be considered:</a:t>
            </a:r>
            <a:endParaRPr sz="2100">
              <a:latin typeface="Verdana"/>
              <a:cs typeface="Verdana"/>
            </a:endParaRPr>
          </a:p>
          <a:p>
            <a:pPr marL="512445" indent="-251460">
              <a:lnSpc>
                <a:spcPct val="100000"/>
              </a:lnSpc>
              <a:spcBef>
                <a:spcPts val="127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512445" algn="l"/>
                <a:tab pos="513080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Access</a:t>
            </a:r>
            <a:r>
              <a:rPr sz="2100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types</a:t>
            </a:r>
            <a:endParaRPr sz="2100">
              <a:latin typeface="Verdana"/>
              <a:cs typeface="Verdana"/>
            </a:endParaRPr>
          </a:p>
          <a:p>
            <a:pPr marL="998219" lvl="1" indent="-236220">
              <a:lnSpc>
                <a:spcPct val="100000"/>
              </a:lnSpc>
              <a:spcBef>
                <a:spcPts val="175"/>
              </a:spcBef>
              <a:buSzPct val="84210"/>
              <a:buFont typeface="Arial MT"/>
              <a:buChar char="•"/>
              <a:tabLst>
                <a:tab pos="997585" algn="l"/>
                <a:tab pos="998219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Finding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records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specified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(search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key),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endParaRPr sz="1900">
              <a:latin typeface="Verdana"/>
              <a:cs typeface="Verdana"/>
            </a:endParaRPr>
          </a:p>
          <a:p>
            <a:pPr marL="998219" lvl="1" indent="-236220">
              <a:lnSpc>
                <a:spcPct val="100000"/>
              </a:lnSpc>
              <a:spcBef>
                <a:spcPts val="215"/>
              </a:spcBef>
              <a:buSzPct val="84210"/>
              <a:buFont typeface="Arial MT"/>
              <a:buChar char="•"/>
              <a:tabLst>
                <a:tab pos="997585" algn="l"/>
                <a:tab pos="998219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Finding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records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based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specified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range</a:t>
            </a:r>
            <a:endParaRPr sz="19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292934"/>
              </a:buClr>
              <a:buFont typeface="Arial MT"/>
              <a:buChar char="•"/>
            </a:pPr>
            <a:endParaRPr sz="1950">
              <a:latin typeface="Verdana"/>
              <a:cs typeface="Verdana"/>
            </a:endParaRPr>
          </a:p>
          <a:p>
            <a:pPr marL="512445" indent="-251460">
              <a:lnSpc>
                <a:spcPct val="100000"/>
              </a:lnSpc>
              <a:buClr>
                <a:srgbClr val="292934"/>
              </a:buClr>
              <a:buSzPct val="85714"/>
              <a:buFont typeface="Arial MT"/>
              <a:buChar char="•"/>
              <a:tabLst>
                <a:tab pos="512445" algn="l"/>
                <a:tab pos="513080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Access</a:t>
            </a:r>
            <a:r>
              <a:rPr sz="2100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time</a:t>
            </a:r>
            <a:endParaRPr sz="2100">
              <a:latin typeface="Verdana"/>
              <a:cs typeface="Verdana"/>
            </a:endParaRPr>
          </a:p>
          <a:p>
            <a:pPr marL="998219" lvl="1" indent="-236220">
              <a:lnSpc>
                <a:spcPct val="100000"/>
              </a:lnSpc>
              <a:spcBef>
                <a:spcPts val="200"/>
              </a:spcBef>
              <a:buSzPct val="84210"/>
              <a:buFont typeface="Arial MT"/>
              <a:buChar char="•"/>
              <a:tabLst>
                <a:tab pos="997585" algn="l"/>
                <a:tab pos="998219" algn="l"/>
              </a:tabLst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Time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needed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particular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item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items</a:t>
            </a:r>
            <a:endParaRPr sz="19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292934"/>
              </a:buClr>
              <a:buFont typeface="Arial MT"/>
              <a:buChar char="•"/>
            </a:pPr>
            <a:endParaRPr sz="1900">
              <a:latin typeface="Verdana"/>
              <a:cs typeface="Verdana"/>
            </a:endParaRPr>
          </a:p>
          <a:p>
            <a:pPr marL="512445" indent="-251460">
              <a:lnSpc>
                <a:spcPct val="100000"/>
              </a:lnSpc>
              <a:buClr>
                <a:srgbClr val="292934"/>
              </a:buClr>
              <a:buSzPct val="85714"/>
              <a:buFont typeface="Arial MT"/>
              <a:buChar char="•"/>
              <a:tabLst>
                <a:tab pos="512445" algn="l"/>
                <a:tab pos="513080" algn="l"/>
              </a:tabLst>
            </a:pP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Insertion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time</a:t>
            </a:r>
            <a:endParaRPr sz="2100">
              <a:latin typeface="Verdana"/>
              <a:cs typeface="Verdana"/>
            </a:endParaRPr>
          </a:p>
          <a:p>
            <a:pPr marL="998219" lvl="1" indent="-236220">
              <a:lnSpc>
                <a:spcPts val="2195"/>
              </a:lnSpc>
              <a:spcBef>
                <a:spcPts val="275"/>
              </a:spcBef>
              <a:buSzPct val="84210"/>
              <a:buFont typeface="Arial MT"/>
              <a:buChar char="•"/>
              <a:tabLst>
                <a:tab pos="997585" algn="l"/>
                <a:tab pos="998219" algn="l"/>
              </a:tabLst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Time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place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insert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time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insert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new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item</a:t>
            </a:r>
            <a:endParaRPr sz="1900">
              <a:latin typeface="Verdana"/>
              <a:cs typeface="Verdana"/>
            </a:endParaRPr>
          </a:p>
          <a:p>
            <a:pPr marL="998219">
              <a:lnSpc>
                <a:spcPts val="2195"/>
              </a:lnSpc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time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update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structure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Verdana"/>
              <a:cs typeface="Verdana"/>
            </a:endParaRPr>
          </a:p>
          <a:p>
            <a:pPr marL="512445" indent="-251460">
              <a:lnSpc>
                <a:spcPct val="100000"/>
              </a:lnSpc>
              <a:buClr>
                <a:srgbClr val="292934"/>
              </a:buClr>
              <a:buSzPct val="85714"/>
              <a:buFont typeface="Arial MT"/>
              <a:buChar char="•"/>
              <a:tabLst>
                <a:tab pos="512445" algn="l"/>
                <a:tab pos="513080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Deletion</a:t>
            </a:r>
            <a:r>
              <a:rPr sz="2100" spc="-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time</a:t>
            </a:r>
            <a:endParaRPr sz="2100">
              <a:latin typeface="Verdana"/>
              <a:cs typeface="Verdana"/>
            </a:endParaRPr>
          </a:p>
          <a:p>
            <a:pPr marL="998219" marR="409575" lvl="1" indent="-236220">
              <a:lnSpc>
                <a:spcPts val="1989"/>
              </a:lnSpc>
              <a:spcBef>
                <a:spcPts val="605"/>
              </a:spcBef>
              <a:buSzPct val="84210"/>
              <a:buFont typeface="Arial MT"/>
              <a:buChar char="•"/>
              <a:tabLst>
                <a:tab pos="997585" algn="l"/>
                <a:tab pos="998219" algn="l"/>
              </a:tabLst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Time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item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deleted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time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delete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time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update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structure</a:t>
            </a:r>
            <a:endParaRPr sz="19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292934"/>
              </a:buClr>
              <a:buFont typeface="Arial MT"/>
              <a:buChar char="•"/>
            </a:pPr>
            <a:endParaRPr sz="1950">
              <a:latin typeface="Verdana"/>
              <a:cs typeface="Verdana"/>
            </a:endParaRPr>
          </a:p>
          <a:p>
            <a:pPr marL="512445" indent="-251460">
              <a:lnSpc>
                <a:spcPct val="100000"/>
              </a:lnSpc>
              <a:buClr>
                <a:srgbClr val="292934"/>
              </a:buClr>
              <a:buSzPct val="85714"/>
              <a:buFont typeface="Arial MT"/>
              <a:buChar char="•"/>
              <a:tabLst>
                <a:tab pos="512445" algn="l"/>
                <a:tab pos="513080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Space</a:t>
            </a:r>
            <a:r>
              <a:rPr sz="2100" spc="-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overhead</a:t>
            </a:r>
            <a:endParaRPr sz="2100">
              <a:latin typeface="Verdana"/>
              <a:cs typeface="Verdana"/>
            </a:endParaRPr>
          </a:p>
          <a:p>
            <a:pPr marL="998219" lvl="1" indent="-236220">
              <a:lnSpc>
                <a:spcPct val="100000"/>
              </a:lnSpc>
              <a:spcBef>
                <a:spcPts val="200"/>
              </a:spcBef>
              <a:buSzPct val="84210"/>
              <a:buFont typeface="Arial MT"/>
              <a:buChar char="•"/>
              <a:tabLst>
                <a:tab pos="997585" algn="l"/>
                <a:tab pos="998219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Space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occupied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structure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(vs.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performance)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139" y="380492"/>
            <a:ext cx="9338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5" dirty="0"/>
              <a:t>Types</a:t>
            </a:r>
            <a:r>
              <a:rPr sz="3600" spc="-210" dirty="0"/>
              <a:t> </a:t>
            </a:r>
            <a:r>
              <a:rPr sz="3600" spc="-45" dirty="0"/>
              <a:t>of</a:t>
            </a:r>
            <a:r>
              <a:rPr sz="3600" spc="-204" dirty="0"/>
              <a:t> </a:t>
            </a:r>
            <a:r>
              <a:rPr sz="3600" spc="-75" dirty="0"/>
              <a:t>File</a:t>
            </a:r>
            <a:r>
              <a:rPr sz="3600" spc="-200" dirty="0"/>
              <a:t> </a:t>
            </a:r>
            <a:r>
              <a:rPr sz="3600" spc="-85" dirty="0"/>
              <a:t>Organization</a:t>
            </a:r>
            <a:r>
              <a:rPr sz="3600" spc="-195" dirty="0"/>
              <a:t> </a:t>
            </a:r>
            <a:r>
              <a:rPr sz="3600" spc="-95" dirty="0"/>
              <a:t>Mechanism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54631" y="1039561"/>
            <a:ext cx="8392160" cy="4354830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2300" b="1" spc="20" dirty="0">
                <a:solidFill>
                  <a:srgbClr val="C00000"/>
                </a:solidFill>
                <a:latin typeface="Verdana"/>
                <a:cs typeface="Verdana"/>
              </a:rPr>
              <a:t>Sequential </a:t>
            </a:r>
            <a:r>
              <a:rPr sz="2300" b="1" spc="5" dirty="0">
                <a:solidFill>
                  <a:srgbClr val="C00000"/>
                </a:solidFill>
                <a:latin typeface="Verdana"/>
                <a:cs typeface="Verdana"/>
              </a:rPr>
              <a:t>file</a:t>
            </a:r>
            <a:r>
              <a:rPr sz="2300" b="1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C00000"/>
                </a:solidFill>
                <a:latin typeface="Verdana"/>
                <a:cs typeface="Verdana"/>
              </a:rPr>
              <a:t>organization</a:t>
            </a:r>
            <a:r>
              <a:rPr sz="2300" b="1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C00000"/>
                </a:solidFill>
                <a:latin typeface="Verdana"/>
                <a:cs typeface="Verdana"/>
              </a:rPr>
              <a:t>(or</a:t>
            </a:r>
            <a:r>
              <a:rPr sz="2300" b="1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C00000"/>
                </a:solidFill>
                <a:latin typeface="Verdana"/>
                <a:cs typeface="Verdana"/>
              </a:rPr>
              <a:t>Ordered</a:t>
            </a:r>
            <a:r>
              <a:rPr sz="2300" b="1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C00000"/>
                </a:solidFill>
                <a:latin typeface="Verdana"/>
                <a:cs typeface="Verdana"/>
              </a:rPr>
              <a:t>index)</a:t>
            </a:r>
            <a:endParaRPr sz="2300">
              <a:latin typeface="Verdana"/>
              <a:cs typeface="Verdana"/>
            </a:endParaRPr>
          </a:p>
          <a:p>
            <a:pPr marL="512445" indent="-251460">
              <a:lnSpc>
                <a:spcPct val="100000"/>
              </a:lnSpc>
              <a:spcBef>
                <a:spcPts val="1160"/>
              </a:spcBef>
              <a:buSzPct val="85714"/>
              <a:buFont typeface="Arial MT"/>
              <a:buChar char="•"/>
              <a:tabLst>
                <a:tab pos="512445" algn="l"/>
                <a:tab pos="51308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Indices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based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sorted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ordering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endParaRPr sz="2100">
              <a:latin typeface="Verdana"/>
              <a:cs typeface="Verdana"/>
            </a:endParaRPr>
          </a:p>
          <a:p>
            <a:pPr marL="512445" indent="-251460">
              <a:lnSpc>
                <a:spcPct val="100000"/>
              </a:lnSpc>
              <a:spcBef>
                <a:spcPts val="1175"/>
              </a:spcBef>
              <a:buSzPct val="85714"/>
              <a:buFont typeface="Arial MT"/>
              <a:buChar char="•"/>
              <a:tabLst>
                <a:tab pos="512445" algn="l"/>
                <a:tab pos="513080" algn="l"/>
              </a:tabLst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Generally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fast</a:t>
            </a:r>
            <a:endParaRPr sz="2100">
              <a:latin typeface="Verdana"/>
              <a:cs typeface="Verdana"/>
            </a:endParaRPr>
          </a:p>
          <a:p>
            <a:pPr marL="512445" indent="-251460">
              <a:lnSpc>
                <a:spcPct val="100000"/>
              </a:lnSpc>
              <a:spcBef>
                <a:spcPts val="1080"/>
              </a:spcBef>
              <a:buSzPct val="85714"/>
              <a:buFont typeface="Arial MT"/>
              <a:buChar char="•"/>
              <a:tabLst>
                <a:tab pos="512445" algn="l"/>
                <a:tab pos="51308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Basic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traditional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structure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most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DBs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292934"/>
              </a:buClr>
              <a:buFont typeface="Arial MT"/>
              <a:buChar char="•"/>
            </a:pPr>
            <a:endParaRPr sz="2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00" b="1" spc="20" dirty="0">
                <a:solidFill>
                  <a:srgbClr val="C00000"/>
                </a:solidFill>
                <a:latin typeface="Verdana"/>
                <a:cs typeface="Verdana"/>
              </a:rPr>
              <a:t>Hash</a:t>
            </a:r>
            <a:r>
              <a:rPr sz="2300" b="1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5" dirty="0">
                <a:solidFill>
                  <a:srgbClr val="C00000"/>
                </a:solidFill>
                <a:latin typeface="Verdana"/>
                <a:cs typeface="Verdana"/>
              </a:rPr>
              <a:t>file</a:t>
            </a:r>
            <a:r>
              <a:rPr sz="2300" b="1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C00000"/>
                </a:solidFill>
                <a:latin typeface="Verdana"/>
                <a:cs typeface="Verdana"/>
              </a:rPr>
              <a:t>organization</a:t>
            </a:r>
            <a:r>
              <a:rPr sz="2300" b="1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15" dirty="0">
                <a:solidFill>
                  <a:srgbClr val="C00000"/>
                </a:solidFill>
                <a:latin typeface="Verdana"/>
                <a:cs typeface="Verdana"/>
              </a:rPr>
              <a:t>(or</a:t>
            </a:r>
            <a:r>
              <a:rPr sz="2300" b="1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C00000"/>
                </a:solidFill>
                <a:latin typeface="Verdana"/>
                <a:cs typeface="Verdana"/>
              </a:rPr>
              <a:t>Hash</a:t>
            </a:r>
            <a:r>
              <a:rPr sz="2300" b="1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25" dirty="0">
                <a:solidFill>
                  <a:srgbClr val="C00000"/>
                </a:solidFill>
                <a:latin typeface="Verdana"/>
                <a:cs typeface="Verdana"/>
              </a:rPr>
              <a:t>index)</a:t>
            </a:r>
            <a:endParaRPr sz="2300">
              <a:latin typeface="Verdana"/>
              <a:cs typeface="Verdana"/>
            </a:endParaRPr>
          </a:p>
          <a:p>
            <a:pPr marL="512445" marR="5080" indent="-250825">
              <a:lnSpc>
                <a:spcPct val="103800"/>
              </a:lnSpc>
              <a:spcBef>
                <a:spcPts val="940"/>
              </a:spcBef>
              <a:buSzPct val="85714"/>
              <a:buFont typeface="Arial MT"/>
              <a:buChar char="•"/>
              <a:tabLst>
                <a:tab pos="512445" algn="l"/>
                <a:tab pos="51308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Indices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based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uniform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distribution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across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range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buckets</a:t>
            </a:r>
            <a:endParaRPr sz="2100">
              <a:latin typeface="Verdana"/>
              <a:cs typeface="Verdana"/>
            </a:endParaRPr>
          </a:p>
          <a:p>
            <a:pPr marL="512445" indent="-251460">
              <a:lnSpc>
                <a:spcPct val="100000"/>
              </a:lnSpc>
              <a:spcBef>
                <a:spcPts val="1560"/>
              </a:spcBef>
              <a:buSzPct val="85714"/>
              <a:buFont typeface="Arial MT"/>
              <a:buChar char="•"/>
              <a:tabLst>
                <a:tab pos="512445" algn="l"/>
                <a:tab pos="51308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Hash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function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determines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assigned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bucket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9172" y="312928"/>
            <a:ext cx="720344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30" dirty="0"/>
              <a:t>a</a:t>
            </a:r>
            <a:r>
              <a:rPr spc="-140" dirty="0"/>
              <a:t>m</a:t>
            </a:r>
            <a:r>
              <a:rPr spc="-130" dirty="0"/>
              <a:t>p</a:t>
            </a:r>
            <a:r>
              <a:rPr spc="-125" dirty="0"/>
              <a:t>le</a:t>
            </a:r>
            <a:r>
              <a:rPr dirty="0"/>
              <a:t>:</a:t>
            </a:r>
            <a:r>
              <a:rPr spc="-240" dirty="0"/>
              <a:t> </a:t>
            </a:r>
            <a:r>
              <a:rPr spc="-135" dirty="0"/>
              <a:t>S</a:t>
            </a:r>
            <a:r>
              <a:rPr spc="-125" dirty="0"/>
              <a:t>e</a:t>
            </a:r>
            <a:r>
              <a:rPr spc="-130" dirty="0"/>
              <a:t>qu</a:t>
            </a:r>
            <a:r>
              <a:rPr spc="-125" dirty="0"/>
              <a:t>e</a:t>
            </a:r>
            <a:r>
              <a:rPr spc="-130" dirty="0"/>
              <a:t>n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0" dirty="0"/>
              <a:t>a</a:t>
            </a:r>
            <a:r>
              <a:rPr dirty="0"/>
              <a:t>l</a:t>
            </a:r>
            <a:r>
              <a:rPr spc="-245" dirty="0"/>
              <a:t> </a:t>
            </a:r>
            <a:r>
              <a:rPr spc="-130" dirty="0"/>
              <a:t>F</a:t>
            </a:r>
            <a:r>
              <a:rPr spc="-125" dirty="0"/>
              <a:t>ile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586" y="1909501"/>
            <a:ext cx="5462660" cy="363196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7057" y="7018528"/>
            <a:ext cx="822388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[Ref: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Figure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11.1,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Silberschatz,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Korth,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Sudarshan,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“Database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System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Concepts,”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6</a:t>
            </a:r>
            <a:r>
              <a:rPr sz="1350" spc="-22" baseline="24691" dirty="0">
                <a:solidFill>
                  <a:srgbClr val="292934"/>
                </a:solidFill>
                <a:latin typeface="Verdana"/>
                <a:cs typeface="Verdana"/>
              </a:rPr>
              <a:t>th</a:t>
            </a:r>
            <a:r>
              <a:rPr sz="1350" spc="179" baseline="2469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Ed.,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page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477]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15508" y="1789176"/>
            <a:ext cx="3408045" cy="2922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Instructor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records</a:t>
            </a:r>
            <a:endParaRPr sz="2300">
              <a:latin typeface="Verdana"/>
              <a:cs typeface="Verdana"/>
            </a:endParaRPr>
          </a:p>
          <a:p>
            <a:pPr marL="207645" marR="5080" indent="-195580">
              <a:lnSpc>
                <a:spcPct val="91100"/>
              </a:lnSpc>
              <a:spcBef>
                <a:spcPts val="196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 records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stored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sorted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order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instructor’s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ID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(used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as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key)</a:t>
            </a:r>
            <a:endParaRPr sz="2100">
              <a:latin typeface="Verdana"/>
              <a:cs typeface="Verdana"/>
            </a:endParaRPr>
          </a:p>
          <a:p>
            <a:pPr marL="207645" marR="83185" indent="-195580" algn="just">
              <a:lnSpc>
                <a:spcPct val="93300"/>
              </a:lnSpc>
              <a:spcBef>
                <a:spcPts val="185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Search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defines the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sequential order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 the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file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7350" y="1635759"/>
            <a:ext cx="12376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ns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70316" y="2536182"/>
            <a:ext cx="4714875" cy="4362450"/>
            <a:chOff x="5070316" y="2536182"/>
            <a:chExt cx="4714875" cy="4362450"/>
          </a:xfrm>
        </p:grpSpPr>
        <p:sp>
          <p:nvSpPr>
            <p:cNvPr id="3" name="object 3"/>
            <p:cNvSpPr/>
            <p:nvPr/>
          </p:nvSpPr>
          <p:spPr>
            <a:xfrm>
              <a:off x="5084409" y="2550275"/>
              <a:ext cx="4686300" cy="4333875"/>
            </a:xfrm>
            <a:custGeom>
              <a:avLst/>
              <a:gdLst/>
              <a:ahLst/>
              <a:cxnLst/>
              <a:rect l="l" t="t" r="r" b="b"/>
              <a:pathLst>
                <a:path w="4686300" h="4333875">
                  <a:moveTo>
                    <a:pt x="4686227" y="0"/>
                  </a:moveTo>
                  <a:lnTo>
                    <a:pt x="0" y="0"/>
                  </a:lnTo>
                  <a:lnTo>
                    <a:pt x="0" y="4333789"/>
                  </a:lnTo>
                  <a:lnTo>
                    <a:pt x="4686227" y="4333789"/>
                  </a:lnTo>
                  <a:lnTo>
                    <a:pt x="4686227" y="0"/>
                  </a:lnTo>
                  <a:close/>
                </a:path>
              </a:pathLst>
            </a:custGeom>
            <a:solidFill>
              <a:srgbClr val="CCD1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84409" y="2550275"/>
              <a:ext cx="4686300" cy="4333875"/>
            </a:xfrm>
            <a:custGeom>
              <a:avLst/>
              <a:gdLst/>
              <a:ahLst/>
              <a:cxnLst/>
              <a:rect l="l" t="t" r="r" b="b"/>
              <a:pathLst>
                <a:path w="4686300" h="4333875">
                  <a:moveTo>
                    <a:pt x="0" y="0"/>
                  </a:moveTo>
                  <a:lnTo>
                    <a:pt x="4686228" y="0"/>
                  </a:lnTo>
                  <a:lnTo>
                    <a:pt x="4686228" y="4333789"/>
                  </a:lnTo>
                  <a:lnTo>
                    <a:pt x="0" y="4333789"/>
                  </a:lnTo>
                  <a:lnTo>
                    <a:pt x="0" y="0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4862" y="2718010"/>
              <a:ext cx="4333911" cy="401164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44512" y="312928"/>
            <a:ext cx="557276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30" dirty="0"/>
              <a:t>a</a:t>
            </a:r>
            <a:r>
              <a:rPr spc="-140" dirty="0"/>
              <a:t>m</a:t>
            </a:r>
            <a:r>
              <a:rPr spc="-130" dirty="0"/>
              <a:t>p</a:t>
            </a:r>
            <a:r>
              <a:rPr spc="-125" dirty="0"/>
              <a:t>le</a:t>
            </a:r>
            <a:r>
              <a:rPr dirty="0"/>
              <a:t>:</a:t>
            </a:r>
            <a:r>
              <a:rPr spc="-240" dirty="0"/>
              <a:t> </a:t>
            </a:r>
            <a:r>
              <a:rPr spc="-135" dirty="0"/>
              <a:t>H</a:t>
            </a:r>
            <a:r>
              <a:rPr spc="-130" dirty="0"/>
              <a:t>a</a:t>
            </a:r>
            <a:r>
              <a:rPr spc="-125" dirty="0"/>
              <a:t>s</a:t>
            </a:r>
            <a:r>
              <a:rPr dirty="0"/>
              <a:t>h</a:t>
            </a:r>
            <a:r>
              <a:rPr spc="-254" dirty="0"/>
              <a:t> </a:t>
            </a:r>
            <a:r>
              <a:rPr spc="-130" dirty="0"/>
              <a:t>F</a:t>
            </a:r>
            <a:r>
              <a:rPr spc="-125" dirty="0"/>
              <a:t>ile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8654" y="7018528"/>
            <a:ext cx="972248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[Ref: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based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part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Figure 24.6,</a:t>
            </a:r>
            <a:r>
              <a:rPr sz="1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Silberschatz,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Korth,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Sudarshan,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“Database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System</a:t>
            </a:r>
            <a:r>
              <a:rPr sz="13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Concepts,”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7</a:t>
            </a:r>
            <a:r>
              <a:rPr sz="1350" spc="-30" baseline="24691" dirty="0">
                <a:solidFill>
                  <a:srgbClr val="292934"/>
                </a:solidFill>
                <a:latin typeface="Verdana"/>
                <a:cs typeface="Verdana"/>
              </a:rPr>
              <a:t>th</a:t>
            </a:r>
            <a:r>
              <a:rPr sz="1350" spc="179" baseline="2469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Ed.,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page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1191]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2527" y="2002535"/>
            <a:ext cx="711200" cy="501015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86690" marR="5080" indent="-174625">
              <a:lnSpc>
                <a:spcPts val="1700"/>
              </a:lnSpc>
              <a:spcBef>
                <a:spcPts val="439"/>
              </a:spcBef>
            </a:pP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ea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ch  key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32183" y="1995695"/>
            <a:ext cx="1083310" cy="555625"/>
            <a:chOff x="1832183" y="1995695"/>
            <a:chExt cx="1083310" cy="555625"/>
          </a:xfrm>
        </p:grpSpPr>
        <p:sp>
          <p:nvSpPr>
            <p:cNvPr id="10" name="object 10"/>
            <p:cNvSpPr/>
            <p:nvPr/>
          </p:nvSpPr>
          <p:spPr>
            <a:xfrm>
              <a:off x="1837263" y="2000775"/>
              <a:ext cx="1073150" cy="545465"/>
            </a:xfrm>
            <a:custGeom>
              <a:avLst/>
              <a:gdLst/>
              <a:ahLst/>
              <a:cxnLst/>
              <a:rect l="l" t="t" r="r" b="b"/>
              <a:pathLst>
                <a:path w="1073150" h="545464">
                  <a:moveTo>
                    <a:pt x="1072895" y="0"/>
                  </a:moveTo>
                  <a:lnTo>
                    <a:pt x="0" y="0"/>
                  </a:lnTo>
                  <a:lnTo>
                    <a:pt x="0" y="544969"/>
                  </a:lnTo>
                  <a:lnTo>
                    <a:pt x="1072895" y="544969"/>
                  </a:lnTo>
                  <a:lnTo>
                    <a:pt x="1072895" y="0"/>
                  </a:lnTo>
                  <a:close/>
                </a:path>
              </a:pathLst>
            </a:custGeom>
            <a:solidFill>
              <a:srgbClr val="E9D7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7263" y="2000775"/>
              <a:ext cx="1073150" cy="545465"/>
            </a:xfrm>
            <a:custGeom>
              <a:avLst/>
              <a:gdLst/>
              <a:ahLst/>
              <a:cxnLst/>
              <a:rect l="l" t="t" r="r" b="b"/>
              <a:pathLst>
                <a:path w="1073150" h="545464">
                  <a:moveTo>
                    <a:pt x="0" y="0"/>
                  </a:moveTo>
                  <a:lnTo>
                    <a:pt x="1072895" y="0"/>
                  </a:lnTo>
                  <a:lnTo>
                    <a:pt x="1072895" y="544969"/>
                  </a:lnTo>
                  <a:lnTo>
                    <a:pt x="0" y="544969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4C5A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842343" y="2002535"/>
            <a:ext cx="1062990" cy="501015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51765" marR="144145" indent="127000">
              <a:lnSpc>
                <a:spcPts val="1700"/>
              </a:lnSpc>
              <a:spcBef>
                <a:spcPts val="439"/>
              </a:spcBef>
            </a:pP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Hash 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f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unc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68640" y="2128520"/>
            <a:ext cx="10547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[0,1,2,..,B-1]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914994" y="1255367"/>
            <a:ext cx="2562860" cy="838835"/>
            <a:chOff x="2914994" y="1255367"/>
            <a:chExt cx="2562860" cy="838835"/>
          </a:xfrm>
        </p:grpSpPr>
        <p:sp>
          <p:nvSpPr>
            <p:cNvPr id="15" name="object 15"/>
            <p:cNvSpPr/>
            <p:nvPr/>
          </p:nvSpPr>
          <p:spPr>
            <a:xfrm>
              <a:off x="2929281" y="1269654"/>
              <a:ext cx="2534285" cy="810260"/>
            </a:xfrm>
            <a:custGeom>
              <a:avLst/>
              <a:gdLst/>
              <a:ahLst/>
              <a:cxnLst/>
              <a:rect l="l" t="t" r="r" b="b"/>
              <a:pathLst>
                <a:path w="2534285" h="810260">
                  <a:moveTo>
                    <a:pt x="1055693" y="569730"/>
                  </a:moveTo>
                  <a:lnTo>
                    <a:pt x="422277" y="569730"/>
                  </a:lnTo>
                  <a:lnTo>
                    <a:pt x="1214739" y="810243"/>
                  </a:lnTo>
                  <a:lnTo>
                    <a:pt x="1055693" y="569730"/>
                  </a:lnTo>
                  <a:close/>
                </a:path>
                <a:path w="2534285" h="810260">
                  <a:moveTo>
                    <a:pt x="2438706" y="0"/>
                  </a:moveTo>
                  <a:lnTo>
                    <a:pt x="94957" y="0"/>
                  </a:lnTo>
                  <a:lnTo>
                    <a:pt x="57996" y="7462"/>
                  </a:lnTo>
                  <a:lnTo>
                    <a:pt x="27812" y="27812"/>
                  </a:lnTo>
                  <a:lnTo>
                    <a:pt x="7462" y="57995"/>
                  </a:lnTo>
                  <a:lnTo>
                    <a:pt x="0" y="94956"/>
                  </a:lnTo>
                  <a:lnTo>
                    <a:pt x="0" y="474776"/>
                  </a:lnTo>
                  <a:lnTo>
                    <a:pt x="7462" y="511734"/>
                  </a:lnTo>
                  <a:lnTo>
                    <a:pt x="27812" y="541918"/>
                  </a:lnTo>
                  <a:lnTo>
                    <a:pt x="57996" y="562268"/>
                  </a:lnTo>
                  <a:lnTo>
                    <a:pt x="94957" y="569730"/>
                  </a:lnTo>
                  <a:lnTo>
                    <a:pt x="2438706" y="569730"/>
                  </a:lnTo>
                  <a:lnTo>
                    <a:pt x="2505851" y="541918"/>
                  </a:lnTo>
                  <a:lnTo>
                    <a:pt x="2533663" y="474776"/>
                  </a:lnTo>
                  <a:lnTo>
                    <a:pt x="2533663" y="94956"/>
                  </a:lnTo>
                  <a:lnTo>
                    <a:pt x="2526201" y="57995"/>
                  </a:lnTo>
                  <a:lnTo>
                    <a:pt x="2505851" y="27812"/>
                  </a:lnTo>
                  <a:lnTo>
                    <a:pt x="2475667" y="7462"/>
                  </a:lnTo>
                  <a:lnTo>
                    <a:pt x="2438706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29281" y="1269654"/>
              <a:ext cx="2534285" cy="810260"/>
            </a:xfrm>
            <a:custGeom>
              <a:avLst/>
              <a:gdLst/>
              <a:ahLst/>
              <a:cxnLst/>
              <a:rect l="l" t="t" r="r" b="b"/>
              <a:pathLst>
                <a:path w="2534285" h="810260">
                  <a:moveTo>
                    <a:pt x="0" y="94957"/>
                  </a:moveTo>
                  <a:lnTo>
                    <a:pt x="7462" y="57995"/>
                  </a:lnTo>
                  <a:lnTo>
                    <a:pt x="27812" y="27812"/>
                  </a:lnTo>
                  <a:lnTo>
                    <a:pt x="57995" y="7462"/>
                  </a:lnTo>
                  <a:lnTo>
                    <a:pt x="94956" y="0"/>
                  </a:lnTo>
                  <a:lnTo>
                    <a:pt x="422277" y="0"/>
                  </a:lnTo>
                  <a:lnTo>
                    <a:pt x="1055692" y="0"/>
                  </a:lnTo>
                  <a:lnTo>
                    <a:pt x="2438706" y="0"/>
                  </a:lnTo>
                  <a:lnTo>
                    <a:pt x="2475667" y="7462"/>
                  </a:lnTo>
                  <a:lnTo>
                    <a:pt x="2505850" y="27812"/>
                  </a:lnTo>
                  <a:lnTo>
                    <a:pt x="2526200" y="57995"/>
                  </a:lnTo>
                  <a:lnTo>
                    <a:pt x="2533662" y="94957"/>
                  </a:lnTo>
                  <a:lnTo>
                    <a:pt x="2533662" y="332344"/>
                  </a:lnTo>
                  <a:lnTo>
                    <a:pt x="2533662" y="474776"/>
                  </a:lnTo>
                  <a:lnTo>
                    <a:pt x="2526200" y="511735"/>
                  </a:lnTo>
                  <a:lnTo>
                    <a:pt x="2505850" y="541918"/>
                  </a:lnTo>
                  <a:lnTo>
                    <a:pt x="2475667" y="562268"/>
                  </a:lnTo>
                  <a:lnTo>
                    <a:pt x="2438706" y="569731"/>
                  </a:lnTo>
                  <a:lnTo>
                    <a:pt x="1055692" y="569731"/>
                  </a:lnTo>
                  <a:lnTo>
                    <a:pt x="1214739" y="810243"/>
                  </a:lnTo>
                  <a:lnTo>
                    <a:pt x="422277" y="569731"/>
                  </a:lnTo>
                  <a:lnTo>
                    <a:pt x="94956" y="569731"/>
                  </a:lnTo>
                  <a:lnTo>
                    <a:pt x="57995" y="562268"/>
                  </a:lnTo>
                  <a:lnTo>
                    <a:pt x="27812" y="541918"/>
                  </a:lnTo>
                  <a:lnTo>
                    <a:pt x="7462" y="511735"/>
                  </a:lnTo>
                  <a:lnTo>
                    <a:pt x="0" y="474774"/>
                  </a:lnTo>
                  <a:lnTo>
                    <a:pt x="0" y="332344"/>
                  </a:lnTo>
                  <a:lnTo>
                    <a:pt x="0" y="94957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195962" y="1311655"/>
            <a:ext cx="2129790" cy="458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705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Bucket</a:t>
            </a:r>
            <a:r>
              <a:rPr sz="15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index,</a:t>
            </a:r>
            <a:endParaRPr sz="1500">
              <a:latin typeface="Verdana"/>
              <a:cs typeface="Verdana"/>
            </a:endParaRPr>
          </a:p>
          <a:p>
            <a:pPr algn="ctr">
              <a:lnSpc>
                <a:spcPts val="1705"/>
              </a:lnSpc>
            </a:pP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5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size</a:t>
            </a:r>
            <a:r>
              <a:rPr sz="15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5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bucket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74786" y="3404514"/>
            <a:ext cx="1570990" cy="942340"/>
            <a:chOff x="1074786" y="3404514"/>
            <a:chExt cx="1570990" cy="942340"/>
          </a:xfrm>
        </p:grpSpPr>
        <p:sp>
          <p:nvSpPr>
            <p:cNvPr id="19" name="object 19"/>
            <p:cNvSpPr/>
            <p:nvPr/>
          </p:nvSpPr>
          <p:spPr>
            <a:xfrm>
              <a:off x="1079866" y="3409594"/>
              <a:ext cx="1560830" cy="305435"/>
            </a:xfrm>
            <a:custGeom>
              <a:avLst/>
              <a:gdLst/>
              <a:ahLst/>
              <a:cxnLst/>
              <a:rect l="l" t="t" r="r" b="b"/>
              <a:pathLst>
                <a:path w="1560830" h="305435">
                  <a:moveTo>
                    <a:pt x="0" y="0"/>
                  </a:moveTo>
                  <a:lnTo>
                    <a:pt x="1560575" y="0"/>
                  </a:lnTo>
                  <a:lnTo>
                    <a:pt x="1560575" y="305314"/>
                  </a:lnTo>
                  <a:lnTo>
                    <a:pt x="0" y="30531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4C5A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79866" y="3722813"/>
              <a:ext cx="1560830" cy="305435"/>
            </a:xfrm>
            <a:custGeom>
              <a:avLst/>
              <a:gdLst/>
              <a:ahLst/>
              <a:cxnLst/>
              <a:rect l="l" t="t" r="r" b="b"/>
              <a:pathLst>
                <a:path w="1560830" h="305435">
                  <a:moveTo>
                    <a:pt x="0" y="0"/>
                  </a:moveTo>
                  <a:lnTo>
                    <a:pt x="1560575" y="0"/>
                  </a:lnTo>
                  <a:lnTo>
                    <a:pt x="1560575" y="305314"/>
                  </a:lnTo>
                  <a:lnTo>
                    <a:pt x="0" y="30531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4C5A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79866" y="4036033"/>
              <a:ext cx="1560830" cy="305435"/>
            </a:xfrm>
            <a:custGeom>
              <a:avLst/>
              <a:gdLst/>
              <a:ahLst/>
              <a:cxnLst/>
              <a:rect l="l" t="t" r="r" b="b"/>
              <a:pathLst>
                <a:path w="1560830" h="305435">
                  <a:moveTo>
                    <a:pt x="0" y="0"/>
                  </a:moveTo>
                  <a:lnTo>
                    <a:pt x="1560575" y="0"/>
                  </a:lnTo>
                  <a:lnTo>
                    <a:pt x="1560575" y="305314"/>
                  </a:lnTo>
                  <a:lnTo>
                    <a:pt x="0" y="30531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4C5A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303318" y="3335527"/>
            <a:ext cx="111379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73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(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k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500" spc="-114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 po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n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er)  (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k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500" spc="-114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 po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n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er)  (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k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500" spc="-114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 po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n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er)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74786" y="4344172"/>
            <a:ext cx="1570990" cy="1722120"/>
            <a:chOff x="1074786" y="4344172"/>
            <a:chExt cx="1570990" cy="1722120"/>
          </a:xfrm>
        </p:grpSpPr>
        <p:sp>
          <p:nvSpPr>
            <p:cNvPr id="24" name="object 24"/>
            <p:cNvSpPr/>
            <p:nvPr/>
          </p:nvSpPr>
          <p:spPr>
            <a:xfrm>
              <a:off x="1079866" y="4349252"/>
              <a:ext cx="1560830" cy="305435"/>
            </a:xfrm>
            <a:custGeom>
              <a:avLst/>
              <a:gdLst/>
              <a:ahLst/>
              <a:cxnLst/>
              <a:rect l="l" t="t" r="r" b="b"/>
              <a:pathLst>
                <a:path w="1560830" h="305435">
                  <a:moveTo>
                    <a:pt x="0" y="0"/>
                  </a:moveTo>
                  <a:lnTo>
                    <a:pt x="1560575" y="0"/>
                  </a:lnTo>
                  <a:lnTo>
                    <a:pt x="1560575" y="305314"/>
                  </a:lnTo>
                  <a:lnTo>
                    <a:pt x="0" y="30531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4C5A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79866" y="4653963"/>
              <a:ext cx="1560830" cy="1103630"/>
            </a:xfrm>
            <a:custGeom>
              <a:avLst/>
              <a:gdLst/>
              <a:ahLst/>
              <a:cxnLst/>
              <a:rect l="l" t="t" r="r" b="b"/>
              <a:pathLst>
                <a:path w="1560830" h="1103629">
                  <a:moveTo>
                    <a:pt x="0" y="0"/>
                  </a:moveTo>
                  <a:lnTo>
                    <a:pt x="1560575" y="0"/>
                  </a:lnTo>
                  <a:lnTo>
                    <a:pt x="1560575" y="1103359"/>
                  </a:lnTo>
                  <a:lnTo>
                    <a:pt x="0" y="1103359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4C5A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79866" y="5755799"/>
              <a:ext cx="1560830" cy="305435"/>
            </a:xfrm>
            <a:custGeom>
              <a:avLst/>
              <a:gdLst/>
              <a:ahLst/>
              <a:cxnLst/>
              <a:rect l="l" t="t" r="r" b="b"/>
              <a:pathLst>
                <a:path w="1560830" h="305435">
                  <a:moveTo>
                    <a:pt x="0" y="0"/>
                  </a:moveTo>
                  <a:lnTo>
                    <a:pt x="1560575" y="0"/>
                  </a:lnTo>
                  <a:lnTo>
                    <a:pt x="1560575" y="305314"/>
                  </a:lnTo>
                  <a:lnTo>
                    <a:pt x="0" y="30531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4C5A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79866" y="4662102"/>
              <a:ext cx="1560830" cy="305435"/>
            </a:xfrm>
            <a:custGeom>
              <a:avLst/>
              <a:gdLst/>
              <a:ahLst/>
              <a:cxnLst/>
              <a:rect l="l" t="t" r="r" b="b"/>
              <a:pathLst>
                <a:path w="1560830" h="305435">
                  <a:moveTo>
                    <a:pt x="0" y="0"/>
                  </a:moveTo>
                  <a:lnTo>
                    <a:pt x="1560575" y="0"/>
                  </a:lnTo>
                  <a:lnTo>
                    <a:pt x="1560575" y="305314"/>
                  </a:lnTo>
                  <a:lnTo>
                    <a:pt x="0" y="30531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4C5A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1295806" y="2218118"/>
            <a:ext cx="2194560" cy="110489"/>
          </a:xfrm>
          <a:custGeom>
            <a:avLst/>
            <a:gdLst/>
            <a:ahLst/>
            <a:cxnLst/>
            <a:rect l="l" t="t" r="r" b="b"/>
            <a:pathLst>
              <a:path w="2194560" h="110489">
                <a:moveTo>
                  <a:pt x="541477" y="55143"/>
                </a:moveTo>
                <a:lnTo>
                  <a:pt x="529869" y="48374"/>
                </a:lnTo>
                <a:lnTo>
                  <a:pt x="446938" y="0"/>
                </a:lnTo>
                <a:lnTo>
                  <a:pt x="442798" y="1092"/>
                </a:lnTo>
                <a:lnTo>
                  <a:pt x="439026" y="7556"/>
                </a:lnTo>
                <a:lnTo>
                  <a:pt x="440118" y="11696"/>
                </a:lnTo>
                <a:lnTo>
                  <a:pt x="502983" y="48374"/>
                </a:lnTo>
                <a:lnTo>
                  <a:pt x="0" y="48374"/>
                </a:lnTo>
                <a:lnTo>
                  <a:pt x="0" y="61925"/>
                </a:lnTo>
                <a:lnTo>
                  <a:pt x="502983" y="61925"/>
                </a:lnTo>
                <a:lnTo>
                  <a:pt x="440118" y="98590"/>
                </a:lnTo>
                <a:lnTo>
                  <a:pt x="439026" y="102743"/>
                </a:lnTo>
                <a:lnTo>
                  <a:pt x="442798" y="109207"/>
                </a:lnTo>
                <a:lnTo>
                  <a:pt x="446938" y="110299"/>
                </a:lnTo>
                <a:lnTo>
                  <a:pt x="529869" y="61925"/>
                </a:lnTo>
                <a:lnTo>
                  <a:pt x="541477" y="55143"/>
                </a:lnTo>
                <a:close/>
              </a:path>
              <a:path w="2194560" h="110489">
                <a:moveTo>
                  <a:pt x="2194064" y="55143"/>
                </a:moveTo>
                <a:lnTo>
                  <a:pt x="2182457" y="48374"/>
                </a:lnTo>
                <a:lnTo>
                  <a:pt x="2099525" y="0"/>
                </a:lnTo>
                <a:lnTo>
                  <a:pt x="2095385" y="1092"/>
                </a:lnTo>
                <a:lnTo>
                  <a:pt x="2091613" y="7556"/>
                </a:lnTo>
                <a:lnTo>
                  <a:pt x="2092706" y="11696"/>
                </a:lnTo>
                <a:lnTo>
                  <a:pt x="2155571" y="48374"/>
                </a:lnTo>
                <a:lnTo>
                  <a:pt x="1608823" y="48374"/>
                </a:lnTo>
                <a:lnTo>
                  <a:pt x="1608823" y="61925"/>
                </a:lnTo>
                <a:lnTo>
                  <a:pt x="2155571" y="61925"/>
                </a:lnTo>
                <a:lnTo>
                  <a:pt x="2092706" y="98590"/>
                </a:lnTo>
                <a:lnTo>
                  <a:pt x="2091613" y="102743"/>
                </a:lnTo>
                <a:lnTo>
                  <a:pt x="2095385" y="109207"/>
                </a:lnTo>
                <a:lnTo>
                  <a:pt x="2099525" y="110299"/>
                </a:lnTo>
                <a:lnTo>
                  <a:pt x="2182457" y="61925"/>
                </a:lnTo>
                <a:lnTo>
                  <a:pt x="2194064" y="55143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60013" y="3390391"/>
            <a:ext cx="131445" cy="124206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0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3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0227" y="5743447"/>
            <a:ext cx="1711325" cy="56197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B-1</a:t>
            </a:r>
            <a:endParaRPr sz="1500">
              <a:latin typeface="Arial MT"/>
              <a:cs typeface="Arial MT"/>
            </a:endParaRPr>
          </a:p>
          <a:p>
            <a:pPr marL="635635">
              <a:lnSpc>
                <a:spcPct val="100000"/>
              </a:lnSpc>
              <a:spcBef>
                <a:spcPts val="315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Bucket</a:t>
            </a:r>
            <a:r>
              <a:rPr sz="1500" spc="-6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array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50782" y="2422853"/>
            <a:ext cx="4332605" cy="2755900"/>
            <a:chOff x="350782" y="2422853"/>
            <a:chExt cx="4332605" cy="2755900"/>
          </a:xfrm>
        </p:grpSpPr>
        <p:sp>
          <p:nvSpPr>
            <p:cNvPr id="32" name="object 32"/>
            <p:cNvSpPr/>
            <p:nvPr/>
          </p:nvSpPr>
          <p:spPr>
            <a:xfrm>
              <a:off x="350782" y="2422853"/>
              <a:ext cx="3852545" cy="2443480"/>
            </a:xfrm>
            <a:custGeom>
              <a:avLst/>
              <a:gdLst/>
              <a:ahLst/>
              <a:cxnLst/>
              <a:rect l="l" t="t" r="r" b="b"/>
              <a:pathLst>
                <a:path w="3852545" h="2443479">
                  <a:moveTo>
                    <a:pt x="690903" y="2396880"/>
                  </a:moveTo>
                  <a:lnTo>
                    <a:pt x="626116" y="2431324"/>
                  </a:lnTo>
                  <a:lnTo>
                    <a:pt x="624862" y="2435425"/>
                  </a:lnTo>
                  <a:lnTo>
                    <a:pt x="628374" y="2442032"/>
                  </a:lnTo>
                  <a:lnTo>
                    <a:pt x="632475" y="2443285"/>
                  </a:lnTo>
                  <a:lnTo>
                    <a:pt x="717385" y="2398144"/>
                  </a:lnTo>
                  <a:lnTo>
                    <a:pt x="715418" y="2398144"/>
                  </a:lnTo>
                  <a:lnTo>
                    <a:pt x="694451" y="2397297"/>
                  </a:lnTo>
                  <a:lnTo>
                    <a:pt x="690903" y="2396880"/>
                  </a:lnTo>
                  <a:close/>
                </a:path>
                <a:path w="3852545" h="2443479">
                  <a:moveTo>
                    <a:pt x="702252" y="2390847"/>
                  </a:moveTo>
                  <a:lnTo>
                    <a:pt x="690903" y="2396880"/>
                  </a:lnTo>
                  <a:lnTo>
                    <a:pt x="694451" y="2397297"/>
                  </a:lnTo>
                  <a:lnTo>
                    <a:pt x="715418" y="2398144"/>
                  </a:lnTo>
                  <a:lnTo>
                    <a:pt x="715459" y="2397089"/>
                  </a:lnTo>
                  <a:lnTo>
                    <a:pt x="712044" y="2397089"/>
                  </a:lnTo>
                  <a:lnTo>
                    <a:pt x="702252" y="2390847"/>
                  </a:lnTo>
                  <a:close/>
                </a:path>
                <a:path w="3852545" h="2443479">
                  <a:moveTo>
                    <a:pt x="636824" y="2333073"/>
                  </a:moveTo>
                  <a:lnTo>
                    <a:pt x="632637" y="2334000"/>
                  </a:lnTo>
                  <a:lnTo>
                    <a:pt x="628615" y="2340309"/>
                  </a:lnTo>
                  <a:lnTo>
                    <a:pt x="629542" y="2344496"/>
                  </a:lnTo>
                  <a:lnTo>
                    <a:pt x="690202" y="2383165"/>
                  </a:lnTo>
                  <a:lnTo>
                    <a:pt x="696025" y="2383843"/>
                  </a:lnTo>
                  <a:lnTo>
                    <a:pt x="715951" y="2384609"/>
                  </a:lnTo>
                  <a:lnTo>
                    <a:pt x="715418" y="2398144"/>
                  </a:lnTo>
                  <a:lnTo>
                    <a:pt x="717385" y="2398144"/>
                  </a:lnTo>
                  <a:lnTo>
                    <a:pt x="729117" y="2391907"/>
                  </a:lnTo>
                  <a:lnTo>
                    <a:pt x="636824" y="2333073"/>
                  </a:lnTo>
                  <a:close/>
                </a:path>
                <a:path w="3852545" h="2443479">
                  <a:moveTo>
                    <a:pt x="712505" y="2385396"/>
                  </a:moveTo>
                  <a:lnTo>
                    <a:pt x="702252" y="2390847"/>
                  </a:lnTo>
                  <a:lnTo>
                    <a:pt x="712044" y="2397089"/>
                  </a:lnTo>
                  <a:lnTo>
                    <a:pt x="712505" y="2385396"/>
                  </a:lnTo>
                  <a:close/>
                </a:path>
                <a:path w="3852545" h="2443479">
                  <a:moveTo>
                    <a:pt x="715920" y="2385396"/>
                  </a:moveTo>
                  <a:lnTo>
                    <a:pt x="712505" y="2385396"/>
                  </a:lnTo>
                  <a:lnTo>
                    <a:pt x="712044" y="2397089"/>
                  </a:lnTo>
                  <a:lnTo>
                    <a:pt x="715459" y="2397089"/>
                  </a:lnTo>
                  <a:lnTo>
                    <a:pt x="715920" y="2385396"/>
                  </a:lnTo>
                  <a:close/>
                </a:path>
                <a:path w="3852545" h="2443479">
                  <a:moveTo>
                    <a:pt x="3838570" y="0"/>
                  </a:moveTo>
                  <a:lnTo>
                    <a:pt x="3827976" y="49395"/>
                  </a:lnTo>
                  <a:lnTo>
                    <a:pt x="3806551" y="86254"/>
                  </a:lnTo>
                  <a:lnTo>
                    <a:pt x="3773877" y="123229"/>
                  </a:lnTo>
                  <a:lnTo>
                    <a:pt x="3713549" y="172198"/>
                  </a:lnTo>
                  <a:lnTo>
                    <a:pt x="3676691" y="196256"/>
                  </a:lnTo>
                  <a:lnTo>
                    <a:pt x="3635571" y="219975"/>
                  </a:lnTo>
                  <a:lnTo>
                    <a:pt x="3590370" y="243282"/>
                  </a:lnTo>
                  <a:lnTo>
                    <a:pt x="3541271" y="266119"/>
                  </a:lnTo>
                  <a:lnTo>
                    <a:pt x="3488455" y="288427"/>
                  </a:lnTo>
                  <a:lnTo>
                    <a:pt x="3432104" y="310149"/>
                  </a:lnTo>
                  <a:lnTo>
                    <a:pt x="3372395" y="331232"/>
                  </a:lnTo>
                  <a:lnTo>
                    <a:pt x="3309509" y="351622"/>
                  </a:lnTo>
                  <a:lnTo>
                    <a:pt x="3243624" y="371265"/>
                  </a:lnTo>
                  <a:lnTo>
                    <a:pt x="3174915" y="390112"/>
                  </a:lnTo>
                  <a:lnTo>
                    <a:pt x="3103564" y="408110"/>
                  </a:lnTo>
                  <a:lnTo>
                    <a:pt x="3029745" y="425208"/>
                  </a:lnTo>
                  <a:lnTo>
                    <a:pt x="2953637" y="441355"/>
                  </a:lnTo>
                  <a:lnTo>
                    <a:pt x="2875415" y="456500"/>
                  </a:lnTo>
                  <a:lnTo>
                    <a:pt x="2795258" y="470592"/>
                  </a:lnTo>
                  <a:lnTo>
                    <a:pt x="2713340" y="483581"/>
                  </a:lnTo>
                  <a:lnTo>
                    <a:pt x="2629839" y="495416"/>
                  </a:lnTo>
                  <a:lnTo>
                    <a:pt x="2544931" y="506048"/>
                  </a:lnTo>
                  <a:lnTo>
                    <a:pt x="2458792" y="515425"/>
                  </a:lnTo>
                  <a:lnTo>
                    <a:pt x="2371600" y="523497"/>
                  </a:lnTo>
                  <a:lnTo>
                    <a:pt x="2283529" y="530213"/>
                  </a:lnTo>
                  <a:lnTo>
                    <a:pt x="2194757" y="535524"/>
                  </a:lnTo>
                  <a:lnTo>
                    <a:pt x="2105460" y="539380"/>
                  </a:lnTo>
                  <a:lnTo>
                    <a:pt x="2015813" y="541729"/>
                  </a:lnTo>
                  <a:lnTo>
                    <a:pt x="1836015" y="543859"/>
                  </a:lnTo>
                  <a:lnTo>
                    <a:pt x="1746056" y="547815"/>
                  </a:lnTo>
                  <a:lnTo>
                    <a:pt x="1656455" y="554308"/>
                  </a:lnTo>
                  <a:lnTo>
                    <a:pt x="1567385" y="563251"/>
                  </a:lnTo>
                  <a:lnTo>
                    <a:pt x="1479021" y="574560"/>
                  </a:lnTo>
                  <a:lnTo>
                    <a:pt x="1391539" y="588152"/>
                  </a:lnTo>
                  <a:lnTo>
                    <a:pt x="1305115" y="603940"/>
                  </a:lnTo>
                  <a:lnTo>
                    <a:pt x="1219923" y="621842"/>
                  </a:lnTo>
                  <a:lnTo>
                    <a:pt x="1136136" y="641774"/>
                  </a:lnTo>
                  <a:lnTo>
                    <a:pt x="1053931" y="663649"/>
                  </a:lnTo>
                  <a:lnTo>
                    <a:pt x="973485" y="687387"/>
                  </a:lnTo>
                  <a:lnTo>
                    <a:pt x="894968" y="712900"/>
                  </a:lnTo>
                  <a:lnTo>
                    <a:pt x="818558" y="740107"/>
                  </a:lnTo>
                  <a:lnTo>
                    <a:pt x="744429" y="768924"/>
                  </a:lnTo>
                  <a:lnTo>
                    <a:pt x="672755" y="799266"/>
                  </a:lnTo>
                  <a:lnTo>
                    <a:pt x="603712" y="831052"/>
                  </a:lnTo>
                  <a:lnTo>
                    <a:pt x="537474" y="864198"/>
                  </a:lnTo>
                  <a:lnTo>
                    <a:pt x="474215" y="898621"/>
                  </a:lnTo>
                  <a:lnTo>
                    <a:pt x="414109" y="934239"/>
                  </a:lnTo>
                  <a:lnTo>
                    <a:pt x="357332" y="970973"/>
                  </a:lnTo>
                  <a:lnTo>
                    <a:pt x="304057" y="1008739"/>
                  </a:lnTo>
                  <a:lnTo>
                    <a:pt x="254459" y="1047459"/>
                  </a:lnTo>
                  <a:lnTo>
                    <a:pt x="208714" y="1087053"/>
                  </a:lnTo>
                  <a:lnTo>
                    <a:pt x="166995" y="1127445"/>
                  </a:lnTo>
                  <a:lnTo>
                    <a:pt x="129481" y="1168556"/>
                  </a:lnTo>
                  <a:lnTo>
                    <a:pt x="96349" y="1210312"/>
                  </a:lnTo>
                  <a:lnTo>
                    <a:pt x="67702" y="1252757"/>
                  </a:lnTo>
                  <a:lnTo>
                    <a:pt x="43883" y="1295604"/>
                  </a:lnTo>
                  <a:lnTo>
                    <a:pt x="25005" y="1338875"/>
                  </a:lnTo>
                  <a:lnTo>
                    <a:pt x="11265" y="1382491"/>
                  </a:lnTo>
                  <a:lnTo>
                    <a:pt x="2863" y="1426361"/>
                  </a:lnTo>
                  <a:lnTo>
                    <a:pt x="0" y="1470381"/>
                  </a:lnTo>
                  <a:lnTo>
                    <a:pt x="1045" y="1513937"/>
                  </a:lnTo>
                  <a:lnTo>
                    <a:pt x="4158" y="1557347"/>
                  </a:lnTo>
                  <a:lnTo>
                    <a:pt x="9268" y="1600577"/>
                  </a:lnTo>
                  <a:lnTo>
                    <a:pt x="16309" y="1643542"/>
                  </a:lnTo>
                  <a:lnTo>
                    <a:pt x="25214" y="1686161"/>
                  </a:lnTo>
                  <a:lnTo>
                    <a:pt x="35915" y="1728348"/>
                  </a:lnTo>
                  <a:lnTo>
                    <a:pt x="48345" y="1770019"/>
                  </a:lnTo>
                  <a:lnTo>
                    <a:pt x="62437" y="1811092"/>
                  </a:lnTo>
                  <a:lnTo>
                    <a:pt x="78126" y="1851482"/>
                  </a:lnTo>
                  <a:lnTo>
                    <a:pt x="95344" y="1891104"/>
                  </a:lnTo>
                  <a:lnTo>
                    <a:pt x="114026" y="1929879"/>
                  </a:lnTo>
                  <a:lnTo>
                    <a:pt x="134105" y="1967718"/>
                  </a:lnTo>
                  <a:lnTo>
                    <a:pt x="155516" y="2004541"/>
                  </a:lnTo>
                  <a:lnTo>
                    <a:pt x="178192" y="2040263"/>
                  </a:lnTo>
                  <a:lnTo>
                    <a:pt x="202069" y="2074800"/>
                  </a:lnTo>
                  <a:lnTo>
                    <a:pt x="227081" y="2108069"/>
                  </a:lnTo>
                  <a:lnTo>
                    <a:pt x="253161" y="2139985"/>
                  </a:lnTo>
                  <a:lnTo>
                    <a:pt x="280247" y="2170465"/>
                  </a:lnTo>
                  <a:lnTo>
                    <a:pt x="308273" y="2199425"/>
                  </a:lnTo>
                  <a:lnTo>
                    <a:pt x="337174" y="2226781"/>
                  </a:lnTo>
                  <a:lnTo>
                    <a:pt x="366885" y="2252446"/>
                  </a:lnTo>
                  <a:lnTo>
                    <a:pt x="397343" y="2276337"/>
                  </a:lnTo>
                  <a:lnTo>
                    <a:pt x="428483" y="2298369"/>
                  </a:lnTo>
                  <a:lnTo>
                    <a:pt x="492554" y="2336512"/>
                  </a:lnTo>
                  <a:lnTo>
                    <a:pt x="558586" y="2366185"/>
                  </a:lnTo>
                  <a:lnTo>
                    <a:pt x="626061" y="2386684"/>
                  </a:lnTo>
                  <a:lnTo>
                    <a:pt x="690903" y="2396880"/>
                  </a:lnTo>
                  <a:lnTo>
                    <a:pt x="702252" y="2390847"/>
                  </a:lnTo>
                  <a:lnTo>
                    <a:pt x="690202" y="2383165"/>
                  </a:lnTo>
                  <a:lnTo>
                    <a:pt x="662738" y="2379968"/>
                  </a:lnTo>
                  <a:lnTo>
                    <a:pt x="629554" y="2373595"/>
                  </a:lnTo>
                  <a:lnTo>
                    <a:pt x="563756" y="2353664"/>
                  </a:lnTo>
                  <a:lnTo>
                    <a:pt x="499159" y="2324685"/>
                  </a:lnTo>
                  <a:lnTo>
                    <a:pt x="436305" y="2287309"/>
                  </a:lnTo>
                  <a:lnTo>
                    <a:pt x="375739" y="2242193"/>
                  </a:lnTo>
                  <a:lnTo>
                    <a:pt x="346484" y="2216941"/>
                  </a:lnTo>
                  <a:lnTo>
                    <a:pt x="318006" y="2190003"/>
                  </a:lnTo>
                  <a:lnTo>
                    <a:pt x="290372" y="2161466"/>
                  </a:lnTo>
                  <a:lnTo>
                    <a:pt x="263650" y="2131413"/>
                  </a:lnTo>
                  <a:lnTo>
                    <a:pt x="237907" y="2099927"/>
                  </a:lnTo>
                  <a:lnTo>
                    <a:pt x="213211" y="2067095"/>
                  </a:lnTo>
                  <a:lnTo>
                    <a:pt x="189628" y="2033002"/>
                  </a:lnTo>
                  <a:lnTo>
                    <a:pt x="167226" y="1997730"/>
                  </a:lnTo>
                  <a:lnTo>
                    <a:pt x="146071" y="1961367"/>
                  </a:lnTo>
                  <a:lnTo>
                    <a:pt x="126229" y="1923996"/>
                  </a:lnTo>
                  <a:lnTo>
                    <a:pt x="107768" y="1885704"/>
                  </a:lnTo>
                  <a:lnTo>
                    <a:pt x="90753" y="1846574"/>
                  </a:lnTo>
                  <a:lnTo>
                    <a:pt x="75250" y="1806694"/>
                  </a:lnTo>
                  <a:lnTo>
                    <a:pt x="61325" y="1766145"/>
                  </a:lnTo>
                  <a:lnTo>
                    <a:pt x="49045" y="1725015"/>
                  </a:lnTo>
                  <a:lnTo>
                    <a:pt x="38474" y="1683388"/>
                  </a:lnTo>
                  <a:lnTo>
                    <a:pt x="29677" y="1641350"/>
                  </a:lnTo>
                  <a:lnTo>
                    <a:pt x="22721" y="1598984"/>
                  </a:lnTo>
                  <a:lnTo>
                    <a:pt x="17670" y="1556376"/>
                  </a:lnTo>
                  <a:lnTo>
                    <a:pt x="14588" y="1513610"/>
                  </a:lnTo>
                  <a:lnTo>
                    <a:pt x="13539" y="1470821"/>
                  </a:lnTo>
                  <a:lnTo>
                    <a:pt x="14211" y="1449660"/>
                  </a:lnTo>
                  <a:lnTo>
                    <a:pt x="19608" y="1407339"/>
                  </a:lnTo>
                  <a:lnTo>
                    <a:pt x="30286" y="1365065"/>
                  </a:lnTo>
                  <a:lnTo>
                    <a:pt x="46093" y="1322914"/>
                  </a:lnTo>
                  <a:lnTo>
                    <a:pt x="66878" y="1280966"/>
                  </a:lnTo>
                  <a:lnTo>
                    <a:pt x="92481" y="1239316"/>
                  </a:lnTo>
                  <a:lnTo>
                    <a:pt x="139490" y="1177684"/>
                  </a:lnTo>
                  <a:lnTo>
                    <a:pt x="176420" y="1137175"/>
                  </a:lnTo>
                  <a:lnTo>
                    <a:pt x="217581" y="1097295"/>
                  </a:lnTo>
                  <a:lnTo>
                    <a:pt x="262797" y="1058136"/>
                  </a:lnTo>
                  <a:lnTo>
                    <a:pt x="311893" y="1019790"/>
                  </a:lnTo>
                  <a:lnTo>
                    <a:pt x="364692" y="982346"/>
                  </a:lnTo>
                  <a:lnTo>
                    <a:pt x="421017" y="945893"/>
                  </a:lnTo>
                  <a:lnTo>
                    <a:pt x="480690" y="910520"/>
                  </a:lnTo>
                  <a:lnTo>
                    <a:pt x="543537" y="876312"/>
                  </a:lnTo>
                  <a:lnTo>
                    <a:pt x="609378" y="843357"/>
                  </a:lnTo>
                  <a:lnTo>
                    <a:pt x="678037" y="811740"/>
                  </a:lnTo>
                  <a:lnTo>
                    <a:pt x="749338" y="781550"/>
                  </a:lnTo>
                  <a:lnTo>
                    <a:pt x="823103" y="752869"/>
                  </a:lnTo>
                  <a:lnTo>
                    <a:pt x="899155" y="725784"/>
                  </a:lnTo>
                  <a:lnTo>
                    <a:pt x="977319" y="700379"/>
                  </a:lnTo>
                  <a:lnTo>
                    <a:pt x="1057416" y="676741"/>
                  </a:lnTo>
                  <a:lnTo>
                    <a:pt x="1139272" y="654952"/>
                  </a:lnTo>
                  <a:lnTo>
                    <a:pt x="1222708" y="635100"/>
                  </a:lnTo>
                  <a:lnTo>
                    <a:pt x="1307550" y="617266"/>
                  </a:lnTo>
                  <a:lnTo>
                    <a:pt x="1393620" y="601538"/>
                  </a:lnTo>
                  <a:lnTo>
                    <a:pt x="1480742" y="587997"/>
                  </a:lnTo>
                  <a:lnTo>
                    <a:pt x="1568739" y="576729"/>
                  </a:lnTo>
                  <a:lnTo>
                    <a:pt x="1657434" y="567819"/>
                  </a:lnTo>
                  <a:lnTo>
                    <a:pt x="1746652" y="561350"/>
                  </a:lnTo>
                  <a:lnTo>
                    <a:pt x="1836216" y="557405"/>
                  </a:lnTo>
                  <a:lnTo>
                    <a:pt x="2016167" y="555271"/>
                  </a:lnTo>
                  <a:lnTo>
                    <a:pt x="2106044" y="552914"/>
                  </a:lnTo>
                  <a:lnTo>
                    <a:pt x="2195566" y="549047"/>
                  </a:lnTo>
                  <a:lnTo>
                    <a:pt x="2284559" y="543721"/>
                  </a:lnTo>
                  <a:lnTo>
                    <a:pt x="2372848" y="536986"/>
                  </a:lnTo>
                  <a:lnTo>
                    <a:pt x="2460258" y="528892"/>
                  </a:lnTo>
                  <a:lnTo>
                    <a:pt x="2546613" y="519489"/>
                  </a:lnTo>
                  <a:lnTo>
                    <a:pt x="2631740" y="508829"/>
                  </a:lnTo>
                  <a:lnTo>
                    <a:pt x="2715461" y="496961"/>
                  </a:lnTo>
                  <a:lnTo>
                    <a:pt x="2797603" y="483934"/>
                  </a:lnTo>
                  <a:lnTo>
                    <a:pt x="2877991" y="469799"/>
                  </a:lnTo>
                  <a:lnTo>
                    <a:pt x="2956449" y="454606"/>
                  </a:lnTo>
                  <a:lnTo>
                    <a:pt x="3032802" y="438405"/>
                  </a:lnTo>
                  <a:lnTo>
                    <a:pt x="3106878" y="421246"/>
                  </a:lnTo>
                  <a:lnTo>
                    <a:pt x="3178499" y="403176"/>
                  </a:lnTo>
                  <a:lnTo>
                    <a:pt x="3247495" y="384247"/>
                  </a:lnTo>
                  <a:lnTo>
                    <a:pt x="3313688" y="364507"/>
                  </a:lnTo>
                  <a:lnTo>
                    <a:pt x="3376906" y="344006"/>
                  </a:lnTo>
                  <a:lnTo>
                    <a:pt x="3436977" y="322789"/>
                  </a:lnTo>
                  <a:lnTo>
                    <a:pt x="3493727" y="300906"/>
                  </a:lnTo>
                  <a:lnTo>
                    <a:pt x="3546986" y="278401"/>
                  </a:lnTo>
                  <a:lnTo>
                    <a:pt x="3596581" y="255322"/>
                  </a:lnTo>
                  <a:lnTo>
                    <a:pt x="3642341" y="231707"/>
                  </a:lnTo>
                  <a:lnTo>
                    <a:pt x="3684100" y="207598"/>
                  </a:lnTo>
                  <a:lnTo>
                    <a:pt x="3721687" y="183027"/>
                  </a:lnTo>
                  <a:lnTo>
                    <a:pt x="3754823" y="158116"/>
                  </a:lnTo>
                  <a:lnTo>
                    <a:pt x="3783540" y="132723"/>
                  </a:lnTo>
                  <a:lnTo>
                    <a:pt x="3817747" y="93880"/>
                  </a:lnTo>
                  <a:lnTo>
                    <a:pt x="3840668" y="54129"/>
                  </a:lnTo>
                  <a:lnTo>
                    <a:pt x="3851397" y="13600"/>
                  </a:lnTo>
                  <a:lnTo>
                    <a:pt x="3852097" y="735"/>
                  </a:lnTo>
                  <a:lnTo>
                    <a:pt x="3838570" y="0"/>
                  </a:lnTo>
                  <a:close/>
                </a:path>
                <a:path w="3852545" h="2443479">
                  <a:moveTo>
                    <a:pt x="690202" y="2383165"/>
                  </a:moveTo>
                  <a:lnTo>
                    <a:pt x="702252" y="2390847"/>
                  </a:lnTo>
                  <a:lnTo>
                    <a:pt x="712505" y="2385396"/>
                  </a:lnTo>
                  <a:lnTo>
                    <a:pt x="715920" y="2385396"/>
                  </a:lnTo>
                  <a:lnTo>
                    <a:pt x="715951" y="2384609"/>
                  </a:lnTo>
                  <a:lnTo>
                    <a:pt x="696025" y="2383843"/>
                  </a:lnTo>
                  <a:lnTo>
                    <a:pt x="690202" y="2383165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142216" y="3415949"/>
              <a:ext cx="1530985" cy="1752600"/>
            </a:xfrm>
            <a:custGeom>
              <a:avLst/>
              <a:gdLst/>
              <a:ahLst/>
              <a:cxnLst/>
              <a:rect l="l" t="t" r="r" b="b"/>
              <a:pathLst>
                <a:path w="1530985" h="1752600">
                  <a:moveTo>
                    <a:pt x="1530536" y="191317"/>
                  </a:moveTo>
                  <a:lnTo>
                    <a:pt x="1516737" y="227671"/>
                  </a:lnTo>
                  <a:lnTo>
                    <a:pt x="1477051" y="261723"/>
                  </a:lnTo>
                  <a:lnTo>
                    <a:pt x="1414042" y="292831"/>
                  </a:lnTo>
                  <a:lnTo>
                    <a:pt x="1374594" y="307080"/>
                  </a:lnTo>
                  <a:lnTo>
                    <a:pt x="1330278" y="320353"/>
                  </a:lnTo>
                  <a:lnTo>
                    <a:pt x="1281414" y="332569"/>
                  </a:lnTo>
                  <a:lnTo>
                    <a:pt x="1228322" y="343648"/>
                  </a:lnTo>
                  <a:lnTo>
                    <a:pt x="1171325" y="353510"/>
                  </a:lnTo>
                  <a:lnTo>
                    <a:pt x="1110742" y="362075"/>
                  </a:lnTo>
                  <a:lnTo>
                    <a:pt x="1046894" y="369262"/>
                  </a:lnTo>
                  <a:lnTo>
                    <a:pt x="980102" y="374992"/>
                  </a:lnTo>
                  <a:lnTo>
                    <a:pt x="910687" y="379184"/>
                  </a:lnTo>
                  <a:lnTo>
                    <a:pt x="838968" y="381758"/>
                  </a:lnTo>
                  <a:lnTo>
                    <a:pt x="765268" y="382633"/>
                  </a:lnTo>
                  <a:lnTo>
                    <a:pt x="691567" y="381758"/>
                  </a:lnTo>
                  <a:lnTo>
                    <a:pt x="619849" y="379184"/>
                  </a:lnTo>
                  <a:lnTo>
                    <a:pt x="550433" y="374992"/>
                  </a:lnTo>
                  <a:lnTo>
                    <a:pt x="483641" y="369262"/>
                  </a:lnTo>
                  <a:lnTo>
                    <a:pt x="419793" y="362075"/>
                  </a:lnTo>
                  <a:lnTo>
                    <a:pt x="359210" y="353510"/>
                  </a:lnTo>
                  <a:lnTo>
                    <a:pt x="302213" y="343648"/>
                  </a:lnTo>
                  <a:lnTo>
                    <a:pt x="249122" y="332569"/>
                  </a:lnTo>
                  <a:lnTo>
                    <a:pt x="200258" y="320353"/>
                  </a:lnTo>
                  <a:lnTo>
                    <a:pt x="155941" y="307080"/>
                  </a:lnTo>
                  <a:lnTo>
                    <a:pt x="116493" y="292831"/>
                  </a:lnTo>
                  <a:lnTo>
                    <a:pt x="53485" y="261723"/>
                  </a:lnTo>
                  <a:lnTo>
                    <a:pt x="13798" y="227671"/>
                  </a:lnTo>
                  <a:lnTo>
                    <a:pt x="0" y="191317"/>
                  </a:lnTo>
                  <a:lnTo>
                    <a:pt x="3503" y="172891"/>
                  </a:lnTo>
                  <a:lnTo>
                    <a:pt x="30566" y="137608"/>
                  </a:lnTo>
                  <a:lnTo>
                    <a:pt x="82234" y="104948"/>
                  </a:lnTo>
                  <a:lnTo>
                    <a:pt x="155941" y="75553"/>
                  </a:lnTo>
                  <a:lnTo>
                    <a:pt x="200258" y="62280"/>
                  </a:lnTo>
                  <a:lnTo>
                    <a:pt x="249122" y="50064"/>
                  </a:lnTo>
                  <a:lnTo>
                    <a:pt x="302213" y="38985"/>
                  </a:lnTo>
                  <a:lnTo>
                    <a:pt x="359210" y="29123"/>
                  </a:lnTo>
                  <a:lnTo>
                    <a:pt x="419793" y="20558"/>
                  </a:lnTo>
                  <a:lnTo>
                    <a:pt x="483641" y="13371"/>
                  </a:lnTo>
                  <a:lnTo>
                    <a:pt x="550433" y="7641"/>
                  </a:lnTo>
                  <a:lnTo>
                    <a:pt x="619849" y="3449"/>
                  </a:lnTo>
                  <a:lnTo>
                    <a:pt x="691567" y="875"/>
                  </a:lnTo>
                  <a:lnTo>
                    <a:pt x="765268" y="0"/>
                  </a:lnTo>
                  <a:lnTo>
                    <a:pt x="838968" y="875"/>
                  </a:lnTo>
                  <a:lnTo>
                    <a:pt x="910687" y="3449"/>
                  </a:lnTo>
                  <a:lnTo>
                    <a:pt x="980102" y="7641"/>
                  </a:lnTo>
                  <a:lnTo>
                    <a:pt x="1046894" y="13371"/>
                  </a:lnTo>
                  <a:lnTo>
                    <a:pt x="1110742" y="20558"/>
                  </a:lnTo>
                  <a:lnTo>
                    <a:pt x="1171325" y="29123"/>
                  </a:lnTo>
                  <a:lnTo>
                    <a:pt x="1228322" y="38985"/>
                  </a:lnTo>
                  <a:lnTo>
                    <a:pt x="1281414" y="50064"/>
                  </a:lnTo>
                  <a:lnTo>
                    <a:pt x="1330278" y="62280"/>
                  </a:lnTo>
                  <a:lnTo>
                    <a:pt x="1374594" y="75553"/>
                  </a:lnTo>
                  <a:lnTo>
                    <a:pt x="1414042" y="89802"/>
                  </a:lnTo>
                  <a:lnTo>
                    <a:pt x="1477051" y="120910"/>
                  </a:lnTo>
                  <a:lnTo>
                    <a:pt x="1516737" y="154962"/>
                  </a:lnTo>
                  <a:lnTo>
                    <a:pt x="1530536" y="191317"/>
                  </a:lnTo>
                  <a:lnTo>
                    <a:pt x="1530536" y="1560888"/>
                  </a:lnTo>
                  <a:lnTo>
                    <a:pt x="1516737" y="1597243"/>
                  </a:lnTo>
                  <a:lnTo>
                    <a:pt x="1477051" y="1631295"/>
                  </a:lnTo>
                  <a:lnTo>
                    <a:pt x="1414042" y="1662403"/>
                  </a:lnTo>
                  <a:lnTo>
                    <a:pt x="1374594" y="1676652"/>
                  </a:lnTo>
                  <a:lnTo>
                    <a:pt x="1330278" y="1689925"/>
                  </a:lnTo>
                  <a:lnTo>
                    <a:pt x="1281414" y="1702141"/>
                  </a:lnTo>
                  <a:lnTo>
                    <a:pt x="1228322" y="1713220"/>
                  </a:lnTo>
                  <a:lnTo>
                    <a:pt x="1171325" y="1723082"/>
                  </a:lnTo>
                  <a:lnTo>
                    <a:pt x="1110742" y="1731647"/>
                  </a:lnTo>
                  <a:lnTo>
                    <a:pt x="1046894" y="1738834"/>
                  </a:lnTo>
                  <a:lnTo>
                    <a:pt x="980102" y="1744564"/>
                  </a:lnTo>
                  <a:lnTo>
                    <a:pt x="910687" y="1748756"/>
                  </a:lnTo>
                  <a:lnTo>
                    <a:pt x="838968" y="1751330"/>
                  </a:lnTo>
                  <a:lnTo>
                    <a:pt x="765268" y="1752205"/>
                  </a:lnTo>
                  <a:lnTo>
                    <a:pt x="691567" y="1751330"/>
                  </a:lnTo>
                  <a:lnTo>
                    <a:pt x="619849" y="1748756"/>
                  </a:lnTo>
                  <a:lnTo>
                    <a:pt x="550433" y="1744564"/>
                  </a:lnTo>
                  <a:lnTo>
                    <a:pt x="483641" y="1738834"/>
                  </a:lnTo>
                  <a:lnTo>
                    <a:pt x="419793" y="1731647"/>
                  </a:lnTo>
                  <a:lnTo>
                    <a:pt x="359210" y="1723082"/>
                  </a:lnTo>
                  <a:lnTo>
                    <a:pt x="302213" y="1713220"/>
                  </a:lnTo>
                  <a:lnTo>
                    <a:pt x="249122" y="1702141"/>
                  </a:lnTo>
                  <a:lnTo>
                    <a:pt x="200258" y="1689925"/>
                  </a:lnTo>
                  <a:lnTo>
                    <a:pt x="155941" y="1676652"/>
                  </a:lnTo>
                  <a:lnTo>
                    <a:pt x="116493" y="1662403"/>
                  </a:lnTo>
                  <a:lnTo>
                    <a:pt x="53485" y="1631295"/>
                  </a:lnTo>
                  <a:lnTo>
                    <a:pt x="13798" y="1597243"/>
                  </a:lnTo>
                  <a:lnTo>
                    <a:pt x="0" y="1560888"/>
                  </a:lnTo>
                  <a:lnTo>
                    <a:pt x="1" y="191317"/>
                  </a:lnTo>
                </a:path>
              </a:pathLst>
            </a:custGeom>
            <a:ln w="20319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635266" y="3557882"/>
              <a:ext cx="758825" cy="897255"/>
            </a:xfrm>
            <a:custGeom>
              <a:avLst/>
              <a:gdLst/>
              <a:ahLst/>
              <a:cxnLst/>
              <a:rect l="l" t="t" r="r" b="b"/>
              <a:pathLst>
                <a:path w="758825" h="897254">
                  <a:moveTo>
                    <a:pt x="659911" y="847429"/>
                  </a:moveTo>
                  <a:lnTo>
                    <a:pt x="656037" y="849270"/>
                  </a:lnTo>
                  <a:lnTo>
                    <a:pt x="653530" y="856319"/>
                  </a:lnTo>
                  <a:lnTo>
                    <a:pt x="655372" y="860192"/>
                  </a:lnTo>
                  <a:lnTo>
                    <a:pt x="758494" y="896867"/>
                  </a:lnTo>
                  <a:lnTo>
                    <a:pt x="757464" y="890972"/>
                  </a:lnTo>
                  <a:lnTo>
                    <a:pt x="744655" y="890972"/>
                  </a:lnTo>
                  <a:lnTo>
                    <a:pt x="728488" y="871817"/>
                  </a:lnTo>
                  <a:lnTo>
                    <a:pt x="659911" y="847429"/>
                  </a:lnTo>
                  <a:close/>
                </a:path>
                <a:path w="758825" h="897254">
                  <a:moveTo>
                    <a:pt x="728488" y="871817"/>
                  </a:moveTo>
                  <a:lnTo>
                    <a:pt x="744655" y="890972"/>
                  </a:lnTo>
                  <a:lnTo>
                    <a:pt x="748460" y="887760"/>
                  </a:lnTo>
                  <a:lnTo>
                    <a:pt x="743151" y="887760"/>
                  </a:lnTo>
                  <a:lnTo>
                    <a:pt x="741153" y="876322"/>
                  </a:lnTo>
                  <a:lnTo>
                    <a:pt x="728488" y="871817"/>
                  </a:lnTo>
                  <a:close/>
                </a:path>
                <a:path w="758825" h="897254">
                  <a:moveTo>
                    <a:pt x="736149" y="786584"/>
                  </a:moveTo>
                  <a:lnTo>
                    <a:pt x="728779" y="787872"/>
                  </a:lnTo>
                  <a:lnTo>
                    <a:pt x="726314" y="791381"/>
                  </a:lnTo>
                  <a:lnTo>
                    <a:pt x="738840" y="863080"/>
                  </a:lnTo>
                  <a:lnTo>
                    <a:pt x="755007" y="882234"/>
                  </a:lnTo>
                  <a:lnTo>
                    <a:pt x="744655" y="890972"/>
                  </a:lnTo>
                  <a:lnTo>
                    <a:pt x="757464" y="890972"/>
                  </a:lnTo>
                  <a:lnTo>
                    <a:pt x="739658" y="789049"/>
                  </a:lnTo>
                  <a:lnTo>
                    <a:pt x="736149" y="786584"/>
                  </a:lnTo>
                  <a:close/>
                </a:path>
                <a:path w="758825" h="897254">
                  <a:moveTo>
                    <a:pt x="741153" y="876322"/>
                  </a:moveTo>
                  <a:lnTo>
                    <a:pt x="743151" y="887760"/>
                  </a:lnTo>
                  <a:lnTo>
                    <a:pt x="752094" y="880212"/>
                  </a:lnTo>
                  <a:lnTo>
                    <a:pt x="741153" y="876322"/>
                  </a:lnTo>
                  <a:close/>
                </a:path>
                <a:path w="758825" h="897254">
                  <a:moveTo>
                    <a:pt x="738840" y="863080"/>
                  </a:moveTo>
                  <a:lnTo>
                    <a:pt x="741153" y="876322"/>
                  </a:lnTo>
                  <a:lnTo>
                    <a:pt x="752094" y="880212"/>
                  </a:lnTo>
                  <a:lnTo>
                    <a:pt x="743151" y="887760"/>
                  </a:lnTo>
                  <a:lnTo>
                    <a:pt x="748460" y="887760"/>
                  </a:lnTo>
                  <a:lnTo>
                    <a:pt x="755007" y="882234"/>
                  </a:lnTo>
                  <a:lnTo>
                    <a:pt x="738840" y="863080"/>
                  </a:lnTo>
                  <a:close/>
                </a:path>
                <a:path w="758825" h="897254">
                  <a:moveTo>
                    <a:pt x="10351" y="0"/>
                  </a:moveTo>
                  <a:lnTo>
                    <a:pt x="0" y="8737"/>
                  </a:lnTo>
                  <a:lnTo>
                    <a:pt x="728488" y="871817"/>
                  </a:lnTo>
                  <a:lnTo>
                    <a:pt x="741153" y="876322"/>
                  </a:lnTo>
                  <a:lnTo>
                    <a:pt x="738840" y="863080"/>
                  </a:lnTo>
                  <a:lnTo>
                    <a:pt x="10351" y="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93741" y="4337682"/>
              <a:ext cx="487680" cy="234315"/>
            </a:xfrm>
            <a:custGeom>
              <a:avLst/>
              <a:gdLst/>
              <a:ahLst/>
              <a:cxnLst/>
              <a:rect l="l" t="t" r="r" b="b"/>
              <a:pathLst>
                <a:path w="487679" h="234314">
                  <a:moveTo>
                    <a:pt x="487679" y="0"/>
                  </a:moveTo>
                  <a:lnTo>
                    <a:pt x="0" y="0"/>
                  </a:lnTo>
                  <a:lnTo>
                    <a:pt x="0" y="234086"/>
                  </a:lnTo>
                  <a:lnTo>
                    <a:pt x="487679" y="234086"/>
                  </a:lnTo>
                  <a:lnTo>
                    <a:pt x="487679" y="0"/>
                  </a:lnTo>
                  <a:close/>
                </a:path>
              </a:pathLst>
            </a:custGeom>
            <a:solidFill>
              <a:srgbClr val="D9DE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93741" y="4337682"/>
              <a:ext cx="487680" cy="234315"/>
            </a:xfrm>
            <a:custGeom>
              <a:avLst/>
              <a:gdLst/>
              <a:ahLst/>
              <a:cxnLst/>
              <a:rect l="l" t="t" r="r" b="b"/>
              <a:pathLst>
                <a:path w="487679" h="234314">
                  <a:moveTo>
                    <a:pt x="0" y="0"/>
                  </a:moveTo>
                  <a:lnTo>
                    <a:pt x="487679" y="0"/>
                  </a:lnTo>
                  <a:lnTo>
                    <a:pt x="487679" y="234086"/>
                  </a:lnTo>
                  <a:lnTo>
                    <a:pt x="0" y="234086"/>
                  </a:lnTo>
                  <a:lnTo>
                    <a:pt x="0" y="0"/>
                  </a:lnTo>
                  <a:close/>
                </a:path>
              </a:pathLst>
            </a:custGeom>
            <a:ln w="16933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12144" y="4705742"/>
              <a:ext cx="487680" cy="234315"/>
            </a:xfrm>
            <a:custGeom>
              <a:avLst/>
              <a:gdLst/>
              <a:ahLst/>
              <a:cxnLst/>
              <a:rect l="l" t="t" r="r" b="b"/>
              <a:pathLst>
                <a:path w="487679" h="234314">
                  <a:moveTo>
                    <a:pt x="487679" y="0"/>
                  </a:moveTo>
                  <a:lnTo>
                    <a:pt x="0" y="0"/>
                  </a:lnTo>
                  <a:lnTo>
                    <a:pt x="0" y="234086"/>
                  </a:lnTo>
                  <a:lnTo>
                    <a:pt x="487679" y="234086"/>
                  </a:lnTo>
                  <a:lnTo>
                    <a:pt x="487679" y="0"/>
                  </a:lnTo>
                  <a:close/>
                </a:path>
              </a:pathLst>
            </a:custGeom>
            <a:solidFill>
              <a:srgbClr val="D9DE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412144" y="4705742"/>
              <a:ext cx="487680" cy="234315"/>
            </a:xfrm>
            <a:custGeom>
              <a:avLst/>
              <a:gdLst/>
              <a:ahLst/>
              <a:cxnLst/>
              <a:rect l="l" t="t" r="r" b="b"/>
              <a:pathLst>
                <a:path w="487679" h="234314">
                  <a:moveTo>
                    <a:pt x="0" y="0"/>
                  </a:moveTo>
                  <a:lnTo>
                    <a:pt x="487679" y="0"/>
                  </a:lnTo>
                  <a:lnTo>
                    <a:pt x="487679" y="234086"/>
                  </a:lnTo>
                  <a:lnTo>
                    <a:pt x="0" y="234086"/>
                  </a:lnTo>
                  <a:lnTo>
                    <a:pt x="0" y="0"/>
                  </a:lnTo>
                  <a:close/>
                </a:path>
              </a:pathLst>
            </a:custGeom>
            <a:ln w="16933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635191" y="3871192"/>
              <a:ext cx="777240" cy="951865"/>
            </a:xfrm>
            <a:custGeom>
              <a:avLst/>
              <a:gdLst/>
              <a:ahLst/>
              <a:cxnLst/>
              <a:rect l="l" t="t" r="r" b="b"/>
              <a:pathLst>
                <a:path w="777239" h="951864">
                  <a:moveTo>
                    <a:pt x="679265" y="900468"/>
                  </a:moveTo>
                  <a:lnTo>
                    <a:pt x="675360" y="902241"/>
                  </a:lnTo>
                  <a:lnTo>
                    <a:pt x="672731" y="909245"/>
                  </a:lnTo>
                  <a:lnTo>
                    <a:pt x="674504" y="913150"/>
                  </a:lnTo>
                  <a:lnTo>
                    <a:pt x="776972" y="951617"/>
                  </a:lnTo>
                  <a:lnTo>
                    <a:pt x="776009" y="945478"/>
                  </a:lnTo>
                  <a:lnTo>
                    <a:pt x="763234" y="945478"/>
                  </a:lnTo>
                  <a:lnTo>
                    <a:pt x="747407" y="926049"/>
                  </a:lnTo>
                  <a:lnTo>
                    <a:pt x="679265" y="900468"/>
                  </a:lnTo>
                  <a:close/>
                </a:path>
                <a:path w="777239" h="951864">
                  <a:moveTo>
                    <a:pt x="747407" y="926049"/>
                  </a:moveTo>
                  <a:lnTo>
                    <a:pt x="763234" y="945478"/>
                  </a:lnTo>
                  <a:lnTo>
                    <a:pt x="767203" y="942244"/>
                  </a:lnTo>
                  <a:lnTo>
                    <a:pt x="761790" y="942244"/>
                  </a:lnTo>
                  <a:lnTo>
                    <a:pt x="759991" y="930773"/>
                  </a:lnTo>
                  <a:lnTo>
                    <a:pt x="747407" y="926049"/>
                  </a:lnTo>
                  <a:close/>
                </a:path>
                <a:path w="777239" h="951864">
                  <a:moveTo>
                    <a:pt x="756554" y="840962"/>
                  </a:moveTo>
                  <a:lnTo>
                    <a:pt x="749162" y="842120"/>
                  </a:lnTo>
                  <a:lnTo>
                    <a:pt x="746635" y="845586"/>
                  </a:lnTo>
                  <a:lnTo>
                    <a:pt x="757909" y="917492"/>
                  </a:lnTo>
                  <a:lnTo>
                    <a:pt x="773737" y="936922"/>
                  </a:lnTo>
                  <a:lnTo>
                    <a:pt x="763234" y="945478"/>
                  </a:lnTo>
                  <a:lnTo>
                    <a:pt x="776009" y="945478"/>
                  </a:lnTo>
                  <a:lnTo>
                    <a:pt x="760018" y="843488"/>
                  </a:lnTo>
                  <a:lnTo>
                    <a:pt x="756554" y="840962"/>
                  </a:lnTo>
                  <a:close/>
                </a:path>
                <a:path w="777239" h="951864">
                  <a:moveTo>
                    <a:pt x="759991" y="930773"/>
                  </a:moveTo>
                  <a:lnTo>
                    <a:pt x="761790" y="942244"/>
                  </a:lnTo>
                  <a:lnTo>
                    <a:pt x="770862" y="934854"/>
                  </a:lnTo>
                  <a:lnTo>
                    <a:pt x="759991" y="930773"/>
                  </a:lnTo>
                  <a:close/>
                </a:path>
                <a:path w="777239" h="951864">
                  <a:moveTo>
                    <a:pt x="757909" y="917492"/>
                  </a:moveTo>
                  <a:lnTo>
                    <a:pt x="759991" y="930773"/>
                  </a:lnTo>
                  <a:lnTo>
                    <a:pt x="770862" y="934854"/>
                  </a:lnTo>
                  <a:lnTo>
                    <a:pt x="761790" y="942244"/>
                  </a:lnTo>
                  <a:lnTo>
                    <a:pt x="767203" y="942244"/>
                  </a:lnTo>
                  <a:lnTo>
                    <a:pt x="773737" y="936922"/>
                  </a:lnTo>
                  <a:lnTo>
                    <a:pt x="757909" y="917492"/>
                  </a:lnTo>
                  <a:close/>
                </a:path>
                <a:path w="777239" h="951864">
                  <a:moveTo>
                    <a:pt x="10502" y="0"/>
                  </a:moveTo>
                  <a:lnTo>
                    <a:pt x="0" y="8555"/>
                  </a:lnTo>
                  <a:lnTo>
                    <a:pt x="747407" y="926049"/>
                  </a:lnTo>
                  <a:lnTo>
                    <a:pt x="759991" y="930773"/>
                  </a:lnTo>
                  <a:lnTo>
                    <a:pt x="757909" y="917492"/>
                  </a:lnTo>
                  <a:lnTo>
                    <a:pt x="10502" y="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037846" y="3914411"/>
              <a:ext cx="487680" cy="234315"/>
            </a:xfrm>
            <a:custGeom>
              <a:avLst/>
              <a:gdLst/>
              <a:ahLst/>
              <a:cxnLst/>
              <a:rect l="l" t="t" r="r" b="b"/>
              <a:pathLst>
                <a:path w="487679" h="234314">
                  <a:moveTo>
                    <a:pt x="487680" y="0"/>
                  </a:moveTo>
                  <a:lnTo>
                    <a:pt x="0" y="0"/>
                  </a:lnTo>
                  <a:lnTo>
                    <a:pt x="0" y="234086"/>
                  </a:lnTo>
                  <a:lnTo>
                    <a:pt x="487680" y="234086"/>
                  </a:lnTo>
                  <a:lnTo>
                    <a:pt x="487680" y="0"/>
                  </a:lnTo>
                  <a:close/>
                </a:path>
              </a:pathLst>
            </a:custGeom>
            <a:solidFill>
              <a:srgbClr val="D9DE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037846" y="3914411"/>
              <a:ext cx="487680" cy="234315"/>
            </a:xfrm>
            <a:custGeom>
              <a:avLst/>
              <a:gdLst/>
              <a:ahLst/>
              <a:cxnLst/>
              <a:rect l="l" t="t" r="r" b="b"/>
              <a:pathLst>
                <a:path w="487679" h="234314">
                  <a:moveTo>
                    <a:pt x="0" y="0"/>
                  </a:moveTo>
                  <a:lnTo>
                    <a:pt x="487679" y="0"/>
                  </a:lnTo>
                  <a:lnTo>
                    <a:pt x="487679" y="234086"/>
                  </a:lnTo>
                  <a:lnTo>
                    <a:pt x="0" y="234086"/>
                  </a:lnTo>
                  <a:lnTo>
                    <a:pt x="0" y="0"/>
                  </a:lnTo>
                  <a:close/>
                </a:path>
              </a:pathLst>
            </a:custGeom>
            <a:ln w="16933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639684" y="3987218"/>
              <a:ext cx="1398270" cy="208279"/>
            </a:xfrm>
            <a:custGeom>
              <a:avLst/>
              <a:gdLst/>
              <a:ahLst/>
              <a:cxnLst/>
              <a:rect l="l" t="t" r="r" b="b"/>
              <a:pathLst>
                <a:path w="1398270" h="208279">
                  <a:moveTo>
                    <a:pt x="1359178" y="41805"/>
                  </a:moveTo>
                  <a:lnTo>
                    <a:pt x="0" y="194740"/>
                  </a:lnTo>
                  <a:lnTo>
                    <a:pt x="1515" y="208202"/>
                  </a:lnTo>
                  <a:lnTo>
                    <a:pt x="1360694" y="55267"/>
                  </a:lnTo>
                  <a:lnTo>
                    <a:pt x="1371475" y="47238"/>
                  </a:lnTo>
                  <a:lnTo>
                    <a:pt x="1359178" y="41805"/>
                  </a:lnTo>
                  <a:close/>
                </a:path>
                <a:path w="1398270" h="208279">
                  <a:moveTo>
                    <a:pt x="1386361" y="39005"/>
                  </a:moveTo>
                  <a:lnTo>
                    <a:pt x="1384066" y="39005"/>
                  </a:lnTo>
                  <a:lnTo>
                    <a:pt x="1385581" y="52467"/>
                  </a:lnTo>
                  <a:lnTo>
                    <a:pt x="1360694" y="55267"/>
                  </a:lnTo>
                  <a:lnTo>
                    <a:pt x="1302320" y="98741"/>
                  </a:lnTo>
                  <a:lnTo>
                    <a:pt x="1301699" y="102985"/>
                  </a:lnTo>
                  <a:lnTo>
                    <a:pt x="1306167" y="108986"/>
                  </a:lnTo>
                  <a:lnTo>
                    <a:pt x="1310411" y="109606"/>
                  </a:lnTo>
                  <a:lnTo>
                    <a:pt x="1398192" y="44232"/>
                  </a:lnTo>
                  <a:lnTo>
                    <a:pt x="1386361" y="39005"/>
                  </a:lnTo>
                  <a:close/>
                </a:path>
                <a:path w="1398270" h="208279">
                  <a:moveTo>
                    <a:pt x="1371475" y="47238"/>
                  </a:moveTo>
                  <a:lnTo>
                    <a:pt x="1360694" y="55267"/>
                  </a:lnTo>
                  <a:lnTo>
                    <a:pt x="1385581" y="52467"/>
                  </a:lnTo>
                  <a:lnTo>
                    <a:pt x="1385521" y="51931"/>
                  </a:lnTo>
                  <a:lnTo>
                    <a:pt x="1382096" y="51931"/>
                  </a:lnTo>
                  <a:lnTo>
                    <a:pt x="1371475" y="47238"/>
                  </a:lnTo>
                  <a:close/>
                </a:path>
                <a:path w="1398270" h="208279">
                  <a:moveTo>
                    <a:pt x="1380788" y="40303"/>
                  </a:moveTo>
                  <a:lnTo>
                    <a:pt x="1371475" y="47238"/>
                  </a:lnTo>
                  <a:lnTo>
                    <a:pt x="1382096" y="51931"/>
                  </a:lnTo>
                  <a:lnTo>
                    <a:pt x="1380788" y="40303"/>
                  </a:lnTo>
                  <a:close/>
                </a:path>
                <a:path w="1398270" h="208279">
                  <a:moveTo>
                    <a:pt x="1384212" y="40303"/>
                  </a:moveTo>
                  <a:lnTo>
                    <a:pt x="1380788" y="40303"/>
                  </a:lnTo>
                  <a:lnTo>
                    <a:pt x="1382096" y="51931"/>
                  </a:lnTo>
                  <a:lnTo>
                    <a:pt x="1385521" y="51931"/>
                  </a:lnTo>
                  <a:lnTo>
                    <a:pt x="1384212" y="40303"/>
                  </a:lnTo>
                  <a:close/>
                </a:path>
                <a:path w="1398270" h="208279">
                  <a:moveTo>
                    <a:pt x="1384066" y="39005"/>
                  </a:moveTo>
                  <a:lnTo>
                    <a:pt x="1359178" y="41805"/>
                  </a:lnTo>
                  <a:lnTo>
                    <a:pt x="1371475" y="47238"/>
                  </a:lnTo>
                  <a:lnTo>
                    <a:pt x="1380788" y="40303"/>
                  </a:lnTo>
                  <a:lnTo>
                    <a:pt x="1384212" y="40303"/>
                  </a:lnTo>
                  <a:lnTo>
                    <a:pt x="1384066" y="39005"/>
                  </a:lnTo>
                  <a:close/>
                </a:path>
                <a:path w="1398270" h="208279">
                  <a:moveTo>
                    <a:pt x="1298078" y="0"/>
                  </a:moveTo>
                  <a:lnTo>
                    <a:pt x="1294079" y="1549"/>
                  </a:lnTo>
                  <a:lnTo>
                    <a:pt x="1291055" y="8392"/>
                  </a:lnTo>
                  <a:lnTo>
                    <a:pt x="1292603" y="12391"/>
                  </a:lnTo>
                  <a:lnTo>
                    <a:pt x="1359178" y="41805"/>
                  </a:lnTo>
                  <a:lnTo>
                    <a:pt x="1384066" y="39005"/>
                  </a:lnTo>
                  <a:lnTo>
                    <a:pt x="1386361" y="39005"/>
                  </a:lnTo>
                  <a:lnTo>
                    <a:pt x="1298078" y="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7460" y="331216"/>
            <a:ext cx="7541259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O</a:t>
            </a:r>
            <a:r>
              <a:rPr spc="-125" dirty="0"/>
              <a:t>r</a:t>
            </a:r>
            <a:r>
              <a:rPr spc="-130" dirty="0"/>
              <a:t>d</a:t>
            </a:r>
            <a:r>
              <a:rPr spc="-125" dirty="0"/>
              <a:t>ere</a:t>
            </a:r>
            <a:r>
              <a:rPr dirty="0"/>
              <a:t>d</a:t>
            </a:r>
            <a:r>
              <a:rPr spc="-250" dirty="0"/>
              <a:t> </a:t>
            </a:r>
            <a:r>
              <a:rPr spc="-125" dirty="0"/>
              <a:t>I</a:t>
            </a:r>
            <a:r>
              <a:rPr spc="-130" dirty="0"/>
              <a:t>nd</a:t>
            </a:r>
            <a:r>
              <a:rPr spc="-125" dirty="0"/>
              <a:t>e</a:t>
            </a:r>
            <a:r>
              <a:rPr dirty="0"/>
              <a:t>x</a:t>
            </a:r>
            <a:r>
              <a:rPr spc="-254" dirty="0"/>
              <a:t> </a:t>
            </a:r>
            <a:r>
              <a:rPr spc="-135" dirty="0"/>
              <a:t>S</a:t>
            </a:r>
            <a:r>
              <a:rPr spc="-125" dirty="0"/>
              <a:t>tr</a:t>
            </a:r>
            <a:r>
              <a:rPr spc="-130" dirty="0"/>
              <a:t>uc</a:t>
            </a:r>
            <a:r>
              <a:rPr spc="-125" dirty="0"/>
              <a:t>t</a:t>
            </a:r>
            <a:r>
              <a:rPr spc="-130" dirty="0"/>
              <a:t>u</a:t>
            </a:r>
            <a:r>
              <a:rPr spc="-125" dirty="0"/>
              <a:t>re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814" y="1188720"/>
            <a:ext cx="9163050" cy="485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file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several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indices,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different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keys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50">
              <a:latin typeface="Verdana"/>
              <a:cs typeface="Verdana"/>
            </a:endParaRPr>
          </a:p>
          <a:p>
            <a:pPr marL="261620" indent="-249554">
              <a:lnSpc>
                <a:spcPct val="100000"/>
              </a:lnSpc>
              <a:buClr>
                <a:srgbClr val="292934"/>
              </a:buClr>
              <a:buSzPct val="86956"/>
              <a:buFont typeface="Arial MT"/>
              <a:buChar char="•"/>
              <a:tabLst>
                <a:tab pos="261620" algn="l"/>
                <a:tab pos="262255" algn="l"/>
              </a:tabLst>
            </a:pPr>
            <a:r>
              <a:rPr sz="2300" b="1" spc="20" dirty="0">
                <a:solidFill>
                  <a:srgbClr val="C00000"/>
                </a:solidFill>
                <a:latin typeface="Verdana"/>
                <a:cs typeface="Verdana"/>
              </a:rPr>
              <a:t>Primary</a:t>
            </a:r>
            <a:r>
              <a:rPr sz="2300" b="1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15" dirty="0">
                <a:solidFill>
                  <a:srgbClr val="C00000"/>
                </a:solidFill>
                <a:latin typeface="Verdana"/>
                <a:cs typeface="Verdana"/>
              </a:rPr>
              <a:t>index</a:t>
            </a:r>
            <a:r>
              <a:rPr sz="2300" b="1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C00000"/>
                </a:solidFill>
                <a:latin typeface="Verdana"/>
                <a:cs typeface="Verdana"/>
              </a:rPr>
              <a:t>(or</a:t>
            </a:r>
            <a:r>
              <a:rPr sz="2300" b="1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15" dirty="0">
                <a:solidFill>
                  <a:srgbClr val="C00000"/>
                </a:solidFill>
                <a:latin typeface="Verdana"/>
                <a:cs typeface="Verdana"/>
              </a:rPr>
              <a:t>clustered</a:t>
            </a:r>
            <a:r>
              <a:rPr sz="2300" b="1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25" dirty="0">
                <a:solidFill>
                  <a:srgbClr val="C00000"/>
                </a:solidFill>
                <a:latin typeface="Verdana"/>
                <a:cs typeface="Verdana"/>
              </a:rPr>
              <a:t>index)</a:t>
            </a:r>
            <a:endParaRPr sz="2300">
              <a:latin typeface="Verdana"/>
              <a:cs typeface="Verdana"/>
            </a:endParaRPr>
          </a:p>
          <a:p>
            <a:pPr marL="747395" lvl="1" indent="-236220">
              <a:lnSpc>
                <a:spcPct val="100000"/>
              </a:lnSpc>
              <a:spcBef>
                <a:spcPts val="944"/>
              </a:spcBef>
              <a:buSzPct val="85714"/>
              <a:buFont typeface="Arial MT"/>
              <a:buChar char="•"/>
              <a:tabLst>
                <a:tab pos="747395" algn="l"/>
                <a:tab pos="74803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defines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sequential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file</a:t>
            </a:r>
            <a:endParaRPr sz="2100">
              <a:latin typeface="Verdana"/>
              <a:cs typeface="Verdana"/>
            </a:endParaRPr>
          </a:p>
          <a:p>
            <a:pPr marL="747395" marR="5080" lvl="1" indent="-236220">
              <a:lnSpc>
                <a:spcPts val="2300"/>
              </a:lnSpc>
              <a:spcBef>
                <a:spcPts val="1030"/>
              </a:spcBef>
              <a:buSzPct val="85714"/>
              <a:buFont typeface="Arial MT"/>
              <a:buChar char="•"/>
              <a:tabLst>
                <a:tab pos="747395" algn="l"/>
                <a:tab pos="74803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clustering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often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(but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necessarily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so)</a:t>
            </a:r>
            <a:endParaRPr sz="21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5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292934"/>
              </a:buClr>
              <a:buFont typeface="Arial MT"/>
              <a:buChar char="•"/>
            </a:pPr>
            <a:endParaRPr sz="2050">
              <a:latin typeface="Verdana"/>
              <a:cs typeface="Verdana"/>
            </a:endParaRPr>
          </a:p>
          <a:p>
            <a:pPr marL="261620" indent="-249554">
              <a:lnSpc>
                <a:spcPct val="100000"/>
              </a:lnSpc>
              <a:buClr>
                <a:srgbClr val="292934"/>
              </a:buClr>
              <a:buSzPct val="86956"/>
              <a:buFont typeface="Arial MT"/>
              <a:buChar char="•"/>
              <a:tabLst>
                <a:tab pos="261620" algn="l"/>
                <a:tab pos="262255" algn="l"/>
              </a:tabLst>
            </a:pPr>
            <a:r>
              <a:rPr sz="2300" b="1" spc="25" dirty="0">
                <a:solidFill>
                  <a:srgbClr val="C00000"/>
                </a:solidFill>
                <a:latin typeface="Verdana"/>
                <a:cs typeface="Verdana"/>
              </a:rPr>
              <a:t>Secondary</a:t>
            </a:r>
            <a:r>
              <a:rPr sz="2300" b="1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15" dirty="0">
                <a:solidFill>
                  <a:srgbClr val="C00000"/>
                </a:solidFill>
                <a:latin typeface="Verdana"/>
                <a:cs typeface="Verdana"/>
              </a:rPr>
              <a:t>index</a:t>
            </a:r>
            <a:r>
              <a:rPr sz="2300" b="1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C00000"/>
                </a:solidFill>
                <a:latin typeface="Verdana"/>
                <a:cs typeface="Verdana"/>
              </a:rPr>
              <a:t>(or</a:t>
            </a:r>
            <a:r>
              <a:rPr sz="2300" b="1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C00000"/>
                </a:solidFill>
                <a:latin typeface="Verdana"/>
                <a:cs typeface="Verdana"/>
              </a:rPr>
              <a:t>unclustered</a:t>
            </a:r>
            <a:r>
              <a:rPr sz="2300" b="1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C00000"/>
                </a:solidFill>
                <a:latin typeface="Verdana"/>
                <a:cs typeface="Verdana"/>
              </a:rPr>
              <a:t>index)</a:t>
            </a:r>
            <a:endParaRPr sz="2300">
              <a:latin typeface="Verdana"/>
              <a:cs typeface="Verdana"/>
            </a:endParaRPr>
          </a:p>
          <a:p>
            <a:pPr marL="747395" marR="401320" lvl="1" indent="-236220">
              <a:lnSpc>
                <a:spcPts val="2400"/>
              </a:lnSpc>
              <a:spcBef>
                <a:spcPts val="1030"/>
              </a:spcBef>
              <a:buSzPct val="85714"/>
              <a:buFont typeface="Arial MT"/>
              <a:buChar char="•"/>
              <a:tabLst>
                <a:tab pos="747395" algn="l"/>
                <a:tab pos="74803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specifies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order different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from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sequential </a:t>
            </a:r>
            <a:r>
              <a:rPr sz="2100" spc="-7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order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file</a:t>
            </a:r>
            <a:endParaRPr sz="2100">
              <a:latin typeface="Verdana"/>
              <a:cs typeface="Verdana"/>
            </a:endParaRPr>
          </a:p>
          <a:p>
            <a:pPr marL="747395" marR="417830" lvl="1" indent="-236220">
              <a:lnSpc>
                <a:spcPts val="2300"/>
              </a:lnSpc>
              <a:spcBef>
                <a:spcPts val="965"/>
              </a:spcBef>
              <a:buSzPct val="85714"/>
              <a:buFont typeface="Arial MT"/>
              <a:buChar char="•"/>
              <a:tabLst>
                <a:tab pos="747395" algn="l"/>
                <a:tab pos="74803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extra-level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indirection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implement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secondary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index, containing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pointers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all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records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7432" y="322071"/>
            <a:ext cx="710755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30" dirty="0"/>
              <a:t>a</a:t>
            </a:r>
            <a:r>
              <a:rPr spc="-140" dirty="0"/>
              <a:t>m</a:t>
            </a:r>
            <a:r>
              <a:rPr spc="-130" dirty="0"/>
              <a:t>p</a:t>
            </a:r>
            <a:r>
              <a:rPr spc="-125" dirty="0"/>
              <a:t>le</a:t>
            </a:r>
            <a:r>
              <a:rPr dirty="0"/>
              <a:t>:</a:t>
            </a:r>
            <a:r>
              <a:rPr spc="-240" dirty="0"/>
              <a:t> </a:t>
            </a:r>
            <a:r>
              <a:rPr spc="-125" dirty="0"/>
              <a:t>Pri</a:t>
            </a:r>
            <a:r>
              <a:rPr spc="-140" dirty="0"/>
              <a:t>m</a:t>
            </a:r>
            <a:r>
              <a:rPr spc="-130" dirty="0"/>
              <a:t>a</a:t>
            </a:r>
            <a:r>
              <a:rPr spc="-125" dirty="0"/>
              <a:t>r</a:t>
            </a:r>
            <a:r>
              <a:rPr dirty="0"/>
              <a:t>y</a:t>
            </a:r>
            <a:r>
              <a:rPr spc="-254" dirty="0"/>
              <a:t> </a:t>
            </a:r>
            <a:r>
              <a:rPr spc="-120" dirty="0"/>
              <a:t>I</a:t>
            </a:r>
            <a:r>
              <a:rPr spc="-130" dirty="0"/>
              <a:t>nd</a:t>
            </a:r>
            <a:r>
              <a:rPr spc="-125" dirty="0"/>
              <a:t>ex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4748" y="1183640"/>
            <a:ext cx="682688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defines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sequential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file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98673" y="1478280"/>
            <a:ext cx="8639810" cy="5207635"/>
            <a:chOff x="1098673" y="1478280"/>
            <a:chExt cx="8639810" cy="52076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1166" y="2629236"/>
              <a:ext cx="8216954" cy="405637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98664" y="2501760"/>
              <a:ext cx="3448685" cy="4178935"/>
            </a:xfrm>
            <a:custGeom>
              <a:avLst/>
              <a:gdLst/>
              <a:ahLst/>
              <a:cxnLst/>
              <a:rect l="l" t="t" r="r" b="b"/>
              <a:pathLst>
                <a:path w="3448685" h="4178934">
                  <a:moveTo>
                    <a:pt x="1258011" y="209664"/>
                  </a:moveTo>
                  <a:lnTo>
                    <a:pt x="1252474" y="161594"/>
                  </a:lnTo>
                  <a:lnTo>
                    <a:pt x="1236700" y="117462"/>
                  </a:lnTo>
                  <a:lnTo>
                    <a:pt x="1211948" y="78524"/>
                  </a:lnTo>
                  <a:lnTo>
                    <a:pt x="1179474" y="46062"/>
                  </a:lnTo>
                  <a:lnTo>
                    <a:pt x="1140548" y="21310"/>
                  </a:lnTo>
                  <a:lnTo>
                    <a:pt x="1096416" y="5537"/>
                  </a:lnTo>
                  <a:lnTo>
                    <a:pt x="1048346" y="0"/>
                  </a:lnTo>
                  <a:lnTo>
                    <a:pt x="209677" y="0"/>
                  </a:lnTo>
                  <a:lnTo>
                    <a:pt x="161594" y="5537"/>
                  </a:lnTo>
                  <a:lnTo>
                    <a:pt x="117462" y="21310"/>
                  </a:lnTo>
                  <a:lnTo>
                    <a:pt x="78536" y="46062"/>
                  </a:lnTo>
                  <a:lnTo>
                    <a:pt x="46062" y="78524"/>
                  </a:lnTo>
                  <a:lnTo>
                    <a:pt x="21310" y="117462"/>
                  </a:lnTo>
                  <a:lnTo>
                    <a:pt x="5537" y="161594"/>
                  </a:lnTo>
                  <a:lnTo>
                    <a:pt x="0" y="209664"/>
                  </a:lnTo>
                  <a:lnTo>
                    <a:pt x="0" y="3969245"/>
                  </a:lnTo>
                  <a:lnTo>
                    <a:pt x="5537" y="4017327"/>
                  </a:lnTo>
                  <a:lnTo>
                    <a:pt x="21310" y="4061460"/>
                  </a:lnTo>
                  <a:lnTo>
                    <a:pt x="46062" y="4100385"/>
                  </a:lnTo>
                  <a:lnTo>
                    <a:pt x="78536" y="4132859"/>
                  </a:lnTo>
                  <a:lnTo>
                    <a:pt x="117462" y="4157611"/>
                  </a:lnTo>
                  <a:lnTo>
                    <a:pt x="161594" y="4173385"/>
                  </a:lnTo>
                  <a:lnTo>
                    <a:pt x="209677" y="4178922"/>
                  </a:lnTo>
                  <a:lnTo>
                    <a:pt x="1048346" y="4178922"/>
                  </a:lnTo>
                  <a:lnTo>
                    <a:pt x="1096416" y="4173385"/>
                  </a:lnTo>
                  <a:lnTo>
                    <a:pt x="1140548" y="4157611"/>
                  </a:lnTo>
                  <a:lnTo>
                    <a:pt x="1179474" y="4132859"/>
                  </a:lnTo>
                  <a:lnTo>
                    <a:pt x="1211948" y="4100385"/>
                  </a:lnTo>
                  <a:lnTo>
                    <a:pt x="1236700" y="4061460"/>
                  </a:lnTo>
                  <a:lnTo>
                    <a:pt x="1252474" y="4017327"/>
                  </a:lnTo>
                  <a:lnTo>
                    <a:pt x="1258011" y="3969245"/>
                  </a:lnTo>
                  <a:lnTo>
                    <a:pt x="1258011" y="209664"/>
                  </a:lnTo>
                  <a:close/>
                </a:path>
                <a:path w="3448685" h="4178934">
                  <a:moveTo>
                    <a:pt x="3448304" y="209664"/>
                  </a:moveTo>
                  <a:lnTo>
                    <a:pt x="3442766" y="161594"/>
                  </a:lnTo>
                  <a:lnTo>
                    <a:pt x="3426993" y="117462"/>
                  </a:lnTo>
                  <a:lnTo>
                    <a:pt x="3402241" y="78524"/>
                  </a:lnTo>
                  <a:lnTo>
                    <a:pt x="3369767" y="46062"/>
                  </a:lnTo>
                  <a:lnTo>
                    <a:pt x="3330829" y="21310"/>
                  </a:lnTo>
                  <a:lnTo>
                    <a:pt x="3286696" y="5537"/>
                  </a:lnTo>
                  <a:lnTo>
                    <a:pt x="3238627" y="0"/>
                  </a:lnTo>
                  <a:lnTo>
                    <a:pt x="2399957" y="0"/>
                  </a:lnTo>
                  <a:lnTo>
                    <a:pt x="2351887" y="5537"/>
                  </a:lnTo>
                  <a:lnTo>
                    <a:pt x="2307755" y="21310"/>
                  </a:lnTo>
                  <a:lnTo>
                    <a:pt x="2268817" y="46062"/>
                  </a:lnTo>
                  <a:lnTo>
                    <a:pt x="2236355" y="78524"/>
                  </a:lnTo>
                  <a:lnTo>
                    <a:pt x="2211603" y="117462"/>
                  </a:lnTo>
                  <a:lnTo>
                    <a:pt x="2195830" y="161594"/>
                  </a:lnTo>
                  <a:lnTo>
                    <a:pt x="2190292" y="209664"/>
                  </a:lnTo>
                  <a:lnTo>
                    <a:pt x="2190292" y="3969245"/>
                  </a:lnTo>
                  <a:lnTo>
                    <a:pt x="2195830" y="4017327"/>
                  </a:lnTo>
                  <a:lnTo>
                    <a:pt x="2211603" y="4061460"/>
                  </a:lnTo>
                  <a:lnTo>
                    <a:pt x="2236355" y="4100385"/>
                  </a:lnTo>
                  <a:lnTo>
                    <a:pt x="2268817" y="4132859"/>
                  </a:lnTo>
                  <a:lnTo>
                    <a:pt x="2307755" y="4157611"/>
                  </a:lnTo>
                  <a:lnTo>
                    <a:pt x="2351887" y="4173385"/>
                  </a:lnTo>
                  <a:lnTo>
                    <a:pt x="2399957" y="4178922"/>
                  </a:lnTo>
                  <a:lnTo>
                    <a:pt x="3238627" y="4178922"/>
                  </a:lnTo>
                  <a:lnTo>
                    <a:pt x="3286696" y="4173385"/>
                  </a:lnTo>
                  <a:lnTo>
                    <a:pt x="3330829" y="4157611"/>
                  </a:lnTo>
                  <a:lnTo>
                    <a:pt x="3369767" y="4132859"/>
                  </a:lnTo>
                  <a:lnTo>
                    <a:pt x="3402241" y="4100385"/>
                  </a:lnTo>
                  <a:lnTo>
                    <a:pt x="3426993" y="4061460"/>
                  </a:lnTo>
                  <a:lnTo>
                    <a:pt x="3442766" y="4017327"/>
                  </a:lnTo>
                  <a:lnTo>
                    <a:pt x="3448304" y="3969245"/>
                  </a:lnTo>
                  <a:lnTo>
                    <a:pt x="3448304" y="209664"/>
                  </a:lnTo>
                  <a:close/>
                </a:path>
              </a:pathLst>
            </a:custGeom>
            <a:solidFill>
              <a:srgbClr val="FFFF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8223" y="1478280"/>
              <a:ext cx="972312" cy="10759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90432" y="1481328"/>
              <a:ext cx="947927" cy="107594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574063" y="1663269"/>
            <a:ext cx="4616450" cy="680085"/>
          </a:xfrm>
          <a:prstGeom prst="rect">
            <a:avLst/>
          </a:prstGeom>
          <a:solidFill>
            <a:srgbClr val="FFFDF0"/>
          </a:solidFill>
          <a:ln w="10159">
            <a:solidFill>
              <a:srgbClr val="7F7F7F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505459" marR="199390" indent="-299085">
              <a:lnSpc>
                <a:spcPct val="101099"/>
              </a:lnSpc>
              <a:spcBef>
                <a:spcPts val="360"/>
              </a:spcBef>
            </a:pP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Fast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but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result in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unnecessary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indices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big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space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needed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7057" y="6601968"/>
            <a:ext cx="8454390" cy="64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Instructor</a:t>
            </a:r>
            <a:endParaRPr sz="17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240"/>
              </a:spcBef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[Ref: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Figure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11.2,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Silberschatz,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Korth,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Sudarshan,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“Database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System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Concepts,”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6</a:t>
            </a:r>
            <a:r>
              <a:rPr sz="1350" spc="-22" baseline="24691" dirty="0">
                <a:solidFill>
                  <a:srgbClr val="292934"/>
                </a:solidFill>
                <a:latin typeface="Verdana"/>
                <a:cs typeface="Verdana"/>
              </a:rPr>
              <a:t>th</a:t>
            </a:r>
            <a:r>
              <a:rPr sz="1350" spc="179" baseline="2469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Ed.,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page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478]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644" y="1881101"/>
            <a:ext cx="9509125" cy="5130800"/>
            <a:chOff x="333644" y="1881101"/>
            <a:chExt cx="9509125" cy="5130800"/>
          </a:xfrm>
        </p:grpSpPr>
        <p:sp>
          <p:nvSpPr>
            <p:cNvPr id="3" name="object 3"/>
            <p:cNvSpPr/>
            <p:nvPr/>
          </p:nvSpPr>
          <p:spPr>
            <a:xfrm>
              <a:off x="2159590" y="1881101"/>
              <a:ext cx="1258570" cy="5130800"/>
            </a:xfrm>
            <a:custGeom>
              <a:avLst/>
              <a:gdLst/>
              <a:ahLst/>
              <a:cxnLst/>
              <a:rect l="l" t="t" r="r" b="b"/>
              <a:pathLst>
                <a:path w="1258570" h="5130800">
                  <a:moveTo>
                    <a:pt x="1048340" y="0"/>
                  </a:moveTo>
                  <a:lnTo>
                    <a:pt x="209670" y="0"/>
                  </a:lnTo>
                  <a:lnTo>
                    <a:pt x="161595" y="5537"/>
                  </a:lnTo>
                  <a:lnTo>
                    <a:pt x="117463" y="21311"/>
                  </a:lnTo>
                  <a:lnTo>
                    <a:pt x="78532" y="46062"/>
                  </a:lnTo>
                  <a:lnTo>
                    <a:pt x="46062" y="78532"/>
                  </a:lnTo>
                  <a:lnTo>
                    <a:pt x="21311" y="117463"/>
                  </a:lnTo>
                  <a:lnTo>
                    <a:pt x="5537" y="161595"/>
                  </a:lnTo>
                  <a:lnTo>
                    <a:pt x="0" y="209670"/>
                  </a:lnTo>
                  <a:lnTo>
                    <a:pt x="0" y="4920723"/>
                  </a:lnTo>
                  <a:lnTo>
                    <a:pt x="5537" y="4968798"/>
                  </a:lnTo>
                  <a:lnTo>
                    <a:pt x="21311" y="5012931"/>
                  </a:lnTo>
                  <a:lnTo>
                    <a:pt x="46062" y="5051861"/>
                  </a:lnTo>
                  <a:lnTo>
                    <a:pt x="78532" y="5084331"/>
                  </a:lnTo>
                  <a:lnTo>
                    <a:pt x="117463" y="5109082"/>
                  </a:lnTo>
                  <a:lnTo>
                    <a:pt x="161595" y="5124856"/>
                  </a:lnTo>
                  <a:lnTo>
                    <a:pt x="209670" y="5130393"/>
                  </a:lnTo>
                  <a:lnTo>
                    <a:pt x="1048340" y="5130393"/>
                  </a:lnTo>
                  <a:lnTo>
                    <a:pt x="1096415" y="5124856"/>
                  </a:lnTo>
                  <a:lnTo>
                    <a:pt x="1140548" y="5109082"/>
                  </a:lnTo>
                  <a:lnTo>
                    <a:pt x="1179478" y="5084331"/>
                  </a:lnTo>
                  <a:lnTo>
                    <a:pt x="1211948" y="5051861"/>
                  </a:lnTo>
                  <a:lnTo>
                    <a:pt x="1236699" y="5012931"/>
                  </a:lnTo>
                  <a:lnTo>
                    <a:pt x="1252473" y="4968798"/>
                  </a:lnTo>
                  <a:lnTo>
                    <a:pt x="1258011" y="4920723"/>
                  </a:lnTo>
                  <a:lnTo>
                    <a:pt x="1258011" y="209670"/>
                  </a:lnTo>
                  <a:lnTo>
                    <a:pt x="1252473" y="161595"/>
                  </a:lnTo>
                  <a:lnTo>
                    <a:pt x="1236699" y="117463"/>
                  </a:lnTo>
                  <a:lnTo>
                    <a:pt x="1211948" y="78532"/>
                  </a:lnTo>
                  <a:lnTo>
                    <a:pt x="1179478" y="46062"/>
                  </a:lnTo>
                  <a:lnTo>
                    <a:pt x="1140548" y="21311"/>
                  </a:lnTo>
                  <a:lnTo>
                    <a:pt x="1096415" y="5537"/>
                  </a:lnTo>
                  <a:lnTo>
                    <a:pt x="1048340" y="0"/>
                  </a:lnTo>
                  <a:close/>
                </a:path>
              </a:pathLst>
            </a:custGeom>
            <a:solidFill>
              <a:srgbClr val="FFFF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0629" y="2333726"/>
              <a:ext cx="1522095" cy="358140"/>
            </a:xfrm>
            <a:custGeom>
              <a:avLst/>
              <a:gdLst/>
              <a:ahLst/>
              <a:cxnLst/>
              <a:rect l="l" t="t" r="r" b="b"/>
              <a:pathLst>
                <a:path w="1522095" h="358139">
                  <a:moveTo>
                    <a:pt x="0" y="0"/>
                  </a:moveTo>
                  <a:lnTo>
                    <a:pt x="1521561" y="0"/>
                  </a:lnTo>
                  <a:lnTo>
                    <a:pt x="1521561" y="357866"/>
                  </a:lnTo>
                  <a:lnTo>
                    <a:pt x="0" y="357866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0629" y="2691241"/>
              <a:ext cx="1522095" cy="358140"/>
            </a:xfrm>
            <a:custGeom>
              <a:avLst/>
              <a:gdLst/>
              <a:ahLst/>
              <a:cxnLst/>
              <a:rect l="l" t="t" r="r" b="b"/>
              <a:pathLst>
                <a:path w="1522095" h="358139">
                  <a:moveTo>
                    <a:pt x="0" y="0"/>
                  </a:moveTo>
                  <a:lnTo>
                    <a:pt x="1521561" y="0"/>
                  </a:lnTo>
                  <a:lnTo>
                    <a:pt x="1521561" y="357866"/>
                  </a:lnTo>
                  <a:lnTo>
                    <a:pt x="0" y="357866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0629" y="3048755"/>
              <a:ext cx="1522095" cy="358140"/>
            </a:xfrm>
            <a:custGeom>
              <a:avLst/>
              <a:gdLst/>
              <a:ahLst/>
              <a:cxnLst/>
              <a:rect l="l" t="t" r="r" b="b"/>
              <a:pathLst>
                <a:path w="1522095" h="358139">
                  <a:moveTo>
                    <a:pt x="0" y="0"/>
                  </a:moveTo>
                  <a:lnTo>
                    <a:pt x="1521561" y="0"/>
                  </a:lnTo>
                  <a:lnTo>
                    <a:pt x="1521561" y="357866"/>
                  </a:lnTo>
                  <a:lnTo>
                    <a:pt x="0" y="357866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47850" y="2333726"/>
              <a:ext cx="0" cy="1450340"/>
            </a:xfrm>
            <a:custGeom>
              <a:avLst/>
              <a:gdLst/>
              <a:ahLst/>
              <a:cxnLst/>
              <a:rect l="l" t="t" r="r" b="b"/>
              <a:pathLst>
                <a:path h="1450339">
                  <a:moveTo>
                    <a:pt x="0" y="0"/>
                  </a:moveTo>
                  <a:lnTo>
                    <a:pt x="1" y="1449796"/>
                  </a:lnTo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9481" y="2490516"/>
              <a:ext cx="5462660" cy="413149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618524" y="2476179"/>
              <a:ext cx="1170940" cy="4404995"/>
            </a:xfrm>
            <a:custGeom>
              <a:avLst/>
              <a:gdLst/>
              <a:ahLst/>
              <a:cxnLst/>
              <a:rect l="l" t="t" r="r" b="b"/>
              <a:pathLst>
                <a:path w="1170940" h="4404995">
                  <a:moveTo>
                    <a:pt x="1170431" y="0"/>
                  </a:moveTo>
                  <a:lnTo>
                    <a:pt x="0" y="0"/>
                  </a:lnTo>
                  <a:lnTo>
                    <a:pt x="0" y="4404510"/>
                  </a:lnTo>
                  <a:lnTo>
                    <a:pt x="1170431" y="4404510"/>
                  </a:lnTo>
                  <a:lnTo>
                    <a:pt x="11704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42576" y="2256027"/>
            <a:ext cx="1020444" cy="14579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47100"/>
              </a:lnSpc>
              <a:spcBef>
                <a:spcPts val="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Comp.</a:t>
            </a:r>
            <a:r>
              <a:rPr sz="1600" spc="-9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Sci.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Finance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Music </a:t>
            </a:r>
            <a:r>
              <a:rPr sz="16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Physics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83886" y="3599064"/>
            <a:ext cx="1131570" cy="2776855"/>
          </a:xfrm>
          <a:custGeom>
            <a:avLst/>
            <a:gdLst/>
            <a:ahLst/>
            <a:cxnLst/>
            <a:rect l="l" t="t" r="r" b="b"/>
            <a:pathLst>
              <a:path w="1131570" h="2776854">
                <a:moveTo>
                  <a:pt x="1050137" y="2695448"/>
                </a:moveTo>
                <a:lnTo>
                  <a:pt x="1050137" y="2776728"/>
                </a:lnTo>
                <a:lnTo>
                  <a:pt x="1121257" y="2741168"/>
                </a:lnTo>
                <a:lnTo>
                  <a:pt x="1063684" y="2741168"/>
                </a:lnTo>
                <a:lnTo>
                  <a:pt x="1063684" y="2731008"/>
                </a:lnTo>
                <a:lnTo>
                  <a:pt x="1121257" y="2731008"/>
                </a:lnTo>
                <a:lnTo>
                  <a:pt x="1050137" y="2695448"/>
                </a:lnTo>
                <a:close/>
              </a:path>
              <a:path w="1131570" h="2776854">
                <a:moveTo>
                  <a:pt x="312507" y="5080"/>
                </a:moveTo>
                <a:lnTo>
                  <a:pt x="312507" y="2738893"/>
                </a:lnTo>
                <a:lnTo>
                  <a:pt x="314782" y="2741168"/>
                </a:lnTo>
                <a:lnTo>
                  <a:pt x="1050137" y="2741168"/>
                </a:lnTo>
                <a:lnTo>
                  <a:pt x="1050137" y="2736088"/>
                </a:lnTo>
                <a:lnTo>
                  <a:pt x="322667" y="2736088"/>
                </a:lnTo>
                <a:lnTo>
                  <a:pt x="317587" y="2731008"/>
                </a:lnTo>
                <a:lnTo>
                  <a:pt x="322667" y="2731008"/>
                </a:lnTo>
                <a:lnTo>
                  <a:pt x="322667" y="10160"/>
                </a:lnTo>
                <a:lnTo>
                  <a:pt x="317587" y="10160"/>
                </a:lnTo>
                <a:lnTo>
                  <a:pt x="312507" y="5080"/>
                </a:lnTo>
                <a:close/>
              </a:path>
              <a:path w="1131570" h="2776854">
                <a:moveTo>
                  <a:pt x="1121257" y="2731008"/>
                </a:moveTo>
                <a:lnTo>
                  <a:pt x="1063684" y="2731008"/>
                </a:lnTo>
                <a:lnTo>
                  <a:pt x="1063684" y="2741168"/>
                </a:lnTo>
                <a:lnTo>
                  <a:pt x="1121257" y="2741168"/>
                </a:lnTo>
                <a:lnTo>
                  <a:pt x="1131417" y="2736088"/>
                </a:lnTo>
                <a:lnTo>
                  <a:pt x="1121257" y="2731008"/>
                </a:lnTo>
                <a:close/>
              </a:path>
              <a:path w="1131570" h="2776854">
                <a:moveTo>
                  <a:pt x="322667" y="2731008"/>
                </a:moveTo>
                <a:lnTo>
                  <a:pt x="317587" y="2731008"/>
                </a:lnTo>
                <a:lnTo>
                  <a:pt x="322667" y="2736088"/>
                </a:lnTo>
                <a:lnTo>
                  <a:pt x="322667" y="2731008"/>
                </a:lnTo>
                <a:close/>
              </a:path>
              <a:path w="1131570" h="2776854">
                <a:moveTo>
                  <a:pt x="1050137" y="2731008"/>
                </a:moveTo>
                <a:lnTo>
                  <a:pt x="322667" y="2731008"/>
                </a:lnTo>
                <a:lnTo>
                  <a:pt x="322667" y="2736088"/>
                </a:lnTo>
                <a:lnTo>
                  <a:pt x="1050137" y="2736088"/>
                </a:lnTo>
                <a:lnTo>
                  <a:pt x="1050137" y="2731008"/>
                </a:lnTo>
                <a:close/>
              </a:path>
              <a:path w="1131570" h="2776854">
                <a:moveTo>
                  <a:pt x="320394" y="0"/>
                </a:moveTo>
                <a:lnTo>
                  <a:pt x="0" y="0"/>
                </a:lnTo>
                <a:lnTo>
                  <a:pt x="0" y="10160"/>
                </a:lnTo>
                <a:lnTo>
                  <a:pt x="312507" y="10160"/>
                </a:lnTo>
                <a:lnTo>
                  <a:pt x="312507" y="5080"/>
                </a:lnTo>
                <a:lnTo>
                  <a:pt x="322667" y="5080"/>
                </a:lnTo>
                <a:lnTo>
                  <a:pt x="322667" y="2274"/>
                </a:lnTo>
                <a:lnTo>
                  <a:pt x="320394" y="0"/>
                </a:lnTo>
                <a:close/>
              </a:path>
              <a:path w="1131570" h="2776854">
                <a:moveTo>
                  <a:pt x="322667" y="5080"/>
                </a:moveTo>
                <a:lnTo>
                  <a:pt x="312507" y="5080"/>
                </a:lnTo>
                <a:lnTo>
                  <a:pt x="317587" y="10160"/>
                </a:lnTo>
                <a:lnTo>
                  <a:pt x="322667" y="10160"/>
                </a:lnTo>
                <a:lnTo>
                  <a:pt x="322667" y="508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333644" y="2004071"/>
            <a:ext cx="4077970" cy="4865370"/>
            <a:chOff x="333644" y="2004071"/>
            <a:chExt cx="4077970" cy="4865370"/>
          </a:xfrm>
        </p:grpSpPr>
        <p:sp>
          <p:nvSpPr>
            <p:cNvPr id="13" name="object 13"/>
            <p:cNvSpPr/>
            <p:nvPr/>
          </p:nvSpPr>
          <p:spPr>
            <a:xfrm>
              <a:off x="2667803" y="3644190"/>
              <a:ext cx="332105" cy="358140"/>
            </a:xfrm>
            <a:custGeom>
              <a:avLst/>
              <a:gdLst/>
              <a:ahLst/>
              <a:cxnLst/>
              <a:rect l="l" t="t" r="r" b="b"/>
              <a:pathLst>
                <a:path w="332105" h="358139">
                  <a:moveTo>
                    <a:pt x="0" y="0"/>
                  </a:moveTo>
                  <a:lnTo>
                    <a:pt x="331622" y="0"/>
                  </a:lnTo>
                  <a:lnTo>
                    <a:pt x="331622" y="357866"/>
                  </a:lnTo>
                  <a:lnTo>
                    <a:pt x="0" y="357866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67803" y="4001705"/>
              <a:ext cx="332105" cy="358140"/>
            </a:xfrm>
            <a:custGeom>
              <a:avLst/>
              <a:gdLst/>
              <a:ahLst/>
              <a:cxnLst/>
              <a:rect l="l" t="t" r="r" b="b"/>
              <a:pathLst>
                <a:path w="332105" h="358139">
                  <a:moveTo>
                    <a:pt x="0" y="0"/>
                  </a:moveTo>
                  <a:lnTo>
                    <a:pt x="331622" y="0"/>
                  </a:lnTo>
                  <a:lnTo>
                    <a:pt x="331622" y="357866"/>
                  </a:lnTo>
                  <a:lnTo>
                    <a:pt x="0" y="357866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67803" y="4359219"/>
              <a:ext cx="332105" cy="358140"/>
            </a:xfrm>
            <a:custGeom>
              <a:avLst/>
              <a:gdLst/>
              <a:ahLst/>
              <a:cxnLst/>
              <a:rect l="l" t="t" r="r" b="b"/>
              <a:pathLst>
                <a:path w="332105" h="358139">
                  <a:moveTo>
                    <a:pt x="0" y="0"/>
                  </a:moveTo>
                  <a:lnTo>
                    <a:pt x="331622" y="0"/>
                  </a:lnTo>
                  <a:lnTo>
                    <a:pt x="331622" y="357866"/>
                  </a:lnTo>
                  <a:lnTo>
                    <a:pt x="0" y="357866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67803" y="4900465"/>
              <a:ext cx="332105" cy="358140"/>
            </a:xfrm>
            <a:custGeom>
              <a:avLst/>
              <a:gdLst/>
              <a:ahLst/>
              <a:cxnLst/>
              <a:rect l="l" t="t" r="r" b="b"/>
              <a:pathLst>
                <a:path w="332105" h="358139">
                  <a:moveTo>
                    <a:pt x="0" y="0"/>
                  </a:moveTo>
                  <a:lnTo>
                    <a:pt x="331622" y="0"/>
                  </a:lnTo>
                  <a:lnTo>
                    <a:pt x="331622" y="357866"/>
                  </a:lnTo>
                  <a:lnTo>
                    <a:pt x="0" y="357866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67803" y="5257981"/>
              <a:ext cx="332105" cy="358140"/>
            </a:xfrm>
            <a:custGeom>
              <a:avLst/>
              <a:gdLst/>
              <a:ahLst/>
              <a:cxnLst/>
              <a:rect l="l" t="t" r="r" b="b"/>
              <a:pathLst>
                <a:path w="332105" h="358139">
                  <a:moveTo>
                    <a:pt x="0" y="0"/>
                  </a:moveTo>
                  <a:lnTo>
                    <a:pt x="331622" y="0"/>
                  </a:lnTo>
                  <a:lnTo>
                    <a:pt x="331622" y="357866"/>
                  </a:lnTo>
                  <a:lnTo>
                    <a:pt x="0" y="357866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67803" y="5615495"/>
              <a:ext cx="332105" cy="358140"/>
            </a:xfrm>
            <a:custGeom>
              <a:avLst/>
              <a:gdLst/>
              <a:ahLst/>
              <a:cxnLst/>
              <a:rect l="l" t="t" r="r" b="b"/>
              <a:pathLst>
                <a:path w="332105" h="358139">
                  <a:moveTo>
                    <a:pt x="0" y="0"/>
                  </a:moveTo>
                  <a:lnTo>
                    <a:pt x="331622" y="0"/>
                  </a:lnTo>
                  <a:lnTo>
                    <a:pt x="331622" y="357866"/>
                  </a:lnTo>
                  <a:lnTo>
                    <a:pt x="0" y="357866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0629" y="3408099"/>
              <a:ext cx="1522095" cy="358140"/>
            </a:xfrm>
            <a:custGeom>
              <a:avLst/>
              <a:gdLst/>
              <a:ahLst/>
              <a:cxnLst/>
              <a:rect l="l" t="t" r="r" b="b"/>
              <a:pathLst>
                <a:path w="1522095" h="358139">
                  <a:moveTo>
                    <a:pt x="0" y="0"/>
                  </a:moveTo>
                  <a:lnTo>
                    <a:pt x="1521561" y="0"/>
                  </a:lnTo>
                  <a:lnTo>
                    <a:pt x="1521561" y="357867"/>
                  </a:lnTo>
                  <a:lnTo>
                    <a:pt x="0" y="357867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75330" y="2842098"/>
              <a:ext cx="1129665" cy="982344"/>
            </a:xfrm>
            <a:custGeom>
              <a:avLst/>
              <a:gdLst/>
              <a:ahLst/>
              <a:cxnLst/>
              <a:rect l="l" t="t" r="r" b="b"/>
              <a:pathLst>
                <a:path w="1129664" h="982345">
                  <a:moveTo>
                    <a:pt x="1048085" y="900785"/>
                  </a:moveTo>
                  <a:lnTo>
                    <a:pt x="1048085" y="982065"/>
                  </a:lnTo>
                  <a:lnTo>
                    <a:pt x="1119205" y="946505"/>
                  </a:lnTo>
                  <a:lnTo>
                    <a:pt x="1061631" y="946505"/>
                  </a:lnTo>
                  <a:lnTo>
                    <a:pt x="1061631" y="936345"/>
                  </a:lnTo>
                  <a:lnTo>
                    <a:pt x="1119205" y="936345"/>
                  </a:lnTo>
                  <a:lnTo>
                    <a:pt x="1048085" y="900785"/>
                  </a:lnTo>
                  <a:close/>
                </a:path>
                <a:path w="1129664" h="982345">
                  <a:moveTo>
                    <a:pt x="747833" y="5079"/>
                  </a:moveTo>
                  <a:lnTo>
                    <a:pt x="747833" y="944231"/>
                  </a:lnTo>
                  <a:lnTo>
                    <a:pt x="750107" y="946505"/>
                  </a:lnTo>
                  <a:lnTo>
                    <a:pt x="1048085" y="946505"/>
                  </a:lnTo>
                  <a:lnTo>
                    <a:pt x="1048085" y="941425"/>
                  </a:lnTo>
                  <a:lnTo>
                    <a:pt x="757993" y="941425"/>
                  </a:lnTo>
                  <a:lnTo>
                    <a:pt x="752913" y="936345"/>
                  </a:lnTo>
                  <a:lnTo>
                    <a:pt x="757993" y="936345"/>
                  </a:lnTo>
                  <a:lnTo>
                    <a:pt x="757993" y="10160"/>
                  </a:lnTo>
                  <a:lnTo>
                    <a:pt x="752913" y="10160"/>
                  </a:lnTo>
                  <a:lnTo>
                    <a:pt x="747833" y="5079"/>
                  </a:lnTo>
                  <a:close/>
                </a:path>
                <a:path w="1129664" h="982345">
                  <a:moveTo>
                    <a:pt x="1119205" y="936345"/>
                  </a:moveTo>
                  <a:lnTo>
                    <a:pt x="1061631" y="936345"/>
                  </a:lnTo>
                  <a:lnTo>
                    <a:pt x="1061631" y="946505"/>
                  </a:lnTo>
                  <a:lnTo>
                    <a:pt x="1119205" y="946505"/>
                  </a:lnTo>
                  <a:lnTo>
                    <a:pt x="1129365" y="941425"/>
                  </a:lnTo>
                  <a:lnTo>
                    <a:pt x="1119205" y="936345"/>
                  </a:lnTo>
                  <a:close/>
                </a:path>
                <a:path w="1129664" h="982345">
                  <a:moveTo>
                    <a:pt x="757993" y="936345"/>
                  </a:moveTo>
                  <a:lnTo>
                    <a:pt x="752913" y="936345"/>
                  </a:lnTo>
                  <a:lnTo>
                    <a:pt x="757993" y="941425"/>
                  </a:lnTo>
                  <a:lnTo>
                    <a:pt x="757993" y="936345"/>
                  </a:lnTo>
                  <a:close/>
                </a:path>
                <a:path w="1129664" h="982345">
                  <a:moveTo>
                    <a:pt x="1048085" y="936345"/>
                  </a:moveTo>
                  <a:lnTo>
                    <a:pt x="757993" y="936345"/>
                  </a:lnTo>
                  <a:lnTo>
                    <a:pt x="757993" y="941425"/>
                  </a:lnTo>
                  <a:lnTo>
                    <a:pt x="1048085" y="941425"/>
                  </a:lnTo>
                  <a:lnTo>
                    <a:pt x="1048085" y="936345"/>
                  </a:lnTo>
                  <a:close/>
                </a:path>
                <a:path w="1129664" h="982345">
                  <a:moveTo>
                    <a:pt x="75571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747833" y="10160"/>
                  </a:lnTo>
                  <a:lnTo>
                    <a:pt x="747833" y="5079"/>
                  </a:lnTo>
                  <a:lnTo>
                    <a:pt x="757993" y="5079"/>
                  </a:lnTo>
                  <a:lnTo>
                    <a:pt x="757993" y="2274"/>
                  </a:lnTo>
                  <a:lnTo>
                    <a:pt x="755719" y="0"/>
                  </a:lnTo>
                  <a:close/>
                </a:path>
                <a:path w="1129664" h="982345">
                  <a:moveTo>
                    <a:pt x="757993" y="5079"/>
                  </a:moveTo>
                  <a:lnTo>
                    <a:pt x="747833" y="5079"/>
                  </a:lnTo>
                  <a:lnTo>
                    <a:pt x="752913" y="10160"/>
                  </a:lnTo>
                  <a:lnTo>
                    <a:pt x="757993" y="10160"/>
                  </a:lnTo>
                  <a:lnTo>
                    <a:pt x="757993" y="5079"/>
                  </a:lnTo>
                  <a:close/>
                </a:path>
              </a:pathLst>
            </a:custGeom>
            <a:solidFill>
              <a:srgbClr val="407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83886" y="3222609"/>
              <a:ext cx="1131570" cy="1899285"/>
            </a:xfrm>
            <a:custGeom>
              <a:avLst/>
              <a:gdLst/>
              <a:ahLst/>
              <a:cxnLst/>
              <a:rect l="l" t="t" r="r" b="b"/>
              <a:pathLst>
                <a:path w="1131570" h="1899285">
                  <a:moveTo>
                    <a:pt x="1050137" y="1817623"/>
                  </a:moveTo>
                  <a:lnTo>
                    <a:pt x="1050137" y="1898903"/>
                  </a:lnTo>
                  <a:lnTo>
                    <a:pt x="1121257" y="1863343"/>
                  </a:lnTo>
                  <a:lnTo>
                    <a:pt x="1063684" y="1863343"/>
                  </a:lnTo>
                  <a:lnTo>
                    <a:pt x="1063684" y="1853183"/>
                  </a:lnTo>
                  <a:lnTo>
                    <a:pt x="1121257" y="1853183"/>
                  </a:lnTo>
                  <a:lnTo>
                    <a:pt x="1050137" y="1817623"/>
                  </a:lnTo>
                  <a:close/>
                </a:path>
                <a:path w="1131570" h="1899285">
                  <a:moveTo>
                    <a:pt x="517851" y="5079"/>
                  </a:moveTo>
                  <a:lnTo>
                    <a:pt x="517851" y="1861069"/>
                  </a:lnTo>
                  <a:lnTo>
                    <a:pt x="520125" y="1863343"/>
                  </a:lnTo>
                  <a:lnTo>
                    <a:pt x="1050137" y="1863343"/>
                  </a:lnTo>
                  <a:lnTo>
                    <a:pt x="1050137" y="1858264"/>
                  </a:lnTo>
                  <a:lnTo>
                    <a:pt x="528011" y="1858264"/>
                  </a:lnTo>
                  <a:lnTo>
                    <a:pt x="522931" y="1853183"/>
                  </a:lnTo>
                  <a:lnTo>
                    <a:pt x="528011" y="1853183"/>
                  </a:lnTo>
                  <a:lnTo>
                    <a:pt x="528011" y="10160"/>
                  </a:lnTo>
                  <a:lnTo>
                    <a:pt x="522931" y="10160"/>
                  </a:lnTo>
                  <a:lnTo>
                    <a:pt x="517851" y="5079"/>
                  </a:lnTo>
                  <a:close/>
                </a:path>
                <a:path w="1131570" h="1899285">
                  <a:moveTo>
                    <a:pt x="1121257" y="1853183"/>
                  </a:moveTo>
                  <a:lnTo>
                    <a:pt x="1063684" y="1853183"/>
                  </a:lnTo>
                  <a:lnTo>
                    <a:pt x="1063684" y="1863343"/>
                  </a:lnTo>
                  <a:lnTo>
                    <a:pt x="1121257" y="1863343"/>
                  </a:lnTo>
                  <a:lnTo>
                    <a:pt x="1131417" y="1858264"/>
                  </a:lnTo>
                  <a:lnTo>
                    <a:pt x="1121257" y="1853183"/>
                  </a:lnTo>
                  <a:close/>
                </a:path>
                <a:path w="1131570" h="1899285">
                  <a:moveTo>
                    <a:pt x="528011" y="1853183"/>
                  </a:moveTo>
                  <a:lnTo>
                    <a:pt x="522931" y="1853183"/>
                  </a:lnTo>
                  <a:lnTo>
                    <a:pt x="528011" y="1858264"/>
                  </a:lnTo>
                  <a:lnTo>
                    <a:pt x="528011" y="1853183"/>
                  </a:lnTo>
                  <a:close/>
                </a:path>
                <a:path w="1131570" h="1899285">
                  <a:moveTo>
                    <a:pt x="1050137" y="1853183"/>
                  </a:moveTo>
                  <a:lnTo>
                    <a:pt x="528011" y="1853183"/>
                  </a:lnTo>
                  <a:lnTo>
                    <a:pt x="528011" y="1858264"/>
                  </a:lnTo>
                  <a:lnTo>
                    <a:pt x="1050137" y="1858264"/>
                  </a:lnTo>
                  <a:lnTo>
                    <a:pt x="1050137" y="1853183"/>
                  </a:lnTo>
                  <a:close/>
                </a:path>
                <a:path w="1131570" h="1899285">
                  <a:moveTo>
                    <a:pt x="525736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517851" y="10160"/>
                  </a:lnTo>
                  <a:lnTo>
                    <a:pt x="517851" y="5079"/>
                  </a:lnTo>
                  <a:lnTo>
                    <a:pt x="528011" y="5079"/>
                  </a:lnTo>
                  <a:lnTo>
                    <a:pt x="528011" y="2274"/>
                  </a:lnTo>
                  <a:lnTo>
                    <a:pt x="525736" y="0"/>
                  </a:lnTo>
                  <a:close/>
                </a:path>
                <a:path w="1131570" h="1899285">
                  <a:moveTo>
                    <a:pt x="528011" y="5079"/>
                  </a:moveTo>
                  <a:lnTo>
                    <a:pt x="517851" y="5079"/>
                  </a:lnTo>
                  <a:lnTo>
                    <a:pt x="522931" y="10160"/>
                  </a:lnTo>
                  <a:lnTo>
                    <a:pt x="528011" y="10160"/>
                  </a:lnTo>
                  <a:lnTo>
                    <a:pt x="528011" y="5079"/>
                  </a:lnTo>
                  <a:close/>
                </a:path>
              </a:pathLst>
            </a:custGeom>
            <a:solidFill>
              <a:srgbClr val="FF4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94901" y="2185225"/>
              <a:ext cx="1416685" cy="3775710"/>
            </a:xfrm>
            <a:custGeom>
              <a:avLst/>
              <a:gdLst/>
              <a:ahLst/>
              <a:cxnLst/>
              <a:rect l="l" t="t" r="r" b="b"/>
              <a:pathLst>
                <a:path w="1416685" h="3775710">
                  <a:moveTo>
                    <a:pt x="1397482" y="3775354"/>
                  </a:moveTo>
                  <a:lnTo>
                    <a:pt x="1396809" y="3717455"/>
                  </a:lnTo>
                  <a:lnTo>
                    <a:pt x="1396415" y="3684486"/>
                  </a:lnTo>
                  <a:lnTo>
                    <a:pt x="1364805" y="3700767"/>
                  </a:lnTo>
                  <a:lnTo>
                    <a:pt x="9029" y="1067244"/>
                  </a:lnTo>
                  <a:lnTo>
                    <a:pt x="0" y="1071892"/>
                  </a:lnTo>
                  <a:lnTo>
                    <a:pt x="1355763" y="3705415"/>
                  </a:lnTo>
                  <a:lnTo>
                    <a:pt x="1324152" y="3721684"/>
                  </a:lnTo>
                  <a:lnTo>
                    <a:pt x="1397482" y="3775354"/>
                  </a:lnTo>
                  <a:close/>
                </a:path>
                <a:path w="1416685" h="3775710">
                  <a:moveTo>
                    <a:pt x="1397482" y="2491981"/>
                  </a:moveTo>
                  <a:lnTo>
                    <a:pt x="1391310" y="2438006"/>
                  </a:lnTo>
                  <a:lnTo>
                    <a:pt x="1387157" y="2401697"/>
                  </a:lnTo>
                  <a:lnTo>
                    <a:pt x="1357363" y="2421115"/>
                  </a:lnTo>
                  <a:lnTo>
                    <a:pt x="8775" y="351764"/>
                  </a:lnTo>
                  <a:lnTo>
                    <a:pt x="266" y="357301"/>
                  </a:lnTo>
                  <a:lnTo>
                    <a:pt x="1348854" y="2426665"/>
                  </a:lnTo>
                  <a:lnTo>
                    <a:pt x="1319060" y="2446070"/>
                  </a:lnTo>
                  <a:lnTo>
                    <a:pt x="1397482" y="2491981"/>
                  </a:lnTo>
                  <a:close/>
                </a:path>
                <a:path w="1416685" h="3775710">
                  <a:moveTo>
                    <a:pt x="1416646" y="523849"/>
                  </a:moveTo>
                  <a:lnTo>
                    <a:pt x="1399146" y="505231"/>
                  </a:lnTo>
                  <a:lnTo>
                    <a:pt x="1354404" y="457644"/>
                  </a:lnTo>
                  <a:lnTo>
                    <a:pt x="1342123" y="491020"/>
                  </a:lnTo>
                  <a:lnTo>
                    <a:pt x="7302" y="0"/>
                  </a:lnTo>
                  <a:lnTo>
                    <a:pt x="3784" y="9537"/>
                  </a:lnTo>
                  <a:lnTo>
                    <a:pt x="1338618" y="500557"/>
                  </a:lnTo>
                  <a:lnTo>
                    <a:pt x="1326337" y="533933"/>
                  </a:lnTo>
                  <a:lnTo>
                    <a:pt x="1416646" y="523849"/>
                  </a:lnTo>
                  <a:close/>
                </a:path>
              </a:pathLst>
            </a:custGeom>
            <a:solidFill>
              <a:srgbClr val="011E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67803" y="2360820"/>
              <a:ext cx="332105" cy="358140"/>
            </a:xfrm>
            <a:custGeom>
              <a:avLst/>
              <a:gdLst/>
              <a:ahLst/>
              <a:cxnLst/>
              <a:rect l="l" t="t" r="r" b="b"/>
              <a:pathLst>
                <a:path w="332105" h="358139">
                  <a:moveTo>
                    <a:pt x="0" y="0"/>
                  </a:moveTo>
                  <a:lnTo>
                    <a:pt x="331622" y="0"/>
                  </a:lnTo>
                  <a:lnTo>
                    <a:pt x="331622" y="357866"/>
                  </a:lnTo>
                  <a:lnTo>
                    <a:pt x="0" y="357866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667803" y="2718337"/>
              <a:ext cx="332105" cy="358140"/>
            </a:xfrm>
            <a:custGeom>
              <a:avLst/>
              <a:gdLst/>
              <a:ahLst/>
              <a:cxnLst/>
              <a:rect l="l" t="t" r="r" b="b"/>
              <a:pathLst>
                <a:path w="332105" h="358139">
                  <a:moveTo>
                    <a:pt x="0" y="0"/>
                  </a:moveTo>
                  <a:lnTo>
                    <a:pt x="331622" y="0"/>
                  </a:lnTo>
                  <a:lnTo>
                    <a:pt x="331622" y="357866"/>
                  </a:lnTo>
                  <a:lnTo>
                    <a:pt x="0" y="357866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67803" y="3075849"/>
              <a:ext cx="332105" cy="358140"/>
            </a:xfrm>
            <a:custGeom>
              <a:avLst/>
              <a:gdLst/>
              <a:ahLst/>
              <a:cxnLst/>
              <a:rect l="l" t="t" r="r" b="b"/>
              <a:pathLst>
                <a:path w="332105" h="358139">
                  <a:moveTo>
                    <a:pt x="0" y="0"/>
                  </a:moveTo>
                  <a:lnTo>
                    <a:pt x="331622" y="0"/>
                  </a:lnTo>
                  <a:lnTo>
                    <a:pt x="331622" y="357866"/>
                  </a:lnTo>
                  <a:lnTo>
                    <a:pt x="0" y="357866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68828" y="2011056"/>
              <a:ext cx="332105" cy="358140"/>
            </a:xfrm>
            <a:custGeom>
              <a:avLst/>
              <a:gdLst/>
              <a:ahLst/>
              <a:cxnLst/>
              <a:rect l="l" t="t" r="r" b="b"/>
              <a:pathLst>
                <a:path w="332105" h="358139">
                  <a:moveTo>
                    <a:pt x="0" y="0"/>
                  </a:moveTo>
                  <a:lnTo>
                    <a:pt x="331622" y="0"/>
                  </a:lnTo>
                  <a:lnTo>
                    <a:pt x="331622" y="357866"/>
                  </a:lnTo>
                  <a:lnTo>
                    <a:pt x="0" y="357866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75320" y="2106447"/>
              <a:ext cx="2717165" cy="3477260"/>
            </a:xfrm>
            <a:custGeom>
              <a:avLst/>
              <a:gdLst/>
              <a:ahLst/>
              <a:cxnLst/>
              <a:rect l="l" t="t" r="r" b="b"/>
              <a:pathLst>
                <a:path w="2717165" h="3477260">
                  <a:moveTo>
                    <a:pt x="1139977" y="40640"/>
                  </a:moveTo>
                  <a:lnTo>
                    <a:pt x="1129817" y="35560"/>
                  </a:lnTo>
                  <a:lnTo>
                    <a:pt x="1058697" y="0"/>
                  </a:lnTo>
                  <a:lnTo>
                    <a:pt x="1058697" y="35560"/>
                  </a:lnTo>
                  <a:lnTo>
                    <a:pt x="567182" y="35560"/>
                  </a:lnTo>
                  <a:lnTo>
                    <a:pt x="564908" y="37833"/>
                  </a:lnTo>
                  <a:lnTo>
                    <a:pt x="564908" y="376313"/>
                  </a:lnTo>
                  <a:lnTo>
                    <a:pt x="0" y="376313"/>
                  </a:lnTo>
                  <a:lnTo>
                    <a:pt x="0" y="386473"/>
                  </a:lnTo>
                  <a:lnTo>
                    <a:pt x="572795" y="386473"/>
                  </a:lnTo>
                  <a:lnTo>
                    <a:pt x="575068" y="384200"/>
                  </a:lnTo>
                  <a:lnTo>
                    <a:pt x="575068" y="381393"/>
                  </a:lnTo>
                  <a:lnTo>
                    <a:pt x="575068" y="376313"/>
                  </a:lnTo>
                  <a:lnTo>
                    <a:pt x="575068" y="45720"/>
                  </a:lnTo>
                  <a:lnTo>
                    <a:pt x="1058697" y="45720"/>
                  </a:lnTo>
                  <a:lnTo>
                    <a:pt x="1058697" y="81280"/>
                  </a:lnTo>
                  <a:lnTo>
                    <a:pt x="1129817" y="45720"/>
                  </a:lnTo>
                  <a:lnTo>
                    <a:pt x="1139977" y="40640"/>
                  </a:lnTo>
                  <a:close/>
                </a:path>
                <a:path w="2717165" h="3477260">
                  <a:moveTo>
                    <a:pt x="2717063" y="3476701"/>
                  </a:moveTo>
                  <a:lnTo>
                    <a:pt x="2716212" y="3418903"/>
                  </a:lnTo>
                  <a:lnTo>
                    <a:pt x="2715730" y="3385832"/>
                  </a:lnTo>
                  <a:lnTo>
                    <a:pt x="2684157" y="3402203"/>
                  </a:lnTo>
                  <a:lnTo>
                    <a:pt x="1328610" y="788492"/>
                  </a:lnTo>
                  <a:lnTo>
                    <a:pt x="1319593" y="793165"/>
                  </a:lnTo>
                  <a:lnTo>
                    <a:pt x="2675140" y="3406876"/>
                  </a:lnTo>
                  <a:lnTo>
                    <a:pt x="2643568" y="3423247"/>
                  </a:lnTo>
                  <a:lnTo>
                    <a:pt x="2717063" y="3476701"/>
                  </a:lnTo>
                  <a:close/>
                </a:path>
              </a:pathLst>
            </a:custGeom>
            <a:solidFill>
              <a:srgbClr val="011E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995460" y="3027209"/>
              <a:ext cx="1397000" cy="3241040"/>
            </a:xfrm>
            <a:custGeom>
              <a:avLst/>
              <a:gdLst/>
              <a:ahLst/>
              <a:cxnLst/>
              <a:rect l="l" t="t" r="r" b="b"/>
              <a:pathLst>
                <a:path w="1397000" h="3241040">
                  <a:moveTo>
                    <a:pt x="1396923" y="3240722"/>
                  </a:moveTo>
                  <a:lnTo>
                    <a:pt x="1386141" y="3191154"/>
                  </a:lnTo>
                  <a:lnTo>
                    <a:pt x="1377607" y="3151924"/>
                  </a:lnTo>
                  <a:lnTo>
                    <a:pt x="1349908" y="3174225"/>
                  </a:lnTo>
                  <a:lnTo>
                    <a:pt x="7912" y="1507756"/>
                  </a:lnTo>
                  <a:lnTo>
                    <a:pt x="0" y="1514132"/>
                  </a:lnTo>
                  <a:lnTo>
                    <a:pt x="1341996" y="3180600"/>
                  </a:lnTo>
                  <a:lnTo>
                    <a:pt x="1314297" y="3202902"/>
                  </a:lnTo>
                  <a:lnTo>
                    <a:pt x="1396923" y="3240722"/>
                  </a:lnTo>
                  <a:close/>
                </a:path>
                <a:path w="1397000" h="3241040">
                  <a:moveTo>
                    <a:pt x="1396923" y="2254453"/>
                  </a:moveTo>
                  <a:lnTo>
                    <a:pt x="1379105" y="2216442"/>
                  </a:lnTo>
                  <a:lnTo>
                    <a:pt x="1358366" y="2172170"/>
                  </a:lnTo>
                  <a:lnTo>
                    <a:pt x="1336306" y="2200059"/>
                  </a:lnTo>
                  <a:lnTo>
                    <a:pt x="7112" y="1149451"/>
                  </a:lnTo>
                  <a:lnTo>
                    <a:pt x="812" y="1157414"/>
                  </a:lnTo>
                  <a:lnTo>
                    <a:pt x="1330007" y="2208034"/>
                  </a:lnTo>
                  <a:lnTo>
                    <a:pt x="1307960" y="2235936"/>
                  </a:lnTo>
                  <a:lnTo>
                    <a:pt x="1396923" y="2254453"/>
                  </a:lnTo>
                  <a:close/>
                </a:path>
                <a:path w="1397000" h="3241040">
                  <a:moveTo>
                    <a:pt x="1396923" y="0"/>
                  </a:moveTo>
                  <a:lnTo>
                    <a:pt x="1306195" y="5029"/>
                  </a:lnTo>
                  <a:lnTo>
                    <a:pt x="1323835" y="35902"/>
                  </a:lnTo>
                  <a:lnTo>
                    <a:pt x="1435" y="791502"/>
                  </a:lnTo>
                  <a:lnTo>
                    <a:pt x="6477" y="800328"/>
                  </a:lnTo>
                  <a:lnTo>
                    <a:pt x="1328877" y="44729"/>
                  </a:lnTo>
                  <a:lnTo>
                    <a:pt x="1346517" y="75603"/>
                  </a:lnTo>
                  <a:lnTo>
                    <a:pt x="1377467" y="29184"/>
                  </a:lnTo>
                  <a:lnTo>
                    <a:pt x="1396923" y="0"/>
                  </a:lnTo>
                  <a:close/>
                </a:path>
              </a:pathLst>
            </a:custGeom>
            <a:solidFill>
              <a:srgbClr val="407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995472" y="3354869"/>
              <a:ext cx="1397000" cy="2444115"/>
            </a:xfrm>
            <a:custGeom>
              <a:avLst/>
              <a:gdLst/>
              <a:ahLst/>
              <a:cxnLst/>
              <a:rect l="l" t="t" r="r" b="b"/>
              <a:pathLst>
                <a:path w="1397000" h="2444115">
                  <a:moveTo>
                    <a:pt x="1396911" y="1562709"/>
                  </a:moveTo>
                  <a:lnTo>
                    <a:pt x="1306474" y="1571612"/>
                  </a:lnTo>
                  <a:lnTo>
                    <a:pt x="1325422" y="1601711"/>
                  </a:lnTo>
                  <a:lnTo>
                    <a:pt x="1244" y="2435263"/>
                  </a:lnTo>
                  <a:lnTo>
                    <a:pt x="6654" y="2443861"/>
                  </a:lnTo>
                  <a:lnTo>
                    <a:pt x="1330833" y="1610309"/>
                  </a:lnTo>
                  <a:lnTo>
                    <a:pt x="1349781" y="1640408"/>
                  </a:lnTo>
                  <a:lnTo>
                    <a:pt x="1377632" y="1594497"/>
                  </a:lnTo>
                  <a:lnTo>
                    <a:pt x="1396911" y="1562709"/>
                  </a:lnTo>
                  <a:close/>
                </a:path>
                <a:path w="1397000" h="2444115">
                  <a:moveTo>
                    <a:pt x="1396911" y="618274"/>
                  </a:moveTo>
                  <a:lnTo>
                    <a:pt x="1311795" y="650074"/>
                  </a:lnTo>
                  <a:lnTo>
                    <a:pt x="1337818" y="674306"/>
                  </a:lnTo>
                  <a:lnTo>
                    <a:pt x="228" y="2111413"/>
                  </a:lnTo>
                  <a:lnTo>
                    <a:pt x="7670" y="2118334"/>
                  </a:lnTo>
                  <a:lnTo>
                    <a:pt x="1345260" y="681228"/>
                  </a:lnTo>
                  <a:lnTo>
                    <a:pt x="1371282" y="705459"/>
                  </a:lnTo>
                  <a:lnTo>
                    <a:pt x="1383360" y="664387"/>
                  </a:lnTo>
                  <a:lnTo>
                    <a:pt x="1396911" y="618274"/>
                  </a:lnTo>
                  <a:close/>
                </a:path>
                <a:path w="1397000" h="2444115">
                  <a:moveTo>
                    <a:pt x="1396911" y="0"/>
                  </a:moveTo>
                  <a:lnTo>
                    <a:pt x="1314234" y="37693"/>
                  </a:lnTo>
                  <a:lnTo>
                    <a:pt x="1341894" y="60032"/>
                  </a:lnTo>
                  <a:lnTo>
                    <a:pt x="0" y="1721345"/>
                  </a:lnTo>
                  <a:lnTo>
                    <a:pt x="7899" y="1727720"/>
                  </a:lnTo>
                  <a:lnTo>
                    <a:pt x="1349794" y="66421"/>
                  </a:lnTo>
                  <a:lnTo>
                    <a:pt x="1377454" y="88760"/>
                  </a:lnTo>
                  <a:lnTo>
                    <a:pt x="1386065" y="49491"/>
                  </a:lnTo>
                  <a:lnTo>
                    <a:pt x="1396911" y="0"/>
                  </a:lnTo>
                  <a:close/>
                </a:path>
              </a:pathLst>
            </a:custGeom>
            <a:solidFill>
              <a:srgbClr val="FF4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667803" y="6146759"/>
              <a:ext cx="332105" cy="358140"/>
            </a:xfrm>
            <a:custGeom>
              <a:avLst/>
              <a:gdLst/>
              <a:ahLst/>
              <a:cxnLst/>
              <a:rect l="l" t="t" r="r" b="b"/>
              <a:pathLst>
                <a:path w="332105" h="358140">
                  <a:moveTo>
                    <a:pt x="0" y="0"/>
                  </a:moveTo>
                  <a:lnTo>
                    <a:pt x="331622" y="0"/>
                  </a:lnTo>
                  <a:lnTo>
                    <a:pt x="331622" y="357866"/>
                  </a:lnTo>
                  <a:lnTo>
                    <a:pt x="0" y="357866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667803" y="6504275"/>
              <a:ext cx="332105" cy="358140"/>
            </a:xfrm>
            <a:custGeom>
              <a:avLst/>
              <a:gdLst/>
              <a:ahLst/>
              <a:cxnLst/>
              <a:rect l="l" t="t" r="r" b="b"/>
              <a:pathLst>
                <a:path w="332105" h="358140">
                  <a:moveTo>
                    <a:pt x="0" y="0"/>
                  </a:moveTo>
                  <a:lnTo>
                    <a:pt x="331622" y="0"/>
                  </a:lnTo>
                  <a:lnTo>
                    <a:pt x="331622" y="357866"/>
                  </a:lnTo>
                  <a:lnTo>
                    <a:pt x="0" y="357866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94901" y="3602164"/>
              <a:ext cx="1397635" cy="3084195"/>
            </a:xfrm>
            <a:custGeom>
              <a:avLst/>
              <a:gdLst/>
              <a:ahLst/>
              <a:cxnLst/>
              <a:rect l="l" t="t" r="r" b="b"/>
              <a:pathLst>
                <a:path w="1397635" h="3084195">
                  <a:moveTo>
                    <a:pt x="1397482" y="643890"/>
                  </a:moveTo>
                  <a:lnTo>
                    <a:pt x="1321866" y="694283"/>
                  </a:lnTo>
                  <a:lnTo>
                    <a:pt x="1352740" y="711936"/>
                  </a:lnTo>
                  <a:lnTo>
                    <a:pt x="114" y="3078530"/>
                  </a:lnTo>
                  <a:lnTo>
                    <a:pt x="8928" y="3083572"/>
                  </a:lnTo>
                  <a:lnTo>
                    <a:pt x="1361567" y="716978"/>
                  </a:lnTo>
                  <a:lnTo>
                    <a:pt x="1392440" y="734618"/>
                  </a:lnTo>
                  <a:lnTo>
                    <a:pt x="1394358" y="700163"/>
                  </a:lnTo>
                  <a:lnTo>
                    <a:pt x="1397482" y="643890"/>
                  </a:lnTo>
                  <a:close/>
                </a:path>
                <a:path w="1397635" h="3084195">
                  <a:moveTo>
                    <a:pt x="1397482" y="0"/>
                  </a:moveTo>
                  <a:lnTo>
                    <a:pt x="1324292" y="53860"/>
                  </a:lnTo>
                  <a:lnTo>
                    <a:pt x="1355953" y="70053"/>
                  </a:lnTo>
                  <a:lnTo>
                    <a:pt x="0" y="2721216"/>
                  </a:lnTo>
                  <a:lnTo>
                    <a:pt x="9042" y="2725851"/>
                  </a:lnTo>
                  <a:lnTo>
                    <a:pt x="1364996" y="74676"/>
                  </a:lnTo>
                  <a:lnTo>
                    <a:pt x="1396657" y="90868"/>
                  </a:lnTo>
                  <a:lnTo>
                    <a:pt x="1396961" y="57988"/>
                  </a:lnTo>
                  <a:lnTo>
                    <a:pt x="1397482" y="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1103206" y="322071"/>
            <a:ext cx="7855584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30" dirty="0"/>
              <a:t>a</a:t>
            </a:r>
            <a:r>
              <a:rPr spc="-140" dirty="0"/>
              <a:t>m</a:t>
            </a:r>
            <a:r>
              <a:rPr spc="-130" dirty="0"/>
              <a:t>p</a:t>
            </a:r>
            <a:r>
              <a:rPr spc="-125" dirty="0"/>
              <a:t>le</a:t>
            </a:r>
            <a:r>
              <a:rPr dirty="0"/>
              <a:t>:</a:t>
            </a:r>
            <a:r>
              <a:rPr spc="-240" dirty="0"/>
              <a:t> </a:t>
            </a:r>
            <a:r>
              <a:rPr spc="-135" dirty="0"/>
              <a:t>S</a:t>
            </a:r>
            <a:r>
              <a:rPr spc="-125" dirty="0"/>
              <a:t>e</a:t>
            </a:r>
            <a:r>
              <a:rPr spc="-130" dirty="0"/>
              <a:t>conda</a:t>
            </a:r>
            <a:r>
              <a:rPr spc="-125" dirty="0"/>
              <a:t>r</a:t>
            </a:r>
            <a:r>
              <a:rPr dirty="0"/>
              <a:t>y</a:t>
            </a:r>
            <a:r>
              <a:rPr spc="-254" dirty="0"/>
              <a:t> </a:t>
            </a:r>
            <a:r>
              <a:rPr spc="-120" dirty="0"/>
              <a:t>I</a:t>
            </a:r>
            <a:r>
              <a:rPr spc="-130" dirty="0"/>
              <a:t>nd</a:t>
            </a:r>
            <a:r>
              <a:rPr spc="-125" dirty="0"/>
              <a:t>ex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54748" y="1195832"/>
            <a:ext cx="92055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specifies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different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from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sequential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of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4748" y="1488440"/>
            <a:ext cx="9613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the</a:t>
            </a:r>
            <a:r>
              <a:rPr sz="2100" spc="-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file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89838" y="1444752"/>
            <a:ext cx="9616440" cy="5072380"/>
            <a:chOff x="289838" y="1444752"/>
            <a:chExt cx="9616440" cy="5072380"/>
          </a:xfrm>
        </p:grpSpPr>
        <p:sp>
          <p:nvSpPr>
            <p:cNvPr id="37" name="object 37"/>
            <p:cNvSpPr/>
            <p:nvPr/>
          </p:nvSpPr>
          <p:spPr>
            <a:xfrm>
              <a:off x="289826" y="2257818"/>
              <a:ext cx="5164455" cy="4258945"/>
            </a:xfrm>
            <a:custGeom>
              <a:avLst/>
              <a:gdLst/>
              <a:ahLst/>
              <a:cxnLst/>
              <a:rect l="l" t="t" r="r" b="b"/>
              <a:pathLst>
                <a:path w="5164455" h="4258945">
                  <a:moveTo>
                    <a:pt x="1258023" y="209677"/>
                  </a:moveTo>
                  <a:lnTo>
                    <a:pt x="1252474" y="161594"/>
                  </a:lnTo>
                  <a:lnTo>
                    <a:pt x="1236700" y="117462"/>
                  </a:lnTo>
                  <a:lnTo>
                    <a:pt x="1211961" y="78536"/>
                  </a:lnTo>
                  <a:lnTo>
                    <a:pt x="1179487" y="46062"/>
                  </a:lnTo>
                  <a:lnTo>
                    <a:pt x="1140548" y="21310"/>
                  </a:lnTo>
                  <a:lnTo>
                    <a:pt x="1096416" y="5537"/>
                  </a:lnTo>
                  <a:lnTo>
                    <a:pt x="1048346" y="0"/>
                  </a:lnTo>
                  <a:lnTo>
                    <a:pt x="209677" y="0"/>
                  </a:lnTo>
                  <a:lnTo>
                    <a:pt x="161607" y="5537"/>
                  </a:lnTo>
                  <a:lnTo>
                    <a:pt x="117475" y="21310"/>
                  </a:lnTo>
                  <a:lnTo>
                    <a:pt x="78536" y="46062"/>
                  </a:lnTo>
                  <a:lnTo>
                    <a:pt x="46062" y="78536"/>
                  </a:lnTo>
                  <a:lnTo>
                    <a:pt x="21323" y="117462"/>
                  </a:lnTo>
                  <a:lnTo>
                    <a:pt x="5537" y="161594"/>
                  </a:lnTo>
                  <a:lnTo>
                    <a:pt x="0" y="209677"/>
                  </a:lnTo>
                  <a:lnTo>
                    <a:pt x="0" y="1383931"/>
                  </a:lnTo>
                  <a:lnTo>
                    <a:pt x="5537" y="1432013"/>
                  </a:lnTo>
                  <a:lnTo>
                    <a:pt x="21323" y="1476146"/>
                  </a:lnTo>
                  <a:lnTo>
                    <a:pt x="46062" y="1515071"/>
                  </a:lnTo>
                  <a:lnTo>
                    <a:pt x="78536" y="1547545"/>
                  </a:lnTo>
                  <a:lnTo>
                    <a:pt x="117475" y="1572298"/>
                  </a:lnTo>
                  <a:lnTo>
                    <a:pt x="161607" y="1588071"/>
                  </a:lnTo>
                  <a:lnTo>
                    <a:pt x="209677" y="1593608"/>
                  </a:lnTo>
                  <a:lnTo>
                    <a:pt x="1048346" y="1593608"/>
                  </a:lnTo>
                  <a:lnTo>
                    <a:pt x="1096416" y="1588071"/>
                  </a:lnTo>
                  <a:lnTo>
                    <a:pt x="1140548" y="1572298"/>
                  </a:lnTo>
                  <a:lnTo>
                    <a:pt x="1179487" y="1547545"/>
                  </a:lnTo>
                  <a:lnTo>
                    <a:pt x="1211961" y="1515071"/>
                  </a:lnTo>
                  <a:lnTo>
                    <a:pt x="1236700" y="1476146"/>
                  </a:lnTo>
                  <a:lnTo>
                    <a:pt x="1252474" y="1432013"/>
                  </a:lnTo>
                  <a:lnTo>
                    <a:pt x="1258023" y="1383931"/>
                  </a:lnTo>
                  <a:lnTo>
                    <a:pt x="1258023" y="209677"/>
                  </a:lnTo>
                  <a:close/>
                </a:path>
                <a:path w="5164455" h="4258945">
                  <a:moveTo>
                    <a:pt x="5164048" y="372033"/>
                  </a:moveTo>
                  <a:lnTo>
                    <a:pt x="5158511" y="323964"/>
                  </a:lnTo>
                  <a:lnTo>
                    <a:pt x="5142738" y="279831"/>
                  </a:lnTo>
                  <a:lnTo>
                    <a:pt x="5117985" y="240893"/>
                  </a:lnTo>
                  <a:lnTo>
                    <a:pt x="5085512" y="208419"/>
                  </a:lnTo>
                  <a:lnTo>
                    <a:pt x="5046586" y="183680"/>
                  </a:lnTo>
                  <a:lnTo>
                    <a:pt x="5002454" y="167906"/>
                  </a:lnTo>
                  <a:lnTo>
                    <a:pt x="4954371" y="162356"/>
                  </a:lnTo>
                  <a:lnTo>
                    <a:pt x="4115714" y="162356"/>
                  </a:lnTo>
                  <a:lnTo>
                    <a:pt x="4067632" y="167906"/>
                  </a:lnTo>
                  <a:lnTo>
                    <a:pt x="4023499" y="183680"/>
                  </a:lnTo>
                  <a:lnTo>
                    <a:pt x="3984574" y="208419"/>
                  </a:lnTo>
                  <a:lnTo>
                    <a:pt x="3952100" y="240893"/>
                  </a:lnTo>
                  <a:lnTo>
                    <a:pt x="3927348" y="279831"/>
                  </a:lnTo>
                  <a:lnTo>
                    <a:pt x="3911574" y="323964"/>
                  </a:lnTo>
                  <a:lnTo>
                    <a:pt x="3906037" y="372033"/>
                  </a:lnTo>
                  <a:lnTo>
                    <a:pt x="3906037" y="4049204"/>
                  </a:lnTo>
                  <a:lnTo>
                    <a:pt x="3911574" y="4097274"/>
                  </a:lnTo>
                  <a:lnTo>
                    <a:pt x="3927348" y="4141406"/>
                  </a:lnTo>
                  <a:lnTo>
                    <a:pt x="3952100" y="4180344"/>
                  </a:lnTo>
                  <a:lnTo>
                    <a:pt x="3984574" y="4212806"/>
                  </a:lnTo>
                  <a:lnTo>
                    <a:pt x="4023499" y="4237558"/>
                  </a:lnTo>
                  <a:lnTo>
                    <a:pt x="4067632" y="4253331"/>
                  </a:lnTo>
                  <a:lnTo>
                    <a:pt x="4115714" y="4258869"/>
                  </a:lnTo>
                  <a:lnTo>
                    <a:pt x="4954371" y="4258869"/>
                  </a:lnTo>
                  <a:lnTo>
                    <a:pt x="5002454" y="4253331"/>
                  </a:lnTo>
                  <a:lnTo>
                    <a:pt x="5046586" y="4237558"/>
                  </a:lnTo>
                  <a:lnTo>
                    <a:pt x="5085512" y="4212806"/>
                  </a:lnTo>
                  <a:lnTo>
                    <a:pt x="5117985" y="4180344"/>
                  </a:lnTo>
                  <a:lnTo>
                    <a:pt x="5142738" y="4141406"/>
                  </a:lnTo>
                  <a:lnTo>
                    <a:pt x="5158511" y="4097274"/>
                  </a:lnTo>
                  <a:lnTo>
                    <a:pt x="5164048" y="4049204"/>
                  </a:lnTo>
                  <a:lnTo>
                    <a:pt x="5164048" y="372033"/>
                  </a:lnTo>
                  <a:close/>
                </a:path>
              </a:pathLst>
            </a:custGeom>
            <a:solidFill>
              <a:srgbClr val="FFFF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0855" y="1444752"/>
              <a:ext cx="865631" cy="11430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95816" y="1444752"/>
              <a:ext cx="710183" cy="114300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416375" y="5535167"/>
            <a:ext cx="1480185" cy="75438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ct val="90600"/>
              </a:lnSpc>
              <a:spcBef>
                <a:spcPts val="29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Need an 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extra-level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1700" spc="-5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implement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375279" y="1642298"/>
            <a:ext cx="5140960" cy="680085"/>
          </a:xfrm>
          <a:prstGeom prst="rect">
            <a:avLst/>
          </a:prstGeom>
          <a:solidFill>
            <a:srgbClr val="FFFDF0"/>
          </a:solidFill>
          <a:ln w="10159">
            <a:solidFill>
              <a:srgbClr val="7F7F7F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151765" marR="146050" indent="241300">
              <a:lnSpc>
                <a:spcPts val="2090"/>
              </a:lnSpc>
              <a:spcBef>
                <a:spcPts val="635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Improve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performance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queries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on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non-primary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but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impose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overhead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84357" y="6376416"/>
            <a:ext cx="9248775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55980" algn="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Instructor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Verdana"/>
              <a:cs typeface="Verdana"/>
            </a:endParaRPr>
          </a:p>
          <a:p>
            <a:pPr marL="50800">
              <a:lnSpc>
                <a:spcPct val="100000"/>
              </a:lnSpc>
            </a:pP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[based in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part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Figure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11.6,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Silberschatz,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Korth,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Sudarshan,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“Database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System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Concepts,”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6</a:t>
            </a:r>
            <a:r>
              <a:rPr sz="1350" spc="-22" baseline="24691" dirty="0">
                <a:solidFill>
                  <a:srgbClr val="292934"/>
                </a:solidFill>
                <a:latin typeface="Verdana"/>
                <a:cs typeface="Verdana"/>
              </a:rPr>
              <a:t>th</a:t>
            </a:r>
            <a:r>
              <a:rPr sz="1350" spc="179" baseline="2469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Ed.,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page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484]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0360" y="331216"/>
            <a:ext cx="431482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O</a:t>
            </a:r>
            <a:r>
              <a:rPr spc="-125" dirty="0"/>
              <a:t>r</a:t>
            </a:r>
            <a:r>
              <a:rPr spc="-130" dirty="0"/>
              <a:t>d</a:t>
            </a:r>
            <a:r>
              <a:rPr spc="-125" dirty="0"/>
              <a:t>ere</a:t>
            </a:r>
            <a:r>
              <a:rPr dirty="0"/>
              <a:t>d</a:t>
            </a:r>
            <a:r>
              <a:rPr spc="-250" dirty="0"/>
              <a:t> </a:t>
            </a:r>
            <a:r>
              <a:rPr spc="-125" dirty="0"/>
              <a:t>I</a:t>
            </a:r>
            <a:r>
              <a:rPr spc="-130" dirty="0"/>
              <a:t>nd</a:t>
            </a:r>
            <a:r>
              <a:rPr spc="-125" dirty="0"/>
              <a:t>e</a:t>
            </a:r>
            <a:r>
              <a:rPr dirty="0"/>
              <a:t>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1361" y="3962400"/>
            <a:ext cx="8234045" cy="273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285" indent="-236220">
              <a:lnSpc>
                <a:spcPct val="100000"/>
              </a:lnSpc>
              <a:spcBef>
                <a:spcPts val="100"/>
              </a:spcBef>
              <a:buSzPct val="86956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Unique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record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5" dirty="0">
                <a:solidFill>
                  <a:srgbClr val="292934"/>
                </a:solidFill>
                <a:latin typeface="Verdana"/>
                <a:cs typeface="Verdana"/>
              </a:rPr>
              <a:t>(i.e.,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1:1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mapping)</a:t>
            </a:r>
            <a:endParaRPr sz="2300">
              <a:latin typeface="Verdana"/>
              <a:cs typeface="Verdana"/>
            </a:endParaRPr>
          </a:p>
          <a:p>
            <a:pPr marL="248285" marR="5080" indent="-236220">
              <a:lnSpc>
                <a:spcPct val="101699"/>
              </a:lnSpc>
              <a:spcBef>
                <a:spcPts val="1775"/>
              </a:spcBef>
              <a:buSzPct val="86956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Since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keys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stored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sorted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40" dirty="0">
                <a:solidFill>
                  <a:srgbClr val="292934"/>
                </a:solidFill>
                <a:latin typeface="Verdana"/>
                <a:cs typeface="Verdana"/>
              </a:rPr>
              <a:t>order,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performance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operation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quite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efficient</a:t>
            </a:r>
            <a:endParaRPr sz="2300">
              <a:latin typeface="Verdana"/>
              <a:cs typeface="Verdana"/>
            </a:endParaRPr>
          </a:p>
          <a:p>
            <a:pPr marL="248285" indent="-236220">
              <a:lnSpc>
                <a:spcPct val="100000"/>
              </a:lnSpc>
              <a:spcBef>
                <a:spcPts val="1755"/>
              </a:spcBef>
              <a:buSzPct val="86956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300" spc="-60" dirty="0">
                <a:solidFill>
                  <a:srgbClr val="292934"/>
                </a:solidFill>
                <a:latin typeface="Verdana"/>
                <a:cs typeface="Verdana"/>
              </a:rPr>
              <a:t>Two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types:</a:t>
            </a:r>
            <a:endParaRPr sz="2300">
              <a:latin typeface="Verdana"/>
              <a:cs typeface="Verdana"/>
            </a:endParaRPr>
          </a:p>
          <a:p>
            <a:pPr marL="734060" lvl="1" indent="-236220">
              <a:lnSpc>
                <a:spcPct val="100000"/>
              </a:lnSpc>
              <a:spcBef>
                <a:spcPts val="1135"/>
              </a:spcBef>
              <a:buSzPct val="85714"/>
              <a:buFont typeface="Arial MT"/>
              <a:buChar char="•"/>
              <a:tabLst>
                <a:tab pos="733425" algn="l"/>
                <a:tab pos="73406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Dense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endParaRPr sz="2100">
              <a:latin typeface="Verdana"/>
              <a:cs typeface="Verdana"/>
            </a:endParaRPr>
          </a:p>
          <a:p>
            <a:pPr marL="734060" lvl="1" indent="-236220">
              <a:lnSpc>
                <a:spcPct val="100000"/>
              </a:lnSpc>
              <a:spcBef>
                <a:spcPts val="480"/>
              </a:spcBef>
              <a:buSzPct val="85714"/>
              <a:buFont typeface="Arial MT"/>
              <a:buChar char="•"/>
              <a:tabLst>
                <a:tab pos="733425" algn="l"/>
                <a:tab pos="73406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Sparse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41243" y="2309864"/>
            <a:ext cx="5116830" cy="385445"/>
            <a:chOff x="2341243" y="2309864"/>
            <a:chExt cx="5116830" cy="385445"/>
          </a:xfrm>
        </p:grpSpPr>
        <p:sp>
          <p:nvSpPr>
            <p:cNvPr id="5" name="object 5"/>
            <p:cNvSpPr/>
            <p:nvPr/>
          </p:nvSpPr>
          <p:spPr>
            <a:xfrm>
              <a:off x="2346323" y="2314944"/>
              <a:ext cx="2550160" cy="375285"/>
            </a:xfrm>
            <a:custGeom>
              <a:avLst/>
              <a:gdLst/>
              <a:ahLst/>
              <a:cxnLst/>
              <a:rect l="l" t="t" r="r" b="b"/>
              <a:pathLst>
                <a:path w="2550160" h="375285">
                  <a:moveTo>
                    <a:pt x="0" y="0"/>
                  </a:moveTo>
                  <a:lnTo>
                    <a:pt x="2549865" y="0"/>
                  </a:lnTo>
                  <a:lnTo>
                    <a:pt x="2549865" y="375021"/>
                  </a:lnTo>
                  <a:lnTo>
                    <a:pt x="0" y="375021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2939" y="2314944"/>
              <a:ext cx="2550160" cy="375285"/>
            </a:xfrm>
            <a:custGeom>
              <a:avLst/>
              <a:gdLst/>
              <a:ahLst/>
              <a:cxnLst/>
              <a:rect l="l" t="t" r="r" b="b"/>
              <a:pathLst>
                <a:path w="2550159" h="375285">
                  <a:moveTo>
                    <a:pt x="0" y="0"/>
                  </a:moveTo>
                  <a:lnTo>
                    <a:pt x="2549865" y="0"/>
                  </a:lnTo>
                  <a:lnTo>
                    <a:pt x="2549865" y="375021"/>
                  </a:lnTo>
                  <a:lnTo>
                    <a:pt x="0" y="375021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51361" y="1075943"/>
            <a:ext cx="6996430" cy="158813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48285" indent="-236220">
              <a:lnSpc>
                <a:spcPct val="100000"/>
              </a:lnSpc>
              <a:spcBef>
                <a:spcPts val="1225"/>
              </a:spcBef>
              <a:buSzPct val="86956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Created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basis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endParaRPr sz="2300">
              <a:latin typeface="Verdana"/>
              <a:cs typeface="Verdana"/>
            </a:endParaRPr>
          </a:p>
          <a:p>
            <a:pPr marL="248285" indent="-236220">
              <a:lnSpc>
                <a:spcPct val="100000"/>
              </a:lnSpc>
              <a:spcBef>
                <a:spcPts val="1130"/>
              </a:spcBef>
              <a:buSzPct val="86956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Ordered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file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fixed,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two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fields</a:t>
            </a:r>
            <a:endParaRPr sz="2300">
              <a:latin typeface="Verdana"/>
              <a:cs typeface="Verdana"/>
            </a:endParaRPr>
          </a:p>
          <a:p>
            <a:pPr marL="2489835">
              <a:lnSpc>
                <a:spcPct val="100000"/>
              </a:lnSpc>
              <a:spcBef>
                <a:spcPts val="2245"/>
              </a:spcBef>
              <a:tabLst>
                <a:tab pos="4817110" algn="l"/>
              </a:tabLst>
            </a:pPr>
            <a:r>
              <a:rPr sz="1900" spc="5" dirty="0">
                <a:solidFill>
                  <a:srgbClr val="011EAA"/>
                </a:solidFill>
                <a:latin typeface="Verdana"/>
                <a:cs typeface="Verdana"/>
              </a:rPr>
              <a:t>Search</a:t>
            </a:r>
            <a:r>
              <a:rPr sz="1900" spc="2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011EAA"/>
                </a:solidFill>
                <a:latin typeface="Verdana"/>
                <a:cs typeface="Verdana"/>
              </a:rPr>
              <a:t>key	</a:t>
            </a:r>
            <a:r>
              <a:rPr sz="1900" spc="5" dirty="0">
                <a:solidFill>
                  <a:srgbClr val="407700"/>
                </a:solidFill>
                <a:latin typeface="Verdana"/>
                <a:cs typeface="Verdana"/>
              </a:rPr>
              <a:t>Data</a:t>
            </a:r>
            <a:r>
              <a:rPr sz="1900" spc="-1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407700"/>
                </a:solidFill>
                <a:latin typeface="Verdana"/>
                <a:cs typeface="Verdana"/>
              </a:rPr>
              <a:t>reference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3154" y="2732023"/>
            <a:ext cx="2510790" cy="65976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329565" algn="r">
              <a:lnSpc>
                <a:spcPts val="1580"/>
              </a:lnSpc>
              <a:spcBef>
                <a:spcPts val="335"/>
              </a:spcBef>
            </a:pPr>
            <a:r>
              <a:rPr sz="1500" spc="-15" dirty="0">
                <a:solidFill>
                  <a:srgbClr val="011EAA"/>
                </a:solidFill>
                <a:latin typeface="Verdana"/>
                <a:cs typeface="Verdana"/>
              </a:rPr>
              <a:t>May</a:t>
            </a:r>
            <a:r>
              <a:rPr sz="1500" spc="-4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be</a:t>
            </a:r>
            <a:r>
              <a:rPr sz="1500" spc="-3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primary</a:t>
            </a:r>
            <a:r>
              <a:rPr sz="1500" spc="-4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11EAA"/>
                </a:solidFill>
                <a:latin typeface="Verdana"/>
                <a:cs typeface="Verdana"/>
              </a:rPr>
              <a:t>key</a:t>
            </a:r>
            <a:r>
              <a:rPr sz="1500" spc="-4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or </a:t>
            </a:r>
            <a:r>
              <a:rPr sz="1500" spc="-509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11EAA"/>
                </a:solidFill>
                <a:latin typeface="Verdana"/>
                <a:cs typeface="Verdana"/>
              </a:rPr>
              <a:t>candidate</a:t>
            </a:r>
            <a:r>
              <a:rPr sz="1500" spc="-2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11EAA"/>
                </a:solidFill>
                <a:latin typeface="Verdana"/>
                <a:cs typeface="Verdana"/>
              </a:rPr>
              <a:t>key</a:t>
            </a:r>
            <a:r>
              <a:rPr sz="1500" spc="-2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of</a:t>
            </a:r>
            <a:r>
              <a:rPr sz="1500" spc="-2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the</a:t>
            </a:r>
            <a:r>
              <a:rPr sz="1500" spc="-2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table</a:t>
            </a:r>
            <a:endParaRPr sz="1500">
              <a:latin typeface="Verdana"/>
              <a:cs typeface="Verdana"/>
            </a:endParaRPr>
          </a:p>
          <a:p>
            <a:pPr marR="5715" algn="r">
              <a:lnSpc>
                <a:spcPts val="1595"/>
              </a:lnSpc>
            </a:pP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(sorted</a:t>
            </a:r>
            <a:r>
              <a:rPr sz="1500" spc="-11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order)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09944" y="2732023"/>
            <a:ext cx="3268345" cy="45529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335"/>
              </a:spcBef>
            </a:pP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Hold</a:t>
            </a:r>
            <a:r>
              <a:rPr sz="1500" spc="-2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the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address</a:t>
            </a:r>
            <a:r>
              <a:rPr sz="1500" spc="-3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of</a:t>
            </a:r>
            <a:r>
              <a:rPr sz="1500" spc="-3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the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disk</a:t>
            </a:r>
            <a:r>
              <a:rPr sz="1500" spc="-2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block </a:t>
            </a:r>
            <a:r>
              <a:rPr sz="1500" spc="-51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where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the</a:t>
            </a:r>
            <a:r>
              <a:rPr sz="1500" spc="-1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407700"/>
                </a:solidFill>
                <a:latin typeface="Verdana"/>
                <a:cs typeface="Verdana"/>
              </a:rPr>
              <a:t>key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15" dirty="0">
                <a:solidFill>
                  <a:srgbClr val="407700"/>
                </a:solidFill>
                <a:latin typeface="Verdana"/>
                <a:cs typeface="Verdana"/>
              </a:rPr>
              <a:t>value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407700"/>
                </a:solidFill>
                <a:latin typeface="Verdana"/>
                <a:cs typeface="Verdana"/>
              </a:rPr>
              <a:t>can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be</a:t>
            </a:r>
            <a:r>
              <a:rPr sz="1500" spc="-1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found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9710" y="2880814"/>
            <a:ext cx="6600332" cy="32583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74126" y="331216"/>
            <a:ext cx="3742054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D</a:t>
            </a:r>
            <a:r>
              <a:rPr spc="-125" dirty="0"/>
              <a:t>e</a:t>
            </a:r>
            <a:r>
              <a:rPr spc="-135" dirty="0"/>
              <a:t>n</a:t>
            </a:r>
            <a:r>
              <a:rPr spc="-130" dirty="0"/>
              <a:t>s</a:t>
            </a:r>
            <a:r>
              <a:rPr dirty="0"/>
              <a:t>e</a:t>
            </a:r>
            <a:r>
              <a:rPr spc="-245" dirty="0"/>
              <a:t> </a:t>
            </a:r>
            <a:r>
              <a:rPr spc="-120" dirty="0"/>
              <a:t>I</a:t>
            </a:r>
            <a:r>
              <a:rPr spc="-135" dirty="0"/>
              <a:t>n</a:t>
            </a:r>
            <a:r>
              <a:rPr spc="-130" dirty="0"/>
              <a:t>d</a:t>
            </a:r>
            <a:r>
              <a:rPr spc="-125" dirty="0"/>
              <a:t>e</a:t>
            </a:r>
            <a:r>
              <a:rPr dirty="0"/>
              <a:t>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1361" y="1168400"/>
            <a:ext cx="652462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285" indent="-236220">
              <a:lnSpc>
                <a:spcPct val="100000"/>
              </a:lnSpc>
              <a:spcBef>
                <a:spcPts val="100"/>
              </a:spcBef>
              <a:buSzPct val="85714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record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created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every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1361" y="1497583"/>
            <a:ext cx="5702300" cy="842644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8285" indent="-236220">
              <a:lnSpc>
                <a:spcPct val="100000"/>
              </a:lnSpc>
              <a:spcBef>
                <a:spcPts val="795"/>
              </a:spcBef>
              <a:buSzPct val="85714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more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space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store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records</a:t>
            </a:r>
            <a:endParaRPr sz="2100">
              <a:latin typeface="Verdana"/>
              <a:cs typeface="Verdana"/>
            </a:endParaRPr>
          </a:p>
          <a:p>
            <a:pPr marL="248285" indent="-236220">
              <a:lnSpc>
                <a:spcPct val="100000"/>
              </a:lnSpc>
              <a:spcBef>
                <a:spcPts val="695"/>
              </a:spcBef>
              <a:buSzPct val="85714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Example: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search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key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is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primary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key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5430" y="5959855"/>
            <a:ext cx="2513330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655"/>
              </a:lnSpc>
              <a:spcBef>
                <a:spcPts val="100"/>
              </a:spcBef>
            </a:pPr>
            <a:r>
              <a:rPr sz="1500" spc="-10" dirty="0">
                <a:solidFill>
                  <a:srgbClr val="011EAA"/>
                </a:solidFill>
                <a:latin typeface="Verdana"/>
                <a:cs typeface="Verdana"/>
              </a:rPr>
              <a:t>Instructor</a:t>
            </a:r>
            <a:r>
              <a:rPr sz="1500" spc="-2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file</a:t>
            </a:r>
            <a:r>
              <a:rPr sz="1500" spc="-2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11EAA"/>
                </a:solidFill>
                <a:latin typeface="Verdana"/>
                <a:cs typeface="Verdana"/>
              </a:rPr>
              <a:t>is</a:t>
            </a:r>
            <a:r>
              <a:rPr sz="1500" spc="-2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sorted</a:t>
            </a:r>
            <a:r>
              <a:rPr sz="1500" spc="-2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by</a:t>
            </a:r>
            <a:endParaRPr sz="1500">
              <a:latin typeface="Verdana"/>
              <a:cs typeface="Verdana"/>
            </a:endParaRPr>
          </a:p>
          <a:p>
            <a:pPr marR="5715" algn="r">
              <a:lnSpc>
                <a:spcPts val="1550"/>
              </a:lnSpc>
            </a:pPr>
            <a:r>
              <a:rPr sz="1500" spc="-10" dirty="0">
                <a:solidFill>
                  <a:srgbClr val="011EAA"/>
                </a:solidFill>
                <a:latin typeface="Verdana"/>
                <a:cs typeface="Verdana"/>
              </a:rPr>
              <a:t>instructor’s</a:t>
            </a:r>
            <a:r>
              <a:rPr sz="1500" spc="-9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i="1" spc="-5" dirty="0">
                <a:solidFill>
                  <a:srgbClr val="011EAA"/>
                </a:solidFill>
                <a:latin typeface="Verdana"/>
                <a:cs typeface="Verdana"/>
              </a:rPr>
              <a:t>ID</a:t>
            </a:r>
            <a:endParaRPr sz="1500">
              <a:latin typeface="Verdana"/>
              <a:cs typeface="Verdana"/>
            </a:endParaRPr>
          </a:p>
          <a:p>
            <a:pPr marR="6350" algn="r">
              <a:lnSpc>
                <a:spcPts val="1689"/>
              </a:lnSpc>
            </a:pPr>
            <a:r>
              <a:rPr sz="1500" spc="-10" dirty="0">
                <a:solidFill>
                  <a:srgbClr val="011EAA"/>
                </a:solidFill>
                <a:latin typeface="Verdana"/>
                <a:cs typeface="Verdana"/>
              </a:rPr>
              <a:t>(every</a:t>
            </a:r>
            <a:r>
              <a:rPr sz="1500" spc="-4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11EAA"/>
                </a:solidFill>
                <a:latin typeface="Verdana"/>
                <a:cs typeface="Verdana"/>
              </a:rPr>
              <a:t>search</a:t>
            </a:r>
            <a:r>
              <a:rPr sz="1500" spc="-3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11EAA"/>
                </a:solidFill>
                <a:latin typeface="Verdana"/>
                <a:cs typeface="Verdana"/>
              </a:rPr>
              <a:t>key</a:t>
            </a:r>
            <a:r>
              <a:rPr sz="1500" spc="-4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11EAA"/>
                </a:solidFill>
                <a:latin typeface="Verdana"/>
                <a:cs typeface="Verdana"/>
              </a:rPr>
              <a:t>valued)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67287" y="6301232"/>
            <a:ext cx="33521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407700"/>
                </a:solidFill>
                <a:latin typeface="Verdana"/>
                <a:cs typeface="Verdana"/>
              </a:rPr>
              <a:t>Point</a:t>
            </a:r>
            <a:r>
              <a:rPr sz="1500" spc="-2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to</a:t>
            </a:r>
            <a:r>
              <a:rPr sz="1500" spc="-2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the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real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record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on</a:t>
            </a:r>
            <a:r>
              <a:rPr sz="1500" spc="-2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the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disk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32304" y="2938272"/>
            <a:ext cx="6931659" cy="3380104"/>
            <a:chOff x="2432304" y="2938272"/>
            <a:chExt cx="6931659" cy="3380104"/>
          </a:xfrm>
        </p:grpSpPr>
        <p:sp>
          <p:nvSpPr>
            <p:cNvPr id="9" name="object 9"/>
            <p:cNvSpPr/>
            <p:nvPr/>
          </p:nvSpPr>
          <p:spPr>
            <a:xfrm>
              <a:off x="4599564" y="5925169"/>
              <a:ext cx="253365" cy="393065"/>
            </a:xfrm>
            <a:custGeom>
              <a:avLst/>
              <a:gdLst/>
              <a:ahLst/>
              <a:cxnLst/>
              <a:rect l="l" t="t" r="r" b="b"/>
              <a:pathLst>
                <a:path w="253364" h="393064">
                  <a:moveTo>
                    <a:pt x="48009" y="65781"/>
                  </a:moveTo>
                  <a:lnTo>
                    <a:pt x="39444" y="71247"/>
                  </a:lnTo>
                  <a:lnTo>
                    <a:pt x="244715" y="392877"/>
                  </a:lnTo>
                  <a:lnTo>
                    <a:pt x="253278" y="387410"/>
                  </a:lnTo>
                  <a:lnTo>
                    <a:pt x="48009" y="65781"/>
                  </a:lnTo>
                  <a:close/>
                </a:path>
                <a:path w="253364" h="393064">
                  <a:moveTo>
                    <a:pt x="0" y="0"/>
                  </a:moveTo>
                  <a:lnTo>
                    <a:pt x="9469" y="90378"/>
                  </a:lnTo>
                  <a:lnTo>
                    <a:pt x="39444" y="71247"/>
                  </a:lnTo>
                  <a:lnTo>
                    <a:pt x="32156" y="59828"/>
                  </a:lnTo>
                  <a:lnTo>
                    <a:pt x="40721" y="54362"/>
                  </a:lnTo>
                  <a:lnTo>
                    <a:pt x="65901" y="54362"/>
                  </a:lnTo>
                  <a:lnTo>
                    <a:pt x="77984" y="46650"/>
                  </a:lnTo>
                  <a:lnTo>
                    <a:pt x="0" y="0"/>
                  </a:lnTo>
                  <a:close/>
                </a:path>
                <a:path w="253364" h="393064">
                  <a:moveTo>
                    <a:pt x="40721" y="54362"/>
                  </a:moveTo>
                  <a:lnTo>
                    <a:pt x="32156" y="59828"/>
                  </a:lnTo>
                  <a:lnTo>
                    <a:pt x="39444" y="71247"/>
                  </a:lnTo>
                  <a:lnTo>
                    <a:pt x="48009" y="65781"/>
                  </a:lnTo>
                  <a:lnTo>
                    <a:pt x="40721" y="54362"/>
                  </a:lnTo>
                  <a:close/>
                </a:path>
                <a:path w="253364" h="393064">
                  <a:moveTo>
                    <a:pt x="65901" y="54362"/>
                  </a:moveTo>
                  <a:lnTo>
                    <a:pt x="40721" y="54362"/>
                  </a:lnTo>
                  <a:lnTo>
                    <a:pt x="48009" y="65781"/>
                  </a:lnTo>
                  <a:lnTo>
                    <a:pt x="65901" y="54362"/>
                  </a:lnTo>
                  <a:close/>
                </a:path>
              </a:pathLst>
            </a:custGeom>
            <a:solidFill>
              <a:srgbClr val="407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59341" y="4653559"/>
              <a:ext cx="6304280" cy="353060"/>
            </a:xfrm>
            <a:custGeom>
              <a:avLst/>
              <a:gdLst/>
              <a:ahLst/>
              <a:cxnLst/>
              <a:rect l="l" t="t" r="r" b="b"/>
              <a:pathLst>
                <a:path w="6304280" h="353060">
                  <a:moveTo>
                    <a:pt x="1258011" y="72009"/>
                  </a:moveTo>
                  <a:lnTo>
                    <a:pt x="1253591" y="50152"/>
                  </a:lnTo>
                  <a:lnTo>
                    <a:pt x="1241564" y="32308"/>
                  </a:lnTo>
                  <a:lnTo>
                    <a:pt x="1223708" y="20281"/>
                  </a:lnTo>
                  <a:lnTo>
                    <a:pt x="1201864" y="15862"/>
                  </a:lnTo>
                  <a:lnTo>
                    <a:pt x="56146" y="15862"/>
                  </a:lnTo>
                  <a:lnTo>
                    <a:pt x="34290" y="20281"/>
                  </a:lnTo>
                  <a:lnTo>
                    <a:pt x="16446" y="32308"/>
                  </a:lnTo>
                  <a:lnTo>
                    <a:pt x="4406" y="50152"/>
                  </a:lnTo>
                  <a:lnTo>
                    <a:pt x="0" y="72009"/>
                  </a:lnTo>
                  <a:lnTo>
                    <a:pt x="0" y="296595"/>
                  </a:lnTo>
                  <a:lnTo>
                    <a:pt x="4406" y="318452"/>
                  </a:lnTo>
                  <a:lnTo>
                    <a:pt x="16446" y="336296"/>
                  </a:lnTo>
                  <a:lnTo>
                    <a:pt x="34290" y="348335"/>
                  </a:lnTo>
                  <a:lnTo>
                    <a:pt x="56146" y="352742"/>
                  </a:lnTo>
                  <a:lnTo>
                    <a:pt x="1201864" y="352742"/>
                  </a:lnTo>
                  <a:lnTo>
                    <a:pt x="1223708" y="348335"/>
                  </a:lnTo>
                  <a:lnTo>
                    <a:pt x="1241564" y="336296"/>
                  </a:lnTo>
                  <a:lnTo>
                    <a:pt x="1253591" y="318452"/>
                  </a:lnTo>
                  <a:lnTo>
                    <a:pt x="1258011" y="296595"/>
                  </a:lnTo>
                  <a:lnTo>
                    <a:pt x="1258011" y="72009"/>
                  </a:lnTo>
                  <a:close/>
                </a:path>
                <a:path w="6304280" h="353060">
                  <a:moveTo>
                    <a:pt x="6304216" y="56146"/>
                  </a:moveTo>
                  <a:lnTo>
                    <a:pt x="6299809" y="34290"/>
                  </a:lnTo>
                  <a:lnTo>
                    <a:pt x="6287770" y="16446"/>
                  </a:lnTo>
                  <a:lnTo>
                    <a:pt x="6269926" y="4419"/>
                  </a:lnTo>
                  <a:lnTo>
                    <a:pt x="6248070" y="0"/>
                  </a:lnTo>
                  <a:lnTo>
                    <a:pt x="1776171" y="0"/>
                  </a:lnTo>
                  <a:lnTo>
                    <a:pt x="1754314" y="4419"/>
                  </a:lnTo>
                  <a:lnTo>
                    <a:pt x="1736471" y="16446"/>
                  </a:lnTo>
                  <a:lnTo>
                    <a:pt x="1724431" y="34290"/>
                  </a:lnTo>
                  <a:lnTo>
                    <a:pt x="1720024" y="56146"/>
                  </a:lnTo>
                  <a:lnTo>
                    <a:pt x="1720024" y="280733"/>
                  </a:lnTo>
                  <a:lnTo>
                    <a:pt x="1724431" y="302590"/>
                  </a:lnTo>
                  <a:lnTo>
                    <a:pt x="1736471" y="320433"/>
                  </a:lnTo>
                  <a:lnTo>
                    <a:pt x="1754314" y="332473"/>
                  </a:lnTo>
                  <a:lnTo>
                    <a:pt x="1776171" y="336880"/>
                  </a:lnTo>
                  <a:lnTo>
                    <a:pt x="6248070" y="336880"/>
                  </a:lnTo>
                  <a:lnTo>
                    <a:pt x="6269926" y="332473"/>
                  </a:lnTo>
                  <a:lnTo>
                    <a:pt x="6287770" y="320433"/>
                  </a:lnTo>
                  <a:lnTo>
                    <a:pt x="6299809" y="302590"/>
                  </a:lnTo>
                  <a:lnTo>
                    <a:pt x="6304216" y="280733"/>
                  </a:lnTo>
                  <a:lnTo>
                    <a:pt x="6304216" y="56146"/>
                  </a:lnTo>
                  <a:close/>
                </a:path>
              </a:pathLst>
            </a:custGeom>
            <a:solidFill>
              <a:srgbClr val="FFFF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2304" y="2938272"/>
              <a:ext cx="771144" cy="253898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066429" y="2657855"/>
            <a:ext cx="11055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endParaRPr sz="170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00" y="2840735"/>
            <a:ext cx="566928" cy="271576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48013" y="3066561"/>
            <a:ext cx="2562860" cy="2209800"/>
          </a:xfrm>
          <a:prstGeom prst="rect">
            <a:avLst/>
          </a:prstGeom>
          <a:solidFill>
            <a:srgbClr val="FFFDF0"/>
          </a:solidFill>
          <a:ln w="10159">
            <a:solidFill>
              <a:srgbClr val="7F7F7F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238760" marR="231775" indent="1270" algn="ctr">
              <a:lnSpc>
                <a:spcPct val="90500"/>
              </a:lnSpc>
              <a:spcBef>
                <a:spcPts val="875"/>
              </a:spcBef>
            </a:pP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 primary index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 that </a:t>
            </a:r>
            <a:r>
              <a:rPr sz="1800" spc="-5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dense on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1800" spc="-6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292934"/>
                </a:solidFill>
                <a:latin typeface="Verdana"/>
                <a:cs typeface="Verdana"/>
              </a:rPr>
              <a:t>primary-key, </a:t>
            </a:r>
            <a:r>
              <a:rPr sz="18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ordered table </a:t>
            </a:r>
            <a:r>
              <a:rPr sz="1800" spc="-5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C00000"/>
                </a:solidFill>
                <a:latin typeface="Verdana"/>
                <a:cs typeface="Verdana"/>
              </a:rPr>
              <a:t>redundant </a:t>
            </a:r>
            <a:r>
              <a:rPr sz="18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(requiring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 unnecessary 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spaces)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421713" y="1685811"/>
            <a:ext cx="2317115" cy="754380"/>
            <a:chOff x="7421713" y="1685811"/>
            <a:chExt cx="2317115" cy="754380"/>
          </a:xfrm>
        </p:grpSpPr>
        <p:sp>
          <p:nvSpPr>
            <p:cNvPr id="16" name="object 16"/>
            <p:cNvSpPr/>
            <p:nvPr/>
          </p:nvSpPr>
          <p:spPr>
            <a:xfrm>
              <a:off x="7435806" y="1699905"/>
              <a:ext cx="2288540" cy="725805"/>
            </a:xfrm>
            <a:custGeom>
              <a:avLst/>
              <a:gdLst/>
              <a:ahLst/>
              <a:cxnLst/>
              <a:rect l="l" t="t" r="r" b="b"/>
              <a:pathLst>
                <a:path w="2288540" h="725805">
                  <a:moveTo>
                    <a:pt x="2167376" y="0"/>
                  </a:moveTo>
                  <a:lnTo>
                    <a:pt x="120968" y="0"/>
                  </a:lnTo>
                  <a:lnTo>
                    <a:pt x="73882" y="9506"/>
                  </a:lnTo>
                  <a:lnTo>
                    <a:pt x="35430" y="35431"/>
                  </a:lnTo>
                  <a:lnTo>
                    <a:pt x="9506" y="73883"/>
                  </a:lnTo>
                  <a:lnTo>
                    <a:pt x="0" y="120970"/>
                  </a:lnTo>
                  <a:lnTo>
                    <a:pt x="0" y="604832"/>
                  </a:lnTo>
                  <a:lnTo>
                    <a:pt x="9506" y="651916"/>
                  </a:lnTo>
                  <a:lnTo>
                    <a:pt x="35430" y="690367"/>
                  </a:lnTo>
                  <a:lnTo>
                    <a:pt x="73882" y="716292"/>
                  </a:lnTo>
                  <a:lnTo>
                    <a:pt x="120968" y="725798"/>
                  </a:lnTo>
                  <a:lnTo>
                    <a:pt x="2167376" y="725798"/>
                  </a:lnTo>
                  <a:lnTo>
                    <a:pt x="2214463" y="716292"/>
                  </a:lnTo>
                  <a:lnTo>
                    <a:pt x="2252914" y="690367"/>
                  </a:lnTo>
                  <a:lnTo>
                    <a:pt x="2278839" y="651916"/>
                  </a:lnTo>
                  <a:lnTo>
                    <a:pt x="2288345" y="604832"/>
                  </a:lnTo>
                  <a:lnTo>
                    <a:pt x="2288345" y="120970"/>
                  </a:lnTo>
                  <a:lnTo>
                    <a:pt x="2278839" y="73883"/>
                  </a:lnTo>
                  <a:lnTo>
                    <a:pt x="2252914" y="35431"/>
                  </a:lnTo>
                  <a:lnTo>
                    <a:pt x="2214463" y="9506"/>
                  </a:lnTo>
                  <a:lnTo>
                    <a:pt x="2167376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35806" y="1699905"/>
              <a:ext cx="2288540" cy="725805"/>
            </a:xfrm>
            <a:custGeom>
              <a:avLst/>
              <a:gdLst/>
              <a:ahLst/>
              <a:cxnLst/>
              <a:rect l="l" t="t" r="r" b="b"/>
              <a:pathLst>
                <a:path w="2288540" h="725805">
                  <a:moveTo>
                    <a:pt x="0" y="120969"/>
                  </a:moveTo>
                  <a:lnTo>
                    <a:pt x="9506" y="73882"/>
                  </a:lnTo>
                  <a:lnTo>
                    <a:pt x="35431" y="35431"/>
                  </a:lnTo>
                  <a:lnTo>
                    <a:pt x="73882" y="9506"/>
                  </a:lnTo>
                  <a:lnTo>
                    <a:pt x="120969" y="0"/>
                  </a:lnTo>
                  <a:lnTo>
                    <a:pt x="381391" y="0"/>
                  </a:lnTo>
                  <a:lnTo>
                    <a:pt x="953477" y="0"/>
                  </a:lnTo>
                  <a:lnTo>
                    <a:pt x="2167377" y="0"/>
                  </a:lnTo>
                  <a:lnTo>
                    <a:pt x="2214463" y="9506"/>
                  </a:lnTo>
                  <a:lnTo>
                    <a:pt x="2252915" y="35431"/>
                  </a:lnTo>
                  <a:lnTo>
                    <a:pt x="2278840" y="73882"/>
                  </a:lnTo>
                  <a:lnTo>
                    <a:pt x="2288346" y="120969"/>
                  </a:lnTo>
                  <a:lnTo>
                    <a:pt x="2288346" y="423382"/>
                  </a:lnTo>
                  <a:lnTo>
                    <a:pt x="2288346" y="604831"/>
                  </a:lnTo>
                  <a:lnTo>
                    <a:pt x="2278840" y="651915"/>
                  </a:lnTo>
                  <a:lnTo>
                    <a:pt x="2252915" y="690367"/>
                  </a:lnTo>
                  <a:lnTo>
                    <a:pt x="2214463" y="716292"/>
                  </a:lnTo>
                  <a:lnTo>
                    <a:pt x="2167377" y="725798"/>
                  </a:lnTo>
                  <a:lnTo>
                    <a:pt x="953477" y="725798"/>
                  </a:lnTo>
                  <a:lnTo>
                    <a:pt x="782087" y="725798"/>
                  </a:lnTo>
                  <a:lnTo>
                    <a:pt x="381391" y="725798"/>
                  </a:lnTo>
                  <a:lnTo>
                    <a:pt x="120969" y="725798"/>
                  </a:lnTo>
                  <a:lnTo>
                    <a:pt x="73882" y="716292"/>
                  </a:lnTo>
                  <a:lnTo>
                    <a:pt x="35431" y="690367"/>
                  </a:lnTo>
                  <a:lnTo>
                    <a:pt x="9506" y="651915"/>
                  </a:lnTo>
                  <a:lnTo>
                    <a:pt x="0" y="604829"/>
                  </a:lnTo>
                  <a:lnTo>
                    <a:pt x="0" y="423382"/>
                  </a:lnTo>
                  <a:lnTo>
                    <a:pt x="0" y="120969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53632" y="1789176"/>
            <a:ext cx="1781175" cy="553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86995">
              <a:lnSpc>
                <a:spcPct val="103499"/>
              </a:lnSpc>
              <a:spcBef>
                <a:spcPts val="25"/>
              </a:spcBef>
            </a:pP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Find instructor 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17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ID</a:t>
            </a:r>
            <a:r>
              <a:rPr sz="17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“58583”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2457" y="7019945"/>
            <a:ext cx="8173084" cy="22732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[Ref: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Figure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11.4,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Silberschatz,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Korth,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Sudarshan,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“Database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System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Concepts,”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6</a:t>
            </a:r>
            <a:r>
              <a:rPr sz="1350" spc="-22" baseline="24691" dirty="0">
                <a:solidFill>
                  <a:srgbClr val="292934"/>
                </a:solidFill>
                <a:latin typeface="Verdana"/>
                <a:cs typeface="Verdana"/>
              </a:rPr>
              <a:t>th</a:t>
            </a:r>
            <a:r>
              <a:rPr sz="1350" spc="179" baseline="2469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Ed.,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page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480]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4720" y="3028890"/>
            <a:ext cx="7778894" cy="32528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66532" y="322071"/>
            <a:ext cx="3742054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D</a:t>
            </a:r>
            <a:r>
              <a:rPr spc="-125" dirty="0"/>
              <a:t>e</a:t>
            </a:r>
            <a:r>
              <a:rPr spc="-135" dirty="0"/>
              <a:t>n</a:t>
            </a:r>
            <a:r>
              <a:rPr spc="-130" dirty="0"/>
              <a:t>s</a:t>
            </a:r>
            <a:r>
              <a:rPr dirty="0"/>
              <a:t>e</a:t>
            </a:r>
            <a:r>
              <a:rPr spc="-245" dirty="0"/>
              <a:t> </a:t>
            </a:r>
            <a:r>
              <a:rPr spc="-120" dirty="0"/>
              <a:t>I</a:t>
            </a:r>
            <a:r>
              <a:rPr spc="-135" dirty="0"/>
              <a:t>n</a:t>
            </a:r>
            <a:r>
              <a:rPr spc="-130" dirty="0"/>
              <a:t>d</a:t>
            </a:r>
            <a:r>
              <a:rPr spc="-125" dirty="0"/>
              <a:t>e</a:t>
            </a:r>
            <a:r>
              <a:rPr dirty="0"/>
              <a:t>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1361" y="1140968"/>
            <a:ext cx="6205220" cy="7874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54635" indent="-242570">
              <a:lnSpc>
                <a:spcPct val="100000"/>
              </a:lnSpc>
              <a:spcBef>
                <a:spcPts val="580"/>
              </a:spcBef>
              <a:buSzPct val="85714"/>
              <a:buFont typeface="Arial MT"/>
              <a:buChar char="•"/>
              <a:tabLst>
                <a:tab pos="254635" algn="l"/>
                <a:tab pos="255270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Support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range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queries</a:t>
            </a:r>
            <a:endParaRPr sz="2100">
              <a:latin typeface="Verdana"/>
              <a:cs typeface="Verdana"/>
            </a:endParaRPr>
          </a:p>
          <a:p>
            <a:pPr marL="254635" indent="-242570">
              <a:lnSpc>
                <a:spcPct val="100000"/>
              </a:lnSpc>
              <a:spcBef>
                <a:spcPts val="480"/>
              </a:spcBef>
              <a:buSzPct val="85714"/>
              <a:buFont typeface="Arial MT"/>
              <a:buChar char="•"/>
              <a:tabLst>
                <a:tab pos="254635" algn="l"/>
                <a:tab pos="255270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Example: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search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key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 not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primary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key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2381" y="4859528"/>
            <a:ext cx="2204085" cy="64770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488315" marR="5080" indent="-476250" algn="r">
              <a:lnSpc>
                <a:spcPts val="1490"/>
              </a:lnSpc>
              <a:spcBef>
                <a:spcPts val="405"/>
              </a:spcBef>
            </a:pPr>
            <a:r>
              <a:rPr sz="1500" spc="-10" dirty="0">
                <a:solidFill>
                  <a:srgbClr val="011EAA"/>
                </a:solidFill>
                <a:latin typeface="Verdana"/>
                <a:cs typeface="Verdana"/>
              </a:rPr>
              <a:t>Instructor</a:t>
            </a:r>
            <a:r>
              <a:rPr sz="1500" spc="-2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file</a:t>
            </a:r>
            <a:r>
              <a:rPr sz="1500" spc="-2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11EAA"/>
                </a:solidFill>
                <a:latin typeface="Verdana"/>
                <a:cs typeface="Verdana"/>
              </a:rPr>
              <a:t>is</a:t>
            </a:r>
            <a:r>
              <a:rPr sz="1500" spc="-2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sorted </a:t>
            </a:r>
            <a:r>
              <a:rPr sz="1500" spc="-51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on</a:t>
            </a:r>
            <a:r>
              <a:rPr sz="1500" spc="-3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the</a:t>
            </a:r>
            <a:r>
              <a:rPr sz="1500" spc="-3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11EAA"/>
                </a:solidFill>
                <a:latin typeface="Verdana"/>
                <a:cs typeface="Verdana"/>
              </a:rPr>
              <a:t>search</a:t>
            </a:r>
            <a:r>
              <a:rPr sz="1500" spc="-3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11EAA"/>
                </a:solidFill>
                <a:latin typeface="Verdana"/>
                <a:cs typeface="Verdana"/>
              </a:rPr>
              <a:t>key</a:t>
            </a:r>
            <a:endParaRPr sz="1500">
              <a:latin typeface="Verdana"/>
              <a:cs typeface="Verdana"/>
            </a:endParaRPr>
          </a:p>
          <a:p>
            <a:pPr marR="5715" algn="r">
              <a:lnSpc>
                <a:spcPts val="1610"/>
              </a:lnSpc>
            </a:pPr>
            <a:r>
              <a:rPr sz="1500" i="1" spc="-10" dirty="0">
                <a:solidFill>
                  <a:srgbClr val="011EAA"/>
                </a:solidFill>
                <a:latin typeface="Verdana"/>
                <a:cs typeface="Verdana"/>
              </a:rPr>
              <a:t>dept-name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2483" y="6124447"/>
            <a:ext cx="565975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45"/>
              </a:lnSpc>
              <a:spcBef>
                <a:spcPts val="100"/>
              </a:spcBef>
            </a:pPr>
            <a:r>
              <a:rPr sz="1500" spc="-10" dirty="0">
                <a:solidFill>
                  <a:srgbClr val="407700"/>
                </a:solidFill>
                <a:latin typeface="Verdana"/>
                <a:cs typeface="Verdana"/>
              </a:rPr>
              <a:t>Follow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the</a:t>
            </a:r>
            <a:r>
              <a:rPr sz="1500" spc="-1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pointer</a:t>
            </a:r>
            <a:r>
              <a:rPr sz="1500" spc="-1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directly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to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the</a:t>
            </a:r>
            <a:r>
              <a:rPr sz="1500" spc="-1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first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record,</a:t>
            </a:r>
            <a:endParaRPr sz="1500">
              <a:latin typeface="Verdana"/>
              <a:cs typeface="Verdana"/>
            </a:endParaRPr>
          </a:p>
          <a:p>
            <a:pPr marL="12700" marR="5080">
              <a:lnSpc>
                <a:spcPts val="1610"/>
              </a:lnSpc>
              <a:spcBef>
                <a:spcPts val="55"/>
              </a:spcBef>
            </a:pP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then follow the pointer </a:t>
            </a:r>
            <a:r>
              <a:rPr sz="1500" dirty="0">
                <a:solidFill>
                  <a:srgbClr val="407700"/>
                </a:solidFill>
                <a:latin typeface="Verdana"/>
                <a:cs typeface="Verdana"/>
              </a:rPr>
              <a:t>in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that record to locate the next </a:t>
            </a:r>
            <a:r>
              <a:rPr sz="150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record</a:t>
            </a:r>
            <a:r>
              <a:rPr sz="1500" spc="-1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407700"/>
                </a:solidFill>
                <a:latin typeface="Verdana"/>
                <a:cs typeface="Verdana"/>
              </a:rPr>
              <a:t>in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407700"/>
                </a:solidFill>
                <a:latin typeface="Verdana"/>
                <a:cs typeface="Verdana"/>
              </a:rPr>
              <a:t>search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407700"/>
                </a:solidFill>
                <a:latin typeface="Verdana"/>
                <a:cs typeface="Verdana"/>
              </a:rPr>
              <a:t>key</a:t>
            </a:r>
            <a:r>
              <a:rPr sz="1500" spc="-1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order</a:t>
            </a:r>
            <a:r>
              <a:rPr sz="1500" spc="-1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until</a:t>
            </a:r>
            <a:r>
              <a:rPr sz="1500" spc="-1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the</a:t>
            </a:r>
            <a:r>
              <a:rPr sz="1500" spc="-1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desired</a:t>
            </a:r>
            <a:r>
              <a:rPr sz="1500" spc="-1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record</a:t>
            </a:r>
            <a:r>
              <a:rPr sz="1500" spc="-15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407700"/>
                </a:solidFill>
                <a:latin typeface="Verdana"/>
                <a:cs typeface="Verdana"/>
              </a:rPr>
              <a:t>is</a:t>
            </a:r>
            <a:r>
              <a:rPr sz="1500" spc="-20" dirty="0">
                <a:solidFill>
                  <a:srgbClr val="40770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407700"/>
                </a:solidFill>
                <a:latin typeface="Verdana"/>
                <a:cs typeface="Verdana"/>
              </a:rPr>
              <a:t>found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35152" y="2045207"/>
            <a:ext cx="8955405" cy="4097654"/>
            <a:chOff x="835152" y="2045207"/>
            <a:chExt cx="8955405" cy="4097654"/>
          </a:xfrm>
        </p:grpSpPr>
        <p:sp>
          <p:nvSpPr>
            <p:cNvPr id="8" name="object 8"/>
            <p:cNvSpPr/>
            <p:nvPr/>
          </p:nvSpPr>
          <p:spPr>
            <a:xfrm>
              <a:off x="2898004" y="5640955"/>
              <a:ext cx="300355" cy="501650"/>
            </a:xfrm>
            <a:custGeom>
              <a:avLst/>
              <a:gdLst/>
              <a:ahLst/>
              <a:cxnLst/>
              <a:rect l="l" t="t" r="r" b="b"/>
              <a:pathLst>
                <a:path w="300355" h="501650">
                  <a:moveTo>
                    <a:pt x="254421" y="67315"/>
                  </a:moveTo>
                  <a:lnTo>
                    <a:pt x="0" y="496243"/>
                  </a:lnTo>
                  <a:lnTo>
                    <a:pt x="8738" y="501426"/>
                  </a:lnTo>
                  <a:lnTo>
                    <a:pt x="263160" y="72498"/>
                  </a:lnTo>
                  <a:lnTo>
                    <a:pt x="254421" y="67315"/>
                  </a:lnTo>
                  <a:close/>
                </a:path>
                <a:path w="300355" h="501650">
                  <a:moveTo>
                    <a:pt x="296257" y="55664"/>
                  </a:moveTo>
                  <a:lnTo>
                    <a:pt x="261332" y="55664"/>
                  </a:lnTo>
                  <a:lnTo>
                    <a:pt x="270071" y="60846"/>
                  </a:lnTo>
                  <a:lnTo>
                    <a:pt x="263160" y="72498"/>
                  </a:lnTo>
                  <a:lnTo>
                    <a:pt x="293744" y="90639"/>
                  </a:lnTo>
                  <a:lnTo>
                    <a:pt x="296257" y="55664"/>
                  </a:lnTo>
                  <a:close/>
                </a:path>
                <a:path w="300355" h="501650">
                  <a:moveTo>
                    <a:pt x="261332" y="55664"/>
                  </a:moveTo>
                  <a:lnTo>
                    <a:pt x="254421" y="67315"/>
                  </a:lnTo>
                  <a:lnTo>
                    <a:pt x="263160" y="72498"/>
                  </a:lnTo>
                  <a:lnTo>
                    <a:pt x="270071" y="60846"/>
                  </a:lnTo>
                  <a:lnTo>
                    <a:pt x="261332" y="55664"/>
                  </a:lnTo>
                  <a:close/>
                </a:path>
                <a:path w="300355" h="501650">
                  <a:moveTo>
                    <a:pt x="300257" y="0"/>
                  </a:moveTo>
                  <a:lnTo>
                    <a:pt x="223837" y="49174"/>
                  </a:lnTo>
                  <a:lnTo>
                    <a:pt x="254421" y="67315"/>
                  </a:lnTo>
                  <a:lnTo>
                    <a:pt x="261332" y="55664"/>
                  </a:lnTo>
                  <a:lnTo>
                    <a:pt x="296257" y="55664"/>
                  </a:lnTo>
                  <a:lnTo>
                    <a:pt x="300257" y="0"/>
                  </a:lnTo>
                  <a:close/>
                </a:path>
              </a:pathLst>
            </a:custGeom>
            <a:solidFill>
              <a:srgbClr val="407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5152" y="2054351"/>
              <a:ext cx="1338072" cy="97840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5152" y="2045207"/>
              <a:ext cx="1335024" cy="97840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462311" y="6053328"/>
            <a:ext cx="11055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70769" y="2174359"/>
            <a:ext cx="7934959" cy="680085"/>
          </a:xfrm>
          <a:prstGeom prst="rect">
            <a:avLst/>
          </a:prstGeom>
          <a:solidFill>
            <a:srgbClr val="FFFDF0"/>
          </a:solidFill>
          <a:ln w="10159">
            <a:solidFill>
              <a:srgbClr val="7F7F7F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386080" marR="268605" indent="-109855">
              <a:lnSpc>
                <a:spcPts val="2110"/>
              </a:lnSpc>
              <a:spcBef>
                <a:spcPts val="605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Pointer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points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first</a:t>
            </a:r>
            <a:r>
              <a:rPr sz="19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record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search-value.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rest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records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sorted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27760" y="1255989"/>
            <a:ext cx="8710295" cy="4124325"/>
            <a:chOff x="1127760" y="1255989"/>
            <a:chExt cx="8710295" cy="4124325"/>
          </a:xfrm>
        </p:grpSpPr>
        <p:sp>
          <p:nvSpPr>
            <p:cNvPr id="14" name="object 14"/>
            <p:cNvSpPr/>
            <p:nvPr/>
          </p:nvSpPr>
          <p:spPr>
            <a:xfrm>
              <a:off x="1127760" y="4009923"/>
              <a:ext cx="7588884" cy="1370330"/>
            </a:xfrm>
            <a:custGeom>
              <a:avLst/>
              <a:gdLst/>
              <a:ahLst/>
              <a:cxnLst/>
              <a:rect l="l" t="t" r="r" b="b"/>
              <a:pathLst>
                <a:path w="7588884" h="1370329">
                  <a:moveTo>
                    <a:pt x="1950720" y="56146"/>
                  </a:moveTo>
                  <a:lnTo>
                    <a:pt x="1946300" y="34290"/>
                  </a:lnTo>
                  <a:lnTo>
                    <a:pt x="1934273" y="16446"/>
                  </a:lnTo>
                  <a:lnTo>
                    <a:pt x="1916417" y="4419"/>
                  </a:lnTo>
                  <a:lnTo>
                    <a:pt x="1894573" y="0"/>
                  </a:lnTo>
                  <a:lnTo>
                    <a:pt x="56146" y="0"/>
                  </a:lnTo>
                  <a:lnTo>
                    <a:pt x="34290" y="4419"/>
                  </a:lnTo>
                  <a:lnTo>
                    <a:pt x="16433" y="16446"/>
                  </a:lnTo>
                  <a:lnTo>
                    <a:pt x="4406" y="34290"/>
                  </a:lnTo>
                  <a:lnTo>
                    <a:pt x="0" y="56146"/>
                  </a:lnTo>
                  <a:lnTo>
                    <a:pt x="0" y="280733"/>
                  </a:lnTo>
                  <a:lnTo>
                    <a:pt x="4406" y="302590"/>
                  </a:lnTo>
                  <a:lnTo>
                    <a:pt x="16433" y="320446"/>
                  </a:lnTo>
                  <a:lnTo>
                    <a:pt x="34290" y="332473"/>
                  </a:lnTo>
                  <a:lnTo>
                    <a:pt x="56146" y="336880"/>
                  </a:lnTo>
                  <a:lnTo>
                    <a:pt x="1894573" y="336880"/>
                  </a:lnTo>
                  <a:lnTo>
                    <a:pt x="1916417" y="332473"/>
                  </a:lnTo>
                  <a:lnTo>
                    <a:pt x="1934273" y="320446"/>
                  </a:lnTo>
                  <a:lnTo>
                    <a:pt x="1946300" y="302590"/>
                  </a:lnTo>
                  <a:lnTo>
                    <a:pt x="1950720" y="280733"/>
                  </a:lnTo>
                  <a:lnTo>
                    <a:pt x="1950720" y="56146"/>
                  </a:lnTo>
                  <a:close/>
                </a:path>
                <a:path w="7588884" h="1370329">
                  <a:moveTo>
                    <a:pt x="7588301" y="815340"/>
                  </a:moveTo>
                  <a:lnTo>
                    <a:pt x="7583881" y="793483"/>
                  </a:lnTo>
                  <a:lnTo>
                    <a:pt x="7571854" y="775639"/>
                  </a:lnTo>
                  <a:lnTo>
                    <a:pt x="7553998" y="763612"/>
                  </a:lnTo>
                  <a:lnTo>
                    <a:pt x="7532154" y="759193"/>
                  </a:lnTo>
                  <a:lnTo>
                    <a:pt x="2494534" y="759193"/>
                  </a:lnTo>
                  <a:lnTo>
                    <a:pt x="2472690" y="763612"/>
                  </a:lnTo>
                  <a:lnTo>
                    <a:pt x="2454833" y="775639"/>
                  </a:lnTo>
                  <a:lnTo>
                    <a:pt x="2442807" y="793483"/>
                  </a:lnTo>
                  <a:lnTo>
                    <a:pt x="2438400" y="815340"/>
                  </a:lnTo>
                  <a:lnTo>
                    <a:pt x="2438400" y="1039926"/>
                  </a:lnTo>
                  <a:lnTo>
                    <a:pt x="2442807" y="1061783"/>
                  </a:lnTo>
                  <a:lnTo>
                    <a:pt x="2444648" y="1064539"/>
                  </a:lnTo>
                  <a:lnTo>
                    <a:pt x="2442807" y="1067269"/>
                  </a:lnTo>
                  <a:lnTo>
                    <a:pt x="2438400" y="1089126"/>
                  </a:lnTo>
                  <a:lnTo>
                    <a:pt x="2438400" y="1313713"/>
                  </a:lnTo>
                  <a:lnTo>
                    <a:pt x="2442807" y="1335570"/>
                  </a:lnTo>
                  <a:lnTo>
                    <a:pt x="2454833" y="1353413"/>
                  </a:lnTo>
                  <a:lnTo>
                    <a:pt x="2472690" y="1365453"/>
                  </a:lnTo>
                  <a:lnTo>
                    <a:pt x="2494534" y="1369860"/>
                  </a:lnTo>
                  <a:lnTo>
                    <a:pt x="7532154" y="1369860"/>
                  </a:lnTo>
                  <a:lnTo>
                    <a:pt x="7553998" y="1365453"/>
                  </a:lnTo>
                  <a:lnTo>
                    <a:pt x="7571854" y="1353413"/>
                  </a:lnTo>
                  <a:lnTo>
                    <a:pt x="7583881" y="1335570"/>
                  </a:lnTo>
                  <a:lnTo>
                    <a:pt x="7588301" y="1313713"/>
                  </a:lnTo>
                  <a:lnTo>
                    <a:pt x="7588301" y="1089126"/>
                  </a:lnTo>
                  <a:lnTo>
                    <a:pt x="7583881" y="1067269"/>
                  </a:lnTo>
                  <a:lnTo>
                    <a:pt x="7582027" y="1064539"/>
                  </a:lnTo>
                  <a:lnTo>
                    <a:pt x="7583881" y="1061783"/>
                  </a:lnTo>
                  <a:lnTo>
                    <a:pt x="7588301" y="1039926"/>
                  </a:lnTo>
                  <a:lnTo>
                    <a:pt x="7588301" y="815340"/>
                  </a:lnTo>
                  <a:close/>
                </a:path>
              </a:pathLst>
            </a:custGeom>
            <a:solidFill>
              <a:srgbClr val="FFFF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98071" y="1270082"/>
              <a:ext cx="3025775" cy="725805"/>
            </a:xfrm>
            <a:custGeom>
              <a:avLst/>
              <a:gdLst/>
              <a:ahLst/>
              <a:cxnLst/>
              <a:rect l="l" t="t" r="r" b="b"/>
              <a:pathLst>
                <a:path w="3025775" h="725805">
                  <a:moveTo>
                    <a:pt x="2904300" y="0"/>
                  </a:moveTo>
                  <a:lnTo>
                    <a:pt x="120967" y="0"/>
                  </a:lnTo>
                  <a:lnTo>
                    <a:pt x="73881" y="9506"/>
                  </a:lnTo>
                  <a:lnTo>
                    <a:pt x="35430" y="35430"/>
                  </a:lnTo>
                  <a:lnTo>
                    <a:pt x="9506" y="73882"/>
                  </a:lnTo>
                  <a:lnTo>
                    <a:pt x="0" y="120968"/>
                  </a:lnTo>
                  <a:lnTo>
                    <a:pt x="0" y="604833"/>
                  </a:lnTo>
                  <a:lnTo>
                    <a:pt x="9506" y="651917"/>
                  </a:lnTo>
                  <a:lnTo>
                    <a:pt x="35430" y="690368"/>
                  </a:lnTo>
                  <a:lnTo>
                    <a:pt x="73881" y="716292"/>
                  </a:lnTo>
                  <a:lnTo>
                    <a:pt x="120967" y="725798"/>
                  </a:lnTo>
                  <a:lnTo>
                    <a:pt x="2904300" y="725798"/>
                  </a:lnTo>
                  <a:lnTo>
                    <a:pt x="2951387" y="716292"/>
                  </a:lnTo>
                  <a:lnTo>
                    <a:pt x="2989838" y="690368"/>
                  </a:lnTo>
                  <a:lnTo>
                    <a:pt x="3015763" y="651917"/>
                  </a:lnTo>
                  <a:lnTo>
                    <a:pt x="3025269" y="604833"/>
                  </a:lnTo>
                  <a:lnTo>
                    <a:pt x="3025269" y="120968"/>
                  </a:lnTo>
                  <a:lnTo>
                    <a:pt x="3015763" y="73882"/>
                  </a:lnTo>
                  <a:lnTo>
                    <a:pt x="2989838" y="35430"/>
                  </a:lnTo>
                  <a:lnTo>
                    <a:pt x="2951387" y="9506"/>
                  </a:lnTo>
                  <a:lnTo>
                    <a:pt x="2904300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98071" y="1270082"/>
              <a:ext cx="3025775" cy="725805"/>
            </a:xfrm>
            <a:custGeom>
              <a:avLst/>
              <a:gdLst/>
              <a:ahLst/>
              <a:cxnLst/>
              <a:rect l="l" t="t" r="r" b="b"/>
              <a:pathLst>
                <a:path w="3025775" h="725805">
                  <a:moveTo>
                    <a:pt x="0" y="120967"/>
                  </a:moveTo>
                  <a:lnTo>
                    <a:pt x="9506" y="73881"/>
                  </a:lnTo>
                  <a:lnTo>
                    <a:pt x="35430" y="35430"/>
                  </a:lnTo>
                  <a:lnTo>
                    <a:pt x="73881" y="9506"/>
                  </a:lnTo>
                  <a:lnTo>
                    <a:pt x="120967" y="0"/>
                  </a:lnTo>
                  <a:lnTo>
                    <a:pt x="504211" y="0"/>
                  </a:lnTo>
                  <a:lnTo>
                    <a:pt x="1260529" y="0"/>
                  </a:lnTo>
                  <a:lnTo>
                    <a:pt x="2904301" y="0"/>
                  </a:lnTo>
                  <a:lnTo>
                    <a:pt x="2951387" y="9506"/>
                  </a:lnTo>
                  <a:lnTo>
                    <a:pt x="2989838" y="35430"/>
                  </a:lnTo>
                  <a:lnTo>
                    <a:pt x="3015763" y="73881"/>
                  </a:lnTo>
                  <a:lnTo>
                    <a:pt x="3025269" y="120967"/>
                  </a:lnTo>
                  <a:lnTo>
                    <a:pt x="3025269" y="423383"/>
                  </a:lnTo>
                  <a:lnTo>
                    <a:pt x="3025269" y="604833"/>
                  </a:lnTo>
                  <a:lnTo>
                    <a:pt x="3015763" y="651916"/>
                  </a:lnTo>
                  <a:lnTo>
                    <a:pt x="2989838" y="690367"/>
                  </a:lnTo>
                  <a:lnTo>
                    <a:pt x="2951387" y="716292"/>
                  </a:lnTo>
                  <a:lnTo>
                    <a:pt x="2904301" y="725798"/>
                  </a:lnTo>
                  <a:lnTo>
                    <a:pt x="1260529" y="725798"/>
                  </a:lnTo>
                  <a:lnTo>
                    <a:pt x="1033944" y="725798"/>
                  </a:lnTo>
                  <a:lnTo>
                    <a:pt x="504211" y="725798"/>
                  </a:lnTo>
                  <a:lnTo>
                    <a:pt x="120967" y="725798"/>
                  </a:lnTo>
                  <a:lnTo>
                    <a:pt x="73881" y="716292"/>
                  </a:lnTo>
                  <a:lnTo>
                    <a:pt x="35430" y="690367"/>
                  </a:lnTo>
                  <a:lnTo>
                    <a:pt x="9506" y="651916"/>
                  </a:lnTo>
                  <a:lnTo>
                    <a:pt x="0" y="604830"/>
                  </a:lnTo>
                  <a:lnTo>
                    <a:pt x="0" y="423383"/>
                  </a:lnTo>
                  <a:lnTo>
                    <a:pt x="0" y="120967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999387" y="1359408"/>
            <a:ext cx="2637155" cy="553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40690" marR="5080" indent="-428625">
              <a:lnSpc>
                <a:spcPct val="103499"/>
              </a:lnSpc>
              <a:spcBef>
                <a:spcPts val="25"/>
              </a:spcBef>
            </a:pP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Find a history instructor </a:t>
            </a:r>
            <a:r>
              <a:rPr sz="1700" spc="-5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ID 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“58583”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2457" y="7019945"/>
            <a:ext cx="8173084" cy="22732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[Ref: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Figure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11.4,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Silberschatz,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Korth,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Sudarshan,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“Database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System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Concepts,”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6</a:t>
            </a:r>
            <a:r>
              <a:rPr sz="1350" spc="-22" baseline="24691" dirty="0">
                <a:solidFill>
                  <a:srgbClr val="292934"/>
                </a:solidFill>
                <a:latin typeface="Verdana"/>
                <a:cs typeface="Verdana"/>
              </a:rPr>
              <a:t>th</a:t>
            </a:r>
            <a:r>
              <a:rPr sz="1350" spc="179" baseline="2469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Ed.,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page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480]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6825" y="322071"/>
            <a:ext cx="624395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D</a:t>
            </a:r>
            <a:r>
              <a:rPr spc="-125" dirty="0"/>
              <a:t>e</a:t>
            </a:r>
            <a:r>
              <a:rPr spc="-135" dirty="0"/>
              <a:t>n</a:t>
            </a:r>
            <a:r>
              <a:rPr spc="-130" dirty="0"/>
              <a:t>s</a:t>
            </a:r>
            <a:r>
              <a:rPr dirty="0"/>
              <a:t>e</a:t>
            </a:r>
            <a:r>
              <a:rPr spc="-245" dirty="0"/>
              <a:t> </a:t>
            </a:r>
            <a:r>
              <a:rPr spc="-120" dirty="0"/>
              <a:t>I</a:t>
            </a:r>
            <a:r>
              <a:rPr spc="-135" dirty="0"/>
              <a:t>n</a:t>
            </a:r>
            <a:r>
              <a:rPr spc="-130" dirty="0"/>
              <a:t>d</a:t>
            </a:r>
            <a:r>
              <a:rPr spc="-125" dirty="0"/>
              <a:t>e</a:t>
            </a:r>
            <a:r>
              <a:rPr spc="-130" dirty="0"/>
              <a:t>x</a:t>
            </a:r>
            <a:r>
              <a:rPr dirty="0"/>
              <a:t>:</a:t>
            </a:r>
            <a:r>
              <a:rPr spc="-240" dirty="0"/>
              <a:t> </a:t>
            </a:r>
            <a:r>
              <a:rPr spc="-130" dirty="0"/>
              <a:t>Loo</a:t>
            </a:r>
            <a:r>
              <a:rPr spc="-125" dirty="0"/>
              <a:t>k</a:t>
            </a:r>
            <a:r>
              <a:rPr spc="-135" dirty="0"/>
              <a:t>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030" y="1035224"/>
            <a:ext cx="9316720" cy="595566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299085" indent="-236220">
              <a:lnSpc>
                <a:spcPct val="100000"/>
              </a:lnSpc>
              <a:spcBef>
                <a:spcPts val="1335"/>
              </a:spcBef>
              <a:buSzPct val="86363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i="1" spc="10" dirty="0">
                <a:solidFill>
                  <a:srgbClr val="292934"/>
                </a:solidFill>
                <a:latin typeface="Verdana"/>
                <a:cs typeface="Verdana"/>
              </a:rPr>
              <a:t>K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scanned</a:t>
            </a:r>
            <a:endParaRPr sz="2200">
              <a:latin typeface="Verdana"/>
              <a:cs typeface="Verdana"/>
            </a:endParaRPr>
          </a:p>
          <a:p>
            <a:pPr marL="782955" marR="47625" lvl="1" indent="-243840">
              <a:lnSpc>
                <a:spcPts val="2110"/>
              </a:lnSpc>
              <a:spcBef>
                <a:spcPts val="1280"/>
              </a:spcBef>
              <a:buSzPct val="84210"/>
              <a:buFont typeface="Arial MT"/>
              <a:buChar char="•"/>
              <a:tabLst>
                <a:tab pos="782955" algn="l"/>
                <a:tab pos="783590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When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K</a:t>
            </a:r>
            <a:r>
              <a:rPr sz="1900" i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found,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associated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pointer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file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recorded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followed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block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containing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record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read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main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memory</a:t>
            </a:r>
            <a:endParaRPr sz="19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292934"/>
              </a:buClr>
              <a:buFont typeface="Arial MT"/>
              <a:buChar char="•"/>
            </a:pPr>
            <a:endParaRPr sz="2400">
              <a:latin typeface="Verdana"/>
              <a:cs typeface="Verdana"/>
            </a:endParaRPr>
          </a:p>
          <a:p>
            <a:pPr marL="299085" marR="1124585" indent="-236220">
              <a:lnSpc>
                <a:spcPts val="2400"/>
              </a:lnSpc>
              <a:spcBef>
                <a:spcPts val="5"/>
              </a:spcBef>
              <a:buSzPct val="86363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When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dense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indexes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non-primary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292934"/>
                </a:solidFill>
                <a:latin typeface="Verdana"/>
                <a:cs typeface="Verdana"/>
              </a:rPr>
              <a:t>key,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200" spc="-7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minimum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located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first</a:t>
            </a:r>
            <a:endParaRPr sz="2200">
              <a:latin typeface="Verdana"/>
              <a:cs typeface="Verdana"/>
            </a:endParaRPr>
          </a:p>
          <a:p>
            <a:pPr marL="782955" marR="452120" lvl="1" indent="-243840">
              <a:lnSpc>
                <a:spcPts val="2110"/>
              </a:lnSpc>
              <a:spcBef>
                <a:spcPts val="1335"/>
              </a:spcBef>
              <a:buSzPct val="84210"/>
              <a:buFont typeface="Arial MT"/>
              <a:buChar char="•"/>
              <a:tabLst>
                <a:tab pos="782955" algn="l"/>
                <a:tab pos="783590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Consecutive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blocks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loaded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main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memory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until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greater than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maximum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found</a:t>
            </a:r>
            <a:endParaRPr sz="19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292934"/>
              </a:buClr>
              <a:buFont typeface="Arial MT"/>
              <a:buChar char="•"/>
            </a:pPr>
            <a:endParaRPr sz="2400">
              <a:latin typeface="Verdana"/>
              <a:cs typeface="Verdana"/>
            </a:endParaRPr>
          </a:p>
          <a:p>
            <a:pPr marL="299085" marR="290195" indent="-236220">
              <a:lnSpc>
                <a:spcPts val="2420"/>
              </a:lnSpc>
              <a:buSzPct val="86363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C00000"/>
                </a:solidFill>
                <a:latin typeface="Verdana"/>
                <a:cs typeface="Verdana"/>
              </a:rPr>
              <a:t>index</a:t>
            </a:r>
            <a:r>
              <a:rPr sz="22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22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C00000"/>
                </a:solidFill>
                <a:latin typeface="Verdana"/>
                <a:cs typeface="Verdana"/>
              </a:rPr>
              <a:t>usually</a:t>
            </a:r>
            <a:r>
              <a:rPr sz="22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C00000"/>
                </a:solidFill>
                <a:latin typeface="Verdana"/>
                <a:cs typeface="Verdana"/>
              </a:rPr>
              <a:t>kept</a:t>
            </a:r>
            <a:r>
              <a:rPr sz="22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C00000"/>
                </a:solidFill>
                <a:latin typeface="Verdana"/>
                <a:cs typeface="Verdana"/>
              </a:rPr>
              <a:t>in</a:t>
            </a:r>
            <a:r>
              <a:rPr sz="22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C00000"/>
                </a:solidFill>
                <a:latin typeface="Verdana"/>
                <a:cs typeface="Verdana"/>
              </a:rPr>
              <a:t>main</a:t>
            </a:r>
            <a:r>
              <a:rPr sz="22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Verdana"/>
                <a:cs typeface="Verdana"/>
              </a:rPr>
              <a:t>memory</a:t>
            </a:r>
            <a:r>
              <a:rPr sz="2200" spc="-1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disk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I/O </a:t>
            </a:r>
            <a:r>
              <a:rPr sz="2200" spc="-7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has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performed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during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lookup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292934"/>
              </a:buClr>
              <a:buFont typeface="Arial MT"/>
              <a:buChar char="•"/>
            </a:pPr>
            <a:endParaRPr sz="2250">
              <a:latin typeface="Verdana"/>
              <a:cs typeface="Verdana"/>
            </a:endParaRPr>
          </a:p>
          <a:p>
            <a:pPr marL="299085" indent="-236220">
              <a:lnSpc>
                <a:spcPct val="100000"/>
              </a:lnSpc>
              <a:buSzPct val="86363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Since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sorted,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C00000"/>
                </a:solidFill>
                <a:latin typeface="Verdana"/>
                <a:cs typeface="Verdana"/>
              </a:rPr>
              <a:t>binary</a:t>
            </a:r>
            <a:r>
              <a:rPr sz="22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C00000"/>
                </a:solidFill>
                <a:latin typeface="Verdana"/>
                <a:cs typeface="Verdana"/>
              </a:rPr>
              <a:t>search</a:t>
            </a:r>
            <a:r>
              <a:rPr sz="22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used.</a:t>
            </a:r>
            <a:endParaRPr sz="2200">
              <a:latin typeface="Verdana"/>
              <a:cs typeface="Verdana"/>
            </a:endParaRPr>
          </a:p>
          <a:p>
            <a:pPr marL="782955" marR="55880" lvl="1" indent="-243840">
              <a:lnSpc>
                <a:spcPts val="2110"/>
              </a:lnSpc>
              <a:spcBef>
                <a:spcPts val="1280"/>
              </a:spcBef>
              <a:buSzPct val="84210"/>
              <a:buFont typeface="Arial MT"/>
              <a:buChar char="•"/>
              <a:tabLst>
                <a:tab pos="782955" algn="l"/>
                <a:tab pos="783590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there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900" i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keys,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most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log</a:t>
            </a:r>
            <a:r>
              <a:rPr sz="1950" i="1" baseline="-17094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900" i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steps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required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locate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19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292934"/>
              </a:buClr>
              <a:buFont typeface="Arial MT"/>
              <a:buChar char="•"/>
            </a:pPr>
            <a:endParaRPr sz="2200">
              <a:latin typeface="Verdana"/>
              <a:cs typeface="Verdana"/>
            </a:endParaRPr>
          </a:p>
          <a:p>
            <a:pPr marL="299085" indent="-236220">
              <a:lnSpc>
                <a:spcPct val="100000"/>
              </a:lnSpc>
              <a:buSzPct val="86363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Query-answering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using</a:t>
            </a:r>
            <a:r>
              <a:rPr sz="22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dense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indices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2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C00000"/>
                </a:solidFill>
                <a:latin typeface="Verdana"/>
                <a:cs typeface="Verdana"/>
              </a:rPr>
              <a:t>efficient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6152" y="322071"/>
            <a:ext cx="392747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S</a:t>
            </a:r>
            <a:r>
              <a:rPr spc="-130" dirty="0"/>
              <a:t>p</a:t>
            </a:r>
            <a:r>
              <a:rPr spc="-125" dirty="0"/>
              <a:t>ar</a:t>
            </a:r>
            <a:r>
              <a:rPr spc="-130" dirty="0"/>
              <a:t>s</a:t>
            </a:r>
            <a:r>
              <a:rPr dirty="0"/>
              <a:t>e</a:t>
            </a:r>
            <a:r>
              <a:rPr spc="-245" dirty="0"/>
              <a:t> </a:t>
            </a:r>
            <a:r>
              <a:rPr spc="-120" dirty="0"/>
              <a:t>I</a:t>
            </a:r>
            <a:r>
              <a:rPr spc="-135" dirty="0"/>
              <a:t>n</a:t>
            </a:r>
            <a:r>
              <a:rPr spc="-130" dirty="0"/>
              <a:t>d</a:t>
            </a:r>
            <a:r>
              <a:rPr spc="-125" dirty="0"/>
              <a:t>e</a:t>
            </a:r>
            <a:r>
              <a:rPr dirty="0"/>
              <a:t>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83806" y="3360210"/>
            <a:ext cx="7368540" cy="3400425"/>
            <a:chOff x="2383806" y="3360210"/>
            <a:chExt cx="7368540" cy="34004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33241" y="3360210"/>
              <a:ext cx="7218753" cy="34001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83802" y="3387382"/>
              <a:ext cx="6925309" cy="1095375"/>
            </a:xfrm>
            <a:custGeom>
              <a:avLst/>
              <a:gdLst/>
              <a:ahLst/>
              <a:cxnLst/>
              <a:rect l="l" t="t" r="r" b="b"/>
              <a:pathLst>
                <a:path w="6925309" h="1095375">
                  <a:moveTo>
                    <a:pt x="1365504" y="42265"/>
                  </a:moveTo>
                  <a:lnTo>
                    <a:pt x="1362176" y="25806"/>
                  </a:lnTo>
                  <a:lnTo>
                    <a:pt x="1353121" y="12382"/>
                  </a:lnTo>
                  <a:lnTo>
                    <a:pt x="1339684" y="3314"/>
                  </a:lnTo>
                  <a:lnTo>
                    <a:pt x="1323238" y="0"/>
                  </a:lnTo>
                  <a:lnTo>
                    <a:pt x="42265" y="0"/>
                  </a:lnTo>
                  <a:lnTo>
                    <a:pt x="25806" y="3314"/>
                  </a:lnTo>
                  <a:lnTo>
                    <a:pt x="12382" y="12382"/>
                  </a:lnTo>
                  <a:lnTo>
                    <a:pt x="3314" y="25806"/>
                  </a:lnTo>
                  <a:lnTo>
                    <a:pt x="0" y="42265"/>
                  </a:lnTo>
                  <a:lnTo>
                    <a:pt x="0" y="211328"/>
                  </a:lnTo>
                  <a:lnTo>
                    <a:pt x="3314" y="227774"/>
                  </a:lnTo>
                  <a:lnTo>
                    <a:pt x="12382" y="241211"/>
                  </a:lnTo>
                  <a:lnTo>
                    <a:pt x="25806" y="250266"/>
                  </a:lnTo>
                  <a:lnTo>
                    <a:pt x="42265" y="253593"/>
                  </a:lnTo>
                  <a:lnTo>
                    <a:pt x="1323238" y="253593"/>
                  </a:lnTo>
                  <a:lnTo>
                    <a:pt x="1339684" y="250266"/>
                  </a:lnTo>
                  <a:lnTo>
                    <a:pt x="1353121" y="241211"/>
                  </a:lnTo>
                  <a:lnTo>
                    <a:pt x="1362176" y="227774"/>
                  </a:lnTo>
                  <a:lnTo>
                    <a:pt x="1365504" y="211328"/>
                  </a:lnTo>
                  <a:lnTo>
                    <a:pt x="1365504" y="42265"/>
                  </a:lnTo>
                  <a:close/>
                </a:path>
                <a:path w="6925309" h="1095375">
                  <a:moveTo>
                    <a:pt x="6925056" y="62318"/>
                  </a:moveTo>
                  <a:lnTo>
                    <a:pt x="6921220" y="43332"/>
                  </a:lnTo>
                  <a:lnTo>
                    <a:pt x="6910768" y="27825"/>
                  </a:lnTo>
                  <a:lnTo>
                    <a:pt x="6895262" y="17373"/>
                  </a:lnTo>
                  <a:lnTo>
                    <a:pt x="6876288" y="13538"/>
                  </a:lnTo>
                  <a:lnTo>
                    <a:pt x="2194560" y="13538"/>
                  </a:lnTo>
                  <a:lnTo>
                    <a:pt x="2175573" y="17373"/>
                  </a:lnTo>
                  <a:lnTo>
                    <a:pt x="2160079" y="27825"/>
                  </a:lnTo>
                  <a:lnTo>
                    <a:pt x="2149627" y="43332"/>
                  </a:lnTo>
                  <a:lnTo>
                    <a:pt x="2145792" y="62318"/>
                  </a:lnTo>
                  <a:lnTo>
                    <a:pt x="2145792" y="257378"/>
                  </a:lnTo>
                  <a:lnTo>
                    <a:pt x="2149627" y="276364"/>
                  </a:lnTo>
                  <a:lnTo>
                    <a:pt x="2159533" y="291071"/>
                  </a:lnTo>
                  <a:lnTo>
                    <a:pt x="2149627" y="305777"/>
                  </a:lnTo>
                  <a:lnTo>
                    <a:pt x="2145792" y="324764"/>
                  </a:lnTo>
                  <a:lnTo>
                    <a:pt x="2145792" y="519823"/>
                  </a:lnTo>
                  <a:lnTo>
                    <a:pt x="2149627" y="538810"/>
                  </a:lnTo>
                  <a:lnTo>
                    <a:pt x="2160079" y="554316"/>
                  </a:lnTo>
                  <a:lnTo>
                    <a:pt x="2166785" y="558850"/>
                  </a:lnTo>
                  <a:lnTo>
                    <a:pt x="2160079" y="563372"/>
                  </a:lnTo>
                  <a:lnTo>
                    <a:pt x="2149627" y="578878"/>
                  </a:lnTo>
                  <a:lnTo>
                    <a:pt x="2145792" y="597865"/>
                  </a:lnTo>
                  <a:lnTo>
                    <a:pt x="2145792" y="792924"/>
                  </a:lnTo>
                  <a:lnTo>
                    <a:pt x="2149627" y="811911"/>
                  </a:lnTo>
                  <a:lnTo>
                    <a:pt x="2156549" y="822198"/>
                  </a:lnTo>
                  <a:lnTo>
                    <a:pt x="2149627" y="832472"/>
                  </a:lnTo>
                  <a:lnTo>
                    <a:pt x="2145792" y="851458"/>
                  </a:lnTo>
                  <a:lnTo>
                    <a:pt x="2145792" y="1046518"/>
                  </a:lnTo>
                  <a:lnTo>
                    <a:pt x="2149627" y="1065504"/>
                  </a:lnTo>
                  <a:lnTo>
                    <a:pt x="2160079" y="1081011"/>
                  </a:lnTo>
                  <a:lnTo>
                    <a:pt x="2175573" y="1091463"/>
                  </a:lnTo>
                  <a:lnTo>
                    <a:pt x="2194560" y="1095286"/>
                  </a:lnTo>
                  <a:lnTo>
                    <a:pt x="6876288" y="1095286"/>
                  </a:lnTo>
                  <a:lnTo>
                    <a:pt x="6895262" y="1091463"/>
                  </a:lnTo>
                  <a:lnTo>
                    <a:pt x="6910768" y="1081011"/>
                  </a:lnTo>
                  <a:lnTo>
                    <a:pt x="6921220" y="1065504"/>
                  </a:lnTo>
                  <a:lnTo>
                    <a:pt x="6925056" y="1046518"/>
                  </a:lnTo>
                  <a:lnTo>
                    <a:pt x="6925056" y="851458"/>
                  </a:lnTo>
                  <a:lnTo>
                    <a:pt x="6921220" y="832472"/>
                  </a:lnTo>
                  <a:lnTo>
                    <a:pt x="6914286" y="822198"/>
                  </a:lnTo>
                  <a:lnTo>
                    <a:pt x="6921220" y="811911"/>
                  </a:lnTo>
                  <a:lnTo>
                    <a:pt x="6925056" y="792924"/>
                  </a:lnTo>
                  <a:lnTo>
                    <a:pt x="6925056" y="597865"/>
                  </a:lnTo>
                  <a:lnTo>
                    <a:pt x="6921220" y="578878"/>
                  </a:lnTo>
                  <a:lnTo>
                    <a:pt x="6910768" y="563372"/>
                  </a:lnTo>
                  <a:lnTo>
                    <a:pt x="6904050" y="558850"/>
                  </a:lnTo>
                  <a:lnTo>
                    <a:pt x="6910768" y="554316"/>
                  </a:lnTo>
                  <a:lnTo>
                    <a:pt x="6921220" y="538810"/>
                  </a:lnTo>
                  <a:lnTo>
                    <a:pt x="6925056" y="519823"/>
                  </a:lnTo>
                  <a:lnTo>
                    <a:pt x="6925056" y="324764"/>
                  </a:lnTo>
                  <a:lnTo>
                    <a:pt x="6921220" y="305777"/>
                  </a:lnTo>
                  <a:lnTo>
                    <a:pt x="6911302" y="291071"/>
                  </a:lnTo>
                  <a:lnTo>
                    <a:pt x="6921220" y="276364"/>
                  </a:lnTo>
                  <a:lnTo>
                    <a:pt x="6925056" y="257378"/>
                  </a:lnTo>
                  <a:lnTo>
                    <a:pt x="6925056" y="62318"/>
                  </a:lnTo>
                  <a:close/>
                </a:path>
              </a:pathLst>
            </a:custGeom>
            <a:solidFill>
              <a:srgbClr val="FFFF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66743" y="5035296"/>
              <a:ext cx="743712" cy="168249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00" y="5032247"/>
            <a:ext cx="585216" cy="168249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63754" y="5282493"/>
            <a:ext cx="3615690" cy="1177290"/>
          </a:xfrm>
          <a:prstGeom prst="rect">
            <a:avLst/>
          </a:prstGeom>
          <a:solidFill>
            <a:srgbClr val="FFFDF0"/>
          </a:solidFill>
          <a:ln w="10159">
            <a:solidFill>
              <a:srgbClr val="7F7F7F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116839" marR="111125" algn="ctr">
              <a:lnSpc>
                <a:spcPct val="90000"/>
              </a:lnSpc>
              <a:spcBef>
                <a:spcPts val="409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Start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with search-key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value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less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than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or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 equal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the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desired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value,</a:t>
            </a:r>
            <a:endParaRPr sz="1900">
              <a:latin typeface="Verdana"/>
              <a:cs typeface="Verdana"/>
            </a:endParaRPr>
          </a:p>
          <a:p>
            <a:pPr algn="ctr">
              <a:lnSpc>
                <a:spcPts val="2090"/>
              </a:lnSpc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then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linear</a:t>
            </a:r>
            <a:r>
              <a:rPr sz="1900" spc="-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7057" y="6620256"/>
            <a:ext cx="8924290" cy="63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Instructor</a:t>
            </a:r>
            <a:endParaRPr sz="17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165"/>
              </a:spcBef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[Ref: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Figure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11.3,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Silberschatz,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Korth,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Sudarshan,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“Database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System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Concepts,”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6</a:t>
            </a:r>
            <a:r>
              <a:rPr sz="1350" spc="-22" baseline="24691" dirty="0">
                <a:solidFill>
                  <a:srgbClr val="292934"/>
                </a:solidFill>
                <a:latin typeface="Verdana"/>
                <a:cs typeface="Verdana"/>
              </a:rPr>
              <a:t>th</a:t>
            </a:r>
            <a:r>
              <a:rPr sz="1350" spc="179" baseline="2469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Ed.,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page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479]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372119" y="2528919"/>
            <a:ext cx="2317115" cy="754380"/>
            <a:chOff x="7372119" y="2528919"/>
            <a:chExt cx="2317115" cy="754380"/>
          </a:xfrm>
        </p:grpSpPr>
        <p:sp>
          <p:nvSpPr>
            <p:cNvPr id="11" name="object 11"/>
            <p:cNvSpPr/>
            <p:nvPr/>
          </p:nvSpPr>
          <p:spPr>
            <a:xfrm>
              <a:off x="7386212" y="2543012"/>
              <a:ext cx="2288540" cy="725805"/>
            </a:xfrm>
            <a:custGeom>
              <a:avLst/>
              <a:gdLst/>
              <a:ahLst/>
              <a:cxnLst/>
              <a:rect l="l" t="t" r="r" b="b"/>
              <a:pathLst>
                <a:path w="2288540" h="725804">
                  <a:moveTo>
                    <a:pt x="2167378" y="0"/>
                  </a:moveTo>
                  <a:lnTo>
                    <a:pt x="120970" y="0"/>
                  </a:lnTo>
                  <a:lnTo>
                    <a:pt x="73883" y="9506"/>
                  </a:lnTo>
                  <a:lnTo>
                    <a:pt x="35431" y="35431"/>
                  </a:lnTo>
                  <a:lnTo>
                    <a:pt x="9506" y="73883"/>
                  </a:lnTo>
                  <a:lnTo>
                    <a:pt x="0" y="120970"/>
                  </a:lnTo>
                  <a:lnTo>
                    <a:pt x="0" y="604832"/>
                  </a:lnTo>
                  <a:lnTo>
                    <a:pt x="9506" y="651916"/>
                  </a:lnTo>
                  <a:lnTo>
                    <a:pt x="35431" y="690367"/>
                  </a:lnTo>
                  <a:lnTo>
                    <a:pt x="73883" y="716292"/>
                  </a:lnTo>
                  <a:lnTo>
                    <a:pt x="120970" y="725798"/>
                  </a:lnTo>
                  <a:lnTo>
                    <a:pt x="2167378" y="725798"/>
                  </a:lnTo>
                  <a:lnTo>
                    <a:pt x="2214464" y="716292"/>
                  </a:lnTo>
                  <a:lnTo>
                    <a:pt x="2252915" y="690367"/>
                  </a:lnTo>
                  <a:lnTo>
                    <a:pt x="2278840" y="651916"/>
                  </a:lnTo>
                  <a:lnTo>
                    <a:pt x="2288346" y="604832"/>
                  </a:lnTo>
                  <a:lnTo>
                    <a:pt x="2288346" y="120970"/>
                  </a:lnTo>
                  <a:lnTo>
                    <a:pt x="2278840" y="73883"/>
                  </a:lnTo>
                  <a:lnTo>
                    <a:pt x="2252915" y="35431"/>
                  </a:lnTo>
                  <a:lnTo>
                    <a:pt x="2214464" y="9506"/>
                  </a:lnTo>
                  <a:lnTo>
                    <a:pt x="2167378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86212" y="2543012"/>
              <a:ext cx="2288540" cy="725805"/>
            </a:xfrm>
            <a:custGeom>
              <a:avLst/>
              <a:gdLst/>
              <a:ahLst/>
              <a:cxnLst/>
              <a:rect l="l" t="t" r="r" b="b"/>
              <a:pathLst>
                <a:path w="2288540" h="725804">
                  <a:moveTo>
                    <a:pt x="0" y="120969"/>
                  </a:moveTo>
                  <a:lnTo>
                    <a:pt x="9506" y="73882"/>
                  </a:lnTo>
                  <a:lnTo>
                    <a:pt x="35431" y="35431"/>
                  </a:lnTo>
                  <a:lnTo>
                    <a:pt x="73882" y="9506"/>
                  </a:lnTo>
                  <a:lnTo>
                    <a:pt x="120969" y="0"/>
                  </a:lnTo>
                  <a:lnTo>
                    <a:pt x="381391" y="0"/>
                  </a:lnTo>
                  <a:lnTo>
                    <a:pt x="953477" y="0"/>
                  </a:lnTo>
                  <a:lnTo>
                    <a:pt x="2167377" y="0"/>
                  </a:lnTo>
                  <a:lnTo>
                    <a:pt x="2214463" y="9506"/>
                  </a:lnTo>
                  <a:lnTo>
                    <a:pt x="2252915" y="35431"/>
                  </a:lnTo>
                  <a:lnTo>
                    <a:pt x="2278840" y="73882"/>
                  </a:lnTo>
                  <a:lnTo>
                    <a:pt x="2288346" y="120969"/>
                  </a:lnTo>
                  <a:lnTo>
                    <a:pt x="2288346" y="423382"/>
                  </a:lnTo>
                  <a:lnTo>
                    <a:pt x="2288346" y="604831"/>
                  </a:lnTo>
                  <a:lnTo>
                    <a:pt x="2278840" y="651915"/>
                  </a:lnTo>
                  <a:lnTo>
                    <a:pt x="2252915" y="690367"/>
                  </a:lnTo>
                  <a:lnTo>
                    <a:pt x="2214463" y="716292"/>
                  </a:lnTo>
                  <a:lnTo>
                    <a:pt x="2167377" y="725798"/>
                  </a:lnTo>
                  <a:lnTo>
                    <a:pt x="953477" y="725798"/>
                  </a:lnTo>
                  <a:lnTo>
                    <a:pt x="782087" y="725798"/>
                  </a:lnTo>
                  <a:lnTo>
                    <a:pt x="381391" y="725798"/>
                  </a:lnTo>
                  <a:lnTo>
                    <a:pt x="120969" y="725798"/>
                  </a:lnTo>
                  <a:lnTo>
                    <a:pt x="73882" y="716292"/>
                  </a:lnTo>
                  <a:lnTo>
                    <a:pt x="35431" y="690367"/>
                  </a:lnTo>
                  <a:lnTo>
                    <a:pt x="9506" y="651915"/>
                  </a:lnTo>
                  <a:lnTo>
                    <a:pt x="0" y="604829"/>
                  </a:lnTo>
                  <a:lnTo>
                    <a:pt x="0" y="423382"/>
                  </a:lnTo>
                  <a:lnTo>
                    <a:pt x="0" y="120969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51361" y="1025143"/>
            <a:ext cx="9088120" cy="216979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248285" indent="-236220">
              <a:lnSpc>
                <a:spcPct val="100000"/>
              </a:lnSpc>
              <a:spcBef>
                <a:spcPts val="1085"/>
              </a:spcBef>
              <a:buSzPct val="85714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when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dense indices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large</a:t>
            </a:r>
            <a:endParaRPr sz="2100">
              <a:latin typeface="Verdana"/>
              <a:cs typeface="Verdana"/>
            </a:endParaRPr>
          </a:p>
          <a:p>
            <a:pPr marL="248285" indent="-236220">
              <a:lnSpc>
                <a:spcPct val="100000"/>
              </a:lnSpc>
              <a:spcBef>
                <a:spcPts val="98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One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key-pointer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pair per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block</a:t>
            </a:r>
            <a:endParaRPr sz="2100">
              <a:latin typeface="Verdana"/>
              <a:cs typeface="Verdana"/>
            </a:endParaRPr>
          </a:p>
          <a:p>
            <a:pPr marL="248285" marR="300355" indent="-236220">
              <a:lnSpc>
                <a:spcPts val="2210"/>
              </a:lnSpc>
              <a:spcBef>
                <a:spcPts val="1320"/>
              </a:spcBef>
              <a:buSzPct val="85714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stored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sorted</a:t>
            </a:r>
            <a:r>
              <a:rPr sz="21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the </a:t>
            </a:r>
            <a:r>
              <a:rPr sz="2100" spc="-7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search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key</a:t>
            </a:r>
            <a:endParaRPr sz="2100">
              <a:latin typeface="Verdana"/>
              <a:cs typeface="Verdana"/>
            </a:endParaRPr>
          </a:p>
          <a:p>
            <a:pPr marL="7303134">
              <a:lnSpc>
                <a:spcPts val="1955"/>
              </a:lnSpc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Find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instructor</a:t>
            </a:r>
            <a:endParaRPr sz="1800">
              <a:latin typeface="Verdana"/>
              <a:cs typeface="Verdana"/>
            </a:endParaRPr>
          </a:p>
          <a:p>
            <a:pPr marL="7211695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ID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“22222”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4539" y="322071"/>
            <a:ext cx="644207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S</a:t>
            </a:r>
            <a:r>
              <a:rPr spc="-130" dirty="0"/>
              <a:t>p</a:t>
            </a:r>
            <a:r>
              <a:rPr spc="-125" dirty="0"/>
              <a:t>ar</a:t>
            </a:r>
            <a:r>
              <a:rPr spc="-130" dirty="0"/>
              <a:t>s</a:t>
            </a:r>
            <a:r>
              <a:rPr dirty="0"/>
              <a:t>e</a:t>
            </a:r>
            <a:r>
              <a:rPr spc="-245" dirty="0"/>
              <a:t> </a:t>
            </a:r>
            <a:r>
              <a:rPr spc="-120" dirty="0"/>
              <a:t>I</a:t>
            </a:r>
            <a:r>
              <a:rPr spc="-135" dirty="0"/>
              <a:t>n</a:t>
            </a:r>
            <a:r>
              <a:rPr spc="-130" dirty="0"/>
              <a:t>d</a:t>
            </a:r>
            <a:r>
              <a:rPr spc="-125" dirty="0"/>
              <a:t>e</a:t>
            </a:r>
            <a:r>
              <a:rPr spc="-130" dirty="0"/>
              <a:t>x</a:t>
            </a:r>
            <a:r>
              <a:rPr dirty="0"/>
              <a:t>:</a:t>
            </a:r>
            <a:r>
              <a:rPr spc="-245" dirty="0"/>
              <a:t> </a:t>
            </a:r>
            <a:r>
              <a:rPr spc="-130" dirty="0"/>
              <a:t>Loo</a:t>
            </a:r>
            <a:r>
              <a:rPr spc="-125" dirty="0"/>
              <a:t>k</a:t>
            </a:r>
            <a:r>
              <a:rPr spc="-135" dirty="0"/>
              <a:t>u</a:t>
            </a:r>
            <a:r>
              <a:rPr dirty="0"/>
              <a:t>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830" y="1035224"/>
            <a:ext cx="9156700" cy="4716780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248285" indent="-236220">
              <a:lnSpc>
                <a:spcPct val="100000"/>
              </a:lnSpc>
              <a:spcBef>
                <a:spcPts val="1335"/>
              </a:spcBef>
              <a:buSzPct val="86363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search 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i="1" spc="10" dirty="0">
                <a:solidFill>
                  <a:srgbClr val="292934"/>
                </a:solidFill>
                <a:latin typeface="Verdana"/>
                <a:cs typeface="Verdana"/>
              </a:rPr>
              <a:t>K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endParaRPr sz="2200">
              <a:latin typeface="Verdana"/>
              <a:cs typeface="Verdana"/>
            </a:endParaRPr>
          </a:p>
          <a:p>
            <a:pPr marL="732155" marR="706755" lvl="1" indent="-243840">
              <a:lnSpc>
                <a:spcPts val="2110"/>
              </a:lnSpc>
              <a:spcBef>
                <a:spcPts val="1280"/>
              </a:spcBef>
              <a:buSzPct val="84210"/>
              <a:buFont typeface="Arial MT"/>
              <a:buChar char="•"/>
              <a:tabLst>
                <a:tab pos="732155" algn="l"/>
                <a:tab pos="732790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sparse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greatest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≤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5" dirty="0">
                <a:solidFill>
                  <a:srgbClr val="292934"/>
                </a:solidFill>
                <a:latin typeface="Verdana"/>
                <a:cs typeface="Verdana"/>
              </a:rPr>
              <a:t>K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using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binary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endParaRPr sz="1900">
              <a:latin typeface="Verdana"/>
              <a:cs typeface="Verdana"/>
            </a:endParaRPr>
          </a:p>
          <a:p>
            <a:pPr marL="732155" marR="382905" lvl="1" indent="-243840">
              <a:lnSpc>
                <a:spcPts val="2110"/>
              </a:lnSpc>
              <a:spcBef>
                <a:spcPts val="1180"/>
              </a:spcBef>
              <a:buSzPct val="84210"/>
              <a:buFont typeface="Arial MT"/>
              <a:buChar char="•"/>
              <a:tabLst>
                <a:tab pos="732155" algn="l"/>
                <a:tab pos="732790" algn="l"/>
              </a:tabLst>
            </a:pP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Retrieve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pointed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block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main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memory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look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record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K</a:t>
            </a:r>
            <a:r>
              <a:rPr sz="1900" i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(linear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vs.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binary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search)</a:t>
            </a:r>
            <a:endParaRPr sz="19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292934"/>
              </a:buClr>
              <a:buFont typeface="Arial MT"/>
              <a:buChar char="•"/>
            </a:pPr>
            <a:endParaRPr sz="2450">
              <a:latin typeface="Verdana"/>
              <a:cs typeface="Verdana"/>
            </a:endParaRPr>
          </a:p>
          <a:p>
            <a:pPr marL="248285" marR="180975" indent="-236220">
              <a:lnSpc>
                <a:spcPts val="2420"/>
              </a:lnSpc>
              <a:spcBef>
                <a:spcPts val="5"/>
              </a:spcBef>
              <a:buSzPct val="86363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C00000"/>
                </a:solidFill>
                <a:latin typeface="Verdana"/>
                <a:cs typeface="Verdana"/>
              </a:rPr>
              <a:t>index</a:t>
            </a:r>
            <a:r>
              <a:rPr sz="22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22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C00000"/>
                </a:solidFill>
                <a:latin typeface="Verdana"/>
                <a:cs typeface="Verdana"/>
              </a:rPr>
              <a:t>usually</a:t>
            </a:r>
            <a:r>
              <a:rPr sz="22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C00000"/>
                </a:solidFill>
                <a:latin typeface="Verdana"/>
                <a:cs typeface="Verdana"/>
              </a:rPr>
              <a:t>kept</a:t>
            </a:r>
            <a:r>
              <a:rPr sz="22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C00000"/>
                </a:solidFill>
                <a:latin typeface="Verdana"/>
                <a:cs typeface="Verdana"/>
              </a:rPr>
              <a:t>in</a:t>
            </a:r>
            <a:r>
              <a:rPr sz="22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C00000"/>
                </a:solidFill>
                <a:latin typeface="Verdana"/>
                <a:cs typeface="Verdana"/>
              </a:rPr>
              <a:t>main</a:t>
            </a:r>
            <a:r>
              <a:rPr sz="22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Verdana"/>
                <a:cs typeface="Verdana"/>
              </a:rPr>
              <a:t>memory</a:t>
            </a:r>
            <a:r>
              <a:rPr sz="2200" spc="-1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disk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I/O </a:t>
            </a:r>
            <a:r>
              <a:rPr sz="2200" spc="-7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has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performed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during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lookup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292934"/>
              </a:buClr>
              <a:buFont typeface="Arial MT"/>
              <a:buChar char="•"/>
            </a:pPr>
            <a:endParaRPr sz="2400">
              <a:latin typeface="Verdana"/>
              <a:cs typeface="Verdana"/>
            </a:endParaRPr>
          </a:p>
          <a:p>
            <a:pPr marL="248285" marR="5080" indent="-236220">
              <a:lnSpc>
                <a:spcPts val="2420"/>
              </a:lnSpc>
              <a:buClr>
                <a:srgbClr val="292934"/>
              </a:buClr>
              <a:buSzPct val="86363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200" spc="10" dirty="0">
                <a:solidFill>
                  <a:srgbClr val="C00000"/>
                </a:solidFill>
                <a:latin typeface="Verdana"/>
                <a:cs typeface="Verdana"/>
              </a:rPr>
              <a:t>Efficient</a:t>
            </a:r>
            <a:r>
              <a:rPr sz="22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C00000"/>
                </a:solidFill>
                <a:latin typeface="Verdana"/>
                <a:cs typeface="Verdana"/>
              </a:rPr>
              <a:t>in</a:t>
            </a:r>
            <a:r>
              <a:rPr sz="22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spc="20" dirty="0">
                <a:solidFill>
                  <a:srgbClr val="C00000"/>
                </a:solidFill>
                <a:latin typeface="Verdana"/>
                <a:cs typeface="Verdana"/>
              </a:rPr>
              <a:t>space</a:t>
            </a:r>
            <a:r>
              <a:rPr sz="22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but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C00000"/>
                </a:solidFill>
                <a:latin typeface="Verdana"/>
                <a:cs typeface="Verdana"/>
              </a:rPr>
              <a:t>require</a:t>
            </a:r>
            <a:r>
              <a:rPr sz="22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C00000"/>
                </a:solidFill>
                <a:latin typeface="Verdana"/>
                <a:cs typeface="Verdana"/>
              </a:rPr>
              <a:t>more</a:t>
            </a:r>
            <a:r>
              <a:rPr sz="22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C00000"/>
                </a:solidFill>
                <a:latin typeface="Verdana"/>
                <a:cs typeface="Verdana"/>
              </a:rPr>
              <a:t>computation</a:t>
            </a:r>
            <a:r>
              <a:rPr sz="22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C00000"/>
                </a:solidFill>
                <a:latin typeface="Verdana"/>
                <a:cs typeface="Verdana"/>
              </a:rPr>
              <a:t>time</a:t>
            </a:r>
            <a:r>
              <a:rPr sz="22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due </a:t>
            </a:r>
            <a:r>
              <a:rPr sz="2200" spc="-7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two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binary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searches</a:t>
            </a:r>
            <a:endParaRPr sz="2200">
              <a:latin typeface="Verdana"/>
              <a:cs typeface="Verdana"/>
            </a:endParaRPr>
          </a:p>
          <a:p>
            <a:pPr marL="732155" lvl="1" indent="-244475">
              <a:lnSpc>
                <a:spcPct val="100000"/>
              </a:lnSpc>
              <a:spcBef>
                <a:spcPts val="1100"/>
              </a:spcBef>
              <a:buSzPct val="84210"/>
              <a:buFont typeface="Arial MT"/>
              <a:buChar char="•"/>
              <a:tabLst>
                <a:tab pos="732155" algn="l"/>
                <a:tab pos="732790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on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the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sparse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index</a:t>
            </a:r>
            <a:endParaRPr sz="1900">
              <a:latin typeface="Verdana"/>
              <a:cs typeface="Verdana"/>
            </a:endParaRPr>
          </a:p>
          <a:p>
            <a:pPr marL="732155" lvl="1" indent="-244475">
              <a:lnSpc>
                <a:spcPct val="100000"/>
              </a:lnSpc>
              <a:spcBef>
                <a:spcPts val="840"/>
              </a:spcBef>
              <a:buSzPct val="84210"/>
              <a:buFont typeface="Arial MT"/>
              <a:buChar char="•"/>
              <a:tabLst>
                <a:tab pos="732155" algn="l"/>
                <a:tab pos="732790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retrieved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 block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4867" y="3190327"/>
            <a:ext cx="3996899" cy="37063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60551" y="5183632"/>
            <a:ext cx="34353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60" dirty="0">
                <a:solidFill>
                  <a:srgbClr val="011EAA"/>
                </a:solidFill>
                <a:latin typeface="Verdana"/>
                <a:cs typeface="Verdana"/>
              </a:rPr>
              <a:t>Try</a:t>
            </a:r>
            <a:r>
              <a:rPr sz="190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011EAA"/>
                </a:solidFill>
                <a:latin typeface="Verdana"/>
                <a:cs typeface="Verdana"/>
              </a:rPr>
              <a:t>to</a:t>
            </a:r>
            <a:r>
              <a:rPr sz="190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011EAA"/>
                </a:solidFill>
                <a:latin typeface="Verdana"/>
                <a:cs typeface="Verdana"/>
              </a:rPr>
              <a:t>keep</a:t>
            </a:r>
            <a:r>
              <a:rPr sz="1900" spc="10" dirty="0">
                <a:solidFill>
                  <a:srgbClr val="011EAA"/>
                </a:solidFill>
                <a:latin typeface="Verdana"/>
                <a:cs typeface="Verdana"/>
              </a:rPr>
              <a:t> index</a:t>
            </a:r>
            <a:r>
              <a:rPr sz="190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011EAA"/>
                </a:solidFill>
                <a:latin typeface="Verdana"/>
                <a:cs typeface="Verdana"/>
              </a:rPr>
              <a:t>size</a:t>
            </a:r>
            <a:r>
              <a:rPr sz="1900" spc="1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011EAA"/>
                </a:solidFill>
                <a:latin typeface="Verdana"/>
                <a:cs typeface="Verdana"/>
              </a:rPr>
              <a:t>small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0292" y="322071"/>
            <a:ext cx="879856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D</a:t>
            </a:r>
            <a:r>
              <a:rPr spc="-125" dirty="0"/>
              <a:t>e</a:t>
            </a:r>
            <a:r>
              <a:rPr spc="-135" dirty="0"/>
              <a:t>n</a:t>
            </a:r>
            <a:r>
              <a:rPr spc="-130" dirty="0"/>
              <a:t>s</a:t>
            </a:r>
            <a:r>
              <a:rPr dirty="0"/>
              <a:t>e</a:t>
            </a:r>
            <a:r>
              <a:rPr spc="-245" dirty="0"/>
              <a:t> </a:t>
            </a:r>
            <a:r>
              <a:rPr spc="-120" dirty="0"/>
              <a:t>I</a:t>
            </a:r>
            <a:r>
              <a:rPr spc="-135" dirty="0"/>
              <a:t>n</a:t>
            </a:r>
            <a:r>
              <a:rPr spc="-130" dirty="0"/>
              <a:t>d</a:t>
            </a:r>
            <a:r>
              <a:rPr spc="-125" dirty="0"/>
              <a:t>e</a:t>
            </a:r>
            <a:r>
              <a:rPr dirty="0"/>
              <a:t>x</a:t>
            </a:r>
            <a:r>
              <a:rPr spc="-254" dirty="0"/>
              <a:t> </a:t>
            </a:r>
            <a:r>
              <a:rPr spc="-130" dirty="0"/>
              <a:t>v</a:t>
            </a:r>
            <a:r>
              <a:rPr spc="-125" dirty="0"/>
              <a:t>s</a:t>
            </a:r>
            <a:r>
              <a:rPr dirty="0"/>
              <a:t>.</a:t>
            </a:r>
            <a:r>
              <a:rPr spc="-240" dirty="0"/>
              <a:t> </a:t>
            </a:r>
            <a:r>
              <a:rPr spc="-140" dirty="0"/>
              <a:t>S</a:t>
            </a:r>
            <a:r>
              <a:rPr spc="-130" dirty="0"/>
              <a:t>p</a:t>
            </a:r>
            <a:r>
              <a:rPr spc="-125" dirty="0"/>
              <a:t>ar</a:t>
            </a:r>
            <a:r>
              <a:rPr spc="-130" dirty="0"/>
              <a:t>s</a:t>
            </a:r>
            <a:r>
              <a:rPr dirty="0"/>
              <a:t>e</a:t>
            </a:r>
            <a:r>
              <a:rPr spc="-245" dirty="0"/>
              <a:t> </a:t>
            </a:r>
            <a:r>
              <a:rPr spc="-120" dirty="0"/>
              <a:t>I</a:t>
            </a:r>
            <a:r>
              <a:rPr spc="-135" dirty="0"/>
              <a:t>n</a:t>
            </a:r>
            <a:r>
              <a:rPr spc="-130" dirty="0"/>
              <a:t>d</a:t>
            </a:r>
            <a:r>
              <a:rPr spc="-125" dirty="0"/>
              <a:t>e</a:t>
            </a:r>
            <a:r>
              <a:rPr dirty="0"/>
              <a:t>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1361" y="1162303"/>
            <a:ext cx="8878570" cy="30981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8285" indent="-236220">
              <a:lnSpc>
                <a:spcPct val="100000"/>
              </a:lnSpc>
              <a:spcBef>
                <a:spcPts val="484"/>
              </a:spcBef>
              <a:buSzPct val="85714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dense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ordered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redundant</a:t>
            </a:r>
            <a:endParaRPr sz="2100">
              <a:latin typeface="Verdana"/>
              <a:cs typeface="Verdana"/>
            </a:endParaRPr>
          </a:p>
          <a:p>
            <a:pPr marL="248285" indent="-236220">
              <a:lnSpc>
                <a:spcPct val="100000"/>
              </a:lnSpc>
              <a:spcBef>
                <a:spcPts val="380"/>
              </a:spcBef>
              <a:buSzPct val="85714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ordered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always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sparse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 marL="248285" indent="-236220">
              <a:lnSpc>
                <a:spcPct val="100000"/>
              </a:lnSpc>
              <a:buClr>
                <a:srgbClr val="292934"/>
              </a:buClr>
              <a:buSzPct val="85714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Dense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indices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faster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general</a:t>
            </a:r>
            <a:endParaRPr sz="2100">
              <a:latin typeface="Verdana"/>
              <a:cs typeface="Verdana"/>
            </a:endParaRPr>
          </a:p>
          <a:p>
            <a:pPr marL="248285" marR="5080" indent="-236220">
              <a:lnSpc>
                <a:spcPts val="2300"/>
              </a:lnSpc>
              <a:spcBef>
                <a:spcPts val="153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Sparse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indices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require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less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space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impose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less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maintenance </a:t>
            </a:r>
            <a:r>
              <a:rPr sz="2100" spc="-7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insertions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deletions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 marL="242570" marR="5024120" indent="-230504">
              <a:lnSpc>
                <a:spcPts val="2300"/>
              </a:lnSpc>
              <a:buSzPct val="85714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100" spc="-60" dirty="0">
                <a:solidFill>
                  <a:srgbClr val="292934"/>
                </a:solidFill>
                <a:latin typeface="Verdana"/>
                <a:cs typeface="Verdana"/>
              </a:rPr>
              <a:t>Try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have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sparse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index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 one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entry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per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block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057" y="6985000"/>
            <a:ext cx="771842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[Ref: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Figure 18.1,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Elmasri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Navathe,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“Fundamentals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Systems,”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6</a:t>
            </a:r>
            <a:r>
              <a:rPr sz="1350" spc="-22" baseline="24691" dirty="0">
                <a:solidFill>
                  <a:srgbClr val="292934"/>
                </a:solidFill>
                <a:latin typeface="Verdana"/>
                <a:cs typeface="Verdana"/>
              </a:rPr>
              <a:t>th</a:t>
            </a:r>
            <a:r>
              <a:rPr sz="1350" spc="172" baseline="2469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Ed.,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page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 634]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219" y="338328"/>
            <a:ext cx="929703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40" dirty="0"/>
              <a:t>Ho</a:t>
            </a:r>
            <a:r>
              <a:rPr sz="4100" dirty="0"/>
              <a:t>w</a:t>
            </a:r>
            <a:r>
              <a:rPr sz="4100" spc="-270" dirty="0"/>
              <a:t> </a:t>
            </a:r>
            <a:r>
              <a:rPr sz="4100" spc="-135" dirty="0"/>
              <a:t>t</a:t>
            </a:r>
            <a:r>
              <a:rPr sz="4100" dirty="0"/>
              <a:t>o</a:t>
            </a:r>
            <a:r>
              <a:rPr sz="4100" spc="-260" dirty="0"/>
              <a:t> </a:t>
            </a:r>
            <a:r>
              <a:rPr sz="4100" spc="-130" dirty="0"/>
              <a:t>I</a:t>
            </a:r>
            <a:r>
              <a:rPr sz="4100" spc="-155" dirty="0"/>
              <a:t>m</a:t>
            </a:r>
            <a:r>
              <a:rPr sz="4100" spc="-135" dirty="0"/>
              <a:t>p</a:t>
            </a:r>
            <a:r>
              <a:rPr sz="4100" spc="-125" dirty="0"/>
              <a:t>l</a:t>
            </a:r>
            <a:r>
              <a:rPr sz="4100" spc="-135" dirty="0"/>
              <a:t>e</a:t>
            </a:r>
            <a:r>
              <a:rPr sz="4100" spc="-155" dirty="0"/>
              <a:t>m</a:t>
            </a:r>
            <a:r>
              <a:rPr sz="4100" spc="-135" dirty="0"/>
              <a:t>e</a:t>
            </a:r>
            <a:r>
              <a:rPr sz="4100" spc="-140" dirty="0"/>
              <a:t>n</a:t>
            </a:r>
            <a:r>
              <a:rPr sz="4100" spc="-135" dirty="0"/>
              <a:t>t</a:t>
            </a:r>
            <a:r>
              <a:rPr sz="4100" dirty="0"/>
              <a:t>:</a:t>
            </a:r>
            <a:r>
              <a:rPr sz="4100" spc="-254" dirty="0"/>
              <a:t> </a:t>
            </a:r>
            <a:r>
              <a:rPr sz="4100" spc="-145" dirty="0"/>
              <a:t>U</a:t>
            </a:r>
            <a:r>
              <a:rPr sz="4100" spc="-140" dirty="0"/>
              <a:t>s</a:t>
            </a:r>
            <a:r>
              <a:rPr sz="4100" dirty="0"/>
              <a:t>e</a:t>
            </a:r>
            <a:r>
              <a:rPr sz="4100" spc="-260" dirty="0"/>
              <a:t> </a:t>
            </a:r>
            <a:r>
              <a:rPr sz="4100" spc="-140" dirty="0"/>
              <a:t>B</a:t>
            </a:r>
            <a:r>
              <a:rPr sz="4100" dirty="0"/>
              <a:t>+</a:t>
            </a:r>
            <a:r>
              <a:rPr sz="4100" spc="-265" dirty="0"/>
              <a:t> </a:t>
            </a:r>
            <a:r>
              <a:rPr sz="4100" spc="-145" dirty="0"/>
              <a:t>T</a:t>
            </a:r>
            <a:r>
              <a:rPr sz="4100" spc="-135" dirty="0"/>
              <a:t>ree</a:t>
            </a:r>
            <a:r>
              <a:rPr sz="4100" dirty="0"/>
              <a:t>s</a:t>
            </a:r>
            <a:endParaRPr sz="4100"/>
          </a:p>
        </p:txBody>
      </p:sp>
      <p:sp>
        <p:nvSpPr>
          <p:cNvPr id="3" name="object 3"/>
          <p:cNvSpPr txBox="1"/>
          <p:nvPr/>
        </p:nvSpPr>
        <p:spPr>
          <a:xfrm>
            <a:off x="451361" y="1201928"/>
            <a:ext cx="8879205" cy="112014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8285" marR="5080" indent="-236220">
              <a:lnSpc>
                <a:spcPts val="2280"/>
              </a:lnSpc>
              <a:spcBef>
                <a:spcPts val="375"/>
              </a:spcBef>
              <a:buSzPct val="85714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grows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(and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file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grows),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performance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degrades.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Reorganization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costly</a:t>
            </a:r>
            <a:endParaRPr sz="2100">
              <a:latin typeface="Verdana"/>
              <a:cs typeface="Verdana"/>
            </a:endParaRPr>
          </a:p>
          <a:p>
            <a:pPr marL="248285" indent="-236220">
              <a:lnSpc>
                <a:spcPct val="100000"/>
              </a:lnSpc>
              <a:spcBef>
                <a:spcPts val="1260"/>
              </a:spcBef>
              <a:buSzPct val="85714"/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Solution: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B+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tree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maintain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indices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1361" y="2788605"/>
            <a:ext cx="3868420" cy="139382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2600" b="1" spc="-20" dirty="0">
                <a:solidFill>
                  <a:srgbClr val="C00000"/>
                </a:solidFill>
                <a:latin typeface="Verdana"/>
                <a:cs typeface="Verdana"/>
              </a:rPr>
              <a:t>B+</a:t>
            </a:r>
            <a:r>
              <a:rPr sz="2600" b="1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600" b="1" spc="-20" dirty="0">
                <a:solidFill>
                  <a:srgbClr val="C00000"/>
                </a:solidFill>
                <a:latin typeface="Verdana"/>
                <a:cs typeface="Verdana"/>
              </a:rPr>
              <a:t>Tree</a:t>
            </a:r>
            <a:endParaRPr sz="2600">
              <a:latin typeface="Verdana"/>
              <a:cs typeface="Verdana"/>
            </a:endParaRPr>
          </a:p>
          <a:p>
            <a:pPr marL="242570" indent="-230504">
              <a:lnSpc>
                <a:spcPct val="100000"/>
              </a:lnSpc>
              <a:spcBef>
                <a:spcPts val="880"/>
              </a:spcBef>
              <a:buSzPct val="85714"/>
              <a:buFont typeface="Arial MT"/>
              <a:buChar char="•"/>
              <a:tabLst>
                <a:tab pos="242570" algn="l"/>
                <a:tab pos="243204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tree-like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file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structure</a:t>
            </a:r>
            <a:endParaRPr sz="2100">
              <a:latin typeface="Verdana"/>
              <a:cs typeface="Verdana"/>
            </a:endParaRPr>
          </a:p>
          <a:p>
            <a:pPr marL="730250" lvl="1" indent="-244475">
              <a:lnSpc>
                <a:spcPct val="100000"/>
              </a:lnSpc>
              <a:spcBef>
                <a:spcPts val="875"/>
              </a:spcBef>
              <a:buSzPct val="89473"/>
              <a:buFont typeface="Arial MT"/>
              <a:buChar char="•"/>
              <a:tabLst>
                <a:tab pos="730250" algn="l"/>
                <a:tab pos="730885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Links nodes with pointers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1361" y="4159504"/>
            <a:ext cx="8839835" cy="25298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730250" indent="-244475">
              <a:lnSpc>
                <a:spcPct val="100000"/>
              </a:lnSpc>
              <a:spcBef>
                <a:spcPts val="505"/>
              </a:spcBef>
              <a:buSzPct val="89473"/>
              <a:buFont typeface="Arial MT"/>
              <a:buChar char="•"/>
              <a:tabLst>
                <a:tab pos="730250" algn="l"/>
                <a:tab pos="730885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Has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exactly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root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bounded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leaves</a:t>
            </a:r>
            <a:endParaRPr sz="1900">
              <a:latin typeface="Verdana"/>
              <a:cs typeface="Verdana"/>
            </a:endParaRPr>
          </a:p>
          <a:p>
            <a:pPr marL="730250" indent="-244475">
              <a:lnSpc>
                <a:spcPct val="100000"/>
              </a:lnSpc>
              <a:spcBef>
                <a:spcPts val="409"/>
              </a:spcBef>
              <a:buSzPct val="89473"/>
              <a:buFont typeface="Arial MT"/>
              <a:buChar char="•"/>
              <a:tabLst>
                <a:tab pos="730250" algn="l"/>
                <a:tab pos="730885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Has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unique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path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root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leaf;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paths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equal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length</a:t>
            </a:r>
            <a:endParaRPr sz="1900">
              <a:latin typeface="Verdana"/>
              <a:cs typeface="Verdana"/>
            </a:endParaRPr>
          </a:p>
          <a:p>
            <a:pPr marL="730250" indent="-244475">
              <a:lnSpc>
                <a:spcPct val="100000"/>
              </a:lnSpc>
              <a:spcBef>
                <a:spcPts val="430"/>
              </a:spcBef>
              <a:buSzPct val="89473"/>
              <a:buFont typeface="Arial MT"/>
              <a:buChar char="•"/>
              <a:tabLst>
                <a:tab pos="730250" algn="l"/>
                <a:tab pos="730885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Store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keys</a:t>
            </a:r>
            <a:r>
              <a:rPr sz="19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leaves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references</a:t>
            </a:r>
            <a:r>
              <a:rPr sz="19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other/internal</a:t>
            </a:r>
            <a:r>
              <a:rPr sz="19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nodes</a:t>
            </a:r>
            <a:endParaRPr sz="1900">
              <a:latin typeface="Verdana"/>
              <a:cs typeface="Verdana"/>
            </a:endParaRPr>
          </a:p>
          <a:p>
            <a:pPr marL="730250" indent="-244475">
              <a:lnSpc>
                <a:spcPct val="100000"/>
              </a:lnSpc>
              <a:spcBef>
                <a:spcPts val="409"/>
              </a:spcBef>
              <a:buSzPct val="89473"/>
              <a:buFont typeface="Arial MT"/>
              <a:buChar char="•"/>
              <a:tabLst>
                <a:tab pos="730250" algn="l"/>
                <a:tab pos="730885" algn="l"/>
              </a:tabLst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Guides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search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via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reference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values,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root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leaves</a:t>
            </a:r>
            <a:endParaRPr sz="1900">
              <a:latin typeface="Verdana"/>
              <a:cs typeface="Verdana"/>
            </a:endParaRPr>
          </a:p>
          <a:p>
            <a:pPr marL="242570" indent="-230504">
              <a:lnSpc>
                <a:spcPct val="100000"/>
              </a:lnSpc>
              <a:spcBef>
                <a:spcPts val="203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2570" algn="l"/>
                <a:tab pos="243204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Balance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same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length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path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root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leaves</a:t>
            </a:r>
            <a:endParaRPr sz="2100">
              <a:latin typeface="Verdana"/>
              <a:cs typeface="Verdana"/>
            </a:endParaRPr>
          </a:p>
          <a:p>
            <a:pPr marL="242570" indent="-230504">
              <a:lnSpc>
                <a:spcPct val="100000"/>
              </a:lnSpc>
              <a:spcBef>
                <a:spcPts val="187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2570" algn="l"/>
                <a:tab pos="243204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Extensible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number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pointers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(n)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node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6488" y="2572511"/>
            <a:ext cx="926591" cy="147523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6943" y="2572511"/>
            <a:ext cx="829055" cy="147828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112993" y="2725454"/>
            <a:ext cx="4395470" cy="1124585"/>
          </a:xfrm>
          <a:prstGeom prst="rect">
            <a:avLst/>
          </a:prstGeom>
          <a:solidFill>
            <a:srgbClr val="FFFDF0"/>
          </a:solidFill>
          <a:ln w="10159">
            <a:solidFill>
              <a:srgbClr val="7F7F7F"/>
            </a:solidFill>
          </a:ln>
        </p:spPr>
        <p:txBody>
          <a:bodyPr vert="horz" wrap="square" lIns="0" tIns="170815" rIns="0" bIns="0" rtlCol="0">
            <a:spAutoFit/>
          </a:bodyPr>
          <a:lstStyle/>
          <a:p>
            <a:pPr marL="149860" marR="129539" algn="ctr">
              <a:lnSpc>
                <a:spcPct val="90000"/>
              </a:lnSpc>
              <a:spcBef>
                <a:spcPts val="1345"/>
              </a:spcBef>
            </a:pP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Balance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sorted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tree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allowing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fast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search and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maintenance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without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overflow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pages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126" y="322071"/>
            <a:ext cx="426783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B</a:t>
            </a:r>
            <a:r>
              <a:rPr dirty="0"/>
              <a:t>+</a:t>
            </a:r>
            <a:r>
              <a:rPr spc="-254" dirty="0"/>
              <a:t> </a:t>
            </a:r>
            <a:r>
              <a:rPr spc="-135" dirty="0"/>
              <a:t>T</a:t>
            </a:r>
            <a:r>
              <a:rPr spc="-130" dirty="0"/>
              <a:t>r</a:t>
            </a:r>
            <a:r>
              <a:rPr spc="-125" dirty="0"/>
              <a:t>ee</a:t>
            </a:r>
            <a:r>
              <a:rPr dirty="0"/>
              <a:t>:</a:t>
            </a:r>
            <a:r>
              <a:rPr spc="-245" dirty="0"/>
              <a:t> </a:t>
            </a:r>
            <a:r>
              <a:rPr spc="-135" dirty="0"/>
              <a:t>N</a:t>
            </a:r>
            <a:r>
              <a:rPr spc="-125" dirty="0"/>
              <a:t>o</a:t>
            </a:r>
            <a:r>
              <a:rPr spc="-130" dirty="0"/>
              <a:t>d</a:t>
            </a:r>
            <a:r>
              <a:rPr dirty="0"/>
              <a:t>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56000" y="3586121"/>
            <a:ext cx="2849245" cy="430530"/>
            <a:chOff x="3556000" y="3586121"/>
            <a:chExt cx="2849245" cy="430530"/>
          </a:xfrm>
        </p:grpSpPr>
        <p:sp>
          <p:nvSpPr>
            <p:cNvPr id="4" name="object 4"/>
            <p:cNvSpPr/>
            <p:nvPr/>
          </p:nvSpPr>
          <p:spPr>
            <a:xfrm>
              <a:off x="3566160" y="3596281"/>
              <a:ext cx="2828925" cy="410209"/>
            </a:xfrm>
            <a:custGeom>
              <a:avLst/>
              <a:gdLst/>
              <a:ahLst/>
              <a:cxnLst/>
              <a:rect l="l" t="t" r="r" b="b"/>
              <a:pathLst>
                <a:path w="2828925" h="410210">
                  <a:moveTo>
                    <a:pt x="2828543" y="0"/>
                  </a:moveTo>
                  <a:lnTo>
                    <a:pt x="0" y="0"/>
                  </a:lnTo>
                  <a:lnTo>
                    <a:pt x="0" y="409651"/>
                  </a:lnTo>
                  <a:lnTo>
                    <a:pt x="2828543" y="409651"/>
                  </a:lnTo>
                  <a:lnTo>
                    <a:pt x="2828543" y="0"/>
                  </a:lnTo>
                  <a:close/>
                </a:path>
              </a:pathLst>
            </a:custGeom>
            <a:solidFill>
              <a:srgbClr val="A6A6A6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66160" y="3596281"/>
              <a:ext cx="2828925" cy="410209"/>
            </a:xfrm>
            <a:custGeom>
              <a:avLst/>
              <a:gdLst/>
              <a:ahLst/>
              <a:cxnLst/>
              <a:rect l="l" t="t" r="r" b="b"/>
              <a:pathLst>
                <a:path w="2828925" h="410210">
                  <a:moveTo>
                    <a:pt x="0" y="0"/>
                  </a:moveTo>
                  <a:lnTo>
                    <a:pt x="2828543" y="0"/>
                  </a:lnTo>
                  <a:lnTo>
                    <a:pt x="2828543" y="409651"/>
                  </a:lnTo>
                  <a:lnTo>
                    <a:pt x="0" y="409651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36101" y="3596887"/>
              <a:ext cx="511809" cy="402590"/>
            </a:xfrm>
            <a:custGeom>
              <a:avLst/>
              <a:gdLst/>
              <a:ahLst/>
              <a:cxnLst/>
              <a:rect l="l" t="t" r="r" b="b"/>
              <a:pathLst>
                <a:path w="511810" h="402589">
                  <a:moveTo>
                    <a:pt x="511592" y="0"/>
                  </a:moveTo>
                  <a:lnTo>
                    <a:pt x="0" y="0"/>
                  </a:lnTo>
                  <a:lnTo>
                    <a:pt x="0" y="401994"/>
                  </a:lnTo>
                  <a:lnTo>
                    <a:pt x="511592" y="401994"/>
                  </a:lnTo>
                  <a:lnTo>
                    <a:pt x="5115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36101" y="3596887"/>
              <a:ext cx="511809" cy="402590"/>
            </a:xfrm>
            <a:custGeom>
              <a:avLst/>
              <a:gdLst/>
              <a:ahLst/>
              <a:cxnLst/>
              <a:rect l="l" t="t" r="r" b="b"/>
              <a:pathLst>
                <a:path w="511810" h="402589">
                  <a:moveTo>
                    <a:pt x="0" y="0"/>
                  </a:moveTo>
                  <a:lnTo>
                    <a:pt x="511592" y="0"/>
                  </a:lnTo>
                  <a:lnTo>
                    <a:pt x="511592" y="401994"/>
                  </a:lnTo>
                  <a:lnTo>
                    <a:pt x="0" y="40199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741181" y="3632200"/>
            <a:ext cx="5016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25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05055" y="3596887"/>
            <a:ext cx="511809" cy="402590"/>
          </a:xfrm>
          <a:custGeom>
            <a:avLst/>
            <a:gdLst/>
            <a:ahLst/>
            <a:cxnLst/>
            <a:rect l="l" t="t" r="r" b="b"/>
            <a:pathLst>
              <a:path w="511810" h="402589">
                <a:moveTo>
                  <a:pt x="0" y="0"/>
                </a:moveTo>
                <a:lnTo>
                  <a:pt x="511592" y="0"/>
                </a:lnTo>
                <a:lnTo>
                  <a:pt x="511592" y="401994"/>
                </a:lnTo>
                <a:lnTo>
                  <a:pt x="0" y="401994"/>
                </a:lnTo>
                <a:lnTo>
                  <a:pt x="0" y="0"/>
                </a:lnTo>
                <a:close/>
              </a:path>
            </a:pathLst>
          </a:custGeom>
          <a:ln w="10159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410135" y="3606441"/>
            <a:ext cx="501650" cy="3886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1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50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060223" y="3591807"/>
            <a:ext cx="521970" cy="412750"/>
            <a:chOff x="5060223" y="3591807"/>
            <a:chExt cx="521970" cy="412750"/>
          </a:xfrm>
        </p:grpSpPr>
        <p:sp>
          <p:nvSpPr>
            <p:cNvPr id="12" name="object 12"/>
            <p:cNvSpPr/>
            <p:nvPr/>
          </p:nvSpPr>
          <p:spPr>
            <a:xfrm>
              <a:off x="5065303" y="3596887"/>
              <a:ext cx="511809" cy="402590"/>
            </a:xfrm>
            <a:custGeom>
              <a:avLst/>
              <a:gdLst/>
              <a:ahLst/>
              <a:cxnLst/>
              <a:rect l="l" t="t" r="r" b="b"/>
              <a:pathLst>
                <a:path w="511810" h="402589">
                  <a:moveTo>
                    <a:pt x="511592" y="0"/>
                  </a:moveTo>
                  <a:lnTo>
                    <a:pt x="0" y="0"/>
                  </a:lnTo>
                  <a:lnTo>
                    <a:pt x="0" y="401994"/>
                  </a:lnTo>
                  <a:lnTo>
                    <a:pt x="511592" y="401994"/>
                  </a:lnTo>
                  <a:lnTo>
                    <a:pt x="5115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65303" y="3596887"/>
              <a:ext cx="511809" cy="402590"/>
            </a:xfrm>
            <a:custGeom>
              <a:avLst/>
              <a:gdLst/>
              <a:ahLst/>
              <a:cxnLst/>
              <a:rect l="l" t="t" r="r" b="b"/>
              <a:pathLst>
                <a:path w="511810" h="402589">
                  <a:moveTo>
                    <a:pt x="0" y="0"/>
                  </a:moveTo>
                  <a:lnTo>
                    <a:pt x="511592" y="0"/>
                  </a:lnTo>
                  <a:lnTo>
                    <a:pt x="511592" y="401994"/>
                  </a:lnTo>
                  <a:lnTo>
                    <a:pt x="0" y="40199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070383" y="3632200"/>
            <a:ext cx="5016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75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47898" y="3591807"/>
            <a:ext cx="9293860" cy="3193415"/>
            <a:chOff x="347898" y="3591807"/>
            <a:chExt cx="9293860" cy="3193415"/>
          </a:xfrm>
        </p:grpSpPr>
        <p:sp>
          <p:nvSpPr>
            <p:cNvPr id="16" name="object 16"/>
            <p:cNvSpPr/>
            <p:nvPr/>
          </p:nvSpPr>
          <p:spPr>
            <a:xfrm>
              <a:off x="5725547" y="3596887"/>
              <a:ext cx="511809" cy="402590"/>
            </a:xfrm>
            <a:custGeom>
              <a:avLst/>
              <a:gdLst/>
              <a:ahLst/>
              <a:cxnLst/>
              <a:rect l="l" t="t" r="r" b="b"/>
              <a:pathLst>
                <a:path w="511810" h="402589">
                  <a:moveTo>
                    <a:pt x="511592" y="0"/>
                  </a:moveTo>
                  <a:lnTo>
                    <a:pt x="0" y="0"/>
                  </a:lnTo>
                  <a:lnTo>
                    <a:pt x="0" y="401994"/>
                  </a:lnTo>
                  <a:lnTo>
                    <a:pt x="511592" y="401994"/>
                  </a:lnTo>
                  <a:lnTo>
                    <a:pt x="5115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25547" y="3596887"/>
              <a:ext cx="511809" cy="402590"/>
            </a:xfrm>
            <a:custGeom>
              <a:avLst/>
              <a:gdLst/>
              <a:ahLst/>
              <a:cxnLst/>
              <a:rect l="l" t="t" r="r" b="b"/>
              <a:pathLst>
                <a:path w="511810" h="402589">
                  <a:moveTo>
                    <a:pt x="0" y="0"/>
                  </a:moveTo>
                  <a:lnTo>
                    <a:pt x="511592" y="0"/>
                  </a:lnTo>
                  <a:lnTo>
                    <a:pt x="511592" y="401994"/>
                  </a:lnTo>
                  <a:lnTo>
                    <a:pt x="0" y="40199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5065" y="3865244"/>
              <a:ext cx="6793230" cy="1096645"/>
            </a:xfrm>
            <a:custGeom>
              <a:avLst/>
              <a:gdLst/>
              <a:ahLst/>
              <a:cxnLst/>
              <a:rect l="l" t="t" r="r" b="b"/>
              <a:pathLst>
                <a:path w="6793230" h="1096645">
                  <a:moveTo>
                    <a:pt x="2860421" y="9499"/>
                  </a:moveTo>
                  <a:lnTo>
                    <a:pt x="2856827" y="0"/>
                  </a:lnTo>
                  <a:lnTo>
                    <a:pt x="74218" y="1053515"/>
                  </a:lnTo>
                  <a:lnTo>
                    <a:pt x="61620" y="1020267"/>
                  </a:lnTo>
                  <a:lnTo>
                    <a:pt x="0" y="1087056"/>
                  </a:lnTo>
                  <a:lnTo>
                    <a:pt x="90398" y="1096276"/>
                  </a:lnTo>
                  <a:lnTo>
                    <a:pt x="79629" y="1067816"/>
                  </a:lnTo>
                  <a:lnTo>
                    <a:pt x="77812" y="1063028"/>
                  </a:lnTo>
                  <a:lnTo>
                    <a:pt x="2860421" y="9499"/>
                  </a:lnTo>
                  <a:close/>
                </a:path>
                <a:path w="6793230" h="1096645">
                  <a:moveTo>
                    <a:pt x="3525710" y="8610"/>
                  </a:moveTo>
                  <a:lnTo>
                    <a:pt x="3519106" y="889"/>
                  </a:lnTo>
                  <a:lnTo>
                    <a:pt x="2334298" y="1014666"/>
                  </a:lnTo>
                  <a:lnTo>
                    <a:pt x="2311171" y="987640"/>
                  </a:lnTo>
                  <a:lnTo>
                    <a:pt x="2275840" y="1071359"/>
                  </a:lnTo>
                  <a:lnTo>
                    <a:pt x="2364016" y="1049401"/>
                  </a:lnTo>
                  <a:lnTo>
                    <a:pt x="2348433" y="1031189"/>
                  </a:lnTo>
                  <a:lnTo>
                    <a:pt x="2340902" y="1022388"/>
                  </a:lnTo>
                  <a:lnTo>
                    <a:pt x="3525710" y="8610"/>
                  </a:lnTo>
                  <a:close/>
                </a:path>
                <a:path w="6793230" h="1096645">
                  <a:moveTo>
                    <a:pt x="4589183" y="996772"/>
                  </a:moveTo>
                  <a:lnTo>
                    <a:pt x="4555756" y="1008926"/>
                  </a:lnTo>
                  <a:lnTo>
                    <a:pt x="4189882" y="3009"/>
                  </a:lnTo>
                  <a:lnTo>
                    <a:pt x="4180344" y="6489"/>
                  </a:lnTo>
                  <a:lnTo>
                    <a:pt x="4546219" y="1012405"/>
                  </a:lnTo>
                  <a:lnTo>
                    <a:pt x="4512792" y="1024559"/>
                  </a:lnTo>
                  <a:lnTo>
                    <a:pt x="4578769" y="1087056"/>
                  </a:lnTo>
                  <a:lnTo>
                    <a:pt x="4585906" y="1025131"/>
                  </a:lnTo>
                  <a:lnTo>
                    <a:pt x="4589183" y="996772"/>
                  </a:lnTo>
                  <a:close/>
                </a:path>
                <a:path w="6793230" h="1096645">
                  <a:moveTo>
                    <a:pt x="6792696" y="1087056"/>
                  </a:moveTo>
                  <a:lnTo>
                    <a:pt x="6773227" y="1058722"/>
                  </a:lnTo>
                  <a:lnTo>
                    <a:pt x="6741236" y="1012151"/>
                  </a:lnTo>
                  <a:lnTo>
                    <a:pt x="6724028" y="1043279"/>
                  </a:lnTo>
                  <a:lnTo>
                    <a:pt x="4837811" y="304"/>
                  </a:lnTo>
                  <a:lnTo>
                    <a:pt x="4832896" y="9194"/>
                  </a:lnTo>
                  <a:lnTo>
                    <a:pt x="6719113" y="1052169"/>
                  </a:lnTo>
                  <a:lnTo>
                    <a:pt x="6701904" y="1083284"/>
                  </a:lnTo>
                  <a:lnTo>
                    <a:pt x="6792696" y="1087056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2978" y="5870819"/>
              <a:ext cx="9283700" cy="909319"/>
            </a:xfrm>
            <a:custGeom>
              <a:avLst/>
              <a:gdLst/>
              <a:ahLst/>
              <a:cxnLst/>
              <a:rect l="l" t="t" r="r" b="b"/>
              <a:pathLst>
                <a:path w="9283700" h="909320">
                  <a:moveTo>
                    <a:pt x="9283308" y="0"/>
                  </a:moveTo>
                  <a:lnTo>
                    <a:pt x="0" y="0"/>
                  </a:lnTo>
                  <a:lnTo>
                    <a:pt x="0" y="909066"/>
                  </a:lnTo>
                  <a:lnTo>
                    <a:pt x="9283308" y="909066"/>
                  </a:lnTo>
                  <a:lnTo>
                    <a:pt x="9283308" y="0"/>
                  </a:lnTo>
                  <a:close/>
                </a:path>
              </a:pathLst>
            </a:custGeom>
            <a:solidFill>
              <a:srgbClr val="E6E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2978" y="5870819"/>
              <a:ext cx="9283700" cy="909319"/>
            </a:xfrm>
            <a:custGeom>
              <a:avLst/>
              <a:gdLst/>
              <a:ahLst/>
              <a:cxnLst/>
              <a:rect l="l" t="t" r="r" b="b"/>
              <a:pathLst>
                <a:path w="9283700" h="909320">
                  <a:moveTo>
                    <a:pt x="0" y="0"/>
                  </a:moveTo>
                  <a:lnTo>
                    <a:pt x="9283308" y="0"/>
                  </a:lnTo>
                  <a:lnTo>
                    <a:pt x="9283308" y="909066"/>
                  </a:lnTo>
                  <a:lnTo>
                    <a:pt x="0" y="909066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0905" y="5360987"/>
              <a:ext cx="8480425" cy="711835"/>
            </a:xfrm>
            <a:custGeom>
              <a:avLst/>
              <a:gdLst/>
              <a:ahLst/>
              <a:cxnLst/>
              <a:rect l="l" t="t" r="r" b="b"/>
              <a:pathLst>
                <a:path w="8480425" h="711835">
                  <a:moveTo>
                    <a:pt x="81280" y="630339"/>
                  </a:moveTo>
                  <a:lnTo>
                    <a:pt x="45720" y="630339"/>
                  </a:lnTo>
                  <a:lnTo>
                    <a:pt x="45720" y="0"/>
                  </a:lnTo>
                  <a:lnTo>
                    <a:pt x="35560" y="0"/>
                  </a:lnTo>
                  <a:lnTo>
                    <a:pt x="35560" y="630339"/>
                  </a:lnTo>
                  <a:lnTo>
                    <a:pt x="0" y="630339"/>
                  </a:lnTo>
                  <a:lnTo>
                    <a:pt x="40640" y="711619"/>
                  </a:lnTo>
                  <a:lnTo>
                    <a:pt x="74510" y="643877"/>
                  </a:lnTo>
                  <a:lnTo>
                    <a:pt x="81280" y="630339"/>
                  </a:lnTo>
                  <a:close/>
                </a:path>
                <a:path w="8480425" h="711835">
                  <a:moveTo>
                    <a:pt x="541870" y="630339"/>
                  </a:moveTo>
                  <a:lnTo>
                    <a:pt x="506310" y="630339"/>
                  </a:lnTo>
                  <a:lnTo>
                    <a:pt x="506310" y="0"/>
                  </a:lnTo>
                  <a:lnTo>
                    <a:pt x="496150" y="0"/>
                  </a:lnTo>
                  <a:lnTo>
                    <a:pt x="496150" y="630339"/>
                  </a:lnTo>
                  <a:lnTo>
                    <a:pt x="460590" y="630339"/>
                  </a:lnTo>
                  <a:lnTo>
                    <a:pt x="501230" y="711619"/>
                  </a:lnTo>
                  <a:lnTo>
                    <a:pt x="535089" y="643877"/>
                  </a:lnTo>
                  <a:lnTo>
                    <a:pt x="541870" y="630339"/>
                  </a:lnTo>
                  <a:close/>
                </a:path>
                <a:path w="8480425" h="711835">
                  <a:moveTo>
                    <a:pt x="1090510" y="630339"/>
                  </a:moveTo>
                  <a:lnTo>
                    <a:pt x="1054950" y="630339"/>
                  </a:lnTo>
                  <a:lnTo>
                    <a:pt x="1054950" y="0"/>
                  </a:lnTo>
                  <a:lnTo>
                    <a:pt x="1044790" y="0"/>
                  </a:lnTo>
                  <a:lnTo>
                    <a:pt x="1044790" y="630339"/>
                  </a:lnTo>
                  <a:lnTo>
                    <a:pt x="1009230" y="630339"/>
                  </a:lnTo>
                  <a:lnTo>
                    <a:pt x="1049870" y="711619"/>
                  </a:lnTo>
                  <a:lnTo>
                    <a:pt x="1083729" y="643877"/>
                  </a:lnTo>
                  <a:lnTo>
                    <a:pt x="1090510" y="630339"/>
                  </a:lnTo>
                  <a:close/>
                </a:path>
                <a:path w="8480425" h="711835">
                  <a:moveTo>
                    <a:pt x="1584960" y="630339"/>
                  </a:moveTo>
                  <a:lnTo>
                    <a:pt x="1549400" y="630339"/>
                  </a:lnTo>
                  <a:lnTo>
                    <a:pt x="1549400" y="0"/>
                  </a:lnTo>
                  <a:lnTo>
                    <a:pt x="1539240" y="0"/>
                  </a:lnTo>
                  <a:lnTo>
                    <a:pt x="1539240" y="630339"/>
                  </a:lnTo>
                  <a:lnTo>
                    <a:pt x="1503680" y="630339"/>
                  </a:lnTo>
                  <a:lnTo>
                    <a:pt x="1544320" y="711619"/>
                  </a:lnTo>
                  <a:lnTo>
                    <a:pt x="1578190" y="643877"/>
                  </a:lnTo>
                  <a:lnTo>
                    <a:pt x="1584960" y="630339"/>
                  </a:lnTo>
                  <a:close/>
                </a:path>
                <a:path w="8480425" h="711835">
                  <a:moveTo>
                    <a:pt x="2377440" y="630339"/>
                  </a:moveTo>
                  <a:lnTo>
                    <a:pt x="2341880" y="630339"/>
                  </a:lnTo>
                  <a:lnTo>
                    <a:pt x="2341880" y="0"/>
                  </a:lnTo>
                  <a:lnTo>
                    <a:pt x="2331720" y="0"/>
                  </a:lnTo>
                  <a:lnTo>
                    <a:pt x="2331720" y="630339"/>
                  </a:lnTo>
                  <a:lnTo>
                    <a:pt x="2296160" y="630339"/>
                  </a:lnTo>
                  <a:lnTo>
                    <a:pt x="2336800" y="711619"/>
                  </a:lnTo>
                  <a:lnTo>
                    <a:pt x="2370671" y="643877"/>
                  </a:lnTo>
                  <a:lnTo>
                    <a:pt x="2377440" y="630339"/>
                  </a:lnTo>
                  <a:close/>
                </a:path>
                <a:path w="8480425" h="711835">
                  <a:moveTo>
                    <a:pt x="2858351" y="630339"/>
                  </a:moveTo>
                  <a:lnTo>
                    <a:pt x="2822791" y="630339"/>
                  </a:lnTo>
                  <a:lnTo>
                    <a:pt x="2822791" y="0"/>
                  </a:lnTo>
                  <a:lnTo>
                    <a:pt x="2812631" y="0"/>
                  </a:lnTo>
                  <a:lnTo>
                    <a:pt x="2812631" y="630339"/>
                  </a:lnTo>
                  <a:lnTo>
                    <a:pt x="2777071" y="630339"/>
                  </a:lnTo>
                  <a:lnTo>
                    <a:pt x="2817711" y="711619"/>
                  </a:lnTo>
                  <a:lnTo>
                    <a:pt x="2851569" y="643877"/>
                  </a:lnTo>
                  <a:lnTo>
                    <a:pt x="2858351" y="630339"/>
                  </a:lnTo>
                  <a:close/>
                </a:path>
                <a:path w="8480425" h="711835">
                  <a:moveTo>
                    <a:pt x="4680369" y="630339"/>
                  </a:moveTo>
                  <a:lnTo>
                    <a:pt x="4644809" y="630339"/>
                  </a:lnTo>
                  <a:lnTo>
                    <a:pt x="4644809" y="0"/>
                  </a:lnTo>
                  <a:lnTo>
                    <a:pt x="4634649" y="0"/>
                  </a:lnTo>
                  <a:lnTo>
                    <a:pt x="4634649" y="630339"/>
                  </a:lnTo>
                  <a:lnTo>
                    <a:pt x="4599089" y="630339"/>
                  </a:lnTo>
                  <a:lnTo>
                    <a:pt x="4639729" y="711619"/>
                  </a:lnTo>
                  <a:lnTo>
                    <a:pt x="4673600" y="643877"/>
                  </a:lnTo>
                  <a:lnTo>
                    <a:pt x="4680369" y="630339"/>
                  </a:lnTo>
                  <a:close/>
                </a:path>
                <a:path w="8480425" h="711835">
                  <a:moveTo>
                    <a:pt x="5161280" y="630339"/>
                  </a:moveTo>
                  <a:lnTo>
                    <a:pt x="5125720" y="630339"/>
                  </a:lnTo>
                  <a:lnTo>
                    <a:pt x="5125720" y="0"/>
                  </a:lnTo>
                  <a:lnTo>
                    <a:pt x="5115560" y="0"/>
                  </a:lnTo>
                  <a:lnTo>
                    <a:pt x="5115560" y="630339"/>
                  </a:lnTo>
                  <a:lnTo>
                    <a:pt x="5080000" y="630339"/>
                  </a:lnTo>
                  <a:lnTo>
                    <a:pt x="5120640" y="711619"/>
                  </a:lnTo>
                  <a:lnTo>
                    <a:pt x="5154511" y="643877"/>
                  </a:lnTo>
                  <a:lnTo>
                    <a:pt x="5161280" y="630339"/>
                  </a:lnTo>
                  <a:close/>
                </a:path>
                <a:path w="8480425" h="711835">
                  <a:moveTo>
                    <a:pt x="5689600" y="630339"/>
                  </a:moveTo>
                  <a:lnTo>
                    <a:pt x="5654040" y="630339"/>
                  </a:lnTo>
                  <a:lnTo>
                    <a:pt x="5654040" y="0"/>
                  </a:lnTo>
                  <a:lnTo>
                    <a:pt x="5643880" y="0"/>
                  </a:lnTo>
                  <a:lnTo>
                    <a:pt x="5643880" y="630339"/>
                  </a:lnTo>
                  <a:lnTo>
                    <a:pt x="5608320" y="630339"/>
                  </a:lnTo>
                  <a:lnTo>
                    <a:pt x="5648960" y="711619"/>
                  </a:lnTo>
                  <a:lnTo>
                    <a:pt x="5682831" y="643877"/>
                  </a:lnTo>
                  <a:lnTo>
                    <a:pt x="5689600" y="630339"/>
                  </a:lnTo>
                  <a:close/>
                </a:path>
                <a:path w="8480425" h="711835">
                  <a:moveTo>
                    <a:pt x="6184049" y="630339"/>
                  </a:moveTo>
                  <a:lnTo>
                    <a:pt x="6148489" y="630339"/>
                  </a:lnTo>
                  <a:lnTo>
                    <a:pt x="6148489" y="0"/>
                  </a:lnTo>
                  <a:lnTo>
                    <a:pt x="6138329" y="0"/>
                  </a:lnTo>
                  <a:lnTo>
                    <a:pt x="6138329" y="630339"/>
                  </a:lnTo>
                  <a:lnTo>
                    <a:pt x="6102769" y="630339"/>
                  </a:lnTo>
                  <a:lnTo>
                    <a:pt x="6143409" y="711619"/>
                  </a:lnTo>
                  <a:lnTo>
                    <a:pt x="6177280" y="643877"/>
                  </a:lnTo>
                  <a:lnTo>
                    <a:pt x="6184049" y="630339"/>
                  </a:lnTo>
                  <a:close/>
                </a:path>
                <a:path w="8480425" h="711835">
                  <a:moveTo>
                    <a:pt x="6976529" y="630339"/>
                  </a:moveTo>
                  <a:lnTo>
                    <a:pt x="6940969" y="630339"/>
                  </a:lnTo>
                  <a:lnTo>
                    <a:pt x="6940969" y="0"/>
                  </a:lnTo>
                  <a:lnTo>
                    <a:pt x="6930809" y="0"/>
                  </a:lnTo>
                  <a:lnTo>
                    <a:pt x="6930809" y="630339"/>
                  </a:lnTo>
                  <a:lnTo>
                    <a:pt x="6895249" y="630339"/>
                  </a:lnTo>
                  <a:lnTo>
                    <a:pt x="6935889" y="711619"/>
                  </a:lnTo>
                  <a:lnTo>
                    <a:pt x="6969760" y="643877"/>
                  </a:lnTo>
                  <a:lnTo>
                    <a:pt x="6976529" y="630339"/>
                  </a:lnTo>
                  <a:close/>
                </a:path>
                <a:path w="8480425" h="711835">
                  <a:moveTo>
                    <a:pt x="7437120" y="630339"/>
                  </a:moveTo>
                  <a:lnTo>
                    <a:pt x="7401560" y="630339"/>
                  </a:lnTo>
                  <a:lnTo>
                    <a:pt x="7401560" y="0"/>
                  </a:lnTo>
                  <a:lnTo>
                    <a:pt x="7391400" y="0"/>
                  </a:lnTo>
                  <a:lnTo>
                    <a:pt x="7391400" y="630339"/>
                  </a:lnTo>
                  <a:lnTo>
                    <a:pt x="7355840" y="630339"/>
                  </a:lnTo>
                  <a:lnTo>
                    <a:pt x="7396480" y="711619"/>
                  </a:lnTo>
                  <a:lnTo>
                    <a:pt x="7430351" y="643877"/>
                  </a:lnTo>
                  <a:lnTo>
                    <a:pt x="7437120" y="630339"/>
                  </a:lnTo>
                  <a:close/>
                </a:path>
                <a:path w="8480425" h="711835">
                  <a:moveTo>
                    <a:pt x="8006080" y="630339"/>
                  </a:moveTo>
                  <a:lnTo>
                    <a:pt x="7970520" y="630339"/>
                  </a:lnTo>
                  <a:lnTo>
                    <a:pt x="7970520" y="0"/>
                  </a:lnTo>
                  <a:lnTo>
                    <a:pt x="7960360" y="0"/>
                  </a:lnTo>
                  <a:lnTo>
                    <a:pt x="7960360" y="630339"/>
                  </a:lnTo>
                  <a:lnTo>
                    <a:pt x="7924800" y="630339"/>
                  </a:lnTo>
                  <a:lnTo>
                    <a:pt x="7965440" y="711619"/>
                  </a:lnTo>
                  <a:lnTo>
                    <a:pt x="7999311" y="643877"/>
                  </a:lnTo>
                  <a:lnTo>
                    <a:pt x="8006080" y="630339"/>
                  </a:lnTo>
                  <a:close/>
                </a:path>
                <a:path w="8480425" h="711835">
                  <a:moveTo>
                    <a:pt x="8480209" y="630339"/>
                  </a:moveTo>
                  <a:lnTo>
                    <a:pt x="8444649" y="630339"/>
                  </a:lnTo>
                  <a:lnTo>
                    <a:pt x="8444649" y="0"/>
                  </a:lnTo>
                  <a:lnTo>
                    <a:pt x="8434489" y="0"/>
                  </a:lnTo>
                  <a:lnTo>
                    <a:pt x="8434489" y="630339"/>
                  </a:lnTo>
                  <a:lnTo>
                    <a:pt x="8398929" y="630339"/>
                  </a:lnTo>
                  <a:lnTo>
                    <a:pt x="8439569" y="711619"/>
                  </a:lnTo>
                  <a:lnTo>
                    <a:pt x="8473440" y="643877"/>
                  </a:lnTo>
                  <a:lnTo>
                    <a:pt x="8480209" y="630339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37694" y="3304032"/>
            <a:ext cx="4692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root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8403" y="6425184"/>
            <a:ext cx="3429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DB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70797" y="4193856"/>
            <a:ext cx="683260" cy="292735"/>
          </a:xfrm>
          <a:prstGeom prst="rect">
            <a:avLst/>
          </a:prstGeom>
          <a:solidFill>
            <a:srgbClr val="FFFFFF">
              <a:alpha val="94898"/>
            </a:srgbClr>
          </a:solidFill>
        </p:spPr>
        <p:txBody>
          <a:bodyPr vert="horz" wrap="square" lIns="0" tIns="381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30"/>
              </a:spcBef>
            </a:pPr>
            <a:r>
              <a:rPr sz="1700" dirty="0">
                <a:solidFill>
                  <a:srgbClr val="011EAA"/>
                </a:solidFill>
                <a:latin typeface="Verdana"/>
                <a:cs typeface="Verdana"/>
              </a:rPr>
              <a:t>&lt;25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295331" y="4133306"/>
            <a:ext cx="1560830" cy="292735"/>
          </a:xfrm>
          <a:custGeom>
            <a:avLst/>
            <a:gdLst/>
            <a:ahLst/>
            <a:cxnLst/>
            <a:rect l="l" t="t" r="r" b="b"/>
            <a:pathLst>
              <a:path w="1560829" h="292735">
                <a:moveTo>
                  <a:pt x="1560576" y="0"/>
                </a:moveTo>
                <a:lnTo>
                  <a:pt x="0" y="0"/>
                </a:lnTo>
                <a:lnTo>
                  <a:pt x="0" y="292608"/>
                </a:lnTo>
                <a:lnTo>
                  <a:pt x="1560576" y="292608"/>
                </a:lnTo>
                <a:lnTo>
                  <a:pt x="1560576" y="0"/>
                </a:lnTo>
                <a:close/>
              </a:path>
            </a:pathLst>
          </a:custGeom>
          <a:solidFill>
            <a:srgbClr val="FFFFFF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18808" y="4123944"/>
            <a:ext cx="1313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011EAA"/>
                </a:solidFill>
                <a:latin typeface="Verdana"/>
                <a:cs typeface="Verdana"/>
              </a:rPr>
              <a:t>25≤key&lt;50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677091" y="4444879"/>
            <a:ext cx="1560830" cy="292735"/>
          </a:xfrm>
          <a:custGeom>
            <a:avLst/>
            <a:gdLst/>
            <a:ahLst/>
            <a:cxnLst/>
            <a:rect l="l" t="t" r="r" b="b"/>
            <a:pathLst>
              <a:path w="1560829" h="292735">
                <a:moveTo>
                  <a:pt x="1560576" y="0"/>
                </a:moveTo>
                <a:lnTo>
                  <a:pt x="0" y="0"/>
                </a:lnTo>
                <a:lnTo>
                  <a:pt x="0" y="292607"/>
                </a:lnTo>
                <a:lnTo>
                  <a:pt x="1560576" y="292607"/>
                </a:lnTo>
                <a:lnTo>
                  <a:pt x="1560576" y="0"/>
                </a:lnTo>
                <a:close/>
              </a:path>
            </a:pathLst>
          </a:custGeom>
          <a:solidFill>
            <a:srgbClr val="FFFFFF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800568" y="4434840"/>
            <a:ext cx="1313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011EAA"/>
                </a:solidFill>
                <a:latin typeface="Verdana"/>
                <a:cs typeface="Verdana"/>
              </a:rPr>
              <a:t>50≤key&lt;75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037195" y="4159170"/>
            <a:ext cx="1560830" cy="292735"/>
          </a:xfrm>
          <a:custGeom>
            <a:avLst/>
            <a:gdLst/>
            <a:ahLst/>
            <a:cxnLst/>
            <a:rect l="l" t="t" r="r" b="b"/>
            <a:pathLst>
              <a:path w="1560829" h="292735">
                <a:moveTo>
                  <a:pt x="1560575" y="0"/>
                </a:moveTo>
                <a:lnTo>
                  <a:pt x="0" y="0"/>
                </a:lnTo>
                <a:lnTo>
                  <a:pt x="0" y="292608"/>
                </a:lnTo>
                <a:lnTo>
                  <a:pt x="1560575" y="292608"/>
                </a:lnTo>
                <a:lnTo>
                  <a:pt x="1560575" y="0"/>
                </a:lnTo>
                <a:close/>
              </a:path>
            </a:pathLst>
          </a:custGeom>
          <a:solidFill>
            <a:srgbClr val="FFFFFF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170833" y="4148328"/>
            <a:ext cx="12922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011EAA"/>
                </a:solidFill>
                <a:latin typeface="Verdana"/>
                <a:cs typeface="Verdana"/>
              </a:rPr>
              <a:t>75≤key&lt;</a:t>
            </a:r>
            <a:r>
              <a:rPr sz="1700" spc="-5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011EAA"/>
                </a:solidFill>
                <a:latin typeface="Verdana"/>
                <a:cs typeface="Verdana"/>
              </a:rPr>
              <a:t>…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4983" y="5425440"/>
            <a:ext cx="51676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100%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data direct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(1:1)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mapping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actual data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1360" y="1003807"/>
            <a:ext cx="9034780" cy="2390140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256540" indent="-243840">
              <a:lnSpc>
                <a:spcPct val="100000"/>
              </a:lnSpc>
              <a:spcBef>
                <a:spcPts val="1560"/>
              </a:spcBef>
              <a:buSzPct val="85714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Nodes: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root, internal node,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leaf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node</a:t>
            </a:r>
            <a:endParaRPr sz="2100">
              <a:latin typeface="Verdana"/>
              <a:cs typeface="Verdana"/>
            </a:endParaRPr>
          </a:p>
          <a:p>
            <a:pPr marL="256540" marR="5080" indent="-243840">
              <a:lnSpc>
                <a:spcPts val="2300"/>
              </a:lnSpc>
              <a:spcBef>
                <a:spcPts val="1725"/>
              </a:spcBef>
              <a:buSzPct val="85714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node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exactly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disk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page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(“page” 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“node”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used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interchangeably)</a:t>
            </a:r>
            <a:endParaRPr sz="2100">
              <a:latin typeface="Verdana"/>
              <a:cs typeface="Verdana"/>
            </a:endParaRPr>
          </a:p>
          <a:p>
            <a:pPr marL="256540" indent="-243840">
              <a:lnSpc>
                <a:spcPct val="100000"/>
              </a:lnSpc>
              <a:spcBef>
                <a:spcPts val="1145"/>
              </a:spcBef>
              <a:buSzPct val="85714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sz="2600" b="1" spc="-844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p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o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i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n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t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r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s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an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d</a:t>
            </a:r>
            <a:r>
              <a:rPr sz="21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600" b="1" spc="-30" dirty="0">
                <a:solidFill>
                  <a:srgbClr val="C00000"/>
                </a:solidFill>
                <a:latin typeface="Courier New"/>
                <a:cs typeface="Courier New"/>
              </a:rPr>
              <a:t>(n-1</a:t>
            </a:r>
            <a:r>
              <a:rPr sz="2600" b="1" dirty="0">
                <a:solidFill>
                  <a:srgbClr val="C00000"/>
                </a:solidFill>
                <a:latin typeface="Courier New"/>
                <a:cs typeface="Courier New"/>
              </a:rPr>
              <a:t>)</a:t>
            </a:r>
            <a:r>
              <a:rPr sz="2600" b="1" spc="-85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k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y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C00000"/>
                </a:solidFill>
                <a:latin typeface="Verdana"/>
                <a:cs typeface="Verdana"/>
              </a:rPr>
              <a:t>v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l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ue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s</a:t>
            </a:r>
            <a:endParaRPr sz="2100">
              <a:latin typeface="Verdana"/>
              <a:cs typeface="Verdana"/>
            </a:endParaRPr>
          </a:p>
          <a:p>
            <a:pPr marR="1864995" algn="r">
              <a:lnSpc>
                <a:spcPct val="100000"/>
              </a:lnSpc>
              <a:spcBef>
                <a:spcPts val="2005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5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95614" y="3337559"/>
            <a:ext cx="22917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(n-1)</a:t>
            </a:r>
            <a:r>
              <a:rPr sz="17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4</a:t>
            </a:r>
            <a:r>
              <a:rPr sz="17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29425" y="4947210"/>
            <a:ext cx="8976360" cy="404495"/>
            <a:chOff x="529425" y="4947210"/>
            <a:chExt cx="8976360" cy="404495"/>
          </a:xfrm>
        </p:grpSpPr>
        <p:sp>
          <p:nvSpPr>
            <p:cNvPr id="35" name="object 35"/>
            <p:cNvSpPr/>
            <p:nvPr/>
          </p:nvSpPr>
          <p:spPr>
            <a:xfrm>
              <a:off x="534505" y="4952290"/>
              <a:ext cx="511809" cy="394335"/>
            </a:xfrm>
            <a:custGeom>
              <a:avLst/>
              <a:gdLst/>
              <a:ahLst/>
              <a:cxnLst/>
              <a:rect l="l" t="t" r="r" b="b"/>
              <a:pathLst>
                <a:path w="511809" h="394335">
                  <a:moveTo>
                    <a:pt x="0" y="0"/>
                  </a:moveTo>
                  <a:lnTo>
                    <a:pt x="511592" y="0"/>
                  </a:lnTo>
                  <a:lnTo>
                    <a:pt x="51159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46709" y="4952290"/>
              <a:ext cx="511809" cy="394335"/>
            </a:xfrm>
            <a:custGeom>
              <a:avLst/>
              <a:gdLst/>
              <a:ahLst/>
              <a:cxnLst/>
              <a:rect l="l" t="t" r="r" b="b"/>
              <a:pathLst>
                <a:path w="511809" h="394335">
                  <a:moveTo>
                    <a:pt x="0" y="0"/>
                  </a:moveTo>
                  <a:lnTo>
                    <a:pt x="511592" y="0"/>
                  </a:lnTo>
                  <a:lnTo>
                    <a:pt x="51159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558913" y="4952290"/>
              <a:ext cx="511809" cy="394335"/>
            </a:xfrm>
            <a:custGeom>
              <a:avLst/>
              <a:gdLst/>
              <a:ahLst/>
              <a:cxnLst/>
              <a:rect l="l" t="t" r="r" b="b"/>
              <a:pathLst>
                <a:path w="511810" h="394335">
                  <a:moveTo>
                    <a:pt x="0" y="0"/>
                  </a:moveTo>
                  <a:lnTo>
                    <a:pt x="511592" y="0"/>
                  </a:lnTo>
                  <a:lnTo>
                    <a:pt x="51159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3026" y="5138371"/>
              <a:ext cx="216028" cy="8128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071113" y="4952290"/>
              <a:ext cx="511809" cy="394335"/>
            </a:xfrm>
            <a:custGeom>
              <a:avLst/>
              <a:gdLst/>
              <a:ahLst/>
              <a:cxnLst/>
              <a:rect l="l" t="t" r="r" b="b"/>
              <a:pathLst>
                <a:path w="511810" h="394335">
                  <a:moveTo>
                    <a:pt x="0" y="0"/>
                  </a:moveTo>
                  <a:lnTo>
                    <a:pt x="511592" y="0"/>
                  </a:lnTo>
                  <a:lnTo>
                    <a:pt x="51159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859693" y="4952290"/>
              <a:ext cx="511809" cy="394335"/>
            </a:xfrm>
            <a:custGeom>
              <a:avLst/>
              <a:gdLst/>
              <a:ahLst/>
              <a:cxnLst/>
              <a:rect l="l" t="t" r="r" b="b"/>
              <a:pathLst>
                <a:path w="511810" h="394335">
                  <a:moveTo>
                    <a:pt x="0" y="0"/>
                  </a:moveTo>
                  <a:lnTo>
                    <a:pt x="511592" y="0"/>
                  </a:lnTo>
                  <a:lnTo>
                    <a:pt x="51159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371896" y="4952290"/>
              <a:ext cx="511809" cy="394335"/>
            </a:xfrm>
            <a:custGeom>
              <a:avLst/>
              <a:gdLst/>
              <a:ahLst/>
              <a:cxnLst/>
              <a:rect l="l" t="t" r="r" b="b"/>
              <a:pathLst>
                <a:path w="511810" h="394335">
                  <a:moveTo>
                    <a:pt x="0" y="0"/>
                  </a:moveTo>
                  <a:lnTo>
                    <a:pt x="511592" y="0"/>
                  </a:lnTo>
                  <a:lnTo>
                    <a:pt x="51159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79088" y="4952290"/>
              <a:ext cx="511809" cy="394335"/>
            </a:xfrm>
            <a:custGeom>
              <a:avLst/>
              <a:gdLst/>
              <a:ahLst/>
              <a:cxnLst/>
              <a:rect l="l" t="t" r="r" b="b"/>
              <a:pathLst>
                <a:path w="511810" h="394335">
                  <a:moveTo>
                    <a:pt x="0" y="0"/>
                  </a:moveTo>
                  <a:lnTo>
                    <a:pt x="511592" y="0"/>
                  </a:lnTo>
                  <a:lnTo>
                    <a:pt x="51159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2252" y="5098496"/>
              <a:ext cx="216029" cy="81281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396301" y="4952290"/>
              <a:ext cx="511809" cy="394335"/>
            </a:xfrm>
            <a:custGeom>
              <a:avLst/>
              <a:gdLst/>
              <a:ahLst/>
              <a:cxnLst/>
              <a:rect l="l" t="t" r="r" b="b"/>
              <a:pathLst>
                <a:path w="511810" h="394335">
                  <a:moveTo>
                    <a:pt x="0" y="0"/>
                  </a:moveTo>
                  <a:lnTo>
                    <a:pt x="511592" y="0"/>
                  </a:lnTo>
                  <a:lnTo>
                    <a:pt x="51159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147144" y="4952290"/>
              <a:ext cx="511809" cy="394335"/>
            </a:xfrm>
            <a:custGeom>
              <a:avLst/>
              <a:gdLst/>
              <a:ahLst/>
              <a:cxnLst/>
              <a:rect l="l" t="t" r="r" b="b"/>
              <a:pathLst>
                <a:path w="511810" h="394335">
                  <a:moveTo>
                    <a:pt x="0" y="0"/>
                  </a:moveTo>
                  <a:lnTo>
                    <a:pt x="511592" y="0"/>
                  </a:lnTo>
                  <a:lnTo>
                    <a:pt x="51159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659350" y="4952290"/>
              <a:ext cx="511809" cy="394335"/>
            </a:xfrm>
            <a:custGeom>
              <a:avLst/>
              <a:gdLst/>
              <a:ahLst/>
              <a:cxnLst/>
              <a:rect l="l" t="t" r="r" b="b"/>
              <a:pathLst>
                <a:path w="511810" h="394335">
                  <a:moveTo>
                    <a:pt x="0" y="0"/>
                  </a:moveTo>
                  <a:lnTo>
                    <a:pt x="511592" y="0"/>
                  </a:lnTo>
                  <a:lnTo>
                    <a:pt x="51159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171552" y="4952290"/>
              <a:ext cx="511809" cy="394335"/>
            </a:xfrm>
            <a:custGeom>
              <a:avLst/>
              <a:gdLst/>
              <a:ahLst/>
              <a:cxnLst/>
              <a:rect l="l" t="t" r="r" b="b"/>
              <a:pathLst>
                <a:path w="511809" h="394335">
                  <a:moveTo>
                    <a:pt x="0" y="0"/>
                  </a:moveTo>
                  <a:lnTo>
                    <a:pt x="511592" y="0"/>
                  </a:lnTo>
                  <a:lnTo>
                    <a:pt x="51159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3394" y="5113831"/>
              <a:ext cx="216028" cy="81279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683753" y="4952290"/>
              <a:ext cx="511809" cy="394335"/>
            </a:xfrm>
            <a:custGeom>
              <a:avLst/>
              <a:gdLst/>
              <a:ahLst/>
              <a:cxnLst/>
              <a:rect l="l" t="t" r="r" b="b"/>
              <a:pathLst>
                <a:path w="511809" h="394335">
                  <a:moveTo>
                    <a:pt x="0" y="0"/>
                  </a:moveTo>
                  <a:lnTo>
                    <a:pt x="511592" y="0"/>
                  </a:lnTo>
                  <a:lnTo>
                    <a:pt x="51159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452013" y="4952290"/>
              <a:ext cx="511809" cy="394335"/>
            </a:xfrm>
            <a:custGeom>
              <a:avLst/>
              <a:gdLst/>
              <a:ahLst/>
              <a:cxnLst/>
              <a:rect l="l" t="t" r="r" b="b"/>
              <a:pathLst>
                <a:path w="511809" h="394335">
                  <a:moveTo>
                    <a:pt x="0" y="0"/>
                  </a:moveTo>
                  <a:lnTo>
                    <a:pt x="511592" y="0"/>
                  </a:lnTo>
                  <a:lnTo>
                    <a:pt x="51159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964218" y="4952290"/>
              <a:ext cx="511809" cy="394335"/>
            </a:xfrm>
            <a:custGeom>
              <a:avLst/>
              <a:gdLst/>
              <a:ahLst/>
              <a:cxnLst/>
              <a:rect l="l" t="t" r="r" b="b"/>
              <a:pathLst>
                <a:path w="511809" h="394335">
                  <a:moveTo>
                    <a:pt x="0" y="0"/>
                  </a:moveTo>
                  <a:lnTo>
                    <a:pt x="511592" y="0"/>
                  </a:lnTo>
                  <a:lnTo>
                    <a:pt x="51159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476420" y="4952290"/>
              <a:ext cx="511809" cy="394335"/>
            </a:xfrm>
            <a:custGeom>
              <a:avLst/>
              <a:gdLst/>
              <a:ahLst/>
              <a:cxnLst/>
              <a:rect l="l" t="t" r="r" b="b"/>
              <a:pathLst>
                <a:path w="511809" h="394335">
                  <a:moveTo>
                    <a:pt x="0" y="0"/>
                  </a:moveTo>
                  <a:lnTo>
                    <a:pt x="511592" y="0"/>
                  </a:lnTo>
                  <a:lnTo>
                    <a:pt x="51159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988621" y="4952290"/>
              <a:ext cx="511809" cy="394335"/>
            </a:xfrm>
            <a:custGeom>
              <a:avLst/>
              <a:gdLst/>
              <a:ahLst/>
              <a:cxnLst/>
              <a:rect l="l" t="t" r="r" b="b"/>
              <a:pathLst>
                <a:path w="511809" h="394335">
                  <a:moveTo>
                    <a:pt x="0" y="0"/>
                  </a:moveTo>
                  <a:lnTo>
                    <a:pt x="511592" y="0"/>
                  </a:lnTo>
                  <a:lnTo>
                    <a:pt x="51159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05074" y="4540824"/>
            <a:ext cx="9108440" cy="76327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leaves</a:t>
            </a:r>
            <a:endParaRPr sz="1700">
              <a:latin typeface="Verdana"/>
              <a:cs typeface="Verdana"/>
            </a:endParaRPr>
          </a:p>
          <a:p>
            <a:pPr marL="407034">
              <a:lnSpc>
                <a:spcPct val="100000"/>
              </a:lnSpc>
              <a:spcBef>
                <a:spcPts val="785"/>
              </a:spcBef>
              <a:tabLst>
                <a:tab pos="838835" algn="l"/>
                <a:tab pos="1353185" algn="l"/>
                <a:tab pos="1865630" algn="l"/>
                <a:tab pos="2654300" algn="l"/>
                <a:tab pos="3164205" algn="l"/>
                <a:tab pos="4941570" algn="l"/>
                <a:tab pos="5451475" algn="l"/>
                <a:tab pos="5965825" algn="l"/>
                <a:tab pos="6478270" algn="l"/>
                <a:tab pos="7246620" algn="l"/>
                <a:tab pos="7756525" algn="l"/>
                <a:tab pos="8270875" algn="l"/>
                <a:tab pos="8783320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5	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0	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5	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0	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5	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3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0	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5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0	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5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5	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6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0	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7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0	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7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5	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8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0	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8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5	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90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52978" y="4916989"/>
            <a:ext cx="9283700" cy="873760"/>
            <a:chOff x="352978" y="4916989"/>
            <a:chExt cx="9283700" cy="873760"/>
          </a:xfrm>
        </p:grpSpPr>
        <p:sp>
          <p:nvSpPr>
            <p:cNvPr id="56" name="object 56"/>
            <p:cNvSpPr/>
            <p:nvPr/>
          </p:nvSpPr>
          <p:spPr>
            <a:xfrm>
              <a:off x="560303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97535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5" y="393954"/>
                  </a:lnTo>
                  <a:lnTo>
                    <a:pt x="9753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60303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3567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97536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6" y="393954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13567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15167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97536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6" y="393954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15167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63935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90" h="394335">
                  <a:moveTo>
                    <a:pt x="97536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6" y="393954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63935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90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106717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90" h="394335">
                  <a:moveTo>
                    <a:pt x="97536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6" y="393954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106717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90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30687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97536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6" y="393954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30687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83951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97536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6" y="393954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83951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85551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97536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6" y="393954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5551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34319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97536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6" y="393954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34319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81055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97536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6" y="393954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81055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89919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90" h="394335">
                  <a:moveTo>
                    <a:pt x="97535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5" y="393954"/>
                  </a:lnTo>
                  <a:lnTo>
                    <a:pt x="9753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89919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90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43183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90" h="394335">
                  <a:moveTo>
                    <a:pt x="97536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6" y="393954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43183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90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44783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90" h="394335">
                  <a:moveTo>
                    <a:pt x="97536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6" y="393954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44783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90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8935517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90" h="394335">
                  <a:moveTo>
                    <a:pt x="97536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6" y="393954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8935517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90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42319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90" h="394335">
                  <a:moveTo>
                    <a:pt x="97535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5" y="393954"/>
                  </a:lnTo>
                  <a:lnTo>
                    <a:pt x="9753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942319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90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9039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90" h="394335">
                  <a:moveTo>
                    <a:pt x="97535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5" y="393954"/>
                  </a:lnTo>
                  <a:lnTo>
                    <a:pt x="9753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99039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90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2303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90" h="394335">
                  <a:moveTo>
                    <a:pt x="97536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6" y="393954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2303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90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53903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97536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6" y="393954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53903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02671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97536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6" y="393954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02671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49407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97536" y="0"/>
                  </a:moveTo>
                  <a:lnTo>
                    <a:pt x="0" y="0"/>
                  </a:lnTo>
                  <a:lnTo>
                    <a:pt x="0" y="393954"/>
                  </a:lnTo>
                  <a:lnTo>
                    <a:pt x="97536" y="393954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494076" y="4949342"/>
              <a:ext cx="97790" cy="394335"/>
            </a:xfrm>
            <a:custGeom>
              <a:avLst/>
              <a:gdLst/>
              <a:ahLst/>
              <a:cxnLst/>
              <a:rect l="l" t="t" r="r" b="b"/>
              <a:pathLst>
                <a:path w="97789" h="394335">
                  <a:moveTo>
                    <a:pt x="0" y="0"/>
                  </a:moveTo>
                  <a:lnTo>
                    <a:pt x="97535" y="0"/>
                  </a:lnTo>
                  <a:lnTo>
                    <a:pt x="97535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52978" y="4916989"/>
              <a:ext cx="9283700" cy="873760"/>
            </a:xfrm>
            <a:custGeom>
              <a:avLst/>
              <a:gdLst/>
              <a:ahLst/>
              <a:cxnLst/>
              <a:rect l="l" t="t" r="r" b="b"/>
              <a:pathLst>
                <a:path w="9283700" h="873760">
                  <a:moveTo>
                    <a:pt x="9137682" y="0"/>
                  </a:moveTo>
                  <a:lnTo>
                    <a:pt x="145625" y="0"/>
                  </a:lnTo>
                  <a:lnTo>
                    <a:pt x="99596" y="7424"/>
                  </a:lnTo>
                  <a:lnTo>
                    <a:pt x="59620" y="28097"/>
                  </a:lnTo>
                  <a:lnTo>
                    <a:pt x="28097" y="59621"/>
                  </a:lnTo>
                  <a:lnTo>
                    <a:pt x="7424" y="99597"/>
                  </a:lnTo>
                  <a:lnTo>
                    <a:pt x="0" y="145627"/>
                  </a:lnTo>
                  <a:lnTo>
                    <a:pt x="0" y="728132"/>
                  </a:lnTo>
                  <a:lnTo>
                    <a:pt x="7424" y="774162"/>
                  </a:lnTo>
                  <a:lnTo>
                    <a:pt x="28097" y="814138"/>
                  </a:lnTo>
                  <a:lnTo>
                    <a:pt x="59620" y="845662"/>
                  </a:lnTo>
                  <a:lnTo>
                    <a:pt x="99596" y="866335"/>
                  </a:lnTo>
                  <a:lnTo>
                    <a:pt x="145625" y="873760"/>
                  </a:lnTo>
                  <a:lnTo>
                    <a:pt x="9137682" y="873760"/>
                  </a:lnTo>
                  <a:lnTo>
                    <a:pt x="9183711" y="866335"/>
                  </a:lnTo>
                  <a:lnTo>
                    <a:pt x="9223687" y="845662"/>
                  </a:lnTo>
                  <a:lnTo>
                    <a:pt x="9255211" y="814138"/>
                  </a:lnTo>
                  <a:lnTo>
                    <a:pt x="9275884" y="774162"/>
                  </a:lnTo>
                  <a:lnTo>
                    <a:pt x="9283308" y="728132"/>
                  </a:lnTo>
                  <a:lnTo>
                    <a:pt x="9283308" y="145627"/>
                  </a:lnTo>
                  <a:lnTo>
                    <a:pt x="9275884" y="99597"/>
                  </a:lnTo>
                  <a:lnTo>
                    <a:pt x="9255211" y="59621"/>
                  </a:lnTo>
                  <a:lnTo>
                    <a:pt x="9223687" y="28097"/>
                  </a:lnTo>
                  <a:lnTo>
                    <a:pt x="9183711" y="7424"/>
                  </a:lnTo>
                  <a:lnTo>
                    <a:pt x="9137682" y="0"/>
                  </a:lnTo>
                  <a:close/>
                </a:path>
              </a:pathLst>
            </a:custGeom>
            <a:solidFill>
              <a:srgbClr val="FFFF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22" name="Rectangle 2">
            <a:extLst>
              <a:ext uri="{FF2B5EF4-FFF2-40B4-BE49-F238E27FC236}">
                <a16:creationId xmlns:a16="http://schemas.microsoft.com/office/drawing/2014/main" id="{2148BCB0-BE54-43DE-B0E0-97AF27A7C8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495" y="304800"/>
            <a:ext cx="7920990" cy="66172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B</a:t>
            </a:r>
            <a:r>
              <a:rPr lang="en-US" baseline="30000" dirty="0">
                <a:ea typeface="+mj-ea"/>
              </a:rPr>
              <a:t>+</a:t>
            </a:r>
            <a:r>
              <a:rPr lang="en-US" dirty="0">
                <a:ea typeface="+mj-ea"/>
              </a:rPr>
              <a:t>-Tree Index Files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30B6B58-7081-424A-ABD6-A268165DD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1273" y="1981200"/>
            <a:ext cx="5978723" cy="3502104"/>
          </a:xfrm>
        </p:spPr>
        <p:txBody>
          <a:bodyPr>
            <a:normAutofit/>
          </a:bodyPr>
          <a:lstStyle/>
          <a:p>
            <a:r>
              <a:rPr lang="en-US" altLang="en-US" dirty="0"/>
              <a:t>It is a balanced tree</a:t>
            </a:r>
          </a:p>
          <a:p>
            <a:pPr lvl="1"/>
            <a:r>
              <a:rPr lang="en-US" altLang="en-US" dirty="0"/>
              <a:t>All paths from root to leaf are of the same length</a:t>
            </a:r>
          </a:p>
          <a:p>
            <a:r>
              <a:rPr lang="en-US" altLang="en-US" dirty="0"/>
              <a:t>Special cases: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If the root is not a leaf, it has at least 2 children.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If the root is a leaf (that is, there are no other nodes in the tree), it can have between 0 and (2d–1) values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Each node should fit in a block</a:t>
            </a:r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60655D6F-EC19-4521-930E-AF1691695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273" y="1376998"/>
            <a:ext cx="5725926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650" dirty="0"/>
              <a:t>A B</a:t>
            </a:r>
            <a:r>
              <a:rPr lang="en-US" altLang="en-US" sz="1650" baseline="30000" dirty="0"/>
              <a:t>+</a:t>
            </a:r>
            <a:r>
              <a:rPr lang="en-US" altLang="en-US" sz="1650" dirty="0"/>
              <a:t>-tree is a rooted tree satisfying the following properties: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98" t="2212" b="21978"/>
          <a:stretch/>
        </p:blipFill>
        <p:spPr>
          <a:xfrm>
            <a:off x="7854196" y="1846546"/>
            <a:ext cx="1846659" cy="20047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B+ Trees Basics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9E57DC2-970A-4B3E-BB1C-7A09969E49DF}" type="slidenum">
              <a:rPr lang="en-US" smtClean="0"/>
              <a:pPr>
                <a:defRPr/>
              </a:pPr>
              <a:t>28</a:t>
            </a:fld>
            <a:endParaRPr lang="zh-CN" altLang="en-US" dirty="0"/>
          </a:p>
        </p:txBody>
      </p:sp>
      <p:sp>
        <p:nvSpPr>
          <p:cNvPr id="34" name="Rectangle 2"/>
          <p:cNvSpPr txBox="1">
            <a:spLocks noChangeArrowheads="1"/>
          </p:cNvSpPr>
          <p:nvPr/>
        </p:nvSpPr>
        <p:spPr bwMode="auto">
          <a:xfrm>
            <a:off x="1131570" y="2131219"/>
            <a:ext cx="716661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5438" tIns="37719" rIns="75438" bIns="37719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 baseline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rgbClr val="8E000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sz="1980" dirty="0">
                <a:ea typeface="宋体" charset="-122"/>
              </a:rPr>
              <a:t>Internal node:</a:t>
            </a:r>
          </a:p>
          <a:p>
            <a:endParaRPr lang="en-US" altLang="zh-CN" sz="2310" dirty="0">
              <a:ea typeface="宋体" charset="-122"/>
            </a:endParaRPr>
          </a:p>
          <a:p>
            <a:endParaRPr lang="en-US" altLang="zh-CN" sz="2310" dirty="0">
              <a:ea typeface="宋体" charset="-122"/>
            </a:endParaRPr>
          </a:p>
          <a:p>
            <a:pPr lvl="1"/>
            <a:endParaRPr lang="en-US" altLang="zh-CN" sz="1980" dirty="0">
              <a:ea typeface="宋体" charset="-122"/>
            </a:endParaRPr>
          </a:p>
          <a:p>
            <a:pPr lvl="1"/>
            <a:r>
              <a:rPr lang="en-US" altLang="zh-CN" sz="1980" dirty="0">
                <a:ea typeface="宋体" charset="-122"/>
              </a:rPr>
              <a:t>Leaf:</a:t>
            </a:r>
          </a:p>
        </p:txBody>
      </p:sp>
      <p:graphicFrame>
        <p:nvGraphicFramePr>
          <p:cNvPr id="35" name="Group 4"/>
          <p:cNvGraphicFramePr>
            <a:graphicFrameLocks noGrp="1"/>
          </p:cNvGraphicFramePr>
          <p:nvPr/>
        </p:nvGraphicFramePr>
        <p:xfrm>
          <a:off x="3620284" y="2471738"/>
          <a:ext cx="1508761" cy="565786"/>
        </p:xfrm>
        <a:graphic>
          <a:graphicData uri="http://schemas.openxmlformats.org/drawingml/2006/table">
            <a:tbl>
              <a:tblPr/>
              <a:tblGrid>
                <a:gridCol w="361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4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89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30</a:t>
                      </a:r>
                    </a:p>
                  </a:txBody>
                  <a:tcPr marL="75438" marR="75438" marT="37719" marB="37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120</a:t>
                      </a: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240</a:t>
                      </a: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8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Line 22"/>
          <p:cNvSpPr>
            <a:spLocks noChangeShapeType="1"/>
          </p:cNvSpPr>
          <p:nvPr/>
        </p:nvSpPr>
        <p:spPr bwMode="auto">
          <a:xfrm flipH="1">
            <a:off x="3180229" y="2911793"/>
            <a:ext cx="628650" cy="2514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37" name="Line 23"/>
          <p:cNvSpPr>
            <a:spLocks noChangeShapeType="1"/>
          </p:cNvSpPr>
          <p:nvPr/>
        </p:nvSpPr>
        <p:spPr bwMode="auto">
          <a:xfrm>
            <a:off x="4186069" y="2911793"/>
            <a:ext cx="0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38" name="Line 24"/>
          <p:cNvSpPr>
            <a:spLocks noChangeShapeType="1"/>
          </p:cNvSpPr>
          <p:nvPr/>
        </p:nvSpPr>
        <p:spPr bwMode="auto">
          <a:xfrm>
            <a:off x="4626124" y="2911793"/>
            <a:ext cx="251460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39" name="Line 25"/>
          <p:cNvSpPr>
            <a:spLocks noChangeShapeType="1"/>
          </p:cNvSpPr>
          <p:nvPr/>
        </p:nvSpPr>
        <p:spPr bwMode="auto">
          <a:xfrm>
            <a:off x="5003314" y="2911793"/>
            <a:ext cx="1068705" cy="2514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40" name="Text Box 26"/>
          <p:cNvSpPr txBox="1">
            <a:spLocks noChangeArrowheads="1"/>
          </p:cNvSpPr>
          <p:nvPr/>
        </p:nvSpPr>
        <p:spPr bwMode="auto">
          <a:xfrm>
            <a:off x="2425850" y="3199925"/>
            <a:ext cx="649537" cy="270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[X , 30)</a:t>
            </a:r>
          </a:p>
        </p:txBody>
      </p:sp>
      <p:sp>
        <p:nvSpPr>
          <p:cNvPr id="41" name="Text Box 27"/>
          <p:cNvSpPr txBox="1">
            <a:spLocks noChangeArrowheads="1"/>
          </p:cNvSpPr>
          <p:nvPr/>
        </p:nvSpPr>
        <p:spPr bwMode="auto">
          <a:xfrm>
            <a:off x="3431690" y="3199925"/>
            <a:ext cx="726481" cy="270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[30, 120)</a:t>
            </a:r>
          </a:p>
        </p:txBody>
      </p:sp>
      <p:sp>
        <p:nvSpPr>
          <p:cNvPr id="42" name="Text Box 28"/>
          <p:cNvSpPr txBox="1">
            <a:spLocks noChangeArrowheads="1"/>
          </p:cNvSpPr>
          <p:nvPr/>
        </p:nvSpPr>
        <p:spPr bwMode="auto">
          <a:xfrm>
            <a:off x="4688990" y="3199925"/>
            <a:ext cx="800219" cy="270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[120, 240)</a:t>
            </a:r>
          </a:p>
        </p:txBody>
      </p:sp>
      <p:sp>
        <p:nvSpPr>
          <p:cNvPr id="43" name="Text Box 29"/>
          <p:cNvSpPr txBox="1">
            <a:spLocks noChangeArrowheads="1"/>
          </p:cNvSpPr>
          <p:nvPr/>
        </p:nvSpPr>
        <p:spPr bwMode="auto">
          <a:xfrm>
            <a:off x="6134885" y="3199925"/>
            <a:ext cx="686406" cy="270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[240, Y)</a:t>
            </a:r>
          </a:p>
        </p:txBody>
      </p:sp>
      <p:graphicFrame>
        <p:nvGraphicFramePr>
          <p:cNvPr id="44" name="Group 56"/>
          <p:cNvGraphicFramePr>
            <a:graphicFrameLocks noGrp="1"/>
          </p:cNvGraphicFramePr>
          <p:nvPr/>
        </p:nvGraphicFramePr>
        <p:xfrm>
          <a:off x="3259832" y="5133739"/>
          <a:ext cx="1508761" cy="586741"/>
        </p:xfrm>
        <a:graphic>
          <a:graphicData uri="http://schemas.openxmlformats.org/drawingml/2006/table">
            <a:tbl>
              <a:tblPr/>
              <a:tblGrid>
                <a:gridCol w="361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4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89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40</a:t>
                      </a:r>
                    </a:p>
                  </a:txBody>
                  <a:tcPr marL="75438" marR="75438" marT="37719" marB="37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50</a:t>
                      </a: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60</a:t>
                      </a: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8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" name="Line 48"/>
          <p:cNvSpPr>
            <a:spLocks noChangeShapeType="1"/>
          </p:cNvSpPr>
          <p:nvPr/>
        </p:nvSpPr>
        <p:spPr bwMode="auto">
          <a:xfrm flipH="1">
            <a:off x="2819777" y="5573794"/>
            <a:ext cx="628650" cy="2514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46" name="Line 49"/>
          <p:cNvSpPr>
            <a:spLocks noChangeShapeType="1"/>
          </p:cNvSpPr>
          <p:nvPr/>
        </p:nvSpPr>
        <p:spPr bwMode="auto">
          <a:xfrm>
            <a:off x="3825617" y="5573794"/>
            <a:ext cx="0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47" name="Line 50"/>
          <p:cNvSpPr>
            <a:spLocks noChangeShapeType="1"/>
          </p:cNvSpPr>
          <p:nvPr/>
        </p:nvSpPr>
        <p:spPr bwMode="auto">
          <a:xfrm>
            <a:off x="4265672" y="5573794"/>
            <a:ext cx="251460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48" name="Line 51"/>
          <p:cNvSpPr>
            <a:spLocks noChangeShapeType="1"/>
          </p:cNvSpPr>
          <p:nvPr/>
        </p:nvSpPr>
        <p:spPr bwMode="auto">
          <a:xfrm>
            <a:off x="4642862" y="5573794"/>
            <a:ext cx="113157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49" name="Rectangle 52"/>
          <p:cNvSpPr>
            <a:spLocks noChangeArrowheads="1"/>
          </p:cNvSpPr>
          <p:nvPr/>
        </p:nvSpPr>
        <p:spPr bwMode="auto">
          <a:xfrm>
            <a:off x="2491012" y="5903697"/>
            <a:ext cx="335349" cy="2700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40</a:t>
            </a:r>
          </a:p>
        </p:txBody>
      </p:sp>
      <p:sp>
        <p:nvSpPr>
          <p:cNvPr id="50" name="Rectangle 53"/>
          <p:cNvSpPr>
            <a:spLocks noChangeArrowheads="1"/>
          </p:cNvSpPr>
          <p:nvPr/>
        </p:nvSpPr>
        <p:spPr bwMode="auto">
          <a:xfrm>
            <a:off x="3559717" y="5903697"/>
            <a:ext cx="335349" cy="2700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50</a:t>
            </a:r>
          </a:p>
        </p:txBody>
      </p:sp>
      <p:sp>
        <p:nvSpPr>
          <p:cNvPr id="51" name="Rectangle 54"/>
          <p:cNvSpPr>
            <a:spLocks noChangeArrowheads="1"/>
          </p:cNvSpPr>
          <p:nvPr/>
        </p:nvSpPr>
        <p:spPr bwMode="auto">
          <a:xfrm>
            <a:off x="4314097" y="5903697"/>
            <a:ext cx="335349" cy="2700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60</a:t>
            </a:r>
          </a:p>
        </p:txBody>
      </p:sp>
      <p:sp>
        <p:nvSpPr>
          <p:cNvPr id="52" name="Rectangle 58"/>
          <p:cNvSpPr>
            <a:spLocks noChangeArrowheads="1"/>
          </p:cNvSpPr>
          <p:nvPr/>
        </p:nvSpPr>
        <p:spPr bwMode="auto">
          <a:xfrm>
            <a:off x="7022565" y="5437586"/>
            <a:ext cx="323492" cy="30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buFontTx/>
              <a:buNone/>
            </a:pPr>
            <a:endParaRPr lang="zh-CN" altLang="zh-CN" sz="1320">
              <a:ea typeface="宋体" charset="-122"/>
            </a:endParaRPr>
          </a:p>
        </p:txBody>
      </p:sp>
      <p:sp>
        <p:nvSpPr>
          <p:cNvPr id="53" name="Rectangle 59"/>
          <p:cNvSpPr>
            <a:spLocks noChangeArrowheads="1"/>
          </p:cNvSpPr>
          <p:nvPr/>
        </p:nvSpPr>
        <p:spPr bwMode="auto">
          <a:xfrm>
            <a:off x="6625730" y="5437586"/>
            <a:ext cx="396836" cy="30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buFontTx/>
              <a:buNone/>
            </a:pPr>
            <a:endParaRPr lang="zh-CN" altLang="zh-CN" sz="1320">
              <a:ea typeface="宋体" charset="-122"/>
            </a:endParaRPr>
          </a:p>
        </p:txBody>
      </p:sp>
      <p:sp>
        <p:nvSpPr>
          <p:cNvPr id="54" name="Rectangle 61"/>
          <p:cNvSpPr>
            <a:spLocks noChangeArrowheads="1"/>
          </p:cNvSpPr>
          <p:nvPr/>
        </p:nvSpPr>
        <p:spPr bwMode="auto">
          <a:xfrm>
            <a:off x="5837297" y="5437586"/>
            <a:ext cx="361474" cy="30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buFontTx/>
              <a:buNone/>
            </a:pPr>
            <a:endParaRPr lang="zh-CN" altLang="zh-CN" sz="1320">
              <a:ea typeface="宋体" charset="-122"/>
            </a:endParaRPr>
          </a:p>
        </p:txBody>
      </p:sp>
      <p:sp>
        <p:nvSpPr>
          <p:cNvPr id="55" name="Rectangle 62"/>
          <p:cNvSpPr>
            <a:spLocks noChangeArrowheads="1"/>
          </p:cNvSpPr>
          <p:nvPr/>
        </p:nvSpPr>
        <p:spPr bwMode="auto">
          <a:xfrm>
            <a:off x="6823492" y="5154693"/>
            <a:ext cx="522565" cy="282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buFontTx/>
              <a:buNone/>
            </a:pPr>
            <a:r>
              <a:rPr lang="en-US" altLang="zh-CN" sz="1320">
                <a:ea typeface="宋体" charset="-122"/>
              </a:rPr>
              <a:t> </a:t>
            </a:r>
          </a:p>
        </p:txBody>
      </p:sp>
      <p:sp>
        <p:nvSpPr>
          <p:cNvPr id="56" name="Rectangle 63"/>
          <p:cNvSpPr>
            <a:spLocks noChangeArrowheads="1"/>
          </p:cNvSpPr>
          <p:nvPr/>
        </p:nvSpPr>
        <p:spPr bwMode="auto">
          <a:xfrm>
            <a:off x="6355934" y="5154693"/>
            <a:ext cx="467559" cy="282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buFontTx/>
              <a:buNone/>
            </a:pPr>
            <a:r>
              <a:rPr lang="en-US" altLang="zh-CN" sz="1320">
                <a:ea typeface="宋体" charset="-122"/>
              </a:rPr>
              <a:t> </a:t>
            </a:r>
          </a:p>
        </p:txBody>
      </p:sp>
      <p:sp>
        <p:nvSpPr>
          <p:cNvPr id="57" name="Rectangle 64"/>
          <p:cNvSpPr>
            <a:spLocks noChangeArrowheads="1"/>
          </p:cNvSpPr>
          <p:nvPr/>
        </p:nvSpPr>
        <p:spPr bwMode="auto">
          <a:xfrm>
            <a:off x="5837298" y="5154693"/>
            <a:ext cx="518636" cy="282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buFontTx/>
              <a:buNone/>
            </a:pPr>
            <a:r>
              <a:rPr lang="en-US" altLang="zh-CN" sz="1320">
                <a:ea typeface="宋体" charset="-122"/>
              </a:rPr>
              <a:t> </a:t>
            </a:r>
          </a:p>
        </p:txBody>
      </p:sp>
      <p:sp>
        <p:nvSpPr>
          <p:cNvPr id="58" name="Line 65"/>
          <p:cNvSpPr>
            <a:spLocks noChangeShapeType="1"/>
          </p:cNvSpPr>
          <p:nvPr/>
        </p:nvSpPr>
        <p:spPr bwMode="auto">
          <a:xfrm>
            <a:off x="5837297" y="5154694"/>
            <a:ext cx="150876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59" name="Line 67"/>
          <p:cNvSpPr>
            <a:spLocks noChangeShapeType="1"/>
          </p:cNvSpPr>
          <p:nvPr/>
        </p:nvSpPr>
        <p:spPr bwMode="auto">
          <a:xfrm>
            <a:off x="5837297" y="5741434"/>
            <a:ext cx="150876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60" name="Line 68"/>
          <p:cNvSpPr>
            <a:spLocks noChangeShapeType="1"/>
          </p:cNvSpPr>
          <p:nvPr/>
        </p:nvSpPr>
        <p:spPr bwMode="auto">
          <a:xfrm>
            <a:off x="5837297" y="5154694"/>
            <a:ext cx="0" cy="58674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61" name="Line 71"/>
          <p:cNvSpPr>
            <a:spLocks noChangeShapeType="1"/>
          </p:cNvSpPr>
          <p:nvPr/>
        </p:nvSpPr>
        <p:spPr bwMode="auto">
          <a:xfrm>
            <a:off x="7346057" y="5154694"/>
            <a:ext cx="0" cy="58674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62" name="Text Box 75"/>
          <p:cNvSpPr txBox="1">
            <a:spLocks noChangeArrowheads="1"/>
          </p:cNvSpPr>
          <p:nvPr/>
        </p:nvSpPr>
        <p:spPr bwMode="auto">
          <a:xfrm>
            <a:off x="6071733" y="5280424"/>
            <a:ext cx="1064715" cy="397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 sz="1980">
                <a:ea typeface="宋体" charset="-122"/>
              </a:rPr>
              <a:t>next leaf</a:t>
            </a:r>
          </a:p>
        </p:txBody>
      </p:sp>
    </p:spTree>
    <p:extLst>
      <p:ext uri="{BB962C8B-B14F-4D97-AF65-F5344CB8AC3E}">
        <p14:creationId xmlns:p14="http://schemas.microsoft.com/office/powerpoint/2010/main" val="41614824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9D040AF-AA40-4883-9B04-A67D4859D4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920990" cy="66172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ffectLst/>
              </a:rPr>
              <a:t>Example of B</a:t>
            </a:r>
            <a:r>
              <a:rPr lang="en-US" altLang="en-US" baseline="30000" dirty="0">
                <a:effectLst/>
              </a:rPr>
              <a:t>+</a:t>
            </a:r>
            <a:r>
              <a:rPr lang="en-US" altLang="en-US" dirty="0">
                <a:effectLst/>
              </a:rPr>
              <a:t>-Tree</a:t>
            </a:r>
          </a:p>
        </p:txBody>
      </p:sp>
      <p:pic>
        <p:nvPicPr>
          <p:cNvPr id="20483" name="Picture 2">
            <a:extLst>
              <a:ext uri="{FF2B5EF4-FFF2-40B4-BE49-F238E27FC236}">
                <a16:creationId xmlns:a16="http://schemas.microsoft.com/office/drawing/2014/main" id="{FFBD2439-5E47-4F2D-B994-6516EC196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204" y="2063115"/>
            <a:ext cx="7678697" cy="4276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Searching a B+ Tree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33" y="1436783"/>
            <a:ext cx="7920990" cy="2354491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Point queries with exact key values:</a:t>
            </a:r>
          </a:p>
          <a:p>
            <a:pPr lvl="1"/>
            <a:r>
              <a:rPr lang="en-US" altLang="zh-CN" dirty="0">
                <a:ea typeface="宋体" charset="-122"/>
              </a:rPr>
              <a:t>Start at the root</a:t>
            </a:r>
          </a:p>
          <a:p>
            <a:pPr lvl="1"/>
            <a:r>
              <a:rPr lang="en-US" altLang="zh-CN" dirty="0">
                <a:ea typeface="宋体" charset="-122"/>
              </a:rPr>
              <a:t>Proceed down, to the leaf</a:t>
            </a:r>
          </a:p>
          <a:p>
            <a:pPr lvl="1"/>
            <a:endParaRPr lang="en-US" altLang="zh-CN" dirty="0">
              <a:ea typeface="宋体" charset="-122"/>
            </a:endParaRPr>
          </a:p>
          <a:p>
            <a:r>
              <a:rPr lang="en-US" altLang="zh-CN" dirty="0">
                <a:ea typeface="宋体" charset="-122"/>
              </a:rPr>
              <a:t>Range queries:</a:t>
            </a:r>
          </a:p>
          <a:p>
            <a:pPr lvl="1"/>
            <a:r>
              <a:rPr lang="en-US" altLang="zh-CN" dirty="0">
                <a:ea typeface="宋体" charset="-122"/>
              </a:rPr>
              <a:t>As above</a:t>
            </a:r>
          </a:p>
          <a:p>
            <a:pPr lvl="1"/>
            <a:r>
              <a:rPr lang="en-US" altLang="zh-CN" dirty="0">
                <a:ea typeface="宋体" charset="-122"/>
              </a:rPr>
              <a:t>Then sequential traversal on </a:t>
            </a:r>
            <a:r>
              <a:rPr lang="en-US" altLang="zh-CN" dirty="0" err="1">
                <a:ea typeface="宋体" charset="-122"/>
              </a:rPr>
              <a:t>leafs</a:t>
            </a:r>
            <a:endParaRPr lang="en-US" altLang="zh-CN" dirty="0">
              <a:ea typeface="宋体" charset="-122"/>
            </a:endParaRP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9E57DC2-970A-4B3E-BB1C-7A09969E49DF}" type="slidenum">
              <a:rPr lang="en-US" smtClean="0"/>
              <a:pPr>
                <a:defRPr/>
              </a:pPr>
              <a:t>30</a:t>
            </a:fld>
            <a:endParaRPr lang="zh-CN" altLang="en-US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641173" y="2349257"/>
            <a:ext cx="1800493" cy="10064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980" dirty="0">
                <a:solidFill>
                  <a:srgbClr val="7030A0"/>
                </a:solidFill>
                <a:ea typeface="宋体" charset="-122"/>
              </a:rPr>
              <a:t>Select name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980" dirty="0">
                <a:solidFill>
                  <a:srgbClr val="7030A0"/>
                </a:solidFill>
                <a:ea typeface="宋体" charset="-122"/>
              </a:rPr>
              <a:t>From people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980" dirty="0">
                <a:solidFill>
                  <a:srgbClr val="7030A0"/>
                </a:solidFill>
                <a:ea typeface="宋体" charset="-122"/>
              </a:rPr>
              <a:t>Where age = 25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641173" y="3791274"/>
            <a:ext cx="1943161" cy="13111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980" dirty="0">
                <a:solidFill>
                  <a:srgbClr val="0070C0"/>
                </a:solidFill>
                <a:ea typeface="宋体" charset="-122"/>
              </a:rPr>
              <a:t>Select name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980" dirty="0">
                <a:solidFill>
                  <a:srgbClr val="0070C0"/>
                </a:solidFill>
                <a:ea typeface="宋体" charset="-122"/>
              </a:rPr>
              <a:t>From people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980" dirty="0">
                <a:solidFill>
                  <a:srgbClr val="0070C0"/>
                </a:solidFill>
                <a:ea typeface="宋体" charset="-122"/>
              </a:rPr>
              <a:t>Where 20 &lt;= age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980" dirty="0">
                <a:solidFill>
                  <a:srgbClr val="0070C0"/>
                </a:solidFill>
                <a:ea typeface="宋体" charset="-122"/>
              </a:rPr>
              <a:t>  and  age &lt;= 30</a:t>
            </a:r>
          </a:p>
        </p:txBody>
      </p:sp>
    </p:spTree>
    <p:extLst>
      <p:ext uri="{BB962C8B-B14F-4D97-AF65-F5344CB8AC3E}">
        <p14:creationId xmlns:p14="http://schemas.microsoft.com/office/powerpoint/2010/main" val="7973594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B+ Tree Example</a:t>
            </a:r>
            <a:endParaRPr lang="zh-CN" altLang="en-US" dirty="0"/>
          </a:p>
        </p:txBody>
      </p:sp>
      <p:graphicFrame>
        <p:nvGraphicFramePr>
          <p:cNvPr id="5" name="Group 3"/>
          <p:cNvGraphicFramePr>
            <a:graphicFrameLocks noGrp="1"/>
          </p:cNvGraphicFramePr>
          <p:nvPr/>
        </p:nvGraphicFramePr>
        <p:xfrm>
          <a:off x="3965570" y="3041574"/>
          <a:ext cx="1760219" cy="565786"/>
        </p:xfrm>
        <a:graphic>
          <a:graphicData uri="http://schemas.openxmlformats.org/drawingml/2006/table">
            <a:tbl>
              <a:tblPr/>
              <a:tblGrid>
                <a:gridCol w="246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2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56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30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2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289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80</a:t>
                      </a:r>
                    </a:p>
                  </a:txBody>
                  <a:tcPr marL="75438" marR="75438" marT="37719" marB="37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8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25"/>
          <p:cNvGraphicFramePr>
            <a:graphicFrameLocks noGrp="1"/>
          </p:cNvGraphicFramePr>
          <p:nvPr/>
        </p:nvGraphicFramePr>
        <p:xfrm>
          <a:off x="2456810" y="3795954"/>
          <a:ext cx="1760219" cy="565786"/>
        </p:xfrm>
        <a:graphic>
          <a:graphicData uri="http://schemas.openxmlformats.org/drawingml/2006/table">
            <a:tbl>
              <a:tblPr/>
              <a:tblGrid>
                <a:gridCol w="246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2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56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30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2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289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</a:t>
                      </a:r>
                    </a:p>
                  </a:txBody>
                  <a:tcPr marL="75438" marR="75438" marT="37719" marB="37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60</a:t>
                      </a: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8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47"/>
          <p:cNvGraphicFramePr>
            <a:graphicFrameLocks noGrp="1"/>
          </p:cNvGraphicFramePr>
          <p:nvPr/>
        </p:nvGraphicFramePr>
        <p:xfrm>
          <a:off x="5285735" y="3795954"/>
          <a:ext cx="1760219" cy="565786"/>
        </p:xfrm>
        <a:graphic>
          <a:graphicData uri="http://schemas.openxmlformats.org/drawingml/2006/table">
            <a:tbl>
              <a:tblPr/>
              <a:tblGrid>
                <a:gridCol w="246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2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56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30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2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289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100</a:t>
                      </a:r>
                    </a:p>
                  </a:txBody>
                  <a:tcPr marL="75438" marR="75438" marT="37719" marB="37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120</a:t>
                      </a: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140</a:t>
                      </a: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8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69"/>
          <p:cNvGraphicFramePr>
            <a:graphicFrameLocks noGrp="1"/>
          </p:cNvGraphicFramePr>
          <p:nvPr/>
        </p:nvGraphicFramePr>
        <p:xfrm>
          <a:off x="1702430" y="4990389"/>
          <a:ext cx="1320165" cy="565786"/>
        </p:xfrm>
        <a:graphic>
          <a:graphicData uri="http://schemas.openxmlformats.org/drawingml/2006/table">
            <a:tbl>
              <a:tblPr/>
              <a:tblGrid>
                <a:gridCol w="184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2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46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289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</a:p>
                  </a:txBody>
                  <a:tcPr marL="75438" marR="75438" marT="37719" marB="37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18</a:t>
                      </a: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8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Group 91"/>
          <p:cNvGraphicFramePr>
            <a:graphicFrameLocks noGrp="1"/>
          </p:cNvGraphicFramePr>
          <p:nvPr/>
        </p:nvGraphicFramePr>
        <p:xfrm>
          <a:off x="3211190" y="4990389"/>
          <a:ext cx="1320165" cy="565786"/>
        </p:xfrm>
        <a:graphic>
          <a:graphicData uri="http://schemas.openxmlformats.org/drawingml/2006/table">
            <a:tbl>
              <a:tblPr/>
              <a:tblGrid>
                <a:gridCol w="184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2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46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289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</a:t>
                      </a:r>
                    </a:p>
                  </a:txBody>
                  <a:tcPr marL="75438" marR="75438" marT="37719" marB="37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30</a:t>
                      </a: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40</a:t>
                      </a: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50</a:t>
                      </a: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8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Group 113"/>
          <p:cNvGraphicFramePr>
            <a:graphicFrameLocks noGrp="1"/>
          </p:cNvGraphicFramePr>
          <p:nvPr/>
        </p:nvGraphicFramePr>
        <p:xfrm>
          <a:off x="4657085" y="4990389"/>
          <a:ext cx="1320165" cy="565786"/>
        </p:xfrm>
        <a:graphic>
          <a:graphicData uri="http://schemas.openxmlformats.org/drawingml/2006/table">
            <a:tbl>
              <a:tblPr/>
              <a:tblGrid>
                <a:gridCol w="184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2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46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289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60</a:t>
                      </a:r>
                    </a:p>
                  </a:txBody>
                  <a:tcPr marL="75438" marR="75438" marT="37719" marB="37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8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Group 135"/>
          <p:cNvGraphicFramePr>
            <a:graphicFrameLocks noGrp="1"/>
          </p:cNvGraphicFramePr>
          <p:nvPr/>
        </p:nvGraphicFramePr>
        <p:xfrm>
          <a:off x="6102980" y="4990389"/>
          <a:ext cx="1320165" cy="565786"/>
        </p:xfrm>
        <a:graphic>
          <a:graphicData uri="http://schemas.openxmlformats.org/drawingml/2006/table">
            <a:tbl>
              <a:tblPr/>
              <a:tblGrid>
                <a:gridCol w="184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2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46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289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80</a:t>
                      </a:r>
                    </a:p>
                  </a:txBody>
                  <a:tcPr marL="75438" marR="75438" marT="37719" marB="37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85</a:t>
                      </a: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90</a:t>
                      </a: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8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75438" marR="75438" marT="37719" marB="37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Line 157"/>
          <p:cNvSpPr>
            <a:spLocks noChangeShapeType="1"/>
          </p:cNvSpPr>
          <p:nvPr/>
        </p:nvSpPr>
        <p:spPr bwMode="auto">
          <a:xfrm flipH="1">
            <a:off x="2456810" y="3481629"/>
            <a:ext cx="1634490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13" name="Line 158"/>
          <p:cNvSpPr>
            <a:spLocks noChangeShapeType="1"/>
          </p:cNvSpPr>
          <p:nvPr/>
        </p:nvSpPr>
        <p:spPr bwMode="auto">
          <a:xfrm>
            <a:off x="4405625" y="3481629"/>
            <a:ext cx="880110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14" name="Line 159"/>
          <p:cNvSpPr>
            <a:spLocks noChangeShapeType="1"/>
          </p:cNvSpPr>
          <p:nvPr/>
        </p:nvSpPr>
        <p:spPr bwMode="auto">
          <a:xfrm flipH="1">
            <a:off x="1702430" y="4236009"/>
            <a:ext cx="880110" cy="7543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15" name="Line 160"/>
          <p:cNvSpPr>
            <a:spLocks noChangeShapeType="1"/>
          </p:cNvSpPr>
          <p:nvPr/>
        </p:nvSpPr>
        <p:spPr bwMode="auto">
          <a:xfrm>
            <a:off x="2896865" y="4236009"/>
            <a:ext cx="314325" cy="7543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16" name="Line 161"/>
          <p:cNvSpPr>
            <a:spLocks noChangeShapeType="1"/>
          </p:cNvSpPr>
          <p:nvPr/>
        </p:nvSpPr>
        <p:spPr bwMode="auto">
          <a:xfrm>
            <a:off x="3274055" y="4236009"/>
            <a:ext cx="1383030" cy="7543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17" name="Line 162"/>
          <p:cNvSpPr>
            <a:spLocks noChangeShapeType="1"/>
          </p:cNvSpPr>
          <p:nvPr/>
        </p:nvSpPr>
        <p:spPr bwMode="auto">
          <a:xfrm>
            <a:off x="5411465" y="4236009"/>
            <a:ext cx="691515" cy="7543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18" name="Line 163"/>
          <p:cNvSpPr>
            <a:spLocks noChangeShapeType="1"/>
          </p:cNvSpPr>
          <p:nvPr/>
        </p:nvSpPr>
        <p:spPr bwMode="auto">
          <a:xfrm>
            <a:off x="5725790" y="4236009"/>
            <a:ext cx="2011680" cy="6915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19" name="Line 164"/>
          <p:cNvSpPr>
            <a:spLocks noChangeShapeType="1"/>
          </p:cNvSpPr>
          <p:nvPr/>
        </p:nvSpPr>
        <p:spPr bwMode="auto">
          <a:xfrm>
            <a:off x="6228710" y="4298874"/>
            <a:ext cx="1948815" cy="6915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20" name="Line 165"/>
          <p:cNvSpPr>
            <a:spLocks noChangeShapeType="1"/>
          </p:cNvSpPr>
          <p:nvPr/>
        </p:nvSpPr>
        <p:spPr bwMode="auto">
          <a:xfrm>
            <a:off x="6668765" y="4236009"/>
            <a:ext cx="1823085" cy="6915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21" name="Line 166"/>
          <p:cNvSpPr>
            <a:spLocks noChangeShapeType="1"/>
          </p:cNvSpPr>
          <p:nvPr/>
        </p:nvSpPr>
        <p:spPr bwMode="auto">
          <a:xfrm>
            <a:off x="2959730" y="5430444"/>
            <a:ext cx="25146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22" name="Line 167"/>
          <p:cNvSpPr>
            <a:spLocks noChangeShapeType="1"/>
          </p:cNvSpPr>
          <p:nvPr/>
        </p:nvSpPr>
        <p:spPr bwMode="auto">
          <a:xfrm>
            <a:off x="4405625" y="5430444"/>
            <a:ext cx="25146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23" name="Line 168"/>
          <p:cNvSpPr>
            <a:spLocks noChangeShapeType="1"/>
          </p:cNvSpPr>
          <p:nvPr/>
        </p:nvSpPr>
        <p:spPr bwMode="auto">
          <a:xfrm>
            <a:off x="5914385" y="5430444"/>
            <a:ext cx="18859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24" name="Rectangle 169"/>
          <p:cNvSpPr>
            <a:spLocks noChangeArrowheads="1"/>
          </p:cNvSpPr>
          <p:nvPr/>
        </p:nvSpPr>
        <p:spPr bwMode="auto">
          <a:xfrm>
            <a:off x="1687990" y="6116582"/>
            <a:ext cx="335349" cy="2700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10</a:t>
            </a:r>
          </a:p>
        </p:txBody>
      </p:sp>
      <p:sp>
        <p:nvSpPr>
          <p:cNvPr id="25" name="Rectangle 170"/>
          <p:cNvSpPr>
            <a:spLocks noChangeArrowheads="1"/>
          </p:cNvSpPr>
          <p:nvPr/>
        </p:nvSpPr>
        <p:spPr bwMode="auto">
          <a:xfrm>
            <a:off x="2128045" y="6116582"/>
            <a:ext cx="335349" cy="2700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15</a:t>
            </a:r>
          </a:p>
        </p:txBody>
      </p:sp>
      <p:sp>
        <p:nvSpPr>
          <p:cNvPr id="26" name="Rectangle 171"/>
          <p:cNvSpPr>
            <a:spLocks noChangeArrowheads="1"/>
          </p:cNvSpPr>
          <p:nvPr/>
        </p:nvSpPr>
        <p:spPr bwMode="auto">
          <a:xfrm>
            <a:off x="2568100" y="6116582"/>
            <a:ext cx="335349" cy="2700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18</a:t>
            </a:r>
          </a:p>
        </p:txBody>
      </p:sp>
      <p:sp>
        <p:nvSpPr>
          <p:cNvPr id="27" name="Rectangle 172"/>
          <p:cNvSpPr>
            <a:spLocks noChangeArrowheads="1"/>
          </p:cNvSpPr>
          <p:nvPr/>
        </p:nvSpPr>
        <p:spPr bwMode="auto">
          <a:xfrm>
            <a:off x="3071020" y="6116582"/>
            <a:ext cx="335349" cy="2700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20</a:t>
            </a:r>
          </a:p>
        </p:txBody>
      </p:sp>
      <p:sp>
        <p:nvSpPr>
          <p:cNvPr id="28" name="Rectangle 173"/>
          <p:cNvSpPr>
            <a:spLocks noChangeArrowheads="1"/>
          </p:cNvSpPr>
          <p:nvPr/>
        </p:nvSpPr>
        <p:spPr bwMode="auto">
          <a:xfrm>
            <a:off x="3573940" y="6116582"/>
            <a:ext cx="335349" cy="2700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30</a:t>
            </a:r>
          </a:p>
        </p:txBody>
      </p:sp>
      <p:sp>
        <p:nvSpPr>
          <p:cNvPr id="29" name="Rectangle 174"/>
          <p:cNvSpPr>
            <a:spLocks noChangeArrowheads="1"/>
          </p:cNvSpPr>
          <p:nvPr/>
        </p:nvSpPr>
        <p:spPr bwMode="auto">
          <a:xfrm>
            <a:off x="3951130" y="6116582"/>
            <a:ext cx="335349" cy="2700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40</a:t>
            </a:r>
          </a:p>
        </p:txBody>
      </p:sp>
      <p:sp>
        <p:nvSpPr>
          <p:cNvPr id="30" name="Rectangle 175"/>
          <p:cNvSpPr>
            <a:spLocks noChangeArrowheads="1"/>
          </p:cNvSpPr>
          <p:nvPr/>
        </p:nvSpPr>
        <p:spPr bwMode="auto">
          <a:xfrm>
            <a:off x="4391185" y="6116582"/>
            <a:ext cx="335349" cy="2700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50</a:t>
            </a:r>
          </a:p>
        </p:txBody>
      </p:sp>
      <p:sp>
        <p:nvSpPr>
          <p:cNvPr id="31" name="Rectangle 176"/>
          <p:cNvSpPr>
            <a:spLocks noChangeArrowheads="1"/>
          </p:cNvSpPr>
          <p:nvPr/>
        </p:nvSpPr>
        <p:spPr bwMode="auto">
          <a:xfrm>
            <a:off x="4768375" y="6116582"/>
            <a:ext cx="335349" cy="2700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60</a:t>
            </a:r>
          </a:p>
        </p:txBody>
      </p:sp>
      <p:sp>
        <p:nvSpPr>
          <p:cNvPr id="32" name="Rectangle 177"/>
          <p:cNvSpPr>
            <a:spLocks noChangeArrowheads="1"/>
          </p:cNvSpPr>
          <p:nvPr/>
        </p:nvSpPr>
        <p:spPr bwMode="auto">
          <a:xfrm>
            <a:off x="5145565" y="6116582"/>
            <a:ext cx="335349" cy="2700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65</a:t>
            </a:r>
          </a:p>
        </p:txBody>
      </p:sp>
      <p:sp>
        <p:nvSpPr>
          <p:cNvPr id="33" name="Rectangle 178"/>
          <p:cNvSpPr>
            <a:spLocks noChangeArrowheads="1"/>
          </p:cNvSpPr>
          <p:nvPr/>
        </p:nvSpPr>
        <p:spPr bwMode="auto">
          <a:xfrm>
            <a:off x="5522755" y="6116582"/>
            <a:ext cx="335349" cy="2700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80</a:t>
            </a:r>
          </a:p>
        </p:txBody>
      </p:sp>
      <p:sp>
        <p:nvSpPr>
          <p:cNvPr id="34" name="Rectangle 179"/>
          <p:cNvSpPr>
            <a:spLocks noChangeArrowheads="1"/>
          </p:cNvSpPr>
          <p:nvPr/>
        </p:nvSpPr>
        <p:spPr bwMode="auto">
          <a:xfrm>
            <a:off x="5962810" y="6116582"/>
            <a:ext cx="335349" cy="2700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85</a:t>
            </a:r>
          </a:p>
        </p:txBody>
      </p:sp>
      <p:sp>
        <p:nvSpPr>
          <p:cNvPr id="35" name="Rectangle 180"/>
          <p:cNvSpPr>
            <a:spLocks noChangeArrowheads="1"/>
          </p:cNvSpPr>
          <p:nvPr/>
        </p:nvSpPr>
        <p:spPr bwMode="auto">
          <a:xfrm>
            <a:off x="6402865" y="6116582"/>
            <a:ext cx="335349" cy="2700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155">
                <a:ea typeface="宋体" charset="-122"/>
              </a:rPr>
              <a:t>90</a:t>
            </a:r>
          </a:p>
        </p:txBody>
      </p:sp>
      <p:sp>
        <p:nvSpPr>
          <p:cNvPr id="36" name="Line 181"/>
          <p:cNvSpPr>
            <a:spLocks noChangeShapeType="1"/>
          </p:cNvSpPr>
          <p:nvPr/>
        </p:nvSpPr>
        <p:spPr bwMode="auto">
          <a:xfrm flipH="1">
            <a:off x="1702430" y="5430444"/>
            <a:ext cx="125730" cy="6915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37" name="Line 182"/>
          <p:cNvSpPr>
            <a:spLocks noChangeShapeType="1"/>
          </p:cNvSpPr>
          <p:nvPr/>
        </p:nvSpPr>
        <p:spPr bwMode="auto">
          <a:xfrm>
            <a:off x="2079620" y="5430444"/>
            <a:ext cx="62865" cy="6915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38" name="Line 183"/>
          <p:cNvSpPr>
            <a:spLocks noChangeShapeType="1"/>
          </p:cNvSpPr>
          <p:nvPr/>
        </p:nvSpPr>
        <p:spPr bwMode="auto">
          <a:xfrm>
            <a:off x="2393945" y="5430444"/>
            <a:ext cx="188595" cy="6915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39" name="Line 184"/>
          <p:cNvSpPr>
            <a:spLocks noChangeShapeType="1"/>
          </p:cNvSpPr>
          <p:nvPr/>
        </p:nvSpPr>
        <p:spPr bwMode="auto">
          <a:xfrm flipH="1">
            <a:off x="3085460" y="5430444"/>
            <a:ext cx="251460" cy="6915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40" name="Line 185"/>
          <p:cNvSpPr>
            <a:spLocks noChangeShapeType="1"/>
          </p:cNvSpPr>
          <p:nvPr/>
        </p:nvSpPr>
        <p:spPr bwMode="auto">
          <a:xfrm>
            <a:off x="3588380" y="5430444"/>
            <a:ext cx="0" cy="6915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41" name="Line 186"/>
          <p:cNvSpPr>
            <a:spLocks noChangeShapeType="1"/>
          </p:cNvSpPr>
          <p:nvPr/>
        </p:nvSpPr>
        <p:spPr bwMode="auto">
          <a:xfrm>
            <a:off x="3839840" y="5430444"/>
            <a:ext cx="125730" cy="6915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42" name="Line 187"/>
          <p:cNvSpPr>
            <a:spLocks noChangeShapeType="1"/>
          </p:cNvSpPr>
          <p:nvPr/>
        </p:nvSpPr>
        <p:spPr bwMode="auto">
          <a:xfrm>
            <a:off x="4154165" y="5430444"/>
            <a:ext cx="251460" cy="6915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43" name="Line 188"/>
          <p:cNvSpPr>
            <a:spLocks noChangeShapeType="1"/>
          </p:cNvSpPr>
          <p:nvPr/>
        </p:nvSpPr>
        <p:spPr bwMode="auto">
          <a:xfrm>
            <a:off x="4782815" y="5430444"/>
            <a:ext cx="0" cy="6915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44" name="Line 189"/>
          <p:cNvSpPr>
            <a:spLocks noChangeShapeType="1"/>
          </p:cNvSpPr>
          <p:nvPr/>
        </p:nvSpPr>
        <p:spPr bwMode="auto">
          <a:xfrm>
            <a:off x="4971410" y="5367579"/>
            <a:ext cx="188595" cy="7543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45" name="Line 190"/>
          <p:cNvSpPr>
            <a:spLocks noChangeShapeType="1"/>
          </p:cNvSpPr>
          <p:nvPr/>
        </p:nvSpPr>
        <p:spPr bwMode="auto">
          <a:xfrm flipH="1">
            <a:off x="5537195" y="5430444"/>
            <a:ext cx="691515" cy="6915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46" name="Line 191"/>
          <p:cNvSpPr>
            <a:spLocks noChangeShapeType="1"/>
          </p:cNvSpPr>
          <p:nvPr/>
        </p:nvSpPr>
        <p:spPr bwMode="auto">
          <a:xfrm flipH="1">
            <a:off x="5977250" y="5430444"/>
            <a:ext cx="502920" cy="6915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47" name="Line 192"/>
          <p:cNvSpPr>
            <a:spLocks noChangeShapeType="1"/>
          </p:cNvSpPr>
          <p:nvPr/>
        </p:nvSpPr>
        <p:spPr bwMode="auto">
          <a:xfrm flipH="1">
            <a:off x="6417305" y="5430444"/>
            <a:ext cx="377190" cy="6915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48" name="Line 193"/>
          <p:cNvSpPr>
            <a:spLocks noChangeShapeType="1"/>
          </p:cNvSpPr>
          <p:nvPr/>
        </p:nvSpPr>
        <p:spPr bwMode="auto">
          <a:xfrm>
            <a:off x="7360280" y="5430444"/>
            <a:ext cx="25146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49" name="Text Box 194"/>
          <p:cNvSpPr txBox="1">
            <a:spLocks noChangeArrowheads="1"/>
          </p:cNvSpPr>
          <p:nvPr/>
        </p:nvSpPr>
        <p:spPr bwMode="auto">
          <a:xfrm>
            <a:off x="1940793" y="2572706"/>
            <a:ext cx="708848" cy="397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980">
                <a:ea typeface="宋体" charset="-122"/>
              </a:rPr>
              <a:t>d = 2</a:t>
            </a:r>
          </a:p>
        </p:txBody>
      </p:sp>
      <p:sp>
        <p:nvSpPr>
          <p:cNvPr id="50" name="Line 158"/>
          <p:cNvSpPr>
            <a:spLocks noChangeShapeType="1"/>
          </p:cNvSpPr>
          <p:nvPr/>
        </p:nvSpPr>
        <p:spPr bwMode="auto">
          <a:xfrm>
            <a:off x="4468492" y="2664384"/>
            <a:ext cx="369332" cy="314325"/>
          </a:xfrm>
          <a:prstGeom prst="line">
            <a:avLst/>
          </a:prstGeom>
          <a:noFill/>
          <a:ln w="9525">
            <a:solidFill>
              <a:srgbClr val="C00000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85"/>
          </a:p>
        </p:txBody>
      </p:sp>
      <p:sp>
        <p:nvSpPr>
          <p:cNvPr id="51" name="TextBox 1"/>
          <p:cNvSpPr txBox="1">
            <a:spLocks noChangeArrowheads="1"/>
          </p:cNvSpPr>
          <p:nvPr/>
        </p:nvSpPr>
        <p:spPr bwMode="auto">
          <a:xfrm>
            <a:off x="4162025" y="2283266"/>
            <a:ext cx="1815227" cy="397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 sz="1980">
                <a:solidFill>
                  <a:srgbClr val="FF0000"/>
                </a:solidFill>
                <a:ea typeface="宋体" charset="-122"/>
              </a:rPr>
              <a:t>Root (d=1)</a:t>
            </a:r>
            <a:endParaRPr lang="zh-CN" altLang="en-US" sz="1980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52" name="TextBox 50"/>
          <p:cNvSpPr txBox="1">
            <a:spLocks noChangeArrowheads="1"/>
          </p:cNvSpPr>
          <p:nvPr/>
        </p:nvSpPr>
        <p:spPr bwMode="auto">
          <a:xfrm>
            <a:off x="6810376" y="2025102"/>
            <a:ext cx="2011680" cy="1615827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 sz="1650" dirty="0">
                <a:ea typeface="宋体" charset="-122"/>
              </a:rPr>
              <a:t>Select name</a:t>
            </a:r>
          </a:p>
          <a:p>
            <a:pPr>
              <a:buFontTx/>
              <a:buNone/>
            </a:pPr>
            <a:r>
              <a:rPr lang="en-US" altLang="zh-CN" sz="1650" dirty="0">
                <a:ea typeface="宋体" charset="-122"/>
              </a:rPr>
              <a:t>From person</a:t>
            </a:r>
          </a:p>
          <a:p>
            <a:pPr>
              <a:buFontTx/>
              <a:buNone/>
            </a:pPr>
            <a:r>
              <a:rPr lang="en-US" altLang="zh-CN" sz="1650" dirty="0">
                <a:ea typeface="宋体" charset="-122"/>
              </a:rPr>
              <a:t>Where age = 30</a:t>
            </a:r>
          </a:p>
          <a:p>
            <a:pPr>
              <a:buFontTx/>
              <a:buNone/>
            </a:pPr>
            <a:r>
              <a:rPr lang="en-US" altLang="zh-CN" sz="1650" dirty="0">
                <a:ea typeface="宋体" charset="-122"/>
              </a:rPr>
              <a:t>(Where age &gt;=30)</a:t>
            </a:r>
          </a:p>
          <a:p>
            <a:pPr>
              <a:buFontTx/>
              <a:buNone/>
            </a:pPr>
            <a:r>
              <a:rPr lang="en-US" altLang="zh-CN" sz="1650" dirty="0">
                <a:ea typeface="宋体" charset="-122"/>
              </a:rPr>
              <a:t>(Where 20&lt;=age and age &lt;=30)</a:t>
            </a:r>
            <a:endParaRPr lang="zh-CN" altLang="en-US" sz="1650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898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7056" y="6985000"/>
            <a:ext cx="822388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[Ref: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Figure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14.9,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Silberschatz,</a:t>
            </a:r>
            <a:r>
              <a:rPr sz="1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Korth,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Sudarshan,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“Database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System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Concepts,”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7</a:t>
            </a:r>
            <a:r>
              <a:rPr sz="1350" spc="-30" baseline="24691" dirty="0">
                <a:solidFill>
                  <a:srgbClr val="292934"/>
                </a:solidFill>
                <a:latin typeface="Verdana"/>
                <a:cs typeface="Verdana"/>
              </a:rPr>
              <a:t>th</a:t>
            </a:r>
            <a:r>
              <a:rPr sz="1350" spc="179" baseline="2469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Ed.,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page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636]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12152" y="322071"/>
            <a:ext cx="523684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30" dirty="0"/>
              <a:t>a</a:t>
            </a:r>
            <a:r>
              <a:rPr spc="-140" dirty="0"/>
              <a:t>m</a:t>
            </a:r>
            <a:r>
              <a:rPr spc="-130" dirty="0"/>
              <a:t>p</a:t>
            </a:r>
            <a:r>
              <a:rPr spc="-125" dirty="0"/>
              <a:t>le</a:t>
            </a:r>
            <a:r>
              <a:rPr dirty="0"/>
              <a:t>:</a:t>
            </a:r>
            <a:r>
              <a:rPr spc="-240" dirty="0"/>
              <a:t> </a:t>
            </a:r>
            <a:r>
              <a:rPr spc="-135" dirty="0"/>
              <a:t>B</a:t>
            </a:r>
            <a:r>
              <a:rPr dirty="0"/>
              <a:t>+</a:t>
            </a:r>
            <a:r>
              <a:rPr spc="-254" dirty="0"/>
              <a:t> </a:t>
            </a:r>
            <a:r>
              <a:rPr spc="-135" dirty="0"/>
              <a:t>T</a:t>
            </a:r>
            <a:r>
              <a:rPr spc="-125" dirty="0"/>
              <a:t>ree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241" y="1300183"/>
            <a:ext cx="9305876" cy="529151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0320" y="98043"/>
            <a:ext cx="4954905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Lo</a:t>
            </a:r>
            <a:r>
              <a:rPr dirty="0"/>
              <a:t>w</a:t>
            </a:r>
            <a:r>
              <a:rPr spc="-270" dirty="0"/>
              <a:t> </a:t>
            </a:r>
            <a:r>
              <a:rPr sz="5800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sz="5800" spc="-233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pc="-130" dirty="0"/>
              <a:t>v</a:t>
            </a:r>
            <a:r>
              <a:rPr spc="-125" dirty="0"/>
              <a:t>s</a:t>
            </a:r>
            <a:r>
              <a:rPr dirty="0"/>
              <a:t>.</a:t>
            </a:r>
            <a:r>
              <a:rPr spc="-240" dirty="0"/>
              <a:t> </a:t>
            </a:r>
            <a:r>
              <a:rPr spc="-135" dirty="0"/>
              <a:t>H</a:t>
            </a:r>
            <a:r>
              <a:rPr spc="-125" dirty="0"/>
              <a:t>ig</a:t>
            </a:r>
            <a:r>
              <a:rPr dirty="0"/>
              <a:t>h</a:t>
            </a:r>
            <a:r>
              <a:rPr spc="-260" dirty="0"/>
              <a:t> </a:t>
            </a:r>
            <a:r>
              <a:rPr sz="5800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endParaRPr sz="58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6120" y="1048560"/>
            <a:ext cx="7430134" cy="4403725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256540" indent="-243840">
              <a:lnSpc>
                <a:spcPct val="100000"/>
              </a:lnSpc>
              <a:spcBef>
                <a:spcPts val="1660"/>
              </a:spcBef>
              <a:buClr>
                <a:srgbClr val="292934"/>
              </a:buClr>
              <a:buSzPct val="86956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300" spc="20" dirty="0">
                <a:solidFill>
                  <a:srgbClr val="C00000"/>
                </a:solidFill>
                <a:latin typeface="Verdana"/>
                <a:cs typeface="Verdana"/>
              </a:rPr>
              <a:t>Small</a:t>
            </a:r>
            <a:r>
              <a:rPr sz="23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C00000"/>
                </a:solidFill>
                <a:latin typeface="Verdana"/>
                <a:cs typeface="Verdana"/>
              </a:rPr>
              <a:t>value</a:t>
            </a:r>
            <a:r>
              <a:rPr sz="23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C00000"/>
                </a:solidFill>
                <a:latin typeface="Verdana"/>
                <a:cs typeface="Verdana"/>
              </a:rPr>
              <a:t>for</a:t>
            </a:r>
            <a:r>
              <a:rPr sz="23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n</a:t>
            </a:r>
            <a:r>
              <a:rPr sz="23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--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55" dirty="0">
                <a:solidFill>
                  <a:srgbClr val="292934"/>
                </a:solidFill>
                <a:latin typeface="Verdana"/>
                <a:cs typeface="Verdana"/>
              </a:rPr>
              <a:t>Tall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thin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B+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tree</a:t>
            </a:r>
            <a:endParaRPr sz="2300">
              <a:latin typeface="Verdana"/>
              <a:cs typeface="Verdana"/>
            </a:endParaRPr>
          </a:p>
          <a:p>
            <a:pPr marL="744220" lvl="1" indent="-243840">
              <a:lnSpc>
                <a:spcPct val="100000"/>
              </a:lnSpc>
              <a:spcBef>
                <a:spcPts val="142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743585" algn="l"/>
                <a:tab pos="744220" algn="l"/>
              </a:tabLst>
            </a:pPr>
            <a:r>
              <a:rPr sz="2100" spc="10" dirty="0">
                <a:solidFill>
                  <a:srgbClr val="011EAA"/>
                </a:solidFill>
                <a:latin typeface="Verdana"/>
                <a:cs typeface="Verdana"/>
              </a:rPr>
              <a:t>Advantage:</a:t>
            </a:r>
            <a:r>
              <a:rPr sz="2100" spc="1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Good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consistent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performance</a:t>
            </a:r>
            <a:endParaRPr sz="2100">
              <a:latin typeface="Verdana"/>
              <a:cs typeface="Verdana"/>
            </a:endParaRPr>
          </a:p>
          <a:p>
            <a:pPr marL="1231900" lvl="2" indent="-243840">
              <a:lnSpc>
                <a:spcPct val="100000"/>
              </a:lnSpc>
              <a:spcBef>
                <a:spcPts val="900"/>
              </a:spcBef>
              <a:buSzPct val="84210"/>
              <a:buFont typeface="Arial MT"/>
              <a:buChar char="•"/>
              <a:tabLst>
                <a:tab pos="1231265" algn="l"/>
                <a:tab pos="1231900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Equal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depth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tree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2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constant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lookup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time</a:t>
            </a:r>
            <a:endParaRPr sz="1900">
              <a:latin typeface="Verdana"/>
              <a:cs typeface="Verdana"/>
            </a:endParaRPr>
          </a:p>
          <a:p>
            <a:pPr marL="744220" lvl="1" indent="-243840">
              <a:lnSpc>
                <a:spcPct val="100000"/>
              </a:lnSpc>
              <a:spcBef>
                <a:spcPts val="191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743585" algn="l"/>
                <a:tab pos="744220" algn="l"/>
              </a:tabLst>
            </a:pPr>
            <a:r>
              <a:rPr sz="2100" spc="10" dirty="0">
                <a:solidFill>
                  <a:srgbClr val="011EAA"/>
                </a:solidFill>
                <a:latin typeface="Verdana"/>
                <a:cs typeface="Verdana"/>
              </a:rPr>
              <a:t>Disadvantage:</a:t>
            </a:r>
            <a:r>
              <a:rPr sz="2100" spc="2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High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overhead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when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insert/delete</a:t>
            </a:r>
            <a:endParaRPr sz="2100">
              <a:latin typeface="Verdana"/>
              <a:cs typeface="Verdana"/>
            </a:endParaRPr>
          </a:p>
          <a:p>
            <a:pPr marL="1231900" lvl="2" indent="-243840">
              <a:lnSpc>
                <a:spcPct val="100000"/>
              </a:lnSpc>
              <a:spcBef>
                <a:spcPts val="869"/>
              </a:spcBef>
              <a:buSzPct val="84210"/>
              <a:buFont typeface="Arial MT"/>
              <a:buChar char="•"/>
              <a:tabLst>
                <a:tab pos="1231265" algn="l"/>
                <a:tab pos="1231900" algn="l"/>
              </a:tabLst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 reorganize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up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down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tree</a:t>
            </a:r>
            <a:endParaRPr sz="19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300">
              <a:latin typeface="Verdana"/>
              <a:cs typeface="Verdana"/>
            </a:endParaRPr>
          </a:p>
          <a:p>
            <a:pPr marL="256540" indent="-243840">
              <a:lnSpc>
                <a:spcPct val="100000"/>
              </a:lnSpc>
              <a:spcBef>
                <a:spcPts val="1440"/>
              </a:spcBef>
              <a:buClr>
                <a:srgbClr val="292934"/>
              </a:buClr>
              <a:buSzPct val="86956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300" spc="20" dirty="0">
                <a:solidFill>
                  <a:srgbClr val="C00000"/>
                </a:solidFill>
                <a:latin typeface="Verdana"/>
                <a:cs typeface="Verdana"/>
              </a:rPr>
              <a:t>Large</a:t>
            </a:r>
            <a:r>
              <a:rPr sz="23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C00000"/>
                </a:solidFill>
                <a:latin typeface="Verdana"/>
                <a:cs typeface="Verdana"/>
              </a:rPr>
              <a:t>value</a:t>
            </a:r>
            <a:r>
              <a:rPr sz="23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C00000"/>
                </a:solidFill>
                <a:latin typeface="Verdana"/>
                <a:cs typeface="Verdana"/>
              </a:rPr>
              <a:t>for</a:t>
            </a:r>
            <a:r>
              <a:rPr sz="23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n</a:t>
            </a:r>
            <a:r>
              <a:rPr sz="23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--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Short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wide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B+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tree</a:t>
            </a:r>
            <a:endParaRPr sz="2300">
              <a:latin typeface="Verdana"/>
              <a:cs typeface="Verdana"/>
            </a:endParaRPr>
          </a:p>
          <a:p>
            <a:pPr marL="744220" lvl="1" indent="-243840">
              <a:lnSpc>
                <a:spcPct val="100000"/>
              </a:lnSpc>
              <a:spcBef>
                <a:spcPts val="154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743585" algn="l"/>
                <a:tab pos="744220" algn="l"/>
              </a:tabLst>
            </a:pPr>
            <a:r>
              <a:rPr sz="2100" spc="10" dirty="0">
                <a:solidFill>
                  <a:srgbClr val="011EAA"/>
                </a:solidFill>
                <a:latin typeface="Verdana"/>
                <a:cs typeface="Verdana"/>
              </a:rPr>
              <a:t>Advantage:</a:t>
            </a:r>
            <a:r>
              <a:rPr sz="2100" spc="-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Low overhead</a:t>
            </a:r>
            <a:endParaRPr sz="2100">
              <a:latin typeface="Verdana"/>
              <a:cs typeface="Verdana"/>
            </a:endParaRPr>
          </a:p>
          <a:p>
            <a:pPr marL="744220" lvl="1" indent="-243840">
              <a:lnSpc>
                <a:spcPct val="100000"/>
              </a:lnSpc>
              <a:spcBef>
                <a:spcPts val="187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743585" algn="l"/>
                <a:tab pos="744220" algn="l"/>
              </a:tabLst>
            </a:pPr>
            <a:r>
              <a:rPr sz="2100" spc="10" dirty="0">
                <a:solidFill>
                  <a:srgbClr val="011EAA"/>
                </a:solidFill>
                <a:latin typeface="Verdana"/>
                <a:cs typeface="Verdana"/>
              </a:rPr>
              <a:t>Disadvantage:</a:t>
            </a:r>
            <a:r>
              <a:rPr sz="2100" spc="1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Performance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varies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280" y="6306311"/>
            <a:ext cx="1377695" cy="725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84592" y="6312408"/>
            <a:ext cx="1347216" cy="7254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91458" y="6455539"/>
            <a:ext cx="6560820" cy="427990"/>
          </a:xfrm>
          <a:prstGeom prst="rect">
            <a:avLst/>
          </a:prstGeom>
          <a:solidFill>
            <a:srgbClr val="FFFDF0"/>
          </a:solidFill>
          <a:ln w="10159">
            <a:solidFill>
              <a:srgbClr val="7F7F7F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457834">
              <a:lnSpc>
                <a:spcPct val="100000"/>
              </a:lnSpc>
              <a:spcBef>
                <a:spcPts val="38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Read/Write-mix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DB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less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overhead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high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7280" y="5727191"/>
            <a:ext cx="1377695" cy="72542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84592" y="5733288"/>
            <a:ext cx="1347216" cy="7254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791458" y="5876437"/>
            <a:ext cx="6560820" cy="427990"/>
          </a:xfrm>
          <a:prstGeom prst="rect">
            <a:avLst/>
          </a:prstGeom>
          <a:solidFill>
            <a:srgbClr val="FFFDF0"/>
          </a:solidFill>
          <a:ln w="10159">
            <a:solidFill>
              <a:srgbClr val="7F7F7F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657225">
              <a:lnSpc>
                <a:spcPct val="100000"/>
              </a:lnSpc>
              <a:spcBef>
                <a:spcPts val="38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Read-heavy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DB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consistent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time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low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6486" y="338328"/>
            <a:ext cx="872299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45" dirty="0"/>
              <a:t>A</a:t>
            </a:r>
            <a:r>
              <a:rPr sz="4100" spc="-135" dirty="0"/>
              <a:t>dv</a:t>
            </a:r>
            <a:r>
              <a:rPr sz="4100" spc="-140" dirty="0"/>
              <a:t>a</a:t>
            </a:r>
            <a:r>
              <a:rPr sz="4100" spc="-135" dirty="0"/>
              <a:t>n</a:t>
            </a:r>
            <a:r>
              <a:rPr sz="4100" spc="-140" dirty="0"/>
              <a:t>ta</a:t>
            </a:r>
            <a:r>
              <a:rPr sz="4100" spc="-135" dirty="0"/>
              <a:t>g</a:t>
            </a:r>
            <a:r>
              <a:rPr sz="4100" spc="-140" dirty="0"/>
              <a:t>e</a:t>
            </a:r>
            <a:r>
              <a:rPr sz="4100" dirty="0"/>
              <a:t>s</a:t>
            </a:r>
            <a:r>
              <a:rPr sz="4100" spc="-260" dirty="0"/>
              <a:t> </a:t>
            </a:r>
            <a:r>
              <a:rPr sz="4100" spc="-140" dirty="0"/>
              <a:t>a</a:t>
            </a:r>
            <a:r>
              <a:rPr sz="4100" spc="-135" dirty="0"/>
              <a:t>n</a:t>
            </a:r>
            <a:r>
              <a:rPr sz="4100" dirty="0"/>
              <a:t>d</a:t>
            </a:r>
            <a:r>
              <a:rPr sz="4100" spc="-254" dirty="0"/>
              <a:t> </a:t>
            </a:r>
            <a:r>
              <a:rPr sz="4100" spc="-150" dirty="0"/>
              <a:t>D</a:t>
            </a:r>
            <a:r>
              <a:rPr sz="4100" spc="-125" dirty="0"/>
              <a:t>i</a:t>
            </a:r>
            <a:r>
              <a:rPr sz="4100" spc="-140" dirty="0"/>
              <a:t>sa</a:t>
            </a:r>
            <a:r>
              <a:rPr sz="4100" spc="-135" dirty="0"/>
              <a:t>dv</a:t>
            </a:r>
            <a:r>
              <a:rPr sz="4100" spc="-140" dirty="0"/>
              <a:t>a</a:t>
            </a:r>
            <a:r>
              <a:rPr sz="4100" spc="-135" dirty="0"/>
              <a:t>n</a:t>
            </a:r>
            <a:r>
              <a:rPr sz="4100" spc="-140" dirty="0"/>
              <a:t>ta</a:t>
            </a:r>
            <a:r>
              <a:rPr sz="4100" spc="-135" dirty="0"/>
              <a:t>g</a:t>
            </a:r>
            <a:r>
              <a:rPr sz="4100" spc="-140" dirty="0"/>
              <a:t>e</a:t>
            </a:r>
            <a:r>
              <a:rPr sz="4100" dirty="0"/>
              <a:t>s</a:t>
            </a:r>
            <a:endParaRPr sz="4100"/>
          </a:p>
        </p:txBody>
      </p:sp>
      <p:sp>
        <p:nvSpPr>
          <p:cNvPr id="3" name="object 3"/>
          <p:cNvSpPr txBox="1"/>
          <p:nvPr/>
        </p:nvSpPr>
        <p:spPr>
          <a:xfrm>
            <a:off x="422573" y="1124470"/>
            <a:ext cx="8335009" cy="205803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300" b="1" spc="20" dirty="0">
                <a:solidFill>
                  <a:srgbClr val="C00000"/>
                </a:solidFill>
                <a:latin typeface="Verdana"/>
                <a:cs typeface="Verdana"/>
              </a:rPr>
              <a:t>Index-sequential</a:t>
            </a:r>
            <a:r>
              <a:rPr sz="2300" b="1" spc="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15" dirty="0">
                <a:solidFill>
                  <a:srgbClr val="C00000"/>
                </a:solidFill>
                <a:latin typeface="Verdana"/>
                <a:cs typeface="Verdana"/>
              </a:rPr>
              <a:t>files:</a:t>
            </a:r>
            <a:endParaRPr sz="2300">
              <a:latin typeface="Verdana"/>
              <a:cs typeface="Verdana"/>
            </a:endParaRPr>
          </a:p>
          <a:p>
            <a:pPr marL="261620">
              <a:lnSpc>
                <a:spcPct val="100000"/>
              </a:lnSpc>
              <a:spcBef>
                <a:spcPts val="944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Disadvantage:</a:t>
            </a:r>
            <a:endParaRPr sz="2100">
              <a:latin typeface="Verdana"/>
              <a:cs typeface="Verdana"/>
            </a:endParaRPr>
          </a:p>
          <a:p>
            <a:pPr marL="757555" marR="5080" indent="-243840">
              <a:lnSpc>
                <a:spcPts val="2020"/>
              </a:lnSpc>
              <a:spcBef>
                <a:spcPts val="1155"/>
              </a:spcBef>
              <a:buSzPct val="84210"/>
              <a:buFont typeface="Arial MT"/>
              <a:buChar char="•"/>
              <a:tabLst>
                <a:tab pos="757555" algn="l"/>
                <a:tab pos="758190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Performance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degrades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sequential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file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grows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because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many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overflow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blocks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created</a:t>
            </a:r>
            <a:endParaRPr sz="1900">
              <a:latin typeface="Verdana"/>
              <a:cs typeface="Verdana"/>
            </a:endParaRPr>
          </a:p>
          <a:p>
            <a:pPr marL="757555" indent="-244475">
              <a:lnSpc>
                <a:spcPct val="100000"/>
              </a:lnSpc>
              <a:spcBef>
                <a:spcPts val="1270"/>
              </a:spcBef>
              <a:buSzPct val="84210"/>
              <a:buFont typeface="Arial MT"/>
              <a:buChar char="•"/>
              <a:tabLst>
                <a:tab pos="757555" algn="l"/>
                <a:tab pos="758190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Periodic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reorganization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entire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file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required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2573" y="3874056"/>
            <a:ext cx="3126105" cy="941069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300" b="1" spc="15" dirty="0">
                <a:solidFill>
                  <a:srgbClr val="C00000"/>
                </a:solidFill>
                <a:latin typeface="Verdana"/>
                <a:cs typeface="Verdana"/>
              </a:rPr>
              <a:t>B+</a:t>
            </a:r>
            <a:r>
              <a:rPr sz="2300" b="1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15" dirty="0">
                <a:solidFill>
                  <a:srgbClr val="C00000"/>
                </a:solidFill>
                <a:latin typeface="Verdana"/>
                <a:cs typeface="Verdana"/>
              </a:rPr>
              <a:t>Tree</a:t>
            </a:r>
            <a:r>
              <a:rPr sz="2300" b="1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15" dirty="0">
                <a:solidFill>
                  <a:srgbClr val="C00000"/>
                </a:solidFill>
                <a:latin typeface="Verdana"/>
                <a:cs typeface="Verdana"/>
              </a:rPr>
              <a:t>index</a:t>
            </a:r>
            <a:r>
              <a:rPr sz="2300" b="1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10" dirty="0">
                <a:solidFill>
                  <a:srgbClr val="C00000"/>
                </a:solidFill>
                <a:latin typeface="Verdana"/>
                <a:cs typeface="Verdana"/>
              </a:rPr>
              <a:t>file:</a:t>
            </a:r>
            <a:endParaRPr sz="2300">
              <a:latin typeface="Verdana"/>
              <a:cs typeface="Verdana"/>
            </a:endParaRPr>
          </a:p>
          <a:p>
            <a:pPr marL="261620">
              <a:lnSpc>
                <a:spcPct val="100000"/>
              </a:lnSpc>
              <a:spcBef>
                <a:spcPts val="919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Advantage: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1832" y="4903216"/>
            <a:ext cx="8124825" cy="193992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08000" marR="5080" indent="-243840">
              <a:lnSpc>
                <a:spcPts val="1989"/>
              </a:lnSpc>
              <a:spcBef>
                <a:spcPts val="405"/>
              </a:spcBef>
              <a:buSzPct val="84210"/>
              <a:buFont typeface="Arial MT"/>
              <a:buChar char="•"/>
              <a:tabLst>
                <a:tab pos="508000" algn="l"/>
                <a:tab pos="508634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Automatically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recognize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itself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small,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local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changes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(when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insert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delete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data)</a:t>
            </a:r>
            <a:endParaRPr sz="1900">
              <a:latin typeface="Verdana"/>
              <a:cs typeface="Verdana"/>
            </a:endParaRPr>
          </a:p>
          <a:p>
            <a:pPr marL="508000" indent="-244475">
              <a:lnSpc>
                <a:spcPct val="100000"/>
              </a:lnSpc>
              <a:spcBef>
                <a:spcPts val="894"/>
              </a:spcBef>
              <a:buSzPct val="84210"/>
              <a:buFont typeface="Arial MT"/>
              <a:buChar char="•"/>
              <a:tabLst>
                <a:tab pos="508000" algn="l"/>
                <a:tab pos="508634" algn="l"/>
              </a:tabLst>
            </a:pP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Range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queries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indexed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fast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4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Disadvantage:</a:t>
            </a:r>
            <a:endParaRPr sz="2100">
              <a:latin typeface="Verdana"/>
              <a:cs typeface="Verdana"/>
            </a:endParaRPr>
          </a:p>
          <a:p>
            <a:pPr marL="508000" indent="-244475">
              <a:lnSpc>
                <a:spcPct val="100000"/>
              </a:lnSpc>
              <a:spcBef>
                <a:spcPts val="869"/>
              </a:spcBef>
              <a:buSzPct val="84210"/>
              <a:buFont typeface="Arial MT"/>
              <a:buChar char="•"/>
              <a:tabLst>
                <a:tab pos="508000" algn="l"/>
                <a:tab pos="508634" algn="l"/>
              </a:tabLst>
            </a:pP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Extra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insertion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deletion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overhead,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space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overhead</a:t>
            </a:r>
            <a:endParaRPr sz="19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3232" y="3148583"/>
            <a:ext cx="972312" cy="10759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35440" y="3148583"/>
            <a:ext cx="670559" cy="107594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018426" y="3331921"/>
            <a:ext cx="4616450" cy="680085"/>
          </a:xfrm>
          <a:prstGeom prst="rect">
            <a:avLst/>
          </a:prstGeom>
          <a:solidFill>
            <a:srgbClr val="FFFDF0"/>
          </a:solidFill>
          <a:ln w="10159">
            <a:solidFill>
              <a:srgbClr val="7F7F7F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014094" marR="182245" indent="-825500">
              <a:lnSpc>
                <a:spcPct val="101099"/>
              </a:lnSpc>
              <a:spcBef>
                <a:spcPts val="35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B+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Tree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indices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alternatives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sequential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files</a:t>
            </a:r>
            <a:endParaRPr sz="19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21735" y="4163567"/>
            <a:ext cx="1210056" cy="67970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7047" y="4163567"/>
            <a:ext cx="758951" cy="67970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898963" y="4280299"/>
            <a:ext cx="5746750" cy="427990"/>
          </a:xfrm>
          <a:prstGeom prst="rect">
            <a:avLst/>
          </a:prstGeom>
          <a:solidFill>
            <a:srgbClr val="FFFDF0"/>
          </a:solidFill>
          <a:ln w="10159">
            <a:solidFill>
              <a:srgbClr val="7F7F7F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271145">
              <a:lnSpc>
                <a:spcPct val="100000"/>
              </a:lnSpc>
              <a:spcBef>
                <a:spcPts val="37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B+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Trees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extensively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DBMS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8432" y="338328"/>
            <a:ext cx="890079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45" dirty="0"/>
              <a:t>C</a:t>
            </a:r>
            <a:r>
              <a:rPr sz="4100" spc="-120" dirty="0"/>
              <a:t>l</a:t>
            </a:r>
            <a:r>
              <a:rPr sz="4100" spc="-140" dirty="0"/>
              <a:t>ust</a:t>
            </a:r>
            <a:r>
              <a:rPr sz="4100" spc="-135" dirty="0"/>
              <a:t>e</a:t>
            </a:r>
            <a:r>
              <a:rPr sz="4100" spc="-130" dirty="0"/>
              <a:t>r</a:t>
            </a:r>
            <a:r>
              <a:rPr sz="4100" spc="-135" dirty="0"/>
              <a:t>e</a:t>
            </a:r>
            <a:r>
              <a:rPr sz="4100" dirty="0"/>
              <a:t>d</a:t>
            </a:r>
            <a:r>
              <a:rPr sz="4100" spc="-260" dirty="0"/>
              <a:t> </a:t>
            </a:r>
            <a:r>
              <a:rPr sz="4100" spc="-130" dirty="0"/>
              <a:t>v</a:t>
            </a:r>
            <a:r>
              <a:rPr sz="4100" spc="-140" dirty="0"/>
              <a:t>s</a:t>
            </a:r>
            <a:r>
              <a:rPr sz="4100" dirty="0"/>
              <a:t>.</a:t>
            </a:r>
            <a:r>
              <a:rPr sz="4100" spc="-250" dirty="0"/>
              <a:t> </a:t>
            </a:r>
            <a:r>
              <a:rPr sz="4100" spc="-145" dirty="0"/>
              <a:t>U</a:t>
            </a:r>
            <a:r>
              <a:rPr sz="4100" spc="-135" dirty="0"/>
              <a:t>nc</a:t>
            </a:r>
            <a:r>
              <a:rPr sz="4100" spc="-125" dirty="0"/>
              <a:t>l</a:t>
            </a:r>
            <a:r>
              <a:rPr sz="4100" spc="-135" dirty="0"/>
              <a:t>u</a:t>
            </a:r>
            <a:r>
              <a:rPr sz="4100" spc="-140" dirty="0"/>
              <a:t>s</a:t>
            </a:r>
            <a:r>
              <a:rPr sz="4100" spc="-135" dirty="0"/>
              <a:t>tere</a:t>
            </a:r>
            <a:r>
              <a:rPr sz="4100" dirty="0"/>
              <a:t>d</a:t>
            </a:r>
            <a:r>
              <a:rPr sz="4100" spc="-270" dirty="0"/>
              <a:t> </a:t>
            </a:r>
            <a:r>
              <a:rPr sz="4100" spc="-135" dirty="0"/>
              <a:t>Ind</a:t>
            </a:r>
            <a:r>
              <a:rPr sz="4100" spc="-140" dirty="0"/>
              <a:t>e</a:t>
            </a:r>
            <a:r>
              <a:rPr sz="4100" dirty="0"/>
              <a:t>x</a:t>
            </a:r>
            <a:endParaRPr sz="4100"/>
          </a:p>
        </p:txBody>
      </p:sp>
      <p:sp>
        <p:nvSpPr>
          <p:cNvPr id="3" name="object 3"/>
          <p:cNvSpPr/>
          <p:nvPr/>
        </p:nvSpPr>
        <p:spPr>
          <a:xfrm>
            <a:off x="9185079" y="228600"/>
            <a:ext cx="701675" cy="252095"/>
          </a:xfrm>
          <a:custGeom>
            <a:avLst/>
            <a:gdLst/>
            <a:ahLst/>
            <a:cxnLst/>
            <a:rect l="l" t="t" r="r" b="b"/>
            <a:pathLst>
              <a:path w="701675" h="252095">
                <a:moveTo>
                  <a:pt x="701388" y="0"/>
                </a:moveTo>
                <a:lnTo>
                  <a:pt x="701388" y="251783"/>
                </a:lnTo>
                <a:lnTo>
                  <a:pt x="0" y="251783"/>
                </a:lnTo>
                <a:lnTo>
                  <a:pt x="0" y="0"/>
                </a:lnTo>
              </a:path>
            </a:pathLst>
          </a:custGeom>
          <a:ln w="10159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90159" y="228600"/>
            <a:ext cx="691515" cy="247015"/>
          </a:xfrm>
          <a:prstGeom prst="rect">
            <a:avLst/>
          </a:prstGeom>
          <a:solidFill>
            <a:srgbClr val="E6E6FA"/>
          </a:solidFill>
        </p:spPr>
        <p:txBody>
          <a:bodyPr vert="horz" wrap="square" lIns="0" tIns="825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65"/>
              </a:spcBef>
            </a:pPr>
            <a:r>
              <a:rPr sz="1300" spc="-15" dirty="0">
                <a:solidFill>
                  <a:srgbClr val="7F7F7F"/>
                </a:solidFill>
                <a:latin typeface="Verdana"/>
                <a:cs typeface="Verdana"/>
              </a:rPr>
              <a:t>revisit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1414" y="4290277"/>
            <a:ext cx="9656445" cy="2770505"/>
            <a:chOff x="191414" y="4290277"/>
            <a:chExt cx="9656445" cy="2770505"/>
          </a:xfrm>
        </p:grpSpPr>
        <p:sp>
          <p:nvSpPr>
            <p:cNvPr id="6" name="object 6"/>
            <p:cNvSpPr/>
            <p:nvPr/>
          </p:nvSpPr>
          <p:spPr>
            <a:xfrm>
              <a:off x="191414" y="4290277"/>
              <a:ext cx="9656445" cy="2770505"/>
            </a:xfrm>
            <a:custGeom>
              <a:avLst/>
              <a:gdLst/>
              <a:ahLst/>
              <a:cxnLst/>
              <a:rect l="l" t="t" r="r" b="b"/>
              <a:pathLst>
                <a:path w="9656445" h="2770504">
                  <a:moveTo>
                    <a:pt x="9656064" y="0"/>
                  </a:moveTo>
                  <a:lnTo>
                    <a:pt x="0" y="0"/>
                  </a:lnTo>
                  <a:lnTo>
                    <a:pt x="0" y="2770022"/>
                  </a:lnTo>
                  <a:lnTo>
                    <a:pt x="9656064" y="2770022"/>
                  </a:lnTo>
                  <a:lnTo>
                    <a:pt x="9656064" y="0"/>
                  </a:lnTo>
                  <a:close/>
                </a:path>
              </a:pathLst>
            </a:custGeom>
            <a:solidFill>
              <a:srgbClr val="E6E8E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9343" y="4452451"/>
              <a:ext cx="8585379" cy="253593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91414" y="4290277"/>
            <a:ext cx="9656445" cy="2770505"/>
          </a:xfrm>
          <a:prstGeom prst="rect">
            <a:avLst/>
          </a:prstGeom>
          <a:ln w="10159">
            <a:solidFill>
              <a:srgbClr val="6B766F"/>
            </a:solidFill>
          </a:ln>
        </p:spPr>
        <p:txBody>
          <a:bodyPr vert="horz" wrap="square" lIns="0" tIns="17145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1350"/>
              </a:spcBef>
            </a:pPr>
            <a:r>
              <a:rPr sz="1900" b="1" spc="10" dirty="0">
                <a:solidFill>
                  <a:srgbClr val="292934"/>
                </a:solidFill>
                <a:latin typeface="Verdana"/>
                <a:cs typeface="Verdana"/>
              </a:rPr>
              <a:t>Unclustered</a:t>
            </a:r>
            <a:r>
              <a:rPr sz="1900" b="1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b="1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6334" y="1282484"/>
            <a:ext cx="9666605" cy="2780665"/>
            <a:chOff x="186334" y="1282484"/>
            <a:chExt cx="9666605" cy="2780665"/>
          </a:xfrm>
        </p:grpSpPr>
        <p:sp>
          <p:nvSpPr>
            <p:cNvPr id="10" name="object 10"/>
            <p:cNvSpPr/>
            <p:nvPr/>
          </p:nvSpPr>
          <p:spPr>
            <a:xfrm>
              <a:off x="191414" y="1287564"/>
              <a:ext cx="9656445" cy="2770505"/>
            </a:xfrm>
            <a:custGeom>
              <a:avLst/>
              <a:gdLst/>
              <a:ahLst/>
              <a:cxnLst/>
              <a:rect l="l" t="t" r="r" b="b"/>
              <a:pathLst>
                <a:path w="9656445" h="2770504">
                  <a:moveTo>
                    <a:pt x="9656064" y="0"/>
                  </a:moveTo>
                  <a:lnTo>
                    <a:pt x="0" y="0"/>
                  </a:lnTo>
                  <a:lnTo>
                    <a:pt x="0" y="2770022"/>
                  </a:lnTo>
                  <a:lnTo>
                    <a:pt x="9656064" y="2770022"/>
                  </a:lnTo>
                  <a:lnTo>
                    <a:pt x="9656064" y="0"/>
                  </a:lnTo>
                  <a:close/>
                </a:path>
              </a:pathLst>
            </a:custGeom>
            <a:solidFill>
              <a:srgbClr val="E6E8E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1414" y="1287564"/>
              <a:ext cx="9656445" cy="2770505"/>
            </a:xfrm>
            <a:custGeom>
              <a:avLst/>
              <a:gdLst/>
              <a:ahLst/>
              <a:cxnLst/>
              <a:rect l="l" t="t" r="r" b="b"/>
              <a:pathLst>
                <a:path w="9656445" h="2770504">
                  <a:moveTo>
                    <a:pt x="0" y="0"/>
                  </a:moveTo>
                  <a:lnTo>
                    <a:pt x="9656063" y="0"/>
                  </a:lnTo>
                  <a:lnTo>
                    <a:pt x="9656063" y="2770022"/>
                  </a:lnTo>
                  <a:lnTo>
                    <a:pt x="0" y="2770022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1694" y="1460962"/>
              <a:ext cx="8627945" cy="253593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75339" y="1462023"/>
            <a:ext cx="220662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b="1" spc="5" dirty="0">
                <a:solidFill>
                  <a:srgbClr val="292934"/>
                </a:solidFill>
                <a:latin typeface="Verdana"/>
                <a:cs typeface="Verdana"/>
              </a:rPr>
              <a:t>Clustered</a:t>
            </a:r>
            <a:r>
              <a:rPr sz="1900" b="1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b="1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300235" y="1359975"/>
            <a:ext cx="2500630" cy="554990"/>
            <a:chOff x="7300235" y="1359975"/>
            <a:chExt cx="2500630" cy="554990"/>
          </a:xfrm>
        </p:grpSpPr>
        <p:sp>
          <p:nvSpPr>
            <p:cNvPr id="15" name="object 15"/>
            <p:cNvSpPr/>
            <p:nvPr/>
          </p:nvSpPr>
          <p:spPr>
            <a:xfrm>
              <a:off x="7314329" y="1374068"/>
              <a:ext cx="2472690" cy="527050"/>
            </a:xfrm>
            <a:custGeom>
              <a:avLst/>
              <a:gdLst/>
              <a:ahLst/>
              <a:cxnLst/>
              <a:rect l="l" t="t" r="r" b="b"/>
              <a:pathLst>
                <a:path w="2472690" h="527050">
                  <a:moveTo>
                    <a:pt x="2384309" y="0"/>
                  </a:moveTo>
                  <a:lnTo>
                    <a:pt x="87763" y="0"/>
                  </a:lnTo>
                  <a:lnTo>
                    <a:pt x="53602" y="6896"/>
                  </a:lnTo>
                  <a:lnTo>
                    <a:pt x="25705" y="25705"/>
                  </a:lnTo>
                  <a:lnTo>
                    <a:pt x="6896" y="53601"/>
                  </a:lnTo>
                  <a:lnTo>
                    <a:pt x="0" y="87763"/>
                  </a:lnTo>
                  <a:lnTo>
                    <a:pt x="0" y="438814"/>
                  </a:lnTo>
                  <a:lnTo>
                    <a:pt x="6896" y="472975"/>
                  </a:lnTo>
                  <a:lnTo>
                    <a:pt x="25705" y="500872"/>
                  </a:lnTo>
                  <a:lnTo>
                    <a:pt x="53602" y="519680"/>
                  </a:lnTo>
                  <a:lnTo>
                    <a:pt x="87763" y="526577"/>
                  </a:lnTo>
                  <a:lnTo>
                    <a:pt x="2384309" y="526577"/>
                  </a:lnTo>
                  <a:lnTo>
                    <a:pt x="2418471" y="519680"/>
                  </a:lnTo>
                  <a:lnTo>
                    <a:pt x="2446367" y="500872"/>
                  </a:lnTo>
                  <a:lnTo>
                    <a:pt x="2465175" y="472975"/>
                  </a:lnTo>
                  <a:lnTo>
                    <a:pt x="2472072" y="438814"/>
                  </a:lnTo>
                  <a:lnTo>
                    <a:pt x="2472072" y="87763"/>
                  </a:lnTo>
                  <a:lnTo>
                    <a:pt x="2465175" y="53601"/>
                  </a:lnTo>
                  <a:lnTo>
                    <a:pt x="2446367" y="25705"/>
                  </a:lnTo>
                  <a:lnTo>
                    <a:pt x="2418471" y="6896"/>
                  </a:lnTo>
                  <a:lnTo>
                    <a:pt x="2384309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14329" y="1374068"/>
              <a:ext cx="2472690" cy="527050"/>
            </a:xfrm>
            <a:custGeom>
              <a:avLst/>
              <a:gdLst/>
              <a:ahLst/>
              <a:cxnLst/>
              <a:rect l="l" t="t" r="r" b="b"/>
              <a:pathLst>
                <a:path w="2472690" h="527050">
                  <a:moveTo>
                    <a:pt x="0" y="87763"/>
                  </a:moveTo>
                  <a:lnTo>
                    <a:pt x="6896" y="53601"/>
                  </a:lnTo>
                  <a:lnTo>
                    <a:pt x="25705" y="25705"/>
                  </a:lnTo>
                  <a:lnTo>
                    <a:pt x="53601" y="6896"/>
                  </a:lnTo>
                  <a:lnTo>
                    <a:pt x="87763" y="0"/>
                  </a:lnTo>
                  <a:lnTo>
                    <a:pt x="412012" y="0"/>
                  </a:lnTo>
                  <a:lnTo>
                    <a:pt x="1030030" y="0"/>
                  </a:lnTo>
                  <a:lnTo>
                    <a:pt x="2384309" y="0"/>
                  </a:lnTo>
                  <a:lnTo>
                    <a:pt x="2418470" y="6896"/>
                  </a:lnTo>
                  <a:lnTo>
                    <a:pt x="2446367" y="25705"/>
                  </a:lnTo>
                  <a:lnTo>
                    <a:pt x="2465175" y="53601"/>
                  </a:lnTo>
                  <a:lnTo>
                    <a:pt x="2472072" y="87763"/>
                  </a:lnTo>
                  <a:lnTo>
                    <a:pt x="2472072" y="307170"/>
                  </a:lnTo>
                  <a:lnTo>
                    <a:pt x="2472072" y="438814"/>
                  </a:lnTo>
                  <a:lnTo>
                    <a:pt x="2465175" y="472976"/>
                  </a:lnTo>
                  <a:lnTo>
                    <a:pt x="2446367" y="500872"/>
                  </a:lnTo>
                  <a:lnTo>
                    <a:pt x="2418470" y="519681"/>
                  </a:lnTo>
                  <a:lnTo>
                    <a:pt x="2384309" y="526578"/>
                  </a:lnTo>
                  <a:lnTo>
                    <a:pt x="1030030" y="526578"/>
                  </a:lnTo>
                  <a:lnTo>
                    <a:pt x="1178781" y="526578"/>
                  </a:lnTo>
                  <a:lnTo>
                    <a:pt x="412012" y="526578"/>
                  </a:lnTo>
                  <a:lnTo>
                    <a:pt x="87763" y="526578"/>
                  </a:lnTo>
                  <a:lnTo>
                    <a:pt x="53601" y="519681"/>
                  </a:lnTo>
                  <a:lnTo>
                    <a:pt x="25705" y="500872"/>
                  </a:lnTo>
                  <a:lnTo>
                    <a:pt x="6896" y="472976"/>
                  </a:lnTo>
                  <a:lnTo>
                    <a:pt x="0" y="438814"/>
                  </a:lnTo>
                  <a:lnTo>
                    <a:pt x="0" y="307170"/>
                  </a:lnTo>
                  <a:lnTo>
                    <a:pt x="0" y="87763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91794" y="1390903"/>
            <a:ext cx="2130425" cy="4464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69875" marR="5080" indent="-270510">
              <a:lnSpc>
                <a:spcPts val="1510"/>
              </a:lnSpc>
              <a:spcBef>
                <a:spcPts val="390"/>
              </a:spcBef>
            </a:pP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Records</a:t>
            </a:r>
            <a:r>
              <a:rPr sz="15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close</a:t>
            </a:r>
            <a:r>
              <a:rPr sz="15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15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index </a:t>
            </a:r>
            <a:r>
              <a:rPr sz="1500" spc="-50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15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close</a:t>
            </a:r>
            <a:r>
              <a:rPr sz="15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Cost</a:t>
            </a:r>
            <a:r>
              <a:rPr spc="-265" dirty="0"/>
              <a:t> </a:t>
            </a:r>
            <a:r>
              <a:rPr spc="-65" dirty="0"/>
              <a:t>of</a:t>
            </a:r>
            <a:r>
              <a:rPr spc="-254" dirty="0"/>
              <a:t> </a:t>
            </a:r>
            <a:r>
              <a:rPr spc="-95" dirty="0"/>
              <a:t>Disk</a:t>
            </a:r>
            <a:r>
              <a:rPr spc="-265" dirty="0"/>
              <a:t> </a:t>
            </a:r>
            <a:r>
              <a:rPr spc="-85" dirty="0"/>
              <a:t>I/O</a:t>
            </a:r>
            <a:r>
              <a:rPr spc="-270" dirty="0"/>
              <a:t> </a:t>
            </a:r>
            <a:r>
              <a:rPr spc="-120" dirty="0"/>
              <a:t>Operations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363680" y="6298733"/>
            <a:ext cx="468630" cy="394335"/>
          </a:xfrm>
          <a:custGeom>
            <a:avLst/>
            <a:gdLst/>
            <a:ahLst/>
            <a:cxnLst/>
            <a:rect l="l" t="t" r="r" b="b"/>
            <a:pathLst>
              <a:path w="468630" h="394334">
                <a:moveTo>
                  <a:pt x="0" y="0"/>
                </a:moveTo>
                <a:lnTo>
                  <a:pt x="468172" y="0"/>
                </a:lnTo>
                <a:lnTo>
                  <a:pt x="468172" y="393954"/>
                </a:lnTo>
                <a:lnTo>
                  <a:pt x="0" y="393954"/>
                </a:lnTo>
                <a:lnTo>
                  <a:pt x="0" y="0"/>
                </a:lnTo>
                <a:close/>
              </a:path>
            </a:pathLst>
          </a:custGeom>
          <a:ln w="10159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5007" y="6200109"/>
          <a:ext cx="9211935" cy="6924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08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53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65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4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862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032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862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080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862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47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9784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0540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6862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2128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66370" marB="0">
                    <a:lnL w="28575">
                      <a:solidFill>
                        <a:srgbClr val="C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d6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d7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d8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C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C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C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5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6370" marB="0">
                    <a:lnL w="28575">
                      <a:solidFill>
                        <a:srgbClr val="C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d9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1915" marB="0">
                    <a:lnL w="53975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d10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d11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d12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53975">
                      <a:solidFill>
                        <a:srgbClr val="C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d13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1915" marB="0">
                    <a:lnL w="53975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d14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500" b="1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…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28575">
                      <a:solidFill>
                        <a:srgbClr val="C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7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6370" marB="0">
                    <a:lnL w="28575">
                      <a:solidFill>
                        <a:srgbClr val="C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6370" marB="0"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C00000"/>
                      </a:solidFill>
                      <a:prstDash val="solid"/>
                    </a:lnL>
                    <a:lnR w="53975">
                      <a:solidFill>
                        <a:srgbClr val="C00000"/>
                      </a:solidFill>
                      <a:prstDash val="solid"/>
                    </a:lnR>
                    <a:lnT w="12700" cap="flat" cmpd="sng" algn="ctr">
                      <a:solidFill>
                        <a:srgbClr val="2929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C00000"/>
                      </a:solidFill>
                      <a:prstDash val="solid"/>
                    </a:lnL>
                    <a:lnR w="28575">
                      <a:solidFill>
                        <a:srgbClr val="C00000"/>
                      </a:solidFill>
                      <a:prstDash val="solid"/>
                    </a:lnR>
                    <a:lnT w="12700" cap="flat" cmpd="sng" algn="ctr">
                      <a:solidFill>
                        <a:srgbClr val="2929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935784" y="6298733"/>
            <a:ext cx="468630" cy="394335"/>
          </a:xfrm>
          <a:custGeom>
            <a:avLst/>
            <a:gdLst/>
            <a:ahLst/>
            <a:cxnLst/>
            <a:rect l="l" t="t" r="r" b="b"/>
            <a:pathLst>
              <a:path w="468630" h="394334">
                <a:moveTo>
                  <a:pt x="0" y="0"/>
                </a:moveTo>
                <a:lnTo>
                  <a:pt x="468172" y="0"/>
                </a:lnTo>
                <a:lnTo>
                  <a:pt x="468172" y="393954"/>
                </a:lnTo>
                <a:lnTo>
                  <a:pt x="0" y="393954"/>
                </a:lnTo>
                <a:lnTo>
                  <a:pt x="0" y="0"/>
                </a:lnTo>
                <a:close/>
              </a:path>
            </a:pathLst>
          </a:custGeom>
          <a:ln w="10159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04071" y="6298733"/>
            <a:ext cx="468630" cy="394335"/>
          </a:xfrm>
          <a:custGeom>
            <a:avLst/>
            <a:gdLst/>
            <a:ahLst/>
            <a:cxnLst/>
            <a:rect l="l" t="t" r="r" b="b"/>
            <a:pathLst>
              <a:path w="468630" h="394334">
                <a:moveTo>
                  <a:pt x="0" y="0"/>
                </a:moveTo>
                <a:lnTo>
                  <a:pt x="468172" y="0"/>
                </a:lnTo>
                <a:lnTo>
                  <a:pt x="468172" y="393954"/>
                </a:lnTo>
                <a:lnTo>
                  <a:pt x="0" y="393954"/>
                </a:lnTo>
                <a:lnTo>
                  <a:pt x="0" y="0"/>
                </a:lnTo>
                <a:close/>
              </a:path>
            </a:pathLst>
          </a:custGeom>
          <a:ln w="10159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79414" y="6298733"/>
            <a:ext cx="468630" cy="394335"/>
          </a:xfrm>
          <a:custGeom>
            <a:avLst/>
            <a:gdLst/>
            <a:ahLst/>
            <a:cxnLst/>
            <a:rect l="l" t="t" r="r" b="b"/>
            <a:pathLst>
              <a:path w="468630" h="394334">
                <a:moveTo>
                  <a:pt x="0" y="0"/>
                </a:moveTo>
                <a:lnTo>
                  <a:pt x="468172" y="0"/>
                </a:lnTo>
                <a:lnTo>
                  <a:pt x="468172" y="393954"/>
                </a:lnTo>
                <a:lnTo>
                  <a:pt x="0" y="393954"/>
                </a:lnTo>
                <a:lnTo>
                  <a:pt x="0" y="0"/>
                </a:lnTo>
                <a:close/>
              </a:path>
            </a:pathLst>
          </a:custGeom>
          <a:ln w="10159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34441" y="6298733"/>
            <a:ext cx="468630" cy="394335"/>
          </a:xfrm>
          <a:custGeom>
            <a:avLst/>
            <a:gdLst/>
            <a:ahLst/>
            <a:cxnLst/>
            <a:rect l="l" t="t" r="r" b="b"/>
            <a:pathLst>
              <a:path w="468629" h="394334">
                <a:moveTo>
                  <a:pt x="0" y="0"/>
                </a:moveTo>
                <a:lnTo>
                  <a:pt x="468172" y="0"/>
                </a:lnTo>
                <a:lnTo>
                  <a:pt x="468172" y="393954"/>
                </a:lnTo>
                <a:lnTo>
                  <a:pt x="0" y="393954"/>
                </a:lnTo>
                <a:lnTo>
                  <a:pt x="0" y="0"/>
                </a:lnTo>
                <a:close/>
              </a:path>
            </a:pathLst>
          </a:custGeom>
          <a:ln w="10159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03929" y="6298733"/>
            <a:ext cx="468630" cy="394335"/>
          </a:xfrm>
          <a:custGeom>
            <a:avLst/>
            <a:gdLst/>
            <a:ahLst/>
            <a:cxnLst/>
            <a:rect l="l" t="t" r="r" b="b"/>
            <a:pathLst>
              <a:path w="468629" h="394334">
                <a:moveTo>
                  <a:pt x="0" y="0"/>
                </a:moveTo>
                <a:lnTo>
                  <a:pt x="468172" y="0"/>
                </a:lnTo>
                <a:lnTo>
                  <a:pt x="468172" y="393954"/>
                </a:lnTo>
                <a:lnTo>
                  <a:pt x="0" y="393954"/>
                </a:lnTo>
                <a:lnTo>
                  <a:pt x="0" y="0"/>
                </a:lnTo>
                <a:close/>
              </a:path>
            </a:pathLst>
          </a:custGeom>
          <a:ln w="10159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80475" y="6298733"/>
            <a:ext cx="468630" cy="394335"/>
          </a:xfrm>
          <a:custGeom>
            <a:avLst/>
            <a:gdLst/>
            <a:ahLst/>
            <a:cxnLst/>
            <a:rect l="l" t="t" r="r" b="b"/>
            <a:pathLst>
              <a:path w="468629" h="394334">
                <a:moveTo>
                  <a:pt x="0" y="0"/>
                </a:moveTo>
                <a:lnTo>
                  <a:pt x="468172" y="0"/>
                </a:lnTo>
                <a:lnTo>
                  <a:pt x="468172" y="393954"/>
                </a:lnTo>
                <a:lnTo>
                  <a:pt x="0" y="393954"/>
                </a:lnTo>
                <a:lnTo>
                  <a:pt x="0" y="0"/>
                </a:lnTo>
                <a:close/>
              </a:path>
            </a:pathLst>
          </a:custGeom>
          <a:ln w="10159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4676" y="1172464"/>
            <a:ext cx="9079865" cy="14998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Assume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disk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block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holds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4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relation.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associated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40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85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Without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index,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sequential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scanning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Estimated</a:t>
            </a:r>
            <a:r>
              <a:rPr sz="2100" b="1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C00000"/>
                </a:solidFill>
                <a:latin typeface="Verdana"/>
                <a:cs typeface="Verdana"/>
              </a:rPr>
              <a:t>cost</a:t>
            </a:r>
            <a:r>
              <a:rPr sz="2100" b="1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=</a:t>
            </a:r>
            <a:r>
              <a:rPr sz="2100" b="1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#</a:t>
            </a:r>
            <a:r>
              <a:rPr sz="2100" b="1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blocks</a:t>
            </a:r>
            <a:r>
              <a:rPr sz="2100" b="1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scanned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5600" y="5918931"/>
            <a:ext cx="9576435" cy="0"/>
          </a:xfrm>
          <a:custGeom>
            <a:avLst/>
            <a:gdLst/>
            <a:ahLst/>
            <a:cxnLst/>
            <a:rect l="l" t="t" r="r" b="b"/>
            <a:pathLst>
              <a:path w="9576435">
                <a:moveTo>
                  <a:pt x="0" y="0"/>
                </a:moveTo>
                <a:lnTo>
                  <a:pt x="9576261" y="1"/>
                </a:lnTo>
              </a:path>
            </a:pathLst>
          </a:custGeom>
          <a:ln w="1015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18515" y="6864088"/>
            <a:ext cx="2133600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5"/>
              </a:spcBef>
            </a:pPr>
            <a:r>
              <a:rPr sz="1500" spc="-5" dirty="0">
                <a:solidFill>
                  <a:srgbClr val="007742"/>
                </a:solidFill>
                <a:latin typeface="Verdana"/>
                <a:cs typeface="Verdana"/>
              </a:rPr>
              <a:t>Sequential</a:t>
            </a:r>
            <a:r>
              <a:rPr sz="1500" spc="-40" dirty="0">
                <a:solidFill>
                  <a:srgbClr val="007742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07742"/>
                </a:solidFill>
                <a:latin typeface="Verdana"/>
                <a:cs typeface="Verdana"/>
              </a:rPr>
              <a:t>data</a:t>
            </a:r>
            <a:r>
              <a:rPr sz="1500" spc="-45" dirty="0">
                <a:solidFill>
                  <a:srgbClr val="007742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07742"/>
                </a:solidFill>
                <a:latin typeface="Verdana"/>
                <a:cs typeface="Verdana"/>
              </a:rPr>
              <a:t>file</a:t>
            </a:r>
            <a:endParaRPr sz="15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Cost</a:t>
            </a:r>
            <a:r>
              <a:rPr spc="-265" dirty="0"/>
              <a:t> </a:t>
            </a:r>
            <a:r>
              <a:rPr spc="-65" dirty="0"/>
              <a:t>of</a:t>
            </a:r>
            <a:r>
              <a:rPr spc="-254" dirty="0"/>
              <a:t> </a:t>
            </a:r>
            <a:r>
              <a:rPr spc="-95" dirty="0"/>
              <a:t>Disk</a:t>
            </a:r>
            <a:r>
              <a:rPr spc="-265" dirty="0"/>
              <a:t> </a:t>
            </a:r>
            <a:r>
              <a:rPr spc="-85" dirty="0"/>
              <a:t>I/O</a:t>
            </a:r>
            <a:r>
              <a:rPr spc="-270" dirty="0"/>
              <a:t> </a:t>
            </a:r>
            <a:r>
              <a:rPr spc="-12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3680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5784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4071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d3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9414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d4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62335" y="6298733"/>
            <a:ext cx="468630" cy="394335"/>
          </a:xfrm>
          <a:custGeom>
            <a:avLst/>
            <a:gdLst/>
            <a:ahLst/>
            <a:cxnLst/>
            <a:rect l="l" t="t" r="r" b="b"/>
            <a:pathLst>
              <a:path w="468630" h="394334">
                <a:moveTo>
                  <a:pt x="0" y="0"/>
                </a:moveTo>
                <a:lnTo>
                  <a:pt x="468172" y="0"/>
                </a:lnTo>
                <a:lnTo>
                  <a:pt x="468172" y="393954"/>
                </a:lnTo>
                <a:lnTo>
                  <a:pt x="0" y="393954"/>
                </a:lnTo>
                <a:lnTo>
                  <a:pt x="0" y="0"/>
                </a:lnTo>
                <a:close/>
              </a:path>
            </a:pathLst>
          </a:custGeom>
          <a:ln w="10159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60982" y="6368288"/>
            <a:ext cx="4648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d5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34441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d6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03929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d7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80475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d8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70341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d9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43649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d10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11935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d11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70747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d12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72604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d13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45911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d14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37204" y="6368288"/>
            <a:ext cx="2254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92934"/>
                </a:solidFill>
                <a:latin typeface="Verdana"/>
                <a:cs typeface="Verdana"/>
              </a:rPr>
              <a:t>…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4676" y="1172464"/>
            <a:ext cx="9079865" cy="14998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Assume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disk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block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holds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4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relation.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associated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40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85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clustered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index,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index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b="1" spc="10" dirty="0">
                <a:solidFill>
                  <a:srgbClr val="292934"/>
                </a:solidFill>
                <a:latin typeface="Verdana"/>
                <a:cs typeface="Verdana"/>
              </a:rPr>
              <a:t>sorted</a:t>
            </a:r>
            <a:r>
              <a:rPr sz="1900" b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b="1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b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b="1" spc="5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1900" b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b="1" spc="5" dirty="0">
                <a:solidFill>
                  <a:srgbClr val="292934"/>
                </a:solidFill>
                <a:latin typeface="Verdana"/>
                <a:cs typeface="Verdana"/>
              </a:rPr>
              <a:t>way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Estimated</a:t>
            </a:r>
            <a:r>
              <a:rPr sz="2100" b="1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C00000"/>
                </a:solidFill>
                <a:latin typeface="Verdana"/>
                <a:cs typeface="Verdana"/>
              </a:rPr>
              <a:t>cost</a:t>
            </a:r>
            <a:r>
              <a:rPr sz="2100" b="1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=</a:t>
            </a:r>
            <a:r>
              <a:rPr sz="2100" b="1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C00000"/>
                </a:solidFill>
                <a:latin typeface="Verdana"/>
                <a:cs typeface="Verdana"/>
              </a:rPr>
              <a:t>selectivity</a:t>
            </a:r>
            <a:r>
              <a:rPr sz="2100" b="1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estimate</a:t>
            </a:r>
            <a:r>
              <a:rPr sz="2100" b="1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2100" b="1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#blocks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00520" y="5967051"/>
            <a:ext cx="9586595" cy="847090"/>
            <a:chOff x="200520" y="5967051"/>
            <a:chExt cx="9586595" cy="847090"/>
          </a:xfrm>
        </p:grpSpPr>
        <p:sp>
          <p:nvSpPr>
            <p:cNvPr id="21" name="object 21"/>
            <p:cNvSpPr/>
            <p:nvPr/>
          </p:nvSpPr>
          <p:spPr>
            <a:xfrm>
              <a:off x="2640456" y="6214202"/>
              <a:ext cx="2282825" cy="585470"/>
            </a:xfrm>
            <a:custGeom>
              <a:avLst/>
              <a:gdLst/>
              <a:ahLst/>
              <a:cxnLst/>
              <a:rect l="l" t="t" r="r" b="b"/>
              <a:pathLst>
                <a:path w="2282825" h="585470">
                  <a:moveTo>
                    <a:pt x="0" y="0"/>
                  </a:moveTo>
                  <a:lnTo>
                    <a:pt x="2282342" y="0"/>
                  </a:lnTo>
                  <a:lnTo>
                    <a:pt x="2282342" y="585215"/>
                  </a:lnTo>
                  <a:lnTo>
                    <a:pt x="0" y="585215"/>
                  </a:lnTo>
                  <a:lnTo>
                    <a:pt x="0" y="0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40829" y="6214202"/>
              <a:ext cx="2282825" cy="585470"/>
            </a:xfrm>
            <a:custGeom>
              <a:avLst/>
              <a:gdLst/>
              <a:ahLst/>
              <a:cxnLst/>
              <a:rect l="l" t="t" r="r" b="b"/>
              <a:pathLst>
                <a:path w="2282825" h="585470">
                  <a:moveTo>
                    <a:pt x="0" y="0"/>
                  </a:moveTo>
                  <a:lnTo>
                    <a:pt x="2282342" y="0"/>
                  </a:lnTo>
                  <a:lnTo>
                    <a:pt x="2282342" y="585215"/>
                  </a:lnTo>
                  <a:lnTo>
                    <a:pt x="0" y="585215"/>
                  </a:lnTo>
                  <a:lnTo>
                    <a:pt x="0" y="0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5600" y="5972131"/>
              <a:ext cx="9576435" cy="0"/>
            </a:xfrm>
            <a:custGeom>
              <a:avLst/>
              <a:gdLst/>
              <a:ahLst/>
              <a:cxnLst/>
              <a:rect l="l" t="t" r="r" b="b"/>
              <a:pathLst>
                <a:path w="9576435">
                  <a:moveTo>
                    <a:pt x="0" y="0"/>
                  </a:moveTo>
                  <a:lnTo>
                    <a:pt x="9576261" y="1"/>
                  </a:lnTo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3297430" y="5319757"/>
          <a:ext cx="1541780" cy="393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54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60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65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4456179" y="5324836"/>
            <a:ext cx="389890" cy="394335"/>
          </a:xfrm>
          <a:custGeom>
            <a:avLst/>
            <a:gdLst/>
            <a:ahLst/>
            <a:cxnLst/>
            <a:rect l="l" t="t" r="r" b="b"/>
            <a:pathLst>
              <a:path w="389889" h="394335">
                <a:moveTo>
                  <a:pt x="389794" y="0"/>
                </a:moveTo>
                <a:lnTo>
                  <a:pt x="0" y="0"/>
                </a:lnTo>
                <a:lnTo>
                  <a:pt x="0" y="393953"/>
                </a:lnTo>
                <a:lnTo>
                  <a:pt x="389794" y="393953"/>
                </a:lnTo>
                <a:lnTo>
                  <a:pt x="3897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77786" y="4595731"/>
            <a:ext cx="325120" cy="729615"/>
          </a:xfrm>
          <a:custGeom>
            <a:avLst/>
            <a:gdLst/>
            <a:ahLst/>
            <a:cxnLst/>
            <a:rect l="l" t="t" r="r" b="b"/>
            <a:pathLst>
              <a:path w="325120" h="729614">
                <a:moveTo>
                  <a:pt x="282652" y="656541"/>
                </a:moveTo>
                <a:lnTo>
                  <a:pt x="250022" y="670676"/>
                </a:lnTo>
                <a:lnTo>
                  <a:pt x="319622" y="729105"/>
                </a:lnTo>
                <a:lnTo>
                  <a:pt x="322924" y="668972"/>
                </a:lnTo>
                <a:lnTo>
                  <a:pt x="288037" y="668972"/>
                </a:lnTo>
                <a:lnTo>
                  <a:pt x="282652" y="656541"/>
                </a:lnTo>
                <a:close/>
              </a:path>
              <a:path w="325120" h="729614">
                <a:moveTo>
                  <a:pt x="291975" y="652503"/>
                </a:moveTo>
                <a:lnTo>
                  <a:pt x="282652" y="656541"/>
                </a:lnTo>
                <a:lnTo>
                  <a:pt x="288037" y="668972"/>
                </a:lnTo>
                <a:lnTo>
                  <a:pt x="297360" y="664933"/>
                </a:lnTo>
                <a:lnTo>
                  <a:pt x="291975" y="652503"/>
                </a:lnTo>
                <a:close/>
              </a:path>
              <a:path w="325120" h="729614">
                <a:moveTo>
                  <a:pt x="324605" y="638368"/>
                </a:moveTo>
                <a:lnTo>
                  <a:pt x="291975" y="652503"/>
                </a:lnTo>
                <a:lnTo>
                  <a:pt x="297360" y="664933"/>
                </a:lnTo>
                <a:lnTo>
                  <a:pt x="288037" y="668972"/>
                </a:lnTo>
                <a:lnTo>
                  <a:pt x="322924" y="668972"/>
                </a:lnTo>
                <a:lnTo>
                  <a:pt x="324605" y="638368"/>
                </a:lnTo>
                <a:close/>
              </a:path>
              <a:path w="325120" h="729614">
                <a:moveTo>
                  <a:pt x="9323" y="0"/>
                </a:moveTo>
                <a:lnTo>
                  <a:pt x="0" y="4038"/>
                </a:lnTo>
                <a:lnTo>
                  <a:pt x="282652" y="656541"/>
                </a:lnTo>
                <a:lnTo>
                  <a:pt x="291975" y="652503"/>
                </a:lnTo>
                <a:lnTo>
                  <a:pt x="9323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4956004" y="5319757"/>
          <a:ext cx="1559559" cy="393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54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80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112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6617732" y="5319757"/>
          <a:ext cx="1541780" cy="393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54"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object 29"/>
          <p:cNvSpPr/>
          <p:nvPr/>
        </p:nvSpPr>
        <p:spPr>
          <a:xfrm>
            <a:off x="7776481" y="5324836"/>
            <a:ext cx="389890" cy="394335"/>
          </a:xfrm>
          <a:custGeom>
            <a:avLst/>
            <a:gdLst/>
            <a:ahLst/>
            <a:cxnLst/>
            <a:rect l="l" t="t" r="r" b="b"/>
            <a:pathLst>
              <a:path w="389890" h="394335">
                <a:moveTo>
                  <a:pt x="389796" y="0"/>
                </a:moveTo>
                <a:lnTo>
                  <a:pt x="0" y="0"/>
                </a:lnTo>
                <a:lnTo>
                  <a:pt x="0" y="393953"/>
                </a:lnTo>
                <a:lnTo>
                  <a:pt x="389796" y="393953"/>
                </a:lnTo>
                <a:lnTo>
                  <a:pt x="3897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8276686" y="5319757"/>
          <a:ext cx="1541780" cy="393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54"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object 31"/>
          <p:cNvSpPr/>
          <p:nvPr/>
        </p:nvSpPr>
        <p:spPr>
          <a:xfrm>
            <a:off x="9435435" y="5324836"/>
            <a:ext cx="389890" cy="394335"/>
          </a:xfrm>
          <a:custGeom>
            <a:avLst/>
            <a:gdLst/>
            <a:ahLst/>
            <a:cxnLst/>
            <a:rect l="l" t="t" r="r" b="b"/>
            <a:pathLst>
              <a:path w="389890" h="394335">
                <a:moveTo>
                  <a:pt x="389794" y="0"/>
                </a:moveTo>
                <a:lnTo>
                  <a:pt x="0" y="0"/>
                </a:lnTo>
                <a:lnTo>
                  <a:pt x="0" y="393953"/>
                </a:lnTo>
                <a:lnTo>
                  <a:pt x="389794" y="393953"/>
                </a:lnTo>
                <a:lnTo>
                  <a:pt x="3897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155982" y="4641748"/>
            <a:ext cx="703580" cy="683260"/>
          </a:xfrm>
          <a:custGeom>
            <a:avLst/>
            <a:gdLst/>
            <a:ahLst/>
            <a:cxnLst/>
            <a:rect l="l" t="t" r="r" b="b"/>
            <a:pathLst>
              <a:path w="703579" h="683260">
                <a:moveTo>
                  <a:pt x="30005" y="597311"/>
                </a:moveTo>
                <a:lnTo>
                  <a:pt x="0" y="683088"/>
                </a:lnTo>
                <a:lnTo>
                  <a:pt x="86625" y="655626"/>
                </a:lnTo>
                <a:lnTo>
                  <a:pt x="71016" y="639550"/>
                </a:lnTo>
                <a:lnTo>
                  <a:pt x="52134" y="639550"/>
                </a:lnTo>
                <a:lnTo>
                  <a:pt x="45057" y="632260"/>
                </a:lnTo>
                <a:lnTo>
                  <a:pt x="54776" y="622823"/>
                </a:lnTo>
                <a:lnTo>
                  <a:pt x="30005" y="597311"/>
                </a:lnTo>
                <a:close/>
              </a:path>
              <a:path w="703579" h="683260">
                <a:moveTo>
                  <a:pt x="54776" y="622823"/>
                </a:moveTo>
                <a:lnTo>
                  <a:pt x="45057" y="632260"/>
                </a:lnTo>
                <a:lnTo>
                  <a:pt x="52134" y="639550"/>
                </a:lnTo>
                <a:lnTo>
                  <a:pt x="61854" y="630113"/>
                </a:lnTo>
                <a:lnTo>
                  <a:pt x="54776" y="622823"/>
                </a:lnTo>
                <a:close/>
              </a:path>
              <a:path w="703579" h="683260">
                <a:moveTo>
                  <a:pt x="61854" y="630113"/>
                </a:moveTo>
                <a:lnTo>
                  <a:pt x="52134" y="639550"/>
                </a:lnTo>
                <a:lnTo>
                  <a:pt x="71016" y="639550"/>
                </a:lnTo>
                <a:lnTo>
                  <a:pt x="61854" y="630113"/>
                </a:lnTo>
                <a:close/>
              </a:path>
              <a:path w="703579" h="683260">
                <a:moveTo>
                  <a:pt x="696254" y="0"/>
                </a:moveTo>
                <a:lnTo>
                  <a:pt x="54776" y="622823"/>
                </a:lnTo>
                <a:lnTo>
                  <a:pt x="61854" y="630113"/>
                </a:lnTo>
                <a:lnTo>
                  <a:pt x="703332" y="7289"/>
                </a:lnTo>
                <a:lnTo>
                  <a:pt x="696254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934606" y="4638669"/>
            <a:ext cx="1542415" cy="690880"/>
          </a:xfrm>
          <a:custGeom>
            <a:avLst/>
            <a:gdLst/>
            <a:ahLst/>
            <a:cxnLst/>
            <a:rect l="l" t="t" r="r" b="b"/>
            <a:pathLst>
              <a:path w="1542415" h="690879">
                <a:moveTo>
                  <a:pt x="1465675" y="657919"/>
                </a:moveTo>
                <a:lnTo>
                  <a:pt x="1451284" y="690436"/>
                </a:lnTo>
                <a:lnTo>
                  <a:pt x="1542058" y="686167"/>
                </a:lnTo>
                <a:lnTo>
                  <a:pt x="1523250" y="663402"/>
                </a:lnTo>
                <a:lnTo>
                  <a:pt x="1478064" y="663402"/>
                </a:lnTo>
                <a:lnTo>
                  <a:pt x="1465675" y="657919"/>
                </a:lnTo>
                <a:close/>
              </a:path>
              <a:path w="1542415" h="690879">
                <a:moveTo>
                  <a:pt x="1469786" y="648628"/>
                </a:moveTo>
                <a:lnTo>
                  <a:pt x="1465675" y="657919"/>
                </a:lnTo>
                <a:lnTo>
                  <a:pt x="1478064" y="663402"/>
                </a:lnTo>
                <a:lnTo>
                  <a:pt x="1482175" y="654110"/>
                </a:lnTo>
                <a:lnTo>
                  <a:pt x="1469786" y="648628"/>
                </a:lnTo>
                <a:close/>
              </a:path>
              <a:path w="1542415" h="690879">
                <a:moveTo>
                  <a:pt x="1484177" y="616110"/>
                </a:moveTo>
                <a:lnTo>
                  <a:pt x="1469786" y="648628"/>
                </a:lnTo>
                <a:lnTo>
                  <a:pt x="1482175" y="654110"/>
                </a:lnTo>
                <a:lnTo>
                  <a:pt x="1478064" y="663402"/>
                </a:lnTo>
                <a:lnTo>
                  <a:pt x="1523250" y="663402"/>
                </a:lnTo>
                <a:lnTo>
                  <a:pt x="1484177" y="616110"/>
                </a:lnTo>
                <a:close/>
              </a:path>
              <a:path w="1542415" h="690879">
                <a:moveTo>
                  <a:pt x="4112" y="0"/>
                </a:moveTo>
                <a:lnTo>
                  <a:pt x="0" y="9290"/>
                </a:lnTo>
                <a:lnTo>
                  <a:pt x="1465675" y="657919"/>
                </a:lnTo>
                <a:lnTo>
                  <a:pt x="1469786" y="648628"/>
                </a:lnTo>
                <a:lnTo>
                  <a:pt x="4112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180890" y="5319757"/>
          <a:ext cx="1463038" cy="393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9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54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object 35"/>
          <p:cNvSpPr/>
          <p:nvPr/>
        </p:nvSpPr>
        <p:spPr>
          <a:xfrm>
            <a:off x="1279664" y="5324836"/>
            <a:ext cx="369570" cy="394335"/>
          </a:xfrm>
          <a:custGeom>
            <a:avLst/>
            <a:gdLst/>
            <a:ahLst/>
            <a:cxnLst/>
            <a:rect l="l" t="t" r="r" b="b"/>
            <a:pathLst>
              <a:path w="369569" h="394335">
                <a:moveTo>
                  <a:pt x="369345" y="0"/>
                </a:moveTo>
                <a:lnTo>
                  <a:pt x="0" y="0"/>
                </a:lnTo>
                <a:lnTo>
                  <a:pt x="0" y="393953"/>
                </a:lnTo>
                <a:lnTo>
                  <a:pt x="369345" y="393953"/>
                </a:lnTo>
                <a:lnTo>
                  <a:pt x="3693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1738453" y="5319757"/>
          <a:ext cx="1463039" cy="3901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43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5756070" y="4241237"/>
          <a:ext cx="2336797" cy="4096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29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5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0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96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28575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1984127" y="4241237"/>
          <a:ext cx="2336797" cy="4096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29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5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0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96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60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28575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3910052" y="3209951"/>
          <a:ext cx="2336797" cy="4096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29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5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0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96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80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28575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" name="object 40"/>
          <p:cNvSpPr/>
          <p:nvPr/>
        </p:nvSpPr>
        <p:spPr>
          <a:xfrm>
            <a:off x="4525797" y="3586817"/>
            <a:ext cx="1593215" cy="671830"/>
          </a:xfrm>
          <a:custGeom>
            <a:avLst/>
            <a:gdLst/>
            <a:ahLst/>
            <a:cxnLst/>
            <a:rect l="l" t="t" r="r" b="b"/>
            <a:pathLst>
              <a:path w="1593214" h="671829">
                <a:moveTo>
                  <a:pt x="1515753" y="638709"/>
                </a:moveTo>
                <a:lnTo>
                  <a:pt x="1502117" y="671550"/>
                </a:lnTo>
                <a:lnTo>
                  <a:pt x="1592767" y="665184"/>
                </a:lnTo>
                <a:lnTo>
                  <a:pt x="1574343" y="643903"/>
                </a:lnTo>
                <a:lnTo>
                  <a:pt x="1528264" y="643903"/>
                </a:lnTo>
                <a:lnTo>
                  <a:pt x="1515753" y="638709"/>
                </a:lnTo>
                <a:close/>
              </a:path>
              <a:path w="1593214" h="671829">
                <a:moveTo>
                  <a:pt x="1519649" y="629325"/>
                </a:moveTo>
                <a:lnTo>
                  <a:pt x="1515753" y="638709"/>
                </a:lnTo>
                <a:lnTo>
                  <a:pt x="1528264" y="643903"/>
                </a:lnTo>
                <a:lnTo>
                  <a:pt x="1532161" y="634519"/>
                </a:lnTo>
                <a:lnTo>
                  <a:pt x="1519649" y="629325"/>
                </a:lnTo>
                <a:close/>
              </a:path>
              <a:path w="1593214" h="671829">
                <a:moveTo>
                  <a:pt x="1533284" y="596483"/>
                </a:moveTo>
                <a:lnTo>
                  <a:pt x="1519649" y="629325"/>
                </a:lnTo>
                <a:lnTo>
                  <a:pt x="1532161" y="634519"/>
                </a:lnTo>
                <a:lnTo>
                  <a:pt x="1528264" y="643903"/>
                </a:lnTo>
                <a:lnTo>
                  <a:pt x="1574343" y="643903"/>
                </a:lnTo>
                <a:lnTo>
                  <a:pt x="1533284" y="596483"/>
                </a:lnTo>
                <a:close/>
              </a:path>
              <a:path w="1593214" h="671829">
                <a:moveTo>
                  <a:pt x="3895" y="0"/>
                </a:moveTo>
                <a:lnTo>
                  <a:pt x="0" y="9382"/>
                </a:lnTo>
                <a:lnTo>
                  <a:pt x="1515753" y="638709"/>
                </a:lnTo>
                <a:lnTo>
                  <a:pt x="1519649" y="629325"/>
                </a:lnTo>
                <a:lnTo>
                  <a:pt x="3895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399464" y="4642750"/>
            <a:ext cx="418465" cy="682625"/>
          </a:xfrm>
          <a:custGeom>
            <a:avLst/>
            <a:gdLst/>
            <a:ahLst/>
            <a:cxnLst/>
            <a:rect l="l" t="t" r="r" b="b"/>
            <a:pathLst>
              <a:path w="418465" h="682625">
                <a:moveTo>
                  <a:pt x="371622" y="615315"/>
                </a:moveTo>
                <a:lnTo>
                  <a:pt x="341254" y="633815"/>
                </a:lnTo>
                <a:lnTo>
                  <a:pt x="418246" y="682086"/>
                </a:lnTo>
                <a:lnTo>
                  <a:pt x="413627" y="626883"/>
                </a:lnTo>
                <a:lnTo>
                  <a:pt x="378669" y="626883"/>
                </a:lnTo>
                <a:lnTo>
                  <a:pt x="371622" y="615315"/>
                </a:lnTo>
                <a:close/>
              </a:path>
              <a:path w="418465" h="682625">
                <a:moveTo>
                  <a:pt x="380299" y="610029"/>
                </a:moveTo>
                <a:lnTo>
                  <a:pt x="371622" y="615315"/>
                </a:lnTo>
                <a:lnTo>
                  <a:pt x="378669" y="626883"/>
                </a:lnTo>
                <a:lnTo>
                  <a:pt x="387346" y="621597"/>
                </a:lnTo>
                <a:lnTo>
                  <a:pt x="380299" y="610029"/>
                </a:lnTo>
                <a:close/>
              </a:path>
              <a:path w="418465" h="682625">
                <a:moveTo>
                  <a:pt x="410668" y="591529"/>
                </a:moveTo>
                <a:lnTo>
                  <a:pt x="380299" y="610029"/>
                </a:lnTo>
                <a:lnTo>
                  <a:pt x="387346" y="621597"/>
                </a:lnTo>
                <a:lnTo>
                  <a:pt x="378669" y="626883"/>
                </a:lnTo>
                <a:lnTo>
                  <a:pt x="413627" y="626883"/>
                </a:lnTo>
                <a:lnTo>
                  <a:pt x="410668" y="591529"/>
                </a:lnTo>
                <a:close/>
              </a:path>
              <a:path w="418465" h="682625">
                <a:moveTo>
                  <a:pt x="8676" y="0"/>
                </a:moveTo>
                <a:lnTo>
                  <a:pt x="0" y="5285"/>
                </a:lnTo>
                <a:lnTo>
                  <a:pt x="371622" y="615315"/>
                </a:lnTo>
                <a:lnTo>
                  <a:pt x="380299" y="610029"/>
                </a:lnTo>
                <a:lnTo>
                  <a:pt x="8676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2346623" y="3619820"/>
            <a:ext cx="1663700" cy="641985"/>
            <a:chOff x="2346623" y="3619820"/>
            <a:chExt cx="1663700" cy="641985"/>
          </a:xfrm>
        </p:grpSpPr>
        <p:sp>
          <p:nvSpPr>
            <p:cNvPr id="43" name="object 43"/>
            <p:cNvSpPr/>
            <p:nvPr/>
          </p:nvSpPr>
          <p:spPr>
            <a:xfrm>
              <a:off x="2346623" y="3619820"/>
              <a:ext cx="1663700" cy="641985"/>
            </a:xfrm>
            <a:custGeom>
              <a:avLst/>
              <a:gdLst/>
              <a:ahLst/>
              <a:cxnLst/>
              <a:rect l="l" t="t" r="r" b="b"/>
              <a:pathLst>
                <a:path w="1663700" h="641985">
                  <a:moveTo>
                    <a:pt x="61685" y="565450"/>
                  </a:moveTo>
                  <a:lnTo>
                    <a:pt x="0" y="632181"/>
                  </a:lnTo>
                  <a:lnTo>
                    <a:pt x="90394" y="641490"/>
                  </a:lnTo>
                  <a:lnTo>
                    <a:pt x="79641" y="613008"/>
                  </a:lnTo>
                  <a:lnTo>
                    <a:pt x="65161" y="613008"/>
                  </a:lnTo>
                  <a:lnTo>
                    <a:pt x="61572" y="603504"/>
                  </a:lnTo>
                  <a:lnTo>
                    <a:pt x="74245" y="598718"/>
                  </a:lnTo>
                  <a:lnTo>
                    <a:pt x="61685" y="565450"/>
                  </a:lnTo>
                  <a:close/>
                </a:path>
                <a:path w="1663700" h="641985">
                  <a:moveTo>
                    <a:pt x="74245" y="598718"/>
                  </a:moveTo>
                  <a:lnTo>
                    <a:pt x="61572" y="603504"/>
                  </a:lnTo>
                  <a:lnTo>
                    <a:pt x="65161" y="613008"/>
                  </a:lnTo>
                  <a:lnTo>
                    <a:pt x="77834" y="608223"/>
                  </a:lnTo>
                  <a:lnTo>
                    <a:pt x="74245" y="598718"/>
                  </a:lnTo>
                  <a:close/>
                </a:path>
                <a:path w="1663700" h="641985">
                  <a:moveTo>
                    <a:pt x="77834" y="608223"/>
                  </a:moveTo>
                  <a:lnTo>
                    <a:pt x="65161" y="613008"/>
                  </a:lnTo>
                  <a:lnTo>
                    <a:pt x="79641" y="613008"/>
                  </a:lnTo>
                  <a:lnTo>
                    <a:pt x="77834" y="608223"/>
                  </a:lnTo>
                  <a:close/>
                </a:path>
                <a:path w="1663700" h="641985">
                  <a:moveTo>
                    <a:pt x="1659963" y="0"/>
                  </a:moveTo>
                  <a:lnTo>
                    <a:pt x="74245" y="598718"/>
                  </a:lnTo>
                  <a:lnTo>
                    <a:pt x="77834" y="608223"/>
                  </a:lnTo>
                  <a:lnTo>
                    <a:pt x="1663552" y="9504"/>
                  </a:lnTo>
                  <a:lnTo>
                    <a:pt x="1659963" y="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84066" y="3678677"/>
              <a:ext cx="589280" cy="240029"/>
            </a:xfrm>
            <a:custGeom>
              <a:avLst/>
              <a:gdLst/>
              <a:ahLst/>
              <a:cxnLst/>
              <a:rect l="l" t="t" r="r" b="b"/>
              <a:pathLst>
                <a:path w="589279" h="240029">
                  <a:moveTo>
                    <a:pt x="61685" y="163845"/>
                  </a:moveTo>
                  <a:lnTo>
                    <a:pt x="0" y="230576"/>
                  </a:lnTo>
                  <a:lnTo>
                    <a:pt x="90396" y="239885"/>
                  </a:lnTo>
                  <a:lnTo>
                    <a:pt x="81436" y="216155"/>
                  </a:lnTo>
                  <a:lnTo>
                    <a:pt x="66955" y="216155"/>
                  </a:lnTo>
                  <a:lnTo>
                    <a:pt x="59777" y="197145"/>
                  </a:lnTo>
                  <a:lnTo>
                    <a:pt x="72451" y="192360"/>
                  </a:lnTo>
                  <a:lnTo>
                    <a:pt x="61685" y="163845"/>
                  </a:lnTo>
                  <a:close/>
                </a:path>
                <a:path w="589279" h="240029">
                  <a:moveTo>
                    <a:pt x="72451" y="192360"/>
                  </a:moveTo>
                  <a:lnTo>
                    <a:pt x="59777" y="197145"/>
                  </a:lnTo>
                  <a:lnTo>
                    <a:pt x="66955" y="216155"/>
                  </a:lnTo>
                  <a:lnTo>
                    <a:pt x="79629" y="211370"/>
                  </a:lnTo>
                  <a:lnTo>
                    <a:pt x="72451" y="192360"/>
                  </a:lnTo>
                  <a:close/>
                </a:path>
                <a:path w="589279" h="240029">
                  <a:moveTo>
                    <a:pt x="79629" y="211370"/>
                  </a:moveTo>
                  <a:lnTo>
                    <a:pt x="66955" y="216155"/>
                  </a:lnTo>
                  <a:lnTo>
                    <a:pt x="81436" y="216155"/>
                  </a:lnTo>
                  <a:lnTo>
                    <a:pt x="79629" y="211370"/>
                  </a:lnTo>
                  <a:close/>
                </a:path>
                <a:path w="589279" h="240029">
                  <a:moveTo>
                    <a:pt x="581920" y="0"/>
                  </a:moveTo>
                  <a:lnTo>
                    <a:pt x="72451" y="192360"/>
                  </a:lnTo>
                  <a:lnTo>
                    <a:pt x="79629" y="211370"/>
                  </a:lnTo>
                  <a:lnTo>
                    <a:pt x="589098" y="19010"/>
                  </a:lnTo>
                  <a:lnTo>
                    <a:pt x="58192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365913" y="4624165"/>
            <a:ext cx="8505825" cy="1703070"/>
            <a:chOff x="365913" y="4624165"/>
            <a:chExt cx="8505825" cy="1703070"/>
          </a:xfrm>
        </p:grpSpPr>
        <p:sp>
          <p:nvSpPr>
            <p:cNvPr id="46" name="object 46"/>
            <p:cNvSpPr/>
            <p:nvPr/>
          </p:nvSpPr>
          <p:spPr>
            <a:xfrm>
              <a:off x="365912" y="4624171"/>
              <a:ext cx="8505825" cy="1703070"/>
            </a:xfrm>
            <a:custGeom>
              <a:avLst/>
              <a:gdLst/>
              <a:ahLst/>
              <a:cxnLst/>
              <a:rect l="l" t="t" r="r" b="b"/>
              <a:pathLst>
                <a:path w="8505825" h="1703070">
                  <a:moveTo>
                    <a:pt x="240055" y="1584058"/>
                  </a:moveTo>
                  <a:lnTo>
                    <a:pt x="206933" y="1597037"/>
                  </a:lnTo>
                  <a:lnTo>
                    <a:pt x="9448" y="1092771"/>
                  </a:lnTo>
                  <a:lnTo>
                    <a:pt x="0" y="1096479"/>
                  </a:lnTo>
                  <a:lnTo>
                    <a:pt x="197472" y="1600733"/>
                  </a:lnTo>
                  <a:lnTo>
                    <a:pt x="164363" y="1613700"/>
                  </a:lnTo>
                  <a:lnTo>
                    <a:pt x="231851" y="1674571"/>
                  </a:lnTo>
                  <a:lnTo>
                    <a:pt x="237401" y="1613357"/>
                  </a:lnTo>
                  <a:lnTo>
                    <a:pt x="240055" y="1584058"/>
                  </a:lnTo>
                  <a:close/>
                </a:path>
                <a:path w="8505825" h="1703070">
                  <a:moveTo>
                    <a:pt x="803948" y="1674571"/>
                  </a:moveTo>
                  <a:lnTo>
                    <a:pt x="794931" y="1623161"/>
                  </a:lnTo>
                  <a:lnTo>
                    <a:pt x="788238" y="1585061"/>
                  </a:lnTo>
                  <a:lnTo>
                    <a:pt x="759663" y="1606219"/>
                  </a:lnTo>
                  <a:lnTo>
                    <a:pt x="378599" y="1091603"/>
                  </a:lnTo>
                  <a:lnTo>
                    <a:pt x="370433" y="1097648"/>
                  </a:lnTo>
                  <a:lnTo>
                    <a:pt x="751497" y="1612265"/>
                  </a:lnTo>
                  <a:lnTo>
                    <a:pt x="722922" y="1633435"/>
                  </a:lnTo>
                  <a:lnTo>
                    <a:pt x="803948" y="1674571"/>
                  </a:lnTo>
                  <a:close/>
                </a:path>
                <a:path w="8505825" h="1703070">
                  <a:moveTo>
                    <a:pt x="1372235" y="1674571"/>
                  </a:moveTo>
                  <a:lnTo>
                    <a:pt x="1356271" y="1632343"/>
                  </a:lnTo>
                  <a:lnTo>
                    <a:pt x="1340104" y="1589570"/>
                  </a:lnTo>
                  <a:lnTo>
                    <a:pt x="1315974" y="1615694"/>
                  </a:lnTo>
                  <a:lnTo>
                    <a:pt x="747737" y="1090891"/>
                  </a:lnTo>
                  <a:lnTo>
                    <a:pt x="740854" y="1098359"/>
                  </a:lnTo>
                  <a:lnTo>
                    <a:pt x="1309077" y="1623148"/>
                  </a:lnTo>
                  <a:lnTo>
                    <a:pt x="1284960" y="1649272"/>
                  </a:lnTo>
                  <a:lnTo>
                    <a:pt x="1372235" y="1674571"/>
                  </a:lnTo>
                  <a:close/>
                </a:path>
                <a:path w="8505825" h="1703070">
                  <a:moveTo>
                    <a:pt x="1697164" y="9398"/>
                  </a:moveTo>
                  <a:lnTo>
                    <a:pt x="1693291" y="0"/>
                  </a:lnTo>
                  <a:lnTo>
                    <a:pt x="77952" y="665035"/>
                  </a:lnTo>
                  <a:lnTo>
                    <a:pt x="64414" y="632142"/>
                  </a:lnTo>
                  <a:lnTo>
                    <a:pt x="4724" y="700671"/>
                  </a:lnTo>
                  <a:lnTo>
                    <a:pt x="95351" y="707313"/>
                  </a:lnTo>
                  <a:lnTo>
                    <a:pt x="83947" y="679577"/>
                  </a:lnTo>
                  <a:lnTo>
                    <a:pt x="81813" y="674420"/>
                  </a:lnTo>
                  <a:lnTo>
                    <a:pt x="1697164" y="9398"/>
                  </a:lnTo>
                  <a:close/>
                </a:path>
                <a:path w="8505825" h="1703070">
                  <a:moveTo>
                    <a:pt x="1947583" y="1674571"/>
                  </a:moveTo>
                  <a:lnTo>
                    <a:pt x="1941004" y="1620939"/>
                  </a:lnTo>
                  <a:lnTo>
                    <a:pt x="1936521" y="1584375"/>
                  </a:lnTo>
                  <a:lnTo>
                    <a:pt x="1906879" y="1604022"/>
                  </a:lnTo>
                  <a:lnTo>
                    <a:pt x="1564563" y="1088009"/>
                  </a:lnTo>
                  <a:lnTo>
                    <a:pt x="1556092" y="1093622"/>
                  </a:lnTo>
                  <a:lnTo>
                    <a:pt x="1898421" y="1609648"/>
                  </a:lnTo>
                  <a:lnTo>
                    <a:pt x="1868779" y="1629295"/>
                  </a:lnTo>
                  <a:lnTo>
                    <a:pt x="1947583" y="1674571"/>
                  </a:lnTo>
                  <a:close/>
                </a:path>
                <a:path w="8505825" h="1703070">
                  <a:moveTo>
                    <a:pt x="2269731" y="24892"/>
                  </a:moveTo>
                  <a:lnTo>
                    <a:pt x="2262682" y="17564"/>
                  </a:lnTo>
                  <a:lnTo>
                    <a:pt x="1615363" y="640651"/>
                  </a:lnTo>
                  <a:lnTo>
                    <a:pt x="1590713" y="615022"/>
                  </a:lnTo>
                  <a:lnTo>
                    <a:pt x="1560334" y="700671"/>
                  </a:lnTo>
                  <a:lnTo>
                    <a:pt x="1647075" y="673582"/>
                  </a:lnTo>
                  <a:lnTo>
                    <a:pt x="1631454" y="657364"/>
                  </a:lnTo>
                  <a:lnTo>
                    <a:pt x="1622412" y="647966"/>
                  </a:lnTo>
                  <a:lnTo>
                    <a:pt x="2269731" y="24892"/>
                  </a:lnTo>
                  <a:close/>
                </a:path>
                <a:path w="8505825" h="1703070">
                  <a:moveTo>
                    <a:pt x="2530500" y="1674571"/>
                  </a:moveTo>
                  <a:lnTo>
                    <a:pt x="2515197" y="1631162"/>
                  </a:lnTo>
                  <a:lnTo>
                    <a:pt x="2500287" y="1588871"/>
                  </a:lnTo>
                  <a:lnTo>
                    <a:pt x="2475573" y="1614449"/>
                  </a:lnTo>
                  <a:lnTo>
                    <a:pt x="1929726" y="1087158"/>
                  </a:lnTo>
                  <a:lnTo>
                    <a:pt x="1922678" y="1094473"/>
                  </a:lnTo>
                  <a:lnTo>
                    <a:pt x="2468511" y="1621751"/>
                  </a:lnTo>
                  <a:lnTo>
                    <a:pt x="2443810" y="1647329"/>
                  </a:lnTo>
                  <a:lnTo>
                    <a:pt x="2530500" y="1674571"/>
                  </a:lnTo>
                  <a:close/>
                </a:path>
                <a:path w="8505825" h="1703070">
                  <a:moveTo>
                    <a:pt x="3102610" y="1674571"/>
                  </a:moveTo>
                  <a:lnTo>
                    <a:pt x="3084017" y="1639100"/>
                  </a:lnTo>
                  <a:lnTo>
                    <a:pt x="3060408" y="1594091"/>
                  </a:lnTo>
                  <a:lnTo>
                    <a:pt x="3039618" y="1622945"/>
                  </a:lnTo>
                  <a:lnTo>
                    <a:pt x="2295042" y="1086688"/>
                  </a:lnTo>
                  <a:lnTo>
                    <a:pt x="2289098" y="1094943"/>
                  </a:lnTo>
                  <a:lnTo>
                    <a:pt x="3033687" y="1631188"/>
                  </a:lnTo>
                  <a:lnTo>
                    <a:pt x="3012897" y="1660042"/>
                  </a:lnTo>
                  <a:lnTo>
                    <a:pt x="3102610" y="1674571"/>
                  </a:lnTo>
                  <a:close/>
                </a:path>
                <a:path w="8505825" h="1703070">
                  <a:moveTo>
                    <a:pt x="3672103" y="1674571"/>
                  </a:moveTo>
                  <a:lnTo>
                    <a:pt x="3658514" y="1628482"/>
                  </a:lnTo>
                  <a:lnTo>
                    <a:pt x="3646398" y="1587398"/>
                  </a:lnTo>
                  <a:lnTo>
                    <a:pt x="3620389" y="1611655"/>
                  </a:lnTo>
                  <a:lnTo>
                    <a:pt x="3135211" y="1091158"/>
                  </a:lnTo>
                  <a:lnTo>
                    <a:pt x="3127781" y="1098092"/>
                  </a:lnTo>
                  <a:lnTo>
                    <a:pt x="3612959" y="1618576"/>
                  </a:lnTo>
                  <a:lnTo>
                    <a:pt x="3586950" y="1642821"/>
                  </a:lnTo>
                  <a:lnTo>
                    <a:pt x="3672103" y="1674571"/>
                  </a:lnTo>
                  <a:close/>
                </a:path>
                <a:path w="8505825" h="1703070">
                  <a:moveTo>
                    <a:pt x="4248645" y="1674571"/>
                  </a:moveTo>
                  <a:lnTo>
                    <a:pt x="4230916" y="1636293"/>
                  </a:lnTo>
                  <a:lnTo>
                    <a:pt x="4210456" y="1592110"/>
                  </a:lnTo>
                  <a:lnTo>
                    <a:pt x="4188269" y="1619910"/>
                  </a:lnTo>
                  <a:lnTo>
                    <a:pt x="3524923" y="1090650"/>
                  </a:lnTo>
                  <a:lnTo>
                    <a:pt x="3518585" y="1098600"/>
                  </a:lnTo>
                  <a:lnTo>
                    <a:pt x="4181932" y="1627847"/>
                  </a:lnTo>
                  <a:lnTo>
                    <a:pt x="4159758" y="1655648"/>
                  </a:lnTo>
                  <a:lnTo>
                    <a:pt x="4248645" y="1674571"/>
                  </a:lnTo>
                  <a:close/>
                </a:path>
                <a:path w="8505825" h="1703070">
                  <a:moveTo>
                    <a:pt x="4872240" y="1590192"/>
                  </a:moveTo>
                  <a:lnTo>
                    <a:pt x="4836807" y="1593151"/>
                  </a:lnTo>
                  <a:lnTo>
                    <a:pt x="4795126" y="1094206"/>
                  </a:lnTo>
                  <a:lnTo>
                    <a:pt x="4785004" y="1095044"/>
                  </a:lnTo>
                  <a:lnTo>
                    <a:pt x="4826686" y="1593989"/>
                  </a:lnTo>
                  <a:lnTo>
                    <a:pt x="4791240" y="1596948"/>
                  </a:lnTo>
                  <a:lnTo>
                    <a:pt x="4838509" y="1674571"/>
                  </a:lnTo>
                  <a:lnTo>
                    <a:pt x="4865319" y="1607489"/>
                  </a:lnTo>
                  <a:lnTo>
                    <a:pt x="4872240" y="1590192"/>
                  </a:lnTo>
                  <a:close/>
                </a:path>
                <a:path w="8505825" h="1703070">
                  <a:moveTo>
                    <a:pt x="5419433" y="1584007"/>
                  </a:moveTo>
                  <a:lnTo>
                    <a:pt x="5386400" y="1597202"/>
                  </a:lnTo>
                  <a:lnTo>
                    <a:pt x="5185041" y="1092746"/>
                  </a:lnTo>
                  <a:lnTo>
                    <a:pt x="5175605" y="1096505"/>
                  </a:lnTo>
                  <a:lnTo>
                    <a:pt x="5376964" y="1600962"/>
                  </a:lnTo>
                  <a:lnTo>
                    <a:pt x="5343944" y="1614144"/>
                  </a:lnTo>
                  <a:lnTo>
                    <a:pt x="5411813" y="1674571"/>
                  </a:lnTo>
                  <a:lnTo>
                    <a:pt x="5416943" y="1613547"/>
                  </a:lnTo>
                  <a:lnTo>
                    <a:pt x="5419433" y="1584007"/>
                  </a:lnTo>
                  <a:close/>
                </a:path>
                <a:path w="8505825" h="1703070">
                  <a:moveTo>
                    <a:pt x="6455727" y="1097826"/>
                  </a:moveTo>
                  <a:lnTo>
                    <a:pt x="6447853" y="1091425"/>
                  </a:lnTo>
                  <a:lnTo>
                    <a:pt x="6027445" y="1608302"/>
                  </a:lnTo>
                  <a:lnTo>
                    <a:pt x="5999861" y="1585861"/>
                  </a:lnTo>
                  <a:lnTo>
                    <a:pt x="5980100" y="1674571"/>
                  </a:lnTo>
                  <a:lnTo>
                    <a:pt x="6062916" y="1637157"/>
                  </a:lnTo>
                  <a:lnTo>
                    <a:pt x="6048248" y="1625231"/>
                  </a:lnTo>
                  <a:lnTo>
                    <a:pt x="6035332" y="1614716"/>
                  </a:lnTo>
                  <a:lnTo>
                    <a:pt x="6455727" y="1097826"/>
                  </a:lnTo>
                  <a:close/>
                </a:path>
                <a:path w="8505825" h="1703070">
                  <a:moveTo>
                    <a:pt x="6846557" y="1096975"/>
                  </a:moveTo>
                  <a:lnTo>
                    <a:pt x="6837553" y="1092276"/>
                  </a:lnTo>
                  <a:lnTo>
                    <a:pt x="6572059" y="1600187"/>
                  </a:lnTo>
                  <a:lnTo>
                    <a:pt x="6540551" y="1583702"/>
                  </a:lnTo>
                  <a:lnTo>
                    <a:pt x="6538912" y="1674571"/>
                  </a:lnTo>
                  <a:lnTo>
                    <a:pt x="6612585" y="1621358"/>
                  </a:lnTo>
                  <a:lnTo>
                    <a:pt x="6604038" y="1616887"/>
                  </a:lnTo>
                  <a:lnTo>
                    <a:pt x="6581064" y="1604886"/>
                  </a:lnTo>
                  <a:lnTo>
                    <a:pt x="6846557" y="1096975"/>
                  </a:lnTo>
                  <a:close/>
                </a:path>
                <a:path w="8505825" h="1703070">
                  <a:moveTo>
                    <a:pt x="7233513" y="1095387"/>
                  </a:moveTo>
                  <a:lnTo>
                    <a:pt x="7223468" y="1093863"/>
                  </a:lnTo>
                  <a:lnTo>
                    <a:pt x="7147903" y="1593443"/>
                  </a:lnTo>
                  <a:lnTo>
                    <a:pt x="7112749" y="1588122"/>
                  </a:lnTo>
                  <a:lnTo>
                    <a:pt x="7140778" y="1674571"/>
                  </a:lnTo>
                  <a:lnTo>
                    <a:pt x="7187425" y="1608353"/>
                  </a:lnTo>
                  <a:lnTo>
                    <a:pt x="7193115" y="1600276"/>
                  </a:lnTo>
                  <a:lnTo>
                    <a:pt x="7157948" y="1594967"/>
                  </a:lnTo>
                  <a:lnTo>
                    <a:pt x="7233513" y="1095387"/>
                  </a:lnTo>
                  <a:close/>
                </a:path>
                <a:path w="8505825" h="1703070">
                  <a:moveTo>
                    <a:pt x="8114944" y="1097495"/>
                  </a:moveTo>
                  <a:lnTo>
                    <a:pt x="8106550" y="1091755"/>
                  </a:lnTo>
                  <a:lnTo>
                    <a:pt x="7755776" y="1604606"/>
                  </a:lnTo>
                  <a:lnTo>
                    <a:pt x="7726426" y="1584540"/>
                  </a:lnTo>
                  <a:lnTo>
                    <a:pt x="7714081" y="1674571"/>
                  </a:lnTo>
                  <a:lnTo>
                    <a:pt x="7793507" y="1630426"/>
                  </a:lnTo>
                  <a:lnTo>
                    <a:pt x="7780502" y="1621523"/>
                  </a:lnTo>
                  <a:lnTo>
                    <a:pt x="7764158" y="1610347"/>
                  </a:lnTo>
                  <a:lnTo>
                    <a:pt x="8114944" y="1097495"/>
                  </a:lnTo>
                  <a:close/>
                </a:path>
                <a:path w="8505825" h="1703070">
                  <a:moveTo>
                    <a:pt x="8505736" y="1096479"/>
                  </a:moveTo>
                  <a:lnTo>
                    <a:pt x="8496275" y="1092771"/>
                  </a:lnTo>
                  <a:lnTo>
                    <a:pt x="8288121" y="1625104"/>
                  </a:lnTo>
                  <a:lnTo>
                    <a:pt x="8255000" y="1612150"/>
                  </a:lnTo>
                  <a:lnTo>
                    <a:pt x="8263242" y="1702650"/>
                  </a:lnTo>
                  <a:lnTo>
                    <a:pt x="8330692" y="1641754"/>
                  </a:lnTo>
                  <a:lnTo>
                    <a:pt x="8329841" y="1641424"/>
                  </a:lnTo>
                  <a:lnTo>
                    <a:pt x="8297583" y="1628800"/>
                  </a:lnTo>
                  <a:lnTo>
                    <a:pt x="8505736" y="1096479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991283" y="4805057"/>
              <a:ext cx="1046480" cy="1308735"/>
            </a:xfrm>
            <a:custGeom>
              <a:avLst/>
              <a:gdLst/>
              <a:ahLst/>
              <a:cxnLst/>
              <a:rect l="l" t="t" r="r" b="b"/>
              <a:pathLst>
                <a:path w="1046480" h="1308735">
                  <a:moveTo>
                    <a:pt x="332143" y="14973"/>
                  </a:moveTo>
                  <a:lnTo>
                    <a:pt x="318401" y="0"/>
                  </a:lnTo>
                  <a:lnTo>
                    <a:pt x="53009" y="243547"/>
                  </a:lnTo>
                  <a:lnTo>
                    <a:pt x="32397" y="221081"/>
                  </a:lnTo>
                  <a:lnTo>
                    <a:pt x="0" y="305981"/>
                  </a:lnTo>
                  <a:lnTo>
                    <a:pt x="87363" y="280974"/>
                  </a:lnTo>
                  <a:lnTo>
                    <a:pt x="75158" y="267677"/>
                  </a:lnTo>
                  <a:lnTo>
                    <a:pt x="66751" y="258521"/>
                  </a:lnTo>
                  <a:lnTo>
                    <a:pt x="332143" y="14973"/>
                  </a:lnTo>
                  <a:close/>
                </a:path>
                <a:path w="1046480" h="1308735">
                  <a:moveTo>
                    <a:pt x="1046340" y="1308201"/>
                  </a:moveTo>
                  <a:lnTo>
                    <a:pt x="1029804" y="1277683"/>
                  </a:lnTo>
                  <a:lnTo>
                    <a:pt x="1003058" y="1228293"/>
                  </a:lnTo>
                  <a:lnTo>
                    <a:pt x="985583" y="1253261"/>
                  </a:lnTo>
                  <a:lnTo>
                    <a:pt x="662025" y="1026769"/>
                  </a:lnTo>
                  <a:lnTo>
                    <a:pt x="650367" y="1043419"/>
                  </a:lnTo>
                  <a:lnTo>
                    <a:pt x="973924" y="1269911"/>
                  </a:lnTo>
                  <a:lnTo>
                    <a:pt x="956449" y="1294879"/>
                  </a:lnTo>
                  <a:lnTo>
                    <a:pt x="1046340" y="130820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74676" y="3265423"/>
            <a:ext cx="9201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Index</a:t>
            </a:r>
            <a:r>
              <a:rPr sz="1500" spc="-8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file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18515" y="6864088"/>
            <a:ext cx="2133600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5"/>
              </a:spcBef>
            </a:pPr>
            <a:r>
              <a:rPr sz="1500" spc="-5" dirty="0">
                <a:solidFill>
                  <a:srgbClr val="007742"/>
                </a:solidFill>
                <a:latin typeface="Verdana"/>
                <a:cs typeface="Verdana"/>
              </a:rPr>
              <a:t>Sequential</a:t>
            </a:r>
            <a:r>
              <a:rPr sz="1500" spc="-40" dirty="0">
                <a:solidFill>
                  <a:srgbClr val="007742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07742"/>
                </a:solidFill>
                <a:latin typeface="Verdana"/>
                <a:cs typeface="Verdana"/>
              </a:rPr>
              <a:t>data</a:t>
            </a:r>
            <a:r>
              <a:rPr sz="1500" spc="-45" dirty="0">
                <a:solidFill>
                  <a:srgbClr val="007742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07742"/>
                </a:solidFill>
                <a:latin typeface="Verdana"/>
                <a:cs typeface="Verdana"/>
              </a:rPr>
              <a:t>file</a:t>
            </a:r>
            <a:endParaRPr sz="15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Cost</a:t>
            </a:r>
            <a:r>
              <a:rPr spc="-265" dirty="0"/>
              <a:t> </a:t>
            </a:r>
            <a:r>
              <a:rPr spc="-65" dirty="0"/>
              <a:t>of</a:t>
            </a:r>
            <a:r>
              <a:rPr spc="-254" dirty="0"/>
              <a:t> </a:t>
            </a:r>
            <a:r>
              <a:rPr spc="-95" dirty="0"/>
              <a:t>Disk</a:t>
            </a:r>
            <a:r>
              <a:rPr spc="-265" dirty="0"/>
              <a:t> </a:t>
            </a:r>
            <a:r>
              <a:rPr spc="-85" dirty="0"/>
              <a:t>I/O</a:t>
            </a:r>
            <a:r>
              <a:rPr spc="-270" dirty="0"/>
              <a:t> </a:t>
            </a:r>
            <a:r>
              <a:rPr spc="-12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3680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d1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30704" y="6293653"/>
            <a:ext cx="1047115" cy="404495"/>
            <a:chOff x="930704" y="6293653"/>
            <a:chExt cx="1047115" cy="404495"/>
          </a:xfrm>
        </p:grpSpPr>
        <p:sp>
          <p:nvSpPr>
            <p:cNvPr id="5" name="object 5"/>
            <p:cNvSpPr/>
            <p:nvPr/>
          </p:nvSpPr>
          <p:spPr>
            <a:xfrm>
              <a:off x="935784" y="6298733"/>
              <a:ext cx="468630" cy="394335"/>
            </a:xfrm>
            <a:custGeom>
              <a:avLst/>
              <a:gdLst/>
              <a:ahLst/>
              <a:cxnLst/>
              <a:rect l="l" t="t" r="r" b="b"/>
              <a:pathLst>
                <a:path w="468630" h="394334">
                  <a:moveTo>
                    <a:pt x="0" y="0"/>
                  </a:moveTo>
                  <a:lnTo>
                    <a:pt x="468172" y="0"/>
                  </a:lnTo>
                  <a:lnTo>
                    <a:pt x="46817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04071" y="6298733"/>
              <a:ext cx="468630" cy="394335"/>
            </a:xfrm>
            <a:custGeom>
              <a:avLst/>
              <a:gdLst/>
              <a:ahLst/>
              <a:cxnLst/>
              <a:rect l="l" t="t" r="r" b="b"/>
              <a:pathLst>
                <a:path w="468630" h="394334">
                  <a:moveTo>
                    <a:pt x="0" y="0"/>
                  </a:moveTo>
                  <a:lnTo>
                    <a:pt x="468172" y="0"/>
                  </a:lnTo>
                  <a:lnTo>
                    <a:pt x="46817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37790" y="6368288"/>
            <a:ext cx="8337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0390" algn="l"/>
              </a:tabLst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2	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d3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79414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d4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657255" y="6293653"/>
            <a:ext cx="2197100" cy="404495"/>
            <a:chOff x="2657255" y="6293653"/>
            <a:chExt cx="2197100" cy="404495"/>
          </a:xfrm>
        </p:grpSpPr>
        <p:sp>
          <p:nvSpPr>
            <p:cNvPr id="10" name="object 10"/>
            <p:cNvSpPr/>
            <p:nvPr/>
          </p:nvSpPr>
          <p:spPr>
            <a:xfrm>
              <a:off x="2662335" y="6298733"/>
              <a:ext cx="468630" cy="394335"/>
            </a:xfrm>
            <a:custGeom>
              <a:avLst/>
              <a:gdLst/>
              <a:ahLst/>
              <a:cxnLst/>
              <a:rect l="l" t="t" r="r" b="b"/>
              <a:pathLst>
                <a:path w="468630" h="394334">
                  <a:moveTo>
                    <a:pt x="0" y="0"/>
                  </a:moveTo>
                  <a:lnTo>
                    <a:pt x="468172" y="0"/>
                  </a:lnTo>
                  <a:lnTo>
                    <a:pt x="46817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34441" y="6298733"/>
              <a:ext cx="468630" cy="394335"/>
            </a:xfrm>
            <a:custGeom>
              <a:avLst/>
              <a:gdLst/>
              <a:ahLst/>
              <a:cxnLst/>
              <a:rect l="l" t="t" r="r" b="b"/>
              <a:pathLst>
                <a:path w="468629" h="394334">
                  <a:moveTo>
                    <a:pt x="0" y="0"/>
                  </a:moveTo>
                  <a:lnTo>
                    <a:pt x="468172" y="0"/>
                  </a:lnTo>
                  <a:lnTo>
                    <a:pt x="46817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03929" y="6298733"/>
              <a:ext cx="468630" cy="394335"/>
            </a:xfrm>
            <a:custGeom>
              <a:avLst/>
              <a:gdLst/>
              <a:ahLst/>
              <a:cxnLst/>
              <a:rect l="l" t="t" r="r" b="b"/>
              <a:pathLst>
                <a:path w="468629" h="394334">
                  <a:moveTo>
                    <a:pt x="0" y="0"/>
                  </a:moveTo>
                  <a:lnTo>
                    <a:pt x="468172" y="0"/>
                  </a:lnTo>
                  <a:lnTo>
                    <a:pt x="46817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80475" y="6298733"/>
              <a:ext cx="468630" cy="394335"/>
            </a:xfrm>
            <a:custGeom>
              <a:avLst/>
              <a:gdLst/>
              <a:ahLst/>
              <a:cxnLst/>
              <a:rect l="l" t="t" r="r" b="b"/>
              <a:pathLst>
                <a:path w="468629" h="394334">
                  <a:moveTo>
                    <a:pt x="0" y="0"/>
                  </a:moveTo>
                  <a:lnTo>
                    <a:pt x="468172" y="0"/>
                  </a:lnTo>
                  <a:lnTo>
                    <a:pt x="468172" y="393954"/>
                  </a:lnTo>
                  <a:lnTo>
                    <a:pt x="0" y="39395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60982" y="6368288"/>
            <a:ext cx="21831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00"/>
              </a:spcBef>
              <a:tabLst>
                <a:tab pos="687705" algn="l"/>
                <a:tab pos="1257300" algn="l"/>
                <a:tab pos="1833880" algn="l"/>
              </a:tabLst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d5	d6	d7	d8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70341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d9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43649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d10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11935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d11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70747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d12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72604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d13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45911" y="6298733"/>
            <a:ext cx="468630" cy="394335"/>
          </a:xfrm>
          <a:prstGeom prst="rect">
            <a:avLst/>
          </a:prstGeom>
          <a:ln w="10159">
            <a:solidFill>
              <a:srgbClr val="29293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64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d14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837204" y="6368288"/>
            <a:ext cx="2254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92934"/>
                </a:solidFill>
                <a:latin typeface="Verdana"/>
                <a:cs typeface="Verdana"/>
              </a:rPr>
              <a:t>…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4676" y="1172464"/>
            <a:ext cx="9079865" cy="14998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Assume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disk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block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holds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4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relation.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associated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40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85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unclustered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index,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index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sorted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differently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Estimated</a:t>
            </a:r>
            <a:r>
              <a:rPr sz="2100" b="1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C00000"/>
                </a:solidFill>
                <a:latin typeface="Verdana"/>
                <a:cs typeface="Verdana"/>
              </a:rPr>
              <a:t>cost</a:t>
            </a:r>
            <a:r>
              <a:rPr sz="2100" b="1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=</a:t>
            </a:r>
            <a:r>
              <a:rPr sz="2100" b="1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C00000"/>
                </a:solidFill>
                <a:latin typeface="Verdana"/>
                <a:cs typeface="Verdana"/>
              </a:rPr>
              <a:t>selectivity</a:t>
            </a:r>
            <a:r>
              <a:rPr sz="2100" b="1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estimate</a:t>
            </a:r>
            <a:r>
              <a:rPr sz="2100" b="1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2100" b="1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#tuples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00520" y="5967051"/>
            <a:ext cx="9586595" cy="847090"/>
            <a:chOff x="200520" y="5967051"/>
            <a:chExt cx="9586595" cy="847090"/>
          </a:xfrm>
        </p:grpSpPr>
        <p:sp>
          <p:nvSpPr>
            <p:cNvPr id="24" name="object 24"/>
            <p:cNvSpPr/>
            <p:nvPr/>
          </p:nvSpPr>
          <p:spPr>
            <a:xfrm>
              <a:off x="205600" y="5972131"/>
              <a:ext cx="9576435" cy="0"/>
            </a:xfrm>
            <a:custGeom>
              <a:avLst/>
              <a:gdLst/>
              <a:ahLst/>
              <a:cxnLst/>
              <a:rect l="l" t="t" r="r" b="b"/>
              <a:pathLst>
                <a:path w="9576435">
                  <a:moveTo>
                    <a:pt x="0" y="0"/>
                  </a:moveTo>
                  <a:lnTo>
                    <a:pt x="9576261" y="1"/>
                  </a:lnTo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40456" y="6214202"/>
              <a:ext cx="2282825" cy="585470"/>
            </a:xfrm>
            <a:custGeom>
              <a:avLst/>
              <a:gdLst/>
              <a:ahLst/>
              <a:cxnLst/>
              <a:rect l="l" t="t" r="r" b="b"/>
              <a:pathLst>
                <a:path w="2282825" h="585470">
                  <a:moveTo>
                    <a:pt x="0" y="0"/>
                  </a:moveTo>
                  <a:lnTo>
                    <a:pt x="2282342" y="0"/>
                  </a:lnTo>
                  <a:lnTo>
                    <a:pt x="2282342" y="585215"/>
                  </a:lnTo>
                  <a:lnTo>
                    <a:pt x="0" y="585215"/>
                  </a:lnTo>
                  <a:lnTo>
                    <a:pt x="0" y="0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40829" y="6214202"/>
              <a:ext cx="2282825" cy="585470"/>
            </a:xfrm>
            <a:custGeom>
              <a:avLst/>
              <a:gdLst/>
              <a:ahLst/>
              <a:cxnLst/>
              <a:rect l="l" t="t" r="r" b="b"/>
              <a:pathLst>
                <a:path w="2282825" h="585470">
                  <a:moveTo>
                    <a:pt x="0" y="0"/>
                  </a:moveTo>
                  <a:lnTo>
                    <a:pt x="2282342" y="0"/>
                  </a:lnTo>
                  <a:lnTo>
                    <a:pt x="2282342" y="585215"/>
                  </a:lnTo>
                  <a:lnTo>
                    <a:pt x="0" y="585215"/>
                  </a:lnTo>
                  <a:lnTo>
                    <a:pt x="0" y="0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3297430" y="5319757"/>
          <a:ext cx="1541780" cy="393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54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60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65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object 28"/>
          <p:cNvSpPr/>
          <p:nvPr/>
        </p:nvSpPr>
        <p:spPr>
          <a:xfrm>
            <a:off x="4456179" y="5324836"/>
            <a:ext cx="389890" cy="394335"/>
          </a:xfrm>
          <a:custGeom>
            <a:avLst/>
            <a:gdLst/>
            <a:ahLst/>
            <a:cxnLst/>
            <a:rect l="l" t="t" r="r" b="b"/>
            <a:pathLst>
              <a:path w="389889" h="394335">
                <a:moveTo>
                  <a:pt x="389794" y="0"/>
                </a:moveTo>
                <a:lnTo>
                  <a:pt x="0" y="0"/>
                </a:lnTo>
                <a:lnTo>
                  <a:pt x="0" y="393953"/>
                </a:lnTo>
                <a:lnTo>
                  <a:pt x="389794" y="393953"/>
                </a:lnTo>
                <a:lnTo>
                  <a:pt x="3897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177786" y="4595731"/>
            <a:ext cx="325120" cy="729615"/>
          </a:xfrm>
          <a:custGeom>
            <a:avLst/>
            <a:gdLst/>
            <a:ahLst/>
            <a:cxnLst/>
            <a:rect l="l" t="t" r="r" b="b"/>
            <a:pathLst>
              <a:path w="325120" h="729614">
                <a:moveTo>
                  <a:pt x="282652" y="656541"/>
                </a:moveTo>
                <a:lnTo>
                  <a:pt x="250022" y="670676"/>
                </a:lnTo>
                <a:lnTo>
                  <a:pt x="319622" y="729105"/>
                </a:lnTo>
                <a:lnTo>
                  <a:pt x="322924" y="668972"/>
                </a:lnTo>
                <a:lnTo>
                  <a:pt x="288037" y="668972"/>
                </a:lnTo>
                <a:lnTo>
                  <a:pt x="282652" y="656541"/>
                </a:lnTo>
                <a:close/>
              </a:path>
              <a:path w="325120" h="729614">
                <a:moveTo>
                  <a:pt x="291975" y="652503"/>
                </a:moveTo>
                <a:lnTo>
                  <a:pt x="282652" y="656541"/>
                </a:lnTo>
                <a:lnTo>
                  <a:pt x="288037" y="668972"/>
                </a:lnTo>
                <a:lnTo>
                  <a:pt x="297360" y="664933"/>
                </a:lnTo>
                <a:lnTo>
                  <a:pt x="291975" y="652503"/>
                </a:lnTo>
                <a:close/>
              </a:path>
              <a:path w="325120" h="729614">
                <a:moveTo>
                  <a:pt x="324605" y="638368"/>
                </a:moveTo>
                <a:lnTo>
                  <a:pt x="291975" y="652503"/>
                </a:lnTo>
                <a:lnTo>
                  <a:pt x="297360" y="664933"/>
                </a:lnTo>
                <a:lnTo>
                  <a:pt x="288037" y="668972"/>
                </a:lnTo>
                <a:lnTo>
                  <a:pt x="322924" y="668972"/>
                </a:lnTo>
                <a:lnTo>
                  <a:pt x="324605" y="638368"/>
                </a:lnTo>
                <a:close/>
              </a:path>
              <a:path w="325120" h="729614">
                <a:moveTo>
                  <a:pt x="9323" y="0"/>
                </a:moveTo>
                <a:lnTo>
                  <a:pt x="0" y="4038"/>
                </a:lnTo>
                <a:lnTo>
                  <a:pt x="282652" y="656541"/>
                </a:lnTo>
                <a:lnTo>
                  <a:pt x="291975" y="652503"/>
                </a:lnTo>
                <a:lnTo>
                  <a:pt x="9323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4956004" y="5319757"/>
          <a:ext cx="1559559" cy="393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54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80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112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6617732" y="5319757"/>
          <a:ext cx="1541780" cy="393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54"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object 32"/>
          <p:cNvSpPr/>
          <p:nvPr/>
        </p:nvSpPr>
        <p:spPr>
          <a:xfrm>
            <a:off x="7776481" y="5324836"/>
            <a:ext cx="389890" cy="394335"/>
          </a:xfrm>
          <a:custGeom>
            <a:avLst/>
            <a:gdLst/>
            <a:ahLst/>
            <a:cxnLst/>
            <a:rect l="l" t="t" r="r" b="b"/>
            <a:pathLst>
              <a:path w="389890" h="394335">
                <a:moveTo>
                  <a:pt x="389796" y="0"/>
                </a:moveTo>
                <a:lnTo>
                  <a:pt x="0" y="0"/>
                </a:lnTo>
                <a:lnTo>
                  <a:pt x="0" y="393953"/>
                </a:lnTo>
                <a:lnTo>
                  <a:pt x="389796" y="393953"/>
                </a:lnTo>
                <a:lnTo>
                  <a:pt x="3897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8276686" y="5319757"/>
          <a:ext cx="1541780" cy="393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54"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object 34"/>
          <p:cNvSpPr/>
          <p:nvPr/>
        </p:nvSpPr>
        <p:spPr>
          <a:xfrm>
            <a:off x="9435435" y="5324836"/>
            <a:ext cx="389890" cy="394335"/>
          </a:xfrm>
          <a:custGeom>
            <a:avLst/>
            <a:gdLst/>
            <a:ahLst/>
            <a:cxnLst/>
            <a:rect l="l" t="t" r="r" b="b"/>
            <a:pathLst>
              <a:path w="389890" h="394335">
                <a:moveTo>
                  <a:pt x="389794" y="0"/>
                </a:moveTo>
                <a:lnTo>
                  <a:pt x="0" y="0"/>
                </a:lnTo>
                <a:lnTo>
                  <a:pt x="0" y="393953"/>
                </a:lnTo>
                <a:lnTo>
                  <a:pt x="389794" y="393953"/>
                </a:lnTo>
                <a:lnTo>
                  <a:pt x="3897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155982" y="4641748"/>
            <a:ext cx="703580" cy="683260"/>
          </a:xfrm>
          <a:custGeom>
            <a:avLst/>
            <a:gdLst/>
            <a:ahLst/>
            <a:cxnLst/>
            <a:rect l="l" t="t" r="r" b="b"/>
            <a:pathLst>
              <a:path w="703579" h="683260">
                <a:moveTo>
                  <a:pt x="30005" y="597311"/>
                </a:moveTo>
                <a:lnTo>
                  <a:pt x="0" y="683088"/>
                </a:lnTo>
                <a:lnTo>
                  <a:pt x="86625" y="655626"/>
                </a:lnTo>
                <a:lnTo>
                  <a:pt x="71016" y="639550"/>
                </a:lnTo>
                <a:lnTo>
                  <a:pt x="52134" y="639550"/>
                </a:lnTo>
                <a:lnTo>
                  <a:pt x="45057" y="632260"/>
                </a:lnTo>
                <a:lnTo>
                  <a:pt x="54776" y="622823"/>
                </a:lnTo>
                <a:lnTo>
                  <a:pt x="30005" y="597311"/>
                </a:lnTo>
                <a:close/>
              </a:path>
              <a:path w="703579" h="683260">
                <a:moveTo>
                  <a:pt x="54776" y="622823"/>
                </a:moveTo>
                <a:lnTo>
                  <a:pt x="45057" y="632260"/>
                </a:lnTo>
                <a:lnTo>
                  <a:pt x="52134" y="639550"/>
                </a:lnTo>
                <a:lnTo>
                  <a:pt x="61854" y="630113"/>
                </a:lnTo>
                <a:lnTo>
                  <a:pt x="54776" y="622823"/>
                </a:lnTo>
                <a:close/>
              </a:path>
              <a:path w="703579" h="683260">
                <a:moveTo>
                  <a:pt x="61854" y="630113"/>
                </a:moveTo>
                <a:lnTo>
                  <a:pt x="52134" y="639550"/>
                </a:lnTo>
                <a:lnTo>
                  <a:pt x="71016" y="639550"/>
                </a:lnTo>
                <a:lnTo>
                  <a:pt x="61854" y="630113"/>
                </a:lnTo>
                <a:close/>
              </a:path>
              <a:path w="703579" h="683260">
                <a:moveTo>
                  <a:pt x="696254" y="0"/>
                </a:moveTo>
                <a:lnTo>
                  <a:pt x="54776" y="622823"/>
                </a:lnTo>
                <a:lnTo>
                  <a:pt x="61854" y="630113"/>
                </a:lnTo>
                <a:lnTo>
                  <a:pt x="703332" y="7289"/>
                </a:lnTo>
                <a:lnTo>
                  <a:pt x="696254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934606" y="4638669"/>
            <a:ext cx="1542415" cy="690880"/>
          </a:xfrm>
          <a:custGeom>
            <a:avLst/>
            <a:gdLst/>
            <a:ahLst/>
            <a:cxnLst/>
            <a:rect l="l" t="t" r="r" b="b"/>
            <a:pathLst>
              <a:path w="1542415" h="690879">
                <a:moveTo>
                  <a:pt x="1465675" y="657919"/>
                </a:moveTo>
                <a:lnTo>
                  <a:pt x="1451284" y="690436"/>
                </a:lnTo>
                <a:lnTo>
                  <a:pt x="1542058" y="686167"/>
                </a:lnTo>
                <a:lnTo>
                  <a:pt x="1523250" y="663402"/>
                </a:lnTo>
                <a:lnTo>
                  <a:pt x="1478064" y="663402"/>
                </a:lnTo>
                <a:lnTo>
                  <a:pt x="1465675" y="657919"/>
                </a:lnTo>
                <a:close/>
              </a:path>
              <a:path w="1542415" h="690879">
                <a:moveTo>
                  <a:pt x="1469786" y="648628"/>
                </a:moveTo>
                <a:lnTo>
                  <a:pt x="1465675" y="657919"/>
                </a:lnTo>
                <a:lnTo>
                  <a:pt x="1478064" y="663402"/>
                </a:lnTo>
                <a:lnTo>
                  <a:pt x="1482175" y="654110"/>
                </a:lnTo>
                <a:lnTo>
                  <a:pt x="1469786" y="648628"/>
                </a:lnTo>
                <a:close/>
              </a:path>
              <a:path w="1542415" h="690879">
                <a:moveTo>
                  <a:pt x="1484177" y="616110"/>
                </a:moveTo>
                <a:lnTo>
                  <a:pt x="1469786" y="648628"/>
                </a:lnTo>
                <a:lnTo>
                  <a:pt x="1482175" y="654110"/>
                </a:lnTo>
                <a:lnTo>
                  <a:pt x="1478064" y="663402"/>
                </a:lnTo>
                <a:lnTo>
                  <a:pt x="1523250" y="663402"/>
                </a:lnTo>
                <a:lnTo>
                  <a:pt x="1484177" y="616110"/>
                </a:lnTo>
                <a:close/>
              </a:path>
              <a:path w="1542415" h="690879">
                <a:moveTo>
                  <a:pt x="4112" y="0"/>
                </a:moveTo>
                <a:lnTo>
                  <a:pt x="0" y="9290"/>
                </a:lnTo>
                <a:lnTo>
                  <a:pt x="1465675" y="657919"/>
                </a:lnTo>
                <a:lnTo>
                  <a:pt x="1469786" y="648628"/>
                </a:lnTo>
                <a:lnTo>
                  <a:pt x="4112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180890" y="5319757"/>
          <a:ext cx="1463038" cy="393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9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54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object 38"/>
          <p:cNvSpPr/>
          <p:nvPr/>
        </p:nvSpPr>
        <p:spPr>
          <a:xfrm>
            <a:off x="1279664" y="5324836"/>
            <a:ext cx="369570" cy="394335"/>
          </a:xfrm>
          <a:custGeom>
            <a:avLst/>
            <a:gdLst/>
            <a:ahLst/>
            <a:cxnLst/>
            <a:rect l="l" t="t" r="r" b="b"/>
            <a:pathLst>
              <a:path w="369569" h="394335">
                <a:moveTo>
                  <a:pt x="369345" y="0"/>
                </a:moveTo>
                <a:lnTo>
                  <a:pt x="0" y="0"/>
                </a:lnTo>
                <a:lnTo>
                  <a:pt x="0" y="393953"/>
                </a:lnTo>
                <a:lnTo>
                  <a:pt x="369345" y="393953"/>
                </a:lnTo>
                <a:lnTo>
                  <a:pt x="3693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1738453" y="5319757"/>
          <a:ext cx="1463039" cy="3901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43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12700">
                      <a:solidFill>
                        <a:srgbClr val="292934"/>
                      </a:solidFill>
                      <a:prstDash val="solid"/>
                    </a:lnT>
                    <a:lnB w="1270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5756070" y="4241237"/>
          <a:ext cx="2336797" cy="4096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29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5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0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96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28575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1984127" y="4241237"/>
          <a:ext cx="2336797" cy="4096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29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5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0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96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60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28575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3910052" y="3209951"/>
          <a:ext cx="2336797" cy="4096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29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5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0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96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80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12700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92934"/>
                      </a:solidFill>
                      <a:prstDash val="solid"/>
                    </a:lnL>
                    <a:lnR w="28575">
                      <a:solidFill>
                        <a:srgbClr val="292934"/>
                      </a:solidFill>
                      <a:prstDash val="solid"/>
                    </a:lnR>
                    <a:lnT w="28575">
                      <a:solidFill>
                        <a:srgbClr val="292934"/>
                      </a:solidFill>
                      <a:prstDash val="solid"/>
                    </a:lnT>
                    <a:lnB w="28575">
                      <a:solidFill>
                        <a:srgbClr val="292934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" name="object 43"/>
          <p:cNvSpPr/>
          <p:nvPr/>
        </p:nvSpPr>
        <p:spPr>
          <a:xfrm>
            <a:off x="4525797" y="3586817"/>
            <a:ext cx="1593215" cy="671830"/>
          </a:xfrm>
          <a:custGeom>
            <a:avLst/>
            <a:gdLst/>
            <a:ahLst/>
            <a:cxnLst/>
            <a:rect l="l" t="t" r="r" b="b"/>
            <a:pathLst>
              <a:path w="1593214" h="671829">
                <a:moveTo>
                  <a:pt x="1515753" y="638709"/>
                </a:moveTo>
                <a:lnTo>
                  <a:pt x="1502117" y="671550"/>
                </a:lnTo>
                <a:lnTo>
                  <a:pt x="1592767" y="665184"/>
                </a:lnTo>
                <a:lnTo>
                  <a:pt x="1574343" y="643903"/>
                </a:lnTo>
                <a:lnTo>
                  <a:pt x="1528264" y="643903"/>
                </a:lnTo>
                <a:lnTo>
                  <a:pt x="1515753" y="638709"/>
                </a:lnTo>
                <a:close/>
              </a:path>
              <a:path w="1593214" h="671829">
                <a:moveTo>
                  <a:pt x="1519649" y="629325"/>
                </a:moveTo>
                <a:lnTo>
                  <a:pt x="1515753" y="638709"/>
                </a:lnTo>
                <a:lnTo>
                  <a:pt x="1528264" y="643903"/>
                </a:lnTo>
                <a:lnTo>
                  <a:pt x="1532161" y="634519"/>
                </a:lnTo>
                <a:lnTo>
                  <a:pt x="1519649" y="629325"/>
                </a:lnTo>
                <a:close/>
              </a:path>
              <a:path w="1593214" h="671829">
                <a:moveTo>
                  <a:pt x="1533284" y="596483"/>
                </a:moveTo>
                <a:lnTo>
                  <a:pt x="1519649" y="629325"/>
                </a:lnTo>
                <a:lnTo>
                  <a:pt x="1532161" y="634519"/>
                </a:lnTo>
                <a:lnTo>
                  <a:pt x="1528264" y="643903"/>
                </a:lnTo>
                <a:lnTo>
                  <a:pt x="1574343" y="643903"/>
                </a:lnTo>
                <a:lnTo>
                  <a:pt x="1533284" y="596483"/>
                </a:lnTo>
                <a:close/>
              </a:path>
              <a:path w="1593214" h="671829">
                <a:moveTo>
                  <a:pt x="3895" y="0"/>
                </a:moveTo>
                <a:lnTo>
                  <a:pt x="0" y="9382"/>
                </a:lnTo>
                <a:lnTo>
                  <a:pt x="1515753" y="638709"/>
                </a:lnTo>
                <a:lnTo>
                  <a:pt x="1519649" y="629325"/>
                </a:lnTo>
                <a:lnTo>
                  <a:pt x="3895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399464" y="4642750"/>
            <a:ext cx="418465" cy="682625"/>
          </a:xfrm>
          <a:custGeom>
            <a:avLst/>
            <a:gdLst/>
            <a:ahLst/>
            <a:cxnLst/>
            <a:rect l="l" t="t" r="r" b="b"/>
            <a:pathLst>
              <a:path w="418465" h="682625">
                <a:moveTo>
                  <a:pt x="371622" y="615315"/>
                </a:moveTo>
                <a:lnTo>
                  <a:pt x="341254" y="633815"/>
                </a:lnTo>
                <a:lnTo>
                  <a:pt x="418246" y="682086"/>
                </a:lnTo>
                <a:lnTo>
                  <a:pt x="413627" y="626883"/>
                </a:lnTo>
                <a:lnTo>
                  <a:pt x="378669" y="626883"/>
                </a:lnTo>
                <a:lnTo>
                  <a:pt x="371622" y="615315"/>
                </a:lnTo>
                <a:close/>
              </a:path>
              <a:path w="418465" h="682625">
                <a:moveTo>
                  <a:pt x="380299" y="610029"/>
                </a:moveTo>
                <a:lnTo>
                  <a:pt x="371622" y="615315"/>
                </a:lnTo>
                <a:lnTo>
                  <a:pt x="378669" y="626883"/>
                </a:lnTo>
                <a:lnTo>
                  <a:pt x="387346" y="621597"/>
                </a:lnTo>
                <a:lnTo>
                  <a:pt x="380299" y="610029"/>
                </a:lnTo>
                <a:close/>
              </a:path>
              <a:path w="418465" h="682625">
                <a:moveTo>
                  <a:pt x="410668" y="591529"/>
                </a:moveTo>
                <a:lnTo>
                  <a:pt x="380299" y="610029"/>
                </a:lnTo>
                <a:lnTo>
                  <a:pt x="387346" y="621597"/>
                </a:lnTo>
                <a:lnTo>
                  <a:pt x="378669" y="626883"/>
                </a:lnTo>
                <a:lnTo>
                  <a:pt x="413627" y="626883"/>
                </a:lnTo>
                <a:lnTo>
                  <a:pt x="410668" y="591529"/>
                </a:lnTo>
                <a:close/>
              </a:path>
              <a:path w="418465" h="682625">
                <a:moveTo>
                  <a:pt x="8676" y="0"/>
                </a:moveTo>
                <a:lnTo>
                  <a:pt x="0" y="5285"/>
                </a:lnTo>
                <a:lnTo>
                  <a:pt x="371622" y="615315"/>
                </a:lnTo>
                <a:lnTo>
                  <a:pt x="380299" y="610029"/>
                </a:lnTo>
                <a:lnTo>
                  <a:pt x="8676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2346623" y="3619820"/>
            <a:ext cx="1663700" cy="641985"/>
            <a:chOff x="2346623" y="3619820"/>
            <a:chExt cx="1663700" cy="641985"/>
          </a:xfrm>
        </p:grpSpPr>
        <p:sp>
          <p:nvSpPr>
            <p:cNvPr id="46" name="object 46"/>
            <p:cNvSpPr/>
            <p:nvPr/>
          </p:nvSpPr>
          <p:spPr>
            <a:xfrm>
              <a:off x="2346623" y="3619820"/>
              <a:ext cx="1663700" cy="641985"/>
            </a:xfrm>
            <a:custGeom>
              <a:avLst/>
              <a:gdLst/>
              <a:ahLst/>
              <a:cxnLst/>
              <a:rect l="l" t="t" r="r" b="b"/>
              <a:pathLst>
                <a:path w="1663700" h="641985">
                  <a:moveTo>
                    <a:pt x="61685" y="565450"/>
                  </a:moveTo>
                  <a:lnTo>
                    <a:pt x="0" y="632181"/>
                  </a:lnTo>
                  <a:lnTo>
                    <a:pt x="90394" y="641490"/>
                  </a:lnTo>
                  <a:lnTo>
                    <a:pt x="79641" y="613008"/>
                  </a:lnTo>
                  <a:lnTo>
                    <a:pt x="65161" y="613008"/>
                  </a:lnTo>
                  <a:lnTo>
                    <a:pt x="61572" y="603504"/>
                  </a:lnTo>
                  <a:lnTo>
                    <a:pt x="74245" y="598718"/>
                  </a:lnTo>
                  <a:lnTo>
                    <a:pt x="61685" y="565450"/>
                  </a:lnTo>
                  <a:close/>
                </a:path>
                <a:path w="1663700" h="641985">
                  <a:moveTo>
                    <a:pt x="74245" y="598718"/>
                  </a:moveTo>
                  <a:lnTo>
                    <a:pt x="61572" y="603504"/>
                  </a:lnTo>
                  <a:lnTo>
                    <a:pt x="65161" y="613008"/>
                  </a:lnTo>
                  <a:lnTo>
                    <a:pt x="77834" y="608223"/>
                  </a:lnTo>
                  <a:lnTo>
                    <a:pt x="74245" y="598718"/>
                  </a:lnTo>
                  <a:close/>
                </a:path>
                <a:path w="1663700" h="641985">
                  <a:moveTo>
                    <a:pt x="77834" y="608223"/>
                  </a:moveTo>
                  <a:lnTo>
                    <a:pt x="65161" y="613008"/>
                  </a:lnTo>
                  <a:lnTo>
                    <a:pt x="79641" y="613008"/>
                  </a:lnTo>
                  <a:lnTo>
                    <a:pt x="77834" y="608223"/>
                  </a:lnTo>
                  <a:close/>
                </a:path>
                <a:path w="1663700" h="641985">
                  <a:moveTo>
                    <a:pt x="1659963" y="0"/>
                  </a:moveTo>
                  <a:lnTo>
                    <a:pt x="74245" y="598718"/>
                  </a:lnTo>
                  <a:lnTo>
                    <a:pt x="77834" y="608223"/>
                  </a:lnTo>
                  <a:lnTo>
                    <a:pt x="1663552" y="9504"/>
                  </a:lnTo>
                  <a:lnTo>
                    <a:pt x="1659963" y="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984066" y="3678677"/>
              <a:ext cx="589280" cy="240029"/>
            </a:xfrm>
            <a:custGeom>
              <a:avLst/>
              <a:gdLst/>
              <a:ahLst/>
              <a:cxnLst/>
              <a:rect l="l" t="t" r="r" b="b"/>
              <a:pathLst>
                <a:path w="589279" h="240029">
                  <a:moveTo>
                    <a:pt x="61685" y="163845"/>
                  </a:moveTo>
                  <a:lnTo>
                    <a:pt x="0" y="230576"/>
                  </a:lnTo>
                  <a:lnTo>
                    <a:pt x="90396" y="239885"/>
                  </a:lnTo>
                  <a:lnTo>
                    <a:pt x="81436" y="216155"/>
                  </a:lnTo>
                  <a:lnTo>
                    <a:pt x="66955" y="216155"/>
                  </a:lnTo>
                  <a:lnTo>
                    <a:pt x="59778" y="197145"/>
                  </a:lnTo>
                  <a:lnTo>
                    <a:pt x="72452" y="192360"/>
                  </a:lnTo>
                  <a:lnTo>
                    <a:pt x="61685" y="163845"/>
                  </a:lnTo>
                  <a:close/>
                </a:path>
                <a:path w="589279" h="240029">
                  <a:moveTo>
                    <a:pt x="72452" y="192360"/>
                  </a:moveTo>
                  <a:lnTo>
                    <a:pt x="59778" y="197145"/>
                  </a:lnTo>
                  <a:lnTo>
                    <a:pt x="66955" y="216155"/>
                  </a:lnTo>
                  <a:lnTo>
                    <a:pt x="79629" y="211370"/>
                  </a:lnTo>
                  <a:lnTo>
                    <a:pt x="72452" y="192360"/>
                  </a:lnTo>
                  <a:close/>
                </a:path>
                <a:path w="589279" h="240029">
                  <a:moveTo>
                    <a:pt x="79629" y="211370"/>
                  </a:moveTo>
                  <a:lnTo>
                    <a:pt x="66955" y="216155"/>
                  </a:lnTo>
                  <a:lnTo>
                    <a:pt x="81436" y="216155"/>
                  </a:lnTo>
                  <a:lnTo>
                    <a:pt x="79629" y="211370"/>
                  </a:lnTo>
                  <a:close/>
                </a:path>
                <a:path w="589279" h="240029">
                  <a:moveTo>
                    <a:pt x="581921" y="0"/>
                  </a:moveTo>
                  <a:lnTo>
                    <a:pt x="72452" y="192360"/>
                  </a:lnTo>
                  <a:lnTo>
                    <a:pt x="79629" y="211370"/>
                  </a:lnTo>
                  <a:lnTo>
                    <a:pt x="589099" y="19010"/>
                  </a:lnTo>
                  <a:lnTo>
                    <a:pt x="58192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368659" y="4624165"/>
            <a:ext cx="8703945" cy="1696085"/>
            <a:chOff x="368659" y="4624165"/>
            <a:chExt cx="8703945" cy="1696085"/>
          </a:xfrm>
        </p:grpSpPr>
        <p:sp>
          <p:nvSpPr>
            <p:cNvPr id="49" name="object 49"/>
            <p:cNvSpPr/>
            <p:nvPr/>
          </p:nvSpPr>
          <p:spPr>
            <a:xfrm>
              <a:off x="368655" y="4624171"/>
              <a:ext cx="8703945" cy="1696085"/>
            </a:xfrm>
            <a:custGeom>
              <a:avLst/>
              <a:gdLst/>
              <a:ahLst/>
              <a:cxnLst/>
              <a:rect l="l" t="t" r="r" b="b"/>
              <a:pathLst>
                <a:path w="8703945" h="1696085">
                  <a:moveTo>
                    <a:pt x="1694421" y="9398"/>
                  </a:moveTo>
                  <a:lnTo>
                    <a:pt x="1690547" y="0"/>
                  </a:lnTo>
                  <a:lnTo>
                    <a:pt x="75209" y="665035"/>
                  </a:lnTo>
                  <a:lnTo>
                    <a:pt x="61671" y="632142"/>
                  </a:lnTo>
                  <a:lnTo>
                    <a:pt x="1981" y="700671"/>
                  </a:lnTo>
                  <a:lnTo>
                    <a:pt x="92608" y="707313"/>
                  </a:lnTo>
                  <a:lnTo>
                    <a:pt x="81203" y="679577"/>
                  </a:lnTo>
                  <a:lnTo>
                    <a:pt x="79070" y="674420"/>
                  </a:lnTo>
                  <a:lnTo>
                    <a:pt x="1694421" y="9398"/>
                  </a:lnTo>
                  <a:close/>
                </a:path>
                <a:path w="8703945" h="1696085">
                  <a:moveTo>
                    <a:pt x="2266988" y="24892"/>
                  </a:moveTo>
                  <a:lnTo>
                    <a:pt x="2259939" y="17564"/>
                  </a:lnTo>
                  <a:lnTo>
                    <a:pt x="1612620" y="640651"/>
                  </a:lnTo>
                  <a:lnTo>
                    <a:pt x="1587969" y="615022"/>
                  </a:lnTo>
                  <a:lnTo>
                    <a:pt x="1557591" y="700671"/>
                  </a:lnTo>
                  <a:lnTo>
                    <a:pt x="1644332" y="673582"/>
                  </a:lnTo>
                  <a:lnTo>
                    <a:pt x="1628711" y="657364"/>
                  </a:lnTo>
                  <a:lnTo>
                    <a:pt x="1619669" y="647966"/>
                  </a:lnTo>
                  <a:lnTo>
                    <a:pt x="2266988" y="24892"/>
                  </a:lnTo>
                  <a:close/>
                </a:path>
                <a:path w="8703945" h="1696085">
                  <a:moveTo>
                    <a:pt x="6451524" y="1099058"/>
                  </a:moveTo>
                  <a:lnTo>
                    <a:pt x="6446571" y="1090193"/>
                  </a:lnTo>
                  <a:lnTo>
                    <a:pt x="5673915" y="1521053"/>
                  </a:lnTo>
                  <a:lnTo>
                    <a:pt x="4972164" y="1179055"/>
                  </a:lnTo>
                  <a:lnTo>
                    <a:pt x="5179403" y="1099362"/>
                  </a:lnTo>
                  <a:lnTo>
                    <a:pt x="5175758" y="1089888"/>
                  </a:lnTo>
                  <a:lnTo>
                    <a:pt x="4959680" y="1172972"/>
                  </a:lnTo>
                  <a:lnTo>
                    <a:pt x="4789551" y="1090053"/>
                  </a:lnTo>
                  <a:lnTo>
                    <a:pt x="4785093" y="1099197"/>
                  </a:lnTo>
                  <a:lnTo>
                    <a:pt x="4946701" y="1177963"/>
                  </a:lnTo>
                  <a:lnTo>
                    <a:pt x="4104614" y="1501762"/>
                  </a:lnTo>
                  <a:lnTo>
                    <a:pt x="4087622" y="1497876"/>
                  </a:lnTo>
                  <a:lnTo>
                    <a:pt x="4087622" y="1508302"/>
                  </a:lnTo>
                  <a:lnTo>
                    <a:pt x="4059263" y="1519199"/>
                  </a:lnTo>
                  <a:lnTo>
                    <a:pt x="4028668" y="1494777"/>
                  </a:lnTo>
                  <a:lnTo>
                    <a:pt x="4087622" y="1508302"/>
                  </a:lnTo>
                  <a:lnTo>
                    <a:pt x="4087622" y="1497876"/>
                  </a:lnTo>
                  <a:lnTo>
                    <a:pt x="4010342" y="1480146"/>
                  </a:lnTo>
                  <a:lnTo>
                    <a:pt x="3522180" y="1090650"/>
                  </a:lnTo>
                  <a:lnTo>
                    <a:pt x="3515842" y="1098600"/>
                  </a:lnTo>
                  <a:lnTo>
                    <a:pt x="3987482" y="1474914"/>
                  </a:lnTo>
                  <a:lnTo>
                    <a:pt x="2981071" y="1244193"/>
                  </a:lnTo>
                  <a:lnTo>
                    <a:pt x="3132277" y="1098283"/>
                  </a:lnTo>
                  <a:lnTo>
                    <a:pt x="3125216" y="1090968"/>
                  </a:lnTo>
                  <a:lnTo>
                    <a:pt x="2969247" y="1241475"/>
                  </a:lnTo>
                  <a:lnTo>
                    <a:pt x="2290457" y="1085862"/>
                  </a:lnTo>
                  <a:lnTo>
                    <a:pt x="2288197" y="1095768"/>
                  </a:lnTo>
                  <a:lnTo>
                    <a:pt x="2960522" y="1249908"/>
                  </a:lnTo>
                  <a:lnTo>
                    <a:pt x="2687726" y="1513154"/>
                  </a:lnTo>
                  <a:lnTo>
                    <a:pt x="1746859" y="1157033"/>
                  </a:lnTo>
                  <a:lnTo>
                    <a:pt x="1925116" y="1095616"/>
                  </a:lnTo>
                  <a:lnTo>
                    <a:pt x="1921802" y="1086015"/>
                  </a:lnTo>
                  <a:lnTo>
                    <a:pt x="1732000" y="1151407"/>
                  </a:lnTo>
                  <a:lnTo>
                    <a:pt x="1559382" y="1086065"/>
                  </a:lnTo>
                  <a:lnTo>
                    <a:pt x="1555788" y="1095565"/>
                  </a:lnTo>
                  <a:lnTo>
                    <a:pt x="1716976" y="1156589"/>
                  </a:lnTo>
                  <a:lnTo>
                    <a:pt x="1229944" y="1324381"/>
                  </a:lnTo>
                  <a:lnTo>
                    <a:pt x="743762" y="1090053"/>
                  </a:lnTo>
                  <a:lnTo>
                    <a:pt x="739343" y="1099197"/>
                  </a:lnTo>
                  <a:lnTo>
                    <a:pt x="1216304" y="1329080"/>
                  </a:lnTo>
                  <a:lnTo>
                    <a:pt x="858494" y="1452359"/>
                  </a:lnTo>
                  <a:lnTo>
                    <a:pt x="844143" y="1446276"/>
                  </a:lnTo>
                  <a:lnTo>
                    <a:pt x="844143" y="1457299"/>
                  </a:lnTo>
                  <a:lnTo>
                    <a:pt x="686777" y="1511515"/>
                  </a:lnTo>
                  <a:lnTo>
                    <a:pt x="556221" y="1335189"/>
                  </a:lnTo>
                  <a:lnTo>
                    <a:pt x="844143" y="1457299"/>
                  </a:lnTo>
                  <a:lnTo>
                    <a:pt x="844143" y="1446276"/>
                  </a:lnTo>
                  <a:lnTo>
                    <a:pt x="544309" y="1319110"/>
                  </a:lnTo>
                  <a:lnTo>
                    <a:pt x="375856" y="1091603"/>
                  </a:lnTo>
                  <a:lnTo>
                    <a:pt x="367690" y="1097648"/>
                  </a:lnTo>
                  <a:lnTo>
                    <a:pt x="525881" y="1311300"/>
                  </a:lnTo>
                  <a:lnTo>
                    <a:pt x="3962" y="1089952"/>
                  </a:lnTo>
                  <a:lnTo>
                    <a:pt x="0" y="1099299"/>
                  </a:lnTo>
                  <a:lnTo>
                    <a:pt x="537794" y="1327378"/>
                  </a:lnTo>
                  <a:lnTo>
                    <a:pt x="676706" y="1514983"/>
                  </a:lnTo>
                  <a:lnTo>
                    <a:pt x="304292" y="1643291"/>
                  </a:lnTo>
                  <a:lnTo>
                    <a:pt x="292709" y="1609674"/>
                  </a:lnTo>
                  <a:lnTo>
                    <a:pt x="229108" y="1674571"/>
                  </a:lnTo>
                  <a:lnTo>
                    <a:pt x="319189" y="1686509"/>
                  </a:lnTo>
                  <a:lnTo>
                    <a:pt x="309130" y="1657311"/>
                  </a:lnTo>
                  <a:lnTo>
                    <a:pt x="307606" y="1652892"/>
                  </a:lnTo>
                  <a:lnTo>
                    <a:pt x="683044" y="1523542"/>
                  </a:lnTo>
                  <a:lnTo>
                    <a:pt x="748753" y="1612265"/>
                  </a:lnTo>
                  <a:lnTo>
                    <a:pt x="720178" y="1633435"/>
                  </a:lnTo>
                  <a:lnTo>
                    <a:pt x="801204" y="1674571"/>
                  </a:lnTo>
                  <a:lnTo>
                    <a:pt x="792187" y="1623161"/>
                  </a:lnTo>
                  <a:lnTo>
                    <a:pt x="785495" y="1585061"/>
                  </a:lnTo>
                  <a:lnTo>
                    <a:pt x="756920" y="1606219"/>
                  </a:lnTo>
                  <a:lnTo>
                    <a:pt x="693115" y="1520075"/>
                  </a:lnTo>
                  <a:lnTo>
                    <a:pt x="858126" y="1463230"/>
                  </a:lnTo>
                  <a:lnTo>
                    <a:pt x="1292682" y="1647507"/>
                  </a:lnTo>
                  <a:lnTo>
                    <a:pt x="1278801" y="1680248"/>
                  </a:lnTo>
                  <a:lnTo>
                    <a:pt x="1369491" y="1674571"/>
                  </a:lnTo>
                  <a:lnTo>
                    <a:pt x="1350937" y="1652803"/>
                  </a:lnTo>
                  <a:lnTo>
                    <a:pt x="1310538" y="1605419"/>
                  </a:lnTo>
                  <a:lnTo>
                    <a:pt x="1296644" y="1638160"/>
                  </a:lnTo>
                  <a:lnTo>
                    <a:pt x="872464" y="1458290"/>
                  </a:lnTo>
                  <a:lnTo>
                    <a:pt x="1229296" y="1335354"/>
                  </a:lnTo>
                  <a:lnTo>
                    <a:pt x="1869414" y="1643849"/>
                  </a:lnTo>
                  <a:lnTo>
                    <a:pt x="1853971" y="1675892"/>
                  </a:lnTo>
                  <a:lnTo>
                    <a:pt x="1944839" y="1674571"/>
                  </a:lnTo>
                  <a:lnTo>
                    <a:pt x="1925650" y="1649730"/>
                  </a:lnTo>
                  <a:lnTo>
                    <a:pt x="1889264" y="1602663"/>
                  </a:lnTo>
                  <a:lnTo>
                    <a:pt x="1873821" y="1634705"/>
                  </a:lnTo>
                  <a:lnTo>
                    <a:pt x="1242936" y="1330655"/>
                  </a:lnTo>
                  <a:lnTo>
                    <a:pt x="1731835" y="1162215"/>
                  </a:lnTo>
                  <a:lnTo>
                    <a:pt x="2679636" y="1520952"/>
                  </a:lnTo>
                  <a:lnTo>
                    <a:pt x="2582722" y="1614474"/>
                  </a:lnTo>
                  <a:lnTo>
                    <a:pt x="2558034" y="1588884"/>
                  </a:lnTo>
                  <a:lnTo>
                    <a:pt x="2527757" y="1674571"/>
                  </a:lnTo>
                  <a:lnTo>
                    <a:pt x="2614472" y="1647367"/>
                  </a:lnTo>
                  <a:lnTo>
                    <a:pt x="2598851" y="1631188"/>
                  </a:lnTo>
                  <a:lnTo>
                    <a:pt x="2589771" y="1621777"/>
                  </a:lnTo>
                  <a:lnTo>
                    <a:pt x="2690139" y="1524927"/>
                  </a:lnTo>
                  <a:lnTo>
                    <a:pt x="3022054" y="1650542"/>
                  </a:lnTo>
                  <a:lnTo>
                    <a:pt x="3009468" y="1683804"/>
                  </a:lnTo>
                  <a:lnTo>
                    <a:pt x="3099866" y="1674571"/>
                  </a:lnTo>
                  <a:lnTo>
                    <a:pt x="3082125" y="1655343"/>
                  </a:lnTo>
                  <a:lnTo>
                    <a:pt x="3038233" y="1607781"/>
                  </a:lnTo>
                  <a:lnTo>
                    <a:pt x="3025648" y="1641043"/>
                  </a:lnTo>
                  <a:lnTo>
                    <a:pt x="2698229" y="1517129"/>
                  </a:lnTo>
                  <a:lnTo>
                    <a:pt x="2972346" y="1252613"/>
                  </a:lnTo>
                  <a:lnTo>
                    <a:pt x="4005821" y="1489532"/>
                  </a:lnTo>
                  <a:lnTo>
                    <a:pt x="4048290" y="1523415"/>
                  </a:lnTo>
                  <a:lnTo>
                    <a:pt x="3743401" y="1640649"/>
                  </a:lnTo>
                  <a:lnTo>
                    <a:pt x="3730637" y="1607464"/>
                  </a:lnTo>
                  <a:lnTo>
                    <a:pt x="3669360" y="1674571"/>
                  </a:lnTo>
                  <a:lnTo>
                    <a:pt x="3759809" y="1683334"/>
                  </a:lnTo>
                  <a:lnTo>
                    <a:pt x="3748913" y="1655000"/>
                  </a:lnTo>
                  <a:lnTo>
                    <a:pt x="3747046" y="1650136"/>
                  </a:lnTo>
                  <a:lnTo>
                    <a:pt x="4057497" y="1530769"/>
                  </a:lnTo>
                  <a:lnTo>
                    <a:pt x="4179189" y="1627847"/>
                  </a:lnTo>
                  <a:lnTo>
                    <a:pt x="4157014" y="1655648"/>
                  </a:lnTo>
                  <a:lnTo>
                    <a:pt x="4245902" y="1674571"/>
                  </a:lnTo>
                  <a:lnTo>
                    <a:pt x="4228173" y="1636293"/>
                  </a:lnTo>
                  <a:lnTo>
                    <a:pt x="4207713" y="1592110"/>
                  </a:lnTo>
                  <a:lnTo>
                    <a:pt x="4185526" y="1619910"/>
                  </a:lnTo>
                  <a:lnTo>
                    <a:pt x="4068470" y="1526540"/>
                  </a:lnTo>
                  <a:lnTo>
                    <a:pt x="4105351" y="1512366"/>
                  </a:lnTo>
                  <a:lnTo>
                    <a:pt x="4755400" y="1661363"/>
                  </a:lnTo>
                  <a:lnTo>
                    <a:pt x="4747463" y="1696021"/>
                  </a:lnTo>
                  <a:lnTo>
                    <a:pt x="4835766" y="1674571"/>
                  </a:lnTo>
                  <a:lnTo>
                    <a:pt x="4823396" y="1664385"/>
                  </a:lnTo>
                  <a:lnTo>
                    <a:pt x="4765624" y="1616798"/>
                  </a:lnTo>
                  <a:lnTo>
                    <a:pt x="4757674" y="1651457"/>
                  </a:lnTo>
                  <a:lnTo>
                    <a:pt x="4122343" y="1505826"/>
                  </a:lnTo>
                  <a:lnTo>
                    <a:pt x="4959185" y="1184046"/>
                  </a:lnTo>
                  <a:lnTo>
                    <a:pt x="5663108" y="1527086"/>
                  </a:lnTo>
                  <a:lnTo>
                    <a:pt x="5477586" y="1630540"/>
                  </a:lnTo>
                  <a:lnTo>
                    <a:pt x="5460263" y="1599488"/>
                  </a:lnTo>
                  <a:lnTo>
                    <a:pt x="5409069" y="1674571"/>
                  </a:lnTo>
                  <a:lnTo>
                    <a:pt x="5499849" y="1670469"/>
                  </a:lnTo>
                  <a:lnTo>
                    <a:pt x="5486209" y="1646021"/>
                  </a:lnTo>
                  <a:lnTo>
                    <a:pt x="5482539" y="1639417"/>
                  </a:lnTo>
                  <a:lnTo>
                    <a:pt x="5674245" y="1532521"/>
                  </a:lnTo>
                  <a:lnTo>
                    <a:pt x="5902071" y="1643532"/>
                  </a:lnTo>
                  <a:lnTo>
                    <a:pt x="5886488" y="1675498"/>
                  </a:lnTo>
                  <a:lnTo>
                    <a:pt x="5977356" y="1674571"/>
                  </a:lnTo>
                  <a:lnTo>
                    <a:pt x="5958129" y="1649463"/>
                  </a:lnTo>
                  <a:lnTo>
                    <a:pt x="5922099" y="1602422"/>
                  </a:lnTo>
                  <a:lnTo>
                    <a:pt x="5906516" y="1634401"/>
                  </a:lnTo>
                  <a:lnTo>
                    <a:pt x="5685053" y="1526489"/>
                  </a:lnTo>
                  <a:lnTo>
                    <a:pt x="6451524" y="1099058"/>
                  </a:lnTo>
                  <a:close/>
                </a:path>
                <a:path w="8703945" h="1696085">
                  <a:moveTo>
                    <a:pt x="8703843" y="1649450"/>
                  </a:moveTo>
                  <a:lnTo>
                    <a:pt x="8686178" y="1630400"/>
                  </a:lnTo>
                  <a:lnTo>
                    <a:pt x="8642032" y="1582839"/>
                  </a:lnTo>
                  <a:lnTo>
                    <a:pt x="8629536" y="1616125"/>
                  </a:lnTo>
                  <a:lnTo>
                    <a:pt x="7916126" y="1348346"/>
                  </a:lnTo>
                  <a:lnTo>
                    <a:pt x="8500262" y="1099299"/>
                  </a:lnTo>
                  <a:lnTo>
                    <a:pt x="8496275" y="1089952"/>
                  </a:lnTo>
                  <a:lnTo>
                    <a:pt x="7902346" y="1343177"/>
                  </a:lnTo>
                  <a:lnTo>
                    <a:pt x="7888808" y="1338097"/>
                  </a:lnTo>
                  <a:lnTo>
                    <a:pt x="7888808" y="1348955"/>
                  </a:lnTo>
                  <a:lnTo>
                    <a:pt x="7487894" y="1519885"/>
                  </a:lnTo>
                  <a:lnTo>
                    <a:pt x="7303135" y="1397012"/>
                  </a:lnTo>
                  <a:lnTo>
                    <a:pt x="7663066" y="1264208"/>
                  </a:lnTo>
                  <a:lnTo>
                    <a:pt x="7888808" y="1348955"/>
                  </a:lnTo>
                  <a:lnTo>
                    <a:pt x="7888808" y="1338097"/>
                  </a:lnTo>
                  <a:lnTo>
                    <a:pt x="7677645" y="1258824"/>
                  </a:lnTo>
                  <a:lnTo>
                    <a:pt x="8109763" y="1099388"/>
                  </a:lnTo>
                  <a:lnTo>
                    <a:pt x="8106245" y="1089863"/>
                  </a:lnTo>
                  <a:lnTo>
                    <a:pt x="7663104" y="1253363"/>
                  </a:lnTo>
                  <a:lnTo>
                    <a:pt x="7227532" y="1089863"/>
                  </a:lnTo>
                  <a:lnTo>
                    <a:pt x="7223963" y="1099375"/>
                  </a:lnTo>
                  <a:lnTo>
                    <a:pt x="7648524" y="1258747"/>
                  </a:lnTo>
                  <a:lnTo>
                    <a:pt x="7292657" y="1390040"/>
                  </a:lnTo>
                  <a:lnTo>
                    <a:pt x="6842125" y="1090396"/>
                  </a:lnTo>
                  <a:lnTo>
                    <a:pt x="6836499" y="1098854"/>
                  </a:lnTo>
                  <a:lnTo>
                    <a:pt x="7280859" y="1394396"/>
                  </a:lnTo>
                  <a:lnTo>
                    <a:pt x="6610667" y="1641665"/>
                  </a:lnTo>
                  <a:lnTo>
                    <a:pt x="6598361" y="1608302"/>
                  </a:lnTo>
                  <a:lnTo>
                    <a:pt x="6536169" y="1674571"/>
                  </a:lnTo>
                  <a:lnTo>
                    <a:pt x="6626492" y="1684566"/>
                  </a:lnTo>
                  <a:lnTo>
                    <a:pt x="6615912" y="1655889"/>
                  </a:lnTo>
                  <a:lnTo>
                    <a:pt x="6614185" y="1651203"/>
                  </a:lnTo>
                  <a:lnTo>
                    <a:pt x="7291337" y="1401356"/>
                  </a:lnTo>
                  <a:lnTo>
                    <a:pt x="7476718" y="1524647"/>
                  </a:lnTo>
                  <a:lnTo>
                    <a:pt x="7210806" y="1638020"/>
                  </a:lnTo>
                  <a:lnTo>
                    <a:pt x="7196861" y="1605305"/>
                  </a:lnTo>
                  <a:lnTo>
                    <a:pt x="7138035" y="1674571"/>
                  </a:lnTo>
                  <a:lnTo>
                    <a:pt x="7228738" y="1680070"/>
                  </a:lnTo>
                  <a:lnTo>
                    <a:pt x="7217054" y="1652676"/>
                  </a:lnTo>
                  <a:lnTo>
                    <a:pt x="7214794" y="1647367"/>
                  </a:lnTo>
                  <a:lnTo>
                    <a:pt x="7486840" y="1531378"/>
                  </a:lnTo>
                  <a:lnTo>
                    <a:pt x="7640841" y="1633791"/>
                  </a:lnTo>
                  <a:lnTo>
                    <a:pt x="7621156" y="1663395"/>
                  </a:lnTo>
                  <a:lnTo>
                    <a:pt x="7711338" y="1674571"/>
                  </a:lnTo>
                  <a:lnTo>
                    <a:pt x="7692276" y="1641284"/>
                  </a:lnTo>
                  <a:lnTo>
                    <a:pt x="7666164" y="1595716"/>
                  </a:lnTo>
                  <a:lnTo>
                    <a:pt x="7646467" y="1625333"/>
                  </a:lnTo>
                  <a:lnTo>
                    <a:pt x="7498016" y="1526616"/>
                  </a:lnTo>
                  <a:lnTo>
                    <a:pt x="7902588" y="1354124"/>
                  </a:lnTo>
                  <a:lnTo>
                    <a:pt x="8625967" y="1625638"/>
                  </a:lnTo>
                  <a:lnTo>
                    <a:pt x="8613470" y="1658937"/>
                  </a:lnTo>
                  <a:lnTo>
                    <a:pt x="8703843" y="164945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991283" y="4805057"/>
              <a:ext cx="1155700" cy="1129030"/>
            </a:xfrm>
            <a:custGeom>
              <a:avLst/>
              <a:gdLst/>
              <a:ahLst/>
              <a:cxnLst/>
              <a:rect l="l" t="t" r="r" b="b"/>
              <a:pathLst>
                <a:path w="1155700" h="1129029">
                  <a:moveTo>
                    <a:pt x="332143" y="14973"/>
                  </a:moveTo>
                  <a:lnTo>
                    <a:pt x="318414" y="0"/>
                  </a:lnTo>
                  <a:lnTo>
                    <a:pt x="53009" y="243547"/>
                  </a:lnTo>
                  <a:lnTo>
                    <a:pt x="32410" y="221081"/>
                  </a:lnTo>
                  <a:lnTo>
                    <a:pt x="0" y="305981"/>
                  </a:lnTo>
                  <a:lnTo>
                    <a:pt x="87363" y="280974"/>
                  </a:lnTo>
                  <a:lnTo>
                    <a:pt x="75158" y="267677"/>
                  </a:lnTo>
                  <a:lnTo>
                    <a:pt x="66751" y="258521"/>
                  </a:lnTo>
                  <a:lnTo>
                    <a:pt x="332143" y="14973"/>
                  </a:lnTo>
                  <a:close/>
                </a:path>
                <a:path w="1155700" h="1129029">
                  <a:moveTo>
                    <a:pt x="1155484" y="1107554"/>
                  </a:moveTo>
                  <a:lnTo>
                    <a:pt x="1149007" y="1102207"/>
                  </a:lnTo>
                  <a:lnTo>
                    <a:pt x="1085430" y="1049655"/>
                  </a:lnTo>
                  <a:lnTo>
                    <a:pt x="1078572" y="1079360"/>
                  </a:lnTo>
                  <a:lnTo>
                    <a:pt x="693318" y="990358"/>
                  </a:lnTo>
                  <a:lnTo>
                    <a:pt x="688746" y="1010158"/>
                  </a:lnTo>
                  <a:lnTo>
                    <a:pt x="1074000" y="1099159"/>
                  </a:lnTo>
                  <a:lnTo>
                    <a:pt x="1067142" y="1128852"/>
                  </a:lnTo>
                  <a:lnTo>
                    <a:pt x="1155484" y="1107554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6924023" y="2847978"/>
            <a:ext cx="2793365" cy="1215390"/>
            <a:chOff x="6924023" y="2847978"/>
            <a:chExt cx="2793365" cy="1215390"/>
          </a:xfrm>
        </p:grpSpPr>
        <p:sp>
          <p:nvSpPr>
            <p:cNvPr id="52" name="object 52"/>
            <p:cNvSpPr/>
            <p:nvPr/>
          </p:nvSpPr>
          <p:spPr>
            <a:xfrm>
              <a:off x="6938116" y="2862072"/>
              <a:ext cx="2764790" cy="1186815"/>
            </a:xfrm>
            <a:custGeom>
              <a:avLst/>
              <a:gdLst/>
              <a:ahLst/>
              <a:cxnLst/>
              <a:rect l="l" t="t" r="r" b="b"/>
              <a:pathLst>
                <a:path w="2764790" h="1186814">
                  <a:moveTo>
                    <a:pt x="2566897" y="0"/>
                  </a:moveTo>
                  <a:lnTo>
                    <a:pt x="197784" y="0"/>
                  </a:lnTo>
                  <a:lnTo>
                    <a:pt x="152434" y="5223"/>
                  </a:lnTo>
                  <a:lnTo>
                    <a:pt x="110804" y="20103"/>
                  </a:lnTo>
                  <a:lnTo>
                    <a:pt x="74080" y="43451"/>
                  </a:lnTo>
                  <a:lnTo>
                    <a:pt x="43451" y="74080"/>
                  </a:lnTo>
                  <a:lnTo>
                    <a:pt x="20103" y="110804"/>
                  </a:lnTo>
                  <a:lnTo>
                    <a:pt x="5223" y="152434"/>
                  </a:lnTo>
                  <a:lnTo>
                    <a:pt x="0" y="197784"/>
                  </a:lnTo>
                  <a:lnTo>
                    <a:pt x="0" y="988905"/>
                  </a:lnTo>
                  <a:lnTo>
                    <a:pt x="5223" y="1034253"/>
                  </a:lnTo>
                  <a:lnTo>
                    <a:pt x="20103" y="1075884"/>
                  </a:lnTo>
                  <a:lnTo>
                    <a:pt x="43451" y="1112607"/>
                  </a:lnTo>
                  <a:lnTo>
                    <a:pt x="74080" y="1143237"/>
                  </a:lnTo>
                  <a:lnTo>
                    <a:pt x="110804" y="1166585"/>
                  </a:lnTo>
                  <a:lnTo>
                    <a:pt x="152434" y="1181464"/>
                  </a:lnTo>
                  <a:lnTo>
                    <a:pt x="197784" y="1186688"/>
                  </a:lnTo>
                  <a:lnTo>
                    <a:pt x="2566897" y="1186688"/>
                  </a:lnTo>
                  <a:lnTo>
                    <a:pt x="2612247" y="1181464"/>
                  </a:lnTo>
                  <a:lnTo>
                    <a:pt x="2653877" y="1166585"/>
                  </a:lnTo>
                  <a:lnTo>
                    <a:pt x="2690601" y="1143237"/>
                  </a:lnTo>
                  <a:lnTo>
                    <a:pt x="2721230" y="1112607"/>
                  </a:lnTo>
                  <a:lnTo>
                    <a:pt x="2744578" y="1075884"/>
                  </a:lnTo>
                  <a:lnTo>
                    <a:pt x="2759458" y="1034253"/>
                  </a:lnTo>
                  <a:lnTo>
                    <a:pt x="2764681" y="988905"/>
                  </a:lnTo>
                  <a:lnTo>
                    <a:pt x="2764682" y="197784"/>
                  </a:lnTo>
                  <a:lnTo>
                    <a:pt x="2759458" y="152434"/>
                  </a:lnTo>
                  <a:lnTo>
                    <a:pt x="2744578" y="110804"/>
                  </a:lnTo>
                  <a:lnTo>
                    <a:pt x="2721230" y="74080"/>
                  </a:lnTo>
                  <a:lnTo>
                    <a:pt x="2690601" y="43451"/>
                  </a:lnTo>
                  <a:lnTo>
                    <a:pt x="2653877" y="20103"/>
                  </a:lnTo>
                  <a:lnTo>
                    <a:pt x="2612247" y="5223"/>
                  </a:lnTo>
                  <a:lnTo>
                    <a:pt x="2566897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938116" y="2862072"/>
              <a:ext cx="2764790" cy="1186815"/>
            </a:xfrm>
            <a:custGeom>
              <a:avLst/>
              <a:gdLst/>
              <a:ahLst/>
              <a:cxnLst/>
              <a:rect l="l" t="t" r="r" b="b"/>
              <a:pathLst>
                <a:path w="2764790" h="1186814">
                  <a:moveTo>
                    <a:pt x="0" y="197784"/>
                  </a:moveTo>
                  <a:lnTo>
                    <a:pt x="5223" y="152434"/>
                  </a:lnTo>
                  <a:lnTo>
                    <a:pt x="20103" y="110804"/>
                  </a:lnTo>
                  <a:lnTo>
                    <a:pt x="43451" y="74080"/>
                  </a:lnTo>
                  <a:lnTo>
                    <a:pt x="74080" y="43451"/>
                  </a:lnTo>
                  <a:lnTo>
                    <a:pt x="110804" y="20103"/>
                  </a:lnTo>
                  <a:lnTo>
                    <a:pt x="152434" y="5223"/>
                  </a:lnTo>
                  <a:lnTo>
                    <a:pt x="197784" y="0"/>
                  </a:lnTo>
                  <a:lnTo>
                    <a:pt x="460780" y="0"/>
                  </a:lnTo>
                  <a:lnTo>
                    <a:pt x="1151950" y="0"/>
                  </a:lnTo>
                  <a:lnTo>
                    <a:pt x="2566897" y="0"/>
                  </a:lnTo>
                  <a:lnTo>
                    <a:pt x="2612247" y="5223"/>
                  </a:lnTo>
                  <a:lnTo>
                    <a:pt x="2653877" y="20103"/>
                  </a:lnTo>
                  <a:lnTo>
                    <a:pt x="2690601" y="43451"/>
                  </a:lnTo>
                  <a:lnTo>
                    <a:pt x="2721230" y="74080"/>
                  </a:lnTo>
                  <a:lnTo>
                    <a:pt x="2744578" y="110804"/>
                  </a:lnTo>
                  <a:lnTo>
                    <a:pt x="2759457" y="152434"/>
                  </a:lnTo>
                  <a:lnTo>
                    <a:pt x="2764681" y="197784"/>
                  </a:lnTo>
                  <a:lnTo>
                    <a:pt x="2764681" y="692234"/>
                  </a:lnTo>
                  <a:lnTo>
                    <a:pt x="2764681" y="988906"/>
                  </a:lnTo>
                  <a:lnTo>
                    <a:pt x="2759457" y="1034253"/>
                  </a:lnTo>
                  <a:lnTo>
                    <a:pt x="2744578" y="1075883"/>
                  </a:lnTo>
                  <a:lnTo>
                    <a:pt x="2721230" y="1112607"/>
                  </a:lnTo>
                  <a:lnTo>
                    <a:pt x="2690601" y="1143236"/>
                  </a:lnTo>
                  <a:lnTo>
                    <a:pt x="2653877" y="1166584"/>
                  </a:lnTo>
                  <a:lnTo>
                    <a:pt x="2612247" y="1181464"/>
                  </a:lnTo>
                  <a:lnTo>
                    <a:pt x="2566897" y="1186687"/>
                  </a:lnTo>
                  <a:lnTo>
                    <a:pt x="1151950" y="1186687"/>
                  </a:lnTo>
                  <a:lnTo>
                    <a:pt x="1318309" y="1186687"/>
                  </a:lnTo>
                  <a:lnTo>
                    <a:pt x="460780" y="1186687"/>
                  </a:lnTo>
                  <a:lnTo>
                    <a:pt x="197784" y="1186687"/>
                  </a:lnTo>
                  <a:lnTo>
                    <a:pt x="152434" y="1181464"/>
                  </a:lnTo>
                  <a:lnTo>
                    <a:pt x="110804" y="1166584"/>
                  </a:lnTo>
                  <a:lnTo>
                    <a:pt x="74080" y="1143236"/>
                  </a:lnTo>
                  <a:lnTo>
                    <a:pt x="43451" y="1112607"/>
                  </a:lnTo>
                  <a:lnTo>
                    <a:pt x="20103" y="1075883"/>
                  </a:lnTo>
                  <a:lnTo>
                    <a:pt x="5223" y="1034253"/>
                  </a:lnTo>
                  <a:lnTo>
                    <a:pt x="0" y="988903"/>
                  </a:lnTo>
                  <a:lnTo>
                    <a:pt x="0" y="692234"/>
                  </a:lnTo>
                  <a:lnTo>
                    <a:pt x="0" y="197784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184332" y="2947415"/>
            <a:ext cx="2273300" cy="98551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-1905" algn="ctr">
              <a:lnSpc>
                <a:spcPct val="90200"/>
              </a:lnSpc>
              <a:spcBef>
                <a:spcPts val="300"/>
              </a:spcBef>
            </a:pPr>
            <a:r>
              <a:rPr sz="1700" spc="-15" dirty="0">
                <a:solidFill>
                  <a:srgbClr val="FFFFFF"/>
                </a:solidFill>
                <a:latin typeface="Verdana"/>
                <a:cs typeface="Verdana"/>
              </a:rPr>
              <a:t>Worse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case: read a 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different</a:t>
            </a:r>
            <a:r>
              <a:rPr sz="17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block</a:t>
            </a:r>
            <a:r>
              <a:rPr sz="17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every </a:t>
            </a:r>
            <a:r>
              <a:rPr sz="1700" spc="-5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time. Thus, choose 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key(s)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carefully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18515" y="6864089"/>
            <a:ext cx="2282824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5"/>
              </a:spcBef>
            </a:pPr>
            <a:r>
              <a:rPr sz="1500" spc="-5" dirty="0">
                <a:solidFill>
                  <a:srgbClr val="007742"/>
                </a:solidFill>
                <a:latin typeface="Verdana"/>
                <a:cs typeface="Verdana"/>
              </a:rPr>
              <a:t>Sequential</a:t>
            </a:r>
            <a:r>
              <a:rPr sz="1500" spc="-40" dirty="0">
                <a:solidFill>
                  <a:srgbClr val="007742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07742"/>
                </a:solidFill>
                <a:latin typeface="Verdana"/>
                <a:cs typeface="Verdana"/>
              </a:rPr>
              <a:t>data</a:t>
            </a:r>
            <a:r>
              <a:rPr sz="1500" spc="-45" dirty="0">
                <a:solidFill>
                  <a:srgbClr val="007742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07742"/>
                </a:solidFill>
                <a:latin typeface="Verdana"/>
                <a:cs typeface="Verdana"/>
              </a:rPr>
              <a:t>file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74676" y="3265423"/>
            <a:ext cx="9201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Index</a:t>
            </a:r>
            <a:r>
              <a:rPr sz="1500" spc="-8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1EAA"/>
                </a:solidFill>
                <a:latin typeface="Verdana"/>
                <a:cs typeface="Verdana"/>
              </a:rPr>
              <a:t>file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4492" y="315975"/>
            <a:ext cx="509079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A</a:t>
            </a:r>
            <a:r>
              <a:rPr spc="-130" dirty="0"/>
              <a:t>no</a:t>
            </a:r>
            <a:r>
              <a:rPr spc="-120" dirty="0"/>
              <a:t>t</a:t>
            </a:r>
            <a:r>
              <a:rPr spc="-130" dirty="0"/>
              <a:t>h</a:t>
            </a:r>
            <a:r>
              <a:rPr spc="-120" dirty="0"/>
              <a:t>e</a:t>
            </a:r>
            <a:r>
              <a:rPr dirty="0"/>
              <a:t>r</a:t>
            </a:r>
            <a:r>
              <a:rPr spc="-250" dirty="0"/>
              <a:t> </a:t>
            </a:r>
            <a:r>
              <a:rPr spc="-135" dirty="0"/>
              <a:t>S</a:t>
            </a:r>
            <a:r>
              <a:rPr spc="-130" dirty="0"/>
              <a:t>c</a:t>
            </a:r>
            <a:r>
              <a:rPr spc="-120" dirty="0"/>
              <a:t>e</a:t>
            </a:r>
            <a:r>
              <a:rPr spc="-130" dirty="0"/>
              <a:t>n</a:t>
            </a:r>
            <a:r>
              <a:rPr spc="-125" dirty="0"/>
              <a:t>ari</a:t>
            </a:r>
            <a:r>
              <a:rPr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396" y="2546096"/>
            <a:ext cx="8896985" cy="140970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98170" marR="5080">
              <a:lnSpc>
                <a:spcPct val="103800"/>
              </a:lnSpc>
              <a:spcBef>
                <a:spcPts val="5"/>
              </a:spcBef>
              <a:tabLst>
                <a:tab pos="4512945" algn="l"/>
                <a:tab pos="492506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Selectivity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estimate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(~proportion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matching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selection)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query	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	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0.1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5300345" algn="l"/>
              </a:tabLst>
            </a:pPr>
            <a:r>
              <a:rPr sz="2100" b="1" spc="1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1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21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292934"/>
                </a:solidFill>
                <a:latin typeface="Verdana"/>
                <a:cs typeface="Verdana"/>
              </a:rPr>
              <a:t>(full</a:t>
            </a:r>
            <a:r>
              <a:rPr sz="21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sequential</a:t>
            </a:r>
            <a:r>
              <a:rPr sz="21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scan)	Unclustered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677" y="1238503"/>
            <a:ext cx="4481195" cy="100711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55930" marR="5080" indent="-443865">
              <a:lnSpc>
                <a:spcPct val="103800"/>
              </a:lnSpc>
              <a:spcBef>
                <a:spcPts val="5"/>
              </a:spcBef>
              <a:tabLst>
                <a:tab pos="1717039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Supposed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know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following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#blocks	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100</a:t>
            </a:r>
            <a:endParaRPr sz="2100">
              <a:latin typeface="Verdana"/>
              <a:cs typeface="Verdana"/>
            </a:endParaRPr>
          </a:p>
          <a:p>
            <a:pPr marL="455930">
              <a:lnSpc>
                <a:spcPct val="100000"/>
              </a:lnSpc>
              <a:spcBef>
                <a:spcPts val="70"/>
              </a:spcBef>
              <a:tabLst>
                <a:tab pos="170878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#tuples	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10000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2079" y="3581400"/>
            <a:ext cx="0" cy="1727200"/>
          </a:xfrm>
          <a:custGeom>
            <a:avLst/>
            <a:gdLst/>
            <a:ahLst/>
            <a:cxnLst/>
            <a:rect l="l" t="t" r="r" b="b"/>
            <a:pathLst>
              <a:path h="1727200">
                <a:moveTo>
                  <a:pt x="0" y="0"/>
                </a:moveTo>
                <a:lnTo>
                  <a:pt x="1" y="1727199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48436" y="4146296"/>
            <a:ext cx="6254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23795" y="4146296"/>
            <a:ext cx="4283075" cy="67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3545" algn="l"/>
                <a:tab pos="366966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	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#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k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	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  <a:tabLst>
                <a:tab pos="4235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	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100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6755" y="4146296"/>
            <a:ext cx="2103755" cy="67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35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	X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*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#tuples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  <a:tabLst>
                <a:tab pos="4235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	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0.1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*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10000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56755" y="4804664"/>
            <a:ext cx="102996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1000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88546" y="5787991"/>
            <a:ext cx="8522335" cy="1140460"/>
            <a:chOff x="788546" y="5787991"/>
            <a:chExt cx="8522335" cy="1140460"/>
          </a:xfrm>
        </p:grpSpPr>
        <p:sp>
          <p:nvSpPr>
            <p:cNvPr id="11" name="object 11"/>
            <p:cNvSpPr/>
            <p:nvPr/>
          </p:nvSpPr>
          <p:spPr>
            <a:xfrm>
              <a:off x="802640" y="5802085"/>
              <a:ext cx="8493760" cy="1111885"/>
            </a:xfrm>
            <a:custGeom>
              <a:avLst/>
              <a:gdLst/>
              <a:ahLst/>
              <a:cxnLst/>
              <a:rect l="l" t="t" r="r" b="b"/>
              <a:pathLst>
                <a:path w="8493760" h="1111884">
                  <a:moveTo>
                    <a:pt x="8308455" y="0"/>
                  </a:moveTo>
                  <a:lnTo>
                    <a:pt x="185304" y="0"/>
                  </a:lnTo>
                  <a:lnTo>
                    <a:pt x="136042" y="6619"/>
                  </a:lnTo>
                  <a:lnTo>
                    <a:pt x="91777" y="25299"/>
                  </a:lnTo>
                  <a:lnTo>
                    <a:pt x="54274" y="54274"/>
                  </a:lnTo>
                  <a:lnTo>
                    <a:pt x="25299" y="91777"/>
                  </a:lnTo>
                  <a:lnTo>
                    <a:pt x="6619" y="136043"/>
                  </a:lnTo>
                  <a:lnTo>
                    <a:pt x="0" y="185304"/>
                  </a:lnTo>
                  <a:lnTo>
                    <a:pt x="1" y="926497"/>
                  </a:lnTo>
                  <a:lnTo>
                    <a:pt x="6619" y="975750"/>
                  </a:lnTo>
                  <a:lnTo>
                    <a:pt x="25299" y="1020015"/>
                  </a:lnTo>
                  <a:lnTo>
                    <a:pt x="54274" y="1057519"/>
                  </a:lnTo>
                  <a:lnTo>
                    <a:pt x="91777" y="1086494"/>
                  </a:lnTo>
                  <a:lnTo>
                    <a:pt x="136042" y="1105174"/>
                  </a:lnTo>
                  <a:lnTo>
                    <a:pt x="185304" y="1111793"/>
                  </a:lnTo>
                  <a:lnTo>
                    <a:pt x="8308455" y="1111793"/>
                  </a:lnTo>
                  <a:lnTo>
                    <a:pt x="8357716" y="1105174"/>
                  </a:lnTo>
                  <a:lnTo>
                    <a:pt x="8401981" y="1086494"/>
                  </a:lnTo>
                  <a:lnTo>
                    <a:pt x="8439484" y="1057519"/>
                  </a:lnTo>
                  <a:lnTo>
                    <a:pt x="8468459" y="1020015"/>
                  </a:lnTo>
                  <a:lnTo>
                    <a:pt x="8487139" y="975750"/>
                  </a:lnTo>
                  <a:lnTo>
                    <a:pt x="8493757" y="926497"/>
                  </a:lnTo>
                  <a:lnTo>
                    <a:pt x="8493758" y="185304"/>
                  </a:lnTo>
                  <a:lnTo>
                    <a:pt x="8487139" y="136043"/>
                  </a:lnTo>
                  <a:lnTo>
                    <a:pt x="8468459" y="91777"/>
                  </a:lnTo>
                  <a:lnTo>
                    <a:pt x="8439484" y="54274"/>
                  </a:lnTo>
                  <a:lnTo>
                    <a:pt x="8401981" y="25299"/>
                  </a:lnTo>
                  <a:lnTo>
                    <a:pt x="8357716" y="6619"/>
                  </a:lnTo>
                  <a:lnTo>
                    <a:pt x="8308455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2640" y="5802085"/>
              <a:ext cx="8493760" cy="1111885"/>
            </a:xfrm>
            <a:custGeom>
              <a:avLst/>
              <a:gdLst/>
              <a:ahLst/>
              <a:cxnLst/>
              <a:rect l="l" t="t" r="r" b="b"/>
              <a:pathLst>
                <a:path w="8493760" h="1111884">
                  <a:moveTo>
                    <a:pt x="0" y="185305"/>
                  </a:moveTo>
                  <a:lnTo>
                    <a:pt x="6619" y="136043"/>
                  </a:lnTo>
                  <a:lnTo>
                    <a:pt x="25299" y="91778"/>
                  </a:lnTo>
                  <a:lnTo>
                    <a:pt x="54274" y="54274"/>
                  </a:lnTo>
                  <a:lnTo>
                    <a:pt x="91777" y="25299"/>
                  </a:lnTo>
                  <a:lnTo>
                    <a:pt x="136042" y="6619"/>
                  </a:lnTo>
                  <a:lnTo>
                    <a:pt x="185303" y="0"/>
                  </a:lnTo>
                  <a:lnTo>
                    <a:pt x="1415626" y="0"/>
                  </a:lnTo>
                  <a:lnTo>
                    <a:pt x="3539066" y="0"/>
                  </a:lnTo>
                  <a:lnTo>
                    <a:pt x="8308455" y="0"/>
                  </a:lnTo>
                  <a:lnTo>
                    <a:pt x="8357716" y="6619"/>
                  </a:lnTo>
                  <a:lnTo>
                    <a:pt x="8401981" y="25299"/>
                  </a:lnTo>
                  <a:lnTo>
                    <a:pt x="8439485" y="54274"/>
                  </a:lnTo>
                  <a:lnTo>
                    <a:pt x="8468460" y="91778"/>
                  </a:lnTo>
                  <a:lnTo>
                    <a:pt x="8487140" y="136043"/>
                  </a:lnTo>
                  <a:lnTo>
                    <a:pt x="8493759" y="185305"/>
                  </a:lnTo>
                  <a:lnTo>
                    <a:pt x="8493759" y="648545"/>
                  </a:lnTo>
                  <a:lnTo>
                    <a:pt x="8493759" y="926498"/>
                  </a:lnTo>
                  <a:lnTo>
                    <a:pt x="8487140" y="975750"/>
                  </a:lnTo>
                  <a:lnTo>
                    <a:pt x="8468460" y="1020016"/>
                  </a:lnTo>
                  <a:lnTo>
                    <a:pt x="8439485" y="1057519"/>
                  </a:lnTo>
                  <a:lnTo>
                    <a:pt x="8401981" y="1086494"/>
                  </a:lnTo>
                  <a:lnTo>
                    <a:pt x="8357716" y="1105174"/>
                  </a:lnTo>
                  <a:lnTo>
                    <a:pt x="8308455" y="1111794"/>
                  </a:lnTo>
                  <a:lnTo>
                    <a:pt x="3539066" y="1111794"/>
                  </a:lnTo>
                  <a:lnTo>
                    <a:pt x="4050159" y="1111794"/>
                  </a:lnTo>
                  <a:lnTo>
                    <a:pt x="1415626" y="1111794"/>
                  </a:lnTo>
                  <a:lnTo>
                    <a:pt x="185303" y="1111794"/>
                  </a:lnTo>
                  <a:lnTo>
                    <a:pt x="136042" y="1105174"/>
                  </a:lnTo>
                  <a:lnTo>
                    <a:pt x="91777" y="1086494"/>
                  </a:lnTo>
                  <a:lnTo>
                    <a:pt x="54274" y="1057519"/>
                  </a:lnTo>
                  <a:lnTo>
                    <a:pt x="25299" y="1020016"/>
                  </a:lnTo>
                  <a:lnTo>
                    <a:pt x="6619" y="975750"/>
                  </a:lnTo>
                  <a:lnTo>
                    <a:pt x="0" y="926488"/>
                  </a:lnTo>
                  <a:lnTo>
                    <a:pt x="0" y="648545"/>
                  </a:lnTo>
                  <a:lnTo>
                    <a:pt x="0" y="185305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82634" y="5924296"/>
            <a:ext cx="752983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85"/>
              </a:lnSpc>
              <a:spcBef>
                <a:spcPts val="100"/>
              </a:spcBef>
            </a:pP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Full</a:t>
            </a:r>
            <a:r>
              <a:rPr sz="19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sequential</a:t>
            </a:r>
            <a:r>
              <a:rPr sz="19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scan</a:t>
            </a:r>
            <a:r>
              <a:rPr sz="19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9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better</a:t>
            </a:r>
            <a:r>
              <a:rPr sz="19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option</a:t>
            </a:r>
            <a:r>
              <a:rPr sz="19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FFFFFF"/>
                </a:solidFill>
                <a:latin typeface="Verdana"/>
                <a:cs typeface="Verdana"/>
              </a:rPr>
              <a:t>when</a:t>
            </a:r>
            <a:endParaRPr sz="1900">
              <a:latin typeface="Verdana"/>
              <a:cs typeface="Verdana"/>
            </a:endParaRPr>
          </a:p>
          <a:p>
            <a:pPr marL="618490" indent="-263525">
              <a:lnSpc>
                <a:spcPts val="2050"/>
              </a:lnSpc>
              <a:buFont typeface="Arial MT"/>
              <a:buChar char="•"/>
              <a:tabLst>
                <a:tab pos="618490" algn="l"/>
                <a:tab pos="619125" algn="l"/>
              </a:tabLst>
            </a:pP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Selectivity</a:t>
            </a:r>
            <a:r>
              <a:rPr sz="19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9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high</a:t>
            </a:r>
            <a:r>
              <a:rPr sz="19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(many</a:t>
            </a:r>
            <a:r>
              <a:rPr sz="19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FFFFFF"/>
                </a:solidFill>
                <a:latin typeface="Verdana"/>
                <a:cs typeface="Verdana"/>
              </a:rPr>
              <a:t>tuples</a:t>
            </a:r>
            <a:r>
              <a:rPr sz="19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match</a:t>
            </a:r>
            <a:r>
              <a:rPr sz="19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selection),</a:t>
            </a:r>
            <a:r>
              <a:rPr sz="19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endParaRPr sz="1900">
              <a:latin typeface="Verdana"/>
              <a:cs typeface="Verdana"/>
            </a:endParaRPr>
          </a:p>
          <a:p>
            <a:pPr marL="618490" indent="-263525">
              <a:lnSpc>
                <a:spcPts val="2150"/>
              </a:lnSpc>
              <a:buFont typeface="Arial MT"/>
              <a:buChar char="•"/>
              <a:tabLst>
                <a:tab pos="618490" algn="l"/>
                <a:tab pos="619125" algn="l"/>
              </a:tabLst>
            </a:pPr>
            <a:r>
              <a:rPr sz="1900" spc="-5" dirty="0">
                <a:solidFill>
                  <a:srgbClr val="FFFFFF"/>
                </a:solidFill>
                <a:latin typeface="Verdana"/>
                <a:cs typeface="Verdana"/>
              </a:rPr>
              <a:t>Ratio</a:t>
            </a:r>
            <a:r>
              <a:rPr sz="1900" spc="10" dirty="0">
                <a:solidFill>
                  <a:srgbClr val="FFFFFF"/>
                </a:solidFill>
                <a:latin typeface="Verdana"/>
                <a:cs typeface="Verdana"/>
              </a:rPr>
              <a:t> between</a:t>
            </a:r>
            <a:r>
              <a:rPr sz="19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#tuples:#blocks</a:t>
            </a:r>
            <a:r>
              <a:rPr sz="19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9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high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01935" y="1230507"/>
            <a:ext cx="3655695" cy="963294"/>
            <a:chOff x="6101935" y="1230507"/>
            <a:chExt cx="3655695" cy="963294"/>
          </a:xfrm>
        </p:grpSpPr>
        <p:sp>
          <p:nvSpPr>
            <p:cNvPr id="15" name="object 15"/>
            <p:cNvSpPr/>
            <p:nvPr/>
          </p:nvSpPr>
          <p:spPr>
            <a:xfrm>
              <a:off x="6116029" y="1244601"/>
              <a:ext cx="3627754" cy="934719"/>
            </a:xfrm>
            <a:custGeom>
              <a:avLst/>
              <a:gdLst/>
              <a:ahLst/>
              <a:cxnLst/>
              <a:rect l="l" t="t" r="r" b="b"/>
              <a:pathLst>
                <a:path w="3627754" h="934719">
                  <a:moveTo>
                    <a:pt x="3471622" y="0"/>
                  </a:moveTo>
                  <a:lnTo>
                    <a:pt x="155787" y="0"/>
                  </a:lnTo>
                  <a:lnTo>
                    <a:pt x="106546" y="7942"/>
                  </a:lnTo>
                  <a:lnTo>
                    <a:pt x="63781" y="30057"/>
                  </a:lnTo>
                  <a:lnTo>
                    <a:pt x="30057" y="63781"/>
                  </a:lnTo>
                  <a:lnTo>
                    <a:pt x="7942" y="106547"/>
                  </a:lnTo>
                  <a:lnTo>
                    <a:pt x="0" y="155788"/>
                  </a:lnTo>
                  <a:lnTo>
                    <a:pt x="0" y="778931"/>
                  </a:lnTo>
                  <a:lnTo>
                    <a:pt x="7942" y="828172"/>
                  </a:lnTo>
                  <a:lnTo>
                    <a:pt x="30057" y="870938"/>
                  </a:lnTo>
                  <a:lnTo>
                    <a:pt x="63781" y="904662"/>
                  </a:lnTo>
                  <a:lnTo>
                    <a:pt x="106546" y="926777"/>
                  </a:lnTo>
                  <a:lnTo>
                    <a:pt x="155787" y="934720"/>
                  </a:lnTo>
                  <a:lnTo>
                    <a:pt x="3471622" y="934720"/>
                  </a:lnTo>
                  <a:lnTo>
                    <a:pt x="3520863" y="926777"/>
                  </a:lnTo>
                  <a:lnTo>
                    <a:pt x="3563628" y="904662"/>
                  </a:lnTo>
                  <a:lnTo>
                    <a:pt x="3597351" y="870938"/>
                  </a:lnTo>
                  <a:lnTo>
                    <a:pt x="3619467" y="828172"/>
                  </a:lnTo>
                  <a:lnTo>
                    <a:pt x="3627409" y="778931"/>
                  </a:lnTo>
                  <a:lnTo>
                    <a:pt x="3627409" y="155788"/>
                  </a:lnTo>
                  <a:lnTo>
                    <a:pt x="3619467" y="106547"/>
                  </a:lnTo>
                  <a:lnTo>
                    <a:pt x="3597351" y="63781"/>
                  </a:lnTo>
                  <a:lnTo>
                    <a:pt x="3563628" y="30057"/>
                  </a:lnTo>
                  <a:lnTo>
                    <a:pt x="3520863" y="7942"/>
                  </a:lnTo>
                  <a:lnTo>
                    <a:pt x="3471622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16029" y="1244601"/>
              <a:ext cx="3627754" cy="934719"/>
            </a:xfrm>
            <a:custGeom>
              <a:avLst/>
              <a:gdLst/>
              <a:ahLst/>
              <a:cxnLst/>
              <a:rect l="l" t="t" r="r" b="b"/>
              <a:pathLst>
                <a:path w="3627754" h="934719">
                  <a:moveTo>
                    <a:pt x="0" y="155787"/>
                  </a:moveTo>
                  <a:lnTo>
                    <a:pt x="7942" y="106546"/>
                  </a:lnTo>
                  <a:lnTo>
                    <a:pt x="30057" y="63781"/>
                  </a:lnTo>
                  <a:lnTo>
                    <a:pt x="63781" y="30058"/>
                  </a:lnTo>
                  <a:lnTo>
                    <a:pt x="106546" y="7942"/>
                  </a:lnTo>
                  <a:lnTo>
                    <a:pt x="155787" y="0"/>
                  </a:lnTo>
                  <a:lnTo>
                    <a:pt x="604568" y="0"/>
                  </a:lnTo>
                  <a:lnTo>
                    <a:pt x="1511420" y="0"/>
                  </a:lnTo>
                  <a:lnTo>
                    <a:pt x="3471622" y="0"/>
                  </a:lnTo>
                  <a:lnTo>
                    <a:pt x="3520863" y="7942"/>
                  </a:lnTo>
                  <a:lnTo>
                    <a:pt x="3563628" y="30058"/>
                  </a:lnTo>
                  <a:lnTo>
                    <a:pt x="3597352" y="63781"/>
                  </a:lnTo>
                  <a:lnTo>
                    <a:pt x="3619467" y="106546"/>
                  </a:lnTo>
                  <a:lnTo>
                    <a:pt x="3627410" y="155787"/>
                  </a:lnTo>
                  <a:lnTo>
                    <a:pt x="3627410" y="545252"/>
                  </a:lnTo>
                  <a:lnTo>
                    <a:pt x="3627410" y="778932"/>
                  </a:lnTo>
                  <a:lnTo>
                    <a:pt x="3619467" y="828173"/>
                  </a:lnTo>
                  <a:lnTo>
                    <a:pt x="3597352" y="870938"/>
                  </a:lnTo>
                  <a:lnTo>
                    <a:pt x="3563628" y="904661"/>
                  </a:lnTo>
                  <a:lnTo>
                    <a:pt x="3520863" y="926777"/>
                  </a:lnTo>
                  <a:lnTo>
                    <a:pt x="3471622" y="934719"/>
                  </a:lnTo>
                  <a:lnTo>
                    <a:pt x="1511420" y="934719"/>
                  </a:lnTo>
                  <a:lnTo>
                    <a:pt x="1729692" y="934719"/>
                  </a:lnTo>
                  <a:lnTo>
                    <a:pt x="604568" y="934719"/>
                  </a:lnTo>
                  <a:lnTo>
                    <a:pt x="155787" y="934719"/>
                  </a:lnTo>
                  <a:lnTo>
                    <a:pt x="106546" y="926777"/>
                  </a:lnTo>
                  <a:lnTo>
                    <a:pt x="63781" y="904661"/>
                  </a:lnTo>
                  <a:lnTo>
                    <a:pt x="30057" y="870938"/>
                  </a:lnTo>
                  <a:lnTo>
                    <a:pt x="7942" y="828173"/>
                  </a:lnTo>
                  <a:lnTo>
                    <a:pt x="0" y="778932"/>
                  </a:lnTo>
                  <a:lnTo>
                    <a:pt x="0" y="545252"/>
                  </a:lnTo>
                  <a:lnTo>
                    <a:pt x="0" y="155787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387378" y="1322832"/>
            <a:ext cx="2983230" cy="75438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ct val="90600"/>
              </a:lnSpc>
              <a:spcBef>
                <a:spcPts val="290"/>
              </a:spcBef>
            </a:pP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Using an unclustered index </a:t>
            </a:r>
            <a:r>
              <a:rPr sz="1700" spc="-5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in 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wrong scenario can 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lead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 to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 low performance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2633" y="319023"/>
            <a:ext cx="26365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Wrap-Up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247" y="1065276"/>
            <a:ext cx="9039860" cy="383540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48285" indent="-23622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existence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an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index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on an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endParaRPr sz="2000">
              <a:latin typeface="Verdana"/>
              <a:cs typeface="Verdana"/>
            </a:endParaRPr>
          </a:p>
          <a:p>
            <a:pPr marL="735965" marR="5080" lvl="1" indent="-236220">
              <a:lnSpc>
                <a:spcPts val="2090"/>
              </a:lnSpc>
              <a:spcBef>
                <a:spcPts val="1435"/>
              </a:spcBef>
              <a:buFont typeface="Arial MT"/>
              <a:buChar char="•"/>
              <a:tabLst>
                <a:tab pos="735965" algn="l"/>
                <a:tab pos="736600" algn="l"/>
              </a:tabLst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speed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up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execution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queries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(in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or </a:t>
            </a:r>
            <a:r>
              <a:rPr sz="2000" spc="-6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range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specified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attributes),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and</a:t>
            </a:r>
            <a:endParaRPr sz="2000">
              <a:latin typeface="Verdana"/>
              <a:cs typeface="Verdana"/>
            </a:endParaRPr>
          </a:p>
          <a:p>
            <a:pPr marL="735965" lvl="1" indent="-236220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735965" algn="l"/>
                <a:tab pos="736600" algn="l"/>
              </a:tabLst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speed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up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joins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involving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attribute.</a:t>
            </a:r>
            <a:endParaRPr sz="20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292934"/>
              </a:buClr>
              <a:buFont typeface="Arial MT"/>
              <a:buChar char="•"/>
            </a:pPr>
            <a:endParaRPr sz="2600">
              <a:latin typeface="Verdana"/>
              <a:cs typeface="Verdana"/>
            </a:endParaRPr>
          </a:p>
          <a:p>
            <a:pPr marL="248285" marR="22225" indent="-236220">
              <a:lnSpc>
                <a:spcPct val="91500"/>
              </a:lnSpc>
              <a:spcBef>
                <a:spcPts val="5"/>
              </a:spcBef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index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built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more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of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some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makes </a:t>
            </a:r>
            <a:r>
              <a:rPr sz="2000" spc="-6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insertions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deletions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updates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to that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relation more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complex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time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consuming.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292934"/>
              </a:buClr>
              <a:buFont typeface="Arial MT"/>
              <a:buChar char="•"/>
            </a:pPr>
            <a:endParaRPr sz="2650">
              <a:latin typeface="Verdana"/>
              <a:cs typeface="Verdana"/>
            </a:endParaRPr>
          </a:p>
          <a:p>
            <a:pPr marL="248285" marR="253365" indent="-236220">
              <a:lnSpc>
                <a:spcPts val="2210"/>
              </a:lnSpc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When creating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indices,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transactions that will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executed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must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be </a:t>
            </a:r>
            <a:r>
              <a:rPr sz="2000" spc="-6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taken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account.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704" y="5004815"/>
            <a:ext cx="1685544" cy="144170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01583" y="5004815"/>
            <a:ext cx="1645920" cy="14691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5543" y="5080403"/>
            <a:ext cx="8507730" cy="124523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935"/>
              </a:spcBef>
            </a:pP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Read-heavy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DBs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b="1" spc="5" dirty="0">
                <a:solidFill>
                  <a:srgbClr val="C00000"/>
                </a:solidFill>
                <a:latin typeface="Verdana"/>
                <a:cs typeface="Verdana"/>
              </a:rPr>
              <a:t>can</a:t>
            </a:r>
            <a:r>
              <a:rPr sz="1900" b="1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spc="5" dirty="0">
                <a:solidFill>
                  <a:srgbClr val="C00000"/>
                </a:solidFill>
                <a:latin typeface="Verdana"/>
                <a:cs typeface="Verdana"/>
              </a:rPr>
              <a:t>index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900" b="1" spc="5" dirty="0">
                <a:solidFill>
                  <a:srgbClr val="C00000"/>
                </a:solidFill>
                <a:latin typeface="Verdana"/>
                <a:cs typeface="Verdana"/>
              </a:rPr>
              <a:t> lot</a:t>
            </a:r>
            <a:r>
              <a:rPr sz="1900" b="1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(if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space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allows)</a:t>
            </a:r>
            <a:endParaRPr sz="1900">
              <a:latin typeface="Verdana"/>
              <a:cs typeface="Verdana"/>
            </a:endParaRPr>
          </a:p>
          <a:p>
            <a:pPr marL="273050" marR="278765">
              <a:lnSpc>
                <a:spcPct val="117900"/>
              </a:lnSpc>
              <a:spcBef>
                <a:spcPts val="25"/>
              </a:spcBef>
            </a:pP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Write-heavy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DBs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b="1" spc="10" dirty="0">
                <a:solidFill>
                  <a:srgbClr val="C00000"/>
                </a:solidFill>
                <a:latin typeface="Verdana"/>
                <a:cs typeface="Verdana"/>
              </a:rPr>
              <a:t>index</a:t>
            </a:r>
            <a:r>
              <a:rPr sz="1900" b="1" spc="5" dirty="0">
                <a:solidFill>
                  <a:srgbClr val="C00000"/>
                </a:solidFill>
                <a:latin typeface="Verdana"/>
                <a:cs typeface="Verdana"/>
              </a:rPr>
              <a:t> sparingly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(take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balanced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approach)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Write-only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DBs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b="1" spc="10" dirty="0">
                <a:solidFill>
                  <a:srgbClr val="C00000"/>
                </a:solidFill>
                <a:latin typeface="Verdana"/>
                <a:cs typeface="Verdana"/>
              </a:rPr>
              <a:t>one</a:t>
            </a:r>
            <a:r>
              <a:rPr sz="1900" b="1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spc="5" dirty="0">
                <a:solidFill>
                  <a:srgbClr val="C00000"/>
                </a:solidFill>
                <a:latin typeface="Verdana"/>
                <a:cs typeface="Verdana"/>
              </a:rPr>
              <a:t>or</a:t>
            </a:r>
            <a:r>
              <a:rPr sz="1900" b="1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spc="5" dirty="0">
                <a:solidFill>
                  <a:srgbClr val="C00000"/>
                </a:solidFill>
                <a:latin typeface="Verdana"/>
                <a:cs typeface="Verdana"/>
              </a:rPr>
              <a:t>no</a:t>
            </a:r>
            <a:r>
              <a:rPr sz="1900" b="1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spc="5" dirty="0">
                <a:solidFill>
                  <a:srgbClr val="C00000"/>
                </a:solidFill>
                <a:latin typeface="Verdana"/>
                <a:cs typeface="Verdana"/>
              </a:rPr>
              <a:t>index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88546" y="6538089"/>
            <a:ext cx="8522335" cy="518795"/>
            <a:chOff x="788546" y="6538089"/>
            <a:chExt cx="8522335" cy="518795"/>
          </a:xfrm>
        </p:grpSpPr>
        <p:sp>
          <p:nvSpPr>
            <p:cNvPr id="8" name="object 8"/>
            <p:cNvSpPr/>
            <p:nvPr/>
          </p:nvSpPr>
          <p:spPr>
            <a:xfrm>
              <a:off x="802640" y="6552182"/>
              <a:ext cx="8493760" cy="490220"/>
            </a:xfrm>
            <a:custGeom>
              <a:avLst/>
              <a:gdLst/>
              <a:ahLst/>
              <a:cxnLst/>
              <a:rect l="l" t="t" r="r" b="b"/>
              <a:pathLst>
                <a:path w="8493760" h="490220">
                  <a:moveTo>
                    <a:pt x="8412091" y="0"/>
                  </a:moveTo>
                  <a:lnTo>
                    <a:pt x="81667" y="0"/>
                  </a:lnTo>
                  <a:lnTo>
                    <a:pt x="49879" y="6417"/>
                  </a:lnTo>
                  <a:lnTo>
                    <a:pt x="23919" y="23920"/>
                  </a:lnTo>
                  <a:lnTo>
                    <a:pt x="6417" y="49879"/>
                  </a:lnTo>
                  <a:lnTo>
                    <a:pt x="0" y="81668"/>
                  </a:lnTo>
                  <a:lnTo>
                    <a:pt x="0" y="408333"/>
                  </a:lnTo>
                  <a:lnTo>
                    <a:pt x="6417" y="440122"/>
                  </a:lnTo>
                  <a:lnTo>
                    <a:pt x="23919" y="466081"/>
                  </a:lnTo>
                  <a:lnTo>
                    <a:pt x="49879" y="483584"/>
                  </a:lnTo>
                  <a:lnTo>
                    <a:pt x="81667" y="490002"/>
                  </a:lnTo>
                  <a:lnTo>
                    <a:pt x="8412091" y="490002"/>
                  </a:lnTo>
                  <a:lnTo>
                    <a:pt x="8443880" y="483584"/>
                  </a:lnTo>
                  <a:lnTo>
                    <a:pt x="8469839" y="466081"/>
                  </a:lnTo>
                  <a:lnTo>
                    <a:pt x="8487340" y="440122"/>
                  </a:lnTo>
                  <a:lnTo>
                    <a:pt x="8493758" y="408333"/>
                  </a:lnTo>
                  <a:lnTo>
                    <a:pt x="8493758" y="81668"/>
                  </a:lnTo>
                  <a:lnTo>
                    <a:pt x="8487340" y="49879"/>
                  </a:lnTo>
                  <a:lnTo>
                    <a:pt x="8469839" y="23920"/>
                  </a:lnTo>
                  <a:lnTo>
                    <a:pt x="8443880" y="6417"/>
                  </a:lnTo>
                  <a:lnTo>
                    <a:pt x="8412091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2640" y="6552182"/>
              <a:ext cx="8493760" cy="490220"/>
            </a:xfrm>
            <a:custGeom>
              <a:avLst/>
              <a:gdLst/>
              <a:ahLst/>
              <a:cxnLst/>
              <a:rect l="l" t="t" r="r" b="b"/>
              <a:pathLst>
                <a:path w="8493760" h="490220">
                  <a:moveTo>
                    <a:pt x="0" y="81668"/>
                  </a:moveTo>
                  <a:lnTo>
                    <a:pt x="6417" y="49879"/>
                  </a:lnTo>
                  <a:lnTo>
                    <a:pt x="23919" y="23920"/>
                  </a:lnTo>
                  <a:lnTo>
                    <a:pt x="49879" y="6417"/>
                  </a:lnTo>
                  <a:lnTo>
                    <a:pt x="81667" y="0"/>
                  </a:lnTo>
                  <a:lnTo>
                    <a:pt x="1415626" y="0"/>
                  </a:lnTo>
                  <a:lnTo>
                    <a:pt x="3539066" y="0"/>
                  </a:lnTo>
                  <a:lnTo>
                    <a:pt x="8412091" y="0"/>
                  </a:lnTo>
                  <a:lnTo>
                    <a:pt x="8443880" y="6417"/>
                  </a:lnTo>
                  <a:lnTo>
                    <a:pt x="8469839" y="23920"/>
                  </a:lnTo>
                  <a:lnTo>
                    <a:pt x="8487341" y="49879"/>
                  </a:lnTo>
                  <a:lnTo>
                    <a:pt x="8493759" y="81668"/>
                  </a:lnTo>
                  <a:lnTo>
                    <a:pt x="8493759" y="285830"/>
                  </a:lnTo>
                  <a:lnTo>
                    <a:pt x="8493759" y="408333"/>
                  </a:lnTo>
                  <a:lnTo>
                    <a:pt x="8487341" y="440122"/>
                  </a:lnTo>
                  <a:lnTo>
                    <a:pt x="8469839" y="466081"/>
                  </a:lnTo>
                  <a:lnTo>
                    <a:pt x="8443880" y="483584"/>
                  </a:lnTo>
                  <a:lnTo>
                    <a:pt x="8412091" y="490002"/>
                  </a:lnTo>
                  <a:lnTo>
                    <a:pt x="3539066" y="490002"/>
                  </a:lnTo>
                  <a:lnTo>
                    <a:pt x="4050159" y="490002"/>
                  </a:lnTo>
                  <a:lnTo>
                    <a:pt x="1415626" y="490002"/>
                  </a:lnTo>
                  <a:lnTo>
                    <a:pt x="81667" y="490002"/>
                  </a:lnTo>
                  <a:lnTo>
                    <a:pt x="49879" y="483584"/>
                  </a:lnTo>
                  <a:lnTo>
                    <a:pt x="23919" y="466081"/>
                  </a:lnTo>
                  <a:lnTo>
                    <a:pt x="6417" y="440122"/>
                  </a:lnTo>
                  <a:lnTo>
                    <a:pt x="0" y="408333"/>
                  </a:lnTo>
                  <a:lnTo>
                    <a:pt x="0" y="285830"/>
                  </a:lnTo>
                  <a:lnTo>
                    <a:pt x="0" y="81668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63495" y="6625335"/>
            <a:ext cx="611060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Create</a:t>
            </a:r>
            <a:r>
              <a:rPr sz="19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indices</a:t>
            </a:r>
            <a:r>
              <a:rPr sz="19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match</a:t>
            </a:r>
            <a:r>
              <a:rPr sz="19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expected</a:t>
            </a:r>
            <a:r>
              <a:rPr sz="19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query</a:t>
            </a:r>
            <a:r>
              <a:rPr sz="19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workload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4557</TotalTime>
  <Words>2964</Words>
  <Application>Microsoft Macintosh PowerPoint</Application>
  <PresentationFormat>Custom</PresentationFormat>
  <Paragraphs>494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3" baseType="lpstr">
      <vt:lpstr>ＭＳ Ｐゴシック</vt:lpstr>
      <vt:lpstr>宋体</vt:lpstr>
      <vt:lpstr>Aptos</vt:lpstr>
      <vt:lpstr>Arial</vt:lpstr>
      <vt:lpstr>Arial MT</vt:lpstr>
      <vt:lpstr>Calibri</vt:lpstr>
      <vt:lpstr>Consolas</vt:lpstr>
      <vt:lpstr>Courier New</vt:lpstr>
      <vt:lpstr>Times New Roman</vt:lpstr>
      <vt:lpstr>Trebuchet MS</vt:lpstr>
      <vt:lpstr>Verdana</vt:lpstr>
      <vt:lpstr>Wingdings</vt:lpstr>
      <vt:lpstr>Office Theme</vt:lpstr>
      <vt:lpstr>Indexing</vt:lpstr>
      <vt:lpstr>Course Announcements</vt:lpstr>
      <vt:lpstr>Indexing in a Book</vt:lpstr>
      <vt:lpstr>What is Indexing?</vt:lpstr>
      <vt:lpstr>What is Indexing?</vt:lpstr>
      <vt:lpstr>What is Indexing?</vt:lpstr>
      <vt:lpstr>Indexing in Database</vt:lpstr>
      <vt:lpstr>Indexing in Database</vt:lpstr>
      <vt:lpstr>Indexing in Database</vt:lpstr>
      <vt:lpstr>Selection of Indexes</vt:lpstr>
      <vt:lpstr>Which Indexing Technique to Use</vt:lpstr>
      <vt:lpstr>Types of File Organization Mechanism</vt:lpstr>
      <vt:lpstr>Example: Sequential File</vt:lpstr>
      <vt:lpstr>Example: Hash File</vt:lpstr>
      <vt:lpstr>Ordered Index Structures</vt:lpstr>
      <vt:lpstr>Example: Primary Index</vt:lpstr>
      <vt:lpstr>Example: Secondary Index</vt:lpstr>
      <vt:lpstr>Ordered Index</vt:lpstr>
      <vt:lpstr>Dense Index</vt:lpstr>
      <vt:lpstr>Dense Index</vt:lpstr>
      <vt:lpstr>Dense Index: Lookup</vt:lpstr>
      <vt:lpstr>Sparse Index</vt:lpstr>
      <vt:lpstr>Sparse Index: Lookup</vt:lpstr>
      <vt:lpstr>Dense Index vs. Sparse Index</vt:lpstr>
      <vt:lpstr>How to Implement: Use B+ Trees</vt:lpstr>
      <vt:lpstr>B+ Tree: Node</vt:lpstr>
      <vt:lpstr>B+-Tree Index Files</vt:lpstr>
      <vt:lpstr>B+ Trees Basics</vt:lpstr>
      <vt:lpstr>Example of B+-Tree</vt:lpstr>
      <vt:lpstr>Searching a B+ Tree</vt:lpstr>
      <vt:lpstr>B+ Tree Example</vt:lpstr>
      <vt:lpstr>Example: B+ Tree</vt:lpstr>
      <vt:lpstr>Low n vs. High n</vt:lpstr>
      <vt:lpstr>Advantages and Disadvantages</vt:lpstr>
      <vt:lpstr>Clustered vs. Unclustered Index</vt:lpstr>
      <vt:lpstr>Cost of Disk I/O Operations</vt:lpstr>
      <vt:lpstr>Cost of Disk I/O Operations</vt:lpstr>
      <vt:lpstr>Cost of Disk I/O Operations</vt:lpstr>
      <vt:lpstr>Another Scenario</vt:lpstr>
      <vt:lpstr>Wrap-Up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4750meet32-35-indexing</dc:title>
  <dc:creator>upsorn</dc:creator>
  <cp:lastModifiedBy>Farhan Tanvir</cp:lastModifiedBy>
  <cp:revision>31</cp:revision>
  <dcterms:created xsi:type="dcterms:W3CDTF">2024-10-14T03:10:58Z</dcterms:created>
  <dcterms:modified xsi:type="dcterms:W3CDTF">2026-03-30T00:48:19Z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2024-06-13T00:00:00Z</vt:filetime>
  </property>
  <property fmtid="{D5CDD505-2E9C-101B-9397-08002B2CF9AE}" pid="3" name="Creator">
    <vt:lpwstr>PowerPoint</vt:lpwstr>
  </property>
  <property fmtid="{D5CDD505-2E9C-101B-9397-08002B2CF9AE}" pid="4" name="LastSaved">
    <vt:filetime>2024-10-14T00:00:00Z</vt:filetime>
  </property>
</Properties>
</file>