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ppt/media/image5.jpg" ContentType="image/jpeg"/>
  <Override PartName="/ppt/notesSlides/notesSlide1.xml" ContentType="application/vnd.openxmlformats-officedocument.presentationml.notesSlide+xml"/>
  <Override PartName="/ppt/media/image16.jpg" ContentType="image/jpe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524" r:id="rId3"/>
    <p:sldId id="274" r:id="rId4"/>
    <p:sldId id="275" r:id="rId5"/>
    <p:sldId id="276" r:id="rId6"/>
    <p:sldId id="515" r:id="rId7"/>
    <p:sldId id="514" r:id="rId8"/>
    <p:sldId id="516" r:id="rId9"/>
    <p:sldId id="523" r:id="rId10"/>
    <p:sldId id="522" r:id="rId11"/>
    <p:sldId id="518" r:id="rId12"/>
    <p:sldId id="519" r:id="rId13"/>
    <p:sldId id="501" r:id="rId14"/>
    <p:sldId id="520" r:id="rId15"/>
    <p:sldId id="502" r:id="rId16"/>
    <p:sldId id="277" r:id="rId17"/>
    <p:sldId id="500" r:id="rId18"/>
    <p:sldId id="289" r:id="rId19"/>
    <p:sldId id="290" r:id="rId20"/>
    <p:sldId id="260" r:id="rId21"/>
    <p:sldId id="261" r:id="rId22"/>
    <p:sldId id="414" r:id="rId23"/>
    <p:sldId id="416" r:id="rId24"/>
    <p:sldId id="449" r:id="rId25"/>
    <p:sldId id="510" r:id="rId26"/>
    <p:sldId id="475" r:id="rId27"/>
    <p:sldId id="267" r:id="rId28"/>
    <p:sldId id="268" r:id="rId29"/>
    <p:sldId id="269" r:id="rId30"/>
    <p:sldId id="431" r:id="rId31"/>
    <p:sldId id="442" r:id="rId32"/>
    <p:sldId id="270" r:id="rId33"/>
    <p:sldId id="505" r:id="rId34"/>
    <p:sldId id="480" r:id="rId35"/>
    <p:sldId id="422" r:id="rId36"/>
    <p:sldId id="450" r:id="rId37"/>
    <p:sldId id="455" r:id="rId38"/>
    <p:sldId id="462" r:id="rId39"/>
    <p:sldId id="513" r:id="rId40"/>
    <p:sldId id="508" r:id="rId41"/>
    <p:sldId id="509" r:id="rId42"/>
    <p:sldId id="273" r:id="rId43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6"/>
    <p:restoredTop sz="94694"/>
  </p:normalViewPr>
  <p:slideViewPr>
    <p:cSldViewPr>
      <p:cViewPr varScale="1">
        <p:scale>
          <a:sx n="107" d="100"/>
          <a:sy n="107" d="100"/>
        </p:scale>
        <p:origin x="1576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5F14FF-7961-AE44-8BA4-25A318EFA649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3F7600-B4D5-694B-A4B9-E7402066C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54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4.1.1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6D343-ACA1-4608-B095-57E68CF0A01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04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4.1.1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B6D343-ACA1-4608-B095-57E68CF0A01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018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5" dirty="0"/>
              <a:t>Fall</a:t>
            </a:r>
            <a:r>
              <a:rPr spc="-30" dirty="0"/>
              <a:t> </a:t>
            </a:r>
            <a:r>
              <a:rPr spc="-25" dirty="0"/>
              <a:t>2023</a:t>
            </a:r>
            <a:r>
              <a:rPr spc="-4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30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</a:t>
            </a:r>
            <a:r>
              <a:rPr spc="-45" dirty="0"/>
              <a:t>P</a:t>
            </a:r>
            <a:r>
              <a:rPr spc="-30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5" dirty="0"/>
              <a:t>Fall</a:t>
            </a:r>
            <a:r>
              <a:rPr spc="-30" dirty="0"/>
              <a:t> </a:t>
            </a:r>
            <a:r>
              <a:rPr spc="-25" dirty="0"/>
              <a:t>2023</a:t>
            </a:r>
            <a:r>
              <a:rPr spc="-4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30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</a:t>
            </a:r>
            <a:r>
              <a:rPr spc="-45" dirty="0"/>
              <a:t>P</a:t>
            </a:r>
            <a:r>
              <a:rPr spc="-30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5" dirty="0"/>
              <a:t>Fall</a:t>
            </a:r>
            <a:r>
              <a:rPr spc="-30" dirty="0"/>
              <a:t> </a:t>
            </a:r>
            <a:r>
              <a:rPr spc="-25" dirty="0"/>
              <a:t>2023</a:t>
            </a:r>
            <a:r>
              <a:rPr spc="-4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30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</a:t>
            </a:r>
            <a:r>
              <a:rPr spc="-45" dirty="0"/>
              <a:t>P</a:t>
            </a:r>
            <a:r>
              <a:rPr spc="-30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5" dirty="0"/>
              <a:t>Fall</a:t>
            </a:r>
            <a:r>
              <a:rPr spc="-30" dirty="0"/>
              <a:t> </a:t>
            </a:r>
            <a:r>
              <a:rPr spc="-25" dirty="0"/>
              <a:t>2023</a:t>
            </a:r>
            <a:r>
              <a:rPr spc="-4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30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</a:t>
            </a:r>
            <a:r>
              <a:rPr spc="-45" dirty="0"/>
              <a:t>P</a:t>
            </a:r>
            <a:r>
              <a:rPr spc="-30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5" dirty="0"/>
              <a:t>Fall</a:t>
            </a:r>
            <a:r>
              <a:rPr spc="-30" dirty="0"/>
              <a:t> </a:t>
            </a:r>
            <a:r>
              <a:rPr spc="-25" dirty="0"/>
              <a:t>2023</a:t>
            </a:r>
            <a:r>
              <a:rPr spc="-4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30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</a:t>
            </a:r>
            <a:r>
              <a:rPr spc="-45" dirty="0"/>
              <a:t>P</a:t>
            </a:r>
            <a:r>
              <a:rPr spc="-30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2400" y="7251192"/>
            <a:ext cx="9753600" cy="292735"/>
          </a:xfrm>
          <a:custGeom>
            <a:avLst/>
            <a:gdLst/>
            <a:ahLst/>
            <a:cxnLst/>
            <a:rect l="l" t="t" r="r" b="b"/>
            <a:pathLst>
              <a:path w="9753600" h="292734">
                <a:moveTo>
                  <a:pt x="9753600" y="0"/>
                </a:moveTo>
                <a:lnTo>
                  <a:pt x="0" y="0"/>
                </a:lnTo>
                <a:lnTo>
                  <a:pt x="0" y="292607"/>
                </a:lnTo>
                <a:lnTo>
                  <a:pt x="9753600" y="292607"/>
                </a:lnTo>
                <a:lnTo>
                  <a:pt x="9753600" y="0"/>
                </a:lnTo>
                <a:close/>
              </a:path>
            </a:pathLst>
          </a:custGeom>
          <a:solidFill>
            <a:srgbClr val="0012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121718"/>
            <a:ext cx="9753600" cy="0"/>
          </a:xfrm>
          <a:custGeom>
            <a:avLst/>
            <a:gdLst/>
            <a:ahLst/>
            <a:cxnLst/>
            <a:rect l="l" t="t" r="r" b="b"/>
            <a:pathLst>
              <a:path w="9753600">
                <a:moveTo>
                  <a:pt x="0" y="0"/>
                </a:moveTo>
                <a:lnTo>
                  <a:pt x="9753599" y="1"/>
                </a:lnTo>
              </a:path>
            </a:pathLst>
          </a:custGeom>
          <a:ln w="30479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52400" y="228600"/>
            <a:ext cx="9753600" cy="878205"/>
          </a:xfrm>
          <a:custGeom>
            <a:avLst/>
            <a:gdLst/>
            <a:ahLst/>
            <a:cxnLst/>
            <a:rect l="l" t="t" r="r" b="b"/>
            <a:pathLst>
              <a:path w="9753600" h="878205">
                <a:moveTo>
                  <a:pt x="9753600" y="0"/>
                </a:moveTo>
                <a:lnTo>
                  <a:pt x="0" y="0"/>
                </a:lnTo>
                <a:lnTo>
                  <a:pt x="0" y="877824"/>
                </a:lnTo>
                <a:lnTo>
                  <a:pt x="9753600" y="877824"/>
                </a:lnTo>
                <a:lnTo>
                  <a:pt x="9753600" y="0"/>
                </a:lnTo>
                <a:close/>
              </a:path>
            </a:pathLst>
          </a:custGeom>
          <a:solidFill>
            <a:srgbClr val="E6E6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9565" y="335280"/>
            <a:ext cx="9399268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rgbClr val="00206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708" y="1208023"/>
            <a:ext cx="9044983" cy="530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rgbClr val="292934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8515" y="7288809"/>
            <a:ext cx="1962785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spc="-15" dirty="0"/>
              <a:t>Fall</a:t>
            </a:r>
            <a:r>
              <a:rPr spc="-30" dirty="0"/>
              <a:t> </a:t>
            </a:r>
            <a:r>
              <a:rPr spc="-25" dirty="0"/>
              <a:t>2023</a:t>
            </a:r>
            <a:r>
              <a:rPr spc="-4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20" dirty="0"/>
              <a:t>University</a:t>
            </a:r>
            <a:r>
              <a:rPr spc="-35" dirty="0"/>
              <a:t> </a:t>
            </a:r>
            <a:r>
              <a:rPr spc="-15" dirty="0"/>
              <a:t>of</a:t>
            </a:r>
            <a:r>
              <a:rPr spc="-30" dirty="0"/>
              <a:t> </a:t>
            </a:r>
            <a:r>
              <a:rPr spc="-15" dirty="0"/>
              <a:t>Virginia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438225" y="7285466"/>
            <a:ext cx="1184275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30" dirty="0"/>
              <a:t>©</a:t>
            </a:r>
            <a:r>
              <a:rPr spc="-70" dirty="0"/>
              <a:t> </a:t>
            </a:r>
            <a:r>
              <a:rPr spc="-45" dirty="0"/>
              <a:t>P</a:t>
            </a:r>
            <a:r>
              <a:rPr spc="-30" dirty="0"/>
              <a:t>r</a:t>
            </a:r>
            <a:r>
              <a:rPr spc="-130" dirty="0"/>
              <a:t>a</a:t>
            </a:r>
            <a:r>
              <a:rPr spc="-85" dirty="0"/>
              <a:t>p</a:t>
            </a:r>
            <a:r>
              <a:rPr spc="-75" dirty="0"/>
              <a:t>h</a:t>
            </a:r>
            <a:r>
              <a:rPr spc="-130" dirty="0"/>
              <a:t>a</a:t>
            </a:r>
            <a:r>
              <a:rPr spc="-90" dirty="0"/>
              <a:t>m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0" dirty="0"/>
              <a:t>t</a:t>
            </a:r>
            <a:r>
              <a:rPr spc="-5" dirty="0"/>
              <a:t>r</a:t>
            </a:r>
            <a:r>
              <a:rPr spc="-80" dirty="0"/>
              <a:t>i</a:t>
            </a:r>
            <a:r>
              <a:rPr spc="-85" dirty="0"/>
              <a:t>p</a:t>
            </a:r>
            <a:r>
              <a:rPr spc="-10" dirty="0"/>
              <a:t>o</a:t>
            </a:r>
            <a:r>
              <a:rPr spc="-75" dirty="0"/>
              <a:t>n</a:t>
            </a:r>
            <a:r>
              <a:rPr spc="-85" dirty="0"/>
              <a:t>g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549552" y="7319289"/>
            <a:ext cx="225425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CCD1D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31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86383" y="3642359"/>
            <a:ext cx="8453120" cy="0"/>
          </a:xfrm>
          <a:custGeom>
            <a:avLst/>
            <a:gdLst/>
            <a:ahLst/>
            <a:cxnLst/>
            <a:rect l="l" t="t" r="r" b="b"/>
            <a:pathLst>
              <a:path w="8453120">
                <a:moveTo>
                  <a:pt x="0" y="0"/>
                </a:moveTo>
                <a:lnTo>
                  <a:pt x="8453119" y="1"/>
                </a:lnTo>
              </a:path>
            </a:pathLst>
          </a:custGeom>
          <a:ln w="40639">
            <a:solidFill>
              <a:srgbClr val="431F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26079" y="921003"/>
            <a:ext cx="42208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80" dirty="0">
                <a:solidFill>
                  <a:srgbClr val="001279"/>
                </a:solidFill>
              </a:rPr>
              <a:t>E-R</a:t>
            </a:r>
            <a:r>
              <a:rPr sz="4600" spc="-285" dirty="0">
                <a:solidFill>
                  <a:srgbClr val="001279"/>
                </a:solidFill>
              </a:rPr>
              <a:t> </a:t>
            </a:r>
            <a:r>
              <a:rPr sz="4600" spc="-105" dirty="0">
                <a:solidFill>
                  <a:srgbClr val="001279"/>
                </a:solidFill>
              </a:rPr>
              <a:t>Diagram:</a:t>
            </a:r>
            <a:endParaRPr sz="4600"/>
          </a:p>
        </p:txBody>
      </p:sp>
      <p:sp>
        <p:nvSpPr>
          <p:cNvPr id="5" name="object 5"/>
          <p:cNvSpPr txBox="1"/>
          <p:nvPr/>
        </p:nvSpPr>
        <p:spPr>
          <a:xfrm>
            <a:off x="375919" y="1557528"/>
            <a:ext cx="9323070" cy="339344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marR="5080" indent="1583690">
              <a:lnSpc>
                <a:spcPts val="4390"/>
              </a:lnSpc>
              <a:spcBef>
                <a:spcPts val="685"/>
              </a:spcBef>
            </a:pPr>
            <a:r>
              <a:rPr sz="4100" b="1" spc="-145" dirty="0">
                <a:solidFill>
                  <a:srgbClr val="001279"/>
                </a:solidFill>
                <a:latin typeface="Verdana"/>
                <a:cs typeface="Verdana"/>
              </a:rPr>
              <a:t>R</a:t>
            </a:r>
            <a:r>
              <a:rPr sz="4100" b="1" spc="-140" dirty="0">
                <a:solidFill>
                  <a:srgbClr val="001279"/>
                </a:solidFill>
                <a:latin typeface="Verdana"/>
                <a:cs typeface="Verdana"/>
              </a:rPr>
              <a:t>o</a:t>
            </a:r>
            <a:r>
              <a:rPr sz="4100" b="1" spc="-125" dirty="0">
                <a:solidFill>
                  <a:srgbClr val="001279"/>
                </a:solidFill>
                <a:latin typeface="Verdana"/>
                <a:cs typeface="Verdana"/>
              </a:rPr>
              <a:t>l</a:t>
            </a:r>
            <a:r>
              <a:rPr sz="4100" b="1" spc="-140" dirty="0">
                <a:solidFill>
                  <a:srgbClr val="001279"/>
                </a:solidFill>
                <a:latin typeface="Verdana"/>
                <a:cs typeface="Verdana"/>
              </a:rPr>
              <a:t>e</a:t>
            </a:r>
            <a:r>
              <a:rPr sz="4100" b="1" dirty="0">
                <a:solidFill>
                  <a:srgbClr val="001279"/>
                </a:solidFill>
                <a:latin typeface="Verdana"/>
                <a:cs typeface="Verdana"/>
              </a:rPr>
              <a:t>s</a:t>
            </a:r>
            <a:r>
              <a:rPr sz="4100" b="1" spc="-265" dirty="0">
                <a:solidFill>
                  <a:srgbClr val="001279"/>
                </a:solidFill>
                <a:latin typeface="Verdana"/>
                <a:cs typeface="Verdana"/>
              </a:rPr>
              <a:t> </a:t>
            </a:r>
            <a:r>
              <a:rPr sz="4100" b="1" spc="-125" dirty="0">
                <a:solidFill>
                  <a:srgbClr val="001279"/>
                </a:solidFill>
                <a:latin typeface="Verdana"/>
                <a:cs typeface="Verdana"/>
              </a:rPr>
              <a:t>i</a:t>
            </a:r>
            <a:r>
              <a:rPr sz="4100" b="1" dirty="0">
                <a:solidFill>
                  <a:srgbClr val="001279"/>
                </a:solidFill>
                <a:latin typeface="Verdana"/>
                <a:cs typeface="Verdana"/>
              </a:rPr>
              <a:t>n</a:t>
            </a:r>
            <a:r>
              <a:rPr sz="4100" b="1" spc="-254" dirty="0">
                <a:solidFill>
                  <a:srgbClr val="001279"/>
                </a:solidFill>
                <a:latin typeface="Verdana"/>
                <a:cs typeface="Verdana"/>
              </a:rPr>
              <a:t> </a:t>
            </a:r>
            <a:r>
              <a:rPr sz="4100" b="1" spc="-135" dirty="0">
                <a:solidFill>
                  <a:srgbClr val="001279"/>
                </a:solidFill>
                <a:latin typeface="Verdana"/>
                <a:cs typeface="Verdana"/>
              </a:rPr>
              <a:t>r</a:t>
            </a:r>
            <a:r>
              <a:rPr sz="4100" b="1" spc="-140" dirty="0">
                <a:solidFill>
                  <a:srgbClr val="001279"/>
                </a:solidFill>
                <a:latin typeface="Verdana"/>
                <a:cs typeface="Verdana"/>
              </a:rPr>
              <a:t>e</a:t>
            </a:r>
            <a:r>
              <a:rPr sz="4100" b="1" spc="-125" dirty="0">
                <a:solidFill>
                  <a:srgbClr val="001279"/>
                </a:solidFill>
                <a:latin typeface="Verdana"/>
                <a:cs typeface="Verdana"/>
              </a:rPr>
              <a:t>l</a:t>
            </a:r>
            <a:r>
              <a:rPr sz="4100" b="1" spc="-140" dirty="0">
                <a:solidFill>
                  <a:srgbClr val="001279"/>
                </a:solidFill>
                <a:latin typeface="Verdana"/>
                <a:cs typeface="Verdana"/>
              </a:rPr>
              <a:t>at</a:t>
            </a:r>
            <a:r>
              <a:rPr sz="4100" b="1" spc="-125" dirty="0">
                <a:solidFill>
                  <a:srgbClr val="001279"/>
                </a:solidFill>
                <a:latin typeface="Verdana"/>
                <a:cs typeface="Verdana"/>
              </a:rPr>
              <a:t>i</a:t>
            </a:r>
            <a:r>
              <a:rPr sz="4100" b="1" spc="-135" dirty="0">
                <a:solidFill>
                  <a:srgbClr val="001279"/>
                </a:solidFill>
                <a:latin typeface="Verdana"/>
                <a:cs typeface="Verdana"/>
              </a:rPr>
              <a:t>on</a:t>
            </a:r>
            <a:r>
              <a:rPr sz="4100" b="1" spc="-145" dirty="0">
                <a:solidFill>
                  <a:srgbClr val="001279"/>
                </a:solidFill>
                <a:latin typeface="Verdana"/>
                <a:cs typeface="Verdana"/>
              </a:rPr>
              <a:t>s</a:t>
            </a:r>
            <a:r>
              <a:rPr sz="4100" b="1" spc="-135" dirty="0">
                <a:solidFill>
                  <a:srgbClr val="001279"/>
                </a:solidFill>
                <a:latin typeface="Verdana"/>
                <a:cs typeface="Verdana"/>
              </a:rPr>
              <a:t>h</a:t>
            </a:r>
            <a:r>
              <a:rPr sz="4100" b="1" spc="-125" dirty="0">
                <a:solidFill>
                  <a:srgbClr val="001279"/>
                </a:solidFill>
                <a:latin typeface="Verdana"/>
                <a:cs typeface="Verdana"/>
              </a:rPr>
              <a:t>i</a:t>
            </a:r>
            <a:r>
              <a:rPr sz="4100" b="1" spc="-135" dirty="0">
                <a:solidFill>
                  <a:srgbClr val="001279"/>
                </a:solidFill>
                <a:latin typeface="Verdana"/>
                <a:cs typeface="Verdana"/>
              </a:rPr>
              <a:t>p</a:t>
            </a:r>
            <a:r>
              <a:rPr sz="4100" b="1" spc="-145" dirty="0">
                <a:solidFill>
                  <a:srgbClr val="001279"/>
                </a:solidFill>
                <a:latin typeface="Verdana"/>
                <a:cs typeface="Verdana"/>
              </a:rPr>
              <a:t>s,  </a:t>
            </a:r>
            <a:r>
              <a:rPr sz="4100" b="1" spc="-140" dirty="0">
                <a:solidFill>
                  <a:srgbClr val="001279"/>
                </a:solidFill>
                <a:latin typeface="Verdana"/>
                <a:cs typeface="Verdana"/>
              </a:rPr>
              <a:t>B</a:t>
            </a:r>
            <a:r>
              <a:rPr sz="4100" b="1" spc="-120" dirty="0">
                <a:solidFill>
                  <a:srgbClr val="001279"/>
                </a:solidFill>
                <a:latin typeface="Verdana"/>
                <a:cs typeface="Verdana"/>
              </a:rPr>
              <a:t>i</a:t>
            </a:r>
            <a:r>
              <a:rPr sz="4100" b="1" spc="-135" dirty="0">
                <a:solidFill>
                  <a:srgbClr val="001279"/>
                </a:solidFill>
                <a:latin typeface="Verdana"/>
                <a:cs typeface="Verdana"/>
              </a:rPr>
              <a:t>n</a:t>
            </a:r>
            <a:r>
              <a:rPr sz="4100" b="1" spc="-140" dirty="0">
                <a:solidFill>
                  <a:srgbClr val="001279"/>
                </a:solidFill>
                <a:latin typeface="Verdana"/>
                <a:cs typeface="Verdana"/>
              </a:rPr>
              <a:t>a</a:t>
            </a:r>
            <a:r>
              <a:rPr sz="4100" b="1" spc="-130" dirty="0">
                <a:solidFill>
                  <a:srgbClr val="001279"/>
                </a:solidFill>
                <a:latin typeface="Verdana"/>
                <a:cs typeface="Verdana"/>
              </a:rPr>
              <a:t>r</a:t>
            </a:r>
            <a:r>
              <a:rPr sz="4100" b="1" dirty="0">
                <a:solidFill>
                  <a:srgbClr val="001279"/>
                </a:solidFill>
                <a:latin typeface="Verdana"/>
                <a:cs typeface="Verdana"/>
              </a:rPr>
              <a:t>y</a:t>
            </a:r>
            <a:r>
              <a:rPr sz="4100" b="1" spc="-260" dirty="0">
                <a:solidFill>
                  <a:srgbClr val="001279"/>
                </a:solidFill>
                <a:latin typeface="Verdana"/>
                <a:cs typeface="Verdana"/>
              </a:rPr>
              <a:t> </a:t>
            </a:r>
            <a:r>
              <a:rPr sz="4100" b="1" spc="-135" dirty="0">
                <a:solidFill>
                  <a:srgbClr val="001279"/>
                </a:solidFill>
                <a:latin typeface="Verdana"/>
                <a:cs typeface="Verdana"/>
              </a:rPr>
              <a:t>v</a:t>
            </a:r>
            <a:r>
              <a:rPr sz="4100" b="1" spc="-140" dirty="0">
                <a:solidFill>
                  <a:srgbClr val="001279"/>
                </a:solidFill>
                <a:latin typeface="Verdana"/>
                <a:cs typeface="Verdana"/>
              </a:rPr>
              <a:t>s</a:t>
            </a:r>
            <a:r>
              <a:rPr sz="4100" b="1" dirty="0">
                <a:solidFill>
                  <a:srgbClr val="001279"/>
                </a:solidFill>
                <a:latin typeface="Verdana"/>
                <a:cs typeface="Verdana"/>
              </a:rPr>
              <a:t>.</a:t>
            </a:r>
            <a:r>
              <a:rPr sz="4100" b="1" spc="-245" dirty="0">
                <a:solidFill>
                  <a:srgbClr val="001279"/>
                </a:solidFill>
                <a:latin typeface="Verdana"/>
                <a:cs typeface="Verdana"/>
              </a:rPr>
              <a:t> </a:t>
            </a:r>
            <a:r>
              <a:rPr sz="4100" b="1" spc="-155" dirty="0">
                <a:solidFill>
                  <a:srgbClr val="001279"/>
                </a:solidFill>
                <a:latin typeface="Verdana"/>
                <a:cs typeface="Verdana"/>
              </a:rPr>
              <a:t>M</a:t>
            </a:r>
            <a:r>
              <a:rPr sz="4100" b="1" spc="-135" dirty="0">
                <a:solidFill>
                  <a:srgbClr val="001279"/>
                </a:solidFill>
                <a:latin typeface="Verdana"/>
                <a:cs typeface="Verdana"/>
              </a:rPr>
              <a:t>u</a:t>
            </a:r>
            <a:r>
              <a:rPr sz="4100" b="1" spc="-125" dirty="0">
                <a:solidFill>
                  <a:srgbClr val="001279"/>
                </a:solidFill>
                <a:latin typeface="Verdana"/>
                <a:cs typeface="Verdana"/>
              </a:rPr>
              <a:t>l</a:t>
            </a:r>
            <a:r>
              <a:rPr sz="4100" b="1" spc="-140" dirty="0">
                <a:solidFill>
                  <a:srgbClr val="001279"/>
                </a:solidFill>
                <a:latin typeface="Verdana"/>
                <a:cs typeface="Verdana"/>
              </a:rPr>
              <a:t>t</a:t>
            </a:r>
            <a:r>
              <a:rPr sz="4100" b="1" spc="-130" dirty="0">
                <a:solidFill>
                  <a:srgbClr val="001279"/>
                </a:solidFill>
                <a:latin typeface="Verdana"/>
                <a:cs typeface="Verdana"/>
              </a:rPr>
              <a:t>i-</a:t>
            </a:r>
            <a:r>
              <a:rPr sz="4100" b="1" spc="-150" dirty="0">
                <a:solidFill>
                  <a:srgbClr val="001279"/>
                </a:solidFill>
                <a:latin typeface="Verdana"/>
                <a:cs typeface="Verdana"/>
              </a:rPr>
              <a:t>w</a:t>
            </a:r>
            <a:r>
              <a:rPr sz="4100" b="1" spc="-145" dirty="0">
                <a:solidFill>
                  <a:srgbClr val="001279"/>
                </a:solidFill>
                <a:latin typeface="Verdana"/>
                <a:cs typeface="Verdana"/>
              </a:rPr>
              <a:t>a</a:t>
            </a:r>
            <a:r>
              <a:rPr sz="4100" b="1" dirty="0">
                <a:solidFill>
                  <a:srgbClr val="001279"/>
                </a:solidFill>
                <a:latin typeface="Verdana"/>
                <a:cs typeface="Verdana"/>
              </a:rPr>
              <a:t>y</a:t>
            </a:r>
            <a:r>
              <a:rPr sz="4100" b="1" spc="-260" dirty="0">
                <a:solidFill>
                  <a:srgbClr val="001279"/>
                </a:solidFill>
                <a:latin typeface="Verdana"/>
                <a:cs typeface="Verdana"/>
              </a:rPr>
              <a:t> </a:t>
            </a:r>
            <a:r>
              <a:rPr sz="4100" b="1" spc="-135" dirty="0">
                <a:solidFill>
                  <a:srgbClr val="001279"/>
                </a:solidFill>
                <a:latin typeface="Verdana"/>
                <a:cs typeface="Verdana"/>
              </a:rPr>
              <a:t>r</a:t>
            </a:r>
            <a:r>
              <a:rPr sz="4100" b="1" spc="-140" dirty="0">
                <a:solidFill>
                  <a:srgbClr val="001279"/>
                </a:solidFill>
                <a:latin typeface="Verdana"/>
                <a:cs typeface="Verdana"/>
              </a:rPr>
              <a:t>e</a:t>
            </a:r>
            <a:r>
              <a:rPr sz="4100" b="1" spc="-125" dirty="0">
                <a:solidFill>
                  <a:srgbClr val="001279"/>
                </a:solidFill>
                <a:latin typeface="Verdana"/>
                <a:cs typeface="Verdana"/>
              </a:rPr>
              <a:t>l</a:t>
            </a:r>
            <a:r>
              <a:rPr sz="4100" b="1" spc="-140" dirty="0">
                <a:solidFill>
                  <a:srgbClr val="001279"/>
                </a:solidFill>
                <a:latin typeface="Verdana"/>
                <a:cs typeface="Verdana"/>
              </a:rPr>
              <a:t>a</a:t>
            </a:r>
            <a:r>
              <a:rPr sz="4100" b="1" spc="-135" dirty="0">
                <a:solidFill>
                  <a:srgbClr val="001279"/>
                </a:solidFill>
                <a:latin typeface="Verdana"/>
                <a:cs typeface="Verdana"/>
              </a:rPr>
              <a:t>t</a:t>
            </a:r>
            <a:r>
              <a:rPr sz="4100" b="1" spc="-125" dirty="0">
                <a:solidFill>
                  <a:srgbClr val="001279"/>
                </a:solidFill>
                <a:latin typeface="Verdana"/>
                <a:cs typeface="Verdana"/>
              </a:rPr>
              <a:t>i</a:t>
            </a:r>
            <a:r>
              <a:rPr sz="4100" b="1" spc="-135" dirty="0">
                <a:solidFill>
                  <a:srgbClr val="001279"/>
                </a:solidFill>
                <a:latin typeface="Verdana"/>
                <a:cs typeface="Verdana"/>
              </a:rPr>
              <a:t>on</a:t>
            </a:r>
            <a:r>
              <a:rPr sz="4100" b="1" spc="-145" dirty="0">
                <a:solidFill>
                  <a:srgbClr val="001279"/>
                </a:solidFill>
                <a:latin typeface="Verdana"/>
                <a:cs typeface="Verdana"/>
              </a:rPr>
              <a:t>s</a:t>
            </a:r>
            <a:r>
              <a:rPr sz="4100" b="1" spc="-135" dirty="0">
                <a:solidFill>
                  <a:srgbClr val="001279"/>
                </a:solidFill>
                <a:latin typeface="Verdana"/>
                <a:cs typeface="Verdana"/>
              </a:rPr>
              <a:t>h</a:t>
            </a:r>
            <a:r>
              <a:rPr sz="4100" b="1" spc="-125" dirty="0">
                <a:solidFill>
                  <a:srgbClr val="001279"/>
                </a:solidFill>
                <a:latin typeface="Verdana"/>
                <a:cs typeface="Verdana"/>
              </a:rPr>
              <a:t>i</a:t>
            </a:r>
            <a:r>
              <a:rPr sz="4100" b="1" spc="-135" dirty="0">
                <a:solidFill>
                  <a:srgbClr val="001279"/>
                </a:solidFill>
                <a:latin typeface="Verdana"/>
                <a:cs typeface="Verdana"/>
              </a:rPr>
              <a:t>p</a:t>
            </a:r>
            <a:r>
              <a:rPr sz="4100" b="1" dirty="0">
                <a:solidFill>
                  <a:srgbClr val="001279"/>
                </a:solidFill>
                <a:latin typeface="Verdana"/>
                <a:cs typeface="Verdana"/>
              </a:rPr>
              <a:t>,</a:t>
            </a:r>
            <a:endParaRPr sz="4100">
              <a:latin typeface="Verdana"/>
              <a:cs typeface="Verdana"/>
            </a:endParaRPr>
          </a:p>
          <a:p>
            <a:pPr marL="2989580">
              <a:lnSpc>
                <a:spcPts val="4335"/>
              </a:lnSpc>
            </a:pPr>
            <a:r>
              <a:rPr sz="4100" b="1" spc="-160" dirty="0">
                <a:solidFill>
                  <a:srgbClr val="001279"/>
                </a:solidFill>
                <a:latin typeface="Verdana"/>
                <a:cs typeface="Verdana"/>
              </a:rPr>
              <a:t>W</a:t>
            </a:r>
            <a:r>
              <a:rPr sz="4100" b="1" spc="-140" dirty="0">
                <a:solidFill>
                  <a:srgbClr val="001279"/>
                </a:solidFill>
                <a:latin typeface="Verdana"/>
                <a:cs typeface="Verdana"/>
              </a:rPr>
              <a:t>ea</a:t>
            </a:r>
            <a:r>
              <a:rPr sz="4100" b="1" dirty="0">
                <a:solidFill>
                  <a:srgbClr val="001279"/>
                </a:solidFill>
                <a:latin typeface="Verdana"/>
                <a:cs typeface="Verdana"/>
              </a:rPr>
              <a:t>k</a:t>
            </a:r>
            <a:r>
              <a:rPr sz="4100" b="1" spc="-260" dirty="0">
                <a:solidFill>
                  <a:srgbClr val="001279"/>
                </a:solidFill>
                <a:latin typeface="Verdana"/>
                <a:cs typeface="Verdana"/>
              </a:rPr>
              <a:t> </a:t>
            </a:r>
            <a:r>
              <a:rPr sz="4100" b="1" spc="-135" dirty="0">
                <a:solidFill>
                  <a:srgbClr val="001279"/>
                </a:solidFill>
                <a:latin typeface="Verdana"/>
                <a:cs typeface="Verdana"/>
              </a:rPr>
              <a:t>e</a:t>
            </a:r>
            <a:r>
              <a:rPr sz="4100" b="1" spc="-140" dirty="0">
                <a:solidFill>
                  <a:srgbClr val="001279"/>
                </a:solidFill>
                <a:latin typeface="Verdana"/>
                <a:cs typeface="Verdana"/>
              </a:rPr>
              <a:t>nt</a:t>
            </a:r>
            <a:r>
              <a:rPr sz="4100" b="1" spc="-125" dirty="0">
                <a:solidFill>
                  <a:srgbClr val="001279"/>
                </a:solidFill>
                <a:latin typeface="Verdana"/>
                <a:cs typeface="Verdana"/>
              </a:rPr>
              <a:t>i</a:t>
            </a:r>
            <a:r>
              <a:rPr sz="4100" b="1" spc="-140" dirty="0">
                <a:solidFill>
                  <a:srgbClr val="001279"/>
                </a:solidFill>
                <a:latin typeface="Verdana"/>
                <a:cs typeface="Verdana"/>
              </a:rPr>
              <a:t>t</a:t>
            </a:r>
            <a:r>
              <a:rPr sz="4100" b="1" dirty="0">
                <a:solidFill>
                  <a:srgbClr val="001279"/>
                </a:solidFill>
                <a:latin typeface="Verdana"/>
                <a:cs typeface="Verdana"/>
              </a:rPr>
              <a:t>y</a:t>
            </a:r>
            <a:endParaRPr sz="4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750">
              <a:latin typeface="Verdana"/>
              <a:cs typeface="Verdana"/>
            </a:endParaRPr>
          </a:p>
          <a:p>
            <a:pPr algn="ctr">
              <a:lnSpc>
                <a:spcPts val="4115"/>
              </a:lnSpc>
            </a:pPr>
            <a:r>
              <a:rPr sz="3600" b="1" spc="-45" dirty="0">
                <a:solidFill>
                  <a:srgbClr val="292934"/>
                </a:solidFill>
                <a:latin typeface="Verdana"/>
                <a:cs typeface="Verdana"/>
              </a:rPr>
              <a:t>CS</a:t>
            </a:r>
            <a:r>
              <a:rPr sz="3600" b="1" spc="-229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3600" b="1" spc="-75" dirty="0">
                <a:solidFill>
                  <a:srgbClr val="292934"/>
                </a:solidFill>
                <a:latin typeface="Verdana"/>
                <a:cs typeface="Verdana"/>
              </a:rPr>
              <a:t>4750</a:t>
            </a:r>
            <a:endParaRPr sz="3600">
              <a:latin typeface="Verdana"/>
              <a:cs typeface="Verdana"/>
            </a:endParaRPr>
          </a:p>
          <a:p>
            <a:pPr algn="ctr">
              <a:lnSpc>
                <a:spcPts val="4115"/>
              </a:lnSpc>
            </a:pPr>
            <a:r>
              <a:rPr sz="3600" b="1" spc="-8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3600" b="1" spc="-2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3600" b="1" spc="-80" dirty="0">
                <a:solidFill>
                  <a:srgbClr val="292934"/>
                </a:solidFill>
                <a:latin typeface="Verdana"/>
                <a:cs typeface="Verdana"/>
              </a:rPr>
              <a:t>Systems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58231" y="6633464"/>
            <a:ext cx="7630795" cy="561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4530" marR="5080" indent="-1942464">
              <a:lnSpc>
                <a:spcPct val="117300"/>
              </a:lnSpc>
              <a:spcBef>
                <a:spcPts val="100"/>
              </a:spcBef>
            </a:pPr>
            <a:r>
              <a:rPr sz="1500" spc="5" dirty="0">
                <a:solidFill>
                  <a:srgbClr val="002060"/>
                </a:solidFill>
                <a:latin typeface="Verdana"/>
                <a:cs typeface="Verdana"/>
              </a:rPr>
              <a:t>[A.</a:t>
            </a:r>
            <a:r>
              <a:rPr sz="1500" spc="15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002060"/>
                </a:solidFill>
                <a:latin typeface="Verdana"/>
                <a:cs typeface="Verdana"/>
              </a:rPr>
              <a:t>Silberschatz,</a:t>
            </a:r>
            <a:r>
              <a:rPr sz="1500" spc="15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H.</a:t>
            </a:r>
            <a:r>
              <a:rPr sz="1500" spc="20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spc="-110" dirty="0">
                <a:solidFill>
                  <a:srgbClr val="002060"/>
                </a:solidFill>
                <a:latin typeface="Verdana"/>
                <a:cs typeface="Verdana"/>
              </a:rPr>
              <a:t>F.</a:t>
            </a:r>
            <a:r>
              <a:rPr sz="1500" spc="10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02060"/>
                </a:solidFill>
                <a:latin typeface="Verdana"/>
                <a:cs typeface="Verdana"/>
              </a:rPr>
              <a:t>Korth,</a:t>
            </a:r>
            <a:r>
              <a:rPr sz="1500" spc="15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02060"/>
                </a:solidFill>
                <a:latin typeface="Verdana"/>
                <a:cs typeface="Verdana"/>
              </a:rPr>
              <a:t>S.</a:t>
            </a:r>
            <a:r>
              <a:rPr sz="1500" spc="20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Sudarshan,</a:t>
            </a:r>
            <a:r>
              <a:rPr sz="1500" spc="15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Database</a:t>
            </a:r>
            <a:r>
              <a:rPr sz="1500" spc="10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System</a:t>
            </a:r>
            <a:r>
              <a:rPr sz="1500" spc="10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Concepts,</a:t>
            </a:r>
            <a:r>
              <a:rPr sz="1500" spc="15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2060"/>
                </a:solidFill>
                <a:latin typeface="Verdana"/>
                <a:cs typeface="Verdana"/>
              </a:rPr>
              <a:t>Ch.6] </a:t>
            </a:r>
            <a:r>
              <a:rPr sz="1500" spc="-509" dirty="0">
                <a:solidFill>
                  <a:srgbClr val="00206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[C.M.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Ricardo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 S.D.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Urban,</a:t>
            </a: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5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Illuminated,</a:t>
            </a:r>
            <a:r>
              <a:rPr sz="15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92934"/>
                </a:solidFill>
                <a:latin typeface="Verdana"/>
                <a:cs typeface="Verdana"/>
              </a:rPr>
              <a:t>Ch.3]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9B68-54BD-5893-9A45-3D26173A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TA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81D2F-A0E6-9F10-AAF3-D81982A8D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6708" y="1208023"/>
            <a:ext cx="9044983" cy="1477328"/>
          </a:xfrm>
        </p:spPr>
        <p:txBody>
          <a:bodyPr/>
          <a:lstStyle/>
          <a:p>
            <a:pPr rtl="0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Truong Le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Email:</a:t>
            </a:r>
            <a:r>
              <a:rPr lang="en-US" altLang="en-US" sz="2400" b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sle22@student.gsu.edu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ffice hours: </a:t>
            </a:r>
            <a:r>
              <a:rPr lang="en-US" altLang="en-US" sz="2400" b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Wednesday 12pm-2pm (it can be online or face-to-face at Cubicle 639/640)</a:t>
            </a:r>
            <a:endParaRPr lang="en-US" altLang="en-US" sz="2000" b="0" dirty="0">
              <a:solidFill>
                <a:srgbClr val="24242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5B53D60-F00B-8CA1-1192-B8A33A2A7DC6}"/>
              </a:ext>
            </a:extLst>
          </p:cNvPr>
          <p:cNvSpPr txBox="1">
            <a:spLocks/>
          </p:cNvSpPr>
          <p:nvPr/>
        </p:nvSpPr>
        <p:spPr>
          <a:xfrm>
            <a:off x="506708" y="1208023"/>
            <a:ext cx="9044983" cy="6463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100" b="1" i="0">
                <a:solidFill>
                  <a:srgbClr val="292934"/>
                </a:solidFill>
                <a:latin typeface="Verdana"/>
                <a:ea typeface="+mn-ea"/>
                <a:cs typeface="Verdan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rtl="0"/>
            <a:endParaRPr lang="en-US" kern="0" dirty="0">
              <a:solidFill>
                <a:schemeClr val="tx1"/>
              </a:solidFill>
            </a:endParaRPr>
          </a:p>
          <a:p>
            <a:endParaRPr lang="en-US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13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7460" y="319023"/>
            <a:ext cx="753935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Entity-</a:t>
            </a:r>
            <a:r>
              <a:rPr spc="-135" dirty="0">
                <a:solidFill>
                  <a:srgbClr val="292934"/>
                </a:solidFill>
              </a:rPr>
              <a:t>Relationship</a:t>
            </a:r>
            <a:r>
              <a:rPr spc="-114" dirty="0">
                <a:solidFill>
                  <a:srgbClr val="292934"/>
                </a:solidFill>
              </a:rPr>
              <a:t> </a:t>
            </a:r>
            <a:r>
              <a:rPr spc="-55" dirty="0">
                <a:solidFill>
                  <a:srgbClr val="292934"/>
                </a:solidFill>
              </a:rPr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815" y="1211071"/>
            <a:ext cx="9103360" cy="67818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07645" marR="5080" indent="-195580">
              <a:lnSpc>
                <a:spcPct val="103800"/>
              </a:lnSpc>
              <a:spcBef>
                <a:spcPts val="5"/>
              </a:spcBef>
              <a:buClr>
                <a:srgbClr val="292934"/>
              </a:buClr>
              <a:buSzPct val="85714"/>
              <a:buFont typeface="Arial MT"/>
              <a:buChar char="•"/>
              <a:tabLst>
                <a:tab pos="207645" algn="l"/>
              </a:tabLst>
            </a:pP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E-R</a:t>
            </a:r>
            <a:r>
              <a:rPr sz="2100" b="1" spc="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b="1" dirty="0">
                <a:solidFill>
                  <a:srgbClr val="C00000"/>
                </a:solidFill>
                <a:latin typeface="Verdana"/>
                <a:cs typeface="Verdana"/>
              </a:rPr>
              <a:t>diagram</a:t>
            </a:r>
            <a:r>
              <a:rPr sz="2100" b="1" spc="9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high-level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design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representing</a:t>
            </a:r>
            <a:r>
              <a:rPr sz="21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database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as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collection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of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entities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and</a:t>
            </a:r>
            <a:r>
              <a:rPr sz="2100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relationships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among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entities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1867" y="2526939"/>
            <a:ext cx="7561816" cy="35613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02232" y="3575303"/>
            <a:ext cx="748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7330" y="3575303"/>
            <a:ext cx="90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6809" y="3581400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21688" y="2947415"/>
            <a:ext cx="313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pid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89852" y="2633471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00818" y="2642615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44462" y="4892040"/>
            <a:ext cx="687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38202" y="4367784"/>
            <a:ext cx="4826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buys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03977" y="5629655"/>
            <a:ext cx="192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46662" y="5693664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58990" y="4367784"/>
            <a:ext cx="916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works-</a:t>
            </a: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08778" y="2892552"/>
            <a:ext cx="1072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61024" y="2636520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51308" y="5535167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1603" y="1231127"/>
            <a:ext cx="9247505" cy="3183255"/>
            <a:chOff x="391603" y="1231127"/>
            <a:chExt cx="9247505" cy="3183255"/>
          </a:xfrm>
        </p:grpSpPr>
        <p:sp>
          <p:nvSpPr>
            <p:cNvPr id="3" name="object 3"/>
            <p:cNvSpPr/>
            <p:nvPr/>
          </p:nvSpPr>
          <p:spPr>
            <a:xfrm>
              <a:off x="406843" y="1246367"/>
              <a:ext cx="9217025" cy="3152775"/>
            </a:xfrm>
            <a:custGeom>
              <a:avLst/>
              <a:gdLst/>
              <a:ahLst/>
              <a:cxnLst/>
              <a:rect l="l" t="t" r="r" b="b"/>
              <a:pathLst>
                <a:path w="9217025" h="3152775">
                  <a:moveTo>
                    <a:pt x="8691053" y="0"/>
                  </a:moveTo>
                  <a:lnTo>
                    <a:pt x="525389" y="0"/>
                  </a:lnTo>
                  <a:lnTo>
                    <a:pt x="477568" y="2147"/>
                  </a:lnTo>
                  <a:lnTo>
                    <a:pt x="430950" y="8464"/>
                  </a:lnTo>
                  <a:lnTo>
                    <a:pt x="385720" y="18767"/>
                  </a:lnTo>
                  <a:lnTo>
                    <a:pt x="342064" y="32869"/>
                  </a:lnTo>
                  <a:lnTo>
                    <a:pt x="300167" y="50585"/>
                  </a:lnTo>
                  <a:lnTo>
                    <a:pt x="260215" y="71730"/>
                  </a:lnTo>
                  <a:lnTo>
                    <a:pt x="222393" y="96119"/>
                  </a:lnTo>
                  <a:lnTo>
                    <a:pt x="186887" y="123564"/>
                  </a:lnTo>
                  <a:lnTo>
                    <a:pt x="153883" y="153882"/>
                  </a:lnTo>
                  <a:lnTo>
                    <a:pt x="123565" y="186887"/>
                  </a:lnTo>
                  <a:lnTo>
                    <a:pt x="96119" y="222393"/>
                  </a:lnTo>
                  <a:lnTo>
                    <a:pt x="71731" y="260215"/>
                  </a:lnTo>
                  <a:lnTo>
                    <a:pt x="50586" y="300167"/>
                  </a:lnTo>
                  <a:lnTo>
                    <a:pt x="32869" y="342064"/>
                  </a:lnTo>
                  <a:lnTo>
                    <a:pt x="18767" y="385720"/>
                  </a:lnTo>
                  <a:lnTo>
                    <a:pt x="8464" y="430950"/>
                  </a:lnTo>
                  <a:lnTo>
                    <a:pt x="2147" y="477568"/>
                  </a:lnTo>
                  <a:lnTo>
                    <a:pt x="0" y="525390"/>
                  </a:lnTo>
                  <a:lnTo>
                    <a:pt x="0" y="2626859"/>
                  </a:lnTo>
                  <a:lnTo>
                    <a:pt x="2147" y="2674680"/>
                  </a:lnTo>
                  <a:lnTo>
                    <a:pt x="8464" y="2721298"/>
                  </a:lnTo>
                  <a:lnTo>
                    <a:pt x="18767" y="2766528"/>
                  </a:lnTo>
                  <a:lnTo>
                    <a:pt x="32869" y="2810184"/>
                  </a:lnTo>
                  <a:lnTo>
                    <a:pt x="50586" y="2852081"/>
                  </a:lnTo>
                  <a:lnTo>
                    <a:pt x="71731" y="2892033"/>
                  </a:lnTo>
                  <a:lnTo>
                    <a:pt x="96119" y="2929855"/>
                  </a:lnTo>
                  <a:lnTo>
                    <a:pt x="123565" y="2965361"/>
                  </a:lnTo>
                  <a:lnTo>
                    <a:pt x="153883" y="2998365"/>
                  </a:lnTo>
                  <a:lnTo>
                    <a:pt x="186887" y="3028683"/>
                  </a:lnTo>
                  <a:lnTo>
                    <a:pt x="222393" y="3056129"/>
                  </a:lnTo>
                  <a:lnTo>
                    <a:pt x="260215" y="3080517"/>
                  </a:lnTo>
                  <a:lnTo>
                    <a:pt x="300167" y="3101663"/>
                  </a:lnTo>
                  <a:lnTo>
                    <a:pt x="342064" y="3119379"/>
                  </a:lnTo>
                  <a:lnTo>
                    <a:pt x="385720" y="3133481"/>
                  </a:lnTo>
                  <a:lnTo>
                    <a:pt x="430950" y="3143784"/>
                  </a:lnTo>
                  <a:lnTo>
                    <a:pt x="477568" y="3150102"/>
                  </a:lnTo>
                  <a:lnTo>
                    <a:pt x="525389" y="3152249"/>
                  </a:lnTo>
                  <a:lnTo>
                    <a:pt x="8691053" y="3152249"/>
                  </a:lnTo>
                  <a:lnTo>
                    <a:pt x="8738875" y="3150102"/>
                  </a:lnTo>
                  <a:lnTo>
                    <a:pt x="8785493" y="3143784"/>
                  </a:lnTo>
                  <a:lnTo>
                    <a:pt x="8830723" y="3133481"/>
                  </a:lnTo>
                  <a:lnTo>
                    <a:pt x="8874379" y="3119379"/>
                  </a:lnTo>
                  <a:lnTo>
                    <a:pt x="8916276" y="3101663"/>
                  </a:lnTo>
                  <a:lnTo>
                    <a:pt x="8956227" y="3080517"/>
                  </a:lnTo>
                  <a:lnTo>
                    <a:pt x="8994049" y="3056129"/>
                  </a:lnTo>
                  <a:lnTo>
                    <a:pt x="9029555" y="3028683"/>
                  </a:lnTo>
                  <a:lnTo>
                    <a:pt x="9062560" y="2998365"/>
                  </a:lnTo>
                  <a:lnTo>
                    <a:pt x="9092878" y="2965361"/>
                  </a:lnTo>
                  <a:lnTo>
                    <a:pt x="9120323" y="2929855"/>
                  </a:lnTo>
                  <a:lnTo>
                    <a:pt x="9144711" y="2892033"/>
                  </a:lnTo>
                  <a:lnTo>
                    <a:pt x="9165856" y="2852081"/>
                  </a:lnTo>
                  <a:lnTo>
                    <a:pt x="9183573" y="2810184"/>
                  </a:lnTo>
                  <a:lnTo>
                    <a:pt x="9197675" y="2766528"/>
                  </a:lnTo>
                  <a:lnTo>
                    <a:pt x="9207978" y="2721298"/>
                  </a:lnTo>
                  <a:lnTo>
                    <a:pt x="9214295" y="2674680"/>
                  </a:lnTo>
                  <a:lnTo>
                    <a:pt x="9216442" y="2626859"/>
                  </a:lnTo>
                  <a:lnTo>
                    <a:pt x="9216442" y="525390"/>
                  </a:lnTo>
                  <a:lnTo>
                    <a:pt x="9214295" y="477568"/>
                  </a:lnTo>
                  <a:lnTo>
                    <a:pt x="9207978" y="430950"/>
                  </a:lnTo>
                  <a:lnTo>
                    <a:pt x="9197675" y="385720"/>
                  </a:lnTo>
                  <a:lnTo>
                    <a:pt x="9183573" y="342064"/>
                  </a:lnTo>
                  <a:lnTo>
                    <a:pt x="9165856" y="300167"/>
                  </a:lnTo>
                  <a:lnTo>
                    <a:pt x="9144711" y="260215"/>
                  </a:lnTo>
                  <a:lnTo>
                    <a:pt x="9120323" y="222393"/>
                  </a:lnTo>
                  <a:lnTo>
                    <a:pt x="9092878" y="186887"/>
                  </a:lnTo>
                  <a:lnTo>
                    <a:pt x="9062560" y="153882"/>
                  </a:lnTo>
                  <a:lnTo>
                    <a:pt x="9029555" y="123564"/>
                  </a:lnTo>
                  <a:lnTo>
                    <a:pt x="8994049" y="96119"/>
                  </a:lnTo>
                  <a:lnTo>
                    <a:pt x="8956227" y="71730"/>
                  </a:lnTo>
                  <a:lnTo>
                    <a:pt x="8916276" y="50585"/>
                  </a:lnTo>
                  <a:lnTo>
                    <a:pt x="8874379" y="32869"/>
                  </a:lnTo>
                  <a:lnTo>
                    <a:pt x="8830723" y="18767"/>
                  </a:lnTo>
                  <a:lnTo>
                    <a:pt x="8785493" y="8464"/>
                  </a:lnTo>
                  <a:lnTo>
                    <a:pt x="8738875" y="2147"/>
                  </a:lnTo>
                  <a:lnTo>
                    <a:pt x="8691053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6843" y="1246367"/>
              <a:ext cx="9217025" cy="3152775"/>
            </a:xfrm>
            <a:custGeom>
              <a:avLst/>
              <a:gdLst/>
              <a:ahLst/>
              <a:cxnLst/>
              <a:rect l="l" t="t" r="r" b="b"/>
              <a:pathLst>
                <a:path w="9217025" h="3152775">
                  <a:moveTo>
                    <a:pt x="0" y="525390"/>
                  </a:moveTo>
                  <a:lnTo>
                    <a:pt x="2147" y="477568"/>
                  </a:lnTo>
                  <a:lnTo>
                    <a:pt x="8464" y="430950"/>
                  </a:lnTo>
                  <a:lnTo>
                    <a:pt x="18767" y="385720"/>
                  </a:lnTo>
                  <a:lnTo>
                    <a:pt x="32869" y="342064"/>
                  </a:lnTo>
                  <a:lnTo>
                    <a:pt x="50586" y="300167"/>
                  </a:lnTo>
                  <a:lnTo>
                    <a:pt x="71731" y="260215"/>
                  </a:lnTo>
                  <a:lnTo>
                    <a:pt x="96119" y="222393"/>
                  </a:lnTo>
                  <a:lnTo>
                    <a:pt x="123565" y="186887"/>
                  </a:lnTo>
                  <a:lnTo>
                    <a:pt x="153883" y="153883"/>
                  </a:lnTo>
                  <a:lnTo>
                    <a:pt x="186887" y="123565"/>
                  </a:lnTo>
                  <a:lnTo>
                    <a:pt x="222393" y="96119"/>
                  </a:lnTo>
                  <a:lnTo>
                    <a:pt x="260215" y="71731"/>
                  </a:lnTo>
                  <a:lnTo>
                    <a:pt x="300167" y="50586"/>
                  </a:lnTo>
                  <a:lnTo>
                    <a:pt x="342064" y="32869"/>
                  </a:lnTo>
                  <a:lnTo>
                    <a:pt x="385720" y="18767"/>
                  </a:lnTo>
                  <a:lnTo>
                    <a:pt x="430950" y="8464"/>
                  </a:lnTo>
                  <a:lnTo>
                    <a:pt x="477568" y="2147"/>
                  </a:lnTo>
                  <a:lnTo>
                    <a:pt x="525389" y="0"/>
                  </a:lnTo>
                  <a:lnTo>
                    <a:pt x="8691053" y="0"/>
                  </a:lnTo>
                  <a:lnTo>
                    <a:pt x="8738875" y="2147"/>
                  </a:lnTo>
                  <a:lnTo>
                    <a:pt x="8785493" y="8464"/>
                  </a:lnTo>
                  <a:lnTo>
                    <a:pt x="8830723" y="18767"/>
                  </a:lnTo>
                  <a:lnTo>
                    <a:pt x="8874379" y="32869"/>
                  </a:lnTo>
                  <a:lnTo>
                    <a:pt x="8916276" y="50586"/>
                  </a:lnTo>
                  <a:lnTo>
                    <a:pt x="8956228" y="71731"/>
                  </a:lnTo>
                  <a:lnTo>
                    <a:pt x="8994050" y="96119"/>
                  </a:lnTo>
                  <a:lnTo>
                    <a:pt x="9029555" y="123565"/>
                  </a:lnTo>
                  <a:lnTo>
                    <a:pt x="9062560" y="153883"/>
                  </a:lnTo>
                  <a:lnTo>
                    <a:pt x="9092878" y="186887"/>
                  </a:lnTo>
                  <a:lnTo>
                    <a:pt x="9120324" y="222393"/>
                  </a:lnTo>
                  <a:lnTo>
                    <a:pt x="9144712" y="260215"/>
                  </a:lnTo>
                  <a:lnTo>
                    <a:pt x="9165857" y="300167"/>
                  </a:lnTo>
                  <a:lnTo>
                    <a:pt x="9183573" y="342064"/>
                  </a:lnTo>
                  <a:lnTo>
                    <a:pt x="9197676" y="385720"/>
                  </a:lnTo>
                  <a:lnTo>
                    <a:pt x="9207978" y="430950"/>
                  </a:lnTo>
                  <a:lnTo>
                    <a:pt x="9214296" y="477568"/>
                  </a:lnTo>
                  <a:lnTo>
                    <a:pt x="9216443" y="525390"/>
                  </a:lnTo>
                  <a:lnTo>
                    <a:pt x="9216443" y="2626859"/>
                  </a:lnTo>
                  <a:lnTo>
                    <a:pt x="9214296" y="2674680"/>
                  </a:lnTo>
                  <a:lnTo>
                    <a:pt x="9207978" y="2721299"/>
                  </a:lnTo>
                  <a:lnTo>
                    <a:pt x="9197676" y="2766528"/>
                  </a:lnTo>
                  <a:lnTo>
                    <a:pt x="9183573" y="2810185"/>
                  </a:lnTo>
                  <a:lnTo>
                    <a:pt x="9165857" y="2852081"/>
                  </a:lnTo>
                  <a:lnTo>
                    <a:pt x="9144712" y="2892033"/>
                  </a:lnTo>
                  <a:lnTo>
                    <a:pt x="9120324" y="2929855"/>
                  </a:lnTo>
                  <a:lnTo>
                    <a:pt x="9092878" y="2965361"/>
                  </a:lnTo>
                  <a:lnTo>
                    <a:pt x="9062560" y="2998366"/>
                  </a:lnTo>
                  <a:lnTo>
                    <a:pt x="9029555" y="3028684"/>
                  </a:lnTo>
                  <a:lnTo>
                    <a:pt x="8994050" y="3056130"/>
                  </a:lnTo>
                  <a:lnTo>
                    <a:pt x="8956228" y="3080518"/>
                  </a:lnTo>
                  <a:lnTo>
                    <a:pt x="8916276" y="3101663"/>
                  </a:lnTo>
                  <a:lnTo>
                    <a:pt x="8874379" y="3119379"/>
                  </a:lnTo>
                  <a:lnTo>
                    <a:pt x="8830723" y="3133482"/>
                  </a:lnTo>
                  <a:lnTo>
                    <a:pt x="8785493" y="3143784"/>
                  </a:lnTo>
                  <a:lnTo>
                    <a:pt x="8738875" y="3150102"/>
                  </a:lnTo>
                  <a:lnTo>
                    <a:pt x="8691053" y="3152249"/>
                  </a:lnTo>
                  <a:lnTo>
                    <a:pt x="525389" y="3152249"/>
                  </a:lnTo>
                  <a:lnTo>
                    <a:pt x="477568" y="3150102"/>
                  </a:lnTo>
                  <a:lnTo>
                    <a:pt x="430950" y="3143784"/>
                  </a:lnTo>
                  <a:lnTo>
                    <a:pt x="385720" y="3133482"/>
                  </a:lnTo>
                  <a:lnTo>
                    <a:pt x="342064" y="3119379"/>
                  </a:lnTo>
                  <a:lnTo>
                    <a:pt x="300167" y="3101663"/>
                  </a:lnTo>
                  <a:lnTo>
                    <a:pt x="260215" y="3080518"/>
                  </a:lnTo>
                  <a:lnTo>
                    <a:pt x="222393" y="3056130"/>
                  </a:lnTo>
                  <a:lnTo>
                    <a:pt x="186887" y="3028684"/>
                  </a:lnTo>
                  <a:lnTo>
                    <a:pt x="153883" y="2998366"/>
                  </a:lnTo>
                  <a:lnTo>
                    <a:pt x="123565" y="2965361"/>
                  </a:lnTo>
                  <a:lnTo>
                    <a:pt x="96119" y="2929855"/>
                  </a:lnTo>
                  <a:lnTo>
                    <a:pt x="71731" y="2892033"/>
                  </a:lnTo>
                  <a:lnTo>
                    <a:pt x="50586" y="2852081"/>
                  </a:lnTo>
                  <a:lnTo>
                    <a:pt x="32869" y="2810185"/>
                  </a:lnTo>
                  <a:lnTo>
                    <a:pt x="18767" y="2766528"/>
                  </a:lnTo>
                  <a:lnTo>
                    <a:pt x="8464" y="2721299"/>
                  </a:lnTo>
                  <a:lnTo>
                    <a:pt x="2147" y="2674680"/>
                  </a:lnTo>
                  <a:lnTo>
                    <a:pt x="0" y="2626859"/>
                  </a:lnTo>
                  <a:lnTo>
                    <a:pt x="0" y="525390"/>
                  </a:lnTo>
                  <a:close/>
                </a:path>
              </a:pathLst>
            </a:custGeom>
            <a:ln w="3047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68010" y="1410873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1285049" y="0"/>
                  </a:moveTo>
                  <a:lnTo>
                    <a:pt x="0" y="0"/>
                  </a:lnTo>
                  <a:lnTo>
                    <a:pt x="0" y="669905"/>
                  </a:lnTo>
                  <a:lnTo>
                    <a:pt x="1285049" y="669905"/>
                  </a:lnTo>
                  <a:lnTo>
                    <a:pt x="1285049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010" y="1410873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0" y="0"/>
                  </a:moveTo>
                  <a:lnTo>
                    <a:pt x="1285050" y="0"/>
                  </a:lnTo>
                  <a:lnTo>
                    <a:pt x="1285050" y="669906"/>
                  </a:lnTo>
                  <a:lnTo>
                    <a:pt x="0" y="669906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04070" y="2562764"/>
              <a:ext cx="1219200" cy="546735"/>
            </a:xfrm>
            <a:custGeom>
              <a:avLst/>
              <a:gdLst/>
              <a:ahLst/>
              <a:cxnLst/>
              <a:rect l="l" t="t" r="r" b="b"/>
              <a:pathLst>
                <a:path w="1219200" h="546735">
                  <a:moveTo>
                    <a:pt x="609353" y="0"/>
                  </a:moveTo>
                  <a:lnTo>
                    <a:pt x="542957" y="1602"/>
                  </a:lnTo>
                  <a:lnTo>
                    <a:pt x="478632" y="6298"/>
                  </a:lnTo>
                  <a:lnTo>
                    <a:pt x="416750" y="13922"/>
                  </a:lnTo>
                  <a:lnTo>
                    <a:pt x="357682" y="24307"/>
                  </a:lnTo>
                  <a:lnTo>
                    <a:pt x="301800" y="37286"/>
                  </a:lnTo>
                  <a:lnTo>
                    <a:pt x="249477" y="52692"/>
                  </a:lnTo>
                  <a:lnTo>
                    <a:pt x="201082" y="70359"/>
                  </a:lnTo>
                  <a:lnTo>
                    <a:pt x="156989" y="90121"/>
                  </a:lnTo>
                  <a:lnTo>
                    <a:pt x="117569" y="111810"/>
                  </a:lnTo>
                  <a:lnTo>
                    <a:pt x="83194" y="135261"/>
                  </a:lnTo>
                  <a:lnTo>
                    <a:pt x="54235" y="160306"/>
                  </a:lnTo>
                  <a:lnTo>
                    <a:pt x="14054" y="214514"/>
                  </a:lnTo>
                  <a:lnTo>
                    <a:pt x="0" y="273100"/>
                  </a:lnTo>
                  <a:lnTo>
                    <a:pt x="3575" y="302858"/>
                  </a:lnTo>
                  <a:lnTo>
                    <a:pt x="31065" y="359421"/>
                  </a:lnTo>
                  <a:lnTo>
                    <a:pt x="83194" y="410939"/>
                  </a:lnTo>
                  <a:lnTo>
                    <a:pt x="117569" y="434390"/>
                  </a:lnTo>
                  <a:lnTo>
                    <a:pt x="156989" y="456079"/>
                  </a:lnTo>
                  <a:lnTo>
                    <a:pt x="201082" y="475841"/>
                  </a:lnTo>
                  <a:lnTo>
                    <a:pt x="249477" y="493508"/>
                  </a:lnTo>
                  <a:lnTo>
                    <a:pt x="301800" y="508915"/>
                  </a:lnTo>
                  <a:lnTo>
                    <a:pt x="357682" y="521894"/>
                  </a:lnTo>
                  <a:lnTo>
                    <a:pt x="416750" y="532278"/>
                  </a:lnTo>
                  <a:lnTo>
                    <a:pt x="478632" y="539902"/>
                  </a:lnTo>
                  <a:lnTo>
                    <a:pt x="542957" y="544599"/>
                  </a:lnTo>
                  <a:lnTo>
                    <a:pt x="609353" y="546201"/>
                  </a:lnTo>
                  <a:lnTo>
                    <a:pt x="675749" y="544599"/>
                  </a:lnTo>
                  <a:lnTo>
                    <a:pt x="740074" y="539902"/>
                  </a:lnTo>
                  <a:lnTo>
                    <a:pt x="801956" y="532278"/>
                  </a:lnTo>
                  <a:lnTo>
                    <a:pt x="861024" y="521894"/>
                  </a:lnTo>
                  <a:lnTo>
                    <a:pt x="916906" y="508915"/>
                  </a:lnTo>
                  <a:lnTo>
                    <a:pt x="969230" y="493508"/>
                  </a:lnTo>
                  <a:lnTo>
                    <a:pt x="1017625" y="475841"/>
                  </a:lnTo>
                  <a:lnTo>
                    <a:pt x="1061718" y="456079"/>
                  </a:lnTo>
                  <a:lnTo>
                    <a:pt x="1101138" y="434390"/>
                  </a:lnTo>
                  <a:lnTo>
                    <a:pt x="1135513" y="410939"/>
                  </a:lnTo>
                  <a:lnTo>
                    <a:pt x="1164472" y="385894"/>
                  </a:lnTo>
                  <a:lnTo>
                    <a:pt x="1204653" y="331687"/>
                  </a:lnTo>
                  <a:lnTo>
                    <a:pt x="1218708" y="273100"/>
                  </a:lnTo>
                  <a:lnTo>
                    <a:pt x="1215132" y="243343"/>
                  </a:lnTo>
                  <a:lnTo>
                    <a:pt x="1187643" y="186779"/>
                  </a:lnTo>
                  <a:lnTo>
                    <a:pt x="1135513" y="135261"/>
                  </a:lnTo>
                  <a:lnTo>
                    <a:pt x="1101138" y="111810"/>
                  </a:lnTo>
                  <a:lnTo>
                    <a:pt x="1061718" y="90121"/>
                  </a:lnTo>
                  <a:lnTo>
                    <a:pt x="1017625" y="70359"/>
                  </a:lnTo>
                  <a:lnTo>
                    <a:pt x="969230" y="52692"/>
                  </a:lnTo>
                  <a:lnTo>
                    <a:pt x="916906" y="37286"/>
                  </a:lnTo>
                  <a:lnTo>
                    <a:pt x="861024" y="24307"/>
                  </a:lnTo>
                  <a:lnTo>
                    <a:pt x="801956" y="13922"/>
                  </a:lnTo>
                  <a:lnTo>
                    <a:pt x="740074" y="6298"/>
                  </a:lnTo>
                  <a:lnTo>
                    <a:pt x="675749" y="1602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04070" y="2562764"/>
              <a:ext cx="1219200" cy="546735"/>
            </a:xfrm>
            <a:custGeom>
              <a:avLst/>
              <a:gdLst/>
              <a:ahLst/>
              <a:cxnLst/>
              <a:rect l="l" t="t" r="r" b="b"/>
              <a:pathLst>
                <a:path w="1219200" h="546735">
                  <a:moveTo>
                    <a:pt x="0" y="273100"/>
                  </a:moveTo>
                  <a:lnTo>
                    <a:pt x="14054" y="214514"/>
                  </a:lnTo>
                  <a:lnTo>
                    <a:pt x="54235" y="160306"/>
                  </a:lnTo>
                  <a:lnTo>
                    <a:pt x="83194" y="135261"/>
                  </a:lnTo>
                  <a:lnTo>
                    <a:pt x="117570" y="111810"/>
                  </a:lnTo>
                  <a:lnTo>
                    <a:pt x="156990" y="90121"/>
                  </a:lnTo>
                  <a:lnTo>
                    <a:pt x="201083" y="70359"/>
                  </a:lnTo>
                  <a:lnTo>
                    <a:pt x="249477" y="52692"/>
                  </a:lnTo>
                  <a:lnTo>
                    <a:pt x="301801" y="37286"/>
                  </a:lnTo>
                  <a:lnTo>
                    <a:pt x="357683" y="24307"/>
                  </a:lnTo>
                  <a:lnTo>
                    <a:pt x="416751" y="13922"/>
                  </a:lnTo>
                  <a:lnTo>
                    <a:pt x="478633" y="6299"/>
                  </a:lnTo>
                  <a:lnTo>
                    <a:pt x="542958" y="1602"/>
                  </a:lnTo>
                  <a:lnTo>
                    <a:pt x="609354" y="0"/>
                  </a:lnTo>
                  <a:lnTo>
                    <a:pt x="675749" y="1602"/>
                  </a:lnTo>
                  <a:lnTo>
                    <a:pt x="740074" y="6299"/>
                  </a:lnTo>
                  <a:lnTo>
                    <a:pt x="801957" y="13922"/>
                  </a:lnTo>
                  <a:lnTo>
                    <a:pt x="861025" y="24307"/>
                  </a:lnTo>
                  <a:lnTo>
                    <a:pt x="916906" y="37286"/>
                  </a:lnTo>
                  <a:lnTo>
                    <a:pt x="969230" y="52692"/>
                  </a:lnTo>
                  <a:lnTo>
                    <a:pt x="1017625" y="70359"/>
                  </a:lnTo>
                  <a:lnTo>
                    <a:pt x="1061718" y="90121"/>
                  </a:lnTo>
                  <a:lnTo>
                    <a:pt x="1101138" y="111810"/>
                  </a:lnTo>
                  <a:lnTo>
                    <a:pt x="1135513" y="135261"/>
                  </a:lnTo>
                  <a:lnTo>
                    <a:pt x="1164472" y="160306"/>
                  </a:lnTo>
                  <a:lnTo>
                    <a:pt x="1204653" y="214514"/>
                  </a:lnTo>
                  <a:lnTo>
                    <a:pt x="1218708" y="273100"/>
                  </a:lnTo>
                  <a:lnTo>
                    <a:pt x="1215132" y="302858"/>
                  </a:lnTo>
                  <a:lnTo>
                    <a:pt x="1187642" y="359421"/>
                  </a:lnTo>
                  <a:lnTo>
                    <a:pt x="1135513" y="410940"/>
                  </a:lnTo>
                  <a:lnTo>
                    <a:pt x="1101138" y="434390"/>
                  </a:lnTo>
                  <a:lnTo>
                    <a:pt x="1061718" y="456080"/>
                  </a:lnTo>
                  <a:lnTo>
                    <a:pt x="1017625" y="475841"/>
                  </a:lnTo>
                  <a:lnTo>
                    <a:pt x="969230" y="493508"/>
                  </a:lnTo>
                  <a:lnTo>
                    <a:pt x="916906" y="508915"/>
                  </a:lnTo>
                  <a:lnTo>
                    <a:pt x="861025" y="521894"/>
                  </a:lnTo>
                  <a:lnTo>
                    <a:pt x="801957" y="532278"/>
                  </a:lnTo>
                  <a:lnTo>
                    <a:pt x="740074" y="539902"/>
                  </a:lnTo>
                  <a:lnTo>
                    <a:pt x="675749" y="544599"/>
                  </a:lnTo>
                  <a:lnTo>
                    <a:pt x="609354" y="546201"/>
                  </a:lnTo>
                  <a:lnTo>
                    <a:pt x="542958" y="544599"/>
                  </a:lnTo>
                  <a:lnTo>
                    <a:pt x="478633" y="539902"/>
                  </a:lnTo>
                  <a:lnTo>
                    <a:pt x="416751" y="532278"/>
                  </a:lnTo>
                  <a:lnTo>
                    <a:pt x="357683" y="521894"/>
                  </a:lnTo>
                  <a:lnTo>
                    <a:pt x="301801" y="508915"/>
                  </a:lnTo>
                  <a:lnTo>
                    <a:pt x="249477" y="493508"/>
                  </a:lnTo>
                  <a:lnTo>
                    <a:pt x="201083" y="475841"/>
                  </a:lnTo>
                  <a:lnTo>
                    <a:pt x="156990" y="456080"/>
                  </a:lnTo>
                  <a:lnTo>
                    <a:pt x="117570" y="434390"/>
                  </a:lnTo>
                  <a:lnTo>
                    <a:pt x="83194" y="410940"/>
                  </a:lnTo>
                  <a:lnTo>
                    <a:pt x="54235" y="385894"/>
                  </a:lnTo>
                  <a:lnTo>
                    <a:pt x="14054" y="331687"/>
                  </a:lnTo>
                  <a:lnTo>
                    <a:pt x="0" y="27310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74759" y="3539191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7"/>
                  </a:lnTo>
                  <a:lnTo>
                    <a:pt x="838809" y="678534"/>
                  </a:lnTo>
                  <a:lnTo>
                    <a:pt x="1677619" y="339267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74759" y="3539191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65386" y="319023"/>
            <a:ext cx="854456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E-</a:t>
            </a:r>
            <a:r>
              <a:rPr dirty="0">
                <a:solidFill>
                  <a:srgbClr val="292934"/>
                </a:solidFill>
              </a:rPr>
              <a:t>R</a:t>
            </a:r>
            <a:r>
              <a:rPr spc="-215" dirty="0">
                <a:solidFill>
                  <a:srgbClr val="292934"/>
                </a:solidFill>
              </a:rPr>
              <a:t> </a:t>
            </a:r>
            <a:r>
              <a:rPr spc="-140" dirty="0">
                <a:solidFill>
                  <a:srgbClr val="292934"/>
                </a:solidFill>
              </a:rPr>
              <a:t>Diagram:</a:t>
            </a:r>
            <a:r>
              <a:rPr spc="-195" dirty="0">
                <a:solidFill>
                  <a:srgbClr val="292934"/>
                </a:solidFill>
              </a:rPr>
              <a:t> </a:t>
            </a:r>
            <a:r>
              <a:rPr spc="-135" dirty="0">
                <a:solidFill>
                  <a:srgbClr val="292934"/>
                </a:solidFill>
              </a:rPr>
              <a:t>Building</a:t>
            </a:r>
            <a:r>
              <a:rPr spc="-204" dirty="0">
                <a:solidFill>
                  <a:srgbClr val="292934"/>
                </a:solidFill>
              </a:rPr>
              <a:t> </a:t>
            </a:r>
            <a:r>
              <a:rPr spc="-55" dirty="0">
                <a:solidFill>
                  <a:srgbClr val="292934"/>
                </a:solidFill>
              </a:rPr>
              <a:t>Blocks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5057764" y="5763002"/>
            <a:ext cx="1102360" cy="678180"/>
            <a:chOff x="5057764" y="5763002"/>
            <a:chExt cx="1102360" cy="678180"/>
          </a:xfrm>
        </p:grpSpPr>
        <p:sp>
          <p:nvSpPr>
            <p:cNvPr id="13" name="object 13"/>
            <p:cNvSpPr/>
            <p:nvPr/>
          </p:nvSpPr>
          <p:spPr>
            <a:xfrm>
              <a:off x="5064537" y="5769776"/>
              <a:ext cx="1089025" cy="664845"/>
            </a:xfrm>
            <a:custGeom>
              <a:avLst/>
              <a:gdLst/>
              <a:ahLst/>
              <a:cxnLst/>
              <a:rect l="l" t="t" r="r" b="b"/>
              <a:pathLst>
                <a:path w="1089025" h="664845">
                  <a:moveTo>
                    <a:pt x="544222" y="0"/>
                  </a:moveTo>
                  <a:lnTo>
                    <a:pt x="0" y="664375"/>
                  </a:lnTo>
                  <a:lnTo>
                    <a:pt x="1088445" y="664375"/>
                  </a:lnTo>
                  <a:lnTo>
                    <a:pt x="544222" y="0"/>
                  </a:lnTo>
                  <a:close/>
                </a:path>
              </a:pathLst>
            </a:custGeom>
            <a:solidFill>
              <a:srgbClr val="FFD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64537" y="5769776"/>
              <a:ext cx="1089025" cy="664845"/>
            </a:xfrm>
            <a:custGeom>
              <a:avLst/>
              <a:gdLst/>
              <a:ahLst/>
              <a:cxnLst/>
              <a:rect l="l" t="t" r="r" b="b"/>
              <a:pathLst>
                <a:path w="1089025" h="664845">
                  <a:moveTo>
                    <a:pt x="0" y="664375"/>
                  </a:moveTo>
                  <a:lnTo>
                    <a:pt x="544222" y="0"/>
                  </a:lnTo>
                  <a:lnTo>
                    <a:pt x="1088444" y="664375"/>
                  </a:lnTo>
                  <a:lnTo>
                    <a:pt x="0" y="664375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875693" y="4534611"/>
            <a:ext cx="4643755" cy="888365"/>
            <a:chOff x="4875693" y="4534611"/>
            <a:chExt cx="4643755" cy="888365"/>
          </a:xfrm>
        </p:grpSpPr>
        <p:sp>
          <p:nvSpPr>
            <p:cNvPr id="16" name="object 16"/>
            <p:cNvSpPr/>
            <p:nvPr/>
          </p:nvSpPr>
          <p:spPr>
            <a:xfrm>
              <a:off x="4880773" y="4576178"/>
              <a:ext cx="1463040" cy="838835"/>
            </a:xfrm>
            <a:custGeom>
              <a:avLst/>
              <a:gdLst/>
              <a:ahLst/>
              <a:cxnLst/>
              <a:rect l="l" t="t" r="r" b="b"/>
              <a:pathLst>
                <a:path w="1463039" h="838835">
                  <a:moveTo>
                    <a:pt x="0" y="0"/>
                  </a:moveTo>
                  <a:lnTo>
                    <a:pt x="1463039" y="0"/>
                  </a:lnTo>
                  <a:lnTo>
                    <a:pt x="1463039" y="838809"/>
                  </a:lnTo>
                  <a:lnTo>
                    <a:pt x="0" y="838809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8010" y="4660992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1285049" y="0"/>
                  </a:moveTo>
                  <a:lnTo>
                    <a:pt x="0" y="0"/>
                  </a:lnTo>
                  <a:lnTo>
                    <a:pt x="0" y="669905"/>
                  </a:lnTo>
                  <a:lnTo>
                    <a:pt x="1285049" y="669905"/>
                  </a:lnTo>
                  <a:lnTo>
                    <a:pt x="1285049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68010" y="4660992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0" y="0"/>
                  </a:moveTo>
                  <a:lnTo>
                    <a:pt x="1285050" y="0"/>
                  </a:lnTo>
                  <a:lnTo>
                    <a:pt x="1285050" y="669906"/>
                  </a:lnTo>
                  <a:lnTo>
                    <a:pt x="0" y="669906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51288" y="4539691"/>
              <a:ext cx="2157095" cy="878205"/>
            </a:xfrm>
            <a:custGeom>
              <a:avLst/>
              <a:gdLst/>
              <a:ahLst/>
              <a:cxnLst/>
              <a:rect l="l" t="t" r="r" b="b"/>
              <a:pathLst>
                <a:path w="2157095" h="878204">
                  <a:moveTo>
                    <a:pt x="0" y="438911"/>
                  </a:moveTo>
                  <a:lnTo>
                    <a:pt x="1078470" y="0"/>
                  </a:lnTo>
                  <a:lnTo>
                    <a:pt x="2156939" y="438911"/>
                  </a:lnTo>
                  <a:lnTo>
                    <a:pt x="1078470" y="877823"/>
                  </a:lnTo>
                  <a:lnTo>
                    <a:pt x="0" y="438911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91593" y="464040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091593" y="464040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43813" y="4978602"/>
              <a:ext cx="508000" cy="17145"/>
            </a:xfrm>
            <a:custGeom>
              <a:avLst/>
              <a:gdLst/>
              <a:ahLst/>
              <a:cxnLst/>
              <a:rect l="l" t="t" r="r" b="b"/>
              <a:pathLst>
                <a:path w="508000" h="17145">
                  <a:moveTo>
                    <a:pt x="0" y="16980"/>
                  </a:moveTo>
                  <a:lnTo>
                    <a:pt x="507474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08228" y="4925388"/>
              <a:ext cx="511809" cy="106680"/>
            </a:xfrm>
            <a:custGeom>
              <a:avLst/>
              <a:gdLst/>
              <a:ahLst/>
              <a:cxnLst/>
              <a:rect l="l" t="t" r="r" b="b"/>
              <a:pathLst>
                <a:path w="511809" h="106679">
                  <a:moveTo>
                    <a:pt x="419963" y="0"/>
                  </a:moveTo>
                  <a:lnTo>
                    <a:pt x="416853" y="819"/>
                  </a:lnTo>
                  <a:lnTo>
                    <a:pt x="414026" y="5665"/>
                  </a:lnTo>
                  <a:lnTo>
                    <a:pt x="414844" y="8775"/>
                  </a:lnTo>
                  <a:lnTo>
                    <a:pt x="482318" y="48135"/>
                  </a:lnTo>
                  <a:lnTo>
                    <a:pt x="501107" y="48135"/>
                  </a:lnTo>
                  <a:lnTo>
                    <a:pt x="501107" y="58295"/>
                  </a:lnTo>
                  <a:lnTo>
                    <a:pt x="482317" y="58295"/>
                  </a:lnTo>
                  <a:lnTo>
                    <a:pt x="414844" y="97654"/>
                  </a:lnTo>
                  <a:lnTo>
                    <a:pt x="414026" y="100764"/>
                  </a:lnTo>
                  <a:lnTo>
                    <a:pt x="416853" y="105611"/>
                  </a:lnTo>
                  <a:lnTo>
                    <a:pt x="419963" y="106429"/>
                  </a:lnTo>
                  <a:lnTo>
                    <a:pt x="502481" y="58295"/>
                  </a:lnTo>
                  <a:lnTo>
                    <a:pt x="501107" y="58295"/>
                  </a:lnTo>
                  <a:lnTo>
                    <a:pt x="502483" y="58294"/>
                  </a:lnTo>
                  <a:lnTo>
                    <a:pt x="511190" y="53215"/>
                  </a:lnTo>
                  <a:lnTo>
                    <a:pt x="419963" y="0"/>
                  </a:lnTo>
                  <a:close/>
                </a:path>
                <a:path w="511809" h="106679">
                  <a:moveTo>
                    <a:pt x="491026" y="53215"/>
                  </a:moveTo>
                  <a:lnTo>
                    <a:pt x="482317" y="58295"/>
                  </a:lnTo>
                  <a:lnTo>
                    <a:pt x="501107" y="58295"/>
                  </a:lnTo>
                  <a:lnTo>
                    <a:pt x="501107" y="57603"/>
                  </a:lnTo>
                  <a:lnTo>
                    <a:pt x="498548" y="57603"/>
                  </a:lnTo>
                  <a:lnTo>
                    <a:pt x="491026" y="53215"/>
                  </a:lnTo>
                  <a:close/>
                </a:path>
                <a:path w="511809" h="106679">
                  <a:moveTo>
                    <a:pt x="0" y="48134"/>
                  </a:moveTo>
                  <a:lnTo>
                    <a:pt x="0" y="58294"/>
                  </a:lnTo>
                  <a:lnTo>
                    <a:pt x="482319" y="58294"/>
                  </a:lnTo>
                  <a:lnTo>
                    <a:pt x="491026" y="53215"/>
                  </a:lnTo>
                  <a:lnTo>
                    <a:pt x="482318" y="48135"/>
                  </a:lnTo>
                  <a:lnTo>
                    <a:pt x="0" y="48134"/>
                  </a:lnTo>
                  <a:close/>
                </a:path>
                <a:path w="511809" h="106679">
                  <a:moveTo>
                    <a:pt x="498548" y="48827"/>
                  </a:moveTo>
                  <a:lnTo>
                    <a:pt x="491026" y="53215"/>
                  </a:lnTo>
                  <a:lnTo>
                    <a:pt x="498548" y="57603"/>
                  </a:lnTo>
                  <a:lnTo>
                    <a:pt x="498548" y="48827"/>
                  </a:lnTo>
                  <a:close/>
                </a:path>
                <a:path w="511809" h="106679">
                  <a:moveTo>
                    <a:pt x="501107" y="48827"/>
                  </a:moveTo>
                  <a:lnTo>
                    <a:pt x="498548" y="48827"/>
                  </a:lnTo>
                  <a:lnTo>
                    <a:pt x="498548" y="57603"/>
                  </a:lnTo>
                  <a:lnTo>
                    <a:pt x="501107" y="57603"/>
                  </a:lnTo>
                  <a:lnTo>
                    <a:pt x="501107" y="48827"/>
                  </a:lnTo>
                  <a:close/>
                </a:path>
                <a:path w="511809" h="106679">
                  <a:moveTo>
                    <a:pt x="482318" y="48135"/>
                  </a:moveTo>
                  <a:lnTo>
                    <a:pt x="491026" y="53215"/>
                  </a:lnTo>
                  <a:lnTo>
                    <a:pt x="498548" y="48827"/>
                  </a:lnTo>
                  <a:lnTo>
                    <a:pt x="501107" y="48827"/>
                  </a:lnTo>
                  <a:lnTo>
                    <a:pt x="501107" y="48135"/>
                  </a:lnTo>
                  <a:lnTo>
                    <a:pt x="482318" y="48135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403602" y="6046216"/>
            <a:ext cx="4038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is </a:t>
            </a:r>
            <a:r>
              <a:rPr sz="1900" spc="-6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99043" y="1552447"/>
            <a:ext cx="2525395" cy="239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(strong)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100">
              <a:latin typeface="Verdana"/>
              <a:cs typeface="Verdana"/>
            </a:endParaRPr>
          </a:p>
          <a:p>
            <a:pPr marL="12700" marR="855980">
              <a:lnSpc>
                <a:spcPct val="309500"/>
              </a:lnSpc>
              <a:spcBef>
                <a:spcPts val="505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Attribute Relationship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99043" y="4829047"/>
            <a:ext cx="16357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Weak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99043" y="6036055"/>
            <a:ext cx="12071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Subclass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49249" y="2329732"/>
            <a:ext cx="9168765" cy="2056764"/>
            <a:chOff x="449249" y="2329732"/>
            <a:chExt cx="9168765" cy="2056764"/>
          </a:xfrm>
        </p:grpSpPr>
        <p:sp>
          <p:nvSpPr>
            <p:cNvPr id="29" name="object 29"/>
            <p:cNvSpPr/>
            <p:nvPr/>
          </p:nvSpPr>
          <p:spPr>
            <a:xfrm>
              <a:off x="449249" y="2334812"/>
              <a:ext cx="9168765" cy="0"/>
            </a:xfrm>
            <a:custGeom>
              <a:avLst/>
              <a:gdLst/>
              <a:ahLst/>
              <a:cxnLst/>
              <a:rect l="l" t="t" r="r" b="b"/>
              <a:pathLst>
                <a:path w="9168765">
                  <a:moveTo>
                    <a:pt x="0" y="0"/>
                  </a:moveTo>
                  <a:lnTo>
                    <a:pt x="9168383" y="1"/>
                  </a:lnTo>
                </a:path>
              </a:pathLst>
            </a:custGeom>
            <a:ln w="10159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9249" y="3317239"/>
              <a:ext cx="9168765" cy="0"/>
            </a:xfrm>
            <a:custGeom>
              <a:avLst/>
              <a:gdLst/>
              <a:ahLst/>
              <a:cxnLst/>
              <a:rect l="l" t="t" r="r" b="b"/>
              <a:pathLst>
                <a:path w="9168765">
                  <a:moveTo>
                    <a:pt x="0" y="0"/>
                  </a:moveTo>
                  <a:lnTo>
                    <a:pt x="9168383" y="1"/>
                  </a:lnTo>
                </a:path>
              </a:pathLst>
            </a:custGeom>
            <a:ln w="10159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9249" y="4380947"/>
              <a:ext cx="9168765" cy="0"/>
            </a:xfrm>
            <a:custGeom>
              <a:avLst/>
              <a:gdLst/>
              <a:ahLst/>
              <a:cxnLst/>
              <a:rect l="l" t="t" r="r" b="b"/>
              <a:pathLst>
                <a:path w="9168765">
                  <a:moveTo>
                    <a:pt x="0" y="0"/>
                  </a:moveTo>
                  <a:lnTo>
                    <a:pt x="9168383" y="1"/>
                  </a:lnTo>
                </a:path>
              </a:pathLst>
            </a:custGeom>
            <a:ln w="10159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/>
          <p:nvPr/>
        </p:nvSpPr>
        <p:spPr>
          <a:xfrm>
            <a:off x="449249" y="5617815"/>
            <a:ext cx="9168765" cy="0"/>
          </a:xfrm>
          <a:custGeom>
            <a:avLst/>
            <a:gdLst/>
            <a:ahLst/>
            <a:cxnLst/>
            <a:rect l="l" t="t" r="r" b="b"/>
            <a:pathLst>
              <a:path w="9168765">
                <a:moveTo>
                  <a:pt x="0" y="0"/>
                </a:moveTo>
                <a:lnTo>
                  <a:pt x="9168383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62721" y="7009383"/>
            <a:ext cx="714629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colors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part</a:t>
            </a:r>
            <a:r>
              <a:rPr sz="13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Diagram.</a:t>
            </a:r>
            <a:r>
              <a:rPr sz="1300" spc="-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simply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used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increase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readability.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9600" y="319023"/>
            <a:ext cx="631698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>
                <a:solidFill>
                  <a:srgbClr val="292934"/>
                </a:solidFill>
              </a:rPr>
              <a:t>Entity</a:t>
            </a:r>
            <a:r>
              <a:rPr spc="-245" dirty="0">
                <a:solidFill>
                  <a:srgbClr val="292934"/>
                </a:solidFill>
              </a:rPr>
              <a:t> </a:t>
            </a:r>
            <a:r>
              <a:rPr spc="-110" dirty="0">
                <a:solidFill>
                  <a:srgbClr val="292934"/>
                </a:solidFill>
              </a:rPr>
              <a:t>and</a:t>
            </a:r>
            <a:r>
              <a:rPr spc="-245" dirty="0">
                <a:solidFill>
                  <a:srgbClr val="292934"/>
                </a:solidFill>
              </a:rPr>
              <a:t> </a:t>
            </a:r>
            <a:r>
              <a:rPr spc="-120" dirty="0">
                <a:solidFill>
                  <a:srgbClr val="292934"/>
                </a:solidFill>
              </a:rPr>
              <a:t>Entity</a:t>
            </a:r>
            <a:r>
              <a:rPr spc="-240" dirty="0">
                <a:solidFill>
                  <a:srgbClr val="292934"/>
                </a:solidFill>
              </a:rPr>
              <a:t> </a:t>
            </a:r>
            <a:r>
              <a:rPr spc="-30" dirty="0">
                <a:solidFill>
                  <a:srgbClr val="292934"/>
                </a:solidFill>
              </a:rPr>
              <a:t>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815" y="1069847"/>
            <a:ext cx="9149715" cy="13817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1225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05740" algn="l"/>
              </a:tabLst>
            </a:pPr>
            <a:r>
              <a:rPr sz="2300" b="1" dirty="0">
                <a:solidFill>
                  <a:srgbClr val="C00000"/>
                </a:solidFill>
                <a:latin typeface="Verdana"/>
                <a:cs typeface="Verdana"/>
              </a:rPr>
              <a:t>Entity</a:t>
            </a:r>
            <a:r>
              <a:rPr sz="2300" b="1" spc="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~an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object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(thing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keep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track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run</a:t>
            </a:r>
            <a:r>
              <a:rPr sz="23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business)</a:t>
            </a:r>
            <a:endParaRPr sz="2300">
              <a:latin typeface="Verdana"/>
              <a:cs typeface="Verdana"/>
            </a:endParaRPr>
          </a:p>
          <a:p>
            <a:pPr marL="205104" marR="467359" indent="-193040">
              <a:lnSpc>
                <a:spcPct val="105200"/>
              </a:lnSpc>
              <a:spcBef>
                <a:spcPts val="985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07645" algn="l"/>
              </a:tabLst>
            </a:pPr>
            <a:r>
              <a:rPr sz="2300" b="1" dirty="0">
                <a:solidFill>
                  <a:srgbClr val="C00000"/>
                </a:solidFill>
                <a:latin typeface="Verdana"/>
                <a:cs typeface="Verdana"/>
              </a:rPr>
              <a:t>Entity</a:t>
            </a:r>
            <a:r>
              <a:rPr sz="2300" b="1" spc="7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C00000"/>
                </a:solidFill>
                <a:latin typeface="Verdana"/>
                <a:cs typeface="Verdana"/>
              </a:rPr>
              <a:t>set</a:t>
            </a:r>
            <a:r>
              <a:rPr sz="2300" b="1" spc="8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~a</a:t>
            </a:r>
            <a:r>
              <a:rPr sz="23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class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(~table,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collection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things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the 	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same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kind)</a:t>
            </a:r>
            <a:endParaRPr sz="23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31841" y="3709618"/>
            <a:ext cx="3096260" cy="1877695"/>
            <a:chOff x="931841" y="3709618"/>
            <a:chExt cx="3096260" cy="18776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000" y="3719778"/>
              <a:ext cx="3075585" cy="18569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36921" y="3714698"/>
              <a:ext cx="3086100" cy="1867535"/>
            </a:xfrm>
            <a:custGeom>
              <a:avLst/>
              <a:gdLst/>
              <a:ahLst/>
              <a:cxnLst/>
              <a:rect l="l" t="t" r="r" b="b"/>
              <a:pathLst>
                <a:path w="3086100" h="1867535">
                  <a:moveTo>
                    <a:pt x="0" y="0"/>
                  </a:moveTo>
                  <a:lnTo>
                    <a:pt x="3085745" y="0"/>
                  </a:lnTo>
                  <a:lnTo>
                    <a:pt x="3085745" y="1867063"/>
                  </a:lnTo>
                  <a:lnTo>
                    <a:pt x="0" y="1867063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0000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06005" y="6046229"/>
            <a:ext cx="1299845" cy="565785"/>
            <a:chOff x="406005" y="6046229"/>
            <a:chExt cx="1299845" cy="565785"/>
          </a:xfrm>
        </p:grpSpPr>
        <p:sp>
          <p:nvSpPr>
            <p:cNvPr id="8" name="object 8"/>
            <p:cNvSpPr/>
            <p:nvPr/>
          </p:nvSpPr>
          <p:spPr>
            <a:xfrm>
              <a:off x="411085" y="6051309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2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2" y="555320"/>
                  </a:lnTo>
                  <a:lnTo>
                    <a:pt x="1289312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1085" y="6051309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94214" y="6184391"/>
            <a:ext cx="7232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Course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76602" y="5674781"/>
            <a:ext cx="1299845" cy="565785"/>
            <a:chOff x="1376602" y="5674781"/>
            <a:chExt cx="1299845" cy="565785"/>
          </a:xfrm>
        </p:grpSpPr>
        <p:sp>
          <p:nvSpPr>
            <p:cNvPr id="12" name="object 12"/>
            <p:cNvSpPr/>
            <p:nvPr/>
          </p:nvSpPr>
          <p:spPr>
            <a:xfrm>
              <a:off x="1381682" y="5679861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1"/>
                  </a:lnTo>
                  <a:lnTo>
                    <a:pt x="1289311" y="555321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81682" y="5679861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40258" y="5815584"/>
            <a:ext cx="7715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Student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38857" y="6099428"/>
            <a:ext cx="1299845" cy="565785"/>
            <a:chOff x="2338857" y="6099428"/>
            <a:chExt cx="1299845" cy="565785"/>
          </a:xfrm>
        </p:grpSpPr>
        <p:sp>
          <p:nvSpPr>
            <p:cNvPr id="16" name="object 16"/>
            <p:cNvSpPr/>
            <p:nvPr/>
          </p:nvSpPr>
          <p:spPr>
            <a:xfrm>
              <a:off x="2343937" y="6104508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2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2" y="555320"/>
                  </a:lnTo>
                  <a:lnTo>
                    <a:pt x="1289312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43937" y="6104508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627067" y="6239255"/>
            <a:ext cx="7232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Faculty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28751" y="5656341"/>
            <a:ext cx="1299845" cy="565785"/>
            <a:chOff x="3128751" y="5656341"/>
            <a:chExt cx="1299845" cy="565785"/>
          </a:xfrm>
        </p:grpSpPr>
        <p:sp>
          <p:nvSpPr>
            <p:cNvPr id="20" name="object 20"/>
            <p:cNvSpPr/>
            <p:nvPr/>
          </p:nvSpPr>
          <p:spPr>
            <a:xfrm>
              <a:off x="3133831" y="5661421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1" y="555320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33831" y="5661421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382247" y="5794248"/>
            <a:ext cx="7924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Building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3437" y="3252215"/>
            <a:ext cx="239204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Some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11383" y="3252215"/>
            <a:ext cx="14465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examples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15464" y="3041787"/>
            <a:ext cx="9440545" cy="0"/>
          </a:xfrm>
          <a:custGeom>
            <a:avLst/>
            <a:gdLst/>
            <a:ahLst/>
            <a:cxnLst/>
            <a:rect l="l" t="t" r="r" b="b"/>
            <a:pathLst>
              <a:path w="9440545">
                <a:moveTo>
                  <a:pt x="0" y="0"/>
                </a:moveTo>
                <a:lnTo>
                  <a:pt x="9440479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5206307" y="3468937"/>
            <a:ext cx="4044315" cy="3200400"/>
            <a:chOff x="5206307" y="3468937"/>
            <a:chExt cx="4044315" cy="320040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8828" y="3468937"/>
              <a:ext cx="3901440" cy="247904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211387" y="6108679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1" y="555320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11387" y="6108679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5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506370" y="6242303"/>
            <a:ext cx="6985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Patient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53401" y="5732152"/>
            <a:ext cx="1299845" cy="565785"/>
            <a:chOff x="6253401" y="5732152"/>
            <a:chExt cx="1299845" cy="565785"/>
          </a:xfrm>
        </p:grpSpPr>
        <p:sp>
          <p:nvSpPr>
            <p:cNvPr id="32" name="object 32"/>
            <p:cNvSpPr/>
            <p:nvPr/>
          </p:nvSpPr>
          <p:spPr>
            <a:xfrm>
              <a:off x="6258481" y="5737232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1" y="555320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58481" y="5737232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71243" y="5870448"/>
            <a:ext cx="662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Doctor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234780" y="6156800"/>
            <a:ext cx="1299845" cy="565785"/>
            <a:chOff x="7234780" y="6156800"/>
            <a:chExt cx="1299845" cy="565785"/>
          </a:xfrm>
        </p:grpSpPr>
        <p:sp>
          <p:nvSpPr>
            <p:cNvPr id="36" name="object 36"/>
            <p:cNvSpPr/>
            <p:nvPr/>
          </p:nvSpPr>
          <p:spPr>
            <a:xfrm>
              <a:off x="7239860" y="6161880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1289311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1" y="555320"/>
                  </a:lnTo>
                  <a:lnTo>
                    <a:pt x="1289311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239860" y="6161880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83103" y="6297167"/>
            <a:ext cx="60325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Nurse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101171" y="5713712"/>
            <a:ext cx="1299845" cy="565785"/>
            <a:chOff x="8101171" y="5713712"/>
            <a:chExt cx="1299845" cy="565785"/>
          </a:xfrm>
        </p:grpSpPr>
        <p:sp>
          <p:nvSpPr>
            <p:cNvPr id="40" name="object 40"/>
            <p:cNvSpPr/>
            <p:nvPr/>
          </p:nvSpPr>
          <p:spPr>
            <a:xfrm>
              <a:off x="8106251" y="5718792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1289312" y="0"/>
                  </a:moveTo>
                  <a:lnTo>
                    <a:pt x="0" y="0"/>
                  </a:lnTo>
                  <a:lnTo>
                    <a:pt x="0" y="555320"/>
                  </a:lnTo>
                  <a:lnTo>
                    <a:pt x="1289312" y="555320"/>
                  </a:lnTo>
                  <a:lnTo>
                    <a:pt x="1289312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06251" y="5718792"/>
              <a:ext cx="1289685" cy="555625"/>
            </a:xfrm>
            <a:custGeom>
              <a:avLst/>
              <a:gdLst/>
              <a:ahLst/>
              <a:cxnLst/>
              <a:rect l="l" t="t" r="r" b="b"/>
              <a:pathLst>
                <a:path w="1289684" h="555625">
                  <a:moveTo>
                    <a:pt x="0" y="0"/>
                  </a:moveTo>
                  <a:lnTo>
                    <a:pt x="1289311" y="0"/>
                  </a:lnTo>
                  <a:lnTo>
                    <a:pt x="1289311" y="555320"/>
                  </a:lnTo>
                  <a:lnTo>
                    <a:pt x="0" y="5553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8247784" y="5852160"/>
            <a:ext cx="10058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Treatment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CE5C57F-BC42-36E8-9196-3A241D831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0243"/>
          <a:stretch/>
        </p:blipFill>
        <p:spPr>
          <a:xfrm>
            <a:off x="476551" y="1407347"/>
            <a:ext cx="9105299" cy="4842319"/>
          </a:xfrm>
          <a:custGeom>
            <a:avLst/>
            <a:gdLst/>
            <a:ahLst/>
            <a:cxnLst/>
            <a:rect l="l" t="t" r="r" b="b"/>
            <a:pathLst>
              <a:path w="10630858" h="5869478">
                <a:moveTo>
                  <a:pt x="5791061" y="218"/>
                </a:moveTo>
                <a:cubicBezTo>
                  <a:pt x="5877327" y="-560"/>
                  <a:pt x="5971399" y="626"/>
                  <a:pt x="6073275" y="5793"/>
                </a:cubicBezTo>
                <a:cubicBezTo>
                  <a:pt x="6098744" y="7086"/>
                  <a:pt x="6121786" y="8165"/>
                  <a:pt x="6142651" y="9057"/>
                </a:cubicBezTo>
                <a:lnTo>
                  <a:pt x="6164185" y="9874"/>
                </a:lnTo>
                <a:lnTo>
                  <a:pt x="6258731" y="5793"/>
                </a:lnTo>
                <a:lnTo>
                  <a:pt x="6319194" y="2002"/>
                </a:lnTo>
                <a:lnTo>
                  <a:pt x="6413049" y="11772"/>
                </a:lnTo>
                <a:cubicBezTo>
                  <a:pt x="6592720" y="42783"/>
                  <a:pt x="6774188" y="66100"/>
                  <a:pt x="6956654" y="46745"/>
                </a:cubicBezTo>
                <a:cubicBezTo>
                  <a:pt x="7082424" y="33223"/>
                  <a:pt x="7207994" y="25294"/>
                  <a:pt x="7334364" y="25763"/>
                </a:cubicBezTo>
                <a:cubicBezTo>
                  <a:pt x="7624835" y="25763"/>
                  <a:pt x="7915502" y="28559"/>
                  <a:pt x="8205974" y="22730"/>
                </a:cubicBezTo>
                <a:cubicBezTo>
                  <a:pt x="8464499" y="17601"/>
                  <a:pt x="8722029" y="6412"/>
                  <a:pt x="8980756" y="34620"/>
                </a:cubicBezTo>
                <a:cubicBezTo>
                  <a:pt x="9362658" y="76124"/>
                  <a:pt x="9746556" y="62832"/>
                  <a:pt x="10129655" y="57937"/>
                </a:cubicBezTo>
                <a:lnTo>
                  <a:pt x="10163726" y="56766"/>
                </a:lnTo>
                <a:lnTo>
                  <a:pt x="10254950" y="73131"/>
                </a:lnTo>
                <a:lnTo>
                  <a:pt x="10311819" y="101928"/>
                </a:lnTo>
                <a:cubicBezTo>
                  <a:pt x="10479504" y="200737"/>
                  <a:pt x="10591476" y="367254"/>
                  <a:pt x="10625532" y="561669"/>
                </a:cubicBezTo>
                <a:lnTo>
                  <a:pt x="10626834" y="578090"/>
                </a:lnTo>
                <a:lnTo>
                  <a:pt x="10611964" y="734537"/>
                </a:lnTo>
                <a:cubicBezTo>
                  <a:pt x="10602387" y="823467"/>
                  <a:pt x="10587763" y="913306"/>
                  <a:pt x="10611964" y="1001326"/>
                </a:cubicBezTo>
                <a:cubicBezTo>
                  <a:pt x="10628543" y="1062669"/>
                  <a:pt x="10632231" y="1127783"/>
                  <a:pt x="10622705" y="1191154"/>
                </a:cubicBezTo>
                <a:cubicBezTo>
                  <a:pt x="10606645" y="1303627"/>
                  <a:pt x="10603293" y="1418084"/>
                  <a:pt x="10612740" y="1531572"/>
                </a:cubicBezTo>
                <a:cubicBezTo>
                  <a:pt x="10618978" y="1606398"/>
                  <a:pt x="10618020" y="1681815"/>
                  <a:pt x="10609893" y="1756397"/>
                </a:cubicBezTo>
                <a:cubicBezTo>
                  <a:pt x="10599152" y="1856690"/>
                  <a:pt x="10582457" y="1958800"/>
                  <a:pt x="10602776" y="2059394"/>
                </a:cubicBezTo>
                <a:cubicBezTo>
                  <a:pt x="10635130" y="2219226"/>
                  <a:pt x="10628659" y="2378906"/>
                  <a:pt x="10615717" y="2539949"/>
                </a:cubicBezTo>
                <a:cubicBezTo>
                  <a:pt x="10606011" y="2659785"/>
                  <a:pt x="10595269" y="2780984"/>
                  <a:pt x="10614682" y="2902183"/>
                </a:cubicBezTo>
                <a:cubicBezTo>
                  <a:pt x="10623029" y="2958418"/>
                  <a:pt x="10623029" y="3015928"/>
                  <a:pt x="10614682" y="3072165"/>
                </a:cubicBezTo>
                <a:cubicBezTo>
                  <a:pt x="10604587" y="3147914"/>
                  <a:pt x="10595010" y="3222907"/>
                  <a:pt x="10607952" y="3299413"/>
                </a:cubicBezTo>
                <a:cubicBezTo>
                  <a:pt x="10613646" y="3332743"/>
                  <a:pt x="10617917" y="3366376"/>
                  <a:pt x="10620894" y="3400009"/>
                </a:cubicBezTo>
                <a:cubicBezTo>
                  <a:pt x="10626822" y="3485877"/>
                  <a:pt x="10624699" y="3572233"/>
                  <a:pt x="10614553" y="3657556"/>
                </a:cubicBezTo>
                <a:cubicBezTo>
                  <a:pt x="10604846" y="3756637"/>
                  <a:pt x="10620635" y="3856323"/>
                  <a:pt x="10607694" y="3955100"/>
                </a:cubicBezTo>
                <a:cubicBezTo>
                  <a:pt x="10598504" y="4034653"/>
                  <a:pt x="10598155" y="4115265"/>
                  <a:pt x="10606658" y="4194923"/>
                </a:cubicBezTo>
                <a:cubicBezTo>
                  <a:pt x="10621954" y="4345512"/>
                  <a:pt x="10620998" y="4497755"/>
                  <a:pt x="10603811" y="4648057"/>
                </a:cubicBezTo>
                <a:cubicBezTo>
                  <a:pt x="10593198" y="4735775"/>
                  <a:pt x="10587116" y="4826067"/>
                  <a:pt x="10606140" y="4912119"/>
                </a:cubicBezTo>
                <a:cubicBezTo>
                  <a:pt x="10628530" y="5013245"/>
                  <a:pt x="10633189" y="5114446"/>
                  <a:pt x="10629921" y="5215515"/>
                </a:cubicBezTo>
                <a:lnTo>
                  <a:pt x="10625356" y="5273604"/>
                </a:lnTo>
                <a:lnTo>
                  <a:pt x="10624284" y="5284086"/>
                </a:lnTo>
                <a:cubicBezTo>
                  <a:pt x="10601148" y="5404993"/>
                  <a:pt x="10545219" y="5529874"/>
                  <a:pt x="10458692" y="5632218"/>
                </a:cubicBezTo>
                <a:lnTo>
                  <a:pt x="10418904" y="5670857"/>
                </a:lnTo>
                <a:lnTo>
                  <a:pt x="10417064" y="5673484"/>
                </a:lnTo>
                <a:cubicBezTo>
                  <a:pt x="10307992" y="5802550"/>
                  <a:pt x="10158402" y="5877799"/>
                  <a:pt x="9954609" y="5858572"/>
                </a:cubicBezTo>
                <a:cubicBezTo>
                  <a:pt x="9860355" y="5870096"/>
                  <a:pt x="9750551" y="5855439"/>
                  <a:pt x="9657171" y="5854061"/>
                </a:cubicBezTo>
                <a:lnTo>
                  <a:pt x="9612467" y="5856387"/>
                </a:lnTo>
                <a:lnTo>
                  <a:pt x="9279984" y="5838331"/>
                </a:lnTo>
                <a:cubicBezTo>
                  <a:pt x="9153141" y="5834280"/>
                  <a:pt x="9026273" y="5834164"/>
                  <a:pt x="8899305" y="5841275"/>
                </a:cubicBezTo>
                <a:cubicBezTo>
                  <a:pt x="8761407" y="5850940"/>
                  <a:pt x="8623304" y="5854733"/>
                  <a:pt x="8485266" y="5852671"/>
                </a:cubicBezTo>
                <a:lnTo>
                  <a:pt x="8314842" y="5842884"/>
                </a:lnTo>
                <a:lnTo>
                  <a:pt x="8193631" y="5825368"/>
                </a:lnTo>
                <a:lnTo>
                  <a:pt x="8029897" y="5818284"/>
                </a:lnTo>
                <a:lnTo>
                  <a:pt x="8028296" y="5817260"/>
                </a:lnTo>
                <a:lnTo>
                  <a:pt x="8008332" y="5817260"/>
                </a:lnTo>
                <a:lnTo>
                  <a:pt x="8006732" y="5818114"/>
                </a:lnTo>
                <a:lnTo>
                  <a:pt x="7839115" y="5825368"/>
                </a:lnTo>
                <a:lnTo>
                  <a:pt x="7801585" y="5830791"/>
                </a:lnTo>
                <a:lnTo>
                  <a:pt x="7734233" y="5834980"/>
                </a:lnTo>
                <a:lnTo>
                  <a:pt x="7482820" y="5855530"/>
                </a:lnTo>
                <a:lnTo>
                  <a:pt x="7445741" y="5854102"/>
                </a:lnTo>
                <a:lnTo>
                  <a:pt x="7403701" y="5858035"/>
                </a:lnTo>
                <a:lnTo>
                  <a:pt x="7155292" y="5854564"/>
                </a:lnTo>
                <a:cubicBezTo>
                  <a:pt x="6874805" y="5835913"/>
                  <a:pt x="6593917" y="5824488"/>
                  <a:pt x="6312830" y="5849900"/>
                </a:cubicBezTo>
                <a:lnTo>
                  <a:pt x="6232577" y="5855788"/>
                </a:lnTo>
                <a:lnTo>
                  <a:pt x="6231985" y="5855764"/>
                </a:lnTo>
                <a:lnTo>
                  <a:pt x="6166003" y="5858572"/>
                </a:lnTo>
                <a:cubicBezTo>
                  <a:pt x="6100624" y="5861901"/>
                  <a:pt x="6043822" y="5864887"/>
                  <a:pt x="5993271" y="5866513"/>
                </a:cubicBezTo>
                <a:lnTo>
                  <a:pt x="5925657" y="5866398"/>
                </a:lnTo>
                <a:lnTo>
                  <a:pt x="5833706" y="5859695"/>
                </a:lnTo>
                <a:cubicBezTo>
                  <a:pt x="5697214" y="5841788"/>
                  <a:pt x="5559607" y="5838897"/>
                  <a:pt x="5422657" y="5851067"/>
                </a:cubicBezTo>
                <a:lnTo>
                  <a:pt x="5250035" y="5858044"/>
                </a:lnTo>
                <a:lnTo>
                  <a:pt x="5151093" y="5858278"/>
                </a:lnTo>
                <a:lnTo>
                  <a:pt x="4972680" y="5851067"/>
                </a:lnTo>
                <a:cubicBezTo>
                  <a:pt x="4829141" y="5841741"/>
                  <a:pt x="4685204" y="5826120"/>
                  <a:pt x="4542066" y="5842905"/>
                </a:cubicBezTo>
                <a:cubicBezTo>
                  <a:pt x="4491758" y="5848734"/>
                  <a:pt x="4441488" y="5852626"/>
                  <a:pt x="4391242" y="5854962"/>
                </a:cubicBezTo>
                <a:lnTo>
                  <a:pt x="4246482" y="5857576"/>
                </a:lnTo>
                <a:lnTo>
                  <a:pt x="4221030" y="5856572"/>
                </a:lnTo>
                <a:lnTo>
                  <a:pt x="4218005" y="5856681"/>
                </a:lnTo>
                <a:lnTo>
                  <a:pt x="3939367" y="5844305"/>
                </a:lnTo>
                <a:cubicBezTo>
                  <a:pt x="3773470" y="5832648"/>
                  <a:pt x="3606974" y="5815626"/>
                  <a:pt x="3441875" y="5843140"/>
                </a:cubicBezTo>
                <a:cubicBezTo>
                  <a:pt x="3386806" y="5851400"/>
                  <a:pt x="3331601" y="5858126"/>
                  <a:pt x="3276306" y="5863318"/>
                </a:cubicBezTo>
                <a:lnTo>
                  <a:pt x="3225006" y="5866706"/>
                </a:lnTo>
                <a:lnTo>
                  <a:pt x="3194056" y="5866407"/>
                </a:lnTo>
                <a:lnTo>
                  <a:pt x="3082891" y="5863061"/>
                </a:lnTo>
                <a:lnTo>
                  <a:pt x="3013959" y="5869302"/>
                </a:lnTo>
                <a:cubicBezTo>
                  <a:pt x="2910698" y="5871464"/>
                  <a:pt x="2845426" y="5852913"/>
                  <a:pt x="2748311" y="5858572"/>
                </a:cubicBezTo>
                <a:cubicBezTo>
                  <a:pt x="2736171" y="5859279"/>
                  <a:pt x="2721419" y="5860082"/>
                  <a:pt x="2704411" y="5860936"/>
                </a:cubicBezTo>
                <a:lnTo>
                  <a:pt x="2650475" y="5863440"/>
                </a:lnTo>
                <a:lnTo>
                  <a:pt x="2436349" y="5854816"/>
                </a:lnTo>
                <a:cubicBezTo>
                  <a:pt x="2095150" y="5845165"/>
                  <a:pt x="1753811" y="5845122"/>
                  <a:pt x="1412584" y="5830782"/>
                </a:cubicBezTo>
                <a:cubicBezTo>
                  <a:pt x="1262458" y="5824256"/>
                  <a:pt x="1113131" y="5859227"/>
                  <a:pt x="963404" y="5861093"/>
                </a:cubicBezTo>
                <a:cubicBezTo>
                  <a:pt x="896140" y="5861967"/>
                  <a:pt x="828812" y="5861342"/>
                  <a:pt x="761431" y="5859896"/>
                </a:cubicBezTo>
                <a:lnTo>
                  <a:pt x="637698" y="5856158"/>
                </a:lnTo>
                <a:lnTo>
                  <a:pt x="592997" y="5853711"/>
                </a:lnTo>
                <a:cubicBezTo>
                  <a:pt x="391136" y="5830428"/>
                  <a:pt x="227663" y="5724844"/>
                  <a:pt x="123577" y="5564333"/>
                </a:cubicBezTo>
                <a:lnTo>
                  <a:pt x="99502" y="5518240"/>
                </a:lnTo>
                <a:lnTo>
                  <a:pt x="95609" y="5512764"/>
                </a:lnTo>
                <a:lnTo>
                  <a:pt x="86221" y="5492812"/>
                </a:lnTo>
                <a:lnTo>
                  <a:pt x="61763" y="5445986"/>
                </a:lnTo>
                <a:lnTo>
                  <a:pt x="56991" y="5430695"/>
                </a:lnTo>
                <a:lnTo>
                  <a:pt x="41922" y="5398673"/>
                </a:lnTo>
                <a:lnTo>
                  <a:pt x="25760" y="5339273"/>
                </a:lnTo>
                <a:lnTo>
                  <a:pt x="16811" y="5271956"/>
                </a:lnTo>
                <a:cubicBezTo>
                  <a:pt x="9305" y="5238090"/>
                  <a:pt x="4710" y="5203585"/>
                  <a:pt x="3092" y="5168860"/>
                </a:cubicBezTo>
                <a:cubicBezTo>
                  <a:pt x="-7132" y="5042101"/>
                  <a:pt x="10081" y="4917108"/>
                  <a:pt x="24446" y="4791844"/>
                </a:cubicBezTo>
                <a:cubicBezTo>
                  <a:pt x="34023" y="4712006"/>
                  <a:pt x="48647" y="4631352"/>
                  <a:pt x="24446" y="4552331"/>
                </a:cubicBezTo>
                <a:cubicBezTo>
                  <a:pt x="7867" y="4497261"/>
                  <a:pt x="4180" y="4438805"/>
                  <a:pt x="13705" y="4381912"/>
                </a:cubicBezTo>
                <a:cubicBezTo>
                  <a:pt x="29766" y="4280940"/>
                  <a:pt x="33117" y="4178184"/>
                  <a:pt x="23670" y="4076300"/>
                </a:cubicBezTo>
                <a:cubicBezTo>
                  <a:pt x="17432" y="4009125"/>
                  <a:pt x="18390" y="3941419"/>
                  <a:pt x="26517" y="3874462"/>
                </a:cubicBezTo>
                <a:cubicBezTo>
                  <a:pt x="37258" y="3784423"/>
                  <a:pt x="53954" y="3692752"/>
                  <a:pt x="33635" y="3602444"/>
                </a:cubicBezTo>
                <a:cubicBezTo>
                  <a:pt x="1280" y="3458954"/>
                  <a:pt x="7751" y="3315599"/>
                  <a:pt x="20694" y="3171022"/>
                </a:cubicBezTo>
                <a:cubicBezTo>
                  <a:pt x="30400" y="3063439"/>
                  <a:pt x="41141" y="2954632"/>
                  <a:pt x="21728" y="2845824"/>
                </a:cubicBezTo>
                <a:cubicBezTo>
                  <a:pt x="13381" y="2795337"/>
                  <a:pt x="13381" y="2743709"/>
                  <a:pt x="21728" y="2693221"/>
                </a:cubicBezTo>
                <a:cubicBezTo>
                  <a:pt x="31823" y="2625218"/>
                  <a:pt x="41400" y="2557892"/>
                  <a:pt x="28458" y="2489208"/>
                </a:cubicBezTo>
                <a:cubicBezTo>
                  <a:pt x="22764" y="2459285"/>
                  <a:pt x="18493" y="2429092"/>
                  <a:pt x="15516" y="2398898"/>
                </a:cubicBezTo>
                <a:cubicBezTo>
                  <a:pt x="9589" y="2321809"/>
                  <a:pt x="11711" y="2244283"/>
                  <a:pt x="21857" y="2167683"/>
                </a:cubicBezTo>
                <a:cubicBezTo>
                  <a:pt x="31564" y="2078733"/>
                  <a:pt x="15776" y="1989238"/>
                  <a:pt x="28717" y="1900560"/>
                </a:cubicBezTo>
                <a:cubicBezTo>
                  <a:pt x="37907" y="1829142"/>
                  <a:pt x="38255" y="1756772"/>
                  <a:pt x="29752" y="1685258"/>
                </a:cubicBezTo>
                <a:cubicBezTo>
                  <a:pt x="14456" y="1550065"/>
                  <a:pt x="15412" y="1413389"/>
                  <a:pt x="32599" y="1278454"/>
                </a:cubicBezTo>
                <a:cubicBezTo>
                  <a:pt x="43212" y="1199704"/>
                  <a:pt x="49294" y="1118644"/>
                  <a:pt x="30270" y="1041390"/>
                </a:cubicBezTo>
                <a:cubicBezTo>
                  <a:pt x="-14509" y="859818"/>
                  <a:pt x="11634" y="677973"/>
                  <a:pt x="30270" y="497354"/>
                </a:cubicBezTo>
                <a:lnTo>
                  <a:pt x="31725" y="472895"/>
                </a:lnTo>
                <a:lnTo>
                  <a:pt x="43781" y="427827"/>
                </a:lnTo>
                <a:lnTo>
                  <a:pt x="50994" y="413476"/>
                </a:lnTo>
                <a:lnTo>
                  <a:pt x="58372" y="387895"/>
                </a:lnTo>
                <a:cubicBezTo>
                  <a:pt x="111660" y="254431"/>
                  <a:pt x="198390" y="154469"/>
                  <a:pt x="306361" y="90092"/>
                </a:cubicBezTo>
                <a:lnTo>
                  <a:pt x="343340" y="71955"/>
                </a:lnTo>
                <a:lnTo>
                  <a:pt x="451947" y="55771"/>
                </a:lnTo>
                <a:lnTo>
                  <a:pt x="480681" y="50638"/>
                </a:lnTo>
                <a:lnTo>
                  <a:pt x="500476" y="51097"/>
                </a:lnTo>
                <a:cubicBezTo>
                  <a:pt x="614729" y="49684"/>
                  <a:pt x="728933" y="43772"/>
                  <a:pt x="843024" y="32056"/>
                </a:cubicBezTo>
                <a:cubicBezTo>
                  <a:pt x="1123212" y="7156"/>
                  <a:pt x="1404499" y="3566"/>
                  <a:pt x="1685086" y="21332"/>
                </a:cubicBezTo>
                <a:cubicBezTo>
                  <a:pt x="1938623" y="33688"/>
                  <a:pt x="2191759" y="64000"/>
                  <a:pt x="2445896" y="38121"/>
                </a:cubicBezTo>
                <a:cubicBezTo>
                  <a:pt x="2489616" y="33690"/>
                  <a:pt x="2532937" y="26111"/>
                  <a:pt x="2576333" y="19030"/>
                </a:cubicBezTo>
                <a:lnTo>
                  <a:pt x="2696353" y="4251"/>
                </a:lnTo>
                <a:lnTo>
                  <a:pt x="2745536" y="5232"/>
                </a:lnTo>
                <a:cubicBezTo>
                  <a:pt x="2818993" y="6452"/>
                  <a:pt x="2887864" y="7004"/>
                  <a:pt x="2947014" y="5793"/>
                </a:cubicBezTo>
                <a:cubicBezTo>
                  <a:pt x="3006163" y="4584"/>
                  <a:pt x="3060036" y="3178"/>
                  <a:pt x="3110399" y="1949"/>
                </a:cubicBezTo>
                <a:lnTo>
                  <a:pt x="3199002" y="221"/>
                </a:lnTo>
                <a:lnTo>
                  <a:pt x="3325015" y="3583"/>
                </a:lnTo>
                <a:cubicBezTo>
                  <a:pt x="3530714" y="12997"/>
                  <a:pt x="3736239" y="28910"/>
                  <a:pt x="3941762" y="43248"/>
                </a:cubicBezTo>
                <a:cubicBezTo>
                  <a:pt x="4091489" y="53739"/>
                  <a:pt x="4241215" y="66563"/>
                  <a:pt x="4390942" y="37886"/>
                </a:cubicBezTo>
                <a:cubicBezTo>
                  <a:pt x="4517292" y="15154"/>
                  <a:pt x="4645537" y="10467"/>
                  <a:pt x="4772844" y="23896"/>
                </a:cubicBezTo>
                <a:cubicBezTo>
                  <a:pt x="4885597" y="37327"/>
                  <a:pt x="4999052" y="40520"/>
                  <a:pt x="5112224" y="33456"/>
                </a:cubicBezTo>
                <a:lnTo>
                  <a:pt x="5477482" y="6922"/>
                </a:lnTo>
                <a:lnTo>
                  <a:pt x="5517883" y="7607"/>
                </a:lnTo>
                <a:lnTo>
                  <a:pt x="5555683" y="6426"/>
                </a:lnTo>
                <a:cubicBezTo>
                  <a:pt x="5626335" y="3737"/>
                  <a:pt x="5704795" y="995"/>
                  <a:pt x="5791061" y="21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91813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tudent&#10;&#10;Description automatically generated">
            <a:extLst>
              <a:ext uri="{FF2B5EF4-FFF2-40B4-BE49-F238E27FC236}">
                <a16:creationId xmlns:a16="http://schemas.microsoft.com/office/drawing/2014/main" id="{B9BCE14F-07C9-539B-A760-95DDDB01D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7867"/>
          <a:stretch/>
        </p:blipFill>
        <p:spPr>
          <a:xfrm>
            <a:off x="476551" y="1407347"/>
            <a:ext cx="9105299" cy="4842319"/>
          </a:xfrm>
          <a:custGeom>
            <a:avLst/>
            <a:gdLst/>
            <a:ahLst/>
            <a:cxnLst/>
            <a:rect l="l" t="t" r="r" b="b"/>
            <a:pathLst>
              <a:path w="10630858" h="5869478">
                <a:moveTo>
                  <a:pt x="5791061" y="218"/>
                </a:moveTo>
                <a:cubicBezTo>
                  <a:pt x="5877327" y="-560"/>
                  <a:pt x="5971399" y="626"/>
                  <a:pt x="6073275" y="5793"/>
                </a:cubicBezTo>
                <a:cubicBezTo>
                  <a:pt x="6098744" y="7086"/>
                  <a:pt x="6121786" y="8165"/>
                  <a:pt x="6142651" y="9057"/>
                </a:cubicBezTo>
                <a:lnTo>
                  <a:pt x="6164185" y="9874"/>
                </a:lnTo>
                <a:lnTo>
                  <a:pt x="6258731" y="5793"/>
                </a:lnTo>
                <a:lnTo>
                  <a:pt x="6319194" y="2002"/>
                </a:lnTo>
                <a:lnTo>
                  <a:pt x="6413049" y="11772"/>
                </a:lnTo>
                <a:cubicBezTo>
                  <a:pt x="6592720" y="42783"/>
                  <a:pt x="6774188" y="66100"/>
                  <a:pt x="6956654" y="46745"/>
                </a:cubicBezTo>
                <a:cubicBezTo>
                  <a:pt x="7082424" y="33223"/>
                  <a:pt x="7207994" y="25294"/>
                  <a:pt x="7334364" y="25763"/>
                </a:cubicBezTo>
                <a:cubicBezTo>
                  <a:pt x="7624835" y="25763"/>
                  <a:pt x="7915502" y="28559"/>
                  <a:pt x="8205974" y="22730"/>
                </a:cubicBezTo>
                <a:cubicBezTo>
                  <a:pt x="8464499" y="17601"/>
                  <a:pt x="8722029" y="6412"/>
                  <a:pt x="8980756" y="34620"/>
                </a:cubicBezTo>
                <a:cubicBezTo>
                  <a:pt x="9362658" y="76124"/>
                  <a:pt x="9746556" y="62832"/>
                  <a:pt x="10129655" y="57937"/>
                </a:cubicBezTo>
                <a:lnTo>
                  <a:pt x="10163726" y="56766"/>
                </a:lnTo>
                <a:lnTo>
                  <a:pt x="10254950" y="73131"/>
                </a:lnTo>
                <a:lnTo>
                  <a:pt x="10311819" y="101928"/>
                </a:lnTo>
                <a:cubicBezTo>
                  <a:pt x="10479504" y="200737"/>
                  <a:pt x="10591476" y="367254"/>
                  <a:pt x="10625532" y="561669"/>
                </a:cubicBezTo>
                <a:lnTo>
                  <a:pt x="10626834" y="578090"/>
                </a:lnTo>
                <a:lnTo>
                  <a:pt x="10611964" y="734537"/>
                </a:lnTo>
                <a:cubicBezTo>
                  <a:pt x="10602387" y="823467"/>
                  <a:pt x="10587763" y="913306"/>
                  <a:pt x="10611964" y="1001326"/>
                </a:cubicBezTo>
                <a:cubicBezTo>
                  <a:pt x="10628543" y="1062669"/>
                  <a:pt x="10632231" y="1127783"/>
                  <a:pt x="10622705" y="1191154"/>
                </a:cubicBezTo>
                <a:cubicBezTo>
                  <a:pt x="10606645" y="1303627"/>
                  <a:pt x="10603293" y="1418084"/>
                  <a:pt x="10612740" y="1531572"/>
                </a:cubicBezTo>
                <a:cubicBezTo>
                  <a:pt x="10618978" y="1606398"/>
                  <a:pt x="10618020" y="1681815"/>
                  <a:pt x="10609893" y="1756397"/>
                </a:cubicBezTo>
                <a:cubicBezTo>
                  <a:pt x="10599152" y="1856690"/>
                  <a:pt x="10582457" y="1958800"/>
                  <a:pt x="10602776" y="2059394"/>
                </a:cubicBezTo>
                <a:cubicBezTo>
                  <a:pt x="10635130" y="2219226"/>
                  <a:pt x="10628659" y="2378906"/>
                  <a:pt x="10615717" y="2539949"/>
                </a:cubicBezTo>
                <a:cubicBezTo>
                  <a:pt x="10606011" y="2659785"/>
                  <a:pt x="10595269" y="2780984"/>
                  <a:pt x="10614682" y="2902183"/>
                </a:cubicBezTo>
                <a:cubicBezTo>
                  <a:pt x="10623029" y="2958418"/>
                  <a:pt x="10623029" y="3015928"/>
                  <a:pt x="10614682" y="3072165"/>
                </a:cubicBezTo>
                <a:cubicBezTo>
                  <a:pt x="10604587" y="3147914"/>
                  <a:pt x="10595010" y="3222907"/>
                  <a:pt x="10607952" y="3299413"/>
                </a:cubicBezTo>
                <a:cubicBezTo>
                  <a:pt x="10613646" y="3332743"/>
                  <a:pt x="10617917" y="3366376"/>
                  <a:pt x="10620894" y="3400009"/>
                </a:cubicBezTo>
                <a:cubicBezTo>
                  <a:pt x="10626822" y="3485877"/>
                  <a:pt x="10624699" y="3572233"/>
                  <a:pt x="10614553" y="3657556"/>
                </a:cubicBezTo>
                <a:cubicBezTo>
                  <a:pt x="10604846" y="3756637"/>
                  <a:pt x="10620635" y="3856323"/>
                  <a:pt x="10607694" y="3955100"/>
                </a:cubicBezTo>
                <a:cubicBezTo>
                  <a:pt x="10598504" y="4034653"/>
                  <a:pt x="10598155" y="4115265"/>
                  <a:pt x="10606658" y="4194923"/>
                </a:cubicBezTo>
                <a:cubicBezTo>
                  <a:pt x="10621954" y="4345512"/>
                  <a:pt x="10620998" y="4497755"/>
                  <a:pt x="10603811" y="4648057"/>
                </a:cubicBezTo>
                <a:cubicBezTo>
                  <a:pt x="10593198" y="4735775"/>
                  <a:pt x="10587116" y="4826067"/>
                  <a:pt x="10606140" y="4912119"/>
                </a:cubicBezTo>
                <a:cubicBezTo>
                  <a:pt x="10628530" y="5013245"/>
                  <a:pt x="10633189" y="5114446"/>
                  <a:pt x="10629921" y="5215515"/>
                </a:cubicBezTo>
                <a:lnTo>
                  <a:pt x="10625356" y="5273604"/>
                </a:lnTo>
                <a:lnTo>
                  <a:pt x="10624284" y="5284086"/>
                </a:lnTo>
                <a:cubicBezTo>
                  <a:pt x="10601148" y="5404993"/>
                  <a:pt x="10545219" y="5529874"/>
                  <a:pt x="10458692" y="5632218"/>
                </a:cubicBezTo>
                <a:lnTo>
                  <a:pt x="10418904" y="5670857"/>
                </a:lnTo>
                <a:lnTo>
                  <a:pt x="10417064" y="5673484"/>
                </a:lnTo>
                <a:cubicBezTo>
                  <a:pt x="10307992" y="5802550"/>
                  <a:pt x="10158402" y="5877799"/>
                  <a:pt x="9954609" y="5858572"/>
                </a:cubicBezTo>
                <a:cubicBezTo>
                  <a:pt x="9860355" y="5870096"/>
                  <a:pt x="9750551" y="5855439"/>
                  <a:pt x="9657171" y="5854061"/>
                </a:cubicBezTo>
                <a:lnTo>
                  <a:pt x="9612467" y="5856387"/>
                </a:lnTo>
                <a:lnTo>
                  <a:pt x="9279984" y="5838331"/>
                </a:lnTo>
                <a:cubicBezTo>
                  <a:pt x="9153141" y="5834280"/>
                  <a:pt x="9026273" y="5834164"/>
                  <a:pt x="8899305" y="5841275"/>
                </a:cubicBezTo>
                <a:cubicBezTo>
                  <a:pt x="8761407" y="5850940"/>
                  <a:pt x="8623304" y="5854733"/>
                  <a:pt x="8485266" y="5852671"/>
                </a:cubicBezTo>
                <a:lnTo>
                  <a:pt x="8314842" y="5842884"/>
                </a:lnTo>
                <a:lnTo>
                  <a:pt x="8193631" y="5825368"/>
                </a:lnTo>
                <a:lnTo>
                  <a:pt x="8029897" y="5818284"/>
                </a:lnTo>
                <a:lnTo>
                  <a:pt x="8028296" y="5817260"/>
                </a:lnTo>
                <a:lnTo>
                  <a:pt x="8008332" y="5817260"/>
                </a:lnTo>
                <a:lnTo>
                  <a:pt x="8006732" y="5818114"/>
                </a:lnTo>
                <a:lnTo>
                  <a:pt x="7839115" y="5825368"/>
                </a:lnTo>
                <a:lnTo>
                  <a:pt x="7801585" y="5830791"/>
                </a:lnTo>
                <a:lnTo>
                  <a:pt x="7734233" y="5834980"/>
                </a:lnTo>
                <a:lnTo>
                  <a:pt x="7482820" y="5855530"/>
                </a:lnTo>
                <a:lnTo>
                  <a:pt x="7445741" y="5854102"/>
                </a:lnTo>
                <a:lnTo>
                  <a:pt x="7403701" y="5858035"/>
                </a:lnTo>
                <a:lnTo>
                  <a:pt x="7155292" y="5854564"/>
                </a:lnTo>
                <a:cubicBezTo>
                  <a:pt x="6874805" y="5835913"/>
                  <a:pt x="6593917" y="5824488"/>
                  <a:pt x="6312830" y="5849900"/>
                </a:cubicBezTo>
                <a:lnTo>
                  <a:pt x="6232577" y="5855788"/>
                </a:lnTo>
                <a:lnTo>
                  <a:pt x="6231985" y="5855764"/>
                </a:lnTo>
                <a:lnTo>
                  <a:pt x="6166003" y="5858572"/>
                </a:lnTo>
                <a:cubicBezTo>
                  <a:pt x="6100624" y="5861901"/>
                  <a:pt x="6043822" y="5864887"/>
                  <a:pt x="5993271" y="5866513"/>
                </a:cubicBezTo>
                <a:lnTo>
                  <a:pt x="5925657" y="5866398"/>
                </a:lnTo>
                <a:lnTo>
                  <a:pt x="5833706" y="5859695"/>
                </a:lnTo>
                <a:cubicBezTo>
                  <a:pt x="5697214" y="5841788"/>
                  <a:pt x="5559607" y="5838897"/>
                  <a:pt x="5422657" y="5851067"/>
                </a:cubicBezTo>
                <a:lnTo>
                  <a:pt x="5250035" y="5858044"/>
                </a:lnTo>
                <a:lnTo>
                  <a:pt x="5151093" y="5858278"/>
                </a:lnTo>
                <a:lnTo>
                  <a:pt x="4972680" y="5851067"/>
                </a:lnTo>
                <a:cubicBezTo>
                  <a:pt x="4829141" y="5841741"/>
                  <a:pt x="4685204" y="5826120"/>
                  <a:pt x="4542066" y="5842905"/>
                </a:cubicBezTo>
                <a:cubicBezTo>
                  <a:pt x="4491758" y="5848734"/>
                  <a:pt x="4441488" y="5852626"/>
                  <a:pt x="4391242" y="5854962"/>
                </a:cubicBezTo>
                <a:lnTo>
                  <a:pt x="4246482" y="5857576"/>
                </a:lnTo>
                <a:lnTo>
                  <a:pt x="4221030" y="5856572"/>
                </a:lnTo>
                <a:lnTo>
                  <a:pt x="4218005" y="5856681"/>
                </a:lnTo>
                <a:lnTo>
                  <a:pt x="3939367" y="5844305"/>
                </a:lnTo>
                <a:cubicBezTo>
                  <a:pt x="3773470" y="5832648"/>
                  <a:pt x="3606974" y="5815626"/>
                  <a:pt x="3441875" y="5843140"/>
                </a:cubicBezTo>
                <a:cubicBezTo>
                  <a:pt x="3386806" y="5851400"/>
                  <a:pt x="3331601" y="5858126"/>
                  <a:pt x="3276306" y="5863318"/>
                </a:cubicBezTo>
                <a:lnTo>
                  <a:pt x="3225006" y="5866706"/>
                </a:lnTo>
                <a:lnTo>
                  <a:pt x="3194056" y="5866407"/>
                </a:lnTo>
                <a:lnTo>
                  <a:pt x="3082891" y="5863061"/>
                </a:lnTo>
                <a:lnTo>
                  <a:pt x="3013959" y="5869302"/>
                </a:lnTo>
                <a:cubicBezTo>
                  <a:pt x="2910698" y="5871464"/>
                  <a:pt x="2845426" y="5852913"/>
                  <a:pt x="2748311" y="5858572"/>
                </a:cubicBezTo>
                <a:cubicBezTo>
                  <a:pt x="2736171" y="5859279"/>
                  <a:pt x="2721419" y="5860082"/>
                  <a:pt x="2704411" y="5860936"/>
                </a:cubicBezTo>
                <a:lnTo>
                  <a:pt x="2650475" y="5863440"/>
                </a:lnTo>
                <a:lnTo>
                  <a:pt x="2436349" y="5854816"/>
                </a:lnTo>
                <a:cubicBezTo>
                  <a:pt x="2095150" y="5845165"/>
                  <a:pt x="1753811" y="5845122"/>
                  <a:pt x="1412584" y="5830782"/>
                </a:cubicBezTo>
                <a:cubicBezTo>
                  <a:pt x="1262458" y="5824256"/>
                  <a:pt x="1113131" y="5859227"/>
                  <a:pt x="963404" y="5861093"/>
                </a:cubicBezTo>
                <a:cubicBezTo>
                  <a:pt x="896140" y="5861967"/>
                  <a:pt x="828812" y="5861342"/>
                  <a:pt x="761431" y="5859896"/>
                </a:cubicBezTo>
                <a:lnTo>
                  <a:pt x="637698" y="5856158"/>
                </a:lnTo>
                <a:lnTo>
                  <a:pt x="592997" y="5853711"/>
                </a:lnTo>
                <a:cubicBezTo>
                  <a:pt x="391136" y="5830428"/>
                  <a:pt x="227663" y="5724844"/>
                  <a:pt x="123577" y="5564333"/>
                </a:cubicBezTo>
                <a:lnTo>
                  <a:pt x="99502" y="5518240"/>
                </a:lnTo>
                <a:lnTo>
                  <a:pt x="95609" y="5512764"/>
                </a:lnTo>
                <a:lnTo>
                  <a:pt x="86221" y="5492812"/>
                </a:lnTo>
                <a:lnTo>
                  <a:pt x="61763" y="5445986"/>
                </a:lnTo>
                <a:lnTo>
                  <a:pt x="56991" y="5430695"/>
                </a:lnTo>
                <a:lnTo>
                  <a:pt x="41922" y="5398673"/>
                </a:lnTo>
                <a:lnTo>
                  <a:pt x="25760" y="5339273"/>
                </a:lnTo>
                <a:lnTo>
                  <a:pt x="16811" y="5271956"/>
                </a:lnTo>
                <a:cubicBezTo>
                  <a:pt x="9305" y="5238090"/>
                  <a:pt x="4710" y="5203585"/>
                  <a:pt x="3092" y="5168860"/>
                </a:cubicBezTo>
                <a:cubicBezTo>
                  <a:pt x="-7132" y="5042101"/>
                  <a:pt x="10081" y="4917108"/>
                  <a:pt x="24446" y="4791844"/>
                </a:cubicBezTo>
                <a:cubicBezTo>
                  <a:pt x="34023" y="4712006"/>
                  <a:pt x="48647" y="4631352"/>
                  <a:pt x="24446" y="4552331"/>
                </a:cubicBezTo>
                <a:cubicBezTo>
                  <a:pt x="7867" y="4497261"/>
                  <a:pt x="4180" y="4438805"/>
                  <a:pt x="13705" y="4381912"/>
                </a:cubicBezTo>
                <a:cubicBezTo>
                  <a:pt x="29766" y="4280940"/>
                  <a:pt x="33117" y="4178184"/>
                  <a:pt x="23670" y="4076300"/>
                </a:cubicBezTo>
                <a:cubicBezTo>
                  <a:pt x="17432" y="4009125"/>
                  <a:pt x="18390" y="3941419"/>
                  <a:pt x="26517" y="3874462"/>
                </a:cubicBezTo>
                <a:cubicBezTo>
                  <a:pt x="37258" y="3784423"/>
                  <a:pt x="53954" y="3692752"/>
                  <a:pt x="33635" y="3602444"/>
                </a:cubicBezTo>
                <a:cubicBezTo>
                  <a:pt x="1280" y="3458954"/>
                  <a:pt x="7751" y="3315599"/>
                  <a:pt x="20694" y="3171022"/>
                </a:cubicBezTo>
                <a:cubicBezTo>
                  <a:pt x="30400" y="3063439"/>
                  <a:pt x="41141" y="2954632"/>
                  <a:pt x="21728" y="2845824"/>
                </a:cubicBezTo>
                <a:cubicBezTo>
                  <a:pt x="13381" y="2795337"/>
                  <a:pt x="13381" y="2743709"/>
                  <a:pt x="21728" y="2693221"/>
                </a:cubicBezTo>
                <a:cubicBezTo>
                  <a:pt x="31823" y="2625218"/>
                  <a:pt x="41400" y="2557892"/>
                  <a:pt x="28458" y="2489208"/>
                </a:cubicBezTo>
                <a:cubicBezTo>
                  <a:pt x="22764" y="2459285"/>
                  <a:pt x="18493" y="2429092"/>
                  <a:pt x="15516" y="2398898"/>
                </a:cubicBezTo>
                <a:cubicBezTo>
                  <a:pt x="9589" y="2321809"/>
                  <a:pt x="11711" y="2244283"/>
                  <a:pt x="21857" y="2167683"/>
                </a:cubicBezTo>
                <a:cubicBezTo>
                  <a:pt x="31564" y="2078733"/>
                  <a:pt x="15776" y="1989238"/>
                  <a:pt x="28717" y="1900560"/>
                </a:cubicBezTo>
                <a:cubicBezTo>
                  <a:pt x="37907" y="1829142"/>
                  <a:pt x="38255" y="1756772"/>
                  <a:pt x="29752" y="1685258"/>
                </a:cubicBezTo>
                <a:cubicBezTo>
                  <a:pt x="14456" y="1550065"/>
                  <a:pt x="15412" y="1413389"/>
                  <a:pt x="32599" y="1278454"/>
                </a:cubicBezTo>
                <a:cubicBezTo>
                  <a:pt x="43212" y="1199704"/>
                  <a:pt x="49294" y="1118644"/>
                  <a:pt x="30270" y="1041390"/>
                </a:cubicBezTo>
                <a:cubicBezTo>
                  <a:pt x="-14509" y="859818"/>
                  <a:pt x="11634" y="677973"/>
                  <a:pt x="30270" y="497354"/>
                </a:cubicBezTo>
                <a:lnTo>
                  <a:pt x="31725" y="472895"/>
                </a:lnTo>
                <a:lnTo>
                  <a:pt x="43781" y="427827"/>
                </a:lnTo>
                <a:lnTo>
                  <a:pt x="50994" y="413476"/>
                </a:lnTo>
                <a:lnTo>
                  <a:pt x="58372" y="387895"/>
                </a:lnTo>
                <a:cubicBezTo>
                  <a:pt x="111660" y="254431"/>
                  <a:pt x="198390" y="154469"/>
                  <a:pt x="306361" y="90092"/>
                </a:cubicBezTo>
                <a:lnTo>
                  <a:pt x="343340" y="71955"/>
                </a:lnTo>
                <a:lnTo>
                  <a:pt x="451947" y="55771"/>
                </a:lnTo>
                <a:lnTo>
                  <a:pt x="480681" y="50638"/>
                </a:lnTo>
                <a:lnTo>
                  <a:pt x="500476" y="51097"/>
                </a:lnTo>
                <a:cubicBezTo>
                  <a:pt x="614729" y="49684"/>
                  <a:pt x="728933" y="43772"/>
                  <a:pt x="843024" y="32056"/>
                </a:cubicBezTo>
                <a:cubicBezTo>
                  <a:pt x="1123212" y="7156"/>
                  <a:pt x="1404499" y="3566"/>
                  <a:pt x="1685086" y="21332"/>
                </a:cubicBezTo>
                <a:cubicBezTo>
                  <a:pt x="1938623" y="33688"/>
                  <a:pt x="2191759" y="64000"/>
                  <a:pt x="2445896" y="38121"/>
                </a:cubicBezTo>
                <a:cubicBezTo>
                  <a:pt x="2489616" y="33690"/>
                  <a:pt x="2532937" y="26111"/>
                  <a:pt x="2576333" y="19030"/>
                </a:cubicBezTo>
                <a:lnTo>
                  <a:pt x="2696353" y="4251"/>
                </a:lnTo>
                <a:lnTo>
                  <a:pt x="2745536" y="5232"/>
                </a:lnTo>
                <a:cubicBezTo>
                  <a:pt x="2818993" y="6452"/>
                  <a:pt x="2887864" y="7004"/>
                  <a:pt x="2947014" y="5793"/>
                </a:cubicBezTo>
                <a:cubicBezTo>
                  <a:pt x="3006163" y="4584"/>
                  <a:pt x="3060036" y="3178"/>
                  <a:pt x="3110399" y="1949"/>
                </a:cubicBezTo>
                <a:lnTo>
                  <a:pt x="3199002" y="221"/>
                </a:lnTo>
                <a:lnTo>
                  <a:pt x="3325015" y="3583"/>
                </a:lnTo>
                <a:cubicBezTo>
                  <a:pt x="3530714" y="12997"/>
                  <a:pt x="3736239" y="28910"/>
                  <a:pt x="3941762" y="43248"/>
                </a:cubicBezTo>
                <a:cubicBezTo>
                  <a:pt x="4091489" y="53739"/>
                  <a:pt x="4241215" y="66563"/>
                  <a:pt x="4390942" y="37886"/>
                </a:cubicBezTo>
                <a:cubicBezTo>
                  <a:pt x="4517292" y="15154"/>
                  <a:pt x="4645537" y="10467"/>
                  <a:pt x="4772844" y="23896"/>
                </a:cubicBezTo>
                <a:cubicBezTo>
                  <a:pt x="4885597" y="37327"/>
                  <a:pt x="4999052" y="40520"/>
                  <a:pt x="5112224" y="33456"/>
                </a:cubicBezTo>
                <a:lnTo>
                  <a:pt x="5477482" y="6922"/>
                </a:lnTo>
                <a:lnTo>
                  <a:pt x="5517883" y="7607"/>
                </a:lnTo>
                <a:lnTo>
                  <a:pt x="5555683" y="6426"/>
                </a:lnTo>
                <a:cubicBezTo>
                  <a:pt x="5626335" y="3737"/>
                  <a:pt x="5704795" y="995"/>
                  <a:pt x="5791061" y="21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05594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9475">
              <a:lnSpc>
                <a:spcPct val="100000"/>
              </a:lnSpc>
              <a:spcBef>
                <a:spcPts val="100"/>
              </a:spcBef>
            </a:pPr>
            <a:r>
              <a:rPr spc="-120" dirty="0">
                <a:solidFill>
                  <a:srgbClr val="292934"/>
                </a:solidFill>
              </a:rPr>
              <a:t>Entity</a:t>
            </a:r>
            <a:r>
              <a:rPr spc="-254" dirty="0">
                <a:solidFill>
                  <a:srgbClr val="292934"/>
                </a:solidFill>
              </a:rPr>
              <a:t> </a:t>
            </a:r>
            <a:r>
              <a:rPr spc="-90" dirty="0">
                <a:solidFill>
                  <a:srgbClr val="292934"/>
                </a:solidFill>
              </a:rPr>
              <a:t>Sets</a:t>
            </a:r>
            <a:r>
              <a:rPr spc="-250" dirty="0">
                <a:solidFill>
                  <a:srgbClr val="292934"/>
                </a:solidFill>
              </a:rPr>
              <a:t> </a:t>
            </a:r>
            <a:r>
              <a:rPr spc="-110" dirty="0">
                <a:solidFill>
                  <a:srgbClr val="292934"/>
                </a:solidFill>
              </a:rPr>
              <a:t>and</a:t>
            </a:r>
            <a:r>
              <a:rPr spc="-254" dirty="0">
                <a:solidFill>
                  <a:srgbClr val="292934"/>
                </a:solidFill>
              </a:rPr>
              <a:t> </a:t>
            </a:r>
            <a:r>
              <a:rPr spc="-110" dirty="0">
                <a:solidFill>
                  <a:srgbClr val="292934"/>
                </a:solidFill>
              </a:rPr>
              <a:t>Attributes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2816" y="5379720"/>
            <a:ext cx="9309100" cy="1719580"/>
            <a:chOff x="432816" y="5379720"/>
            <a:chExt cx="9309100" cy="1719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816" y="5379720"/>
              <a:ext cx="9308592" cy="14874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440" y="5471160"/>
              <a:ext cx="9140952" cy="162763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65839" y="5615321"/>
            <a:ext cx="8522335" cy="109474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445134" marR="423545" algn="ctr">
              <a:lnSpc>
                <a:spcPts val="2300"/>
              </a:lnSpc>
              <a:spcBef>
                <a:spcPts val="79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static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concept,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involving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structure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data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operations</a:t>
            </a:r>
            <a:r>
              <a:rPr sz="21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data.</a:t>
            </a:r>
            <a:endParaRPr sz="2100">
              <a:latin typeface="Verdana"/>
              <a:cs typeface="Verdana"/>
            </a:endParaRPr>
          </a:p>
          <a:p>
            <a:pPr marL="13970" algn="ctr">
              <a:lnSpc>
                <a:spcPts val="2460"/>
              </a:lnSpc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Thus,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methods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21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4465" y="2456595"/>
            <a:ext cx="1285240" cy="66992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204470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61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59101" y="3381016"/>
            <a:ext cx="1229360" cy="501650"/>
            <a:chOff x="2959101" y="3381016"/>
            <a:chExt cx="1229360" cy="501650"/>
          </a:xfrm>
        </p:grpSpPr>
        <p:sp>
          <p:nvSpPr>
            <p:cNvPr id="9" name="object 9"/>
            <p:cNvSpPr/>
            <p:nvPr/>
          </p:nvSpPr>
          <p:spPr>
            <a:xfrm>
              <a:off x="2964181" y="338609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64181" y="338609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477014" y="3486911"/>
            <a:ext cx="192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84503" y="3445986"/>
            <a:ext cx="1229360" cy="501650"/>
            <a:chOff x="4284503" y="3445986"/>
            <a:chExt cx="1229360" cy="501650"/>
          </a:xfrm>
        </p:grpSpPr>
        <p:sp>
          <p:nvSpPr>
            <p:cNvPr id="13" name="object 13"/>
            <p:cNvSpPr/>
            <p:nvPr/>
          </p:nvSpPr>
          <p:spPr>
            <a:xfrm>
              <a:off x="4289583" y="345106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50" y="489688"/>
                  </a:lnTo>
                  <a:lnTo>
                    <a:pt x="740075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7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7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5" y="5663"/>
                  </a:lnTo>
                  <a:lnTo>
                    <a:pt x="675750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89583" y="345106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615304" y="3553967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999334" y="3121420"/>
            <a:ext cx="2656205" cy="676275"/>
            <a:chOff x="3999334" y="3121420"/>
            <a:chExt cx="2656205" cy="676275"/>
          </a:xfrm>
        </p:grpSpPr>
        <p:sp>
          <p:nvSpPr>
            <p:cNvPr id="17" name="object 17"/>
            <p:cNvSpPr/>
            <p:nvPr/>
          </p:nvSpPr>
          <p:spPr>
            <a:xfrm>
              <a:off x="5564057" y="3301285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4" h="491489">
                  <a:moveTo>
                    <a:pt x="543195" y="0"/>
                  </a:moveTo>
                  <a:lnTo>
                    <a:pt x="479847" y="1652"/>
                  </a:lnTo>
                  <a:lnTo>
                    <a:pt x="418645" y="6485"/>
                  </a:lnTo>
                  <a:lnTo>
                    <a:pt x="359997" y="14316"/>
                  </a:lnTo>
                  <a:lnTo>
                    <a:pt x="304311" y="24959"/>
                  </a:lnTo>
                  <a:lnTo>
                    <a:pt x="251994" y="38231"/>
                  </a:lnTo>
                  <a:lnTo>
                    <a:pt x="203454" y="53947"/>
                  </a:lnTo>
                  <a:lnTo>
                    <a:pt x="159097" y="71924"/>
                  </a:lnTo>
                  <a:lnTo>
                    <a:pt x="119333" y="91976"/>
                  </a:lnTo>
                  <a:lnTo>
                    <a:pt x="84568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8" y="377209"/>
                  </a:lnTo>
                  <a:lnTo>
                    <a:pt x="119333" y="399153"/>
                  </a:lnTo>
                  <a:lnTo>
                    <a:pt x="159097" y="419205"/>
                  </a:lnTo>
                  <a:lnTo>
                    <a:pt x="203454" y="437181"/>
                  </a:lnTo>
                  <a:lnTo>
                    <a:pt x="251994" y="452897"/>
                  </a:lnTo>
                  <a:lnTo>
                    <a:pt x="304311" y="466169"/>
                  </a:lnTo>
                  <a:lnTo>
                    <a:pt x="359997" y="476813"/>
                  </a:lnTo>
                  <a:lnTo>
                    <a:pt x="418645" y="484643"/>
                  </a:lnTo>
                  <a:lnTo>
                    <a:pt x="479847" y="489477"/>
                  </a:lnTo>
                  <a:lnTo>
                    <a:pt x="543195" y="491129"/>
                  </a:lnTo>
                  <a:lnTo>
                    <a:pt x="606543" y="489477"/>
                  </a:lnTo>
                  <a:lnTo>
                    <a:pt x="667745" y="484643"/>
                  </a:lnTo>
                  <a:lnTo>
                    <a:pt x="726392" y="476813"/>
                  </a:lnTo>
                  <a:lnTo>
                    <a:pt x="782078" y="466169"/>
                  </a:lnTo>
                  <a:lnTo>
                    <a:pt x="834395" y="452897"/>
                  </a:lnTo>
                  <a:lnTo>
                    <a:pt x="882936" y="437181"/>
                  </a:lnTo>
                  <a:lnTo>
                    <a:pt x="927292" y="419205"/>
                  </a:lnTo>
                  <a:lnTo>
                    <a:pt x="967056" y="399153"/>
                  </a:lnTo>
                  <a:lnTo>
                    <a:pt x="1001821" y="377209"/>
                  </a:lnTo>
                  <a:lnTo>
                    <a:pt x="1054723" y="328383"/>
                  </a:lnTo>
                  <a:lnTo>
                    <a:pt x="1082736" y="274202"/>
                  </a:lnTo>
                  <a:lnTo>
                    <a:pt x="1086391" y="245564"/>
                  </a:lnTo>
                  <a:lnTo>
                    <a:pt x="1082736" y="216926"/>
                  </a:lnTo>
                  <a:lnTo>
                    <a:pt x="1054723" y="162745"/>
                  </a:lnTo>
                  <a:lnTo>
                    <a:pt x="1001821" y="113920"/>
                  </a:lnTo>
                  <a:lnTo>
                    <a:pt x="967056" y="91976"/>
                  </a:lnTo>
                  <a:lnTo>
                    <a:pt x="927292" y="71924"/>
                  </a:lnTo>
                  <a:lnTo>
                    <a:pt x="882936" y="53947"/>
                  </a:lnTo>
                  <a:lnTo>
                    <a:pt x="834395" y="38231"/>
                  </a:lnTo>
                  <a:lnTo>
                    <a:pt x="782078" y="24959"/>
                  </a:lnTo>
                  <a:lnTo>
                    <a:pt x="726392" y="14316"/>
                  </a:lnTo>
                  <a:lnTo>
                    <a:pt x="667745" y="6485"/>
                  </a:lnTo>
                  <a:lnTo>
                    <a:pt x="606543" y="1652"/>
                  </a:lnTo>
                  <a:lnTo>
                    <a:pt x="54319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64057" y="3301285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4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56991" y="3126500"/>
              <a:ext cx="866775" cy="247015"/>
            </a:xfrm>
            <a:custGeom>
              <a:avLst/>
              <a:gdLst/>
              <a:ahLst/>
              <a:cxnLst/>
              <a:rect l="l" t="t" r="r" b="b"/>
              <a:pathLst>
                <a:path w="866775" h="247014">
                  <a:moveTo>
                    <a:pt x="866164" y="246708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56992" y="3126500"/>
              <a:ext cx="42545" cy="325120"/>
            </a:xfrm>
            <a:custGeom>
              <a:avLst/>
              <a:gdLst/>
              <a:ahLst/>
              <a:cxnLst/>
              <a:rect l="l" t="t" r="r" b="b"/>
              <a:pathLst>
                <a:path w="42545" h="325120">
                  <a:moveTo>
                    <a:pt x="41946" y="324565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004414" y="3126500"/>
              <a:ext cx="852805" cy="332105"/>
            </a:xfrm>
            <a:custGeom>
              <a:avLst/>
              <a:gdLst/>
              <a:ahLst/>
              <a:cxnLst/>
              <a:rect l="l" t="t" r="r" b="b"/>
              <a:pathLst>
                <a:path w="852804" h="332104">
                  <a:moveTo>
                    <a:pt x="0" y="331519"/>
                  </a:moveTo>
                  <a:lnTo>
                    <a:pt x="852578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731652" y="3392423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46982" y="1887661"/>
            <a:ext cx="3484245" cy="851535"/>
            <a:chOff x="5646982" y="1887661"/>
            <a:chExt cx="3484245" cy="851535"/>
          </a:xfrm>
        </p:grpSpPr>
        <p:sp>
          <p:nvSpPr>
            <p:cNvPr id="24" name="object 24"/>
            <p:cNvSpPr/>
            <p:nvPr/>
          </p:nvSpPr>
          <p:spPr>
            <a:xfrm>
              <a:off x="5653755" y="1894434"/>
              <a:ext cx="3470910" cy="838200"/>
            </a:xfrm>
            <a:custGeom>
              <a:avLst/>
              <a:gdLst/>
              <a:ahLst/>
              <a:cxnLst/>
              <a:rect l="l" t="t" r="r" b="b"/>
              <a:pathLst>
                <a:path w="3470909" h="838200">
                  <a:moveTo>
                    <a:pt x="3470431" y="698027"/>
                  </a:moveTo>
                  <a:lnTo>
                    <a:pt x="615026" y="698027"/>
                  </a:lnTo>
                  <a:lnTo>
                    <a:pt x="622143" y="742154"/>
                  </a:lnTo>
                  <a:lnTo>
                    <a:pt x="641962" y="780477"/>
                  </a:lnTo>
                  <a:lnTo>
                    <a:pt x="672183" y="810698"/>
                  </a:lnTo>
                  <a:lnTo>
                    <a:pt x="710507" y="830517"/>
                  </a:lnTo>
                  <a:lnTo>
                    <a:pt x="754634" y="837634"/>
                  </a:lnTo>
                  <a:lnTo>
                    <a:pt x="3330825" y="837634"/>
                  </a:lnTo>
                  <a:lnTo>
                    <a:pt x="3374951" y="830517"/>
                  </a:lnTo>
                  <a:lnTo>
                    <a:pt x="3413274" y="810698"/>
                  </a:lnTo>
                  <a:lnTo>
                    <a:pt x="3443495" y="780477"/>
                  </a:lnTo>
                  <a:lnTo>
                    <a:pt x="3463314" y="742154"/>
                  </a:lnTo>
                  <a:lnTo>
                    <a:pt x="3470431" y="698027"/>
                  </a:lnTo>
                  <a:close/>
                </a:path>
                <a:path w="3470909" h="838200">
                  <a:moveTo>
                    <a:pt x="3330825" y="0"/>
                  </a:moveTo>
                  <a:lnTo>
                    <a:pt x="754634" y="0"/>
                  </a:lnTo>
                  <a:lnTo>
                    <a:pt x="710507" y="7117"/>
                  </a:lnTo>
                  <a:lnTo>
                    <a:pt x="672183" y="26936"/>
                  </a:lnTo>
                  <a:lnTo>
                    <a:pt x="641962" y="57157"/>
                  </a:lnTo>
                  <a:lnTo>
                    <a:pt x="622143" y="95480"/>
                  </a:lnTo>
                  <a:lnTo>
                    <a:pt x="615026" y="139607"/>
                  </a:lnTo>
                  <a:lnTo>
                    <a:pt x="615026" y="488621"/>
                  </a:lnTo>
                  <a:lnTo>
                    <a:pt x="0" y="726959"/>
                  </a:lnTo>
                  <a:lnTo>
                    <a:pt x="615026" y="698027"/>
                  </a:lnTo>
                  <a:lnTo>
                    <a:pt x="3470431" y="698027"/>
                  </a:lnTo>
                  <a:lnTo>
                    <a:pt x="3470431" y="139607"/>
                  </a:lnTo>
                  <a:lnTo>
                    <a:pt x="3463314" y="95480"/>
                  </a:lnTo>
                  <a:lnTo>
                    <a:pt x="3443495" y="57157"/>
                  </a:lnTo>
                  <a:lnTo>
                    <a:pt x="3413274" y="26936"/>
                  </a:lnTo>
                  <a:lnTo>
                    <a:pt x="3374951" y="7117"/>
                  </a:lnTo>
                  <a:lnTo>
                    <a:pt x="3330825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53755" y="1894434"/>
              <a:ext cx="3470910" cy="838200"/>
            </a:xfrm>
            <a:custGeom>
              <a:avLst/>
              <a:gdLst/>
              <a:ahLst/>
              <a:cxnLst/>
              <a:rect l="l" t="t" r="r" b="b"/>
              <a:pathLst>
                <a:path w="3470909" h="838200">
                  <a:moveTo>
                    <a:pt x="615026" y="139607"/>
                  </a:moveTo>
                  <a:lnTo>
                    <a:pt x="622144" y="95480"/>
                  </a:lnTo>
                  <a:lnTo>
                    <a:pt x="641962" y="57157"/>
                  </a:lnTo>
                  <a:lnTo>
                    <a:pt x="672183" y="26936"/>
                  </a:lnTo>
                  <a:lnTo>
                    <a:pt x="710507" y="7117"/>
                  </a:lnTo>
                  <a:lnTo>
                    <a:pt x="754633" y="0"/>
                  </a:lnTo>
                  <a:lnTo>
                    <a:pt x="1090927" y="0"/>
                  </a:lnTo>
                  <a:lnTo>
                    <a:pt x="1804778" y="0"/>
                  </a:lnTo>
                  <a:lnTo>
                    <a:pt x="3330824" y="0"/>
                  </a:lnTo>
                  <a:lnTo>
                    <a:pt x="3374950" y="7117"/>
                  </a:lnTo>
                  <a:lnTo>
                    <a:pt x="3413274" y="26936"/>
                  </a:lnTo>
                  <a:lnTo>
                    <a:pt x="3443495" y="57157"/>
                  </a:lnTo>
                  <a:lnTo>
                    <a:pt x="3463314" y="95480"/>
                  </a:lnTo>
                  <a:lnTo>
                    <a:pt x="3470431" y="139607"/>
                  </a:lnTo>
                  <a:lnTo>
                    <a:pt x="3470431" y="488621"/>
                  </a:lnTo>
                  <a:lnTo>
                    <a:pt x="3470431" y="698030"/>
                  </a:lnTo>
                  <a:lnTo>
                    <a:pt x="3463314" y="742154"/>
                  </a:lnTo>
                  <a:lnTo>
                    <a:pt x="3443495" y="780478"/>
                  </a:lnTo>
                  <a:lnTo>
                    <a:pt x="3413274" y="810699"/>
                  </a:lnTo>
                  <a:lnTo>
                    <a:pt x="3374950" y="830517"/>
                  </a:lnTo>
                  <a:lnTo>
                    <a:pt x="3330824" y="837635"/>
                  </a:lnTo>
                  <a:lnTo>
                    <a:pt x="1804778" y="837635"/>
                  </a:lnTo>
                  <a:lnTo>
                    <a:pt x="1090927" y="837635"/>
                  </a:lnTo>
                  <a:lnTo>
                    <a:pt x="754633" y="837635"/>
                  </a:lnTo>
                  <a:lnTo>
                    <a:pt x="710507" y="830517"/>
                  </a:lnTo>
                  <a:lnTo>
                    <a:pt x="672183" y="810699"/>
                  </a:lnTo>
                  <a:lnTo>
                    <a:pt x="641962" y="780478"/>
                  </a:lnTo>
                  <a:lnTo>
                    <a:pt x="622144" y="742154"/>
                  </a:lnTo>
                  <a:lnTo>
                    <a:pt x="615026" y="698027"/>
                  </a:lnTo>
                  <a:lnTo>
                    <a:pt x="0" y="726959"/>
                  </a:lnTo>
                  <a:lnTo>
                    <a:pt x="615026" y="488621"/>
                  </a:lnTo>
                  <a:lnTo>
                    <a:pt x="615026" y="139607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532318" y="1966976"/>
            <a:ext cx="2329180" cy="66294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algn="ctr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object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is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distinguishable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other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types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objects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677864" y="3580461"/>
            <a:ext cx="2711450" cy="852169"/>
            <a:chOff x="6677864" y="3580461"/>
            <a:chExt cx="2711450" cy="852169"/>
          </a:xfrm>
        </p:grpSpPr>
        <p:sp>
          <p:nvSpPr>
            <p:cNvPr id="28" name="object 28"/>
            <p:cNvSpPr/>
            <p:nvPr/>
          </p:nvSpPr>
          <p:spPr>
            <a:xfrm>
              <a:off x="6684849" y="3587446"/>
              <a:ext cx="2697480" cy="838200"/>
            </a:xfrm>
            <a:custGeom>
              <a:avLst/>
              <a:gdLst/>
              <a:ahLst/>
              <a:cxnLst/>
              <a:rect l="l" t="t" r="r" b="b"/>
              <a:pathLst>
                <a:path w="2697479" h="838200">
                  <a:moveTo>
                    <a:pt x="0" y="98733"/>
                  </a:moveTo>
                  <a:lnTo>
                    <a:pt x="478015" y="349016"/>
                  </a:lnTo>
                  <a:lnTo>
                    <a:pt x="478015" y="698026"/>
                  </a:lnTo>
                  <a:lnTo>
                    <a:pt x="485132" y="742153"/>
                  </a:lnTo>
                  <a:lnTo>
                    <a:pt x="504951" y="780477"/>
                  </a:lnTo>
                  <a:lnTo>
                    <a:pt x="535172" y="810699"/>
                  </a:lnTo>
                  <a:lnTo>
                    <a:pt x="573496" y="830518"/>
                  </a:lnTo>
                  <a:lnTo>
                    <a:pt x="617623" y="837636"/>
                  </a:lnTo>
                  <a:lnTo>
                    <a:pt x="2557703" y="837636"/>
                  </a:lnTo>
                  <a:lnTo>
                    <a:pt x="2601831" y="830518"/>
                  </a:lnTo>
                  <a:lnTo>
                    <a:pt x="2640155" y="810699"/>
                  </a:lnTo>
                  <a:lnTo>
                    <a:pt x="2670376" y="780477"/>
                  </a:lnTo>
                  <a:lnTo>
                    <a:pt x="2690196" y="742153"/>
                  </a:lnTo>
                  <a:lnTo>
                    <a:pt x="2697313" y="698026"/>
                  </a:lnTo>
                  <a:lnTo>
                    <a:pt x="2697313" y="139609"/>
                  </a:lnTo>
                  <a:lnTo>
                    <a:pt x="478015" y="139609"/>
                  </a:lnTo>
                  <a:lnTo>
                    <a:pt x="0" y="98733"/>
                  </a:lnTo>
                  <a:close/>
                </a:path>
                <a:path w="2697479" h="838200">
                  <a:moveTo>
                    <a:pt x="2557703" y="0"/>
                  </a:moveTo>
                  <a:lnTo>
                    <a:pt x="617623" y="0"/>
                  </a:lnTo>
                  <a:lnTo>
                    <a:pt x="573496" y="7117"/>
                  </a:lnTo>
                  <a:lnTo>
                    <a:pt x="535172" y="26936"/>
                  </a:lnTo>
                  <a:lnTo>
                    <a:pt x="504951" y="57158"/>
                  </a:lnTo>
                  <a:lnTo>
                    <a:pt x="485132" y="95482"/>
                  </a:lnTo>
                  <a:lnTo>
                    <a:pt x="478015" y="139609"/>
                  </a:lnTo>
                  <a:lnTo>
                    <a:pt x="2697313" y="139609"/>
                  </a:lnTo>
                  <a:lnTo>
                    <a:pt x="2690196" y="95482"/>
                  </a:lnTo>
                  <a:lnTo>
                    <a:pt x="2670376" y="57158"/>
                  </a:lnTo>
                  <a:lnTo>
                    <a:pt x="2640155" y="26936"/>
                  </a:lnTo>
                  <a:lnTo>
                    <a:pt x="2601831" y="7117"/>
                  </a:lnTo>
                  <a:lnTo>
                    <a:pt x="255770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84849" y="3587446"/>
              <a:ext cx="2697480" cy="838200"/>
            </a:xfrm>
            <a:custGeom>
              <a:avLst/>
              <a:gdLst/>
              <a:ahLst/>
              <a:cxnLst/>
              <a:rect l="l" t="t" r="r" b="b"/>
              <a:pathLst>
                <a:path w="2697479" h="838200">
                  <a:moveTo>
                    <a:pt x="478015" y="139609"/>
                  </a:moveTo>
                  <a:lnTo>
                    <a:pt x="485132" y="95481"/>
                  </a:lnTo>
                  <a:lnTo>
                    <a:pt x="504952" y="57157"/>
                  </a:lnTo>
                  <a:lnTo>
                    <a:pt x="535173" y="26936"/>
                  </a:lnTo>
                  <a:lnTo>
                    <a:pt x="573497" y="7117"/>
                  </a:lnTo>
                  <a:lnTo>
                    <a:pt x="617624" y="0"/>
                  </a:lnTo>
                  <a:lnTo>
                    <a:pt x="847898" y="0"/>
                  </a:lnTo>
                  <a:lnTo>
                    <a:pt x="1402723" y="0"/>
                  </a:lnTo>
                  <a:lnTo>
                    <a:pt x="2557704" y="0"/>
                  </a:lnTo>
                  <a:lnTo>
                    <a:pt x="2601831" y="7117"/>
                  </a:lnTo>
                  <a:lnTo>
                    <a:pt x="2640155" y="26936"/>
                  </a:lnTo>
                  <a:lnTo>
                    <a:pt x="2670377" y="57157"/>
                  </a:lnTo>
                  <a:lnTo>
                    <a:pt x="2690196" y="95481"/>
                  </a:lnTo>
                  <a:lnTo>
                    <a:pt x="2697313" y="139609"/>
                  </a:lnTo>
                  <a:lnTo>
                    <a:pt x="2697313" y="349015"/>
                  </a:lnTo>
                  <a:lnTo>
                    <a:pt x="2697313" y="698026"/>
                  </a:lnTo>
                  <a:lnTo>
                    <a:pt x="2690196" y="742153"/>
                  </a:lnTo>
                  <a:lnTo>
                    <a:pt x="2670377" y="780477"/>
                  </a:lnTo>
                  <a:lnTo>
                    <a:pt x="2640155" y="810698"/>
                  </a:lnTo>
                  <a:lnTo>
                    <a:pt x="2601831" y="830517"/>
                  </a:lnTo>
                  <a:lnTo>
                    <a:pt x="2557704" y="837635"/>
                  </a:lnTo>
                  <a:lnTo>
                    <a:pt x="1402723" y="837635"/>
                  </a:lnTo>
                  <a:lnTo>
                    <a:pt x="847898" y="837635"/>
                  </a:lnTo>
                  <a:lnTo>
                    <a:pt x="617624" y="837635"/>
                  </a:lnTo>
                  <a:lnTo>
                    <a:pt x="573497" y="830517"/>
                  </a:lnTo>
                  <a:lnTo>
                    <a:pt x="535173" y="810698"/>
                  </a:lnTo>
                  <a:lnTo>
                    <a:pt x="504952" y="780477"/>
                  </a:lnTo>
                  <a:lnTo>
                    <a:pt x="485132" y="742153"/>
                  </a:lnTo>
                  <a:lnTo>
                    <a:pt x="478015" y="698026"/>
                  </a:lnTo>
                  <a:lnTo>
                    <a:pt x="478015" y="349015"/>
                  </a:lnTo>
                  <a:lnTo>
                    <a:pt x="0" y="98732"/>
                  </a:lnTo>
                  <a:lnTo>
                    <a:pt x="478015" y="139606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502893" y="3661664"/>
            <a:ext cx="1539875" cy="65976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94615">
              <a:lnSpc>
                <a:spcPct val="88700"/>
              </a:lnSpc>
              <a:spcBef>
                <a:spcPts val="30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5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r>
              <a:rPr sz="15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has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domain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specifying acceptable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values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92623" y="3802224"/>
            <a:ext cx="2644775" cy="851535"/>
            <a:chOff x="492623" y="3802224"/>
            <a:chExt cx="2644775" cy="851535"/>
          </a:xfrm>
        </p:grpSpPr>
        <p:sp>
          <p:nvSpPr>
            <p:cNvPr id="32" name="object 32"/>
            <p:cNvSpPr/>
            <p:nvPr/>
          </p:nvSpPr>
          <p:spPr>
            <a:xfrm>
              <a:off x="499397" y="3808997"/>
              <a:ext cx="2630805" cy="838200"/>
            </a:xfrm>
            <a:custGeom>
              <a:avLst/>
              <a:gdLst/>
              <a:ahLst/>
              <a:cxnLst/>
              <a:rect l="l" t="t" r="r" b="b"/>
              <a:pathLst>
                <a:path w="2630805" h="838200">
                  <a:moveTo>
                    <a:pt x="2134463" y="0"/>
                  </a:moveTo>
                  <a:lnTo>
                    <a:pt x="139607" y="0"/>
                  </a:lnTo>
                  <a:lnTo>
                    <a:pt x="95480" y="7117"/>
                  </a:lnTo>
                  <a:lnTo>
                    <a:pt x="57157" y="26936"/>
                  </a:lnTo>
                  <a:lnTo>
                    <a:pt x="26936" y="57157"/>
                  </a:lnTo>
                  <a:lnTo>
                    <a:pt x="7117" y="95480"/>
                  </a:lnTo>
                  <a:lnTo>
                    <a:pt x="0" y="139606"/>
                  </a:lnTo>
                  <a:lnTo>
                    <a:pt x="0" y="698026"/>
                  </a:lnTo>
                  <a:lnTo>
                    <a:pt x="7117" y="742153"/>
                  </a:lnTo>
                  <a:lnTo>
                    <a:pt x="26936" y="780476"/>
                  </a:lnTo>
                  <a:lnTo>
                    <a:pt x="57157" y="810698"/>
                  </a:lnTo>
                  <a:lnTo>
                    <a:pt x="95480" y="830517"/>
                  </a:lnTo>
                  <a:lnTo>
                    <a:pt x="139607" y="837634"/>
                  </a:lnTo>
                  <a:lnTo>
                    <a:pt x="2134463" y="837634"/>
                  </a:lnTo>
                  <a:lnTo>
                    <a:pt x="2178590" y="830517"/>
                  </a:lnTo>
                  <a:lnTo>
                    <a:pt x="2216914" y="810698"/>
                  </a:lnTo>
                  <a:lnTo>
                    <a:pt x="2247135" y="780476"/>
                  </a:lnTo>
                  <a:lnTo>
                    <a:pt x="2266954" y="742153"/>
                  </a:lnTo>
                  <a:lnTo>
                    <a:pt x="2274071" y="698026"/>
                  </a:lnTo>
                  <a:lnTo>
                    <a:pt x="2274071" y="349015"/>
                  </a:lnTo>
                  <a:lnTo>
                    <a:pt x="2572365" y="139607"/>
                  </a:lnTo>
                  <a:lnTo>
                    <a:pt x="2274071" y="139606"/>
                  </a:lnTo>
                  <a:lnTo>
                    <a:pt x="2266954" y="95480"/>
                  </a:lnTo>
                  <a:lnTo>
                    <a:pt x="2247135" y="57157"/>
                  </a:lnTo>
                  <a:lnTo>
                    <a:pt x="2216914" y="26936"/>
                  </a:lnTo>
                  <a:lnTo>
                    <a:pt x="2178590" y="7117"/>
                  </a:lnTo>
                  <a:lnTo>
                    <a:pt x="2134463" y="0"/>
                  </a:lnTo>
                  <a:close/>
                </a:path>
                <a:path w="2630805" h="838200">
                  <a:moveTo>
                    <a:pt x="2630601" y="98724"/>
                  </a:moveTo>
                  <a:lnTo>
                    <a:pt x="2274071" y="139607"/>
                  </a:lnTo>
                  <a:lnTo>
                    <a:pt x="2572367" y="139606"/>
                  </a:lnTo>
                  <a:lnTo>
                    <a:pt x="2630601" y="98724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9397" y="3808997"/>
              <a:ext cx="2630805" cy="838200"/>
            </a:xfrm>
            <a:custGeom>
              <a:avLst/>
              <a:gdLst/>
              <a:ahLst/>
              <a:cxnLst/>
              <a:rect l="l" t="t" r="r" b="b"/>
              <a:pathLst>
                <a:path w="2630805" h="838200">
                  <a:moveTo>
                    <a:pt x="0" y="139607"/>
                  </a:moveTo>
                  <a:lnTo>
                    <a:pt x="7117" y="95480"/>
                  </a:lnTo>
                  <a:lnTo>
                    <a:pt x="26936" y="57157"/>
                  </a:lnTo>
                  <a:lnTo>
                    <a:pt x="57157" y="26936"/>
                  </a:lnTo>
                  <a:lnTo>
                    <a:pt x="95480" y="7117"/>
                  </a:lnTo>
                  <a:lnTo>
                    <a:pt x="139607" y="0"/>
                  </a:lnTo>
                  <a:lnTo>
                    <a:pt x="1326541" y="0"/>
                  </a:lnTo>
                  <a:lnTo>
                    <a:pt x="1895059" y="0"/>
                  </a:lnTo>
                  <a:lnTo>
                    <a:pt x="2134463" y="0"/>
                  </a:lnTo>
                  <a:lnTo>
                    <a:pt x="2178590" y="7117"/>
                  </a:lnTo>
                  <a:lnTo>
                    <a:pt x="2216914" y="26936"/>
                  </a:lnTo>
                  <a:lnTo>
                    <a:pt x="2247135" y="57157"/>
                  </a:lnTo>
                  <a:lnTo>
                    <a:pt x="2266954" y="95480"/>
                  </a:lnTo>
                  <a:lnTo>
                    <a:pt x="2274071" y="139607"/>
                  </a:lnTo>
                  <a:lnTo>
                    <a:pt x="2630601" y="98724"/>
                  </a:lnTo>
                  <a:lnTo>
                    <a:pt x="2274071" y="349014"/>
                  </a:lnTo>
                  <a:lnTo>
                    <a:pt x="2274071" y="698026"/>
                  </a:lnTo>
                  <a:lnTo>
                    <a:pt x="2266954" y="742153"/>
                  </a:lnTo>
                  <a:lnTo>
                    <a:pt x="2247135" y="780476"/>
                  </a:lnTo>
                  <a:lnTo>
                    <a:pt x="2216914" y="810697"/>
                  </a:lnTo>
                  <a:lnTo>
                    <a:pt x="2178590" y="830516"/>
                  </a:lnTo>
                  <a:lnTo>
                    <a:pt x="2134463" y="837634"/>
                  </a:lnTo>
                  <a:lnTo>
                    <a:pt x="1895059" y="837634"/>
                  </a:lnTo>
                  <a:lnTo>
                    <a:pt x="1326541" y="837634"/>
                  </a:lnTo>
                  <a:lnTo>
                    <a:pt x="139607" y="837634"/>
                  </a:lnTo>
                  <a:lnTo>
                    <a:pt x="95480" y="830516"/>
                  </a:lnTo>
                  <a:lnTo>
                    <a:pt x="57157" y="810697"/>
                  </a:lnTo>
                  <a:lnTo>
                    <a:pt x="26936" y="780476"/>
                  </a:lnTo>
                  <a:lnTo>
                    <a:pt x="7117" y="742153"/>
                  </a:lnTo>
                  <a:lnTo>
                    <a:pt x="0" y="698026"/>
                  </a:lnTo>
                  <a:lnTo>
                    <a:pt x="0" y="349014"/>
                  </a:lnTo>
                  <a:lnTo>
                    <a:pt x="0" y="139605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35672" y="3881120"/>
            <a:ext cx="2002155" cy="66294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 algn="ctr">
              <a:lnSpc>
                <a:spcPts val="1610"/>
              </a:lnSpc>
              <a:spcBef>
                <a:spcPts val="310"/>
              </a:spcBef>
            </a:pP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Underline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indicates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 MT"/>
                <a:cs typeface="Arial MT"/>
              </a:rPr>
              <a:t>that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part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of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primary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726567" y="1844438"/>
            <a:ext cx="2341880" cy="819785"/>
            <a:chOff x="1726567" y="1844438"/>
            <a:chExt cx="2341880" cy="819785"/>
          </a:xfrm>
        </p:grpSpPr>
        <p:sp>
          <p:nvSpPr>
            <p:cNvPr id="36" name="object 36"/>
            <p:cNvSpPr/>
            <p:nvPr/>
          </p:nvSpPr>
          <p:spPr>
            <a:xfrm>
              <a:off x="1733340" y="1851211"/>
              <a:ext cx="2328545" cy="806450"/>
            </a:xfrm>
            <a:custGeom>
              <a:avLst/>
              <a:gdLst/>
              <a:ahLst/>
              <a:cxnLst/>
              <a:rect l="l" t="t" r="r" b="b"/>
              <a:pathLst>
                <a:path w="2328545" h="806450">
                  <a:moveTo>
                    <a:pt x="1776526" y="0"/>
                  </a:moveTo>
                  <a:lnTo>
                    <a:pt x="134308" y="0"/>
                  </a:lnTo>
                  <a:lnTo>
                    <a:pt x="91856" y="6847"/>
                  </a:lnTo>
                  <a:lnTo>
                    <a:pt x="54987" y="25913"/>
                  </a:lnTo>
                  <a:lnTo>
                    <a:pt x="25913" y="54987"/>
                  </a:lnTo>
                  <a:lnTo>
                    <a:pt x="6847" y="91856"/>
                  </a:lnTo>
                  <a:lnTo>
                    <a:pt x="0" y="134307"/>
                  </a:lnTo>
                  <a:lnTo>
                    <a:pt x="0" y="671526"/>
                  </a:lnTo>
                  <a:lnTo>
                    <a:pt x="6847" y="713973"/>
                  </a:lnTo>
                  <a:lnTo>
                    <a:pt x="25913" y="750842"/>
                  </a:lnTo>
                  <a:lnTo>
                    <a:pt x="54987" y="779916"/>
                  </a:lnTo>
                  <a:lnTo>
                    <a:pt x="91856" y="798983"/>
                  </a:lnTo>
                  <a:lnTo>
                    <a:pt x="134308" y="805830"/>
                  </a:lnTo>
                  <a:lnTo>
                    <a:pt x="1776526" y="805830"/>
                  </a:lnTo>
                  <a:lnTo>
                    <a:pt x="1818978" y="798983"/>
                  </a:lnTo>
                  <a:lnTo>
                    <a:pt x="1855847" y="779916"/>
                  </a:lnTo>
                  <a:lnTo>
                    <a:pt x="1884921" y="750842"/>
                  </a:lnTo>
                  <a:lnTo>
                    <a:pt x="1903988" y="713973"/>
                  </a:lnTo>
                  <a:lnTo>
                    <a:pt x="1910835" y="671521"/>
                  </a:lnTo>
                  <a:lnTo>
                    <a:pt x="2277613" y="671521"/>
                  </a:lnTo>
                  <a:lnTo>
                    <a:pt x="1910835" y="470066"/>
                  </a:lnTo>
                  <a:lnTo>
                    <a:pt x="1910835" y="134307"/>
                  </a:lnTo>
                  <a:lnTo>
                    <a:pt x="1903988" y="91856"/>
                  </a:lnTo>
                  <a:lnTo>
                    <a:pt x="1884921" y="54987"/>
                  </a:lnTo>
                  <a:lnTo>
                    <a:pt x="1855847" y="25913"/>
                  </a:lnTo>
                  <a:lnTo>
                    <a:pt x="1818978" y="6847"/>
                  </a:lnTo>
                  <a:lnTo>
                    <a:pt x="1776526" y="0"/>
                  </a:lnTo>
                  <a:close/>
                </a:path>
                <a:path w="2328545" h="806450">
                  <a:moveTo>
                    <a:pt x="2277613" y="671521"/>
                  </a:moveTo>
                  <a:lnTo>
                    <a:pt x="1910835" y="671521"/>
                  </a:lnTo>
                  <a:lnTo>
                    <a:pt x="2328277" y="699348"/>
                  </a:lnTo>
                  <a:lnTo>
                    <a:pt x="2277613" y="671521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33340" y="1851211"/>
              <a:ext cx="2328545" cy="806450"/>
            </a:xfrm>
            <a:custGeom>
              <a:avLst/>
              <a:gdLst/>
              <a:ahLst/>
              <a:cxnLst/>
              <a:rect l="l" t="t" r="r" b="b"/>
              <a:pathLst>
                <a:path w="2328545" h="806450">
                  <a:moveTo>
                    <a:pt x="0" y="134308"/>
                  </a:moveTo>
                  <a:lnTo>
                    <a:pt x="6847" y="91856"/>
                  </a:lnTo>
                  <a:lnTo>
                    <a:pt x="25913" y="54987"/>
                  </a:lnTo>
                  <a:lnTo>
                    <a:pt x="54987" y="25913"/>
                  </a:lnTo>
                  <a:lnTo>
                    <a:pt x="91856" y="6847"/>
                  </a:lnTo>
                  <a:lnTo>
                    <a:pt x="134308" y="0"/>
                  </a:lnTo>
                  <a:lnTo>
                    <a:pt x="1114653" y="0"/>
                  </a:lnTo>
                  <a:lnTo>
                    <a:pt x="1592362" y="0"/>
                  </a:lnTo>
                  <a:lnTo>
                    <a:pt x="1776526" y="0"/>
                  </a:lnTo>
                  <a:lnTo>
                    <a:pt x="1818978" y="6847"/>
                  </a:lnTo>
                  <a:lnTo>
                    <a:pt x="1855847" y="25913"/>
                  </a:lnTo>
                  <a:lnTo>
                    <a:pt x="1884921" y="54987"/>
                  </a:lnTo>
                  <a:lnTo>
                    <a:pt x="1903988" y="91856"/>
                  </a:lnTo>
                  <a:lnTo>
                    <a:pt x="1910835" y="134308"/>
                  </a:lnTo>
                  <a:lnTo>
                    <a:pt x="1910835" y="470067"/>
                  </a:lnTo>
                  <a:lnTo>
                    <a:pt x="2328276" y="699348"/>
                  </a:lnTo>
                  <a:lnTo>
                    <a:pt x="1910835" y="671526"/>
                  </a:lnTo>
                  <a:lnTo>
                    <a:pt x="1903988" y="713973"/>
                  </a:lnTo>
                  <a:lnTo>
                    <a:pt x="1884921" y="750842"/>
                  </a:lnTo>
                  <a:lnTo>
                    <a:pt x="1855847" y="779916"/>
                  </a:lnTo>
                  <a:lnTo>
                    <a:pt x="1818978" y="798983"/>
                  </a:lnTo>
                  <a:lnTo>
                    <a:pt x="1776526" y="805830"/>
                  </a:lnTo>
                  <a:lnTo>
                    <a:pt x="1592362" y="805830"/>
                  </a:lnTo>
                  <a:lnTo>
                    <a:pt x="1114653" y="805830"/>
                  </a:lnTo>
                  <a:lnTo>
                    <a:pt x="134308" y="805830"/>
                  </a:lnTo>
                  <a:lnTo>
                    <a:pt x="91856" y="798983"/>
                  </a:lnTo>
                  <a:lnTo>
                    <a:pt x="54987" y="779916"/>
                  </a:lnTo>
                  <a:lnTo>
                    <a:pt x="25913" y="750842"/>
                  </a:lnTo>
                  <a:lnTo>
                    <a:pt x="6847" y="713973"/>
                  </a:lnTo>
                  <a:lnTo>
                    <a:pt x="0" y="671522"/>
                  </a:lnTo>
                  <a:lnTo>
                    <a:pt x="0" y="470067"/>
                  </a:lnTo>
                  <a:lnTo>
                    <a:pt x="0" y="134308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029204" y="1909064"/>
            <a:ext cx="1319530" cy="65976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ctr">
              <a:lnSpc>
                <a:spcPct val="88700"/>
              </a:lnSpc>
              <a:spcBef>
                <a:spcPts val="30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Every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set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should</a:t>
            </a:r>
            <a:r>
              <a:rPr sz="15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15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primary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0">
              <a:lnSpc>
                <a:spcPct val="100000"/>
              </a:lnSpc>
              <a:spcBef>
                <a:spcPts val="100"/>
              </a:spcBef>
            </a:pPr>
            <a:r>
              <a:rPr spc="-105" dirty="0">
                <a:solidFill>
                  <a:srgbClr val="292934"/>
                </a:solidFill>
              </a:rPr>
              <a:t>Let’s</a:t>
            </a:r>
            <a:r>
              <a:rPr spc="-235" dirty="0">
                <a:solidFill>
                  <a:srgbClr val="292934"/>
                </a:solidFill>
              </a:rPr>
              <a:t> </a:t>
            </a:r>
            <a:r>
              <a:rPr spc="-110" dirty="0">
                <a:solidFill>
                  <a:srgbClr val="292934"/>
                </a:solidFill>
              </a:rPr>
              <a:t>try:</a:t>
            </a:r>
            <a:r>
              <a:rPr spc="-225" dirty="0">
                <a:solidFill>
                  <a:srgbClr val="292934"/>
                </a:solidFill>
              </a:rPr>
              <a:t> </a:t>
            </a:r>
            <a:r>
              <a:rPr spc="-145" dirty="0">
                <a:solidFill>
                  <a:srgbClr val="292934"/>
                </a:solidFill>
              </a:rPr>
              <a:t>Movie-</a:t>
            </a:r>
            <a:r>
              <a:rPr spc="-90" dirty="0">
                <a:solidFill>
                  <a:srgbClr val="292934"/>
                </a:solidFill>
              </a:rPr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3286" y="1537917"/>
            <a:ext cx="1285240" cy="66992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202565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595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Movies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7987" y="2518886"/>
            <a:ext cx="1229360" cy="501650"/>
            <a:chOff x="257987" y="2518886"/>
            <a:chExt cx="1229360" cy="501650"/>
          </a:xfrm>
        </p:grpSpPr>
        <p:sp>
          <p:nvSpPr>
            <p:cNvPr id="5" name="object 5"/>
            <p:cNvSpPr/>
            <p:nvPr/>
          </p:nvSpPr>
          <p:spPr>
            <a:xfrm>
              <a:off x="263067" y="252396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5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3" y="272321"/>
                  </a:lnTo>
                  <a:lnTo>
                    <a:pt x="1218708" y="245564"/>
                  </a:lnTo>
                  <a:lnTo>
                    <a:pt x="1215133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5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3067" y="2523966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91234" y="2627376"/>
            <a:ext cx="3625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title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00636" y="2795889"/>
            <a:ext cx="1229360" cy="501650"/>
            <a:chOff x="1400636" y="2795889"/>
            <a:chExt cx="1229360" cy="501650"/>
          </a:xfrm>
        </p:grpSpPr>
        <p:sp>
          <p:nvSpPr>
            <p:cNvPr id="9" name="object 9"/>
            <p:cNvSpPr/>
            <p:nvPr/>
          </p:nvSpPr>
          <p:spPr>
            <a:xfrm>
              <a:off x="1405716" y="280096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1"/>
                  </a:lnTo>
                  <a:lnTo>
                    <a:pt x="83194" y="369505"/>
                  </a:lnTo>
                  <a:lnTo>
                    <a:pt x="117570" y="390591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50" y="489688"/>
                  </a:lnTo>
                  <a:lnTo>
                    <a:pt x="740075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7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1"/>
                  </a:lnTo>
                  <a:lnTo>
                    <a:pt x="1135513" y="369505"/>
                  </a:lnTo>
                  <a:lnTo>
                    <a:pt x="1187643" y="323181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7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5" y="5663"/>
                  </a:lnTo>
                  <a:lnTo>
                    <a:pt x="675750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05716" y="2800969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91549" y="2901696"/>
            <a:ext cx="446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year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67342" y="2202744"/>
            <a:ext cx="3844290" cy="1114425"/>
            <a:chOff x="867342" y="2202744"/>
            <a:chExt cx="3844290" cy="1114425"/>
          </a:xfrm>
        </p:grpSpPr>
        <p:sp>
          <p:nvSpPr>
            <p:cNvPr id="13" name="object 13"/>
            <p:cNvSpPr/>
            <p:nvPr/>
          </p:nvSpPr>
          <p:spPr>
            <a:xfrm>
              <a:off x="2701897" y="2820816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543196" y="0"/>
                  </a:moveTo>
                  <a:lnTo>
                    <a:pt x="479848" y="1652"/>
                  </a:lnTo>
                  <a:lnTo>
                    <a:pt x="418646" y="6485"/>
                  </a:lnTo>
                  <a:lnTo>
                    <a:pt x="359998" y="14316"/>
                  </a:lnTo>
                  <a:lnTo>
                    <a:pt x="304312" y="24959"/>
                  </a:lnTo>
                  <a:lnTo>
                    <a:pt x="251995" y="38231"/>
                  </a:lnTo>
                  <a:lnTo>
                    <a:pt x="203454" y="53947"/>
                  </a:lnTo>
                  <a:lnTo>
                    <a:pt x="159098" y="71924"/>
                  </a:lnTo>
                  <a:lnTo>
                    <a:pt x="119334" y="91976"/>
                  </a:lnTo>
                  <a:lnTo>
                    <a:pt x="84569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9" y="377209"/>
                  </a:lnTo>
                  <a:lnTo>
                    <a:pt x="119334" y="399153"/>
                  </a:lnTo>
                  <a:lnTo>
                    <a:pt x="159098" y="419205"/>
                  </a:lnTo>
                  <a:lnTo>
                    <a:pt x="203454" y="437181"/>
                  </a:lnTo>
                  <a:lnTo>
                    <a:pt x="251995" y="452897"/>
                  </a:lnTo>
                  <a:lnTo>
                    <a:pt x="304312" y="466169"/>
                  </a:lnTo>
                  <a:lnTo>
                    <a:pt x="359998" y="476813"/>
                  </a:lnTo>
                  <a:lnTo>
                    <a:pt x="418646" y="484643"/>
                  </a:lnTo>
                  <a:lnTo>
                    <a:pt x="479848" y="489477"/>
                  </a:lnTo>
                  <a:lnTo>
                    <a:pt x="543196" y="491129"/>
                  </a:lnTo>
                  <a:lnTo>
                    <a:pt x="606544" y="489477"/>
                  </a:lnTo>
                  <a:lnTo>
                    <a:pt x="667746" y="484643"/>
                  </a:lnTo>
                  <a:lnTo>
                    <a:pt x="726394" y="476813"/>
                  </a:lnTo>
                  <a:lnTo>
                    <a:pt x="782080" y="466169"/>
                  </a:lnTo>
                  <a:lnTo>
                    <a:pt x="834397" y="452897"/>
                  </a:lnTo>
                  <a:lnTo>
                    <a:pt x="882937" y="437181"/>
                  </a:lnTo>
                  <a:lnTo>
                    <a:pt x="927293" y="419205"/>
                  </a:lnTo>
                  <a:lnTo>
                    <a:pt x="967058" y="399153"/>
                  </a:lnTo>
                  <a:lnTo>
                    <a:pt x="1001823" y="377209"/>
                  </a:lnTo>
                  <a:lnTo>
                    <a:pt x="1054724" y="328383"/>
                  </a:lnTo>
                  <a:lnTo>
                    <a:pt x="1082737" y="274202"/>
                  </a:lnTo>
                  <a:lnTo>
                    <a:pt x="1086392" y="245564"/>
                  </a:lnTo>
                  <a:lnTo>
                    <a:pt x="1082737" y="216926"/>
                  </a:lnTo>
                  <a:lnTo>
                    <a:pt x="1054724" y="162745"/>
                  </a:lnTo>
                  <a:lnTo>
                    <a:pt x="1001823" y="113920"/>
                  </a:lnTo>
                  <a:lnTo>
                    <a:pt x="967058" y="91976"/>
                  </a:lnTo>
                  <a:lnTo>
                    <a:pt x="927293" y="71924"/>
                  </a:lnTo>
                  <a:lnTo>
                    <a:pt x="882937" y="53947"/>
                  </a:lnTo>
                  <a:lnTo>
                    <a:pt x="834397" y="38231"/>
                  </a:lnTo>
                  <a:lnTo>
                    <a:pt x="782080" y="24959"/>
                  </a:lnTo>
                  <a:lnTo>
                    <a:pt x="726394" y="14316"/>
                  </a:lnTo>
                  <a:lnTo>
                    <a:pt x="667746" y="6485"/>
                  </a:lnTo>
                  <a:lnTo>
                    <a:pt x="606544" y="1652"/>
                  </a:lnTo>
                  <a:lnTo>
                    <a:pt x="54319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01897" y="2820816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65811" y="2207825"/>
              <a:ext cx="679450" cy="613410"/>
            </a:xfrm>
            <a:custGeom>
              <a:avLst/>
              <a:gdLst/>
              <a:ahLst/>
              <a:cxnLst/>
              <a:rect l="l" t="t" r="r" b="b"/>
              <a:pathLst>
                <a:path w="679450" h="613410">
                  <a:moveTo>
                    <a:pt x="679281" y="612990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015070" y="2207825"/>
              <a:ext cx="551180" cy="593725"/>
            </a:xfrm>
            <a:custGeom>
              <a:avLst/>
              <a:gdLst/>
              <a:ahLst/>
              <a:cxnLst/>
              <a:rect l="l" t="t" r="r" b="b"/>
              <a:pathLst>
                <a:path w="551180" h="593725">
                  <a:moveTo>
                    <a:pt x="0" y="593144"/>
                  </a:moveTo>
                  <a:lnTo>
                    <a:pt x="550741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2422" y="2207824"/>
              <a:ext cx="1693545" cy="316230"/>
            </a:xfrm>
            <a:custGeom>
              <a:avLst/>
              <a:gdLst/>
              <a:ahLst/>
              <a:cxnLst/>
              <a:rect l="l" t="t" r="r" b="b"/>
              <a:pathLst>
                <a:path w="1693545" h="316230">
                  <a:moveTo>
                    <a:pt x="0" y="316141"/>
                  </a:moveTo>
                  <a:lnTo>
                    <a:pt x="169338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19671" y="2453289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543195" y="0"/>
                  </a:moveTo>
                  <a:lnTo>
                    <a:pt x="479847" y="1652"/>
                  </a:lnTo>
                  <a:lnTo>
                    <a:pt x="418645" y="6485"/>
                  </a:lnTo>
                  <a:lnTo>
                    <a:pt x="359998" y="14316"/>
                  </a:lnTo>
                  <a:lnTo>
                    <a:pt x="304312" y="24959"/>
                  </a:lnTo>
                  <a:lnTo>
                    <a:pt x="251995" y="38231"/>
                  </a:lnTo>
                  <a:lnTo>
                    <a:pt x="203454" y="53947"/>
                  </a:lnTo>
                  <a:lnTo>
                    <a:pt x="159098" y="71924"/>
                  </a:lnTo>
                  <a:lnTo>
                    <a:pt x="119334" y="91976"/>
                  </a:lnTo>
                  <a:lnTo>
                    <a:pt x="84569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9" y="377209"/>
                  </a:lnTo>
                  <a:lnTo>
                    <a:pt x="119334" y="399153"/>
                  </a:lnTo>
                  <a:lnTo>
                    <a:pt x="159098" y="419205"/>
                  </a:lnTo>
                  <a:lnTo>
                    <a:pt x="203454" y="437181"/>
                  </a:lnTo>
                  <a:lnTo>
                    <a:pt x="251995" y="452897"/>
                  </a:lnTo>
                  <a:lnTo>
                    <a:pt x="304312" y="466169"/>
                  </a:lnTo>
                  <a:lnTo>
                    <a:pt x="359998" y="476813"/>
                  </a:lnTo>
                  <a:lnTo>
                    <a:pt x="418645" y="484643"/>
                  </a:lnTo>
                  <a:lnTo>
                    <a:pt x="479847" y="489477"/>
                  </a:lnTo>
                  <a:lnTo>
                    <a:pt x="543195" y="491129"/>
                  </a:lnTo>
                  <a:lnTo>
                    <a:pt x="606543" y="489477"/>
                  </a:lnTo>
                  <a:lnTo>
                    <a:pt x="667745" y="484643"/>
                  </a:lnTo>
                  <a:lnTo>
                    <a:pt x="726393" y="476813"/>
                  </a:lnTo>
                  <a:lnTo>
                    <a:pt x="782079" y="466169"/>
                  </a:lnTo>
                  <a:lnTo>
                    <a:pt x="834396" y="452897"/>
                  </a:lnTo>
                  <a:lnTo>
                    <a:pt x="882936" y="437181"/>
                  </a:lnTo>
                  <a:lnTo>
                    <a:pt x="927293" y="419205"/>
                  </a:lnTo>
                  <a:lnTo>
                    <a:pt x="967057" y="399153"/>
                  </a:lnTo>
                  <a:lnTo>
                    <a:pt x="1001822" y="377209"/>
                  </a:lnTo>
                  <a:lnTo>
                    <a:pt x="1054723" y="328383"/>
                  </a:lnTo>
                  <a:lnTo>
                    <a:pt x="1082736" y="274202"/>
                  </a:lnTo>
                  <a:lnTo>
                    <a:pt x="1086391" y="245564"/>
                  </a:lnTo>
                  <a:lnTo>
                    <a:pt x="1082736" y="216926"/>
                  </a:lnTo>
                  <a:lnTo>
                    <a:pt x="1054723" y="162745"/>
                  </a:lnTo>
                  <a:lnTo>
                    <a:pt x="1001822" y="113920"/>
                  </a:lnTo>
                  <a:lnTo>
                    <a:pt x="967057" y="91976"/>
                  </a:lnTo>
                  <a:lnTo>
                    <a:pt x="927293" y="71924"/>
                  </a:lnTo>
                  <a:lnTo>
                    <a:pt x="882936" y="53947"/>
                  </a:lnTo>
                  <a:lnTo>
                    <a:pt x="834396" y="38231"/>
                  </a:lnTo>
                  <a:lnTo>
                    <a:pt x="782079" y="24959"/>
                  </a:lnTo>
                  <a:lnTo>
                    <a:pt x="726393" y="14316"/>
                  </a:lnTo>
                  <a:lnTo>
                    <a:pt x="667745" y="6485"/>
                  </a:lnTo>
                  <a:lnTo>
                    <a:pt x="606543" y="1652"/>
                  </a:lnTo>
                  <a:lnTo>
                    <a:pt x="54319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19671" y="2453289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65811" y="2207824"/>
              <a:ext cx="1597660" cy="245745"/>
            </a:xfrm>
            <a:custGeom>
              <a:avLst/>
              <a:gdLst/>
              <a:ahLst/>
              <a:cxnLst/>
              <a:rect l="l" t="t" r="r" b="b"/>
              <a:pathLst>
                <a:path w="1597660" h="245744">
                  <a:moveTo>
                    <a:pt x="1597054" y="245464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957587" y="2926079"/>
            <a:ext cx="6146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length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89497" y="2545079"/>
            <a:ext cx="5791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genre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33359" y="4431930"/>
            <a:ext cx="1285240" cy="66992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20447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161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MovieStars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28308" y="5269017"/>
            <a:ext cx="1229360" cy="501650"/>
            <a:chOff x="328308" y="5269017"/>
            <a:chExt cx="1229360" cy="501650"/>
          </a:xfrm>
        </p:grpSpPr>
        <p:sp>
          <p:nvSpPr>
            <p:cNvPr id="25" name="object 25"/>
            <p:cNvSpPr/>
            <p:nvPr/>
          </p:nvSpPr>
          <p:spPr>
            <a:xfrm>
              <a:off x="333388" y="5274097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1"/>
                  </a:lnTo>
                  <a:lnTo>
                    <a:pt x="83194" y="369505"/>
                  </a:lnTo>
                  <a:lnTo>
                    <a:pt x="117569" y="390591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1"/>
                  </a:lnTo>
                  <a:lnTo>
                    <a:pt x="1135513" y="369505"/>
                  </a:lnTo>
                  <a:lnTo>
                    <a:pt x="1187643" y="323181"/>
                  </a:lnTo>
                  <a:lnTo>
                    <a:pt x="1215133" y="272321"/>
                  </a:lnTo>
                  <a:lnTo>
                    <a:pt x="1218708" y="245564"/>
                  </a:lnTo>
                  <a:lnTo>
                    <a:pt x="1215133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3388" y="5274097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59109" y="5376672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name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31945" y="5096756"/>
            <a:ext cx="3071495" cy="1179195"/>
            <a:chOff x="1131945" y="5096756"/>
            <a:chExt cx="3071495" cy="1179195"/>
          </a:xfrm>
        </p:grpSpPr>
        <p:sp>
          <p:nvSpPr>
            <p:cNvPr id="29" name="object 29"/>
            <p:cNvSpPr/>
            <p:nvPr/>
          </p:nvSpPr>
          <p:spPr>
            <a:xfrm>
              <a:off x="1137025" y="5744363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543196" y="0"/>
                  </a:moveTo>
                  <a:lnTo>
                    <a:pt x="479848" y="1652"/>
                  </a:lnTo>
                  <a:lnTo>
                    <a:pt x="418646" y="6485"/>
                  </a:lnTo>
                  <a:lnTo>
                    <a:pt x="359998" y="14316"/>
                  </a:lnTo>
                  <a:lnTo>
                    <a:pt x="304312" y="24959"/>
                  </a:lnTo>
                  <a:lnTo>
                    <a:pt x="251995" y="38231"/>
                  </a:lnTo>
                  <a:lnTo>
                    <a:pt x="203454" y="53947"/>
                  </a:lnTo>
                  <a:lnTo>
                    <a:pt x="159098" y="71924"/>
                  </a:lnTo>
                  <a:lnTo>
                    <a:pt x="119334" y="91976"/>
                  </a:lnTo>
                  <a:lnTo>
                    <a:pt x="84569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9" y="377208"/>
                  </a:lnTo>
                  <a:lnTo>
                    <a:pt x="119334" y="399152"/>
                  </a:lnTo>
                  <a:lnTo>
                    <a:pt x="159098" y="419204"/>
                  </a:lnTo>
                  <a:lnTo>
                    <a:pt x="203454" y="437181"/>
                  </a:lnTo>
                  <a:lnTo>
                    <a:pt x="251995" y="452897"/>
                  </a:lnTo>
                  <a:lnTo>
                    <a:pt x="304312" y="466169"/>
                  </a:lnTo>
                  <a:lnTo>
                    <a:pt x="359998" y="476813"/>
                  </a:lnTo>
                  <a:lnTo>
                    <a:pt x="418646" y="484643"/>
                  </a:lnTo>
                  <a:lnTo>
                    <a:pt x="479848" y="489477"/>
                  </a:lnTo>
                  <a:lnTo>
                    <a:pt x="543196" y="491129"/>
                  </a:lnTo>
                  <a:lnTo>
                    <a:pt x="606544" y="489477"/>
                  </a:lnTo>
                  <a:lnTo>
                    <a:pt x="667745" y="484643"/>
                  </a:lnTo>
                  <a:lnTo>
                    <a:pt x="726393" y="476813"/>
                  </a:lnTo>
                  <a:lnTo>
                    <a:pt x="782079" y="466169"/>
                  </a:lnTo>
                  <a:lnTo>
                    <a:pt x="834396" y="452897"/>
                  </a:lnTo>
                  <a:lnTo>
                    <a:pt x="882937" y="437181"/>
                  </a:lnTo>
                  <a:lnTo>
                    <a:pt x="927293" y="419204"/>
                  </a:lnTo>
                  <a:lnTo>
                    <a:pt x="967057" y="399152"/>
                  </a:lnTo>
                  <a:lnTo>
                    <a:pt x="1001822" y="377208"/>
                  </a:lnTo>
                  <a:lnTo>
                    <a:pt x="1054724" y="328383"/>
                  </a:lnTo>
                  <a:lnTo>
                    <a:pt x="1082737" y="274202"/>
                  </a:lnTo>
                  <a:lnTo>
                    <a:pt x="1086391" y="245564"/>
                  </a:lnTo>
                  <a:lnTo>
                    <a:pt x="1082737" y="216926"/>
                  </a:lnTo>
                  <a:lnTo>
                    <a:pt x="1054724" y="162745"/>
                  </a:lnTo>
                  <a:lnTo>
                    <a:pt x="1001822" y="113920"/>
                  </a:lnTo>
                  <a:lnTo>
                    <a:pt x="967057" y="91976"/>
                  </a:lnTo>
                  <a:lnTo>
                    <a:pt x="927293" y="71924"/>
                  </a:lnTo>
                  <a:lnTo>
                    <a:pt x="882937" y="53947"/>
                  </a:lnTo>
                  <a:lnTo>
                    <a:pt x="834396" y="38231"/>
                  </a:lnTo>
                  <a:lnTo>
                    <a:pt x="782079" y="24959"/>
                  </a:lnTo>
                  <a:lnTo>
                    <a:pt x="726393" y="14316"/>
                  </a:lnTo>
                  <a:lnTo>
                    <a:pt x="667745" y="6485"/>
                  </a:lnTo>
                  <a:lnTo>
                    <a:pt x="606544" y="1652"/>
                  </a:lnTo>
                  <a:lnTo>
                    <a:pt x="54319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137025" y="5744363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80220" y="5101836"/>
              <a:ext cx="695960" cy="642620"/>
            </a:xfrm>
            <a:custGeom>
              <a:avLst/>
              <a:gdLst/>
              <a:ahLst/>
              <a:cxnLst/>
              <a:rect l="l" t="t" r="r" b="b"/>
              <a:pathLst>
                <a:path w="695960" h="642620">
                  <a:moveTo>
                    <a:pt x="0" y="642526"/>
                  </a:moveTo>
                  <a:lnTo>
                    <a:pt x="695665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373621" y="5101836"/>
              <a:ext cx="1002665" cy="244475"/>
            </a:xfrm>
            <a:custGeom>
              <a:avLst/>
              <a:gdLst/>
              <a:ahLst/>
              <a:cxnLst/>
              <a:rect l="l" t="t" r="r" b="b"/>
              <a:pathLst>
                <a:path w="1002664" h="244475">
                  <a:moveTo>
                    <a:pt x="0" y="244185"/>
                  </a:moveTo>
                  <a:lnTo>
                    <a:pt x="1002264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94710" y="5779198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543196" y="0"/>
                  </a:moveTo>
                  <a:lnTo>
                    <a:pt x="479848" y="1652"/>
                  </a:lnTo>
                  <a:lnTo>
                    <a:pt x="418646" y="6485"/>
                  </a:lnTo>
                  <a:lnTo>
                    <a:pt x="359998" y="14316"/>
                  </a:lnTo>
                  <a:lnTo>
                    <a:pt x="304312" y="24959"/>
                  </a:lnTo>
                  <a:lnTo>
                    <a:pt x="251995" y="38231"/>
                  </a:lnTo>
                  <a:lnTo>
                    <a:pt x="203454" y="53947"/>
                  </a:lnTo>
                  <a:lnTo>
                    <a:pt x="159098" y="71924"/>
                  </a:lnTo>
                  <a:lnTo>
                    <a:pt x="119334" y="91976"/>
                  </a:lnTo>
                  <a:lnTo>
                    <a:pt x="84569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9" y="377209"/>
                  </a:lnTo>
                  <a:lnTo>
                    <a:pt x="119334" y="399153"/>
                  </a:lnTo>
                  <a:lnTo>
                    <a:pt x="159098" y="419205"/>
                  </a:lnTo>
                  <a:lnTo>
                    <a:pt x="203454" y="437181"/>
                  </a:lnTo>
                  <a:lnTo>
                    <a:pt x="251995" y="452897"/>
                  </a:lnTo>
                  <a:lnTo>
                    <a:pt x="304312" y="466169"/>
                  </a:lnTo>
                  <a:lnTo>
                    <a:pt x="359998" y="476813"/>
                  </a:lnTo>
                  <a:lnTo>
                    <a:pt x="418646" y="484643"/>
                  </a:lnTo>
                  <a:lnTo>
                    <a:pt x="479848" y="489477"/>
                  </a:lnTo>
                  <a:lnTo>
                    <a:pt x="543196" y="491129"/>
                  </a:lnTo>
                  <a:lnTo>
                    <a:pt x="606544" y="489477"/>
                  </a:lnTo>
                  <a:lnTo>
                    <a:pt x="667746" y="484643"/>
                  </a:lnTo>
                  <a:lnTo>
                    <a:pt x="726394" y="476813"/>
                  </a:lnTo>
                  <a:lnTo>
                    <a:pt x="782080" y="466169"/>
                  </a:lnTo>
                  <a:lnTo>
                    <a:pt x="834397" y="452897"/>
                  </a:lnTo>
                  <a:lnTo>
                    <a:pt x="882937" y="437181"/>
                  </a:lnTo>
                  <a:lnTo>
                    <a:pt x="927293" y="419205"/>
                  </a:lnTo>
                  <a:lnTo>
                    <a:pt x="967058" y="399153"/>
                  </a:lnTo>
                  <a:lnTo>
                    <a:pt x="1001823" y="377209"/>
                  </a:lnTo>
                  <a:lnTo>
                    <a:pt x="1054724" y="328383"/>
                  </a:lnTo>
                  <a:lnTo>
                    <a:pt x="1082737" y="274202"/>
                  </a:lnTo>
                  <a:lnTo>
                    <a:pt x="1086392" y="245564"/>
                  </a:lnTo>
                  <a:lnTo>
                    <a:pt x="1082737" y="216926"/>
                  </a:lnTo>
                  <a:lnTo>
                    <a:pt x="1054724" y="162745"/>
                  </a:lnTo>
                  <a:lnTo>
                    <a:pt x="1001823" y="113920"/>
                  </a:lnTo>
                  <a:lnTo>
                    <a:pt x="967058" y="91976"/>
                  </a:lnTo>
                  <a:lnTo>
                    <a:pt x="927293" y="71924"/>
                  </a:lnTo>
                  <a:lnTo>
                    <a:pt x="882937" y="53947"/>
                  </a:lnTo>
                  <a:lnTo>
                    <a:pt x="834397" y="38231"/>
                  </a:lnTo>
                  <a:lnTo>
                    <a:pt x="782080" y="24959"/>
                  </a:lnTo>
                  <a:lnTo>
                    <a:pt x="726394" y="14316"/>
                  </a:lnTo>
                  <a:lnTo>
                    <a:pt x="667746" y="6485"/>
                  </a:lnTo>
                  <a:lnTo>
                    <a:pt x="606544" y="1652"/>
                  </a:lnTo>
                  <a:lnTo>
                    <a:pt x="54319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94710" y="5779198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111834" y="5350842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543195" y="0"/>
                  </a:moveTo>
                  <a:lnTo>
                    <a:pt x="479847" y="1652"/>
                  </a:lnTo>
                  <a:lnTo>
                    <a:pt x="418645" y="6485"/>
                  </a:lnTo>
                  <a:lnTo>
                    <a:pt x="359997" y="14316"/>
                  </a:lnTo>
                  <a:lnTo>
                    <a:pt x="304311" y="24959"/>
                  </a:lnTo>
                  <a:lnTo>
                    <a:pt x="251994" y="38231"/>
                  </a:lnTo>
                  <a:lnTo>
                    <a:pt x="203454" y="53947"/>
                  </a:lnTo>
                  <a:lnTo>
                    <a:pt x="159097" y="71924"/>
                  </a:lnTo>
                  <a:lnTo>
                    <a:pt x="119333" y="91976"/>
                  </a:lnTo>
                  <a:lnTo>
                    <a:pt x="84568" y="113920"/>
                  </a:lnTo>
                  <a:lnTo>
                    <a:pt x="31667" y="162745"/>
                  </a:lnTo>
                  <a:lnTo>
                    <a:pt x="3654" y="216926"/>
                  </a:lnTo>
                  <a:lnTo>
                    <a:pt x="0" y="245564"/>
                  </a:lnTo>
                  <a:lnTo>
                    <a:pt x="3654" y="274202"/>
                  </a:lnTo>
                  <a:lnTo>
                    <a:pt x="31667" y="328383"/>
                  </a:lnTo>
                  <a:lnTo>
                    <a:pt x="84568" y="377208"/>
                  </a:lnTo>
                  <a:lnTo>
                    <a:pt x="119333" y="399152"/>
                  </a:lnTo>
                  <a:lnTo>
                    <a:pt x="159097" y="419204"/>
                  </a:lnTo>
                  <a:lnTo>
                    <a:pt x="203454" y="437181"/>
                  </a:lnTo>
                  <a:lnTo>
                    <a:pt x="251994" y="452897"/>
                  </a:lnTo>
                  <a:lnTo>
                    <a:pt x="304311" y="466169"/>
                  </a:lnTo>
                  <a:lnTo>
                    <a:pt x="359997" y="476813"/>
                  </a:lnTo>
                  <a:lnTo>
                    <a:pt x="418645" y="484643"/>
                  </a:lnTo>
                  <a:lnTo>
                    <a:pt x="479847" y="489477"/>
                  </a:lnTo>
                  <a:lnTo>
                    <a:pt x="543195" y="491129"/>
                  </a:lnTo>
                  <a:lnTo>
                    <a:pt x="606543" y="489477"/>
                  </a:lnTo>
                  <a:lnTo>
                    <a:pt x="667745" y="484643"/>
                  </a:lnTo>
                  <a:lnTo>
                    <a:pt x="726392" y="476813"/>
                  </a:lnTo>
                  <a:lnTo>
                    <a:pt x="782078" y="466169"/>
                  </a:lnTo>
                  <a:lnTo>
                    <a:pt x="834395" y="452897"/>
                  </a:lnTo>
                  <a:lnTo>
                    <a:pt x="882936" y="437181"/>
                  </a:lnTo>
                  <a:lnTo>
                    <a:pt x="927292" y="419204"/>
                  </a:lnTo>
                  <a:lnTo>
                    <a:pt x="967056" y="399152"/>
                  </a:lnTo>
                  <a:lnTo>
                    <a:pt x="1001821" y="377208"/>
                  </a:lnTo>
                  <a:lnTo>
                    <a:pt x="1054723" y="328383"/>
                  </a:lnTo>
                  <a:lnTo>
                    <a:pt x="1082736" y="274202"/>
                  </a:lnTo>
                  <a:lnTo>
                    <a:pt x="1086391" y="245564"/>
                  </a:lnTo>
                  <a:lnTo>
                    <a:pt x="1082736" y="216926"/>
                  </a:lnTo>
                  <a:lnTo>
                    <a:pt x="1054723" y="162745"/>
                  </a:lnTo>
                  <a:lnTo>
                    <a:pt x="1001821" y="113920"/>
                  </a:lnTo>
                  <a:lnTo>
                    <a:pt x="967056" y="91976"/>
                  </a:lnTo>
                  <a:lnTo>
                    <a:pt x="927292" y="71924"/>
                  </a:lnTo>
                  <a:lnTo>
                    <a:pt x="882936" y="53947"/>
                  </a:lnTo>
                  <a:lnTo>
                    <a:pt x="834395" y="38231"/>
                  </a:lnTo>
                  <a:lnTo>
                    <a:pt x="782078" y="24959"/>
                  </a:lnTo>
                  <a:lnTo>
                    <a:pt x="726392" y="14316"/>
                  </a:lnTo>
                  <a:lnTo>
                    <a:pt x="667745" y="6485"/>
                  </a:lnTo>
                  <a:lnTo>
                    <a:pt x="606543" y="1652"/>
                  </a:lnTo>
                  <a:lnTo>
                    <a:pt x="543195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111834" y="5350842"/>
              <a:ext cx="1086485" cy="491490"/>
            </a:xfrm>
            <a:custGeom>
              <a:avLst/>
              <a:gdLst/>
              <a:ahLst/>
              <a:cxnLst/>
              <a:rect l="l" t="t" r="r" b="b"/>
              <a:pathLst>
                <a:path w="1086485" h="491489">
                  <a:moveTo>
                    <a:pt x="0" y="245564"/>
                  </a:moveTo>
                  <a:lnTo>
                    <a:pt x="14346" y="189259"/>
                  </a:lnTo>
                  <a:lnTo>
                    <a:pt x="55211" y="137571"/>
                  </a:lnTo>
                  <a:lnTo>
                    <a:pt x="119333" y="91976"/>
                  </a:lnTo>
                  <a:lnTo>
                    <a:pt x="159098" y="71924"/>
                  </a:lnTo>
                  <a:lnTo>
                    <a:pt x="203454" y="53947"/>
                  </a:lnTo>
                  <a:lnTo>
                    <a:pt x="251994" y="38231"/>
                  </a:lnTo>
                  <a:lnTo>
                    <a:pt x="304312" y="24959"/>
                  </a:lnTo>
                  <a:lnTo>
                    <a:pt x="359998" y="14316"/>
                  </a:lnTo>
                  <a:lnTo>
                    <a:pt x="418645" y="6485"/>
                  </a:lnTo>
                  <a:lnTo>
                    <a:pt x="479847" y="1652"/>
                  </a:lnTo>
                  <a:lnTo>
                    <a:pt x="543195" y="0"/>
                  </a:lnTo>
                  <a:lnTo>
                    <a:pt x="606543" y="1652"/>
                  </a:lnTo>
                  <a:lnTo>
                    <a:pt x="667745" y="6485"/>
                  </a:lnTo>
                  <a:lnTo>
                    <a:pt x="726393" y="14316"/>
                  </a:lnTo>
                  <a:lnTo>
                    <a:pt x="782079" y="24959"/>
                  </a:lnTo>
                  <a:lnTo>
                    <a:pt x="834396" y="38231"/>
                  </a:lnTo>
                  <a:lnTo>
                    <a:pt x="882936" y="53947"/>
                  </a:lnTo>
                  <a:lnTo>
                    <a:pt x="927293" y="71924"/>
                  </a:lnTo>
                  <a:lnTo>
                    <a:pt x="967057" y="91976"/>
                  </a:lnTo>
                  <a:lnTo>
                    <a:pt x="1001822" y="113920"/>
                  </a:lnTo>
                  <a:lnTo>
                    <a:pt x="1054723" y="162745"/>
                  </a:lnTo>
                  <a:lnTo>
                    <a:pt x="1082736" y="216926"/>
                  </a:lnTo>
                  <a:lnTo>
                    <a:pt x="1086391" y="245564"/>
                  </a:lnTo>
                  <a:lnTo>
                    <a:pt x="1082736" y="274202"/>
                  </a:lnTo>
                  <a:lnTo>
                    <a:pt x="1054723" y="328383"/>
                  </a:lnTo>
                  <a:lnTo>
                    <a:pt x="1001822" y="377209"/>
                  </a:lnTo>
                  <a:lnTo>
                    <a:pt x="967057" y="399153"/>
                  </a:lnTo>
                  <a:lnTo>
                    <a:pt x="927293" y="419205"/>
                  </a:lnTo>
                  <a:lnTo>
                    <a:pt x="882936" y="437181"/>
                  </a:lnTo>
                  <a:lnTo>
                    <a:pt x="834396" y="452898"/>
                  </a:lnTo>
                  <a:lnTo>
                    <a:pt x="782079" y="466170"/>
                  </a:lnTo>
                  <a:lnTo>
                    <a:pt x="726393" y="476813"/>
                  </a:lnTo>
                  <a:lnTo>
                    <a:pt x="667745" y="484644"/>
                  </a:lnTo>
                  <a:lnTo>
                    <a:pt x="606543" y="489477"/>
                  </a:lnTo>
                  <a:lnTo>
                    <a:pt x="543195" y="491129"/>
                  </a:lnTo>
                  <a:lnTo>
                    <a:pt x="479847" y="489477"/>
                  </a:lnTo>
                  <a:lnTo>
                    <a:pt x="418645" y="484644"/>
                  </a:lnTo>
                  <a:lnTo>
                    <a:pt x="359998" y="476813"/>
                  </a:lnTo>
                  <a:lnTo>
                    <a:pt x="304312" y="466170"/>
                  </a:lnTo>
                  <a:lnTo>
                    <a:pt x="251994" y="452898"/>
                  </a:lnTo>
                  <a:lnTo>
                    <a:pt x="203454" y="437181"/>
                  </a:lnTo>
                  <a:lnTo>
                    <a:pt x="159098" y="419205"/>
                  </a:lnTo>
                  <a:lnTo>
                    <a:pt x="119333" y="399153"/>
                  </a:lnTo>
                  <a:lnTo>
                    <a:pt x="84569" y="377209"/>
                  </a:lnTo>
                  <a:lnTo>
                    <a:pt x="31667" y="328383"/>
                  </a:lnTo>
                  <a:lnTo>
                    <a:pt x="3654" y="274202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75886" y="5101836"/>
              <a:ext cx="462280" cy="677545"/>
            </a:xfrm>
            <a:custGeom>
              <a:avLst/>
              <a:gdLst/>
              <a:ahLst/>
              <a:cxnLst/>
              <a:rect l="l" t="t" r="r" b="b"/>
              <a:pathLst>
                <a:path w="462280" h="677545">
                  <a:moveTo>
                    <a:pt x="462021" y="677362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75886" y="5101836"/>
              <a:ext cx="1279525" cy="249554"/>
            </a:xfrm>
            <a:custGeom>
              <a:avLst/>
              <a:gdLst/>
              <a:ahLst/>
              <a:cxnLst/>
              <a:rect l="l" t="t" r="r" b="b"/>
              <a:pathLst>
                <a:path w="1279525" h="249554">
                  <a:moveTo>
                    <a:pt x="1279143" y="249005"/>
                  </a:moveTo>
                  <a:lnTo>
                    <a:pt x="0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304618" y="5855208"/>
            <a:ext cx="79565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700" u="sng" spc="-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address</a:t>
            </a:r>
            <a:endParaRPr lang="en-US" sz="1700" dirty="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97141" y="5888735"/>
            <a:ext cx="69913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gender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44592" y="5443728"/>
            <a:ext cx="8693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birthdate</a:t>
            </a:r>
            <a:endParaRPr sz="1700">
              <a:latin typeface="Arial MT"/>
              <a:cs typeface="Arial MT"/>
            </a:endParaRPr>
          </a:p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5073868" y="1632686"/>
          <a:ext cx="4720590" cy="1429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0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Title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R="4953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Year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Length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Genre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Mickey’s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Club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House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1939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231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drama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65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Awesome</a:t>
                      </a:r>
                      <a:r>
                        <a:rPr sz="1500" spc="-7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6921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1977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715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124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715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sciFi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715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Most</a:t>
                      </a:r>
                      <a:r>
                        <a:rPr sz="1500" spc="-5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wanted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1992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95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comedy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3" name="object 43"/>
          <p:cNvGraphicFramePr>
            <a:graphicFrameLocks noGrp="1"/>
          </p:cNvGraphicFramePr>
          <p:nvPr/>
        </p:nvGraphicFramePr>
        <p:xfrm>
          <a:off x="4553991" y="4094800"/>
          <a:ext cx="5224145" cy="2233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gender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birthdate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78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Mickey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 marR="494665">
                        <a:lnSpc>
                          <a:spcPct val="97300"/>
                        </a:lnSpc>
                        <a:spcBef>
                          <a:spcPts val="41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r>
                        <a:rPr sz="1500" spc="-5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Somewhere, Charlottesville,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VA,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22903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5270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01/01/1911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Minnie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marR="52832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r>
                        <a:rPr sz="1500" spc="-9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Another</a:t>
                      </a:r>
                      <a:r>
                        <a:rPr sz="1500" spc="-9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place, </a:t>
                      </a: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Fairfax,</a:t>
                      </a:r>
                      <a:r>
                        <a:rPr sz="1500" spc="-7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VA,</a:t>
                      </a:r>
                      <a:r>
                        <a:rPr sz="1500" spc="-7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22030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02/02/1912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Donald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33</a:t>
                      </a:r>
                      <a:r>
                        <a:rPr sz="1500" spc="-4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Nowhere,</a:t>
                      </a:r>
                      <a:endParaRPr sz="1500">
                        <a:latin typeface="Arial MT"/>
                        <a:cs typeface="Arial MT"/>
                      </a:endParaRPr>
                    </a:p>
                    <a:p>
                      <a:pPr marL="97155">
                        <a:lnSpc>
                          <a:spcPct val="100000"/>
                        </a:lnSpc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Charlottesville,</a:t>
                      </a:r>
                      <a:r>
                        <a:rPr sz="1500" spc="-4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22911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03/03/1913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object 44"/>
          <p:cNvSpPr txBox="1"/>
          <p:nvPr/>
        </p:nvSpPr>
        <p:spPr>
          <a:xfrm>
            <a:off x="8932028" y="1310640"/>
            <a:ext cx="7677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Movies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422588" y="3782567"/>
            <a:ext cx="12261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MovieStars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2721" y="7009383"/>
            <a:ext cx="85972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7475">
              <a:lnSpc>
                <a:spcPct val="100000"/>
              </a:lnSpc>
              <a:spcBef>
                <a:spcPts val="100"/>
              </a:spcBef>
            </a:pPr>
            <a:r>
              <a:rPr spc="-120" dirty="0">
                <a:solidFill>
                  <a:srgbClr val="292934"/>
                </a:solidFill>
              </a:rPr>
              <a:t>Relationships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100"/>
              </a:spcBef>
              <a:buSzPct val="86956"/>
              <a:buFont typeface="Arial MT"/>
              <a:buChar char="•"/>
              <a:tabLst>
                <a:tab pos="205740" algn="l"/>
              </a:tabLst>
            </a:pPr>
            <a:r>
              <a:rPr dirty="0"/>
              <a:t>Connections</a:t>
            </a:r>
            <a:r>
              <a:rPr spc="80" dirty="0"/>
              <a:t> </a:t>
            </a:r>
            <a:r>
              <a:rPr dirty="0"/>
              <a:t>among</a:t>
            </a:r>
            <a:r>
              <a:rPr spc="95" dirty="0"/>
              <a:t> </a:t>
            </a:r>
            <a:r>
              <a:rPr dirty="0"/>
              <a:t>two</a:t>
            </a:r>
            <a:r>
              <a:rPr spc="90" dirty="0"/>
              <a:t> </a:t>
            </a:r>
            <a:r>
              <a:rPr dirty="0"/>
              <a:t>or</a:t>
            </a:r>
            <a:r>
              <a:rPr spc="80" dirty="0"/>
              <a:t> </a:t>
            </a:r>
            <a:r>
              <a:rPr dirty="0"/>
              <a:t>more</a:t>
            </a:r>
            <a:r>
              <a:rPr spc="90" dirty="0"/>
              <a:t> </a:t>
            </a:r>
            <a:r>
              <a:rPr dirty="0"/>
              <a:t>entity</a:t>
            </a:r>
            <a:r>
              <a:rPr spc="85" dirty="0"/>
              <a:t> </a:t>
            </a:r>
            <a:r>
              <a:rPr spc="-20" dirty="0"/>
              <a:t>sets</a:t>
            </a:r>
          </a:p>
          <a:p>
            <a:pPr marL="205104" marR="313055" indent="-193040">
              <a:lnSpc>
                <a:spcPct val="101699"/>
              </a:lnSpc>
              <a:spcBef>
                <a:spcPts val="2185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07645" algn="l"/>
              </a:tabLst>
            </a:pP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Binary</a:t>
            </a:r>
            <a:r>
              <a:rPr b="1" spc="1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relationships</a:t>
            </a:r>
            <a:r>
              <a:rPr b="1" spc="1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/>
              <a:t>–</a:t>
            </a:r>
            <a:r>
              <a:rPr spc="120" dirty="0"/>
              <a:t> </a:t>
            </a:r>
            <a:r>
              <a:rPr dirty="0"/>
              <a:t>connections</a:t>
            </a:r>
            <a:r>
              <a:rPr spc="120" dirty="0"/>
              <a:t> </a:t>
            </a:r>
            <a:r>
              <a:rPr dirty="0"/>
              <a:t>between</a:t>
            </a:r>
            <a:r>
              <a:rPr spc="110" dirty="0"/>
              <a:t> </a:t>
            </a:r>
            <a:r>
              <a:rPr dirty="0"/>
              <a:t>two</a:t>
            </a:r>
            <a:r>
              <a:rPr spc="120" dirty="0"/>
              <a:t> </a:t>
            </a:r>
            <a:r>
              <a:rPr spc="-10" dirty="0"/>
              <a:t>entity 	</a:t>
            </a:r>
            <a:r>
              <a:rPr spc="-20" dirty="0"/>
              <a:t>sets</a:t>
            </a:r>
          </a:p>
          <a:p>
            <a:pPr marL="205104" marR="5080" indent="-193040">
              <a:lnSpc>
                <a:spcPct val="101699"/>
              </a:lnSpc>
              <a:spcBef>
                <a:spcPts val="2185"/>
              </a:spcBef>
              <a:buClr>
                <a:srgbClr val="292934"/>
              </a:buClr>
              <a:buSzPct val="86956"/>
              <a:buFont typeface="Arial MT"/>
              <a:buChar char="•"/>
              <a:tabLst>
                <a:tab pos="207645" algn="l"/>
              </a:tabLst>
            </a:pP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Multi-way</a:t>
            </a:r>
            <a:r>
              <a:rPr b="1" spc="1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relationships</a:t>
            </a:r>
            <a:r>
              <a:rPr b="1" spc="1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/>
              <a:t>(</a:t>
            </a:r>
            <a:r>
              <a:rPr b="1" dirty="0">
                <a:solidFill>
                  <a:srgbClr val="C00000"/>
                </a:solidFill>
                <a:latin typeface="Verdana"/>
                <a:cs typeface="Verdana"/>
              </a:rPr>
              <a:t>u-ary</a:t>
            </a:r>
            <a:r>
              <a:rPr dirty="0"/>
              <a:t>)</a:t>
            </a:r>
            <a:r>
              <a:rPr spc="155" dirty="0"/>
              <a:t> </a:t>
            </a:r>
            <a:r>
              <a:rPr dirty="0"/>
              <a:t>–</a:t>
            </a:r>
            <a:r>
              <a:rPr spc="160" dirty="0"/>
              <a:t> </a:t>
            </a:r>
            <a:r>
              <a:rPr dirty="0"/>
              <a:t>connections</a:t>
            </a:r>
            <a:r>
              <a:rPr spc="160" dirty="0"/>
              <a:t> </a:t>
            </a:r>
            <a:r>
              <a:rPr spc="-10" dirty="0"/>
              <a:t>involving 	</a:t>
            </a:r>
            <a:r>
              <a:rPr dirty="0"/>
              <a:t>more</a:t>
            </a:r>
            <a:r>
              <a:rPr spc="60" dirty="0"/>
              <a:t> </a:t>
            </a:r>
            <a:r>
              <a:rPr dirty="0"/>
              <a:t>than</a:t>
            </a:r>
            <a:r>
              <a:rPr spc="60" dirty="0"/>
              <a:t> </a:t>
            </a:r>
            <a:r>
              <a:rPr dirty="0"/>
              <a:t>two</a:t>
            </a:r>
            <a:r>
              <a:rPr spc="65" dirty="0"/>
              <a:t> </a:t>
            </a:r>
            <a:r>
              <a:rPr dirty="0"/>
              <a:t>entity</a:t>
            </a:r>
            <a:r>
              <a:rPr spc="60" dirty="0"/>
              <a:t> </a:t>
            </a:r>
            <a:r>
              <a:rPr spc="-20" dirty="0"/>
              <a:t>sets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1540">
              <a:lnSpc>
                <a:spcPct val="100000"/>
              </a:lnSpc>
              <a:spcBef>
                <a:spcPts val="100"/>
              </a:spcBef>
            </a:pPr>
            <a:r>
              <a:rPr sz="4100" spc="-125" dirty="0">
                <a:solidFill>
                  <a:srgbClr val="292934"/>
                </a:solidFill>
              </a:rPr>
              <a:t>Cardinality</a:t>
            </a:r>
            <a:r>
              <a:rPr sz="4100" spc="-260" dirty="0">
                <a:solidFill>
                  <a:srgbClr val="292934"/>
                </a:solidFill>
              </a:rPr>
              <a:t> </a:t>
            </a:r>
            <a:r>
              <a:rPr sz="4100" spc="-90" dirty="0">
                <a:solidFill>
                  <a:srgbClr val="292934"/>
                </a:solidFill>
              </a:rPr>
              <a:t>(or</a:t>
            </a:r>
            <a:r>
              <a:rPr sz="4100" spc="-260" dirty="0">
                <a:solidFill>
                  <a:srgbClr val="292934"/>
                </a:solidFill>
              </a:rPr>
              <a:t> </a:t>
            </a:r>
            <a:r>
              <a:rPr sz="4100" spc="-114" dirty="0">
                <a:solidFill>
                  <a:srgbClr val="292934"/>
                </a:solidFill>
              </a:rPr>
              <a:t>Multiplicity)</a:t>
            </a:r>
            <a:endParaRPr sz="4100"/>
          </a:p>
        </p:txBody>
      </p:sp>
      <p:grpSp>
        <p:nvGrpSpPr>
          <p:cNvPr id="3" name="object 3"/>
          <p:cNvGrpSpPr/>
          <p:nvPr/>
        </p:nvGrpSpPr>
        <p:grpSpPr>
          <a:xfrm>
            <a:off x="4802548" y="2553509"/>
            <a:ext cx="3223260" cy="688975"/>
            <a:chOff x="4802548" y="2553509"/>
            <a:chExt cx="3223260" cy="688975"/>
          </a:xfrm>
        </p:grpSpPr>
        <p:sp>
          <p:nvSpPr>
            <p:cNvPr id="4" name="object 4"/>
            <p:cNvSpPr/>
            <p:nvPr/>
          </p:nvSpPr>
          <p:spPr>
            <a:xfrm>
              <a:off x="5585970" y="25585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4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85970" y="25585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02543" y="2838322"/>
              <a:ext cx="3223260" cy="106680"/>
            </a:xfrm>
            <a:custGeom>
              <a:avLst/>
              <a:gdLst/>
              <a:ahLst/>
              <a:cxnLst/>
              <a:rect l="l" t="t" r="r" b="b"/>
              <a:pathLst>
                <a:path w="3223259" h="106680">
                  <a:moveTo>
                    <a:pt x="783463" y="54457"/>
                  </a:moveTo>
                  <a:lnTo>
                    <a:pt x="28917" y="47561"/>
                  </a:lnTo>
                  <a:lnTo>
                    <a:pt x="29222" y="47396"/>
                  </a:lnTo>
                  <a:lnTo>
                    <a:pt x="96748" y="8826"/>
                  </a:lnTo>
                  <a:lnTo>
                    <a:pt x="97599" y="5715"/>
                  </a:lnTo>
                  <a:lnTo>
                    <a:pt x="94805" y="850"/>
                  </a:lnTo>
                  <a:lnTo>
                    <a:pt x="91706" y="0"/>
                  </a:lnTo>
                  <a:lnTo>
                    <a:pt x="0" y="52374"/>
                  </a:lnTo>
                  <a:lnTo>
                    <a:pt x="90728" y="106426"/>
                  </a:lnTo>
                  <a:lnTo>
                    <a:pt x="93853" y="105638"/>
                  </a:lnTo>
                  <a:lnTo>
                    <a:pt x="96723" y="100812"/>
                  </a:lnTo>
                  <a:lnTo>
                    <a:pt x="95935" y="97701"/>
                  </a:lnTo>
                  <a:lnTo>
                    <a:pt x="28829" y="57721"/>
                  </a:lnTo>
                  <a:lnTo>
                    <a:pt x="783374" y="64617"/>
                  </a:lnTo>
                  <a:lnTo>
                    <a:pt x="783463" y="54457"/>
                  </a:lnTo>
                  <a:close/>
                </a:path>
                <a:path w="3223259" h="106680">
                  <a:moveTo>
                    <a:pt x="3223031" y="52374"/>
                  </a:moveTo>
                  <a:lnTo>
                    <a:pt x="3214306" y="47396"/>
                  </a:lnTo>
                  <a:lnTo>
                    <a:pt x="3131312" y="25"/>
                  </a:lnTo>
                  <a:lnTo>
                    <a:pt x="3128213" y="876"/>
                  </a:lnTo>
                  <a:lnTo>
                    <a:pt x="3125432" y="5740"/>
                  </a:lnTo>
                  <a:lnTo>
                    <a:pt x="3126282" y="8851"/>
                  </a:lnTo>
                  <a:lnTo>
                    <a:pt x="3194113" y="47574"/>
                  </a:lnTo>
                  <a:lnTo>
                    <a:pt x="2460993" y="54457"/>
                  </a:lnTo>
                  <a:lnTo>
                    <a:pt x="2461082" y="64617"/>
                  </a:lnTo>
                  <a:lnTo>
                    <a:pt x="3194215" y="57734"/>
                  </a:lnTo>
                  <a:lnTo>
                    <a:pt x="3127108" y="97726"/>
                  </a:lnTo>
                  <a:lnTo>
                    <a:pt x="3126321" y="100838"/>
                  </a:lnTo>
                  <a:lnTo>
                    <a:pt x="3129191" y="105664"/>
                  </a:lnTo>
                  <a:lnTo>
                    <a:pt x="3132315" y="106451"/>
                  </a:lnTo>
                  <a:lnTo>
                    <a:pt x="3223031" y="52374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802548" y="3539406"/>
            <a:ext cx="3228340" cy="688975"/>
            <a:chOff x="4802548" y="3539406"/>
            <a:chExt cx="3228340" cy="688975"/>
          </a:xfrm>
        </p:grpSpPr>
        <p:sp>
          <p:nvSpPr>
            <p:cNvPr id="8" name="object 8"/>
            <p:cNvSpPr/>
            <p:nvPr/>
          </p:nvSpPr>
          <p:spPr>
            <a:xfrm>
              <a:off x="5585970" y="354448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85970" y="354448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2548" y="3824214"/>
              <a:ext cx="783590" cy="106680"/>
            </a:xfrm>
            <a:custGeom>
              <a:avLst/>
              <a:gdLst/>
              <a:ahLst/>
              <a:cxnLst/>
              <a:rect l="l" t="t" r="r" b="b"/>
              <a:pathLst>
                <a:path w="783589" h="106679">
                  <a:moveTo>
                    <a:pt x="91707" y="0"/>
                  </a:moveTo>
                  <a:lnTo>
                    <a:pt x="0" y="52379"/>
                  </a:lnTo>
                  <a:lnTo>
                    <a:pt x="90735" y="106425"/>
                  </a:lnTo>
                  <a:lnTo>
                    <a:pt x="93853" y="105636"/>
                  </a:lnTo>
                  <a:lnTo>
                    <a:pt x="96724" y="100815"/>
                  </a:lnTo>
                  <a:lnTo>
                    <a:pt x="95934" y="97697"/>
                  </a:lnTo>
                  <a:lnTo>
                    <a:pt x="28823" y="57722"/>
                  </a:lnTo>
                  <a:lnTo>
                    <a:pt x="10036" y="57551"/>
                  </a:lnTo>
                  <a:lnTo>
                    <a:pt x="10130" y="47391"/>
                  </a:lnTo>
                  <a:lnTo>
                    <a:pt x="29219" y="47391"/>
                  </a:lnTo>
                  <a:lnTo>
                    <a:pt x="96747" y="8822"/>
                  </a:lnTo>
                  <a:lnTo>
                    <a:pt x="97594" y="5720"/>
                  </a:lnTo>
                  <a:lnTo>
                    <a:pt x="94810" y="847"/>
                  </a:lnTo>
                  <a:lnTo>
                    <a:pt x="91707" y="0"/>
                  </a:lnTo>
                  <a:close/>
                </a:path>
                <a:path w="783589" h="106679">
                  <a:moveTo>
                    <a:pt x="28919" y="47562"/>
                  </a:moveTo>
                  <a:lnTo>
                    <a:pt x="20162" y="52564"/>
                  </a:lnTo>
                  <a:lnTo>
                    <a:pt x="28823" y="57722"/>
                  </a:lnTo>
                  <a:lnTo>
                    <a:pt x="783375" y="64617"/>
                  </a:lnTo>
                  <a:lnTo>
                    <a:pt x="783468" y="54457"/>
                  </a:lnTo>
                  <a:lnTo>
                    <a:pt x="28919" y="47562"/>
                  </a:lnTo>
                  <a:close/>
                </a:path>
                <a:path w="783589" h="106679">
                  <a:moveTo>
                    <a:pt x="10130" y="47391"/>
                  </a:moveTo>
                  <a:lnTo>
                    <a:pt x="10036" y="57551"/>
                  </a:lnTo>
                  <a:lnTo>
                    <a:pt x="28823" y="57722"/>
                  </a:lnTo>
                  <a:lnTo>
                    <a:pt x="27414" y="56883"/>
                  </a:lnTo>
                  <a:lnTo>
                    <a:pt x="12600" y="56883"/>
                  </a:lnTo>
                  <a:lnTo>
                    <a:pt x="12680" y="48107"/>
                  </a:lnTo>
                  <a:lnTo>
                    <a:pt x="27965" y="48107"/>
                  </a:lnTo>
                  <a:lnTo>
                    <a:pt x="28919" y="47562"/>
                  </a:lnTo>
                  <a:lnTo>
                    <a:pt x="10130" y="47391"/>
                  </a:lnTo>
                  <a:close/>
                </a:path>
                <a:path w="783589" h="106679">
                  <a:moveTo>
                    <a:pt x="12680" y="48107"/>
                  </a:moveTo>
                  <a:lnTo>
                    <a:pt x="12600" y="56883"/>
                  </a:lnTo>
                  <a:lnTo>
                    <a:pt x="20162" y="52564"/>
                  </a:lnTo>
                  <a:lnTo>
                    <a:pt x="12680" y="48107"/>
                  </a:lnTo>
                  <a:close/>
                </a:path>
                <a:path w="783589" h="106679">
                  <a:moveTo>
                    <a:pt x="20162" y="52564"/>
                  </a:moveTo>
                  <a:lnTo>
                    <a:pt x="12600" y="56883"/>
                  </a:lnTo>
                  <a:lnTo>
                    <a:pt x="27414" y="56883"/>
                  </a:lnTo>
                  <a:lnTo>
                    <a:pt x="20162" y="52564"/>
                  </a:lnTo>
                  <a:close/>
                </a:path>
                <a:path w="783589" h="106679">
                  <a:moveTo>
                    <a:pt x="27965" y="48107"/>
                  </a:moveTo>
                  <a:lnTo>
                    <a:pt x="12680" y="48107"/>
                  </a:lnTo>
                  <a:lnTo>
                    <a:pt x="20162" y="52564"/>
                  </a:lnTo>
                  <a:lnTo>
                    <a:pt x="27965" y="48107"/>
                  </a:lnTo>
                  <a:close/>
                </a:path>
                <a:path w="783589" h="106679">
                  <a:moveTo>
                    <a:pt x="29219" y="47391"/>
                  </a:moveTo>
                  <a:lnTo>
                    <a:pt x="10130" y="47391"/>
                  </a:lnTo>
                  <a:lnTo>
                    <a:pt x="28919" y="47562"/>
                  </a:lnTo>
                  <a:lnTo>
                    <a:pt x="29219" y="47391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63589" y="3876594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4797490" y="4558507"/>
            <a:ext cx="3228340" cy="688975"/>
            <a:chOff x="4797490" y="4558507"/>
            <a:chExt cx="3228340" cy="688975"/>
          </a:xfrm>
        </p:grpSpPr>
        <p:sp>
          <p:nvSpPr>
            <p:cNvPr id="13" name="object 13"/>
            <p:cNvSpPr/>
            <p:nvPr/>
          </p:nvSpPr>
          <p:spPr>
            <a:xfrm>
              <a:off x="5585970" y="456358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4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85970" y="456358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02570" y="4895696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63541" y="4843340"/>
              <a:ext cx="762635" cy="106680"/>
            </a:xfrm>
            <a:custGeom>
              <a:avLst/>
              <a:gdLst/>
              <a:ahLst/>
              <a:cxnLst/>
              <a:rect l="l" t="t" r="r" b="b"/>
              <a:pathLst>
                <a:path w="762634" h="106679">
                  <a:moveTo>
                    <a:pt x="753311" y="47370"/>
                  </a:moveTo>
                  <a:lnTo>
                    <a:pt x="751911" y="47370"/>
                  </a:lnTo>
                  <a:lnTo>
                    <a:pt x="752006" y="57530"/>
                  </a:lnTo>
                  <a:lnTo>
                    <a:pt x="733220" y="57707"/>
                  </a:lnTo>
                  <a:lnTo>
                    <a:pt x="666121" y="97698"/>
                  </a:lnTo>
                  <a:lnTo>
                    <a:pt x="665331" y="100816"/>
                  </a:lnTo>
                  <a:lnTo>
                    <a:pt x="668204" y="105636"/>
                  </a:lnTo>
                  <a:lnTo>
                    <a:pt x="671323" y="106425"/>
                  </a:lnTo>
                  <a:lnTo>
                    <a:pt x="762044" y="52355"/>
                  </a:lnTo>
                  <a:lnTo>
                    <a:pt x="753311" y="47370"/>
                  </a:lnTo>
                  <a:close/>
                </a:path>
                <a:path w="762634" h="106679">
                  <a:moveTo>
                    <a:pt x="733125" y="47547"/>
                  </a:moveTo>
                  <a:lnTo>
                    <a:pt x="0" y="54434"/>
                  </a:lnTo>
                  <a:lnTo>
                    <a:pt x="95" y="64594"/>
                  </a:lnTo>
                  <a:lnTo>
                    <a:pt x="733220" y="57707"/>
                  </a:lnTo>
                  <a:lnTo>
                    <a:pt x="741881" y="52545"/>
                  </a:lnTo>
                  <a:lnTo>
                    <a:pt x="733125" y="47547"/>
                  </a:lnTo>
                  <a:close/>
                </a:path>
                <a:path w="762634" h="106679">
                  <a:moveTo>
                    <a:pt x="741881" y="52545"/>
                  </a:moveTo>
                  <a:lnTo>
                    <a:pt x="733220" y="57707"/>
                  </a:lnTo>
                  <a:lnTo>
                    <a:pt x="752006" y="57530"/>
                  </a:lnTo>
                  <a:lnTo>
                    <a:pt x="752000" y="56862"/>
                  </a:lnTo>
                  <a:lnTo>
                    <a:pt x="749444" y="56862"/>
                  </a:lnTo>
                  <a:lnTo>
                    <a:pt x="741881" y="52545"/>
                  </a:lnTo>
                  <a:close/>
                </a:path>
                <a:path w="762634" h="106679">
                  <a:moveTo>
                    <a:pt x="749362" y="48087"/>
                  </a:moveTo>
                  <a:lnTo>
                    <a:pt x="741881" y="52545"/>
                  </a:lnTo>
                  <a:lnTo>
                    <a:pt x="749444" y="56862"/>
                  </a:lnTo>
                  <a:lnTo>
                    <a:pt x="749362" y="48087"/>
                  </a:lnTo>
                  <a:close/>
                </a:path>
                <a:path w="762634" h="106679">
                  <a:moveTo>
                    <a:pt x="751917" y="48087"/>
                  </a:moveTo>
                  <a:lnTo>
                    <a:pt x="749362" y="48087"/>
                  </a:lnTo>
                  <a:lnTo>
                    <a:pt x="749444" y="56862"/>
                  </a:lnTo>
                  <a:lnTo>
                    <a:pt x="752000" y="56862"/>
                  </a:lnTo>
                  <a:lnTo>
                    <a:pt x="751917" y="48087"/>
                  </a:lnTo>
                  <a:close/>
                </a:path>
                <a:path w="762634" h="106679">
                  <a:moveTo>
                    <a:pt x="751911" y="47370"/>
                  </a:moveTo>
                  <a:lnTo>
                    <a:pt x="733125" y="47547"/>
                  </a:lnTo>
                  <a:lnTo>
                    <a:pt x="741881" y="52545"/>
                  </a:lnTo>
                  <a:lnTo>
                    <a:pt x="749362" y="48087"/>
                  </a:lnTo>
                  <a:lnTo>
                    <a:pt x="751917" y="48087"/>
                  </a:lnTo>
                  <a:lnTo>
                    <a:pt x="751911" y="47370"/>
                  </a:lnTo>
                  <a:close/>
                </a:path>
                <a:path w="762634" h="106679">
                  <a:moveTo>
                    <a:pt x="670322" y="0"/>
                  </a:moveTo>
                  <a:lnTo>
                    <a:pt x="667219" y="848"/>
                  </a:lnTo>
                  <a:lnTo>
                    <a:pt x="664438" y="5721"/>
                  </a:lnTo>
                  <a:lnTo>
                    <a:pt x="665285" y="8823"/>
                  </a:lnTo>
                  <a:lnTo>
                    <a:pt x="733125" y="47547"/>
                  </a:lnTo>
                  <a:lnTo>
                    <a:pt x="753311" y="47370"/>
                  </a:lnTo>
                  <a:lnTo>
                    <a:pt x="670322" y="0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797490" y="5563734"/>
            <a:ext cx="3233420" cy="688975"/>
            <a:chOff x="4797490" y="5563734"/>
            <a:chExt cx="3233420" cy="688975"/>
          </a:xfrm>
        </p:grpSpPr>
        <p:sp>
          <p:nvSpPr>
            <p:cNvPr id="18" name="object 18"/>
            <p:cNvSpPr/>
            <p:nvPr/>
          </p:nvSpPr>
          <p:spPr>
            <a:xfrm>
              <a:off x="5585970" y="5568814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85970" y="5568814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02570" y="5900922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63589" y="5900923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37815" y="1194815"/>
            <a:ext cx="9196705" cy="485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200"/>
              </a:lnSpc>
              <a:spcBef>
                <a:spcPts val="100"/>
              </a:spcBef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binary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3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connect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member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r>
              <a:rPr sz="2300" spc="8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its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sets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300" spc="8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any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number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members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3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other</a:t>
            </a:r>
            <a:r>
              <a:rPr sz="23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2300">
              <a:latin typeface="Verdana"/>
              <a:cs typeface="Verdana"/>
            </a:endParaRPr>
          </a:p>
          <a:p>
            <a:pPr marL="1168400" indent="-194945">
              <a:lnSpc>
                <a:spcPct val="100000"/>
              </a:lnSpc>
              <a:buSzPct val="85714"/>
              <a:buFont typeface="Arial MT"/>
              <a:buChar char="•"/>
              <a:tabLst>
                <a:tab pos="116840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One-to-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1168400" indent="-194945">
              <a:lnSpc>
                <a:spcPct val="100000"/>
              </a:lnSpc>
              <a:buSzPct val="85714"/>
              <a:buFont typeface="Arial MT"/>
              <a:buChar char="•"/>
              <a:tabLst>
                <a:tab pos="116840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One-to-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1168400" indent="-194945">
              <a:lnSpc>
                <a:spcPct val="100000"/>
              </a:lnSpc>
              <a:buSzPct val="85714"/>
              <a:buFont typeface="Arial MT"/>
              <a:buChar char="•"/>
              <a:tabLst>
                <a:tab pos="116840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Many-to-</a:t>
            </a:r>
            <a:r>
              <a:rPr sz="2100" spc="-25" dirty="0">
                <a:solidFill>
                  <a:srgbClr val="292934"/>
                </a:solidFill>
                <a:latin typeface="Verdana"/>
                <a:cs typeface="Verdana"/>
              </a:rPr>
              <a:t>one</a:t>
            </a: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Clr>
                <a:srgbClr val="292934"/>
              </a:buClr>
              <a:buFont typeface="Arial MT"/>
              <a:buChar char="•"/>
            </a:pPr>
            <a:endParaRPr sz="2100">
              <a:latin typeface="Verdana"/>
              <a:cs typeface="Verdana"/>
            </a:endParaRPr>
          </a:p>
          <a:p>
            <a:pPr marL="1168400" indent="-194945">
              <a:lnSpc>
                <a:spcPct val="100000"/>
              </a:lnSpc>
              <a:buSzPct val="85714"/>
              <a:buFont typeface="Arial MT"/>
              <a:buChar char="•"/>
              <a:tabLst>
                <a:tab pos="1168400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Many-to-</a:t>
            </a:r>
            <a:r>
              <a:rPr sz="2100" spc="-2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9985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Cardinality:</a:t>
            </a:r>
            <a:r>
              <a:rPr spc="-150" dirty="0">
                <a:solidFill>
                  <a:srgbClr val="292934"/>
                </a:solidFill>
              </a:rPr>
              <a:t> </a:t>
            </a:r>
            <a:r>
              <a:rPr spc="-135" dirty="0">
                <a:solidFill>
                  <a:srgbClr val="292934"/>
                </a:solidFill>
              </a:rPr>
              <a:t>One-</a:t>
            </a:r>
            <a:r>
              <a:rPr spc="-145" dirty="0">
                <a:solidFill>
                  <a:srgbClr val="292934"/>
                </a:solidFill>
              </a:rPr>
              <a:t>to-</a:t>
            </a:r>
            <a:r>
              <a:rPr spc="-25" dirty="0">
                <a:solidFill>
                  <a:srgbClr val="292934"/>
                </a:solidFill>
              </a:rPr>
              <a:t>One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0829" y="1601031"/>
          <a:ext cx="8146413" cy="13963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8894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0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36000" y="1280159"/>
            <a:ext cx="5870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71085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129210" y="3604785"/>
            <a:ext cx="1295400" cy="567055"/>
            <a:chOff x="2129210" y="3604785"/>
            <a:chExt cx="1295400" cy="567055"/>
          </a:xfrm>
        </p:grpSpPr>
        <p:sp>
          <p:nvSpPr>
            <p:cNvPr id="6" name="object 6"/>
            <p:cNvSpPr/>
            <p:nvPr/>
          </p:nvSpPr>
          <p:spPr>
            <a:xfrm>
              <a:off x="2134290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4290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02589" y="3745991"/>
            <a:ext cx="748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person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637252" y="3604785"/>
            <a:ext cx="1295400" cy="567055"/>
            <a:chOff x="6637252" y="3604785"/>
            <a:chExt cx="1295400" cy="567055"/>
          </a:xfrm>
        </p:grpSpPr>
        <p:sp>
          <p:nvSpPr>
            <p:cNvPr id="10" name="object 10"/>
            <p:cNvSpPr/>
            <p:nvPr/>
          </p:nvSpPr>
          <p:spPr>
            <a:xfrm>
              <a:off x="6642332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42332" y="3609865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40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32738" y="3745991"/>
            <a:ext cx="90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passport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97660" y="3551087"/>
            <a:ext cx="1687830" cy="688975"/>
            <a:chOff x="4197660" y="3551087"/>
            <a:chExt cx="1687830" cy="688975"/>
          </a:xfrm>
        </p:grpSpPr>
        <p:sp>
          <p:nvSpPr>
            <p:cNvPr id="14" name="object 14"/>
            <p:cNvSpPr/>
            <p:nvPr/>
          </p:nvSpPr>
          <p:spPr>
            <a:xfrm>
              <a:off x="4202740" y="355616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7"/>
                  </a:lnTo>
                  <a:lnTo>
                    <a:pt x="838809" y="678534"/>
                  </a:lnTo>
                  <a:lnTo>
                    <a:pt x="1677619" y="339267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2740" y="355616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09656" y="3752088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owns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19318" y="3835898"/>
            <a:ext cx="5555615" cy="1270000"/>
            <a:chOff x="3419318" y="3835898"/>
            <a:chExt cx="5555615" cy="1270000"/>
          </a:xfrm>
        </p:grpSpPr>
        <p:sp>
          <p:nvSpPr>
            <p:cNvPr id="18" name="object 18"/>
            <p:cNvSpPr/>
            <p:nvPr/>
          </p:nvSpPr>
          <p:spPr>
            <a:xfrm>
              <a:off x="3419310" y="3835908"/>
              <a:ext cx="3223260" cy="106680"/>
            </a:xfrm>
            <a:custGeom>
              <a:avLst/>
              <a:gdLst/>
              <a:ahLst/>
              <a:cxnLst/>
              <a:rect l="l" t="t" r="r" b="b"/>
              <a:pathLst>
                <a:path w="3223259" h="106679">
                  <a:moveTo>
                    <a:pt x="783475" y="54457"/>
                  </a:moveTo>
                  <a:lnTo>
                    <a:pt x="28917" y="47561"/>
                  </a:lnTo>
                  <a:lnTo>
                    <a:pt x="29222" y="47383"/>
                  </a:lnTo>
                  <a:lnTo>
                    <a:pt x="96748" y="8813"/>
                  </a:lnTo>
                  <a:lnTo>
                    <a:pt x="97599" y="5715"/>
                  </a:lnTo>
                  <a:lnTo>
                    <a:pt x="94818" y="838"/>
                  </a:lnTo>
                  <a:lnTo>
                    <a:pt x="91706" y="0"/>
                  </a:lnTo>
                  <a:lnTo>
                    <a:pt x="0" y="52374"/>
                  </a:lnTo>
                  <a:lnTo>
                    <a:pt x="90741" y="106426"/>
                  </a:lnTo>
                  <a:lnTo>
                    <a:pt x="93853" y="105625"/>
                  </a:lnTo>
                  <a:lnTo>
                    <a:pt x="96723" y="100812"/>
                  </a:lnTo>
                  <a:lnTo>
                    <a:pt x="95935" y="97688"/>
                  </a:lnTo>
                  <a:lnTo>
                    <a:pt x="28829" y="57721"/>
                  </a:lnTo>
                  <a:lnTo>
                    <a:pt x="783374" y="64617"/>
                  </a:lnTo>
                  <a:lnTo>
                    <a:pt x="783475" y="54457"/>
                  </a:lnTo>
                  <a:close/>
                </a:path>
                <a:path w="3223259" h="106679">
                  <a:moveTo>
                    <a:pt x="3223044" y="52374"/>
                  </a:moveTo>
                  <a:lnTo>
                    <a:pt x="3214306" y="47383"/>
                  </a:lnTo>
                  <a:lnTo>
                    <a:pt x="3131324" y="12"/>
                  </a:lnTo>
                  <a:lnTo>
                    <a:pt x="3128213" y="863"/>
                  </a:lnTo>
                  <a:lnTo>
                    <a:pt x="3125432" y="5740"/>
                  </a:lnTo>
                  <a:lnTo>
                    <a:pt x="3126282" y="8839"/>
                  </a:lnTo>
                  <a:lnTo>
                    <a:pt x="3194126" y="47561"/>
                  </a:lnTo>
                  <a:lnTo>
                    <a:pt x="2460993" y="54457"/>
                  </a:lnTo>
                  <a:lnTo>
                    <a:pt x="2461095" y="64617"/>
                  </a:lnTo>
                  <a:lnTo>
                    <a:pt x="3194215" y="57721"/>
                  </a:lnTo>
                  <a:lnTo>
                    <a:pt x="3127121" y="97713"/>
                  </a:lnTo>
                  <a:lnTo>
                    <a:pt x="3126333" y="100838"/>
                  </a:lnTo>
                  <a:lnTo>
                    <a:pt x="3129203" y="105651"/>
                  </a:lnTo>
                  <a:lnTo>
                    <a:pt x="3132315" y="106438"/>
                  </a:lnTo>
                  <a:lnTo>
                    <a:pt x="3223044" y="52374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95716" y="3951456"/>
              <a:ext cx="2672080" cy="1147445"/>
            </a:xfrm>
            <a:custGeom>
              <a:avLst/>
              <a:gdLst/>
              <a:ahLst/>
              <a:cxnLst/>
              <a:rect l="l" t="t" r="r" b="b"/>
              <a:pathLst>
                <a:path w="2672079" h="1147445">
                  <a:moveTo>
                    <a:pt x="2552523" y="431213"/>
                  </a:moveTo>
                  <a:lnTo>
                    <a:pt x="119369" y="431213"/>
                  </a:lnTo>
                  <a:lnTo>
                    <a:pt x="72905" y="440594"/>
                  </a:lnTo>
                  <a:lnTo>
                    <a:pt x="34962" y="466176"/>
                  </a:lnTo>
                  <a:lnTo>
                    <a:pt x="9380" y="504119"/>
                  </a:lnTo>
                  <a:lnTo>
                    <a:pt x="0" y="550580"/>
                  </a:lnTo>
                  <a:lnTo>
                    <a:pt x="0" y="1028045"/>
                  </a:lnTo>
                  <a:lnTo>
                    <a:pt x="9380" y="1074510"/>
                  </a:lnTo>
                  <a:lnTo>
                    <a:pt x="34962" y="1112454"/>
                  </a:lnTo>
                  <a:lnTo>
                    <a:pt x="72905" y="1138036"/>
                  </a:lnTo>
                  <a:lnTo>
                    <a:pt x="119369" y="1147417"/>
                  </a:lnTo>
                  <a:lnTo>
                    <a:pt x="2552523" y="1147417"/>
                  </a:lnTo>
                  <a:lnTo>
                    <a:pt x="2598987" y="1138036"/>
                  </a:lnTo>
                  <a:lnTo>
                    <a:pt x="2636931" y="1112454"/>
                  </a:lnTo>
                  <a:lnTo>
                    <a:pt x="2662512" y="1074510"/>
                  </a:lnTo>
                  <a:lnTo>
                    <a:pt x="2671893" y="1028045"/>
                  </a:lnTo>
                  <a:lnTo>
                    <a:pt x="2671892" y="550580"/>
                  </a:lnTo>
                  <a:lnTo>
                    <a:pt x="2662512" y="504119"/>
                  </a:lnTo>
                  <a:lnTo>
                    <a:pt x="2636931" y="466176"/>
                  </a:lnTo>
                  <a:lnTo>
                    <a:pt x="2598987" y="440594"/>
                  </a:lnTo>
                  <a:lnTo>
                    <a:pt x="2552523" y="431213"/>
                  </a:lnTo>
                  <a:close/>
                </a:path>
                <a:path w="2672079" h="1147445">
                  <a:moveTo>
                    <a:pt x="275177" y="0"/>
                  </a:moveTo>
                  <a:lnTo>
                    <a:pt x="445315" y="431213"/>
                  </a:lnTo>
                  <a:lnTo>
                    <a:pt x="1113288" y="431213"/>
                  </a:lnTo>
                  <a:lnTo>
                    <a:pt x="275177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95716" y="3951457"/>
              <a:ext cx="2672080" cy="1147445"/>
            </a:xfrm>
            <a:custGeom>
              <a:avLst/>
              <a:gdLst/>
              <a:ahLst/>
              <a:cxnLst/>
              <a:rect l="l" t="t" r="r" b="b"/>
              <a:pathLst>
                <a:path w="2672079" h="1147445">
                  <a:moveTo>
                    <a:pt x="0" y="550583"/>
                  </a:moveTo>
                  <a:lnTo>
                    <a:pt x="9380" y="504118"/>
                  </a:lnTo>
                  <a:lnTo>
                    <a:pt x="34962" y="466175"/>
                  </a:lnTo>
                  <a:lnTo>
                    <a:pt x="72906" y="440593"/>
                  </a:lnTo>
                  <a:lnTo>
                    <a:pt x="119370" y="431212"/>
                  </a:lnTo>
                  <a:lnTo>
                    <a:pt x="445315" y="431212"/>
                  </a:lnTo>
                  <a:lnTo>
                    <a:pt x="275178" y="0"/>
                  </a:lnTo>
                  <a:lnTo>
                    <a:pt x="1113289" y="431212"/>
                  </a:lnTo>
                  <a:lnTo>
                    <a:pt x="2552523" y="431212"/>
                  </a:lnTo>
                  <a:lnTo>
                    <a:pt x="2598988" y="440593"/>
                  </a:lnTo>
                  <a:lnTo>
                    <a:pt x="2636931" y="466175"/>
                  </a:lnTo>
                  <a:lnTo>
                    <a:pt x="2662513" y="504118"/>
                  </a:lnTo>
                  <a:lnTo>
                    <a:pt x="2671894" y="550583"/>
                  </a:lnTo>
                  <a:lnTo>
                    <a:pt x="2671894" y="729630"/>
                  </a:lnTo>
                  <a:lnTo>
                    <a:pt x="2671894" y="1028045"/>
                  </a:lnTo>
                  <a:lnTo>
                    <a:pt x="2662513" y="1074509"/>
                  </a:lnTo>
                  <a:lnTo>
                    <a:pt x="2636931" y="1112453"/>
                  </a:lnTo>
                  <a:lnTo>
                    <a:pt x="2598988" y="1138035"/>
                  </a:lnTo>
                  <a:lnTo>
                    <a:pt x="2552523" y="1147416"/>
                  </a:lnTo>
                  <a:lnTo>
                    <a:pt x="1113289" y="1147416"/>
                  </a:lnTo>
                  <a:lnTo>
                    <a:pt x="445315" y="1147416"/>
                  </a:lnTo>
                  <a:lnTo>
                    <a:pt x="119370" y="1147416"/>
                  </a:lnTo>
                  <a:lnTo>
                    <a:pt x="72906" y="1138035"/>
                  </a:lnTo>
                  <a:lnTo>
                    <a:pt x="34962" y="1112453"/>
                  </a:lnTo>
                  <a:lnTo>
                    <a:pt x="9380" y="1074509"/>
                  </a:lnTo>
                  <a:lnTo>
                    <a:pt x="0" y="1028045"/>
                  </a:lnTo>
                  <a:lnTo>
                    <a:pt x="0" y="729630"/>
                  </a:lnTo>
                  <a:lnTo>
                    <a:pt x="0" y="550580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70739" y="5240528"/>
            <a:ext cx="7194550" cy="644664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3800"/>
              </a:lnSpc>
              <a:spcBef>
                <a:spcPts val="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passport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owned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21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  <a:t>person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.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person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own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at</a:t>
            </a:r>
            <a:r>
              <a:rPr sz="2100" spc="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most</a:t>
            </a:r>
            <a:r>
              <a:rPr sz="21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one</a:t>
            </a:r>
            <a:r>
              <a:rPr sz="2100" spc="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  <a:t>passport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99669" y="4496816"/>
            <a:ext cx="22644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0" marR="5080" indent="-64135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35549" y="4015696"/>
            <a:ext cx="2686050" cy="1052830"/>
            <a:chOff x="835549" y="4015696"/>
            <a:chExt cx="2686050" cy="1052830"/>
          </a:xfrm>
        </p:grpSpPr>
        <p:sp>
          <p:nvSpPr>
            <p:cNvPr id="24" name="object 24"/>
            <p:cNvSpPr/>
            <p:nvPr/>
          </p:nvSpPr>
          <p:spPr>
            <a:xfrm>
              <a:off x="842323" y="4022469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2552523" y="322685"/>
                  </a:moveTo>
                  <a:lnTo>
                    <a:pt x="119370" y="322685"/>
                  </a:lnTo>
                  <a:lnTo>
                    <a:pt x="72906" y="332066"/>
                  </a:lnTo>
                  <a:lnTo>
                    <a:pt x="34962" y="357648"/>
                  </a:lnTo>
                  <a:lnTo>
                    <a:pt x="9380" y="395591"/>
                  </a:lnTo>
                  <a:lnTo>
                    <a:pt x="0" y="442052"/>
                  </a:lnTo>
                  <a:lnTo>
                    <a:pt x="0" y="919518"/>
                  </a:lnTo>
                  <a:lnTo>
                    <a:pt x="9380" y="965982"/>
                  </a:lnTo>
                  <a:lnTo>
                    <a:pt x="34962" y="1003926"/>
                  </a:lnTo>
                  <a:lnTo>
                    <a:pt x="72906" y="1029508"/>
                  </a:lnTo>
                  <a:lnTo>
                    <a:pt x="119370" y="1038889"/>
                  </a:lnTo>
                  <a:lnTo>
                    <a:pt x="2552523" y="1038889"/>
                  </a:lnTo>
                  <a:lnTo>
                    <a:pt x="2598987" y="1029508"/>
                  </a:lnTo>
                  <a:lnTo>
                    <a:pt x="2636931" y="1003926"/>
                  </a:lnTo>
                  <a:lnTo>
                    <a:pt x="2662513" y="965982"/>
                  </a:lnTo>
                  <a:lnTo>
                    <a:pt x="2671893" y="919518"/>
                  </a:lnTo>
                  <a:lnTo>
                    <a:pt x="2671893" y="442052"/>
                  </a:lnTo>
                  <a:lnTo>
                    <a:pt x="2662513" y="395591"/>
                  </a:lnTo>
                  <a:lnTo>
                    <a:pt x="2636931" y="357648"/>
                  </a:lnTo>
                  <a:lnTo>
                    <a:pt x="2598987" y="332066"/>
                  </a:lnTo>
                  <a:lnTo>
                    <a:pt x="2552523" y="322685"/>
                  </a:lnTo>
                  <a:close/>
                </a:path>
                <a:path w="2672079" h="1039495">
                  <a:moveTo>
                    <a:pt x="2642583" y="0"/>
                  </a:moveTo>
                  <a:lnTo>
                    <a:pt x="1558605" y="322685"/>
                  </a:lnTo>
                  <a:lnTo>
                    <a:pt x="2226578" y="322685"/>
                  </a:lnTo>
                  <a:lnTo>
                    <a:pt x="264258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42323" y="4022469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0" y="442056"/>
                  </a:moveTo>
                  <a:lnTo>
                    <a:pt x="9380" y="395591"/>
                  </a:lnTo>
                  <a:lnTo>
                    <a:pt x="34962" y="357648"/>
                  </a:lnTo>
                  <a:lnTo>
                    <a:pt x="72906" y="332066"/>
                  </a:lnTo>
                  <a:lnTo>
                    <a:pt x="119370" y="322685"/>
                  </a:lnTo>
                  <a:lnTo>
                    <a:pt x="1558604" y="322685"/>
                  </a:lnTo>
                  <a:lnTo>
                    <a:pt x="2642583" y="0"/>
                  </a:lnTo>
                  <a:lnTo>
                    <a:pt x="2226578" y="322685"/>
                  </a:lnTo>
                  <a:lnTo>
                    <a:pt x="2552523" y="322685"/>
                  </a:lnTo>
                  <a:lnTo>
                    <a:pt x="2598988" y="332066"/>
                  </a:lnTo>
                  <a:lnTo>
                    <a:pt x="2636931" y="357648"/>
                  </a:lnTo>
                  <a:lnTo>
                    <a:pt x="2662513" y="395591"/>
                  </a:lnTo>
                  <a:lnTo>
                    <a:pt x="2671894" y="442056"/>
                  </a:lnTo>
                  <a:lnTo>
                    <a:pt x="2671894" y="621103"/>
                  </a:lnTo>
                  <a:lnTo>
                    <a:pt x="2671894" y="919518"/>
                  </a:lnTo>
                  <a:lnTo>
                    <a:pt x="2662513" y="965982"/>
                  </a:lnTo>
                  <a:lnTo>
                    <a:pt x="2636931" y="1003926"/>
                  </a:lnTo>
                  <a:lnTo>
                    <a:pt x="2598988" y="1029508"/>
                  </a:lnTo>
                  <a:lnTo>
                    <a:pt x="2552523" y="1038889"/>
                  </a:lnTo>
                  <a:lnTo>
                    <a:pt x="2226578" y="1038889"/>
                  </a:lnTo>
                  <a:lnTo>
                    <a:pt x="1558604" y="1038889"/>
                  </a:lnTo>
                  <a:lnTo>
                    <a:pt x="119370" y="1038889"/>
                  </a:lnTo>
                  <a:lnTo>
                    <a:pt x="72906" y="1029508"/>
                  </a:lnTo>
                  <a:lnTo>
                    <a:pt x="34962" y="1003926"/>
                  </a:lnTo>
                  <a:lnTo>
                    <a:pt x="9380" y="965982"/>
                  </a:lnTo>
                  <a:lnTo>
                    <a:pt x="0" y="919518"/>
                  </a:lnTo>
                  <a:lnTo>
                    <a:pt x="0" y="621103"/>
                  </a:lnTo>
                  <a:lnTo>
                    <a:pt x="0" y="44205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46276" y="4460240"/>
            <a:ext cx="22644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0" marR="5080" indent="-64135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887" y="6092952"/>
            <a:ext cx="8808719" cy="746760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1227146" y="6070472"/>
            <a:ext cx="7621270" cy="47561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59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“at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one”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2721" y="7008497"/>
            <a:ext cx="859726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CB25C-00B5-4A52-21D4-A6A5ABD20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BE2A0-71FD-E0B4-0326-41F2703CB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7815" y="1213103"/>
            <a:ext cx="9032875" cy="21236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each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student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 has one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backpack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, and that each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backpack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 belongs to one </a:t>
            </a:r>
            <a:r>
              <a:rPr lang="en-US" b="1" i="0" u="none" strike="noStrike" dirty="0">
                <a:effectLst/>
                <a:latin typeface="HelveticaNeue" panose="02000503000000020004" pitchFamily="2" charset="0"/>
              </a:rPr>
              <a:t>student</a:t>
            </a: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One person has one passport, and the passport can only be used by one person.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One family lives in one house, and the house contains one family.</a:t>
            </a:r>
            <a:endParaRPr lang="en-US" dirty="0">
              <a:latin typeface="HelveticaNeue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  <a:latin typeface="HelveticaNeue" panose="02000503000000020004" pitchFamily="2" charset="0"/>
              </a:rPr>
              <a:t>One person owns one car, and the car is owned by one person.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900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3769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Cardinality:</a:t>
            </a:r>
            <a:r>
              <a:rPr spc="-150" dirty="0">
                <a:solidFill>
                  <a:srgbClr val="292934"/>
                </a:solidFill>
              </a:rPr>
              <a:t> </a:t>
            </a:r>
            <a:r>
              <a:rPr spc="-135" dirty="0">
                <a:solidFill>
                  <a:srgbClr val="292934"/>
                </a:solidFill>
              </a:rPr>
              <a:t>One-</a:t>
            </a:r>
            <a:r>
              <a:rPr spc="-145" dirty="0">
                <a:solidFill>
                  <a:srgbClr val="292934"/>
                </a:solidFill>
              </a:rPr>
              <a:t>to-</a:t>
            </a:r>
            <a:r>
              <a:rPr spc="-20" dirty="0">
                <a:solidFill>
                  <a:srgbClr val="292934"/>
                </a:solidFill>
              </a:rPr>
              <a:t>Many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0829" y="1596837"/>
          <a:ext cx="8146413" cy="1396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0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R="14287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36000" y="1277111"/>
            <a:ext cx="5870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71085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04131" y="2143424"/>
            <a:ext cx="1661160" cy="683260"/>
            <a:chOff x="4104131" y="2143424"/>
            <a:chExt cx="1661160" cy="683260"/>
          </a:xfrm>
        </p:grpSpPr>
        <p:sp>
          <p:nvSpPr>
            <p:cNvPr id="6" name="object 6"/>
            <p:cNvSpPr/>
            <p:nvPr/>
          </p:nvSpPr>
          <p:spPr>
            <a:xfrm>
              <a:off x="4110904" y="2150197"/>
              <a:ext cx="1634489" cy="349885"/>
            </a:xfrm>
            <a:custGeom>
              <a:avLst/>
              <a:gdLst/>
              <a:ahLst/>
              <a:cxnLst/>
              <a:rect l="l" t="t" r="r" b="b"/>
              <a:pathLst>
                <a:path w="1634489" h="349885">
                  <a:moveTo>
                    <a:pt x="0" y="0"/>
                  </a:moveTo>
                  <a:lnTo>
                    <a:pt x="1633947" y="349382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24295" y="2179312"/>
              <a:ext cx="1634489" cy="640715"/>
            </a:xfrm>
            <a:custGeom>
              <a:avLst/>
              <a:gdLst/>
              <a:ahLst/>
              <a:cxnLst/>
              <a:rect l="l" t="t" r="r" b="b"/>
              <a:pathLst>
                <a:path w="1634489" h="640714">
                  <a:moveTo>
                    <a:pt x="0" y="0"/>
                  </a:moveTo>
                  <a:lnTo>
                    <a:pt x="1633948" y="640535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129210" y="3581824"/>
            <a:ext cx="1295400" cy="567055"/>
            <a:chOff x="2129210" y="3581824"/>
            <a:chExt cx="1295400" cy="567055"/>
          </a:xfrm>
        </p:grpSpPr>
        <p:sp>
          <p:nvSpPr>
            <p:cNvPr id="9" name="object 9"/>
            <p:cNvSpPr/>
            <p:nvPr/>
          </p:nvSpPr>
          <p:spPr>
            <a:xfrm>
              <a:off x="2134290" y="3586904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1285050" y="0"/>
                  </a:moveTo>
                  <a:lnTo>
                    <a:pt x="0" y="0"/>
                  </a:lnTo>
                  <a:lnTo>
                    <a:pt x="0" y="556820"/>
                  </a:lnTo>
                  <a:lnTo>
                    <a:pt x="1285050" y="556820"/>
                  </a:lnTo>
                  <a:lnTo>
                    <a:pt x="1285050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34290" y="3586904"/>
              <a:ext cx="1285240" cy="556895"/>
            </a:xfrm>
            <a:custGeom>
              <a:avLst/>
              <a:gdLst/>
              <a:ahLst/>
              <a:cxnLst/>
              <a:rect l="l" t="t" r="r" b="b"/>
              <a:pathLst>
                <a:path w="1285239" h="556895">
                  <a:moveTo>
                    <a:pt x="0" y="0"/>
                  </a:moveTo>
                  <a:lnTo>
                    <a:pt x="1285050" y="0"/>
                  </a:lnTo>
                  <a:lnTo>
                    <a:pt x="1285050" y="556820"/>
                  </a:lnTo>
                  <a:lnTo>
                    <a:pt x="0" y="556820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02589" y="3721608"/>
            <a:ext cx="748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mother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42332" y="3586904"/>
            <a:ext cx="1285240" cy="410369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child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197660" y="3528126"/>
            <a:ext cx="1687830" cy="688975"/>
            <a:chOff x="4197660" y="3528126"/>
            <a:chExt cx="1687830" cy="688975"/>
          </a:xfrm>
        </p:grpSpPr>
        <p:sp>
          <p:nvSpPr>
            <p:cNvPr id="14" name="object 14"/>
            <p:cNvSpPr/>
            <p:nvPr/>
          </p:nvSpPr>
          <p:spPr>
            <a:xfrm>
              <a:off x="4202740" y="353320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2740" y="3533206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558010" y="3751269"/>
            <a:ext cx="941388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spc="-10" dirty="0">
                <a:solidFill>
                  <a:srgbClr val="292934"/>
                </a:solidFill>
                <a:latin typeface="Arial MT"/>
                <a:cs typeface="Arial MT"/>
              </a:rPr>
              <a:t>mother of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87802" y="3812935"/>
            <a:ext cx="5760085" cy="1255395"/>
            <a:chOff x="887802" y="3812935"/>
            <a:chExt cx="5760085" cy="1255395"/>
          </a:xfrm>
        </p:grpSpPr>
        <p:sp>
          <p:nvSpPr>
            <p:cNvPr id="18" name="object 18"/>
            <p:cNvSpPr/>
            <p:nvPr/>
          </p:nvSpPr>
          <p:spPr>
            <a:xfrm>
              <a:off x="3419318" y="3812935"/>
              <a:ext cx="783590" cy="106680"/>
            </a:xfrm>
            <a:custGeom>
              <a:avLst/>
              <a:gdLst/>
              <a:ahLst/>
              <a:cxnLst/>
              <a:rect l="l" t="t" r="r" b="b"/>
              <a:pathLst>
                <a:path w="783589" h="106679">
                  <a:moveTo>
                    <a:pt x="91707" y="0"/>
                  </a:moveTo>
                  <a:lnTo>
                    <a:pt x="0" y="52379"/>
                  </a:lnTo>
                  <a:lnTo>
                    <a:pt x="90735" y="106425"/>
                  </a:lnTo>
                  <a:lnTo>
                    <a:pt x="93852" y="105636"/>
                  </a:lnTo>
                  <a:lnTo>
                    <a:pt x="96724" y="100815"/>
                  </a:lnTo>
                  <a:lnTo>
                    <a:pt x="95934" y="97697"/>
                  </a:lnTo>
                  <a:lnTo>
                    <a:pt x="28823" y="57722"/>
                  </a:lnTo>
                  <a:lnTo>
                    <a:pt x="10036" y="57551"/>
                  </a:lnTo>
                  <a:lnTo>
                    <a:pt x="10129" y="47391"/>
                  </a:lnTo>
                  <a:lnTo>
                    <a:pt x="29219" y="47391"/>
                  </a:lnTo>
                  <a:lnTo>
                    <a:pt x="96746" y="8822"/>
                  </a:lnTo>
                  <a:lnTo>
                    <a:pt x="97593" y="5720"/>
                  </a:lnTo>
                  <a:lnTo>
                    <a:pt x="94810" y="847"/>
                  </a:lnTo>
                  <a:lnTo>
                    <a:pt x="91707" y="0"/>
                  </a:lnTo>
                  <a:close/>
                </a:path>
                <a:path w="783589" h="106679">
                  <a:moveTo>
                    <a:pt x="28918" y="47563"/>
                  </a:moveTo>
                  <a:lnTo>
                    <a:pt x="20162" y="52564"/>
                  </a:lnTo>
                  <a:lnTo>
                    <a:pt x="28823" y="57722"/>
                  </a:lnTo>
                  <a:lnTo>
                    <a:pt x="783375" y="64617"/>
                  </a:lnTo>
                  <a:lnTo>
                    <a:pt x="783468" y="54458"/>
                  </a:lnTo>
                  <a:lnTo>
                    <a:pt x="28918" y="47563"/>
                  </a:lnTo>
                  <a:close/>
                </a:path>
                <a:path w="783589" h="106679">
                  <a:moveTo>
                    <a:pt x="10129" y="47391"/>
                  </a:moveTo>
                  <a:lnTo>
                    <a:pt x="10036" y="57551"/>
                  </a:lnTo>
                  <a:lnTo>
                    <a:pt x="28823" y="57722"/>
                  </a:lnTo>
                  <a:lnTo>
                    <a:pt x="27414" y="56883"/>
                  </a:lnTo>
                  <a:lnTo>
                    <a:pt x="12600" y="56883"/>
                  </a:lnTo>
                  <a:lnTo>
                    <a:pt x="12680" y="48107"/>
                  </a:lnTo>
                  <a:lnTo>
                    <a:pt x="27965" y="48107"/>
                  </a:lnTo>
                  <a:lnTo>
                    <a:pt x="28918" y="47563"/>
                  </a:lnTo>
                  <a:lnTo>
                    <a:pt x="10129" y="47391"/>
                  </a:lnTo>
                  <a:close/>
                </a:path>
                <a:path w="783589" h="106679">
                  <a:moveTo>
                    <a:pt x="12680" y="48107"/>
                  </a:moveTo>
                  <a:lnTo>
                    <a:pt x="12600" y="56883"/>
                  </a:lnTo>
                  <a:lnTo>
                    <a:pt x="20162" y="52564"/>
                  </a:lnTo>
                  <a:lnTo>
                    <a:pt x="12680" y="48107"/>
                  </a:lnTo>
                  <a:close/>
                </a:path>
                <a:path w="783589" h="106679">
                  <a:moveTo>
                    <a:pt x="20162" y="52564"/>
                  </a:moveTo>
                  <a:lnTo>
                    <a:pt x="12600" y="56883"/>
                  </a:lnTo>
                  <a:lnTo>
                    <a:pt x="27414" y="56883"/>
                  </a:lnTo>
                  <a:lnTo>
                    <a:pt x="20162" y="52564"/>
                  </a:lnTo>
                  <a:close/>
                </a:path>
                <a:path w="783589" h="106679">
                  <a:moveTo>
                    <a:pt x="27965" y="48107"/>
                  </a:moveTo>
                  <a:lnTo>
                    <a:pt x="12680" y="48107"/>
                  </a:lnTo>
                  <a:lnTo>
                    <a:pt x="20162" y="52564"/>
                  </a:lnTo>
                  <a:lnTo>
                    <a:pt x="27965" y="48107"/>
                  </a:lnTo>
                  <a:close/>
                </a:path>
                <a:path w="783589" h="106679">
                  <a:moveTo>
                    <a:pt x="29219" y="47391"/>
                  </a:moveTo>
                  <a:lnTo>
                    <a:pt x="10129" y="47391"/>
                  </a:lnTo>
                  <a:lnTo>
                    <a:pt x="28918" y="47563"/>
                  </a:lnTo>
                  <a:lnTo>
                    <a:pt x="29219" y="47391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80359" y="3865315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94575" y="4022463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2552524" y="322685"/>
                  </a:moveTo>
                  <a:lnTo>
                    <a:pt x="119370" y="322685"/>
                  </a:lnTo>
                  <a:lnTo>
                    <a:pt x="72906" y="332066"/>
                  </a:lnTo>
                  <a:lnTo>
                    <a:pt x="34962" y="357648"/>
                  </a:lnTo>
                  <a:lnTo>
                    <a:pt x="9380" y="395591"/>
                  </a:lnTo>
                  <a:lnTo>
                    <a:pt x="0" y="442052"/>
                  </a:lnTo>
                  <a:lnTo>
                    <a:pt x="0" y="919518"/>
                  </a:lnTo>
                  <a:lnTo>
                    <a:pt x="9380" y="965982"/>
                  </a:lnTo>
                  <a:lnTo>
                    <a:pt x="34962" y="1003926"/>
                  </a:lnTo>
                  <a:lnTo>
                    <a:pt x="72906" y="1029508"/>
                  </a:lnTo>
                  <a:lnTo>
                    <a:pt x="119370" y="1038889"/>
                  </a:lnTo>
                  <a:lnTo>
                    <a:pt x="2552524" y="1038889"/>
                  </a:lnTo>
                  <a:lnTo>
                    <a:pt x="2598988" y="1029508"/>
                  </a:lnTo>
                  <a:lnTo>
                    <a:pt x="2636931" y="1003926"/>
                  </a:lnTo>
                  <a:lnTo>
                    <a:pt x="2662513" y="965982"/>
                  </a:lnTo>
                  <a:lnTo>
                    <a:pt x="2671893" y="919518"/>
                  </a:lnTo>
                  <a:lnTo>
                    <a:pt x="2671893" y="442052"/>
                  </a:lnTo>
                  <a:lnTo>
                    <a:pt x="2662513" y="395591"/>
                  </a:lnTo>
                  <a:lnTo>
                    <a:pt x="2636931" y="357648"/>
                  </a:lnTo>
                  <a:lnTo>
                    <a:pt x="2598988" y="332066"/>
                  </a:lnTo>
                  <a:lnTo>
                    <a:pt x="2552524" y="322685"/>
                  </a:lnTo>
                  <a:close/>
                </a:path>
                <a:path w="2672079" h="1039495">
                  <a:moveTo>
                    <a:pt x="2642583" y="0"/>
                  </a:moveTo>
                  <a:lnTo>
                    <a:pt x="1558605" y="322685"/>
                  </a:lnTo>
                  <a:lnTo>
                    <a:pt x="2226578" y="322685"/>
                  </a:lnTo>
                  <a:lnTo>
                    <a:pt x="264258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94575" y="4022463"/>
              <a:ext cx="2672080" cy="1039494"/>
            </a:xfrm>
            <a:custGeom>
              <a:avLst/>
              <a:gdLst/>
              <a:ahLst/>
              <a:cxnLst/>
              <a:rect l="l" t="t" r="r" b="b"/>
              <a:pathLst>
                <a:path w="2672079" h="1039495">
                  <a:moveTo>
                    <a:pt x="0" y="442056"/>
                  </a:moveTo>
                  <a:lnTo>
                    <a:pt x="9380" y="395591"/>
                  </a:lnTo>
                  <a:lnTo>
                    <a:pt x="34962" y="357648"/>
                  </a:lnTo>
                  <a:lnTo>
                    <a:pt x="72906" y="332066"/>
                  </a:lnTo>
                  <a:lnTo>
                    <a:pt x="119370" y="322685"/>
                  </a:lnTo>
                  <a:lnTo>
                    <a:pt x="1558604" y="322685"/>
                  </a:lnTo>
                  <a:lnTo>
                    <a:pt x="2642583" y="0"/>
                  </a:lnTo>
                  <a:lnTo>
                    <a:pt x="2226578" y="322685"/>
                  </a:lnTo>
                  <a:lnTo>
                    <a:pt x="2552523" y="322685"/>
                  </a:lnTo>
                  <a:lnTo>
                    <a:pt x="2598988" y="332066"/>
                  </a:lnTo>
                  <a:lnTo>
                    <a:pt x="2636931" y="357648"/>
                  </a:lnTo>
                  <a:lnTo>
                    <a:pt x="2662513" y="395591"/>
                  </a:lnTo>
                  <a:lnTo>
                    <a:pt x="2671894" y="442056"/>
                  </a:lnTo>
                  <a:lnTo>
                    <a:pt x="2671894" y="621103"/>
                  </a:lnTo>
                  <a:lnTo>
                    <a:pt x="2671894" y="919518"/>
                  </a:lnTo>
                  <a:lnTo>
                    <a:pt x="2662513" y="965982"/>
                  </a:lnTo>
                  <a:lnTo>
                    <a:pt x="2636931" y="1003926"/>
                  </a:lnTo>
                  <a:lnTo>
                    <a:pt x="2598988" y="1029508"/>
                  </a:lnTo>
                  <a:lnTo>
                    <a:pt x="2552523" y="1038889"/>
                  </a:lnTo>
                  <a:lnTo>
                    <a:pt x="2226578" y="1038889"/>
                  </a:lnTo>
                  <a:lnTo>
                    <a:pt x="1558604" y="1038889"/>
                  </a:lnTo>
                  <a:lnTo>
                    <a:pt x="119370" y="1038889"/>
                  </a:lnTo>
                  <a:lnTo>
                    <a:pt x="72906" y="1029508"/>
                  </a:lnTo>
                  <a:lnTo>
                    <a:pt x="34962" y="1003926"/>
                  </a:lnTo>
                  <a:lnTo>
                    <a:pt x="9380" y="965982"/>
                  </a:lnTo>
                  <a:lnTo>
                    <a:pt x="0" y="919518"/>
                  </a:lnTo>
                  <a:lnTo>
                    <a:pt x="0" y="621103"/>
                  </a:lnTo>
                  <a:lnTo>
                    <a:pt x="0" y="44205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0739" y="5237479"/>
            <a:ext cx="6564630" cy="638957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lang="en-US"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mother</a:t>
            </a:r>
            <a:r>
              <a:rPr lang="en-US"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lang="en-US" sz="2100" spc="60" dirty="0">
                <a:solidFill>
                  <a:srgbClr val="292934"/>
                </a:solidFill>
                <a:latin typeface="Verdana"/>
                <a:cs typeface="Verdana"/>
              </a:rPr>
              <a:t> have</a:t>
            </a:r>
            <a:r>
              <a:rPr lang="en-US"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lang="en-US" sz="2100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lang="en-US" sz="2100" spc="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  <a:t>children.</a:t>
            </a:r>
            <a:b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</a:br>
            <a:r>
              <a:rPr lang="en-US" sz="2100" spc="-10" dirty="0">
                <a:solidFill>
                  <a:srgbClr val="292934"/>
                </a:solidFill>
                <a:latin typeface="Verdana"/>
                <a:cs typeface="Verdana"/>
              </a:rPr>
              <a:t>Each child has one mother.</a:t>
            </a:r>
            <a:endParaRPr lang="en-US" sz="2100" dirty="0">
              <a:latin typeface="Verdana"/>
              <a:cs typeface="Verdan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887" y="6074664"/>
            <a:ext cx="8808719" cy="74676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227146" y="6051716"/>
            <a:ext cx="7621270" cy="47561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“at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most</a:t>
            </a:r>
            <a:r>
              <a:rPr sz="2100" spc="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one”</a:t>
            </a:r>
            <a:r>
              <a:rPr sz="2100" spc="9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“many”</a:t>
            </a:r>
            <a:r>
              <a:rPr sz="2100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2100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2721" y="7008497"/>
            <a:ext cx="859726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98529" y="4460240"/>
            <a:ext cx="226441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76200" marR="5080" indent="-64135">
              <a:lnSpc>
                <a:spcPts val="1610"/>
              </a:lnSpc>
              <a:spcBef>
                <a:spcPts val="31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Arrow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pointing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entity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constrained</a:t>
            </a:r>
            <a:r>
              <a:rPr sz="1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F823A-34CC-2FCE-4026-C3DA89BB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A6867-03A6-79BF-87EF-420DCF8A5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7815" y="1213103"/>
            <a:ext cx="9032875" cy="96949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0" i="0" u="none" strike="noStrike" dirty="0">
                <a:solidFill>
                  <a:srgbClr val="040C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parent-child relationship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0" i="0" u="none" strike="noStrike" dirty="0">
                <a:solidFill>
                  <a:srgbClr val="040C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book authors and their books</a:t>
            </a:r>
            <a:endParaRPr lang="en-US" sz="2100" dirty="0">
              <a:solidFill>
                <a:srgbClr val="040C28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0" i="0" u="none" strike="noStrike" dirty="0">
                <a:solidFill>
                  <a:srgbClr val="040C28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websites with multiple web pages</a:t>
            </a:r>
            <a:endParaRPr lang="en-US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309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7555">
              <a:lnSpc>
                <a:spcPct val="100000"/>
              </a:lnSpc>
              <a:spcBef>
                <a:spcPts val="100"/>
              </a:spcBef>
            </a:pPr>
            <a:r>
              <a:rPr spc="-145" dirty="0">
                <a:solidFill>
                  <a:srgbClr val="292934"/>
                </a:solidFill>
              </a:rPr>
              <a:t>Cardinality:</a:t>
            </a:r>
            <a:r>
              <a:rPr spc="-130" dirty="0">
                <a:solidFill>
                  <a:srgbClr val="292934"/>
                </a:solidFill>
              </a:rPr>
              <a:t> </a:t>
            </a:r>
            <a:r>
              <a:rPr spc="-160" dirty="0">
                <a:solidFill>
                  <a:srgbClr val="292934"/>
                </a:solidFill>
              </a:rPr>
              <a:t>Many-</a:t>
            </a:r>
            <a:r>
              <a:rPr spc="-145" dirty="0">
                <a:solidFill>
                  <a:srgbClr val="292934"/>
                </a:solidFill>
              </a:rPr>
              <a:t>to-</a:t>
            </a:r>
            <a:r>
              <a:rPr spc="-20" dirty="0">
                <a:solidFill>
                  <a:srgbClr val="292934"/>
                </a:solidFill>
              </a:rPr>
              <a:t>Many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20829" y="1574771"/>
          <a:ext cx="8146413" cy="1396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1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marR="6858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001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485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Beyblade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Dreamwork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0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2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Trolls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Hashbro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953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889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R="16256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1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Nyform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500" spc="-5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…</a:t>
                      </a:r>
                      <a:endParaRPr sz="15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292934"/>
                      </a:solidFill>
                      <a:prstDash val="solid"/>
                    </a:lnL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  <a:solidFill>
                      <a:srgbClr val="E9EA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36000" y="1252728"/>
            <a:ext cx="5870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71085" algn="l"/>
              </a:tabLst>
            </a:pP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	</a:t>
            </a:r>
            <a:r>
              <a:rPr sz="1700" spc="-1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endParaRPr sz="17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104131" y="2121359"/>
            <a:ext cx="1674495" cy="697865"/>
            <a:chOff x="4104131" y="2121359"/>
            <a:chExt cx="1674495" cy="697865"/>
          </a:xfrm>
        </p:grpSpPr>
        <p:sp>
          <p:nvSpPr>
            <p:cNvPr id="6" name="object 6"/>
            <p:cNvSpPr/>
            <p:nvPr/>
          </p:nvSpPr>
          <p:spPr>
            <a:xfrm>
              <a:off x="4110904" y="2142689"/>
              <a:ext cx="1634489" cy="349885"/>
            </a:xfrm>
            <a:custGeom>
              <a:avLst/>
              <a:gdLst/>
              <a:ahLst/>
              <a:cxnLst/>
              <a:rect l="l" t="t" r="r" b="b"/>
              <a:pathLst>
                <a:path w="1634489" h="349885">
                  <a:moveTo>
                    <a:pt x="0" y="0"/>
                  </a:moveTo>
                  <a:lnTo>
                    <a:pt x="1633946" y="349382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124295" y="2157246"/>
              <a:ext cx="1634489" cy="640715"/>
            </a:xfrm>
            <a:custGeom>
              <a:avLst/>
              <a:gdLst/>
              <a:ahLst/>
              <a:cxnLst/>
              <a:rect l="l" t="t" r="r" b="b"/>
              <a:pathLst>
                <a:path w="1634489" h="640714">
                  <a:moveTo>
                    <a:pt x="0" y="0"/>
                  </a:moveTo>
                  <a:lnTo>
                    <a:pt x="1633947" y="640535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24295" y="2521187"/>
              <a:ext cx="1647825" cy="291465"/>
            </a:xfrm>
            <a:custGeom>
              <a:avLst/>
              <a:gdLst/>
              <a:ahLst/>
              <a:cxnLst/>
              <a:rect l="l" t="t" r="r" b="b"/>
              <a:pathLst>
                <a:path w="1647825" h="291464">
                  <a:moveTo>
                    <a:pt x="0" y="0"/>
                  </a:moveTo>
                  <a:lnTo>
                    <a:pt x="1647341" y="291151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10904" y="2128132"/>
              <a:ext cx="1647825" cy="379095"/>
            </a:xfrm>
            <a:custGeom>
              <a:avLst/>
              <a:gdLst/>
              <a:ahLst/>
              <a:cxnLst/>
              <a:rect l="l" t="t" r="r" b="b"/>
              <a:pathLst>
                <a:path w="1647825" h="379094">
                  <a:moveTo>
                    <a:pt x="0" y="378497"/>
                  </a:moveTo>
                  <a:lnTo>
                    <a:pt x="1647340" y="0"/>
                  </a:lnTo>
                </a:path>
              </a:pathLst>
            </a:custGeom>
            <a:ln w="13546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134290" y="3617088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16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42332" y="3617088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97660" y="3558309"/>
            <a:ext cx="1687830" cy="688975"/>
            <a:chOff x="4197660" y="3558309"/>
            <a:chExt cx="1687830" cy="688975"/>
          </a:xfrm>
        </p:grpSpPr>
        <p:sp>
          <p:nvSpPr>
            <p:cNvPr id="13" name="object 13"/>
            <p:cNvSpPr/>
            <p:nvPr/>
          </p:nvSpPr>
          <p:spPr>
            <a:xfrm>
              <a:off x="4202740" y="35633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02740" y="356338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09656" y="3758184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414261" y="3890419"/>
            <a:ext cx="3233420" cy="17780"/>
            <a:chOff x="3414261" y="3890419"/>
            <a:chExt cx="3233420" cy="17780"/>
          </a:xfrm>
        </p:grpSpPr>
        <p:sp>
          <p:nvSpPr>
            <p:cNvPr id="17" name="object 17"/>
            <p:cNvSpPr/>
            <p:nvPr/>
          </p:nvSpPr>
          <p:spPr>
            <a:xfrm>
              <a:off x="3419341" y="3895499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80359" y="3895499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70739" y="5216144"/>
            <a:ext cx="6564630" cy="67500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>
              <a:lnSpc>
                <a:spcPct val="102899"/>
              </a:lnSpc>
              <a:spcBef>
                <a:spcPts val="2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product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made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sz="2100" spc="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companies.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company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make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C00000"/>
                </a:solidFill>
                <a:latin typeface="Verdana"/>
                <a:cs typeface="Verdana"/>
              </a:rPr>
              <a:t>many</a:t>
            </a:r>
            <a:r>
              <a:rPr sz="2100" spc="7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products.</a:t>
            </a:r>
            <a:endParaRPr sz="2100" dirty="0">
              <a:latin typeface="Verdana"/>
              <a:cs typeface="Verdan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" y="6074664"/>
            <a:ext cx="8808720" cy="74676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240208" y="6051716"/>
            <a:ext cx="7621270" cy="47561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57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“many”</a:t>
            </a:r>
            <a:r>
              <a:rPr sz="2100" spc="1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–</a:t>
            </a:r>
            <a:r>
              <a:rPr sz="21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Guarantee</a:t>
            </a:r>
            <a:r>
              <a:rPr sz="2100" spc="1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existence?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2721" y="7008497"/>
            <a:ext cx="8597265" cy="22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E-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R.</a:t>
            </a:r>
            <a:r>
              <a:rPr sz="1300" spc="-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These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tables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help</a:t>
            </a:r>
            <a:r>
              <a:rPr sz="1300" spc="-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being</a:t>
            </a:r>
            <a:r>
              <a:rPr sz="1300" spc="-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0590-7BF6-6265-605F-1AE8E5E79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0D206-D8FB-DFC1-D89B-9860A26D5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7815" y="1213103"/>
            <a:ext cx="9032875" cy="161582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Students and Courses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Teacher and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28282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</a:t>
            </a:r>
            <a:r>
              <a:rPr lang="en-US" sz="2100" i="0" u="none" strike="noStrike" dirty="0">
                <a:solidFill>
                  <a:srgbClr val="282829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ibrary books and borrowers</a:t>
            </a:r>
            <a:endParaRPr lang="en-US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89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4235">
              <a:lnSpc>
                <a:spcPct val="100000"/>
              </a:lnSpc>
              <a:spcBef>
                <a:spcPts val="100"/>
              </a:spcBef>
            </a:pPr>
            <a:r>
              <a:rPr sz="4100" spc="-140" dirty="0">
                <a:solidFill>
                  <a:srgbClr val="292934"/>
                </a:solidFill>
              </a:rPr>
              <a:t>Attributes</a:t>
            </a:r>
            <a:r>
              <a:rPr sz="4100" spc="-220" dirty="0">
                <a:solidFill>
                  <a:srgbClr val="292934"/>
                </a:solidFill>
              </a:rPr>
              <a:t> </a:t>
            </a:r>
            <a:r>
              <a:rPr sz="4100" spc="-80" dirty="0">
                <a:solidFill>
                  <a:srgbClr val="292934"/>
                </a:solidFill>
              </a:rPr>
              <a:t>on</a:t>
            </a:r>
            <a:r>
              <a:rPr sz="4100" spc="-215" dirty="0">
                <a:solidFill>
                  <a:srgbClr val="292934"/>
                </a:solidFill>
              </a:rPr>
              <a:t> </a:t>
            </a:r>
            <a:r>
              <a:rPr sz="4100" spc="-114" dirty="0">
                <a:solidFill>
                  <a:srgbClr val="292934"/>
                </a:solidFill>
              </a:rPr>
              <a:t>Relationships</a:t>
            </a:r>
            <a:endParaRPr sz="4100"/>
          </a:p>
        </p:txBody>
      </p:sp>
      <p:sp>
        <p:nvSpPr>
          <p:cNvPr id="3" name="object 3"/>
          <p:cNvSpPr txBox="1"/>
          <p:nvPr/>
        </p:nvSpPr>
        <p:spPr>
          <a:xfrm>
            <a:off x="437815" y="1213103"/>
            <a:ext cx="826452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740" indent="-193040">
              <a:lnSpc>
                <a:spcPct val="100000"/>
              </a:lnSpc>
              <a:spcBef>
                <a:spcPts val="100"/>
              </a:spcBef>
              <a:buSzPct val="86956"/>
              <a:buFont typeface="Arial MT"/>
              <a:buChar char="•"/>
              <a:tabLst>
                <a:tab pos="205740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Relationships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endParaRPr sz="2300" dirty="0">
              <a:latin typeface="Verdana"/>
              <a:cs typeface="Verdana"/>
            </a:endParaRPr>
          </a:p>
          <a:p>
            <a:pPr marL="205104" marR="5080" indent="-193040">
              <a:lnSpc>
                <a:spcPct val="101699"/>
              </a:lnSpc>
              <a:spcBef>
                <a:spcPts val="2185"/>
              </a:spcBef>
              <a:buSzPct val="86956"/>
              <a:buFont typeface="Arial MT"/>
              <a:buChar char="•"/>
              <a:tabLst>
                <a:tab pos="207645" algn="l"/>
              </a:tabLst>
            </a:pP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3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spc="7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292934"/>
                </a:solidFill>
                <a:latin typeface="Verdana"/>
                <a:cs typeface="Verdana"/>
              </a:rPr>
              <a:t>relationship 	occurs</a:t>
            </a:r>
            <a:endParaRPr sz="23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2912" y="4178113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16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product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0955" y="4178113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16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company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416281" y="4119334"/>
            <a:ext cx="1687830" cy="688975"/>
            <a:chOff x="4416281" y="4119334"/>
            <a:chExt cx="1687830" cy="688975"/>
          </a:xfrm>
        </p:grpSpPr>
        <p:sp>
          <p:nvSpPr>
            <p:cNvPr id="7" name="object 7"/>
            <p:cNvSpPr/>
            <p:nvPr/>
          </p:nvSpPr>
          <p:spPr>
            <a:xfrm>
              <a:off x="4421361" y="4124414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421361" y="4124414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28278" y="4319016"/>
            <a:ext cx="6635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makes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38906" y="3557963"/>
            <a:ext cx="1229360" cy="501650"/>
            <a:chOff x="1238906" y="3557963"/>
            <a:chExt cx="1229360" cy="501650"/>
          </a:xfrm>
        </p:grpSpPr>
        <p:sp>
          <p:nvSpPr>
            <p:cNvPr id="11" name="object 11"/>
            <p:cNvSpPr/>
            <p:nvPr/>
          </p:nvSpPr>
          <p:spPr>
            <a:xfrm>
              <a:off x="1243986" y="3563043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4" y="0"/>
                  </a:moveTo>
                  <a:lnTo>
                    <a:pt x="542958" y="1440"/>
                  </a:lnTo>
                  <a:lnTo>
                    <a:pt x="478633" y="5663"/>
                  </a:lnTo>
                  <a:lnTo>
                    <a:pt x="416750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89" y="81034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1"/>
                  </a:lnTo>
                  <a:lnTo>
                    <a:pt x="83194" y="369505"/>
                  </a:lnTo>
                  <a:lnTo>
                    <a:pt x="117569" y="390591"/>
                  </a:lnTo>
                  <a:lnTo>
                    <a:pt x="156989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0" y="478610"/>
                  </a:lnTo>
                  <a:lnTo>
                    <a:pt x="478633" y="485465"/>
                  </a:lnTo>
                  <a:lnTo>
                    <a:pt x="542958" y="489688"/>
                  </a:lnTo>
                  <a:lnTo>
                    <a:pt x="609354" y="491129"/>
                  </a:lnTo>
                  <a:lnTo>
                    <a:pt x="675750" y="489688"/>
                  </a:lnTo>
                  <a:lnTo>
                    <a:pt x="740074" y="485465"/>
                  </a:lnTo>
                  <a:lnTo>
                    <a:pt x="801957" y="478610"/>
                  </a:lnTo>
                  <a:lnTo>
                    <a:pt x="861025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1"/>
                  </a:lnTo>
                  <a:lnTo>
                    <a:pt x="1135513" y="369505"/>
                  </a:lnTo>
                  <a:lnTo>
                    <a:pt x="1187642" y="323181"/>
                  </a:lnTo>
                  <a:lnTo>
                    <a:pt x="1215132" y="272321"/>
                  </a:lnTo>
                  <a:lnTo>
                    <a:pt x="1218707" y="245564"/>
                  </a:lnTo>
                  <a:lnTo>
                    <a:pt x="1215132" y="218807"/>
                  </a:lnTo>
                  <a:lnTo>
                    <a:pt x="1187642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5" y="21856"/>
                  </a:lnTo>
                  <a:lnTo>
                    <a:pt x="801957" y="12519"/>
                  </a:lnTo>
                  <a:lnTo>
                    <a:pt x="740074" y="5663"/>
                  </a:lnTo>
                  <a:lnTo>
                    <a:pt x="675750" y="1440"/>
                  </a:lnTo>
                  <a:lnTo>
                    <a:pt x="609354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43986" y="3563043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96706" y="3666744"/>
            <a:ext cx="313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pid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95731" y="3227132"/>
            <a:ext cx="1229360" cy="501650"/>
            <a:chOff x="2295731" y="3227132"/>
            <a:chExt cx="1229360" cy="501650"/>
          </a:xfrm>
        </p:grpSpPr>
        <p:sp>
          <p:nvSpPr>
            <p:cNvPr id="15" name="object 15"/>
            <p:cNvSpPr/>
            <p:nvPr/>
          </p:nvSpPr>
          <p:spPr>
            <a:xfrm>
              <a:off x="2300811" y="3232212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2" y="5663"/>
                  </a:lnTo>
                  <a:lnTo>
                    <a:pt x="416750" y="12519"/>
                  </a:lnTo>
                  <a:lnTo>
                    <a:pt x="357682" y="21856"/>
                  </a:lnTo>
                  <a:lnTo>
                    <a:pt x="301800" y="33526"/>
                  </a:lnTo>
                  <a:lnTo>
                    <a:pt x="249477" y="47379"/>
                  </a:lnTo>
                  <a:lnTo>
                    <a:pt x="201082" y="63265"/>
                  </a:lnTo>
                  <a:lnTo>
                    <a:pt x="156989" y="81034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69" y="390592"/>
                  </a:lnTo>
                  <a:lnTo>
                    <a:pt x="156989" y="410094"/>
                  </a:lnTo>
                  <a:lnTo>
                    <a:pt x="201082" y="427863"/>
                  </a:lnTo>
                  <a:lnTo>
                    <a:pt x="249477" y="443749"/>
                  </a:lnTo>
                  <a:lnTo>
                    <a:pt x="301800" y="457602"/>
                  </a:lnTo>
                  <a:lnTo>
                    <a:pt x="357682" y="469272"/>
                  </a:lnTo>
                  <a:lnTo>
                    <a:pt x="416750" y="478610"/>
                  </a:lnTo>
                  <a:lnTo>
                    <a:pt x="478632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0811" y="3232212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26532" y="3334511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441880" y="3270143"/>
            <a:ext cx="3963670" cy="746760"/>
            <a:chOff x="3441880" y="3270143"/>
            <a:chExt cx="3963670" cy="746760"/>
          </a:xfrm>
        </p:grpSpPr>
        <p:sp>
          <p:nvSpPr>
            <p:cNvPr id="19" name="object 19"/>
            <p:cNvSpPr/>
            <p:nvPr/>
          </p:nvSpPr>
          <p:spPr>
            <a:xfrm>
              <a:off x="3446960" y="3520640"/>
              <a:ext cx="1383665" cy="491490"/>
            </a:xfrm>
            <a:custGeom>
              <a:avLst/>
              <a:gdLst/>
              <a:ahLst/>
              <a:cxnLst/>
              <a:rect l="l" t="t" r="r" b="b"/>
              <a:pathLst>
                <a:path w="1383664" h="491489">
                  <a:moveTo>
                    <a:pt x="691616" y="0"/>
                  </a:moveTo>
                  <a:lnTo>
                    <a:pt x="625009" y="1124"/>
                  </a:lnTo>
                  <a:lnTo>
                    <a:pt x="560193" y="4427"/>
                  </a:lnTo>
                  <a:lnTo>
                    <a:pt x="497458" y="9808"/>
                  </a:lnTo>
                  <a:lnTo>
                    <a:pt x="437094" y="17162"/>
                  </a:lnTo>
                  <a:lnTo>
                    <a:pt x="379391" y="26387"/>
                  </a:lnTo>
                  <a:lnTo>
                    <a:pt x="324638" y="37381"/>
                  </a:lnTo>
                  <a:lnTo>
                    <a:pt x="273127" y="50039"/>
                  </a:lnTo>
                  <a:lnTo>
                    <a:pt x="225145" y="64260"/>
                  </a:lnTo>
                  <a:lnTo>
                    <a:pt x="180984" y="79939"/>
                  </a:lnTo>
                  <a:lnTo>
                    <a:pt x="140933" y="96976"/>
                  </a:lnTo>
                  <a:lnTo>
                    <a:pt x="105281" y="115265"/>
                  </a:lnTo>
                  <a:lnTo>
                    <a:pt x="48337" y="155194"/>
                  </a:lnTo>
                  <a:lnTo>
                    <a:pt x="12470" y="198901"/>
                  </a:lnTo>
                  <a:lnTo>
                    <a:pt x="0" y="245564"/>
                  </a:lnTo>
                  <a:lnTo>
                    <a:pt x="3166" y="269214"/>
                  </a:lnTo>
                  <a:lnTo>
                    <a:pt x="27624" y="314502"/>
                  </a:lnTo>
                  <a:lnTo>
                    <a:pt x="74319" y="356423"/>
                  </a:lnTo>
                  <a:lnTo>
                    <a:pt x="140933" y="394153"/>
                  </a:lnTo>
                  <a:lnTo>
                    <a:pt x="180984" y="411189"/>
                  </a:lnTo>
                  <a:lnTo>
                    <a:pt x="225145" y="426869"/>
                  </a:lnTo>
                  <a:lnTo>
                    <a:pt x="273127" y="441089"/>
                  </a:lnTo>
                  <a:lnTo>
                    <a:pt x="324638" y="453748"/>
                  </a:lnTo>
                  <a:lnTo>
                    <a:pt x="379391" y="464741"/>
                  </a:lnTo>
                  <a:lnTo>
                    <a:pt x="437094" y="473966"/>
                  </a:lnTo>
                  <a:lnTo>
                    <a:pt x="497458" y="481320"/>
                  </a:lnTo>
                  <a:lnTo>
                    <a:pt x="560193" y="486701"/>
                  </a:lnTo>
                  <a:lnTo>
                    <a:pt x="625009" y="490005"/>
                  </a:lnTo>
                  <a:lnTo>
                    <a:pt x="691616" y="491129"/>
                  </a:lnTo>
                  <a:lnTo>
                    <a:pt x="758223" y="490005"/>
                  </a:lnTo>
                  <a:lnTo>
                    <a:pt x="823039" y="486701"/>
                  </a:lnTo>
                  <a:lnTo>
                    <a:pt x="885774" y="481320"/>
                  </a:lnTo>
                  <a:lnTo>
                    <a:pt x="946138" y="473966"/>
                  </a:lnTo>
                  <a:lnTo>
                    <a:pt x="1003841" y="464741"/>
                  </a:lnTo>
                  <a:lnTo>
                    <a:pt x="1058593" y="453748"/>
                  </a:lnTo>
                  <a:lnTo>
                    <a:pt x="1110105" y="441089"/>
                  </a:lnTo>
                  <a:lnTo>
                    <a:pt x="1158086" y="426869"/>
                  </a:lnTo>
                  <a:lnTo>
                    <a:pt x="1202248" y="411189"/>
                  </a:lnTo>
                  <a:lnTo>
                    <a:pt x="1242299" y="394153"/>
                  </a:lnTo>
                  <a:lnTo>
                    <a:pt x="1277951" y="375863"/>
                  </a:lnTo>
                  <a:lnTo>
                    <a:pt x="1334895" y="335935"/>
                  </a:lnTo>
                  <a:lnTo>
                    <a:pt x="1370762" y="292227"/>
                  </a:lnTo>
                  <a:lnTo>
                    <a:pt x="1383233" y="245564"/>
                  </a:lnTo>
                  <a:lnTo>
                    <a:pt x="1380067" y="221915"/>
                  </a:lnTo>
                  <a:lnTo>
                    <a:pt x="1355608" y="176626"/>
                  </a:lnTo>
                  <a:lnTo>
                    <a:pt x="1308913" y="134706"/>
                  </a:lnTo>
                  <a:lnTo>
                    <a:pt x="1242299" y="96976"/>
                  </a:lnTo>
                  <a:lnTo>
                    <a:pt x="1202248" y="79939"/>
                  </a:lnTo>
                  <a:lnTo>
                    <a:pt x="1158086" y="64260"/>
                  </a:lnTo>
                  <a:lnTo>
                    <a:pt x="1110105" y="50039"/>
                  </a:lnTo>
                  <a:lnTo>
                    <a:pt x="1058593" y="37381"/>
                  </a:lnTo>
                  <a:lnTo>
                    <a:pt x="1003841" y="26387"/>
                  </a:lnTo>
                  <a:lnTo>
                    <a:pt x="946138" y="17162"/>
                  </a:lnTo>
                  <a:lnTo>
                    <a:pt x="885774" y="9808"/>
                  </a:lnTo>
                  <a:lnTo>
                    <a:pt x="823039" y="4427"/>
                  </a:lnTo>
                  <a:lnTo>
                    <a:pt x="758223" y="1124"/>
                  </a:lnTo>
                  <a:lnTo>
                    <a:pt x="691616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46960" y="3520640"/>
              <a:ext cx="1383665" cy="491490"/>
            </a:xfrm>
            <a:custGeom>
              <a:avLst/>
              <a:gdLst/>
              <a:ahLst/>
              <a:cxnLst/>
              <a:rect l="l" t="t" r="r" b="b"/>
              <a:pathLst>
                <a:path w="1383664" h="491489">
                  <a:moveTo>
                    <a:pt x="0" y="245564"/>
                  </a:moveTo>
                  <a:lnTo>
                    <a:pt x="12470" y="198901"/>
                  </a:lnTo>
                  <a:lnTo>
                    <a:pt x="48337" y="155194"/>
                  </a:lnTo>
                  <a:lnTo>
                    <a:pt x="105282" y="115266"/>
                  </a:lnTo>
                  <a:lnTo>
                    <a:pt x="140933" y="96976"/>
                  </a:lnTo>
                  <a:lnTo>
                    <a:pt x="180984" y="79940"/>
                  </a:lnTo>
                  <a:lnTo>
                    <a:pt x="225146" y="64260"/>
                  </a:lnTo>
                  <a:lnTo>
                    <a:pt x="273127" y="50039"/>
                  </a:lnTo>
                  <a:lnTo>
                    <a:pt x="324639" y="37381"/>
                  </a:lnTo>
                  <a:lnTo>
                    <a:pt x="379391" y="26388"/>
                  </a:lnTo>
                  <a:lnTo>
                    <a:pt x="437094" y="17162"/>
                  </a:lnTo>
                  <a:lnTo>
                    <a:pt x="497458" y="9808"/>
                  </a:lnTo>
                  <a:lnTo>
                    <a:pt x="560193" y="4427"/>
                  </a:lnTo>
                  <a:lnTo>
                    <a:pt x="625009" y="1124"/>
                  </a:lnTo>
                  <a:lnTo>
                    <a:pt x="691617" y="0"/>
                  </a:lnTo>
                  <a:lnTo>
                    <a:pt x="758224" y="1124"/>
                  </a:lnTo>
                  <a:lnTo>
                    <a:pt x="823040" y="4427"/>
                  </a:lnTo>
                  <a:lnTo>
                    <a:pt x="885775" y="9808"/>
                  </a:lnTo>
                  <a:lnTo>
                    <a:pt x="946138" y="17162"/>
                  </a:lnTo>
                  <a:lnTo>
                    <a:pt x="1003841" y="26388"/>
                  </a:lnTo>
                  <a:lnTo>
                    <a:pt x="1058594" y="37381"/>
                  </a:lnTo>
                  <a:lnTo>
                    <a:pt x="1110106" y="50039"/>
                  </a:lnTo>
                  <a:lnTo>
                    <a:pt x="1158087" y="64260"/>
                  </a:lnTo>
                  <a:lnTo>
                    <a:pt x="1202249" y="79940"/>
                  </a:lnTo>
                  <a:lnTo>
                    <a:pt x="1242300" y="96976"/>
                  </a:lnTo>
                  <a:lnTo>
                    <a:pt x="1277951" y="115266"/>
                  </a:lnTo>
                  <a:lnTo>
                    <a:pt x="1334896" y="155194"/>
                  </a:lnTo>
                  <a:lnTo>
                    <a:pt x="1370763" y="198901"/>
                  </a:lnTo>
                  <a:lnTo>
                    <a:pt x="1383234" y="245564"/>
                  </a:lnTo>
                  <a:lnTo>
                    <a:pt x="1380068" y="269214"/>
                  </a:lnTo>
                  <a:lnTo>
                    <a:pt x="1355609" y="314502"/>
                  </a:lnTo>
                  <a:lnTo>
                    <a:pt x="1308913" y="356423"/>
                  </a:lnTo>
                  <a:lnTo>
                    <a:pt x="1242300" y="394153"/>
                  </a:lnTo>
                  <a:lnTo>
                    <a:pt x="1202249" y="411189"/>
                  </a:lnTo>
                  <a:lnTo>
                    <a:pt x="1158087" y="426869"/>
                  </a:lnTo>
                  <a:lnTo>
                    <a:pt x="1110106" y="441089"/>
                  </a:lnTo>
                  <a:lnTo>
                    <a:pt x="1058594" y="453748"/>
                  </a:lnTo>
                  <a:lnTo>
                    <a:pt x="1003841" y="464741"/>
                  </a:lnTo>
                  <a:lnTo>
                    <a:pt x="946138" y="473966"/>
                  </a:lnTo>
                  <a:lnTo>
                    <a:pt x="885775" y="481321"/>
                  </a:lnTo>
                  <a:lnTo>
                    <a:pt x="823040" y="486701"/>
                  </a:lnTo>
                  <a:lnTo>
                    <a:pt x="758224" y="490005"/>
                  </a:lnTo>
                  <a:lnTo>
                    <a:pt x="691617" y="491129"/>
                  </a:lnTo>
                  <a:lnTo>
                    <a:pt x="625009" y="490005"/>
                  </a:lnTo>
                  <a:lnTo>
                    <a:pt x="560193" y="486701"/>
                  </a:lnTo>
                  <a:lnTo>
                    <a:pt x="497458" y="481321"/>
                  </a:lnTo>
                  <a:lnTo>
                    <a:pt x="437094" y="473966"/>
                  </a:lnTo>
                  <a:lnTo>
                    <a:pt x="379391" y="464741"/>
                  </a:lnTo>
                  <a:lnTo>
                    <a:pt x="324639" y="453748"/>
                  </a:lnTo>
                  <a:lnTo>
                    <a:pt x="273127" y="441089"/>
                  </a:lnTo>
                  <a:lnTo>
                    <a:pt x="225146" y="426869"/>
                  </a:lnTo>
                  <a:lnTo>
                    <a:pt x="180984" y="411189"/>
                  </a:lnTo>
                  <a:lnTo>
                    <a:pt x="140933" y="394153"/>
                  </a:lnTo>
                  <a:lnTo>
                    <a:pt x="105282" y="375863"/>
                  </a:lnTo>
                  <a:lnTo>
                    <a:pt x="48337" y="335935"/>
                  </a:lnTo>
                  <a:lnTo>
                    <a:pt x="12470" y="292227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81489" y="3275223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3" y="5663"/>
                  </a:lnTo>
                  <a:lnTo>
                    <a:pt x="416751" y="12519"/>
                  </a:lnTo>
                  <a:lnTo>
                    <a:pt x="357683" y="21856"/>
                  </a:lnTo>
                  <a:lnTo>
                    <a:pt x="301801" y="33526"/>
                  </a:lnTo>
                  <a:lnTo>
                    <a:pt x="249477" y="47379"/>
                  </a:lnTo>
                  <a:lnTo>
                    <a:pt x="201083" y="63265"/>
                  </a:lnTo>
                  <a:lnTo>
                    <a:pt x="156990" y="81034"/>
                  </a:lnTo>
                  <a:lnTo>
                    <a:pt x="117570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70" y="390592"/>
                  </a:lnTo>
                  <a:lnTo>
                    <a:pt x="156990" y="410094"/>
                  </a:lnTo>
                  <a:lnTo>
                    <a:pt x="201083" y="427863"/>
                  </a:lnTo>
                  <a:lnTo>
                    <a:pt x="249477" y="443749"/>
                  </a:lnTo>
                  <a:lnTo>
                    <a:pt x="301801" y="457602"/>
                  </a:lnTo>
                  <a:lnTo>
                    <a:pt x="357683" y="469272"/>
                  </a:lnTo>
                  <a:lnTo>
                    <a:pt x="416751" y="478610"/>
                  </a:lnTo>
                  <a:lnTo>
                    <a:pt x="478633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181489" y="3275223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07210" y="3377184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2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279138" y="3270148"/>
            <a:ext cx="6444615" cy="1198880"/>
            <a:chOff x="2279138" y="3270148"/>
            <a:chExt cx="6444615" cy="1198880"/>
          </a:xfrm>
        </p:grpSpPr>
        <p:sp>
          <p:nvSpPr>
            <p:cNvPr id="25" name="object 25"/>
            <p:cNvSpPr/>
            <p:nvPr/>
          </p:nvSpPr>
          <p:spPr>
            <a:xfrm>
              <a:off x="7545341" y="3275228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586630" y="0"/>
                  </a:moveTo>
                  <a:lnTo>
                    <a:pt x="522710" y="1440"/>
                  </a:lnTo>
                  <a:lnTo>
                    <a:pt x="460784" y="5663"/>
                  </a:lnTo>
                  <a:lnTo>
                    <a:pt x="401210" y="12519"/>
                  </a:lnTo>
                  <a:lnTo>
                    <a:pt x="344344" y="21856"/>
                  </a:lnTo>
                  <a:lnTo>
                    <a:pt x="290547" y="33526"/>
                  </a:lnTo>
                  <a:lnTo>
                    <a:pt x="240174" y="47379"/>
                  </a:lnTo>
                  <a:lnTo>
                    <a:pt x="193584" y="63265"/>
                  </a:lnTo>
                  <a:lnTo>
                    <a:pt x="151135" y="81034"/>
                  </a:lnTo>
                  <a:lnTo>
                    <a:pt x="113185" y="100537"/>
                  </a:lnTo>
                  <a:lnTo>
                    <a:pt x="80092" y="121623"/>
                  </a:lnTo>
                  <a:lnTo>
                    <a:pt x="29906" y="167947"/>
                  </a:lnTo>
                  <a:lnTo>
                    <a:pt x="3442" y="218807"/>
                  </a:lnTo>
                  <a:lnTo>
                    <a:pt x="0" y="245564"/>
                  </a:lnTo>
                  <a:lnTo>
                    <a:pt x="3442" y="272321"/>
                  </a:lnTo>
                  <a:lnTo>
                    <a:pt x="29906" y="323182"/>
                  </a:lnTo>
                  <a:lnTo>
                    <a:pt x="80092" y="369506"/>
                  </a:lnTo>
                  <a:lnTo>
                    <a:pt x="113185" y="390592"/>
                  </a:lnTo>
                  <a:lnTo>
                    <a:pt x="151135" y="410094"/>
                  </a:lnTo>
                  <a:lnTo>
                    <a:pt x="193584" y="427863"/>
                  </a:lnTo>
                  <a:lnTo>
                    <a:pt x="240174" y="443749"/>
                  </a:lnTo>
                  <a:lnTo>
                    <a:pt x="290547" y="457602"/>
                  </a:lnTo>
                  <a:lnTo>
                    <a:pt x="344344" y="469272"/>
                  </a:lnTo>
                  <a:lnTo>
                    <a:pt x="401210" y="478610"/>
                  </a:lnTo>
                  <a:lnTo>
                    <a:pt x="460784" y="485465"/>
                  </a:lnTo>
                  <a:lnTo>
                    <a:pt x="522710" y="489688"/>
                  </a:lnTo>
                  <a:lnTo>
                    <a:pt x="586630" y="491129"/>
                  </a:lnTo>
                  <a:lnTo>
                    <a:pt x="650550" y="489688"/>
                  </a:lnTo>
                  <a:lnTo>
                    <a:pt x="712476" y="485465"/>
                  </a:lnTo>
                  <a:lnTo>
                    <a:pt x="772051" y="478610"/>
                  </a:lnTo>
                  <a:lnTo>
                    <a:pt x="828916" y="469272"/>
                  </a:lnTo>
                  <a:lnTo>
                    <a:pt x="882714" y="457602"/>
                  </a:lnTo>
                  <a:lnTo>
                    <a:pt x="933087" y="443749"/>
                  </a:lnTo>
                  <a:lnTo>
                    <a:pt x="979676" y="427863"/>
                  </a:lnTo>
                  <a:lnTo>
                    <a:pt x="1022125" y="410094"/>
                  </a:lnTo>
                  <a:lnTo>
                    <a:pt x="1060075" y="390592"/>
                  </a:lnTo>
                  <a:lnTo>
                    <a:pt x="1093169" y="369506"/>
                  </a:lnTo>
                  <a:lnTo>
                    <a:pt x="1143354" y="323182"/>
                  </a:lnTo>
                  <a:lnTo>
                    <a:pt x="1169819" y="272321"/>
                  </a:lnTo>
                  <a:lnTo>
                    <a:pt x="1173261" y="245564"/>
                  </a:lnTo>
                  <a:lnTo>
                    <a:pt x="1169819" y="218807"/>
                  </a:lnTo>
                  <a:lnTo>
                    <a:pt x="1143354" y="167947"/>
                  </a:lnTo>
                  <a:lnTo>
                    <a:pt x="1093169" y="121623"/>
                  </a:lnTo>
                  <a:lnTo>
                    <a:pt x="1060075" y="100537"/>
                  </a:lnTo>
                  <a:lnTo>
                    <a:pt x="1022125" y="81034"/>
                  </a:lnTo>
                  <a:lnTo>
                    <a:pt x="979676" y="63265"/>
                  </a:lnTo>
                  <a:lnTo>
                    <a:pt x="933087" y="47379"/>
                  </a:lnTo>
                  <a:lnTo>
                    <a:pt x="882714" y="33526"/>
                  </a:lnTo>
                  <a:lnTo>
                    <a:pt x="828916" y="21856"/>
                  </a:lnTo>
                  <a:lnTo>
                    <a:pt x="772051" y="12519"/>
                  </a:lnTo>
                  <a:lnTo>
                    <a:pt x="712476" y="5663"/>
                  </a:lnTo>
                  <a:lnTo>
                    <a:pt x="650550" y="1440"/>
                  </a:lnTo>
                  <a:lnTo>
                    <a:pt x="58663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45341" y="3275228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0" y="245564"/>
                  </a:moveTo>
                  <a:lnTo>
                    <a:pt x="13530" y="192885"/>
                  </a:lnTo>
                  <a:lnTo>
                    <a:pt x="52213" y="144143"/>
                  </a:lnTo>
                  <a:lnTo>
                    <a:pt x="113185" y="100537"/>
                  </a:lnTo>
                  <a:lnTo>
                    <a:pt x="151135" y="81034"/>
                  </a:lnTo>
                  <a:lnTo>
                    <a:pt x="193584" y="63265"/>
                  </a:lnTo>
                  <a:lnTo>
                    <a:pt x="240174" y="47379"/>
                  </a:lnTo>
                  <a:lnTo>
                    <a:pt x="290547" y="33526"/>
                  </a:lnTo>
                  <a:lnTo>
                    <a:pt x="344344" y="21856"/>
                  </a:lnTo>
                  <a:lnTo>
                    <a:pt x="401210" y="12519"/>
                  </a:lnTo>
                  <a:lnTo>
                    <a:pt x="460784" y="5663"/>
                  </a:lnTo>
                  <a:lnTo>
                    <a:pt x="522711" y="1440"/>
                  </a:lnTo>
                  <a:lnTo>
                    <a:pt x="586630" y="0"/>
                  </a:lnTo>
                  <a:lnTo>
                    <a:pt x="650550" y="1440"/>
                  </a:lnTo>
                  <a:lnTo>
                    <a:pt x="712477" y="5663"/>
                  </a:lnTo>
                  <a:lnTo>
                    <a:pt x="772051" y="12519"/>
                  </a:lnTo>
                  <a:lnTo>
                    <a:pt x="828916" y="21856"/>
                  </a:lnTo>
                  <a:lnTo>
                    <a:pt x="882714" y="33526"/>
                  </a:lnTo>
                  <a:lnTo>
                    <a:pt x="933087" y="47379"/>
                  </a:lnTo>
                  <a:lnTo>
                    <a:pt x="979677" y="63265"/>
                  </a:lnTo>
                  <a:lnTo>
                    <a:pt x="1022126" y="81034"/>
                  </a:lnTo>
                  <a:lnTo>
                    <a:pt x="1060076" y="100537"/>
                  </a:lnTo>
                  <a:lnTo>
                    <a:pt x="1093169" y="121623"/>
                  </a:lnTo>
                  <a:lnTo>
                    <a:pt x="1143355" y="167947"/>
                  </a:lnTo>
                  <a:lnTo>
                    <a:pt x="1169819" y="218807"/>
                  </a:lnTo>
                  <a:lnTo>
                    <a:pt x="1173261" y="245564"/>
                  </a:lnTo>
                  <a:lnTo>
                    <a:pt x="1169819" y="272321"/>
                  </a:lnTo>
                  <a:lnTo>
                    <a:pt x="1143355" y="323182"/>
                  </a:lnTo>
                  <a:lnTo>
                    <a:pt x="1093169" y="369506"/>
                  </a:lnTo>
                  <a:lnTo>
                    <a:pt x="1060076" y="390592"/>
                  </a:lnTo>
                  <a:lnTo>
                    <a:pt x="1022126" y="410094"/>
                  </a:lnTo>
                  <a:lnTo>
                    <a:pt x="979677" y="427863"/>
                  </a:lnTo>
                  <a:lnTo>
                    <a:pt x="933087" y="443749"/>
                  </a:lnTo>
                  <a:lnTo>
                    <a:pt x="882714" y="457602"/>
                  </a:lnTo>
                  <a:lnTo>
                    <a:pt x="828916" y="469272"/>
                  </a:lnTo>
                  <a:lnTo>
                    <a:pt x="772051" y="478610"/>
                  </a:lnTo>
                  <a:lnTo>
                    <a:pt x="712477" y="485465"/>
                  </a:lnTo>
                  <a:lnTo>
                    <a:pt x="650550" y="489688"/>
                  </a:lnTo>
                  <a:lnTo>
                    <a:pt x="586630" y="491129"/>
                  </a:lnTo>
                  <a:lnTo>
                    <a:pt x="522711" y="489688"/>
                  </a:lnTo>
                  <a:lnTo>
                    <a:pt x="460784" y="485465"/>
                  </a:lnTo>
                  <a:lnTo>
                    <a:pt x="401210" y="478610"/>
                  </a:lnTo>
                  <a:lnTo>
                    <a:pt x="344344" y="469272"/>
                  </a:lnTo>
                  <a:lnTo>
                    <a:pt x="290547" y="457602"/>
                  </a:lnTo>
                  <a:lnTo>
                    <a:pt x="240174" y="443749"/>
                  </a:lnTo>
                  <a:lnTo>
                    <a:pt x="193584" y="427863"/>
                  </a:lnTo>
                  <a:lnTo>
                    <a:pt x="151135" y="410094"/>
                  </a:lnTo>
                  <a:lnTo>
                    <a:pt x="113185" y="390592"/>
                  </a:lnTo>
                  <a:lnTo>
                    <a:pt x="80092" y="369506"/>
                  </a:lnTo>
                  <a:lnTo>
                    <a:pt x="29906" y="323182"/>
                  </a:lnTo>
                  <a:lnTo>
                    <a:pt x="3442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637963" y="4456524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98980" y="4456524"/>
              <a:ext cx="762000" cy="7620"/>
            </a:xfrm>
            <a:custGeom>
              <a:avLst/>
              <a:gdLst/>
              <a:ahLst/>
              <a:cxnLst/>
              <a:rect l="l" t="t" r="r" b="b"/>
              <a:pathLst>
                <a:path w="762000" h="7620">
                  <a:moveTo>
                    <a:pt x="0" y="7158"/>
                  </a:moveTo>
                  <a:lnTo>
                    <a:pt x="761973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90844" y="3766352"/>
              <a:ext cx="713105" cy="412115"/>
            </a:xfrm>
            <a:custGeom>
              <a:avLst/>
              <a:gdLst/>
              <a:ahLst/>
              <a:cxnLst/>
              <a:rect l="l" t="t" r="r" b="b"/>
              <a:pathLst>
                <a:path w="713104" h="412114">
                  <a:moveTo>
                    <a:pt x="0" y="0"/>
                  </a:moveTo>
                  <a:lnTo>
                    <a:pt x="712635" y="411761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03479" y="3766357"/>
              <a:ext cx="628650" cy="412115"/>
            </a:xfrm>
            <a:custGeom>
              <a:avLst/>
              <a:gdLst/>
              <a:ahLst/>
              <a:cxnLst/>
              <a:rect l="l" t="t" r="r" b="b"/>
              <a:pathLst>
                <a:path w="628650" h="412114">
                  <a:moveTo>
                    <a:pt x="628492" y="0"/>
                  </a:moveTo>
                  <a:lnTo>
                    <a:pt x="0" y="41175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95438" y="3939846"/>
              <a:ext cx="654685" cy="238760"/>
            </a:xfrm>
            <a:custGeom>
              <a:avLst/>
              <a:gdLst/>
              <a:ahLst/>
              <a:cxnLst/>
              <a:rect l="l" t="t" r="r" b="b"/>
              <a:pathLst>
                <a:path w="654685" h="238760">
                  <a:moveTo>
                    <a:pt x="654090" y="0"/>
                  </a:moveTo>
                  <a:lnTo>
                    <a:pt x="0" y="238267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84218" y="3982247"/>
              <a:ext cx="711835" cy="196215"/>
            </a:xfrm>
            <a:custGeom>
              <a:avLst/>
              <a:gdLst/>
              <a:ahLst/>
              <a:cxnLst/>
              <a:rect l="l" t="t" r="r" b="b"/>
              <a:pathLst>
                <a:path w="711835" h="196214">
                  <a:moveTo>
                    <a:pt x="0" y="0"/>
                  </a:moveTo>
                  <a:lnTo>
                    <a:pt x="711220" y="195865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608586" y="3611879"/>
            <a:ext cx="1072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description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764470" y="3371088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address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905086" y="3718261"/>
            <a:ext cx="2618105" cy="2278380"/>
            <a:chOff x="2905086" y="3718261"/>
            <a:chExt cx="2618105" cy="2278380"/>
          </a:xfrm>
        </p:grpSpPr>
        <p:sp>
          <p:nvSpPr>
            <p:cNvPr id="36" name="object 36"/>
            <p:cNvSpPr/>
            <p:nvPr/>
          </p:nvSpPr>
          <p:spPr>
            <a:xfrm>
              <a:off x="2910166" y="3723341"/>
              <a:ext cx="85725" cy="455295"/>
            </a:xfrm>
            <a:custGeom>
              <a:avLst/>
              <a:gdLst/>
              <a:ahLst/>
              <a:cxnLst/>
              <a:rect l="l" t="t" r="r" b="b"/>
              <a:pathLst>
                <a:path w="85725" h="455295">
                  <a:moveTo>
                    <a:pt x="0" y="0"/>
                  </a:moveTo>
                  <a:lnTo>
                    <a:pt x="85272" y="45477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344611" y="5500261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586630" y="0"/>
                  </a:moveTo>
                  <a:lnTo>
                    <a:pt x="522710" y="1440"/>
                  </a:lnTo>
                  <a:lnTo>
                    <a:pt x="460784" y="5663"/>
                  </a:lnTo>
                  <a:lnTo>
                    <a:pt x="401210" y="12519"/>
                  </a:lnTo>
                  <a:lnTo>
                    <a:pt x="344344" y="21856"/>
                  </a:lnTo>
                  <a:lnTo>
                    <a:pt x="290547" y="33526"/>
                  </a:lnTo>
                  <a:lnTo>
                    <a:pt x="240174" y="47379"/>
                  </a:lnTo>
                  <a:lnTo>
                    <a:pt x="193584" y="63265"/>
                  </a:lnTo>
                  <a:lnTo>
                    <a:pt x="151135" y="81034"/>
                  </a:lnTo>
                  <a:lnTo>
                    <a:pt x="113185" y="100537"/>
                  </a:lnTo>
                  <a:lnTo>
                    <a:pt x="80092" y="121623"/>
                  </a:lnTo>
                  <a:lnTo>
                    <a:pt x="29906" y="167947"/>
                  </a:lnTo>
                  <a:lnTo>
                    <a:pt x="3442" y="218807"/>
                  </a:lnTo>
                  <a:lnTo>
                    <a:pt x="0" y="245564"/>
                  </a:lnTo>
                  <a:lnTo>
                    <a:pt x="3442" y="272321"/>
                  </a:lnTo>
                  <a:lnTo>
                    <a:pt x="29906" y="323182"/>
                  </a:lnTo>
                  <a:lnTo>
                    <a:pt x="80092" y="369506"/>
                  </a:lnTo>
                  <a:lnTo>
                    <a:pt x="113185" y="390592"/>
                  </a:lnTo>
                  <a:lnTo>
                    <a:pt x="151135" y="410094"/>
                  </a:lnTo>
                  <a:lnTo>
                    <a:pt x="193584" y="427863"/>
                  </a:lnTo>
                  <a:lnTo>
                    <a:pt x="240174" y="443749"/>
                  </a:lnTo>
                  <a:lnTo>
                    <a:pt x="290547" y="457602"/>
                  </a:lnTo>
                  <a:lnTo>
                    <a:pt x="344344" y="469272"/>
                  </a:lnTo>
                  <a:lnTo>
                    <a:pt x="401210" y="478610"/>
                  </a:lnTo>
                  <a:lnTo>
                    <a:pt x="460784" y="485465"/>
                  </a:lnTo>
                  <a:lnTo>
                    <a:pt x="522710" y="489688"/>
                  </a:lnTo>
                  <a:lnTo>
                    <a:pt x="586630" y="491129"/>
                  </a:lnTo>
                  <a:lnTo>
                    <a:pt x="650550" y="489688"/>
                  </a:lnTo>
                  <a:lnTo>
                    <a:pt x="712476" y="485465"/>
                  </a:lnTo>
                  <a:lnTo>
                    <a:pt x="772051" y="478610"/>
                  </a:lnTo>
                  <a:lnTo>
                    <a:pt x="828916" y="469272"/>
                  </a:lnTo>
                  <a:lnTo>
                    <a:pt x="882714" y="457602"/>
                  </a:lnTo>
                  <a:lnTo>
                    <a:pt x="933087" y="443749"/>
                  </a:lnTo>
                  <a:lnTo>
                    <a:pt x="979676" y="427863"/>
                  </a:lnTo>
                  <a:lnTo>
                    <a:pt x="1022125" y="410094"/>
                  </a:lnTo>
                  <a:lnTo>
                    <a:pt x="1060075" y="390592"/>
                  </a:lnTo>
                  <a:lnTo>
                    <a:pt x="1093169" y="369506"/>
                  </a:lnTo>
                  <a:lnTo>
                    <a:pt x="1143354" y="323182"/>
                  </a:lnTo>
                  <a:lnTo>
                    <a:pt x="1169819" y="272321"/>
                  </a:lnTo>
                  <a:lnTo>
                    <a:pt x="1173261" y="245564"/>
                  </a:lnTo>
                  <a:lnTo>
                    <a:pt x="1169819" y="218807"/>
                  </a:lnTo>
                  <a:lnTo>
                    <a:pt x="1143354" y="167947"/>
                  </a:lnTo>
                  <a:lnTo>
                    <a:pt x="1093169" y="121623"/>
                  </a:lnTo>
                  <a:lnTo>
                    <a:pt x="1060075" y="100537"/>
                  </a:lnTo>
                  <a:lnTo>
                    <a:pt x="1022125" y="81034"/>
                  </a:lnTo>
                  <a:lnTo>
                    <a:pt x="979676" y="63265"/>
                  </a:lnTo>
                  <a:lnTo>
                    <a:pt x="933087" y="47379"/>
                  </a:lnTo>
                  <a:lnTo>
                    <a:pt x="882714" y="33526"/>
                  </a:lnTo>
                  <a:lnTo>
                    <a:pt x="828916" y="21856"/>
                  </a:lnTo>
                  <a:lnTo>
                    <a:pt x="772051" y="12519"/>
                  </a:lnTo>
                  <a:lnTo>
                    <a:pt x="712476" y="5663"/>
                  </a:lnTo>
                  <a:lnTo>
                    <a:pt x="650550" y="1440"/>
                  </a:lnTo>
                  <a:lnTo>
                    <a:pt x="586630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44611" y="5500261"/>
              <a:ext cx="1173480" cy="491490"/>
            </a:xfrm>
            <a:custGeom>
              <a:avLst/>
              <a:gdLst/>
              <a:ahLst/>
              <a:cxnLst/>
              <a:rect l="l" t="t" r="r" b="b"/>
              <a:pathLst>
                <a:path w="1173479" h="491489">
                  <a:moveTo>
                    <a:pt x="0" y="245564"/>
                  </a:moveTo>
                  <a:lnTo>
                    <a:pt x="13530" y="192885"/>
                  </a:lnTo>
                  <a:lnTo>
                    <a:pt x="52213" y="144143"/>
                  </a:lnTo>
                  <a:lnTo>
                    <a:pt x="113185" y="100537"/>
                  </a:lnTo>
                  <a:lnTo>
                    <a:pt x="151135" y="81034"/>
                  </a:lnTo>
                  <a:lnTo>
                    <a:pt x="193584" y="63265"/>
                  </a:lnTo>
                  <a:lnTo>
                    <a:pt x="240174" y="47379"/>
                  </a:lnTo>
                  <a:lnTo>
                    <a:pt x="290547" y="33526"/>
                  </a:lnTo>
                  <a:lnTo>
                    <a:pt x="344344" y="21856"/>
                  </a:lnTo>
                  <a:lnTo>
                    <a:pt x="401210" y="12519"/>
                  </a:lnTo>
                  <a:lnTo>
                    <a:pt x="460784" y="5663"/>
                  </a:lnTo>
                  <a:lnTo>
                    <a:pt x="522711" y="1440"/>
                  </a:lnTo>
                  <a:lnTo>
                    <a:pt x="586630" y="0"/>
                  </a:lnTo>
                  <a:lnTo>
                    <a:pt x="650550" y="1440"/>
                  </a:lnTo>
                  <a:lnTo>
                    <a:pt x="712477" y="5663"/>
                  </a:lnTo>
                  <a:lnTo>
                    <a:pt x="772051" y="12519"/>
                  </a:lnTo>
                  <a:lnTo>
                    <a:pt x="828916" y="21856"/>
                  </a:lnTo>
                  <a:lnTo>
                    <a:pt x="882714" y="33526"/>
                  </a:lnTo>
                  <a:lnTo>
                    <a:pt x="933087" y="47379"/>
                  </a:lnTo>
                  <a:lnTo>
                    <a:pt x="979677" y="63265"/>
                  </a:lnTo>
                  <a:lnTo>
                    <a:pt x="1022126" y="81034"/>
                  </a:lnTo>
                  <a:lnTo>
                    <a:pt x="1060076" y="100537"/>
                  </a:lnTo>
                  <a:lnTo>
                    <a:pt x="1093169" y="121623"/>
                  </a:lnTo>
                  <a:lnTo>
                    <a:pt x="1143355" y="167947"/>
                  </a:lnTo>
                  <a:lnTo>
                    <a:pt x="1169819" y="218807"/>
                  </a:lnTo>
                  <a:lnTo>
                    <a:pt x="1173261" y="245564"/>
                  </a:lnTo>
                  <a:lnTo>
                    <a:pt x="1169819" y="272321"/>
                  </a:lnTo>
                  <a:lnTo>
                    <a:pt x="1143355" y="323182"/>
                  </a:lnTo>
                  <a:lnTo>
                    <a:pt x="1093169" y="369506"/>
                  </a:lnTo>
                  <a:lnTo>
                    <a:pt x="1060076" y="390592"/>
                  </a:lnTo>
                  <a:lnTo>
                    <a:pt x="1022126" y="410094"/>
                  </a:lnTo>
                  <a:lnTo>
                    <a:pt x="979677" y="427863"/>
                  </a:lnTo>
                  <a:lnTo>
                    <a:pt x="933087" y="443749"/>
                  </a:lnTo>
                  <a:lnTo>
                    <a:pt x="882714" y="457602"/>
                  </a:lnTo>
                  <a:lnTo>
                    <a:pt x="828916" y="469272"/>
                  </a:lnTo>
                  <a:lnTo>
                    <a:pt x="772051" y="478610"/>
                  </a:lnTo>
                  <a:lnTo>
                    <a:pt x="712477" y="485465"/>
                  </a:lnTo>
                  <a:lnTo>
                    <a:pt x="650550" y="489688"/>
                  </a:lnTo>
                  <a:lnTo>
                    <a:pt x="586630" y="491129"/>
                  </a:lnTo>
                  <a:lnTo>
                    <a:pt x="522711" y="489688"/>
                  </a:lnTo>
                  <a:lnTo>
                    <a:pt x="460784" y="485465"/>
                  </a:lnTo>
                  <a:lnTo>
                    <a:pt x="401210" y="478610"/>
                  </a:lnTo>
                  <a:lnTo>
                    <a:pt x="344344" y="469272"/>
                  </a:lnTo>
                  <a:lnTo>
                    <a:pt x="290547" y="457602"/>
                  </a:lnTo>
                  <a:lnTo>
                    <a:pt x="240174" y="443749"/>
                  </a:lnTo>
                  <a:lnTo>
                    <a:pt x="193584" y="427863"/>
                  </a:lnTo>
                  <a:lnTo>
                    <a:pt x="151135" y="410094"/>
                  </a:lnTo>
                  <a:lnTo>
                    <a:pt x="113185" y="390592"/>
                  </a:lnTo>
                  <a:lnTo>
                    <a:pt x="80092" y="369506"/>
                  </a:lnTo>
                  <a:lnTo>
                    <a:pt x="29906" y="323182"/>
                  </a:lnTo>
                  <a:lnTo>
                    <a:pt x="3442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31242" y="4802948"/>
              <a:ext cx="328930" cy="697865"/>
            </a:xfrm>
            <a:custGeom>
              <a:avLst/>
              <a:gdLst/>
              <a:ahLst/>
              <a:cxnLst/>
              <a:rect l="l" t="t" r="r" b="b"/>
              <a:pathLst>
                <a:path w="328929" h="697864">
                  <a:moveTo>
                    <a:pt x="0" y="697313"/>
                  </a:moveTo>
                  <a:lnTo>
                    <a:pt x="32892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563740" y="5596128"/>
            <a:ext cx="7842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quantity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550598" y="5218331"/>
            <a:ext cx="2929890" cy="1021715"/>
            <a:chOff x="5550598" y="5218331"/>
            <a:chExt cx="2929890" cy="1021715"/>
          </a:xfrm>
        </p:grpSpPr>
        <p:sp>
          <p:nvSpPr>
            <p:cNvPr id="42" name="object 42"/>
            <p:cNvSpPr/>
            <p:nvPr/>
          </p:nvSpPr>
          <p:spPr>
            <a:xfrm>
              <a:off x="5557371" y="5225105"/>
              <a:ext cx="2916555" cy="1008380"/>
            </a:xfrm>
            <a:custGeom>
              <a:avLst/>
              <a:gdLst/>
              <a:ahLst/>
              <a:cxnLst/>
              <a:rect l="l" t="t" r="r" b="b"/>
              <a:pathLst>
                <a:path w="2916554" h="1008379">
                  <a:moveTo>
                    <a:pt x="0" y="72044"/>
                  </a:moveTo>
                  <a:lnTo>
                    <a:pt x="584352" y="420022"/>
                  </a:lnTo>
                  <a:lnTo>
                    <a:pt x="584352" y="840042"/>
                  </a:lnTo>
                  <a:lnTo>
                    <a:pt x="590353" y="884706"/>
                  </a:lnTo>
                  <a:lnTo>
                    <a:pt x="607290" y="924841"/>
                  </a:lnTo>
                  <a:lnTo>
                    <a:pt x="633561" y="958844"/>
                  </a:lnTo>
                  <a:lnTo>
                    <a:pt x="667564" y="985115"/>
                  </a:lnTo>
                  <a:lnTo>
                    <a:pt x="707699" y="1002052"/>
                  </a:lnTo>
                  <a:lnTo>
                    <a:pt x="752363" y="1008053"/>
                  </a:lnTo>
                  <a:lnTo>
                    <a:pt x="2748056" y="1008053"/>
                  </a:lnTo>
                  <a:lnTo>
                    <a:pt x="2792720" y="1002052"/>
                  </a:lnTo>
                  <a:lnTo>
                    <a:pt x="2832855" y="985115"/>
                  </a:lnTo>
                  <a:lnTo>
                    <a:pt x="2866858" y="958844"/>
                  </a:lnTo>
                  <a:lnTo>
                    <a:pt x="2893129" y="924841"/>
                  </a:lnTo>
                  <a:lnTo>
                    <a:pt x="2910066" y="884706"/>
                  </a:lnTo>
                  <a:lnTo>
                    <a:pt x="2916068" y="840042"/>
                  </a:lnTo>
                  <a:lnTo>
                    <a:pt x="2916068" y="168010"/>
                  </a:lnTo>
                  <a:lnTo>
                    <a:pt x="584352" y="168010"/>
                  </a:lnTo>
                  <a:lnTo>
                    <a:pt x="0" y="72044"/>
                  </a:lnTo>
                  <a:close/>
                </a:path>
                <a:path w="2916554" h="1008379">
                  <a:moveTo>
                    <a:pt x="2748056" y="0"/>
                  </a:moveTo>
                  <a:lnTo>
                    <a:pt x="752363" y="0"/>
                  </a:lnTo>
                  <a:lnTo>
                    <a:pt x="707699" y="6001"/>
                  </a:lnTo>
                  <a:lnTo>
                    <a:pt x="667564" y="22938"/>
                  </a:lnTo>
                  <a:lnTo>
                    <a:pt x="633561" y="49209"/>
                  </a:lnTo>
                  <a:lnTo>
                    <a:pt x="607290" y="83212"/>
                  </a:lnTo>
                  <a:lnTo>
                    <a:pt x="590353" y="123346"/>
                  </a:lnTo>
                  <a:lnTo>
                    <a:pt x="584352" y="168010"/>
                  </a:lnTo>
                  <a:lnTo>
                    <a:pt x="2916068" y="168010"/>
                  </a:lnTo>
                  <a:lnTo>
                    <a:pt x="2910066" y="123346"/>
                  </a:lnTo>
                  <a:lnTo>
                    <a:pt x="2893129" y="83212"/>
                  </a:lnTo>
                  <a:lnTo>
                    <a:pt x="2866858" y="49209"/>
                  </a:lnTo>
                  <a:lnTo>
                    <a:pt x="2832855" y="22938"/>
                  </a:lnTo>
                  <a:lnTo>
                    <a:pt x="2792720" y="6001"/>
                  </a:lnTo>
                  <a:lnTo>
                    <a:pt x="2748056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557371" y="5225105"/>
              <a:ext cx="2916555" cy="1008380"/>
            </a:xfrm>
            <a:custGeom>
              <a:avLst/>
              <a:gdLst/>
              <a:ahLst/>
              <a:cxnLst/>
              <a:rect l="l" t="t" r="r" b="b"/>
              <a:pathLst>
                <a:path w="2916554" h="1008379">
                  <a:moveTo>
                    <a:pt x="584351" y="168011"/>
                  </a:moveTo>
                  <a:lnTo>
                    <a:pt x="590353" y="123347"/>
                  </a:lnTo>
                  <a:lnTo>
                    <a:pt x="607290" y="83212"/>
                  </a:lnTo>
                  <a:lnTo>
                    <a:pt x="633561" y="49209"/>
                  </a:lnTo>
                  <a:lnTo>
                    <a:pt x="667564" y="22938"/>
                  </a:lnTo>
                  <a:lnTo>
                    <a:pt x="707699" y="6001"/>
                  </a:lnTo>
                  <a:lnTo>
                    <a:pt x="752363" y="0"/>
                  </a:lnTo>
                  <a:lnTo>
                    <a:pt x="972971" y="0"/>
                  </a:lnTo>
                  <a:lnTo>
                    <a:pt x="1555900" y="0"/>
                  </a:lnTo>
                  <a:lnTo>
                    <a:pt x="2748056" y="0"/>
                  </a:lnTo>
                  <a:lnTo>
                    <a:pt x="2792720" y="6001"/>
                  </a:lnTo>
                  <a:lnTo>
                    <a:pt x="2832855" y="22938"/>
                  </a:lnTo>
                  <a:lnTo>
                    <a:pt x="2866858" y="49209"/>
                  </a:lnTo>
                  <a:lnTo>
                    <a:pt x="2893129" y="83212"/>
                  </a:lnTo>
                  <a:lnTo>
                    <a:pt x="2910066" y="123347"/>
                  </a:lnTo>
                  <a:lnTo>
                    <a:pt x="2916068" y="168011"/>
                  </a:lnTo>
                  <a:lnTo>
                    <a:pt x="2916068" y="420022"/>
                  </a:lnTo>
                  <a:lnTo>
                    <a:pt x="2916068" y="840042"/>
                  </a:lnTo>
                  <a:lnTo>
                    <a:pt x="2910066" y="884706"/>
                  </a:lnTo>
                  <a:lnTo>
                    <a:pt x="2893129" y="924841"/>
                  </a:lnTo>
                  <a:lnTo>
                    <a:pt x="2866858" y="958844"/>
                  </a:lnTo>
                  <a:lnTo>
                    <a:pt x="2832855" y="985115"/>
                  </a:lnTo>
                  <a:lnTo>
                    <a:pt x="2792720" y="1002052"/>
                  </a:lnTo>
                  <a:lnTo>
                    <a:pt x="2748056" y="1008054"/>
                  </a:lnTo>
                  <a:lnTo>
                    <a:pt x="1555900" y="1008054"/>
                  </a:lnTo>
                  <a:lnTo>
                    <a:pt x="972971" y="1008054"/>
                  </a:lnTo>
                  <a:lnTo>
                    <a:pt x="752363" y="1008054"/>
                  </a:lnTo>
                  <a:lnTo>
                    <a:pt x="707699" y="1002052"/>
                  </a:lnTo>
                  <a:lnTo>
                    <a:pt x="667564" y="985115"/>
                  </a:lnTo>
                  <a:lnTo>
                    <a:pt x="633561" y="958844"/>
                  </a:lnTo>
                  <a:lnTo>
                    <a:pt x="607290" y="924841"/>
                  </a:lnTo>
                  <a:lnTo>
                    <a:pt x="590353" y="884706"/>
                  </a:lnTo>
                  <a:lnTo>
                    <a:pt x="584351" y="840042"/>
                  </a:lnTo>
                  <a:lnTo>
                    <a:pt x="584351" y="420022"/>
                  </a:lnTo>
                  <a:lnTo>
                    <a:pt x="0" y="72045"/>
                  </a:lnTo>
                  <a:lnTo>
                    <a:pt x="584351" y="168009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360161" y="5377688"/>
            <a:ext cx="1896745" cy="68707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065" marR="5080" indent="-1270" algn="ctr">
              <a:lnSpc>
                <a:spcPts val="1700"/>
              </a:lnSpc>
              <a:spcBef>
                <a:spcPts val="240"/>
              </a:spcBef>
            </a:pP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15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dotted</a:t>
            </a:r>
            <a:r>
              <a:rPr sz="15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line</a:t>
            </a:r>
            <a:r>
              <a:rPr sz="15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connect</a:t>
            </a:r>
            <a:r>
              <a:rPr sz="15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attribute</a:t>
            </a:r>
            <a:r>
              <a:rPr sz="15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15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15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Arial MT"/>
                <a:cs typeface="Arial MT"/>
              </a:rPr>
              <a:t>relationship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100"/>
              </a:spcBef>
            </a:pPr>
            <a:r>
              <a:rPr sz="3800" spc="-70" dirty="0">
                <a:solidFill>
                  <a:srgbClr val="292934"/>
                </a:solidFill>
              </a:rPr>
              <a:t>Let’s</a:t>
            </a:r>
            <a:r>
              <a:rPr sz="3800" spc="-220" dirty="0">
                <a:solidFill>
                  <a:srgbClr val="292934"/>
                </a:solidFill>
              </a:rPr>
              <a:t> </a:t>
            </a:r>
            <a:r>
              <a:rPr sz="3800" spc="-60" dirty="0">
                <a:solidFill>
                  <a:srgbClr val="292934"/>
                </a:solidFill>
              </a:rPr>
              <a:t>try:</a:t>
            </a:r>
            <a:r>
              <a:rPr sz="3800" spc="-225" dirty="0">
                <a:solidFill>
                  <a:srgbClr val="292934"/>
                </a:solidFill>
              </a:rPr>
              <a:t> </a:t>
            </a:r>
            <a:r>
              <a:rPr sz="3800" spc="-90" dirty="0">
                <a:solidFill>
                  <a:srgbClr val="292934"/>
                </a:solidFill>
              </a:rPr>
              <a:t>Attributes</a:t>
            </a:r>
            <a:r>
              <a:rPr sz="3800" spc="-204" dirty="0">
                <a:solidFill>
                  <a:srgbClr val="292934"/>
                </a:solidFill>
              </a:rPr>
              <a:t> </a:t>
            </a:r>
            <a:r>
              <a:rPr sz="3800" dirty="0">
                <a:solidFill>
                  <a:srgbClr val="292934"/>
                </a:solidFill>
              </a:rPr>
              <a:t>-</a:t>
            </a:r>
            <a:r>
              <a:rPr sz="3800" spc="-220" dirty="0">
                <a:solidFill>
                  <a:srgbClr val="292934"/>
                </a:solidFill>
              </a:rPr>
              <a:t> </a:t>
            </a:r>
            <a:r>
              <a:rPr sz="3800" spc="-65" dirty="0">
                <a:solidFill>
                  <a:srgbClr val="292934"/>
                </a:solidFill>
              </a:rPr>
              <a:t>Relationships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399795" y="1207008"/>
            <a:ext cx="448437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Interpret</a:t>
            </a:r>
            <a:r>
              <a:rPr sz="2300" b="1" spc="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300" b="1" spc="10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300" b="1" spc="114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300" b="1" spc="-10" dirty="0">
                <a:solidFill>
                  <a:srgbClr val="292934"/>
                </a:solidFill>
                <a:latin typeface="Verdana"/>
                <a:cs typeface="Verdana"/>
              </a:rPr>
              <a:t>diagram.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564" y="5070565"/>
            <a:ext cx="8732520" cy="1938020"/>
          </a:xfrm>
          <a:prstGeom prst="rect">
            <a:avLst/>
          </a:prstGeom>
          <a:ln w="20319">
            <a:solidFill>
              <a:srgbClr val="7F7F7F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40"/>
              </a:spcBef>
            </a:pPr>
            <a:endParaRPr sz="2100">
              <a:latin typeface="Times New Roman"/>
              <a:cs typeface="Times New Roman"/>
            </a:endParaRPr>
          </a:p>
          <a:p>
            <a:pPr marL="781050">
              <a:lnSpc>
                <a:spcPct val="100000"/>
              </a:lnSpc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student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take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courses.</a:t>
            </a:r>
            <a:endParaRPr sz="2100">
              <a:latin typeface="Verdana"/>
              <a:cs typeface="Verdana"/>
            </a:endParaRPr>
          </a:p>
          <a:p>
            <a:pPr marL="781050">
              <a:lnSpc>
                <a:spcPct val="100000"/>
              </a:lnSpc>
              <a:spcBef>
                <a:spcPts val="67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course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taken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r>
              <a:rPr sz="2100" spc="5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students.</a:t>
            </a:r>
            <a:endParaRPr sz="2100">
              <a:latin typeface="Verdana"/>
              <a:cs typeface="Verdana"/>
            </a:endParaRPr>
          </a:p>
          <a:p>
            <a:pPr marL="781050">
              <a:lnSpc>
                <a:spcPct val="100000"/>
              </a:lnSpc>
              <a:spcBef>
                <a:spcPts val="67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grade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exists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only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when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student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takes</a:t>
            </a:r>
            <a:r>
              <a:rPr sz="21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course.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3969" y="1858744"/>
            <a:ext cx="8074286" cy="279653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405068" y="3176015"/>
            <a:ext cx="67627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course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2628" y="3160776"/>
            <a:ext cx="7359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student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35841" y="3166871"/>
            <a:ext cx="5435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takes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4583" y="2584703"/>
            <a:ext cx="3016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cid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3496" y="2072640"/>
            <a:ext cx="650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sec_id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84686" y="2380488"/>
            <a:ext cx="192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50929" y="1972055"/>
            <a:ext cx="9169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semester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4730" y="2039111"/>
            <a:ext cx="567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06549" y="2346959"/>
            <a:ext cx="108394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total_credit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22622" y="2502408"/>
            <a:ext cx="446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0" dirty="0">
                <a:solidFill>
                  <a:srgbClr val="292934"/>
                </a:solidFill>
                <a:latin typeface="Arial MT"/>
                <a:cs typeface="Arial MT"/>
              </a:rPr>
              <a:t>year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03640" y="4261103"/>
            <a:ext cx="57912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292934"/>
                </a:solidFill>
                <a:latin typeface="Arial MT"/>
                <a:cs typeface="Arial MT"/>
              </a:rPr>
              <a:t>grade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213" y="364236"/>
            <a:ext cx="91090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spc="-75" dirty="0"/>
              <a:t>Binary</a:t>
            </a:r>
            <a:r>
              <a:rPr sz="3800" spc="-204" dirty="0"/>
              <a:t> </a:t>
            </a:r>
            <a:r>
              <a:rPr sz="3800" spc="-55" dirty="0"/>
              <a:t>vs.</a:t>
            </a:r>
            <a:r>
              <a:rPr sz="3800" spc="-210" dirty="0"/>
              <a:t> </a:t>
            </a:r>
            <a:r>
              <a:rPr sz="3800" spc="-80" dirty="0"/>
              <a:t>Multi-Way</a:t>
            </a:r>
            <a:r>
              <a:rPr sz="3800" spc="-204" dirty="0"/>
              <a:t> </a:t>
            </a:r>
            <a:r>
              <a:rPr sz="3800" spc="-85" dirty="0"/>
              <a:t>Relationships</a:t>
            </a:r>
            <a:endParaRPr sz="3800"/>
          </a:p>
        </p:txBody>
      </p:sp>
      <p:sp>
        <p:nvSpPr>
          <p:cNvPr id="3" name="object 3"/>
          <p:cNvSpPr txBox="1"/>
          <p:nvPr/>
        </p:nvSpPr>
        <p:spPr>
          <a:xfrm>
            <a:off x="453804" y="1293367"/>
            <a:ext cx="9215755" cy="148844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 marR="535940">
              <a:lnSpc>
                <a:spcPts val="2300"/>
              </a:lnSpc>
              <a:spcBef>
                <a:spcPts val="36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model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makes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convenient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define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relationships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involving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more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than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two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sets.</a:t>
            </a:r>
            <a:endParaRPr sz="2100">
              <a:latin typeface="Verdana"/>
              <a:cs typeface="Verdana"/>
            </a:endParaRPr>
          </a:p>
          <a:p>
            <a:pPr marL="12700" marR="5080">
              <a:lnSpc>
                <a:spcPts val="2300"/>
              </a:lnSpc>
              <a:spcBef>
                <a:spcPts val="2095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practice,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ternary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(3-way)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or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higher-degree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relationships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rare </a:t>
            </a:r>
            <a:r>
              <a:rPr sz="2100" spc="-7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usually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add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complexity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design.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804" y="3820159"/>
            <a:ext cx="86760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spc="10" dirty="0">
                <a:solidFill>
                  <a:srgbClr val="292934"/>
                </a:solidFill>
                <a:latin typeface="Verdana"/>
                <a:cs typeface="Verdana"/>
              </a:rPr>
              <a:t>B,</a:t>
            </a:r>
            <a:r>
              <a:rPr sz="2100" i="1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i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sets,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i="1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subset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i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r>
              <a:rPr sz="2100" i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i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r>
              <a:rPr sz="2100" i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i="1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0029" y="4781057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B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62831" y="4781057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33398" y="4722277"/>
            <a:ext cx="1687830" cy="688975"/>
            <a:chOff x="4233398" y="4722277"/>
            <a:chExt cx="1687830" cy="688975"/>
          </a:xfrm>
        </p:grpSpPr>
        <p:sp>
          <p:nvSpPr>
            <p:cNvPr id="8" name="object 8"/>
            <p:cNvSpPr/>
            <p:nvPr/>
          </p:nvSpPr>
          <p:spPr>
            <a:xfrm>
              <a:off x="4238478" y="472735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7"/>
                  </a:lnTo>
                  <a:lnTo>
                    <a:pt x="838809" y="678534"/>
                  </a:lnTo>
                  <a:lnTo>
                    <a:pt x="1677619" y="339267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38478" y="4727357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86695" y="4922520"/>
            <a:ext cx="18161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50000" y="5054386"/>
            <a:ext cx="3218180" cy="17780"/>
            <a:chOff x="3450000" y="5054386"/>
            <a:chExt cx="3218180" cy="17780"/>
          </a:xfrm>
        </p:grpSpPr>
        <p:sp>
          <p:nvSpPr>
            <p:cNvPr id="12" name="object 12"/>
            <p:cNvSpPr/>
            <p:nvPr/>
          </p:nvSpPr>
          <p:spPr>
            <a:xfrm>
              <a:off x="3455080" y="5059466"/>
              <a:ext cx="783590" cy="7620"/>
            </a:xfrm>
            <a:custGeom>
              <a:avLst/>
              <a:gdLst/>
              <a:ahLst/>
              <a:cxnLst/>
              <a:rect l="l" t="t" r="r" b="b"/>
              <a:pathLst>
                <a:path w="783589" h="7620">
                  <a:moveTo>
                    <a:pt x="0" y="0"/>
                  </a:moveTo>
                  <a:lnTo>
                    <a:pt x="783398" y="7158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16097" y="5059467"/>
              <a:ext cx="746760" cy="7620"/>
            </a:xfrm>
            <a:custGeom>
              <a:avLst/>
              <a:gdLst/>
              <a:ahLst/>
              <a:cxnLst/>
              <a:rect l="l" t="t" r="r" b="b"/>
              <a:pathLst>
                <a:path w="746759" h="7620">
                  <a:moveTo>
                    <a:pt x="0" y="7158"/>
                  </a:moveTo>
                  <a:lnTo>
                    <a:pt x="746732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28417" y="5719794"/>
            <a:ext cx="1285240" cy="556895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147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70943" y="5405892"/>
            <a:ext cx="6350" cy="314325"/>
          </a:xfrm>
          <a:custGeom>
            <a:avLst/>
            <a:gdLst/>
            <a:ahLst/>
            <a:cxnLst/>
            <a:rect l="l" t="t" r="r" b="b"/>
            <a:pathLst>
              <a:path w="6350" h="314325">
                <a:moveTo>
                  <a:pt x="0" y="313901"/>
                </a:moveTo>
                <a:lnTo>
                  <a:pt x="6344" y="0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232" y="335280"/>
            <a:ext cx="6766559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M</a:t>
            </a:r>
            <a:r>
              <a:rPr spc="-135" dirty="0"/>
              <a:t>u</a:t>
            </a:r>
            <a:r>
              <a:rPr spc="-120" dirty="0"/>
              <a:t>l</a:t>
            </a:r>
            <a:r>
              <a:rPr spc="-140" dirty="0"/>
              <a:t>t</a:t>
            </a:r>
            <a:r>
              <a:rPr spc="-125" dirty="0"/>
              <a:t>i</a:t>
            </a:r>
            <a:r>
              <a:rPr spc="-130" dirty="0"/>
              <a:t>-</a:t>
            </a:r>
            <a:r>
              <a:rPr spc="-160" dirty="0"/>
              <a:t>W</a:t>
            </a:r>
            <a:r>
              <a:rPr spc="-140" dirty="0"/>
              <a:t>a</a:t>
            </a:r>
            <a:r>
              <a:rPr dirty="0"/>
              <a:t>y</a:t>
            </a:r>
            <a:r>
              <a:rPr spc="-254" dirty="0"/>
              <a:t> </a:t>
            </a:r>
            <a:r>
              <a:rPr spc="-140" dirty="0"/>
              <a:t>R</a:t>
            </a:r>
            <a:r>
              <a:rPr spc="-135" dirty="0"/>
              <a:t>e</a:t>
            </a:r>
            <a:r>
              <a:rPr spc="-125" dirty="0"/>
              <a:t>l</a:t>
            </a:r>
            <a:r>
              <a:rPr spc="-140" dirty="0"/>
              <a:t>at</a:t>
            </a:r>
            <a:r>
              <a:rPr spc="-125" dirty="0"/>
              <a:t>i</a:t>
            </a:r>
            <a:r>
              <a:rPr spc="-140" dirty="0"/>
              <a:t>onsh</a:t>
            </a:r>
            <a:r>
              <a:rPr spc="-125" dirty="0"/>
              <a:t>i</a:t>
            </a:r>
            <a:r>
              <a:rPr spc="-135" dirty="0"/>
              <a:t>p</a:t>
            </a:r>
            <a:r>
              <a:rPr dirty="0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253" y="1265392"/>
            <a:ext cx="9429104" cy="40096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51981" y="2331720"/>
            <a:ext cx="7473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oduct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08847" y="2331720"/>
            <a:ext cx="9042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co</a:t>
            </a:r>
            <a:r>
              <a:rPr sz="1700" spc="10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pany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69159" y="2340864"/>
            <a:ext cx="4826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buys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8493" y="1694688"/>
            <a:ext cx="3136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4097" y="1368552"/>
            <a:ext cx="5670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35514" y="1472184"/>
            <a:ext cx="5670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68152" y="3258311"/>
            <a:ext cx="6877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pe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son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85433" y="4017264"/>
            <a:ext cx="19240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id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97255" y="1642871"/>
            <a:ext cx="107251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desc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on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87108" y="1466088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0345" y="4002023"/>
            <a:ext cx="7956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add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ess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32203" y="4151376"/>
            <a:ext cx="56705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na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5494857" y="3616028"/>
          <a:ext cx="4237354" cy="16454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0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06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person.id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L w="19050">
                      <a:solidFill>
                        <a:srgbClr val="292934"/>
                      </a:solidFill>
                      <a:prstDash val="solid"/>
                    </a:lnL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product.pid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company.name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895"/>
                        </a:lnSpc>
                      </a:pPr>
                      <a:r>
                        <a:rPr sz="1600" spc="-1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95"/>
                        </a:lnSpc>
                      </a:pPr>
                      <a:r>
                        <a:rPr sz="1600" spc="-6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p111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189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Humpty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Inc.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895"/>
                        </a:lnSpc>
                      </a:pPr>
                      <a:r>
                        <a:rPr sz="1600" spc="-12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9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p222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189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Humpty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Inc.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89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95"/>
                        </a:lnSpc>
                      </a:pPr>
                      <a:r>
                        <a:rPr sz="1600" spc="-6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p111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189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Humpty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Inc.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7">
                <a:tc>
                  <a:txBody>
                    <a:bodyPr/>
                    <a:lstStyle/>
                    <a:p>
                      <a:pPr marL="97155">
                        <a:lnSpc>
                          <a:spcPts val="1895"/>
                        </a:lnSpc>
                      </a:pPr>
                      <a:r>
                        <a:rPr sz="160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22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9050">
                      <a:solidFill>
                        <a:srgbClr val="292934"/>
                      </a:solidFill>
                      <a:prstDash val="solid"/>
                    </a:lnL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895"/>
                        </a:lnSpc>
                      </a:pPr>
                      <a:r>
                        <a:rPr sz="1600" spc="-60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p111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0">
                        <a:lnSpc>
                          <a:spcPts val="1895"/>
                        </a:lnSpc>
                      </a:pP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Dumpty</a:t>
                      </a:r>
                      <a:r>
                        <a:rPr sz="1600" spc="-3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5" dirty="0">
                          <a:solidFill>
                            <a:srgbClr val="292934"/>
                          </a:solidFill>
                          <a:latin typeface="Arial MT"/>
                          <a:cs typeface="Arial MT"/>
                        </a:rPr>
                        <a:t>Shop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R w="19050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292934"/>
                      </a:solidFill>
                      <a:prstDash val="solid"/>
                    </a:lnT>
                    <a:lnB w="19050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5553718" y="3310128"/>
            <a:ext cx="5403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1700" dirty="0">
                <a:solidFill>
                  <a:srgbClr val="292934"/>
                </a:solidFill>
                <a:latin typeface="Verdana"/>
                <a:cs typeface="Verdana"/>
              </a:rPr>
              <a:t>u</a:t>
            </a:r>
            <a:r>
              <a:rPr sz="1700" spc="5" dirty="0">
                <a:solidFill>
                  <a:srgbClr val="292934"/>
                </a:solidFill>
                <a:latin typeface="Verdana"/>
                <a:cs typeface="Verdana"/>
              </a:rPr>
              <a:t>ys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23144" y="5447791"/>
            <a:ext cx="835533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9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 (person, product) pair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connect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many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companies.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 (person, company) pair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connect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many products.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10" dirty="0">
                <a:solidFill>
                  <a:srgbClr val="292934"/>
                </a:solidFill>
                <a:latin typeface="Verdana"/>
                <a:cs typeface="Verdana"/>
              </a:rPr>
              <a:t>(company,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product)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pair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connect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persons.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2721" y="7009383"/>
            <a:ext cx="85966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instances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do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 E-R.</a:t>
            </a:r>
            <a:r>
              <a:rPr sz="13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These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tables are only 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help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visualize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database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 being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designed.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2814" y="408177"/>
            <a:ext cx="7920990" cy="630942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Multiway Relationships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EA73CC8-1FB2-4026-8376-D74F350192CA}" type="slidenum">
              <a:rPr lang="en-US" smtClean="0"/>
              <a:pPr>
                <a:defRPr/>
              </a:pPr>
              <a:t>22</a:t>
            </a:fld>
            <a:endParaRPr lang="zh-CN" altLang="en-US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09600" y="1297537"/>
            <a:ext cx="818608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 we model a purchase relationship between buyers,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products and stores?</a:t>
            </a:r>
          </a:p>
        </p:txBody>
      </p:sp>
      <p:sp>
        <p:nvSpPr>
          <p:cNvPr id="7" name="AutoShape 5"/>
          <p:cNvSpPr>
            <a:spLocks noChangeAspect="1" noChangeArrowheads="1"/>
          </p:cNvSpPr>
          <p:nvPr/>
        </p:nvSpPr>
        <p:spPr bwMode="auto">
          <a:xfrm>
            <a:off x="4089487" y="3529280"/>
            <a:ext cx="1094852" cy="1035348"/>
          </a:xfrm>
          <a:prstGeom prst="diamond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85" dirty="0">
                <a:ea typeface="宋体" charset="-122"/>
              </a:rPr>
              <a:t>Purchase</a:t>
            </a:r>
          </a:p>
        </p:txBody>
      </p:sp>
      <p:sp>
        <p:nvSpPr>
          <p:cNvPr id="8" name="Rectangle 6"/>
          <p:cNvSpPr>
            <a:spLocks noChangeAspect="1" noChangeArrowheads="1"/>
          </p:cNvSpPr>
          <p:nvPr/>
        </p:nvSpPr>
        <p:spPr bwMode="auto">
          <a:xfrm>
            <a:off x="1899784" y="2896567"/>
            <a:ext cx="1587535" cy="57519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85" dirty="0">
                <a:ea typeface="宋体" charset="-122"/>
              </a:rPr>
              <a:t>Product</a:t>
            </a:r>
          </a:p>
        </p:txBody>
      </p:sp>
      <p:sp>
        <p:nvSpPr>
          <p:cNvPr id="9" name="Rectangle 7"/>
          <p:cNvSpPr>
            <a:spLocks noChangeAspect="1" noChangeArrowheads="1"/>
          </p:cNvSpPr>
          <p:nvPr/>
        </p:nvSpPr>
        <p:spPr bwMode="auto">
          <a:xfrm>
            <a:off x="3815774" y="5139821"/>
            <a:ext cx="1587535" cy="57519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85">
                <a:ea typeface="宋体" charset="-122"/>
              </a:rPr>
              <a:t>Person</a:t>
            </a:r>
          </a:p>
        </p:txBody>
      </p:sp>
      <p:sp>
        <p:nvSpPr>
          <p:cNvPr id="10" name="Rectangle 8"/>
          <p:cNvSpPr>
            <a:spLocks noChangeAspect="1" noChangeArrowheads="1"/>
          </p:cNvSpPr>
          <p:nvPr/>
        </p:nvSpPr>
        <p:spPr bwMode="auto">
          <a:xfrm>
            <a:off x="6114962" y="3759357"/>
            <a:ext cx="1587535" cy="57519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85">
                <a:ea typeface="宋体" charset="-122"/>
              </a:rPr>
              <a:t>Store</a:t>
            </a:r>
          </a:p>
        </p:txBody>
      </p:sp>
      <p:sp>
        <p:nvSpPr>
          <p:cNvPr id="11" name="Line 9"/>
          <p:cNvSpPr>
            <a:spLocks noChangeAspect="1" noChangeShapeType="1"/>
          </p:cNvSpPr>
          <p:nvPr/>
        </p:nvSpPr>
        <p:spPr bwMode="auto">
          <a:xfrm>
            <a:off x="5184338" y="4046954"/>
            <a:ext cx="93062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5"/>
          </a:p>
        </p:txBody>
      </p:sp>
      <p:sp>
        <p:nvSpPr>
          <p:cNvPr id="12" name="Line 10"/>
          <p:cNvSpPr>
            <a:spLocks noChangeAspect="1" noChangeShapeType="1"/>
          </p:cNvSpPr>
          <p:nvPr/>
        </p:nvSpPr>
        <p:spPr bwMode="auto">
          <a:xfrm>
            <a:off x="4636913" y="4564628"/>
            <a:ext cx="0" cy="5751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5"/>
          </a:p>
        </p:txBody>
      </p:sp>
      <p:sp>
        <p:nvSpPr>
          <p:cNvPr id="13" name="Line 11"/>
          <p:cNvSpPr>
            <a:spLocks noChangeAspect="1" noChangeShapeType="1"/>
          </p:cNvSpPr>
          <p:nvPr/>
        </p:nvSpPr>
        <p:spPr bwMode="auto">
          <a:xfrm>
            <a:off x="3487319" y="3471761"/>
            <a:ext cx="602168" cy="5751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485"/>
          </a:p>
        </p:txBody>
      </p:sp>
    </p:spTree>
    <p:extLst>
      <p:ext uri="{BB962C8B-B14F-4D97-AF65-F5344CB8AC3E}">
        <p14:creationId xmlns:p14="http://schemas.microsoft.com/office/powerpoint/2010/main" val="111355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Roles in Relationships</a:t>
            </a:r>
            <a:endParaRPr lang="zh-CN" altLang="en-US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EA73CC8-1FB2-4026-8376-D74F350192CA}" type="slidenum">
              <a:rPr lang="en-US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>
                <a:defRPr/>
              </a:pPr>
              <a:t>23</a:t>
            </a:fld>
            <a:endParaRPr lang="zh-CN" altLang="en-US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39532" y="1338759"/>
            <a:ext cx="78328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if we need an entity set </a:t>
            </a:r>
            <a:r>
              <a:rPr lang="en-US" altLang="zh-CN" sz="2100" b="1" dirty="0">
                <a:solidFill>
                  <a:srgbClr val="7D09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twice</a:t>
            </a:r>
            <a:r>
              <a:rPr lang="en-US" altLang="zh-CN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in one relationship?</a:t>
            </a:r>
          </a:p>
        </p:txBody>
      </p:sp>
      <p:grpSp>
        <p:nvGrpSpPr>
          <p:cNvPr id="49" name="Group 4">
            <a:extLst>
              <a:ext uri="{FF2B5EF4-FFF2-40B4-BE49-F238E27FC236}">
                <a16:creationId xmlns:a16="http://schemas.microsoft.com/office/drawing/2014/main" id="{CCBF1610-5DCC-4FDB-A06B-69309495E15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95930" y="2882950"/>
            <a:ext cx="5802713" cy="2768118"/>
            <a:chOff x="192" y="1872"/>
            <a:chExt cx="5088" cy="2310"/>
          </a:xfrm>
        </p:grpSpPr>
        <p:sp>
          <p:nvSpPr>
            <p:cNvPr id="56" name="AutoShape 5">
              <a:extLst>
                <a:ext uri="{FF2B5EF4-FFF2-40B4-BE49-F238E27FC236}">
                  <a16:creationId xmlns:a16="http://schemas.microsoft.com/office/drawing/2014/main" id="{A47EABA3-847A-4FBA-84BB-C3264A4EFE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12" y="2400"/>
              <a:ext cx="960" cy="864"/>
            </a:xfrm>
            <a:prstGeom prst="diamond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8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Purchase</a:t>
              </a:r>
            </a:p>
          </p:txBody>
        </p:sp>
        <p:sp>
          <p:nvSpPr>
            <p:cNvPr id="57" name="Rectangle 6">
              <a:extLst>
                <a:ext uri="{FF2B5EF4-FFF2-40B4-BE49-F238E27FC236}">
                  <a16:creationId xmlns:a16="http://schemas.microsoft.com/office/drawing/2014/main" id="{A966BD0A-1FA4-4534-B124-AF6120F4A7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" y="1872"/>
              <a:ext cx="1392" cy="4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85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Product</a:t>
              </a:r>
            </a:p>
          </p:txBody>
        </p:sp>
        <p:sp>
          <p:nvSpPr>
            <p:cNvPr id="58" name="Rectangle 7">
              <a:extLst>
                <a:ext uri="{FF2B5EF4-FFF2-40B4-BE49-F238E27FC236}">
                  <a16:creationId xmlns:a16="http://schemas.microsoft.com/office/drawing/2014/main" id="{18A48BCF-856F-4658-BF8A-6721B59C30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83" y="3702"/>
              <a:ext cx="1392" cy="4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85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Person</a:t>
              </a:r>
            </a:p>
          </p:txBody>
        </p:sp>
        <p:sp>
          <p:nvSpPr>
            <p:cNvPr id="59" name="Rectangle 8">
              <a:extLst>
                <a:ext uri="{FF2B5EF4-FFF2-40B4-BE49-F238E27FC236}">
                  <a16:creationId xmlns:a16="http://schemas.microsoft.com/office/drawing/2014/main" id="{0A94C950-C91D-4364-AC02-739C28786E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8" y="2592"/>
              <a:ext cx="1392" cy="4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85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Store</a:t>
              </a:r>
            </a:p>
          </p:txBody>
        </p:sp>
        <p:sp>
          <p:nvSpPr>
            <p:cNvPr id="60" name="Line 9">
              <a:extLst>
                <a:ext uri="{FF2B5EF4-FFF2-40B4-BE49-F238E27FC236}">
                  <a16:creationId xmlns:a16="http://schemas.microsoft.com/office/drawing/2014/main" id="{4B07909B-4210-46F7-9FF2-3CBC9EA792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72" y="283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>
                <a:latin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1" name="Line 10">
              <a:extLst>
                <a:ext uri="{FF2B5EF4-FFF2-40B4-BE49-F238E27FC236}">
                  <a16:creationId xmlns:a16="http://schemas.microsoft.com/office/drawing/2014/main" id="{65CFC15B-4510-4339-941E-920C383B8D8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>
              <a:off x="2362" y="3158"/>
              <a:ext cx="0" cy="650"/>
            </a:xfrm>
            <a:prstGeom prst="line">
              <a:avLst/>
            </a:prstGeom>
            <a:ln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sz="1485" dirty="0">
                <a:latin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62" name="Line 11">
              <a:extLst>
                <a:ext uri="{FF2B5EF4-FFF2-40B4-BE49-F238E27FC236}">
                  <a16:creationId xmlns:a16="http://schemas.microsoft.com/office/drawing/2014/main" id="{68866E55-F93D-4E20-9DCF-97F97AB8CCA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84" y="2352"/>
              <a:ext cx="52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>
                <a:latin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63" name="Rectangle 7">
            <a:extLst>
              <a:ext uri="{FF2B5EF4-FFF2-40B4-BE49-F238E27FC236}">
                <a16:creationId xmlns:a16="http://schemas.microsoft.com/office/drawing/2014/main" id="{F8EE2DAD-8E4C-49AD-B131-C2032682C3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92065" y="5068685"/>
            <a:ext cx="1587535" cy="57519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48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Person</a:t>
            </a:r>
          </a:p>
        </p:txBody>
      </p:sp>
      <p:sp>
        <p:nvSpPr>
          <p:cNvPr id="64" name="Line 10">
            <a:extLst>
              <a:ext uri="{FF2B5EF4-FFF2-40B4-BE49-F238E27FC236}">
                <a16:creationId xmlns:a16="http://schemas.microsoft.com/office/drawing/2014/main" id="{56FF1EBE-FE6C-446F-AF6E-E464C4ECE45D}"/>
              </a:ext>
            </a:extLst>
          </p:cNvPr>
          <p:cNvSpPr>
            <a:spLocks noChangeAspect="1" noChangeShapeType="1"/>
          </p:cNvSpPr>
          <p:nvPr/>
        </p:nvSpPr>
        <p:spPr bwMode="auto">
          <a:xfrm rot="18900000">
            <a:off x="5005286" y="4429830"/>
            <a:ext cx="0" cy="741305"/>
          </a:xfrm>
          <a:prstGeom prst="line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1485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C4798-CD57-4200-8C03-B367DBBE5A6A}"/>
              </a:ext>
            </a:extLst>
          </p:cNvPr>
          <p:cNvSpPr txBox="1"/>
          <p:nvPr/>
        </p:nvSpPr>
        <p:spPr>
          <a:xfrm>
            <a:off x="5277281" y="5649989"/>
            <a:ext cx="740844" cy="320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8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Buyer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7018A-8F25-4E36-A3C1-5921178B1BA1}"/>
              </a:ext>
            </a:extLst>
          </p:cNvPr>
          <p:cNvSpPr txBox="1"/>
          <p:nvPr/>
        </p:nvSpPr>
        <p:spPr>
          <a:xfrm>
            <a:off x="3345922" y="5624319"/>
            <a:ext cx="1343638" cy="320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85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Salesperson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77D722-D7E5-434B-B822-7F003729EC4B}"/>
              </a:ext>
            </a:extLst>
          </p:cNvPr>
          <p:cNvSpPr txBox="1"/>
          <p:nvPr/>
        </p:nvSpPr>
        <p:spPr>
          <a:xfrm>
            <a:off x="7447652" y="5089670"/>
            <a:ext cx="769172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7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en-US" sz="1485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192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52957"/>
            <a:ext cx="7920990" cy="630942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Roles in Relationships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EA73CC8-1FB2-4026-8376-D74F350192CA}" type="slidenum">
              <a:rPr lang="en-US" smtClean="0"/>
              <a:pPr>
                <a:defRPr/>
              </a:pPr>
              <a:t>24</a:t>
            </a:fld>
            <a:endParaRPr lang="zh-CN" alt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564148" y="1980880"/>
            <a:ext cx="5420971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2893" indent="-282893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Label the edges to indicate the roles</a:t>
            </a:r>
          </a:p>
          <a:p>
            <a:pPr marL="282893" indent="-282893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Collapse the two entity sets into one</a:t>
            </a:r>
            <a:endParaRPr lang="en-US" altLang="zh-CN" sz="21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9" name="Group 4">
            <a:extLst>
              <a:ext uri="{FF2B5EF4-FFF2-40B4-BE49-F238E27FC236}">
                <a16:creationId xmlns:a16="http://schemas.microsoft.com/office/drawing/2014/main" id="{CCBF1610-5DCC-4FDB-A06B-69309495E15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95930" y="2882950"/>
            <a:ext cx="5802713" cy="2768118"/>
            <a:chOff x="192" y="1872"/>
            <a:chExt cx="5088" cy="2310"/>
          </a:xfrm>
        </p:grpSpPr>
        <p:sp>
          <p:nvSpPr>
            <p:cNvPr id="56" name="AutoShape 5">
              <a:extLst>
                <a:ext uri="{FF2B5EF4-FFF2-40B4-BE49-F238E27FC236}">
                  <a16:creationId xmlns:a16="http://schemas.microsoft.com/office/drawing/2014/main" id="{A47EABA3-847A-4FBA-84BB-C3264A4EFE7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12" y="2400"/>
              <a:ext cx="960" cy="864"/>
            </a:xfrm>
            <a:prstGeom prst="diamond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85">
                  <a:ea typeface="宋体" charset="-122"/>
                </a:rPr>
                <a:t>Purchase</a:t>
              </a:r>
            </a:p>
          </p:txBody>
        </p:sp>
        <p:sp>
          <p:nvSpPr>
            <p:cNvPr id="57" name="Rectangle 6">
              <a:extLst>
                <a:ext uri="{FF2B5EF4-FFF2-40B4-BE49-F238E27FC236}">
                  <a16:creationId xmlns:a16="http://schemas.microsoft.com/office/drawing/2014/main" id="{A966BD0A-1FA4-4534-B124-AF6120F4A7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2" y="1872"/>
              <a:ext cx="1392" cy="4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85" dirty="0">
                  <a:ea typeface="宋体" charset="-122"/>
                </a:rPr>
                <a:t>Product</a:t>
              </a:r>
            </a:p>
          </p:txBody>
        </p:sp>
        <p:sp>
          <p:nvSpPr>
            <p:cNvPr id="58" name="Rectangle 7">
              <a:extLst>
                <a:ext uri="{FF2B5EF4-FFF2-40B4-BE49-F238E27FC236}">
                  <a16:creationId xmlns:a16="http://schemas.microsoft.com/office/drawing/2014/main" id="{18A48BCF-856F-4658-BF8A-6721B59C304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64" y="3702"/>
              <a:ext cx="1392" cy="4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85" dirty="0">
                  <a:ea typeface="宋体" charset="-122"/>
                </a:rPr>
                <a:t>Person</a:t>
              </a:r>
            </a:p>
          </p:txBody>
        </p:sp>
        <p:sp>
          <p:nvSpPr>
            <p:cNvPr id="59" name="Rectangle 8">
              <a:extLst>
                <a:ext uri="{FF2B5EF4-FFF2-40B4-BE49-F238E27FC236}">
                  <a16:creationId xmlns:a16="http://schemas.microsoft.com/office/drawing/2014/main" id="{0A94C950-C91D-4364-AC02-739C28786E4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88" y="2592"/>
              <a:ext cx="1392" cy="48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485">
                  <a:ea typeface="宋体" charset="-122"/>
                </a:rPr>
                <a:t>Store</a:t>
              </a:r>
            </a:p>
          </p:txBody>
        </p:sp>
        <p:sp>
          <p:nvSpPr>
            <p:cNvPr id="60" name="Line 9">
              <a:extLst>
                <a:ext uri="{FF2B5EF4-FFF2-40B4-BE49-F238E27FC236}">
                  <a16:creationId xmlns:a16="http://schemas.microsoft.com/office/drawing/2014/main" id="{4B07909B-4210-46F7-9FF2-3CBC9EA792A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072" y="283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61" name="Line 10">
              <a:extLst>
                <a:ext uri="{FF2B5EF4-FFF2-40B4-BE49-F238E27FC236}">
                  <a16:creationId xmlns:a16="http://schemas.microsoft.com/office/drawing/2014/main" id="{65CFC15B-4510-4339-941E-920C383B8D8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700000">
              <a:off x="2362" y="3158"/>
              <a:ext cx="0" cy="65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zh-CN" altLang="en-US" sz="1485" dirty="0"/>
            </a:p>
          </p:txBody>
        </p:sp>
        <p:sp>
          <p:nvSpPr>
            <p:cNvPr id="62" name="Line 11">
              <a:extLst>
                <a:ext uri="{FF2B5EF4-FFF2-40B4-BE49-F238E27FC236}">
                  <a16:creationId xmlns:a16="http://schemas.microsoft.com/office/drawing/2014/main" id="{68866E55-F93D-4E20-9DCF-97F97AB8CCA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584" y="2352"/>
              <a:ext cx="528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</p:grpSp>
      <p:sp>
        <p:nvSpPr>
          <p:cNvPr id="64" name="Line 10">
            <a:extLst>
              <a:ext uri="{FF2B5EF4-FFF2-40B4-BE49-F238E27FC236}">
                <a16:creationId xmlns:a16="http://schemas.microsoft.com/office/drawing/2014/main" id="{56FF1EBE-FE6C-446F-AF6E-E464C4ECE45D}"/>
              </a:ext>
            </a:extLst>
          </p:cNvPr>
          <p:cNvSpPr>
            <a:spLocks noChangeAspect="1" noChangeShapeType="1"/>
          </p:cNvSpPr>
          <p:nvPr/>
        </p:nvSpPr>
        <p:spPr bwMode="auto">
          <a:xfrm rot="18900000">
            <a:off x="5005286" y="4429830"/>
            <a:ext cx="0" cy="741305"/>
          </a:xfrm>
          <a:prstGeom prst="line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 sz="1485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C4798-CD57-4200-8C03-B367DBBE5A6A}"/>
              </a:ext>
            </a:extLst>
          </p:cNvPr>
          <p:cNvSpPr txBox="1"/>
          <p:nvPr/>
        </p:nvSpPr>
        <p:spPr>
          <a:xfrm>
            <a:off x="5005286" y="4615330"/>
            <a:ext cx="632802" cy="320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85" dirty="0"/>
              <a:t>Buyer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7018A-8F25-4E36-A3C1-5921178B1BA1}"/>
              </a:ext>
            </a:extLst>
          </p:cNvPr>
          <p:cNvSpPr txBox="1"/>
          <p:nvPr/>
        </p:nvSpPr>
        <p:spPr>
          <a:xfrm>
            <a:off x="3355898" y="4625303"/>
            <a:ext cx="1106329" cy="320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85" dirty="0"/>
              <a:t>Salesperson</a:t>
            </a:r>
          </a:p>
        </p:txBody>
      </p:sp>
    </p:spTree>
    <p:extLst>
      <p:ext uri="{BB962C8B-B14F-4D97-AF65-F5344CB8AC3E}">
        <p14:creationId xmlns:p14="http://schemas.microsoft.com/office/powerpoint/2010/main" val="3516887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F147-5B38-48C2-B160-54AC968D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B039D-239F-4B44-B589-498314FF8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564" y="1676400"/>
            <a:ext cx="9399267" cy="5334000"/>
          </a:xfrm>
        </p:spPr>
        <p:txBody>
          <a:bodyPr>
            <a:normAutofit/>
          </a:bodyPr>
          <a:lstStyle/>
          <a:p>
            <a:r>
              <a:rPr lang="en-US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 a database for a bank including information about customers and their accounts. </a:t>
            </a:r>
          </a:p>
          <a:p>
            <a:endParaRPr lang="en-US" sz="20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Information about a customer includes their name, address, phone, and Social Security number. </a:t>
            </a:r>
          </a:p>
          <a:p>
            <a:r>
              <a:rPr lang="en-US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r>
              <a:rPr lang="en-US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Accounts have numbers, types (saving, checking) and balances. Also record the customers who own accounts. </a:t>
            </a:r>
          </a:p>
          <a:p>
            <a:endParaRPr lang="en-US" sz="2000" b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000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Draw the E/R diagram for this database. Be sure to include arrows where appropriate, to indicate the multiplicity of a relationship.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775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565" y="1600200"/>
            <a:ext cx="8954565" cy="1292662"/>
          </a:xfrm>
        </p:spPr>
        <p:txBody>
          <a:bodyPr/>
          <a:lstStyle/>
          <a:p>
            <a:r>
              <a:rPr lang="en-US" b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 a genealogy database with one entity set: people. The information to record about persons includes their name, social security number. The people entity set has three different roles: mother, father and children.</a:t>
            </a:r>
          </a:p>
        </p:txBody>
      </p:sp>
    </p:spTree>
    <p:extLst>
      <p:ext uri="{BB962C8B-B14F-4D97-AF65-F5344CB8AC3E}">
        <p14:creationId xmlns:p14="http://schemas.microsoft.com/office/powerpoint/2010/main" val="3262069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00" y="4393469"/>
            <a:ext cx="9247505" cy="1249680"/>
            <a:chOff x="381000" y="4393469"/>
            <a:chExt cx="9247505" cy="1249680"/>
          </a:xfrm>
        </p:grpSpPr>
        <p:sp>
          <p:nvSpPr>
            <p:cNvPr id="3" name="object 3"/>
            <p:cNvSpPr/>
            <p:nvPr/>
          </p:nvSpPr>
          <p:spPr>
            <a:xfrm>
              <a:off x="396240" y="4408709"/>
              <a:ext cx="9217025" cy="1219200"/>
            </a:xfrm>
            <a:custGeom>
              <a:avLst/>
              <a:gdLst/>
              <a:ahLst/>
              <a:cxnLst/>
              <a:rect l="l" t="t" r="r" b="b"/>
              <a:pathLst>
                <a:path w="9217025" h="1219200">
                  <a:moveTo>
                    <a:pt x="9013235" y="0"/>
                  </a:moveTo>
                  <a:lnTo>
                    <a:pt x="203207" y="0"/>
                  </a:lnTo>
                  <a:lnTo>
                    <a:pt x="156613" y="5366"/>
                  </a:lnTo>
                  <a:lnTo>
                    <a:pt x="113841" y="20654"/>
                  </a:lnTo>
                  <a:lnTo>
                    <a:pt x="76111" y="44642"/>
                  </a:lnTo>
                  <a:lnTo>
                    <a:pt x="44642" y="76111"/>
                  </a:lnTo>
                  <a:lnTo>
                    <a:pt x="20654" y="113841"/>
                  </a:lnTo>
                  <a:lnTo>
                    <a:pt x="5366" y="156613"/>
                  </a:lnTo>
                  <a:lnTo>
                    <a:pt x="0" y="203207"/>
                  </a:lnTo>
                  <a:lnTo>
                    <a:pt x="0" y="1015997"/>
                  </a:lnTo>
                  <a:lnTo>
                    <a:pt x="5366" y="1062590"/>
                  </a:lnTo>
                  <a:lnTo>
                    <a:pt x="20654" y="1105362"/>
                  </a:lnTo>
                  <a:lnTo>
                    <a:pt x="44642" y="1143092"/>
                  </a:lnTo>
                  <a:lnTo>
                    <a:pt x="76111" y="1174561"/>
                  </a:lnTo>
                  <a:lnTo>
                    <a:pt x="113841" y="1198549"/>
                  </a:lnTo>
                  <a:lnTo>
                    <a:pt x="156613" y="1213836"/>
                  </a:lnTo>
                  <a:lnTo>
                    <a:pt x="203207" y="1219203"/>
                  </a:lnTo>
                  <a:lnTo>
                    <a:pt x="9013235" y="1219203"/>
                  </a:lnTo>
                  <a:lnTo>
                    <a:pt x="9059829" y="1213836"/>
                  </a:lnTo>
                  <a:lnTo>
                    <a:pt x="9102601" y="1198549"/>
                  </a:lnTo>
                  <a:lnTo>
                    <a:pt x="9140331" y="1174561"/>
                  </a:lnTo>
                  <a:lnTo>
                    <a:pt x="9171800" y="1143092"/>
                  </a:lnTo>
                  <a:lnTo>
                    <a:pt x="9195789" y="1105362"/>
                  </a:lnTo>
                  <a:lnTo>
                    <a:pt x="9211076" y="1062590"/>
                  </a:lnTo>
                  <a:lnTo>
                    <a:pt x="9216443" y="1015997"/>
                  </a:lnTo>
                  <a:lnTo>
                    <a:pt x="9216443" y="203207"/>
                  </a:lnTo>
                  <a:lnTo>
                    <a:pt x="9211076" y="156613"/>
                  </a:lnTo>
                  <a:lnTo>
                    <a:pt x="9195789" y="113841"/>
                  </a:lnTo>
                  <a:lnTo>
                    <a:pt x="9171800" y="76111"/>
                  </a:lnTo>
                  <a:lnTo>
                    <a:pt x="9140331" y="44642"/>
                  </a:lnTo>
                  <a:lnTo>
                    <a:pt x="9102601" y="20654"/>
                  </a:lnTo>
                  <a:lnTo>
                    <a:pt x="9059829" y="5366"/>
                  </a:lnTo>
                  <a:lnTo>
                    <a:pt x="9013235" y="0"/>
                  </a:lnTo>
                  <a:close/>
                </a:path>
              </a:pathLst>
            </a:custGeom>
            <a:solidFill>
              <a:srgbClr val="FFF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96240" y="4408709"/>
              <a:ext cx="9217025" cy="1219200"/>
            </a:xfrm>
            <a:custGeom>
              <a:avLst/>
              <a:gdLst/>
              <a:ahLst/>
              <a:cxnLst/>
              <a:rect l="l" t="t" r="r" b="b"/>
              <a:pathLst>
                <a:path w="9217025" h="1219200">
                  <a:moveTo>
                    <a:pt x="0" y="203207"/>
                  </a:moveTo>
                  <a:lnTo>
                    <a:pt x="5366" y="156613"/>
                  </a:lnTo>
                  <a:lnTo>
                    <a:pt x="20654" y="113841"/>
                  </a:lnTo>
                  <a:lnTo>
                    <a:pt x="44642" y="76111"/>
                  </a:lnTo>
                  <a:lnTo>
                    <a:pt x="76111" y="44642"/>
                  </a:lnTo>
                  <a:lnTo>
                    <a:pt x="113841" y="20654"/>
                  </a:lnTo>
                  <a:lnTo>
                    <a:pt x="156613" y="5366"/>
                  </a:lnTo>
                  <a:lnTo>
                    <a:pt x="203207" y="0"/>
                  </a:lnTo>
                  <a:lnTo>
                    <a:pt x="9013236" y="0"/>
                  </a:lnTo>
                  <a:lnTo>
                    <a:pt x="9059830" y="5366"/>
                  </a:lnTo>
                  <a:lnTo>
                    <a:pt x="9102602" y="20654"/>
                  </a:lnTo>
                  <a:lnTo>
                    <a:pt x="9140332" y="44642"/>
                  </a:lnTo>
                  <a:lnTo>
                    <a:pt x="9171801" y="76111"/>
                  </a:lnTo>
                  <a:lnTo>
                    <a:pt x="9195789" y="113841"/>
                  </a:lnTo>
                  <a:lnTo>
                    <a:pt x="9211076" y="156613"/>
                  </a:lnTo>
                  <a:lnTo>
                    <a:pt x="9216443" y="203207"/>
                  </a:lnTo>
                  <a:lnTo>
                    <a:pt x="9216443" y="1015996"/>
                  </a:lnTo>
                  <a:lnTo>
                    <a:pt x="9211076" y="1062590"/>
                  </a:lnTo>
                  <a:lnTo>
                    <a:pt x="9195789" y="1105362"/>
                  </a:lnTo>
                  <a:lnTo>
                    <a:pt x="9171801" y="1143092"/>
                  </a:lnTo>
                  <a:lnTo>
                    <a:pt x="9140332" y="1174561"/>
                  </a:lnTo>
                  <a:lnTo>
                    <a:pt x="9102602" y="1198549"/>
                  </a:lnTo>
                  <a:lnTo>
                    <a:pt x="9059830" y="1213837"/>
                  </a:lnTo>
                  <a:lnTo>
                    <a:pt x="9013236" y="1219204"/>
                  </a:lnTo>
                  <a:lnTo>
                    <a:pt x="203207" y="1219204"/>
                  </a:lnTo>
                  <a:lnTo>
                    <a:pt x="156613" y="1213837"/>
                  </a:lnTo>
                  <a:lnTo>
                    <a:pt x="113841" y="1198549"/>
                  </a:lnTo>
                  <a:lnTo>
                    <a:pt x="76111" y="1174561"/>
                  </a:lnTo>
                  <a:lnTo>
                    <a:pt x="44642" y="1143092"/>
                  </a:lnTo>
                  <a:lnTo>
                    <a:pt x="20654" y="1105362"/>
                  </a:lnTo>
                  <a:lnTo>
                    <a:pt x="5366" y="1062590"/>
                  </a:lnTo>
                  <a:lnTo>
                    <a:pt x="0" y="1015996"/>
                  </a:lnTo>
                  <a:lnTo>
                    <a:pt x="0" y="203207"/>
                  </a:lnTo>
                  <a:close/>
                </a:path>
              </a:pathLst>
            </a:custGeom>
            <a:ln w="3047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80773" y="4576178"/>
              <a:ext cx="1463040" cy="838835"/>
            </a:xfrm>
            <a:custGeom>
              <a:avLst/>
              <a:gdLst/>
              <a:ahLst/>
              <a:cxnLst/>
              <a:rect l="l" t="t" r="r" b="b"/>
              <a:pathLst>
                <a:path w="1463039" h="838835">
                  <a:moveTo>
                    <a:pt x="0" y="0"/>
                  </a:moveTo>
                  <a:lnTo>
                    <a:pt x="1463039" y="0"/>
                  </a:lnTo>
                  <a:lnTo>
                    <a:pt x="1463039" y="838809"/>
                  </a:lnTo>
                  <a:lnTo>
                    <a:pt x="0" y="838809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68009" y="4660992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1285049" y="0"/>
                  </a:moveTo>
                  <a:lnTo>
                    <a:pt x="0" y="0"/>
                  </a:lnTo>
                  <a:lnTo>
                    <a:pt x="0" y="669905"/>
                  </a:lnTo>
                  <a:lnTo>
                    <a:pt x="1285049" y="669905"/>
                  </a:lnTo>
                  <a:lnTo>
                    <a:pt x="1285049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68009" y="4660992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0" y="0"/>
                  </a:moveTo>
                  <a:lnTo>
                    <a:pt x="1285050" y="0"/>
                  </a:lnTo>
                  <a:lnTo>
                    <a:pt x="1285050" y="669906"/>
                  </a:lnTo>
                  <a:lnTo>
                    <a:pt x="0" y="669906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51288" y="4539691"/>
              <a:ext cx="2157095" cy="878205"/>
            </a:xfrm>
            <a:custGeom>
              <a:avLst/>
              <a:gdLst/>
              <a:ahLst/>
              <a:cxnLst/>
              <a:rect l="l" t="t" r="r" b="b"/>
              <a:pathLst>
                <a:path w="2157095" h="878204">
                  <a:moveTo>
                    <a:pt x="0" y="438911"/>
                  </a:moveTo>
                  <a:lnTo>
                    <a:pt x="1078470" y="0"/>
                  </a:lnTo>
                  <a:lnTo>
                    <a:pt x="2156939" y="438911"/>
                  </a:lnTo>
                  <a:lnTo>
                    <a:pt x="1078470" y="877823"/>
                  </a:lnTo>
                  <a:lnTo>
                    <a:pt x="0" y="438911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091593" y="464040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91593" y="4640409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65386" y="319023"/>
            <a:ext cx="854456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25" dirty="0"/>
              <a:t>E</a:t>
            </a:r>
            <a:r>
              <a:rPr sz="4300" spc="-120" dirty="0"/>
              <a:t>-</a:t>
            </a:r>
            <a:r>
              <a:rPr sz="4300" dirty="0"/>
              <a:t>R</a:t>
            </a:r>
            <a:r>
              <a:rPr sz="4300" spc="-260" dirty="0"/>
              <a:t> </a:t>
            </a:r>
            <a:r>
              <a:rPr sz="4300" spc="-130" dirty="0"/>
              <a:t>D</a:t>
            </a:r>
            <a:r>
              <a:rPr sz="4300" spc="-125" dirty="0"/>
              <a:t>i</a:t>
            </a:r>
            <a:r>
              <a:rPr sz="4300" spc="-130" dirty="0"/>
              <a:t>ag</a:t>
            </a:r>
            <a:r>
              <a:rPr sz="4300" spc="-125" dirty="0"/>
              <a:t>r</a:t>
            </a:r>
            <a:r>
              <a:rPr sz="4300" spc="-130" dirty="0"/>
              <a:t>a</a:t>
            </a:r>
            <a:r>
              <a:rPr sz="4300" spc="-140" dirty="0"/>
              <a:t>m</a:t>
            </a:r>
            <a:r>
              <a:rPr sz="4300" dirty="0"/>
              <a:t>:</a:t>
            </a:r>
            <a:r>
              <a:rPr sz="4300" spc="-240" dirty="0"/>
              <a:t> </a:t>
            </a:r>
            <a:r>
              <a:rPr sz="4300" spc="-135" dirty="0"/>
              <a:t>B</a:t>
            </a:r>
            <a:r>
              <a:rPr sz="4300" spc="-130" dirty="0"/>
              <a:t>u</a:t>
            </a:r>
            <a:r>
              <a:rPr sz="4300" spc="-125" dirty="0"/>
              <a:t>il</a:t>
            </a:r>
            <a:r>
              <a:rPr sz="4300" spc="-130" dirty="0"/>
              <a:t>d</a:t>
            </a:r>
            <a:r>
              <a:rPr sz="4300" spc="-125" dirty="0"/>
              <a:t>i</a:t>
            </a:r>
            <a:r>
              <a:rPr sz="4300" spc="-130" dirty="0"/>
              <a:t>n</a:t>
            </a:r>
            <a:r>
              <a:rPr sz="4300" dirty="0"/>
              <a:t>g</a:t>
            </a:r>
            <a:r>
              <a:rPr sz="4300" spc="-254" dirty="0"/>
              <a:t> </a:t>
            </a:r>
            <a:r>
              <a:rPr sz="4300" spc="-135" dirty="0"/>
              <a:t>B</a:t>
            </a:r>
            <a:r>
              <a:rPr sz="4300" spc="-125" dirty="0"/>
              <a:t>l</a:t>
            </a:r>
            <a:r>
              <a:rPr sz="4300" spc="-130" dirty="0"/>
              <a:t>oc</a:t>
            </a:r>
            <a:r>
              <a:rPr sz="4300" spc="-125" dirty="0"/>
              <a:t>k</a:t>
            </a:r>
            <a:r>
              <a:rPr sz="4300" dirty="0"/>
              <a:t>s</a:t>
            </a:r>
            <a:endParaRPr sz="4300"/>
          </a:p>
        </p:txBody>
      </p:sp>
      <p:grpSp>
        <p:nvGrpSpPr>
          <p:cNvPr id="12" name="object 12"/>
          <p:cNvGrpSpPr/>
          <p:nvPr/>
        </p:nvGrpSpPr>
        <p:grpSpPr>
          <a:xfrm>
            <a:off x="4962930" y="1405793"/>
            <a:ext cx="1295400" cy="680085"/>
            <a:chOff x="4962930" y="1405793"/>
            <a:chExt cx="1295400" cy="680085"/>
          </a:xfrm>
        </p:grpSpPr>
        <p:sp>
          <p:nvSpPr>
            <p:cNvPr id="13" name="object 13"/>
            <p:cNvSpPr/>
            <p:nvPr/>
          </p:nvSpPr>
          <p:spPr>
            <a:xfrm>
              <a:off x="4968010" y="1410873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1285049" y="0"/>
                  </a:moveTo>
                  <a:lnTo>
                    <a:pt x="0" y="0"/>
                  </a:lnTo>
                  <a:lnTo>
                    <a:pt x="0" y="669905"/>
                  </a:lnTo>
                  <a:lnTo>
                    <a:pt x="1285049" y="669905"/>
                  </a:lnTo>
                  <a:lnTo>
                    <a:pt x="1285049" y="0"/>
                  </a:lnTo>
                  <a:close/>
                </a:path>
              </a:pathLst>
            </a:custGeom>
            <a:solidFill>
              <a:srgbClr val="E1F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68010" y="1410873"/>
              <a:ext cx="1285240" cy="669925"/>
            </a:xfrm>
            <a:custGeom>
              <a:avLst/>
              <a:gdLst/>
              <a:ahLst/>
              <a:cxnLst/>
              <a:rect l="l" t="t" r="r" b="b"/>
              <a:pathLst>
                <a:path w="1285239" h="669925">
                  <a:moveTo>
                    <a:pt x="0" y="0"/>
                  </a:moveTo>
                  <a:lnTo>
                    <a:pt x="1285050" y="0"/>
                  </a:lnTo>
                  <a:lnTo>
                    <a:pt x="1285050" y="669906"/>
                  </a:lnTo>
                  <a:lnTo>
                    <a:pt x="0" y="669906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998990" y="2557684"/>
            <a:ext cx="1229360" cy="501650"/>
            <a:chOff x="4998990" y="2557684"/>
            <a:chExt cx="1229360" cy="501650"/>
          </a:xfrm>
        </p:grpSpPr>
        <p:sp>
          <p:nvSpPr>
            <p:cNvPr id="16" name="object 16"/>
            <p:cNvSpPr/>
            <p:nvPr/>
          </p:nvSpPr>
          <p:spPr>
            <a:xfrm>
              <a:off x="5004070" y="2562764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609353" y="0"/>
                  </a:moveTo>
                  <a:lnTo>
                    <a:pt x="542957" y="1440"/>
                  </a:lnTo>
                  <a:lnTo>
                    <a:pt x="478632" y="5663"/>
                  </a:lnTo>
                  <a:lnTo>
                    <a:pt x="416750" y="12519"/>
                  </a:lnTo>
                  <a:lnTo>
                    <a:pt x="357682" y="21856"/>
                  </a:lnTo>
                  <a:lnTo>
                    <a:pt x="301800" y="33526"/>
                  </a:lnTo>
                  <a:lnTo>
                    <a:pt x="249477" y="47379"/>
                  </a:lnTo>
                  <a:lnTo>
                    <a:pt x="201082" y="63265"/>
                  </a:lnTo>
                  <a:lnTo>
                    <a:pt x="156989" y="81034"/>
                  </a:lnTo>
                  <a:lnTo>
                    <a:pt x="117569" y="100537"/>
                  </a:lnTo>
                  <a:lnTo>
                    <a:pt x="83194" y="121623"/>
                  </a:lnTo>
                  <a:lnTo>
                    <a:pt x="31065" y="167947"/>
                  </a:lnTo>
                  <a:lnTo>
                    <a:pt x="3575" y="218807"/>
                  </a:lnTo>
                  <a:lnTo>
                    <a:pt x="0" y="245564"/>
                  </a:lnTo>
                  <a:lnTo>
                    <a:pt x="3575" y="272321"/>
                  </a:lnTo>
                  <a:lnTo>
                    <a:pt x="31065" y="323182"/>
                  </a:lnTo>
                  <a:lnTo>
                    <a:pt x="83194" y="369506"/>
                  </a:lnTo>
                  <a:lnTo>
                    <a:pt x="117569" y="390592"/>
                  </a:lnTo>
                  <a:lnTo>
                    <a:pt x="156989" y="410094"/>
                  </a:lnTo>
                  <a:lnTo>
                    <a:pt x="201082" y="427863"/>
                  </a:lnTo>
                  <a:lnTo>
                    <a:pt x="249477" y="443749"/>
                  </a:lnTo>
                  <a:lnTo>
                    <a:pt x="301800" y="457602"/>
                  </a:lnTo>
                  <a:lnTo>
                    <a:pt x="357682" y="469272"/>
                  </a:lnTo>
                  <a:lnTo>
                    <a:pt x="416750" y="478610"/>
                  </a:lnTo>
                  <a:lnTo>
                    <a:pt x="478632" y="485465"/>
                  </a:lnTo>
                  <a:lnTo>
                    <a:pt x="542957" y="489688"/>
                  </a:lnTo>
                  <a:lnTo>
                    <a:pt x="609353" y="491129"/>
                  </a:lnTo>
                  <a:lnTo>
                    <a:pt x="675749" y="489688"/>
                  </a:lnTo>
                  <a:lnTo>
                    <a:pt x="740074" y="485465"/>
                  </a:lnTo>
                  <a:lnTo>
                    <a:pt x="801956" y="478610"/>
                  </a:lnTo>
                  <a:lnTo>
                    <a:pt x="861024" y="469272"/>
                  </a:lnTo>
                  <a:lnTo>
                    <a:pt x="916906" y="457602"/>
                  </a:lnTo>
                  <a:lnTo>
                    <a:pt x="969230" y="443749"/>
                  </a:lnTo>
                  <a:lnTo>
                    <a:pt x="1017625" y="427863"/>
                  </a:lnTo>
                  <a:lnTo>
                    <a:pt x="1061718" y="410094"/>
                  </a:lnTo>
                  <a:lnTo>
                    <a:pt x="1101138" y="390592"/>
                  </a:lnTo>
                  <a:lnTo>
                    <a:pt x="1135513" y="369506"/>
                  </a:lnTo>
                  <a:lnTo>
                    <a:pt x="1187643" y="323182"/>
                  </a:lnTo>
                  <a:lnTo>
                    <a:pt x="1215132" y="272321"/>
                  </a:lnTo>
                  <a:lnTo>
                    <a:pt x="1218708" y="245564"/>
                  </a:lnTo>
                  <a:lnTo>
                    <a:pt x="1215132" y="218807"/>
                  </a:lnTo>
                  <a:lnTo>
                    <a:pt x="1187643" y="167947"/>
                  </a:lnTo>
                  <a:lnTo>
                    <a:pt x="1135513" y="121623"/>
                  </a:lnTo>
                  <a:lnTo>
                    <a:pt x="1101138" y="100537"/>
                  </a:lnTo>
                  <a:lnTo>
                    <a:pt x="1061718" y="81034"/>
                  </a:lnTo>
                  <a:lnTo>
                    <a:pt x="1017625" y="63265"/>
                  </a:lnTo>
                  <a:lnTo>
                    <a:pt x="969230" y="47379"/>
                  </a:lnTo>
                  <a:lnTo>
                    <a:pt x="916906" y="33526"/>
                  </a:lnTo>
                  <a:lnTo>
                    <a:pt x="861024" y="21856"/>
                  </a:lnTo>
                  <a:lnTo>
                    <a:pt x="801956" y="12519"/>
                  </a:lnTo>
                  <a:lnTo>
                    <a:pt x="740074" y="5663"/>
                  </a:lnTo>
                  <a:lnTo>
                    <a:pt x="675749" y="1440"/>
                  </a:lnTo>
                  <a:lnTo>
                    <a:pt x="6093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04070" y="2562764"/>
              <a:ext cx="1219200" cy="491490"/>
            </a:xfrm>
            <a:custGeom>
              <a:avLst/>
              <a:gdLst/>
              <a:ahLst/>
              <a:cxnLst/>
              <a:rect l="l" t="t" r="r" b="b"/>
              <a:pathLst>
                <a:path w="1219200" h="491489">
                  <a:moveTo>
                    <a:pt x="0" y="245564"/>
                  </a:moveTo>
                  <a:lnTo>
                    <a:pt x="14054" y="192885"/>
                  </a:lnTo>
                  <a:lnTo>
                    <a:pt x="54235" y="144143"/>
                  </a:lnTo>
                  <a:lnTo>
                    <a:pt x="117570" y="100537"/>
                  </a:lnTo>
                  <a:lnTo>
                    <a:pt x="156990" y="81034"/>
                  </a:lnTo>
                  <a:lnTo>
                    <a:pt x="201083" y="63265"/>
                  </a:lnTo>
                  <a:lnTo>
                    <a:pt x="249477" y="47379"/>
                  </a:lnTo>
                  <a:lnTo>
                    <a:pt x="301801" y="33526"/>
                  </a:lnTo>
                  <a:lnTo>
                    <a:pt x="357683" y="21856"/>
                  </a:lnTo>
                  <a:lnTo>
                    <a:pt x="416751" y="12519"/>
                  </a:lnTo>
                  <a:lnTo>
                    <a:pt x="478633" y="5663"/>
                  </a:lnTo>
                  <a:lnTo>
                    <a:pt x="542958" y="1440"/>
                  </a:lnTo>
                  <a:lnTo>
                    <a:pt x="609354" y="0"/>
                  </a:lnTo>
                  <a:lnTo>
                    <a:pt x="675749" y="1440"/>
                  </a:lnTo>
                  <a:lnTo>
                    <a:pt x="740074" y="5663"/>
                  </a:lnTo>
                  <a:lnTo>
                    <a:pt x="801957" y="12519"/>
                  </a:lnTo>
                  <a:lnTo>
                    <a:pt x="861025" y="21856"/>
                  </a:lnTo>
                  <a:lnTo>
                    <a:pt x="916906" y="33526"/>
                  </a:lnTo>
                  <a:lnTo>
                    <a:pt x="969230" y="47379"/>
                  </a:lnTo>
                  <a:lnTo>
                    <a:pt x="1017625" y="63265"/>
                  </a:lnTo>
                  <a:lnTo>
                    <a:pt x="1061718" y="81034"/>
                  </a:lnTo>
                  <a:lnTo>
                    <a:pt x="1101138" y="100537"/>
                  </a:lnTo>
                  <a:lnTo>
                    <a:pt x="1135513" y="121623"/>
                  </a:lnTo>
                  <a:lnTo>
                    <a:pt x="1187642" y="167947"/>
                  </a:lnTo>
                  <a:lnTo>
                    <a:pt x="1215132" y="218807"/>
                  </a:lnTo>
                  <a:lnTo>
                    <a:pt x="1218708" y="245564"/>
                  </a:lnTo>
                  <a:lnTo>
                    <a:pt x="1215132" y="272321"/>
                  </a:lnTo>
                  <a:lnTo>
                    <a:pt x="1187642" y="323182"/>
                  </a:lnTo>
                  <a:lnTo>
                    <a:pt x="1135513" y="369506"/>
                  </a:lnTo>
                  <a:lnTo>
                    <a:pt x="1101138" y="390592"/>
                  </a:lnTo>
                  <a:lnTo>
                    <a:pt x="1061718" y="410094"/>
                  </a:lnTo>
                  <a:lnTo>
                    <a:pt x="1017625" y="427863"/>
                  </a:lnTo>
                  <a:lnTo>
                    <a:pt x="969230" y="443749"/>
                  </a:lnTo>
                  <a:lnTo>
                    <a:pt x="916906" y="457602"/>
                  </a:lnTo>
                  <a:lnTo>
                    <a:pt x="861025" y="469272"/>
                  </a:lnTo>
                  <a:lnTo>
                    <a:pt x="801957" y="478610"/>
                  </a:lnTo>
                  <a:lnTo>
                    <a:pt x="740074" y="485465"/>
                  </a:lnTo>
                  <a:lnTo>
                    <a:pt x="675749" y="489688"/>
                  </a:lnTo>
                  <a:lnTo>
                    <a:pt x="609354" y="491129"/>
                  </a:lnTo>
                  <a:lnTo>
                    <a:pt x="542958" y="489688"/>
                  </a:lnTo>
                  <a:lnTo>
                    <a:pt x="478633" y="485465"/>
                  </a:lnTo>
                  <a:lnTo>
                    <a:pt x="416751" y="478610"/>
                  </a:lnTo>
                  <a:lnTo>
                    <a:pt x="357683" y="469272"/>
                  </a:lnTo>
                  <a:lnTo>
                    <a:pt x="301801" y="457602"/>
                  </a:lnTo>
                  <a:lnTo>
                    <a:pt x="249477" y="443749"/>
                  </a:lnTo>
                  <a:lnTo>
                    <a:pt x="201083" y="427863"/>
                  </a:lnTo>
                  <a:lnTo>
                    <a:pt x="156990" y="410094"/>
                  </a:lnTo>
                  <a:lnTo>
                    <a:pt x="117570" y="390592"/>
                  </a:lnTo>
                  <a:lnTo>
                    <a:pt x="83194" y="369506"/>
                  </a:lnTo>
                  <a:lnTo>
                    <a:pt x="31065" y="323182"/>
                  </a:lnTo>
                  <a:lnTo>
                    <a:pt x="3575" y="272321"/>
                  </a:lnTo>
                  <a:lnTo>
                    <a:pt x="0" y="245564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769679" y="3534111"/>
            <a:ext cx="1687830" cy="688975"/>
            <a:chOff x="4769679" y="3534111"/>
            <a:chExt cx="1687830" cy="688975"/>
          </a:xfrm>
        </p:grpSpPr>
        <p:sp>
          <p:nvSpPr>
            <p:cNvPr id="19" name="object 19"/>
            <p:cNvSpPr/>
            <p:nvPr/>
          </p:nvSpPr>
          <p:spPr>
            <a:xfrm>
              <a:off x="4774759" y="3539191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7"/>
                  </a:lnTo>
                  <a:lnTo>
                    <a:pt x="838809" y="678534"/>
                  </a:lnTo>
                  <a:lnTo>
                    <a:pt x="1677619" y="339267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74759" y="3539191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057764" y="5763002"/>
            <a:ext cx="1102360" cy="678180"/>
            <a:chOff x="5057764" y="5763002"/>
            <a:chExt cx="1102360" cy="678180"/>
          </a:xfrm>
        </p:grpSpPr>
        <p:sp>
          <p:nvSpPr>
            <p:cNvPr id="22" name="object 22"/>
            <p:cNvSpPr/>
            <p:nvPr/>
          </p:nvSpPr>
          <p:spPr>
            <a:xfrm>
              <a:off x="5064537" y="5769776"/>
              <a:ext cx="1089025" cy="664845"/>
            </a:xfrm>
            <a:custGeom>
              <a:avLst/>
              <a:gdLst/>
              <a:ahLst/>
              <a:cxnLst/>
              <a:rect l="l" t="t" r="r" b="b"/>
              <a:pathLst>
                <a:path w="1089025" h="664845">
                  <a:moveTo>
                    <a:pt x="544222" y="0"/>
                  </a:moveTo>
                  <a:lnTo>
                    <a:pt x="0" y="664375"/>
                  </a:lnTo>
                  <a:lnTo>
                    <a:pt x="1088445" y="664375"/>
                  </a:lnTo>
                  <a:lnTo>
                    <a:pt x="544222" y="0"/>
                  </a:lnTo>
                  <a:close/>
                </a:path>
              </a:pathLst>
            </a:custGeom>
            <a:solidFill>
              <a:srgbClr val="FFD5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64537" y="5769776"/>
              <a:ext cx="1089025" cy="664845"/>
            </a:xfrm>
            <a:custGeom>
              <a:avLst/>
              <a:gdLst/>
              <a:ahLst/>
              <a:cxnLst/>
              <a:rect l="l" t="t" r="r" b="b"/>
              <a:pathLst>
                <a:path w="1089025" h="664845">
                  <a:moveTo>
                    <a:pt x="0" y="664375"/>
                  </a:moveTo>
                  <a:lnTo>
                    <a:pt x="544222" y="0"/>
                  </a:lnTo>
                  <a:lnTo>
                    <a:pt x="1088444" y="664375"/>
                  </a:lnTo>
                  <a:lnTo>
                    <a:pt x="0" y="664375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403602" y="6046216"/>
            <a:ext cx="4038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is</a:t>
            </a:r>
            <a:r>
              <a:rPr sz="1900" spc="-7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99043" y="1552447"/>
            <a:ext cx="2525395" cy="2390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(strong)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Entity set</a:t>
            </a:r>
            <a:endParaRPr sz="2100">
              <a:latin typeface="Verdana"/>
              <a:cs typeface="Verdana"/>
            </a:endParaRPr>
          </a:p>
          <a:p>
            <a:pPr marL="12700" marR="856615">
              <a:lnSpc>
                <a:spcPct val="309500"/>
              </a:lnSpc>
              <a:spcBef>
                <a:spcPts val="505"/>
              </a:spcBef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Attribute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35" dirty="0">
                <a:solidFill>
                  <a:srgbClr val="292934"/>
                </a:solidFill>
                <a:latin typeface="Verdana"/>
                <a:cs typeface="Verdana"/>
              </a:rPr>
              <a:t>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ti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p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99043" y="4829047"/>
            <a:ext cx="16357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Weak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99043" y="6036055"/>
            <a:ext cx="12077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Su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b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l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s</a:t>
            </a:r>
            <a:endParaRPr sz="21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49249" y="4375867"/>
            <a:ext cx="9168765" cy="1247140"/>
            <a:chOff x="449249" y="4375867"/>
            <a:chExt cx="9168765" cy="1247140"/>
          </a:xfrm>
        </p:grpSpPr>
        <p:sp>
          <p:nvSpPr>
            <p:cNvPr id="29" name="object 29"/>
            <p:cNvSpPr/>
            <p:nvPr/>
          </p:nvSpPr>
          <p:spPr>
            <a:xfrm>
              <a:off x="6343813" y="4978602"/>
              <a:ext cx="508000" cy="17145"/>
            </a:xfrm>
            <a:custGeom>
              <a:avLst/>
              <a:gdLst/>
              <a:ahLst/>
              <a:cxnLst/>
              <a:rect l="l" t="t" r="r" b="b"/>
              <a:pathLst>
                <a:path w="508000" h="17145">
                  <a:moveTo>
                    <a:pt x="0" y="16980"/>
                  </a:moveTo>
                  <a:lnTo>
                    <a:pt x="507474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008228" y="4925388"/>
              <a:ext cx="511809" cy="106680"/>
            </a:xfrm>
            <a:custGeom>
              <a:avLst/>
              <a:gdLst/>
              <a:ahLst/>
              <a:cxnLst/>
              <a:rect l="l" t="t" r="r" b="b"/>
              <a:pathLst>
                <a:path w="511809" h="106679">
                  <a:moveTo>
                    <a:pt x="419963" y="0"/>
                  </a:moveTo>
                  <a:lnTo>
                    <a:pt x="416853" y="819"/>
                  </a:lnTo>
                  <a:lnTo>
                    <a:pt x="414026" y="5665"/>
                  </a:lnTo>
                  <a:lnTo>
                    <a:pt x="414844" y="8775"/>
                  </a:lnTo>
                  <a:lnTo>
                    <a:pt x="482318" y="48135"/>
                  </a:lnTo>
                  <a:lnTo>
                    <a:pt x="501107" y="48135"/>
                  </a:lnTo>
                  <a:lnTo>
                    <a:pt x="501107" y="58295"/>
                  </a:lnTo>
                  <a:lnTo>
                    <a:pt x="482317" y="58295"/>
                  </a:lnTo>
                  <a:lnTo>
                    <a:pt x="414844" y="97654"/>
                  </a:lnTo>
                  <a:lnTo>
                    <a:pt x="414026" y="100764"/>
                  </a:lnTo>
                  <a:lnTo>
                    <a:pt x="416853" y="105611"/>
                  </a:lnTo>
                  <a:lnTo>
                    <a:pt x="419963" y="106429"/>
                  </a:lnTo>
                  <a:lnTo>
                    <a:pt x="502481" y="58295"/>
                  </a:lnTo>
                  <a:lnTo>
                    <a:pt x="501107" y="58295"/>
                  </a:lnTo>
                  <a:lnTo>
                    <a:pt x="502483" y="58294"/>
                  </a:lnTo>
                  <a:lnTo>
                    <a:pt x="511190" y="53215"/>
                  </a:lnTo>
                  <a:lnTo>
                    <a:pt x="419963" y="0"/>
                  </a:lnTo>
                  <a:close/>
                </a:path>
                <a:path w="511809" h="106679">
                  <a:moveTo>
                    <a:pt x="491026" y="53215"/>
                  </a:moveTo>
                  <a:lnTo>
                    <a:pt x="482317" y="58295"/>
                  </a:lnTo>
                  <a:lnTo>
                    <a:pt x="501107" y="58295"/>
                  </a:lnTo>
                  <a:lnTo>
                    <a:pt x="501107" y="57603"/>
                  </a:lnTo>
                  <a:lnTo>
                    <a:pt x="498548" y="57603"/>
                  </a:lnTo>
                  <a:lnTo>
                    <a:pt x="491026" y="53215"/>
                  </a:lnTo>
                  <a:close/>
                </a:path>
                <a:path w="511809" h="106679">
                  <a:moveTo>
                    <a:pt x="0" y="48134"/>
                  </a:moveTo>
                  <a:lnTo>
                    <a:pt x="0" y="58294"/>
                  </a:lnTo>
                  <a:lnTo>
                    <a:pt x="482319" y="58294"/>
                  </a:lnTo>
                  <a:lnTo>
                    <a:pt x="491026" y="53215"/>
                  </a:lnTo>
                  <a:lnTo>
                    <a:pt x="482318" y="48135"/>
                  </a:lnTo>
                  <a:lnTo>
                    <a:pt x="0" y="48134"/>
                  </a:lnTo>
                  <a:close/>
                </a:path>
                <a:path w="511809" h="106679">
                  <a:moveTo>
                    <a:pt x="498548" y="48827"/>
                  </a:moveTo>
                  <a:lnTo>
                    <a:pt x="491026" y="53215"/>
                  </a:lnTo>
                  <a:lnTo>
                    <a:pt x="498548" y="57603"/>
                  </a:lnTo>
                  <a:lnTo>
                    <a:pt x="498548" y="48827"/>
                  </a:lnTo>
                  <a:close/>
                </a:path>
                <a:path w="511809" h="106679">
                  <a:moveTo>
                    <a:pt x="501107" y="48827"/>
                  </a:moveTo>
                  <a:lnTo>
                    <a:pt x="498548" y="48827"/>
                  </a:lnTo>
                  <a:lnTo>
                    <a:pt x="498548" y="57603"/>
                  </a:lnTo>
                  <a:lnTo>
                    <a:pt x="501107" y="57603"/>
                  </a:lnTo>
                  <a:lnTo>
                    <a:pt x="501107" y="48827"/>
                  </a:lnTo>
                  <a:close/>
                </a:path>
                <a:path w="511809" h="106679">
                  <a:moveTo>
                    <a:pt x="482318" y="48135"/>
                  </a:moveTo>
                  <a:lnTo>
                    <a:pt x="491026" y="53215"/>
                  </a:lnTo>
                  <a:lnTo>
                    <a:pt x="498548" y="48827"/>
                  </a:lnTo>
                  <a:lnTo>
                    <a:pt x="501107" y="48827"/>
                  </a:lnTo>
                  <a:lnTo>
                    <a:pt x="501107" y="48135"/>
                  </a:lnTo>
                  <a:lnTo>
                    <a:pt x="482318" y="48135"/>
                  </a:lnTo>
                  <a:close/>
                </a:path>
              </a:pathLst>
            </a:custGeom>
            <a:solidFill>
              <a:srgbClr val="3B3B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49249" y="4380947"/>
              <a:ext cx="9168765" cy="0"/>
            </a:xfrm>
            <a:custGeom>
              <a:avLst/>
              <a:gdLst/>
              <a:ahLst/>
              <a:cxnLst/>
              <a:rect l="l" t="t" r="r" b="b"/>
              <a:pathLst>
                <a:path w="9168765">
                  <a:moveTo>
                    <a:pt x="0" y="0"/>
                  </a:moveTo>
                  <a:lnTo>
                    <a:pt x="9168383" y="1"/>
                  </a:lnTo>
                </a:path>
              </a:pathLst>
            </a:custGeom>
            <a:ln w="10159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9249" y="5617815"/>
              <a:ext cx="9168765" cy="0"/>
            </a:xfrm>
            <a:custGeom>
              <a:avLst/>
              <a:gdLst/>
              <a:ahLst/>
              <a:cxnLst/>
              <a:rect l="l" t="t" r="r" b="b"/>
              <a:pathLst>
                <a:path w="9168765">
                  <a:moveTo>
                    <a:pt x="0" y="0"/>
                  </a:moveTo>
                  <a:lnTo>
                    <a:pt x="9168383" y="1"/>
                  </a:lnTo>
                </a:path>
              </a:pathLst>
            </a:custGeom>
            <a:ln w="10159">
              <a:solidFill>
                <a:srgbClr val="93A2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/>
          <p:nvPr/>
        </p:nvSpPr>
        <p:spPr>
          <a:xfrm>
            <a:off x="449249" y="2334812"/>
            <a:ext cx="9168765" cy="0"/>
          </a:xfrm>
          <a:custGeom>
            <a:avLst/>
            <a:gdLst/>
            <a:ahLst/>
            <a:cxnLst/>
            <a:rect l="l" t="t" r="r" b="b"/>
            <a:pathLst>
              <a:path w="9168765">
                <a:moveTo>
                  <a:pt x="0" y="0"/>
                </a:moveTo>
                <a:lnTo>
                  <a:pt x="9168383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9249" y="3317240"/>
            <a:ext cx="9168765" cy="0"/>
          </a:xfrm>
          <a:custGeom>
            <a:avLst/>
            <a:gdLst/>
            <a:ahLst/>
            <a:cxnLst/>
            <a:rect l="l" t="t" r="r" b="b"/>
            <a:pathLst>
              <a:path w="9168765">
                <a:moveTo>
                  <a:pt x="0" y="0"/>
                </a:moveTo>
                <a:lnTo>
                  <a:pt x="9168383" y="1"/>
                </a:lnTo>
              </a:path>
            </a:pathLst>
          </a:custGeom>
          <a:ln w="10159">
            <a:solidFill>
              <a:srgbClr val="93A2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62721" y="7009383"/>
            <a:ext cx="714629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Note: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colors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are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part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Diagram.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simply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 are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used </a:t>
            </a:r>
            <a:r>
              <a:rPr sz="1300" spc="-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1300" spc="-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292934"/>
                </a:solidFill>
                <a:latin typeface="Verdana"/>
                <a:cs typeface="Verdana"/>
              </a:rPr>
              <a:t>increase</a:t>
            </a:r>
            <a:r>
              <a:rPr sz="1300" spc="-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292934"/>
                </a:solidFill>
                <a:latin typeface="Verdana"/>
                <a:cs typeface="Verdana"/>
              </a:rPr>
              <a:t>readability.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194026" y="228600"/>
            <a:ext cx="696595" cy="305435"/>
          </a:xfrm>
          <a:custGeom>
            <a:avLst/>
            <a:gdLst/>
            <a:ahLst/>
            <a:cxnLst/>
            <a:rect l="l" t="t" r="r" b="b"/>
            <a:pathLst>
              <a:path w="696595" h="305434">
                <a:moveTo>
                  <a:pt x="0" y="0"/>
                </a:moveTo>
                <a:lnTo>
                  <a:pt x="696259" y="0"/>
                </a:lnTo>
                <a:lnTo>
                  <a:pt x="696259" y="305314"/>
                </a:lnTo>
                <a:lnTo>
                  <a:pt x="0" y="305314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278862" y="238759"/>
            <a:ext cx="5207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57576E"/>
                </a:solidFill>
                <a:latin typeface="Arial MT"/>
                <a:cs typeface="Arial MT"/>
              </a:rPr>
              <a:t>revisit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6666" y="319023"/>
            <a:ext cx="838136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S</a:t>
            </a:r>
            <a:r>
              <a:rPr sz="4300" spc="-125" dirty="0"/>
              <a:t>tr</a:t>
            </a:r>
            <a:r>
              <a:rPr sz="4300" spc="-130" dirty="0"/>
              <a:t>o</a:t>
            </a:r>
            <a:r>
              <a:rPr sz="4300" spc="-135" dirty="0"/>
              <a:t>n</a:t>
            </a:r>
            <a:r>
              <a:rPr sz="4300" dirty="0"/>
              <a:t>g</a:t>
            </a:r>
            <a:r>
              <a:rPr sz="4300" spc="-250" dirty="0"/>
              <a:t> </a:t>
            </a:r>
            <a:r>
              <a:rPr sz="4300" spc="-125" dirty="0"/>
              <a:t>a</a:t>
            </a:r>
            <a:r>
              <a:rPr sz="4300" spc="-135" dirty="0"/>
              <a:t>n</a:t>
            </a:r>
            <a:r>
              <a:rPr sz="4300" dirty="0"/>
              <a:t>d</a:t>
            </a:r>
            <a:r>
              <a:rPr sz="4300" spc="-250" dirty="0"/>
              <a:t> </a:t>
            </a:r>
            <a:r>
              <a:rPr sz="4300" spc="-150" dirty="0"/>
              <a:t>W</a:t>
            </a:r>
            <a:r>
              <a:rPr sz="4300" spc="-125" dirty="0"/>
              <a:t>ea</a:t>
            </a:r>
            <a:r>
              <a:rPr sz="4300" dirty="0"/>
              <a:t>k</a:t>
            </a:r>
            <a:r>
              <a:rPr sz="4300" spc="-250" dirty="0"/>
              <a:t> </a:t>
            </a:r>
            <a:r>
              <a:rPr sz="4300" spc="-125" dirty="0"/>
              <a:t>E</a:t>
            </a:r>
            <a:r>
              <a:rPr sz="4300" spc="-135" dirty="0"/>
              <a:t>n</a:t>
            </a:r>
            <a:r>
              <a:rPr sz="4300" spc="-120" dirty="0"/>
              <a:t>t</a:t>
            </a:r>
            <a:r>
              <a:rPr sz="4300" spc="-125" dirty="0"/>
              <a:t>i</a:t>
            </a:r>
            <a:r>
              <a:rPr sz="4300" spc="-120" dirty="0"/>
              <a:t>t</a:t>
            </a:r>
            <a:r>
              <a:rPr sz="4300" dirty="0"/>
              <a:t>y</a:t>
            </a:r>
            <a:r>
              <a:rPr sz="4300" spc="-260" dirty="0"/>
              <a:t> </a:t>
            </a:r>
            <a:r>
              <a:rPr sz="4300" spc="-135" dirty="0"/>
              <a:t>S</a:t>
            </a:r>
            <a:r>
              <a:rPr sz="4300" spc="-125" dirty="0"/>
              <a:t>e</a:t>
            </a:r>
            <a:r>
              <a:rPr sz="4300" spc="-120" dirty="0"/>
              <a:t>t</a:t>
            </a:r>
            <a:r>
              <a:rPr sz="4300" dirty="0"/>
              <a:t>s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515623" y="1243584"/>
            <a:ext cx="283654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20" dirty="0">
                <a:solidFill>
                  <a:srgbClr val="C00000"/>
                </a:solidFill>
                <a:latin typeface="Verdana"/>
                <a:cs typeface="Verdana"/>
              </a:rPr>
              <a:t>Strong</a:t>
            </a:r>
            <a:r>
              <a:rPr sz="2300" b="1" spc="-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15" dirty="0">
                <a:solidFill>
                  <a:srgbClr val="C00000"/>
                </a:solidFill>
                <a:latin typeface="Verdana"/>
                <a:cs typeface="Verdana"/>
              </a:rPr>
              <a:t>entity</a:t>
            </a:r>
            <a:r>
              <a:rPr sz="2300" b="1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25" dirty="0">
                <a:solidFill>
                  <a:srgbClr val="C00000"/>
                </a:solidFill>
                <a:latin typeface="Verdana"/>
                <a:cs typeface="Verdana"/>
              </a:rPr>
              <a:t>set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5041" y="1726691"/>
            <a:ext cx="7646670" cy="62293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242570" marR="5080" indent="-230504">
              <a:lnSpc>
                <a:spcPts val="2300"/>
              </a:lnSpc>
              <a:spcBef>
                <a:spcPts val="259"/>
              </a:spcBef>
              <a:buSzPct val="85000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Entities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can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identified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values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of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their attributes </a:t>
            </a:r>
            <a:r>
              <a:rPr sz="2000" spc="-6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(a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key)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623" y="2868167"/>
            <a:ext cx="264731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30" dirty="0">
                <a:solidFill>
                  <a:srgbClr val="C00000"/>
                </a:solidFill>
                <a:latin typeface="Verdana"/>
                <a:cs typeface="Verdana"/>
              </a:rPr>
              <a:t>Weak</a:t>
            </a:r>
            <a:r>
              <a:rPr sz="2300" b="1" spc="-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15" dirty="0">
                <a:solidFill>
                  <a:srgbClr val="C00000"/>
                </a:solidFill>
                <a:latin typeface="Verdana"/>
                <a:cs typeface="Verdana"/>
              </a:rPr>
              <a:t>entity</a:t>
            </a:r>
            <a:r>
              <a:rPr sz="2300" b="1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300" b="1" spc="15" dirty="0">
                <a:solidFill>
                  <a:srgbClr val="C00000"/>
                </a:solidFill>
                <a:latin typeface="Verdana"/>
                <a:cs typeface="Verdana"/>
              </a:rPr>
              <a:t>set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041" y="3403091"/>
            <a:ext cx="8930005" cy="3177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indent="-243840">
              <a:lnSpc>
                <a:spcPct val="100000"/>
              </a:lnSpc>
              <a:spcBef>
                <a:spcPts val="100"/>
              </a:spcBef>
              <a:buSzPct val="85000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No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primary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2000" spc="22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be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identified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their attributes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292934"/>
              </a:buClr>
              <a:buFont typeface="Arial MT"/>
              <a:buChar char="•"/>
            </a:pPr>
            <a:endParaRPr sz="2150" dirty="0">
              <a:latin typeface="Verdana"/>
              <a:cs typeface="Verdana"/>
            </a:endParaRPr>
          </a:p>
          <a:p>
            <a:pPr marL="256540" marR="5080" indent="-243840">
              <a:lnSpc>
                <a:spcPts val="2300"/>
              </a:lnSpc>
              <a:buSzPct val="85000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000" spc="-100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-15" dirty="0">
                <a:solidFill>
                  <a:srgbClr val="292934"/>
                </a:solidFill>
                <a:latin typeface="Verdana"/>
                <a:cs typeface="Verdana"/>
              </a:rPr>
              <a:t>identify,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combination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their attributes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(“</a:t>
            </a:r>
            <a:r>
              <a:rPr sz="2000" spc="15" dirty="0">
                <a:solidFill>
                  <a:srgbClr val="C00000"/>
                </a:solidFill>
                <a:latin typeface="Verdana"/>
                <a:cs typeface="Verdana"/>
              </a:rPr>
              <a:t>discriminator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”) </a:t>
            </a:r>
            <a:r>
              <a:rPr sz="2000" spc="-69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000" spc="1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000" spc="1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000" spc="1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they</a:t>
            </a:r>
            <a:r>
              <a:rPr sz="2000" spc="1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000" spc="1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with</a:t>
            </a:r>
            <a:r>
              <a:rPr sz="2000" spc="1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another</a:t>
            </a:r>
            <a:r>
              <a:rPr sz="2000" spc="1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000" spc="1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set 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(“</a:t>
            </a:r>
            <a:r>
              <a:rPr sz="2000" spc="5" dirty="0">
                <a:solidFill>
                  <a:srgbClr val="C00000"/>
                </a:solidFill>
                <a:latin typeface="Verdana"/>
                <a:cs typeface="Verdana"/>
              </a:rPr>
              <a:t>identifying</a:t>
            </a:r>
            <a:r>
              <a:rPr sz="2000" spc="1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Verdana"/>
                <a:cs typeface="Verdana"/>
              </a:rPr>
              <a:t>relationship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”)</a:t>
            </a:r>
            <a:endParaRPr sz="20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292934"/>
              </a:buClr>
              <a:buFont typeface="Arial MT"/>
              <a:buChar char="•"/>
            </a:pPr>
            <a:endParaRPr sz="2100" dirty="0">
              <a:latin typeface="Verdana"/>
              <a:cs typeface="Verdana"/>
            </a:endParaRPr>
          </a:p>
          <a:p>
            <a:pPr marL="256540" marR="751205" indent="-243840">
              <a:lnSpc>
                <a:spcPts val="2300"/>
              </a:lnSpc>
              <a:spcBef>
                <a:spcPts val="5"/>
              </a:spcBef>
              <a:buSzPct val="85000"/>
              <a:buFont typeface="Arial MT"/>
              <a:buChar char="•"/>
              <a:tabLst>
                <a:tab pos="255904" algn="l"/>
                <a:tab pos="256540" algn="l"/>
              </a:tabLst>
            </a:pP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If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 X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are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entities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each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instance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of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corresponding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instance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of X,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“</a:t>
            </a:r>
            <a:r>
              <a:rPr sz="2000" spc="10" dirty="0">
                <a:solidFill>
                  <a:srgbClr val="C00000"/>
                </a:solidFill>
                <a:latin typeface="Verdana"/>
                <a:cs typeface="Verdana"/>
              </a:rPr>
              <a:t>existence</a:t>
            </a:r>
            <a:r>
              <a:rPr sz="2000" spc="2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C00000"/>
                </a:solidFill>
                <a:latin typeface="Verdana"/>
                <a:cs typeface="Verdana"/>
              </a:rPr>
              <a:t>dependent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”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endParaRPr sz="2000" dirty="0">
              <a:latin typeface="Verdana"/>
              <a:cs typeface="Verdana"/>
            </a:endParaRPr>
          </a:p>
          <a:p>
            <a:pPr marL="606425">
              <a:lnSpc>
                <a:spcPts val="2350"/>
              </a:lnSpc>
              <a:spcBef>
                <a:spcPts val="950"/>
              </a:spcBef>
              <a:tabLst>
                <a:tab pos="97218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C00000"/>
                </a:solidFill>
                <a:latin typeface="Verdana"/>
                <a:cs typeface="Verdana"/>
              </a:rPr>
              <a:t>weak</a:t>
            </a:r>
            <a:r>
              <a:rPr sz="2000" spc="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C00000"/>
                </a:solidFill>
                <a:latin typeface="Verdana"/>
                <a:cs typeface="Verdana"/>
              </a:rPr>
              <a:t>entity</a:t>
            </a:r>
            <a:r>
              <a:rPr sz="2000" spc="-20" dirty="0">
                <a:solidFill>
                  <a:srgbClr val="292934"/>
                </a:solidFill>
                <a:latin typeface="Verdana"/>
                <a:cs typeface="Verdana"/>
              </a:rPr>
              <a:t>,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and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its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strong</a:t>
            </a:r>
            <a:r>
              <a:rPr sz="20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2000" dirty="0">
              <a:latin typeface="Verdana"/>
              <a:cs typeface="Verdana"/>
            </a:endParaRPr>
          </a:p>
          <a:p>
            <a:pPr marL="606425">
              <a:lnSpc>
                <a:spcPts val="2350"/>
              </a:lnSpc>
              <a:tabLst>
                <a:tab pos="972185" algn="l"/>
              </a:tabLst>
            </a:pPr>
            <a:r>
              <a:rPr sz="1700" dirty="0">
                <a:solidFill>
                  <a:srgbClr val="292934"/>
                </a:solidFill>
                <a:latin typeface="Wingdings"/>
                <a:cs typeface="Wingdings"/>
              </a:rPr>
              <a:t></a:t>
            </a:r>
            <a:r>
              <a:rPr sz="1700" dirty="0">
                <a:solidFill>
                  <a:srgbClr val="292934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Y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must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0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C00000"/>
                </a:solidFill>
                <a:latin typeface="Verdana"/>
                <a:cs typeface="Verdana"/>
              </a:rPr>
              <a:t>total </a:t>
            </a:r>
            <a:r>
              <a:rPr sz="2000" spc="10" dirty="0">
                <a:solidFill>
                  <a:srgbClr val="C00000"/>
                </a:solidFill>
                <a:latin typeface="Verdana"/>
                <a:cs typeface="Verdana"/>
              </a:rPr>
              <a:t>participation</a:t>
            </a:r>
            <a:r>
              <a:rPr sz="2000" spc="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in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its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relationship</a:t>
            </a:r>
            <a:r>
              <a:rPr sz="20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000" spc="5" dirty="0">
                <a:solidFill>
                  <a:srgbClr val="292934"/>
                </a:solidFill>
                <a:latin typeface="Verdana"/>
                <a:cs typeface="Verdana"/>
              </a:rPr>
              <a:t> with</a:t>
            </a:r>
            <a:r>
              <a:rPr sz="2000" spc="1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92934"/>
                </a:solidFill>
                <a:latin typeface="Verdana"/>
                <a:cs typeface="Verdana"/>
              </a:rPr>
              <a:t>X</a:t>
            </a:r>
            <a:endParaRPr sz="2000" dirty="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9079" y="2520695"/>
            <a:ext cx="4608576" cy="109118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15602" y="2653905"/>
            <a:ext cx="4323715" cy="66357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71755" rIns="0" bIns="0" rtlCol="0">
            <a:spAutoFit/>
          </a:bodyPr>
          <a:lstStyle/>
          <a:p>
            <a:pPr marL="425450" marR="403860" indent="177165">
              <a:lnSpc>
                <a:spcPts val="2090"/>
              </a:lnSpc>
              <a:spcBef>
                <a:spcPts val="565"/>
              </a:spcBef>
            </a:pPr>
            <a:r>
              <a:rPr sz="19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weak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entity’s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existence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depends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its</a:t>
            </a:r>
            <a:r>
              <a:rPr sz="19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strong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0" y="1143000"/>
            <a:ext cx="6096000" cy="7680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249017" y="1200459"/>
            <a:ext cx="5233670" cy="393700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326390">
              <a:lnSpc>
                <a:spcPct val="100000"/>
              </a:lnSpc>
              <a:spcBef>
                <a:spcPts val="310"/>
              </a:spcBef>
            </a:pP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19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19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been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discussing</a:t>
            </a:r>
            <a:r>
              <a:rPr sz="19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so</a:t>
            </a:r>
            <a:r>
              <a:rPr sz="19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far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4092" y="319023"/>
            <a:ext cx="468630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50" dirty="0"/>
              <a:t>W</a:t>
            </a:r>
            <a:r>
              <a:rPr sz="4300" spc="-125" dirty="0"/>
              <a:t>e</a:t>
            </a:r>
            <a:r>
              <a:rPr sz="4300" spc="-130" dirty="0"/>
              <a:t>a</a:t>
            </a:r>
            <a:r>
              <a:rPr sz="4300" dirty="0"/>
              <a:t>k</a:t>
            </a:r>
            <a:r>
              <a:rPr sz="4300" spc="-250" dirty="0"/>
              <a:t> </a:t>
            </a:r>
            <a:r>
              <a:rPr sz="4300" spc="-125" dirty="0"/>
              <a:t>E</a:t>
            </a:r>
            <a:r>
              <a:rPr sz="4300" spc="-130" dirty="0"/>
              <a:t>n</a:t>
            </a:r>
            <a:r>
              <a:rPr sz="4300" spc="-125" dirty="0"/>
              <a:t>tit</a:t>
            </a:r>
            <a:r>
              <a:rPr sz="4300" dirty="0"/>
              <a:t>y</a:t>
            </a:r>
            <a:r>
              <a:rPr sz="4300" spc="-254" dirty="0"/>
              <a:t> </a:t>
            </a:r>
            <a:r>
              <a:rPr sz="4300" spc="-135" dirty="0"/>
              <a:t>S</a:t>
            </a:r>
            <a:r>
              <a:rPr sz="4300" spc="-125" dirty="0"/>
              <a:t>e</a:t>
            </a:r>
            <a:r>
              <a:rPr sz="4300" dirty="0"/>
              <a:t>t</a:t>
            </a:r>
            <a:endParaRPr sz="4300"/>
          </a:p>
        </p:txBody>
      </p:sp>
      <p:grpSp>
        <p:nvGrpSpPr>
          <p:cNvPr id="3" name="object 3"/>
          <p:cNvGrpSpPr/>
          <p:nvPr/>
        </p:nvGrpSpPr>
        <p:grpSpPr>
          <a:xfrm>
            <a:off x="7627701" y="4358122"/>
            <a:ext cx="1501775" cy="712470"/>
            <a:chOff x="7627701" y="4358122"/>
            <a:chExt cx="1501775" cy="712470"/>
          </a:xfrm>
        </p:grpSpPr>
        <p:sp>
          <p:nvSpPr>
            <p:cNvPr id="4" name="object 4"/>
            <p:cNvSpPr/>
            <p:nvPr/>
          </p:nvSpPr>
          <p:spPr>
            <a:xfrm>
              <a:off x="7634475" y="4364896"/>
              <a:ext cx="1487805" cy="699135"/>
            </a:xfrm>
            <a:custGeom>
              <a:avLst/>
              <a:gdLst/>
              <a:ahLst/>
              <a:cxnLst/>
              <a:rect l="l" t="t" r="r" b="b"/>
              <a:pathLst>
                <a:path w="1487804" h="699135">
                  <a:moveTo>
                    <a:pt x="0" y="44988"/>
                  </a:moveTo>
                  <a:lnTo>
                    <a:pt x="235911" y="291208"/>
                  </a:lnTo>
                  <a:lnTo>
                    <a:pt x="235911" y="582413"/>
                  </a:lnTo>
                  <a:lnTo>
                    <a:pt x="245065" y="627753"/>
                  </a:lnTo>
                  <a:lnTo>
                    <a:pt x="270028" y="664779"/>
                  </a:lnTo>
                  <a:lnTo>
                    <a:pt x="307054" y="689743"/>
                  </a:lnTo>
                  <a:lnTo>
                    <a:pt x="352395" y="698897"/>
                  </a:lnTo>
                  <a:lnTo>
                    <a:pt x="1371276" y="698897"/>
                  </a:lnTo>
                  <a:lnTo>
                    <a:pt x="1416617" y="689743"/>
                  </a:lnTo>
                  <a:lnTo>
                    <a:pt x="1453643" y="664779"/>
                  </a:lnTo>
                  <a:lnTo>
                    <a:pt x="1478606" y="627753"/>
                  </a:lnTo>
                  <a:lnTo>
                    <a:pt x="1487760" y="582413"/>
                  </a:lnTo>
                  <a:lnTo>
                    <a:pt x="1487760" y="116485"/>
                  </a:lnTo>
                  <a:lnTo>
                    <a:pt x="235911" y="116485"/>
                  </a:lnTo>
                  <a:lnTo>
                    <a:pt x="0" y="44988"/>
                  </a:lnTo>
                  <a:close/>
                </a:path>
                <a:path w="1487804" h="699135">
                  <a:moveTo>
                    <a:pt x="1371276" y="0"/>
                  </a:moveTo>
                  <a:lnTo>
                    <a:pt x="352395" y="0"/>
                  </a:lnTo>
                  <a:lnTo>
                    <a:pt x="307054" y="9154"/>
                  </a:lnTo>
                  <a:lnTo>
                    <a:pt x="270028" y="34117"/>
                  </a:lnTo>
                  <a:lnTo>
                    <a:pt x="245065" y="71144"/>
                  </a:lnTo>
                  <a:lnTo>
                    <a:pt x="235911" y="116485"/>
                  </a:lnTo>
                  <a:lnTo>
                    <a:pt x="1487760" y="116485"/>
                  </a:lnTo>
                  <a:lnTo>
                    <a:pt x="1478606" y="71144"/>
                  </a:lnTo>
                  <a:lnTo>
                    <a:pt x="1453643" y="34117"/>
                  </a:lnTo>
                  <a:lnTo>
                    <a:pt x="1416617" y="9154"/>
                  </a:lnTo>
                  <a:lnTo>
                    <a:pt x="1371276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34475" y="4364896"/>
              <a:ext cx="1487805" cy="699135"/>
            </a:xfrm>
            <a:custGeom>
              <a:avLst/>
              <a:gdLst/>
              <a:ahLst/>
              <a:cxnLst/>
              <a:rect l="l" t="t" r="r" b="b"/>
              <a:pathLst>
                <a:path w="1487804" h="699135">
                  <a:moveTo>
                    <a:pt x="235911" y="116484"/>
                  </a:moveTo>
                  <a:lnTo>
                    <a:pt x="245065" y="71143"/>
                  </a:lnTo>
                  <a:lnTo>
                    <a:pt x="270029" y="34117"/>
                  </a:lnTo>
                  <a:lnTo>
                    <a:pt x="307055" y="9153"/>
                  </a:lnTo>
                  <a:lnTo>
                    <a:pt x="352396" y="0"/>
                  </a:lnTo>
                  <a:lnTo>
                    <a:pt x="444553" y="0"/>
                  </a:lnTo>
                  <a:lnTo>
                    <a:pt x="757515" y="0"/>
                  </a:lnTo>
                  <a:lnTo>
                    <a:pt x="1371276" y="0"/>
                  </a:lnTo>
                  <a:lnTo>
                    <a:pt x="1416617" y="9153"/>
                  </a:lnTo>
                  <a:lnTo>
                    <a:pt x="1453643" y="34117"/>
                  </a:lnTo>
                  <a:lnTo>
                    <a:pt x="1478607" y="71143"/>
                  </a:lnTo>
                  <a:lnTo>
                    <a:pt x="1487761" y="116484"/>
                  </a:lnTo>
                  <a:lnTo>
                    <a:pt x="1487761" y="291207"/>
                  </a:lnTo>
                  <a:lnTo>
                    <a:pt x="1487761" y="582412"/>
                  </a:lnTo>
                  <a:lnTo>
                    <a:pt x="1478607" y="627753"/>
                  </a:lnTo>
                  <a:lnTo>
                    <a:pt x="1453643" y="664779"/>
                  </a:lnTo>
                  <a:lnTo>
                    <a:pt x="1416617" y="689743"/>
                  </a:lnTo>
                  <a:lnTo>
                    <a:pt x="1371276" y="698897"/>
                  </a:lnTo>
                  <a:lnTo>
                    <a:pt x="757515" y="698897"/>
                  </a:lnTo>
                  <a:lnTo>
                    <a:pt x="444553" y="698897"/>
                  </a:lnTo>
                  <a:lnTo>
                    <a:pt x="352396" y="698897"/>
                  </a:lnTo>
                  <a:lnTo>
                    <a:pt x="307055" y="689743"/>
                  </a:lnTo>
                  <a:lnTo>
                    <a:pt x="270029" y="664779"/>
                  </a:lnTo>
                  <a:lnTo>
                    <a:pt x="245065" y="627753"/>
                  </a:lnTo>
                  <a:lnTo>
                    <a:pt x="235911" y="582412"/>
                  </a:lnTo>
                  <a:lnTo>
                    <a:pt x="235911" y="291207"/>
                  </a:lnTo>
                  <a:lnTo>
                    <a:pt x="0" y="44988"/>
                  </a:lnTo>
                  <a:lnTo>
                    <a:pt x="235911" y="116483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049271" y="4440935"/>
            <a:ext cx="894080" cy="53784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114935">
              <a:lnSpc>
                <a:spcPts val="1989"/>
              </a:lnSpc>
              <a:spcBef>
                <a:spcPts val="204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Strong 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r>
              <a:rPr sz="17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set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33470" y="4486399"/>
            <a:ext cx="1266190" cy="946785"/>
            <a:chOff x="2833470" y="4486399"/>
            <a:chExt cx="1266190" cy="946785"/>
          </a:xfrm>
        </p:grpSpPr>
        <p:sp>
          <p:nvSpPr>
            <p:cNvPr id="8" name="object 8"/>
            <p:cNvSpPr/>
            <p:nvPr/>
          </p:nvSpPr>
          <p:spPr>
            <a:xfrm>
              <a:off x="2840455" y="4493384"/>
              <a:ext cx="1252220" cy="932815"/>
            </a:xfrm>
            <a:custGeom>
              <a:avLst/>
              <a:gdLst/>
              <a:ahLst/>
              <a:cxnLst/>
              <a:rect l="l" t="t" r="r" b="b"/>
              <a:pathLst>
                <a:path w="1252220" h="932814">
                  <a:moveTo>
                    <a:pt x="1135364" y="233682"/>
                  </a:moveTo>
                  <a:lnTo>
                    <a:pt x="116484" y="233682"/>
                  </a:lnTo>
                  <a:lnTo>
                    <a:pt x="71143" y="242836"/>
                  </a:lnTo>
                  <a:lnTo>
                    <a:pt x="34117" y="267800"/>
                  </a:lnTo>
                  <a:lnTo>
                    <a:pt x="9154" y="304826"/>
                  </a:lnTo>
                  <a:lnTo>
                    <a:pt x="0" y="350166"/>
                  </a:lnTo>
                  <a:lnTo>
                    <a:pt x="0" y="816095"/>
                  </a:lnTo>
                  <a:lnTo>
                    <a:pt x="9154" y="861436"/>
                  </a:lnTo>
                  <a:lnTo>
                    <a:pt x="34117" y="898462"/>
                  </a:lnTo>
                  <a:lnTo>
                    <a:pt x="71143" y="923426"/>
                  </a:lnTo>
                  <a:lnTo>
                    <a:pt x="116484" y="932580"/>
                  </a:lnTo>
                  <a:lnTo>
                    <a:pt x="1135364" y="932580"/>
                  </a:lnTo>
                  <a:lnTo>
                    <a:pt x="1180705" y="923426"/>
                  </a:lnTo>
                  <a:lnTo>
                    <a:pt x="1217731" y="898462"/>
                  </a:lnTo>
                  <a:lnTo>
                    <a:pt x="1242695" y="861436"/>
                  </a:lnTo>
                  <a:lnTo>
                    <a:pt x="1251849" y="816095"/>
                  </a:lnTo>
                  <a:lnTo>
                    <a:pt x="1251848" y="350166"/>
                  </a:lnTo>
                  <a:lnTo>
                    <a:pt x="1242695" y="304826"/>
                  </a:lnTo>
                  <a:lnTo>
                    <a:pt x="1217731" y="267800"/>
                  </a:lnTo>
                  <a:lnTo>
                    <a:pt x="1180705" y="242836"/>
                  </a:lnTo>
                  <a:lnTo>
                    <a:pt x="1135364" y="233682"/>
                  </a:lnTo>
                  <a:close/>
                </a:path>
                <a:path w="1252220" h="932814">
                  <a:moveTo>
                    <a:pt x="129842" y="0"/>
                  </a:moveTo>
                  <a:lnTo>
                    <a:pt x="208641" y="233682"/>
                  </a:lnTo>
                  <a:lnTo>
                    <a:pt x="521604" y="233682"/>
                  </a:lnTo>
                  <a:lnTo>
                    <a:pt x="129842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40455" y="4493384"/>
              <a:ext cx="1252220" cy="932815"/>
            </a:xfrm>
            <a:custGeom>
              <a:avLst/>
              <a:gdLst/>
              <a:ahLst/>
              <a:cxnLst/>
              <a:rect l="l" t="t" r="r" b="b"/>
              <a:pathLst>
                <a:path w="1252220" h="932814">
                  <a:moveTo>
                    <a:pt x="0" y="350167"/>
                  </a:moveTo>
                  <a:lnTo>
                    <a:pt x="9153" y="304826"/>
                  </a:lnTo>
                  <a:lnTo>
                    <a:pt x="34117" y="267800"/>
                  </a:lnTo>
                  <a:lnTo>
                    <a:pt x="71143" y="242837"/>
                  </a:lnTo>
                  <a:lnTo>
                    <a:pt x="116484" y="233683"/>
                  </a:lnTo>
                  <a:lnTo>
                    <a:pt x="208641" y="233683"/>
                  </a:lnTo>
                  <a:lnTo>
                    <a:pt x="129842" y="0"/>
                  </a:lnTo>
                  <a:lnTo>
                    <a:pt x="521604" y="233683"/>
                  </a:lnTo>
                  <a:lnTo>
                    <a:pt x="1135365" y="233683"/>
                  </a:lnTo>
                  <a:lnTo>
                    <a:pt x="1180706" y="242837"/>
                  </a:lnTo>
                  <a:lnTo>
                    <a:pt x="1217732" y="267800"/>
                  </a:lnTo>
                  <a:lnTo>
                    <a:pt x="1242695" y="304826"/>
                  </a:lnTo>
                  <a:lnTo>
                    <a:pt x="1251849" y="350167"/>
                  </a:lnTo>
                  <a:lnTo>
                    <a:pt x="1251849" y="524890"/>
                  </a:lnTo>
                  <a:lnTo>
                    <a:pt x="1251849" y="816095"/>
                  </a:lnTo>
                  <a:lnTo>
                    <a:pt x="1242695" y="861436"/>
                  </a:lnTo>
                  <a:lnTo>
                    <a:pt x="1217732" y="898462"/>
                  </a:lnTo>
                  <a:lnTo>
                    <a:pt x="1180706" y="923426"/>
                  </a:lnTo>
                  <a:lnTo>
                    <a:pt x="1135365" y="932580"/>
                  </a:lnTo>
                  <a:lnTo>
                    <a:pt x="521604" y="932580"/>
                  </a:lnTo>
                  <a:lnTo>
                    <a:pt x="208641" y="932580"/>
                  </a:lnTo>
                  <a:lnTo>
                    <a:pt x="116484" y="932580"/>
                  </a:lnTo>
                  <a:lnTo>
                    <a:pt x="71143" y="923426"/>
                  </a:lnTo>
                  <a:lnTo>
                    <a:pt x="34117" y="898462"/>
                  </a:lnTo>
                  <a:lnTo>
                    <a:pt x="9153" y="861436"/>
                  </a:lnTo>
                  <a:lnTo>
                    <a:pt x="0" y="816095"/>
                  </a:lnTo>
                  <a:lnTo>
                    <a:pt x="0" y="524890"/>
                  </a:lnTo>
                  <a:lnTo>
                    <a:pt x="0" y="350166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019339" y="4803648"/>
            <a:ext cx="894080" cy="53784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159385">
              <a:lnSpc>
                <a:spcPts val="1989"/>
              </a:lnSpc>
              <a:spcBef>
                <a:spcPts val="204"/>
              </a:spcBef>
            </a:pPr>
            <a:r>
              <a:rPr sz="1700" spc="-10" dirty="0">
                <a:solidFill>
                  <a:srgbClr val="FFFFFF"/>
                </a:solidFill>
                <a:latin typeface="Arial MT"/>
                <a:cs typeface="Arial MT"/>
              </a:rPr>
              <a:t>Weak 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entity</a:t>
            </a:r>
            <a:r>
              <a:rPr sz="17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set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2185" y="2200179"/>
            <a:ext cx="1575435" cy="659765"/>
            <a:chOff x="362185" y="2200179"/>
            <a:chExt cx="1575435" cy="659765"/>
          </a:xfrm>
        </p:grpSpPr>
        <p:sp>
          <p:nvSpPr>
            <p:cNvPr id="12" name="object 12"/>
            <p:cNvSpPr/>
            <p:nvPr/>
          </p:nvSpPr>
          <p:spPr>
            <a:xfrm>
              <a:off x="368958" y="2206952"/>
              <a:ext cx="1562100" cy="646430"/>
            </a:xfrm>
            <a:custGeom>
              <a:avLst/>
              <a:gdLst/>
              <a:ahLst/>
              <a:cxnLst/>
              <a:rect l="l" t="t" r="r" b="b"/>
              <a:pathLst>
                <a:path w="1562100" h="646430">
                  <a:moveTo>
                    <a:pt x="1301447" y="464458"/>
                  </a:moveTo>
                  <a:lnTo>
                    <a:pt x="911013" y="464458"/>
                  </a:lnTo>
                  <a:lnTo>
                    <a:pt x="1400690" y="645894"/>
                  </a:lnTo>
                  <a:lnTo>
                    <a:pt x="1301447" y="464458"/>
                  </a:lnTo>
                  <a:close/>
                </a:path>
                <a:path w="1562100" h="646430">
                  <a:moveTo>
                    <a:pt x="1484326" y="0"/>
                  </a:moveTo>
                  <a:lnTo>
                    <a:pt x="77410" y="0"/>
                  </a:lnTo>
                  <a:lnTo>
                    <a:pt x="47278" y="6083"/>
                  </a:lnTo>
                  <a:lnTo>
                    <a:pt x="22673" y="22673"/>
                  </a:lnTo>
                  <a:lnTo>
                    <a:pt x="6083" y="47279"/>
                  </a:lnTo>
                  <a:lnTo>
                    <a:pt x="0" y="77411"/>
                  </a:lnTo>
                  <a:lnTo>
                    <a:pt x="0" y="387049"/>
                  </a:lnTo>
                  <a:lnTo>
                    <a:pt x="6083" y="417179"/>
                  </a:lnTo>
                  <a:lnTo>
                    <a:pt x="22673" y="441784"/>
                  </a:lnTo>
                  <a:lnTo>
                    <a:pt x="47278" y="458374"/>
                  </a:lnTo>
                  <a:lnTo>
                    <a:pt x="77410" y="464458"/>
                  </a:lnTo>
                  <a:lnTo>
                    <a:pt x="1484326" y="464458"/>
                  </a:lnTo>
                  <a:lnTo>
                    <a:pt x="1539064" y="441784"/>
                  </a:lnTo>
                  <a:lnTo>
                    <a:pt x="1561736" y="387049"/>
                  </a:lnTo>
                  <a:lnTo>
                    <a:pt x="1561737" y="77411"/>
                  </a:lnTo>
                  <a:lnTo>
                    <a:pt x="1555653" y="47279"/>
                  </a:lnTo>
                  <a:lnTo>
                    <a:pt x="1539064" y="22673"/>
                  </a:lnTo>
                  <a:lnTo>
                    <a:pt x="1514458" y="6083"/>
                  </a:lnTo>
                  <a:lnTo>
                    <a:pt x="1484326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68958" y="2206952"/>
              <a:ext cx="1562100" cy="646430"/>
            </a:xfrm>
            <a:custGeom>
              <a:avLst/>
              <a:gdLst/>
              <a:ahLst/>
              <a:cxnLst/>
              <a:rect l="l" t="t" r="r" b="b"/>
              <a:pathLst>
                <a:path w="1562100" h="646430">
                  <a:moveTo>
                    <a:pt x="0" y="77410"/>
                  </a:moveTo>
                  <a:lnTo>
                    <a:pt x="6083" y="47278"/>
                  </a:lnTo>
                  <a:lnTo>
                    <a:pt x="22673" y="22673"/>
                  </a:lnTo>
                  <a:lnTo>
                    <a:pt x="47278" y="6083"/>
                  </a:lnTo>
                  <a:lnTo>
                    <a:pt x="77410" y="0"/>
                  </a:lnTo>
                  <a:lnTo>
                    <a:pt x="911013" y="0"/>
                  </a:lnTo>
                  <a:lnTo>
                    <a:pt x="1301447" y="0"/>
                  </a:lnTo>
                  <a:lnTo>
                    <a:pt x="1484327" y="0"/>
                  </a:lnTo>
                  <a:lnTo>
                    <a:pt x="1514458" y="6083"/>
                  </a:lnTo>
                  <a:lnTo>
                    <a:pt x="1539064" y="22673"/>
                  </a:lnTo>
                  <a:lnTo>
                    <a:pt x="1555654" y="47278"/>
                  </a:lnTo>
                  <a:lnTo>
                    <a:pt x="1561737" y="77410"/>
                  </a:lnTo>
                  <a:lnTo>
                    <a:pt x="1561737" y="270934"/>
                  </a:lnTo>
                  <a:lnTo>
                    <a:pt x="1561737" y="387048"/>
                  </a:lnTo>
                  <a:lnTo>
                    <a:pt x="1555654" y="417178"/>
                  </a:lnTo>
                  <a:lnTo>
                    <a:pt x="1539064" y="441784"/>
                  </a:lnTo>
                  <a:lnTo>
                    <a:pt x="1514458" y="458374"/>
                  </a:lnTo>
                  <a:lnTo>
                    <a:pt x="1484327" y="464457"/>
                  </a:lnTo>
                  <a:lnTo>
                    <a:pt x="1301447" y="464457"/>
                  </a:lnTo>
                  <a:lnTo>
                    <a:pt x="1400691" y="645893"/>
                  </a:lnTo>
                  <a:lnTo>
                    <a:pt x="911013" y="464457"/>
                  </a:lnTo>
                  <a:lnTo>
                    <a:pt x="77410" y="464457"/>
                  </a:lnTo>
                  <a:lnTo>
                    <a:pt x="47278" y="458374"/>
                  </a:lnTo>
                  <a:lnTo>
                    <a:pt x="22673" y="441784"/>
                  </a:lnTo>
                  <a:lnTo>
                    <a:pt x="6083" y="417178"/>
                  </a:lnTo>
                  <a:lnTo>
                    <a:pt x="0" y="387046"/>
                  </a:lnTo>
                  <a:lnTo>
                    <a:pt x="0" y="270934"/>
                  </a:lnTo>
                  <a:lnTo>
                    <a:pt x="0" y="77410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5513" y="2295144"/>
            <a:ext cx="128778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Di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sc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700" spc="10" dirty="0">
                <a:solidFill>
                  <a:srgbClr val="FFFFFF"/>
                </a:solidFill>
                <a:latin typeface="Arial MT"/>
                <a:cs typeface="Arial MT"/>
              </a:rPr>
              <a:t>m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na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96394" y="4547854"/>
            <a:ext cx="1645920" cy="941069"/>
            <a:chOff x="5196394" y="4547854"/>
            <a:chExt cx="1645920" cy="941069"/>
          </a:xfrm>
        </p:grpSpPr>
        <p:sp>
          <p:nvSpPr>
            <p:cNvPr id="16" name="object 16"/>
            <p:cNvSpPr/>
            <p:nvPr/>
          </p:nvSpPr>
          <p:spPr>
            <a:xfrm>
              <a:off x="5203379" y="4554839"/>
              <a:ext cx="1631950" cy="927100"/>
            </a:xfrm>
            <a:custGeom>
              <a:avLst/>
              <a:gdLst/>
              <a:ahLst/>
              <a:cxnLst/>
              <a:rect l="l" t="t" r="r" b="b"/>
              <a:pathLst>
                <a:path w="1631950" h="927100">
                  <a:moveTo>
                    <a:pt x="1512387" y="212859"/>
                  </a:moveTo>
                  <a:lnTo>
                    <a:pt x="119019" y="212859"/>
                  </a:lnTo>
                  <a:lnTo>
                    <a:pt x="72691" y="222212"/>
                  </a:lnTo>
                  <a:lnTo>
                    <a:pt x="34859" y="247719"/>
                  </a:lnTo>
                  <a:lnTo>
                    <a:pt x="9353" y="285551"/>
                  </a:lnTo>
                  <a:lnTo>
                    <a:pt x="0" y="331877"/>
                  </a:lnTo>
                  <a:lnTo>
                    <a:pt x="0" y="807943"/>
                  </a:lnTo>
                  <a:lnTo>
                    <a:pt x="9353" y="854270"/>
                  </a:lnTo>
                  <a:lnTo>
                    <a:pt x="34859" y="892102"/>
                  </a:lnTo>
                  <a:lnTo>
                    <a:pt x="72691" y="917609"/>
                  </a:lnTo>
                  <a:lnTo>
                    <a:pt x="119019" y="926962"/>
                  </a:lnTo>
                  <a:lnTo>
                    <a:pt x="1512387" y="926962"/>
                  </a:lnTo>
                  <a:lnTo>
                    <a:pt x="1558714" y="917609"/>
                  </a:lnTo>
                  <a:lnTo>
                    <a:pt x="1596546" y="892102"/>
                  </a:lnTo>
                  <a:lnTo>
                    <a:pt x="1622053" y="854270"/>
                  </a:lnTo>
                  <a:lnTo>
                    <a:pt x="1631406" y="807943"/>
                  </a:lnTo>
                  <a:lnTo>
                    <a:pt x="1631406" y="331877"/>
                  </a:lnTo>
                  <a:lnTo>
                    <a:pt x="1622053" y="285551"/>
                  </a:lnTo>
                  <a:lnTo>
                    <a:pt x="1596546" y="247719"/>
                  </a:lnTo>
                  <a:lnTo>
                    <a:pt x="1558714" y="222212"/>
                  </a:lnTo>
                  <a:lnTo>
                    <a:pt x="1512387" y="212859"/>
                  </a:lnTo>
                  <a:close/>
                </a:path>
                <a:path w="1631950" h="927100">
                  <a:moveTo>
                    <a:pt x="116824" y="0"/>
                  </a:moveTo>
                  <a:lnTo>
                    <a:pt x="271900" y="212859"/>
                  </a:lnTo>
                  <a:lnTo>
                    <a:pt x="679752" y="212859"/>
                  </a:lnTo>
                  <a:lnTo>
                    <a:pt x="116824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03379" y="4554839"/>
              <a:ext cx="1631950" cy="927100"/>
            </a:xfrm>
            <a:custGeom>
              <a:avLst/>
              <a:gdLst/>
              <a:ahLst/>
              <a:cxnLst/>
              <a:rect l="l" t="t" r="r" b="b"/>
              <a:pathLst>
                <a:path w="1631950" h="927100">
                  <a:moveTo>
                    <a:pt x="0" y="331878"/>
                  </a:moveTo>
                  <a:lnTo>
                    <a:pt x="9353" y="285551"/>
                  </a:lnTo>
                  <a:lnTo>
                    <a:pt x="34859" y="247719"/>
                  </a:lnTo>
                  <a:lnTo>
                    <a:pt x="72691" y="222212"/>
                  </a:lnTo>
                  <a:lnTo>
                    <a:pt x="119019" y="212859"/>
                  </a:lnTo>
                  <a:lnTo>
                    <a:pt x="271901" y="212859"/>
                  </a:lnTo>
                  <a:lnTo>
                    <a:pt x="116824" y="0"/>
                  </a:lnTo>
                  <a:lnTo>
                    <a:pt x="679752" y="212859"/>
                  </a:lnTo>
                  <a:lnTo>
                    <a:pt x="1512387" y="212859"/>
                  </a:lnTo>
                  <a:lnTo>
                    <a:pt x="1558715" y="222212"/>
                  </a:lnTo>
                  <a:lnTo>
                    <a:pt x="1596547" y="247719"/>
                  </a:lnTo>
                  <a:lnTo>
                    <a:pt x="1622053" y="285551"/>
                  </a:lnTo>
                  <a:lnTo>
                    <a:pt x="1631406" y="331878"/>
                  </a:lnTo>
                  <a:lnTo>
                    <a:pt x="1631406" y="510402"/>
                  </a:lnTo>
                  <a:lnTo>
                    <a:pt x="1631406" y="807942"/>
                  </a:lnTo>
                  <a:lnTo>
                    <a:pt x="1622053" y="854270"/>
                  </a:lnTo>
                  <a:lnTo>
                    <a:pt x="1596547" y="892101"/>
                  </a:lnTo>
                  <a:lnTo>
                    <a:pt x="1558715" y="917608"/>
                  </a:lnTo>
                  <a:lnTo>
                    <a:pt x="1512387" y="926961"/>
                  </a:lnTo>
                  <a:lnTo>
                    <a:pt x="679752" y="926961"/>
                  </a:lnTo>
                  <a:lnTo>
                    <a:pt x="271901" y="926961"/>
                  </a:lnTo>
                  <a:lnTo>
                    <a:pt x="119019" y="926961"/>
                  </a:lnTo>
                  <a:lnTo>
                    <a:pt x="72691" y="917608"/>
                  </a:lnTo>
                  <a:lnTo>
                    <a:pt x="34859" y="892101"/>
                  </a:lnTo>
                  <a:lnTo>
                    <a:pt x="9353" y="854270"/>
                  </a:lnTo>
                  <a:lnTo>
                    <a:pt x="0" y="807942"/>
                  </a:lnTo>
                  <a:lnTo>
                    <a:pt x="0" y="510402"/>
                  </a:lnTo>
                  <a:lnTo>
                    <a:pt x="0" y="331877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53509" y="4852416"/>
            <a:ext cx="1131570" cy="53784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59055">
              <a:lnSpc>
                <a:spcPts val="1989"/>
              </a:lnSpc>
              <a:spcBef>
                <a:spcPts val="204"/>
              </a:spcBef>
            </a:pP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Identifying </a:t>
            </a:r>
            <a:r>
              <a:rPr sz="1700" spc="-459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l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onsh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p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17438" y="3864284"/>
            <a:ext cx="2019046" cy="483870"/>
            <a:chOff x="2017438" y="3864284"/>
            <a:chExt cx="2019046" cy="483870"/>
          </a:xfrm>
        </p:grpSpPr>
        <p:sp>
          <p:nvSpPr>
            <p:cNvPr id="20" name="object 20"/>
            <p:cNvSpPr/>
            <p:nvPr/>
          </p:nvSpPr>
          <p:spPr>
            <a:xfrm>
              <a:off x="3334174" y="4045903"/>
              <a:ext cx="702310" cy="3810"/>
            </a:xfrm>
            <a:custGeom>
              <a:avLst/>
              <a:gdLst/>
              <a:ahLst/>
              <a:cxnLst/>
              <a:rect l="l" t="t" r="r" b="b"/>
              <a:pathLst>
                <a:path w="702310" h="3810">
                  <a:moveTo>
                    <a:pt x="0" y="3422"/>
                  </a:moveTo>
                  <a:lnTo>
                    <a:pt x="70225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334174" y="4123260"/>
              <a:ext cx="702310" cy="3810"/>
            </a:xfrm>
            <a:custGeom>
              <a:avLst/>
              <a:gdLst/>
              <a:ahLst/>
              <a:cxnLst/>
              <a:rect l="l" t="t" r="r" b="b"/>
              <a:pathLst>
                <a:path w="702310" h="3810">
                  <a:moveTo>
                    <a:pt x="0" y="3422"/>
                  </a:moveTo>
                  <a:lnTo>
                    <a:pt x="70225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17438" y="3864284"/>
              <a:ext cx="1316990" cy="483870"/>
            </a:xfrm>
            <a:custGeom>
              <a:avLst/>
              <a:gdLst/>
              <a:ahLst/>
              <a:cxnLst/>
              <a:rect l="l" t="t" r="r" b="b"/>
              <a:pathLst>
                <a:path w="1316989" h="527685">
                  <a:moveTo>
                    <a:pt x="0" y="0"/>
                  </a:moveTo>
                  <a:lnTo>
                    <a:pt x="1316735" y="0"/>
                  </a:lnTo>
                  <a:lnTo>
                    <a:pt x="1316735" y="527382"/>
                  </a:lnTo>
                  <a:lnTo>
                    <a:pt x="0" y="52738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072148" y="3940514"/>
            <a:ext cx="1188085" cy="342401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630"/>
              </a:spcBef>
            </a:pPr>
            <a:r>
              <a:rPr lang="en-US" sz="17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ayment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31650" y="4017854"/>
            <a:ext cx="631825" cy="106680"/>
          </a:xfrm>
          <a:custGeom>
            <a:avLst/>
            <a:gdLst/>
            <a:ahLst/>
            <a:cxnLst/>
            <a:rect l="l" t="t" r="r" b="b"/>
            <a:pathLst>
              <a:path w="631825" h="106679">
                <a:moveTo>
                  <a:pt x="622906" y="46673"/>
                </a:moveTo>
                <a:lnTo>
                  <a:pt x="621492" y="46673"/>
                </a:lnTo>
                <a:lnTo>
                  <a:pt x="621673" y="56832"/>
                </a:lnTo>
                <a:lnTo>
                  <a:pt x="602885" y="57169"/>
                </a:lnTo>
                <a:lnTo>
                  <a:pt x="536129" y="97730"/>
                </a:lnTo>
                <a:lnTo>
                  <a:pt x="535365" y="100854"/>
                </a:lnTo>
                <a:lnTo>
                  <a:pt x="538279" y="105650"/>
                </a:lnTo>
                <a:lnTo>
                  <a:pt x="541404" y="106413"/>
                </a:lnTo>
                <a:lnTo>
                  <a:pt x="631662" y="51573"/>
                </a:lnTo>
                <a:lnTo>
                  <a:pt x="622906" y="46673"/>
                </a:lnTo>
                <a:close/>
              </a:path>
              <a:path w="631825" h="106679">
                <a:moveTo>
                  <a:pt x="602704" y="47010"/>
                </a:moveTo>
                <a:lnTo>
                  <a:pt x="0" y="57805"/>
                </a:lnTo>
                <a:lnTo>
                  <a:pt x="182" y="67964"/>
                </a:lnTo>
                <a:lnTo>
                  <a:pt x="602885" y="57169"/>
                </a:lnTo>
                <a:lnTo>
                  <a:pt x="611502" y="51933"/>
                </a:lnTo>
                <a:lnTo>
                  <a:pt x="602704" y="47010"/>
                </a:lnTo>
                <a:close/>
              </a:path>
              <a:path w="631825" h="106679">
                <a:moveTo>
                  <a:pt x="611502" y="51933"/>
                </a:moveTo>
                <a:lnTo>
                  <a:pt x="602885" y="57169"/>
                </a:lnTo>
                <a:lnTo>
                  <a:pt x="621673" y="56832"/>
                </a:lnTo>
                <a:lnTo>
                  <a:pt x="621662" y="56186"/>
                </a:lnTo>
                <a:lnTo>
                  <a:pt x="619102" y="56186"/>
                </a:lnTo>
                <a:lnTo>
                  <a:pt x="611502" y="51933"/>
                </a:lnTo>
                <a:close/>
              </a:path>
              <a:path w="631825" h="106679">
                <a:moveTo>
                  <a:pt x="618944" y="47411"/>
                </a:moveTo>
                <a:lnTo>
                  <a:pt x="611502" y="51933"/>
                </a:lnTo>
                <a:lnTo>
                  <a:pt x="619102" y="56186"/>
                </a:lnTo>
                <a:lnTo>
                  <a:pt x="618944" y="47411"/>
                </a:lnTo>
                <a:close/>
              </a:path>
              <a:path w="631825" h="106679">
                <a:moveTo>
                  <a:pt x="621505" y="47411"/>
                </a:moveTo>
                <a:lnTo>
                  <a:pt x="618944" y="47411"/>
                </a:lnTo>
                <a:lnTo>
                  <a:pt x="619102" y="56186"/>
                </a:lnTo>
                <a:lnTo>
                  <a:pt x="621662" y="56186"/>
                </a:lnTo>
                <a:lnTo>
                  <a:pt x="621505" y="47411"/>
                </a:lnTo>
                <a:close/>
              </a:path>
              <a:path w="631825" h="106679">
                <a:moveTo>
                  <a:pt x="621492" y="46673"/>
                </a:moveTo>
                <a:lnTo>
                  <a:pt x="602704" y="47010"/>
                </a:lnTo>
                <a:lnTo>
                  <a:pt x="611502" y="51933"/>
                </a:lnTo>
                <a:lnTo>
                  <a:pt x="618944" y="47411"/>
                </a:lnTo>
                <a:lnTo>
                  <a:pt x="621505" y="47411"/>
                </a:lnTo>
                <a:lnTo>
                  <a:pt x="621492" y="46673"/>
                </a:lnTo>
                <a:close/>
              </a:path>
              <a:path w="631825" h="106679">
                <a:moveTo>
                  <a:pt x="539498" y="0"/>
                </a:moveTo>
                <a:lnTo>
                  <a:pt x="536403" y="873"/>
                </a:lnTo>
                <a:lnTo>
                  <a:pt x="533662" y="5770"/>
                </a:lnTo>
                <a:lnTo>
                  <a:pt x="534537" y="8865"/>
                </a:lnTo>
                <a:lnTo>
                  <a:pt x="602704" y="47010"/>
                </a:lnTo>
                <a:lnTo>
                  <a:pt x="621492" y="46673"/>
                </a:lnTo>
                <a:lnTo>
                  <a:pt x="622906" y="46673"/>
                </a:lnTo>
                <a:lnTo>
                  <a:pt x="539498" y="0"/>
                </a:lnTo>
                <a:close/>
              </a:path>
            </a:pathLst>
          </a:custGeom>
          <a:solidFill>
            <a:srgbClr val="3B3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654667" y="3894451"/>
            <a:ext cx="1196119" cy="34176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389255" algn="ctr">
              <a:lnSpc>
                <a:spcPct val="100000"/>
              </a:lnSpc>
              <a:spcBef>
                <a:spcPts val="625"/>
              </a:spcBef>
            </a:pPr>
            <a:r>
              <a:rPr lang="en-US" sz="1700" dirty="0">
                <a:latin typeface="Arial MT"/>
                <a:cs typeface="Arial MT"/>
              </a:rPr>
              <a:t>Student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958898" y="3654892"/>
            <a:ext cx="2078355" cy="852169"/>
            <a:chOff x="3958898" y="3654892"/>
            <a:chExt cx="2078355" cy="852169"/>
          </a:xfrm>
        </p:grpSpPr>
        <p:sp>
          <p:nvSpPr>
            <p:cNvPr id="27" name="object 27"/>
            <p:cNvSpPr/>
            <p:nvPr/>
          </p:nvSpPr>
          <p:spPr>
            <a:xfrm>
              <a:off x="3963978" y="3659972"/>
              <a:ext cx="2068195" cy="842010"/>
            </a:xfrm>
            <a:custGeom>
              <a:avLst/>
              <a:gdLst/>
              <a:ahLst/>
              <a:cxnLst/>
              <a:rect l="l" t="t" r="r" b="b"/>
              <a:pathLst>
                <a:path w="2068195" h="842010">
                  <a:moveTo>
                    <a:pt x="0" y="420765"/>
                  </a:moveTo>
                  <a:lnTo>
                    <a:pt x="1033881" y="0"/>
                  </a:lnTo>
                  <a:lnTo>
                    <a:pt x="2067763" y="420765"/>
                  </a:lnTo>
                  <a:lnTo>
                    <a:pt x="1033881" y="841531"/>
                  </a:lnTo>
                  <a:lnTo>
                    <a:pt x="0" y="420765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165522" y="3745360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3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65522" y="3745360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47631" y="3873794"/>
            <a:ext cx="1426584" cy="481286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 indent="180975">
              <a:lnSpc>
                <a:spcPct val="78800"/>
              </a:lnSpc>
              <a:spcBef>
                <a:spcPts val="530"/>
              </a:spcBef>
            </a:pPr>
            <a:r>
              <a:rPr lang="en-US" sz="1700" spc="-5" dirty="0">
                <a:solidFill>
                  <a:srgbClr val="292934"/>
                </a:solidFill>
                <a:latin typeface="Arial MT"/>
                <a:cs typeface="Arial MT"/>
              </a:rPr>
              <a:t>Tuition Fee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lang="en-US" sz="17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ay</a:t>
            </a:r>
            <a:r>
              <a:rPr sz="1700" spc="10" dirty="0">
                <a:solidFill>
                  <a:srgbClr val="292934"/>
                </a:solidFill>
                <a:latin typeface="Arial MT"/>
                <a:cs typeface="Arial MT"/>
              </a:rPr>
              <a:t>m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ent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479954" y="2951252"/>
            <a:ext cx="1126490" cy="494030"/>
            <a:chOff x="7479954" y="2951252"/>
            <a:chExt cx="1126490" cy="494030"/>
          </a:xfrm>
        </p:grpSpPr>
        <p:sp>
          <p:nvSpPr>
            <p:cNvPr id="32" name="object 32"/>
            <p:cNvSpPr/>
            <p:nvPr/>
          </p:nvSpPr>
          <p:spPr>
            <a:xfrm>
              <a:off x="7485034" y="2956332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70">
                  <a:moveTo>
                    <a:pt x="557888" y="0"/>
                  </a:moveTo>
                  <a:lnTo>
                    <a:pt x="492826" y="1627"/>
                  </a:lnTo>
                  <a:lnTo>
                    <a:pt x="429969" y="6387"/>
                  </a:lnTo>
                  <a:lnTo>
                    <a:pt x="369735" y="14098"/>
                  </a:lnTo>
                  <a:lnTo>
                    <a:pt x="312542" y="24580"/>
                  </a:lnTo>
                  <a:lnTo>
                    <a:pt x="258810" y="37651"/>
                  </a:lnTo>
                  <a:lnTo>
                    <a:pt x="208957" y="53129"/>
                  </a:lnTo>
                  <a:lnTo>
                    <a:pt x="163401" y="70833"/>
                  </a:lnTo>
                  <a:lnTo>
                    <a:pt x="122561" y="90581"/>
                  </a:lnTo>
                  <a:lnTo>
                    <a:pt x="86856" y="112192"/>
                  </a:lnTo>
                  <a:lnTo>
                    <a:pt x="56704" y="135484"/>
                  </a:lnTo>
                  <a:lnTo>
                    <a:pt x="14734" y="186388"/>
                  </a:lnTo>
                  <a:lnTo>
                    <a:pt x="0" y="241839"/>
                  </a:lnTo>
                  <a:lnTo>
                    <a:pt x="3753" y="270043"/>
                  </a:lnTo>
                  <a:lnTo>
                    <a:pt x="32524" y="323401"/>
                  </a:lnTo>
                  <a:lnTo>
                    <a:pt x="86856" y="371486"/>
                  </a:lnTo>
                  <a:lnTo>
                    <a:pt x="122561" y="393097"/>
                  </a:lnTo>
                  <a:lnTo>
                    <a:pt x="163401" y="412845"/>
                  </a:lnTo>
                  <a:lnTo>
                    <a:pt x="208957" y="430548"/>
                  </a:lnTo>
                  <a:lnTo>
                    <a:pt x="258810" y="446026"/>
                  </a:lnTo>
                  <a:lnTo>
                    <a:pt x="312542" y="459097"/>
                  </a:lnTo>
                  <a:lnTo>
                    <a:pt x="369735" y="469579"/>
                  </a:lnTo>
                  <a:lnTo>
                    <a:pt x="429969" y="477291"/>
                  </a:lnTo>
                  <a:lnTo>
                    <a:pt x="492826" y="482051"/>
                  </a:lnTo>
                  <a:lnTo>
                    <a:pt x="557888" y="483678"/>
                  </a:lnTo>
                  <a:lnTo>
                    <a:pt x="622949" y="482051"/>
                  </a:lnTo>
                  <a:lnTo>
                    <a:pt x="685806" y="477291"/>
                  </a:lnTo>
                  <a:lnTo>
                    <a:pt x="746040" y="469579"/>
                  </a:lnTo>
                  <a:lnTo>
                    <a:pt x="803233" y="459097"/>
                  </a:lnTo>
                  <a:lnTo>
                    <a:pt x="856965" y="446026"/>
                  </a:lnTo>
                  <a:lnTo>
                    <a:pt x="906818" y="430548"/>
                  </a:lnTo>
                  <a:lnTo>
                    <a:pt x="952374" y="412845"/>
                  </a:lnTo>
                  <a:lnTo>
                    <a:pt x="993214" y="393097"/>
                  </a:lnTo>
                  <a:lnTo>
                    <a:pt x="1028919" y="371486"/>
                  </a:lnTo>
                  <a:lnTo>
                    <a:pt x="1059071" y="348194"/>
                  </a:lnTo>
                  <a:lnTo>
                    <a:pt x="1101042" y="297290"/>
                  </a:lnTo>
                  <a:lnTo>
                    <a:pt x="1115776" y="241839"/>
                  </a:lnTo>
                  <a:lnTo>
                    <a:pt x="1112022" y="213636"/>
                  </a:lnTo>
                  <a:lnTo>
                    <a:pt x="1083252" y="160277"/>
                  </a:lnTo>
                  <a:lnTo>
                    <a:pt x="1028919" y="112192"/>
                  </a:lnTo>
                  <a:lnTo>
                    <a:pt x="993214" y="90581"/>
                  </a:lnTo>
                  <a:lnTo>
                    <a:pt x="952374" y="70833"/>
                  </a:lnTo>
                  <a:lnTo>
                    <a:pt x="906818" y="53129"/>
                  </a:lnTo>
                  <a:lnTo>
                    <a:pt x="856965" y="37651"/>
                  </a:lnTo>
                  <a:lnTo>
                    <a:pt x="803233" y="24580"/>
                  </a:lnTo>
                  <a:lnTo>
                    <a:pt x="746040" y="14098"/>
                  </a:lnTo>
                  <a:lnTo>
                    <a:pt x="685806" y="6387"/>
                  </a:lnTo>
                  <a:lnTo>
                    <a:pt x="622949" y="1627"/>
                  </a:lnTo>
                  <a:lnTo>
                    <a:pt x="557888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485034" y="2956332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70">
                  <a:moveTo>
                    <a:pt x="0" y="241839"/>
                  </a:moveTo>
                  <a:lnTo>
                    <a:pt x="14734" y="186387"/>
                  </a:lnTo>
                  <a:lnTo>
                    <a:pt x="56704" y="135484"/>
                  </a:lnTo>
                  <a:lnTo>
                    <a:pt x="86856" y="112192"/>
                  </a:lnTo>
                  <a:lnTo>
                    <a:pt x="122561" y="90581"/>
                  </a:lnTo>
                  <a:lnTo>
                    <a:pt x="163401" y="70833"/>
                  </a:lnTo>
                  <a:lnTo>
                    <a:pt x="208957" y="53129"/>
                  </a:lnTo>
                  <a:lnTo>
                    <a:pt x="258811" y="37651"/>
                  </a:lnTo>
                  <a:lnTo>
                    <a:pt x="312543" y="24580"/>
                  </a:lnTo>
                  <a:lnTo>
                    <a:pt x="369735" y="14098"/>
                  </a:lnTo>
                  <a:lnTo>
                    <a:pt x="429969" y="6387"/>
                  </a:lnTo>
                  <a:lnTo>
                    <a:pt x="492826" y="1627"/>
                  </a:lnTo>
                  <a:lnTo>
                    <a:pt x="557888" y="0"/>
                  </a:lnTo>
                  <a:lnTo>
                    <a:pt x="622950" y="1627"/>
                  </a:lnTo>
                  <a:lnTo>
                    <a:pt x="685807" y="6387"/>
                  </a:lnTo>
                  <a:lnTo>
                    <a:pt x="746041" y="14098"/>
                  </a:lnTo>
                  <a:lnTo>
                    <a:pt x="803233" y="24580"/>
                  </a:lnTo>
                  <a:lnTo>
                    <a:pt x="856965" y="37651"/>
                  </a:lnTo>
                  <a:lnTo>
                    <a:pt x="906819" y="53129"/>
                  </a:lnTo>
                  <a:lnTo>
                    <a:pt x="952375" y="70833"/>
                  </a:lnTo>
                  <a:lnTo>
                    <a:pt x="993215" y="90581"/>
                  </a:lnTo>
                  <a:lnTo>
                    <a:pt x="1028920" y="112192"/>
                  </a:lnTo>
                  <a:lnTo>
                    <a:pt x="1059072" y="135484"/>
                  </a:lnTo>
                  <a:lnTo>
                    <a:pt x="1101042" y="186387"/>
                  </a:lnTo>
                  <a:lnTo>
                    <a:pt x="1115777" y="241839"/>
                  </a:lnTo>
                  <a:lnTo>
                    <a:pt x="1112023" y="270043"/>
                  </a:lnTo>
                  <a:lnTo>
                    <a:pt x="1083252" y="323401"/>
                  </a:lnTo>
                  <a:lnTo>
                    <a:pt x="1028920" y="371486"/>
                  </a:lnTo>
                  <a:lnTo>
                    <a:pt x="993215" y="393097"/>
                  </a:lnTo>
                  <a:lnTo>
                    <a:pt x="952375" y="412845"/>
                  </a:lnTo>
                  <a:lnTo>
                    <a:pt x="906819" y="430549"/>
                  </a:lnTo>
                  <a:lnTo>
                    <a:pt x="856965" y="446027"/>
                  </a:lnTo>
                  <a:lnTo>
                    <a:pt x="803233" y="459098"/>
                  </a:lnTo>
                  <a:lnTo>
                    <a:pt x="746041" y="469580"/>
                  </a:lnTo>
                  <a:lnTo>
                    <a:pt x="685807" y="477291"/>
                  </a:lnTo>
                  <a:lnTo>
                    <a:pt x="622950" y="482051"/>
                  </a:lnTo>
                  <a:lnTo>
                    <a:pt x="557888" y="483678"/>
                  </a:lnTo>
                  <a:lnTo>
                    <a:pt x="492826" y="482051"/>
                  </a:lnTo>
                  <a:lnTo>
                    <a:pt x="429969" y="477291"/>
                  </a:lnTo>
                  <a:lnTo>
                    <a:pt x="369735" y="469580"/>
                  </a:lnTo>
                  <a:lnTo>
                    <a:pt x="312543" y="459098"/>
                  </a:lnTo>
                  <a:lnTo>
                    <a:pt x="258811" y="446027"/>
                  </a:lnTo>
                  <a:lnTo>
                    <a:pt x="208957" y="430549"/>
                  </a:lnTo>
                  <a:lnTo>
                    <a:pt x="163401" y="412845"/>
                  </a:lnTo>
                  <a:lnTo>
                    <a:pt x="122561" y="393097"/>
                  </a:lnTo>
                  <a:lnTo>
                    <a:pt x="86856" y="371486"/>
                  </a:lnTo>
                  <a:lnTo>
                    <a:pt x="56704" y="348194"/>
                  </a:lnTo>
                  <a:lnTo>
                    <a:pt x="14734" y="297291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574184" y="3057978"/>
            <a:ext cx="1188084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u="sng" dirty="0" err="1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PantherID</a:t>
            </a:r>
            <a:endParaRPr sz="1700" dirty="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385632" y="3595684"/>
            <a:ext cx="1126490" cy="494030"/>
            <a:chOff x="8385632" y="3595684"/>
            <a:chExt cx="1126490" cy="494030"/>
          </a:xfrm>
        </p:grpSpPr>
        <p:sp>
          <p:nvSpPr>
            <p:cNvPr id="36" name="object 36"/>
            <p:cNvSpPr/>
            <p:nvPr/>
          </p:nvSpPr>
          <p:spPr>
            <a:xfrm>
              <a:off x="8390712" y="3600764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70">
                  <a:moveTo>
                    <a:pt x="557888" y="0"/>
                  </a:moveTo>
                  <a:lnTo>
                    <a:pt x="492826" y="1627"/>
                  </a:lnTo>
                  <a:lnTo>
                    <a:pt x="429969" y="6387"/>
                  </a:lnTo>
                  <a:lnTo>
                    <a:pt x="369735" y="14098"/>
                  </a:lnTo>
                  <a:lnTo>
                    <a:pt x="312542" y="24580"/>
                  </a:lnTo>
                  <a:lnTo>
                    <a:pt x="258810" y="37651"/>
                  </a:lnTo>
                  <a:lnTo>
                    <a:pt x="208957" y="53129"/>
                  </a:lnTo>
                  <a:lnTo>
                    <a:pt x="163401" y="70832"/>
                  </a:lnTo>
                  <a:lnTo>
                    <a:pt x="122561" y="90580"/>
                  </a:lnTo>
                  <a:lnTo>
                    <a:pt x="86856" y="112191"/>
                  </a:lnTo>
                  <a:lnTo>
                    <a:pt x="56704" y="135484"/>
                  </a:lnTo>
                  <a:lnTo>
                    <a:pt x="14734" y="186387"/>
                  </a:lnTo>
                  <a:lnTo>
                    <a:pt x="0" y="241838"/>
                  </a:lnTo>
                  <a:lnTo>
                    <a:pt x="3753" y="270042"/>
                  </a:lnTo>
                  <a:lnTo>
                    <a:pt x="32524" y="323401"/>
                  </a:lnTo>
                  <a:lnTo>
                    <a:pt x="86856" y="371486"/>
                  </a:lnTo>
                  <a:lnTo>
                    <a:pt x="122561" y="393097"/>
                  </a:lnTo>
                  <a:lnTo>
                    <a:pt x="163401" y="412845"/>
                  </a:lnTo>
                  <a:lnTo>
                    <a:pt x="208957" y="430548"/>
                  </a:lnTo>
                  <a:lnTo>
                    <a:pt x="258810" y="446026"/>
                  </a:lnTo>
                  <a:lnTo>
                    <a:pt x="312542" y="459097"/>
                  </a:lnTo>
                  <a:lnTo>
                    <a:pt x="369735" y="469579"/>
                  </a:lnTo>
                  <a:lnTo>
                    <a:pt x="429969" y="477291"/>
                  </a:lnTo>
                  <a:lnTo>
                    <a:pt x="492826" y="482051"/>
                  </a:lnTo>
                  <a:lnTo>
                    <a:pt x="557888" y="483678"/>
                  </a:lnTo>
                  <a:lnTo>
                    <a:pt x="622949" y="482051"/>
                  </a:lnTo>
                  <a:lnTo>
                    <a:pt x="685806" y="477291"/>
                  </a:lnTo>
                  <a:lnTo>
                    <a:pt x="746041" y="469579"/>
                  </a:lnTo>
                  <a:lnTo>
                    <a:pt x="803233" y="459097"/>
                  </a:lnTo>
                  <a:lnTo>
                    <a:pt x="856965" y="446026"/>
                  </a:lnTo>
                  <a:lnTo>
                    <a:pt x="906819" y="430548"/>
                  </a:lnTo>
                  <a:lnTo>
                    <a:pt x="952375" y="412845"/>
                  </a:lnTo>
                  <a:lnTo>
                    <a:pt x="993215" y="393097"/>
                  </a:lnTo>
                  <a:lnTo>
                    <a:pt x="1028920" y="371486"/>
                  </a:lnTo>
                  <a:lnTo>
                    <a:pt x="1059072" y="348193"/>
                  </a:lnTo>
                  <a:lnTo>
                    <a:pt x="1101043" y="297290"/>
                  </a:lnTo>
                  <a:lnTo>
                    <a:pt x="1115777" y="241838"/>
                  </a:lnTo>
                  <a:lnTo>
                    <a:pt x="1112024" y="213635"/>
                  </a:lnTo>
                  <a:lnTo>
                    <a:pt x="1083253" y="160276"/>
                  </a:lnTo>
                  <a:lnTo>
                    <a:pt x="1028920" y="112191"/>
                  </a:lnTo>
                  <a:lnTo>
                    <a:pt x="993215" y="90580"/>
                  </a:lnTo>
                  <a:lnTo>
                    <a:pt x="952375" y="70832"/>
                  </a:lnTo>
                  <a:lnTo>
                    <a:pt x="906819" y="53129"/>
                  </a:lnTo>
                  <a:lnTo>
                    <a:pt x="856965" y="37651"/>
                  </a:lnTo>
                  <a:lnTo>
                    <a:pt x="803233" y="24580"/>
                  </a:lnTo>
                  <a:lnTo>
                    <a:pt x="746041" y="14098"/>
                  </a:lnTo>
                  <a:lnTo>
                    <a:pt x="685806" y="6387"/>
                  </a:lnTo>
                  <a:lnTo>
                    <a:pt x="622949" y="1627"/>
                  </a:lnTo>
                  <a:lnTo>
                    <a:pt x="557888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390712" y="3600764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70">
                  <a:moveTo>
                    <a:pt x="0" y="241839"/>
                  </a:moveTo>
                  <a:lnTo>
                    <a:pt x="14734" y="186387"/>
                  </a:lnTo>
                  <a:lnTo>
                    <a:pt x="56704" y="135484"/>
                  </a:lnTo>
                  <a:lnTo>
                    <a:pt x="86856" y="112192"/>
                  </a:lnTo>
                  <a:lnTo>
                    <a:pt x="122561" y="90581"/>
                  </a:lnTo>
                  <a:lnTo>
                    <a:pt x="163401" y="70833"/>
                  </a:lnTo>
                  <a:lnTo>
                    <a:pt x="208957" y="53129"/>
                  </a:lnTo>
                  <a:lnTo>
                    <a:pt x="258811" y="37651"/>
                  </a:lnTo>
                  <a:lnTo>
                    <a:pt x="312543" y="24580"/>
                  </a:lnTo>
                  <a:lnTo>
                    <a:pt x="369735" y="14098"/>
                  </a:lnTo>
                  <a:lnTo>
                    <a:pt x="429969" y="6387"/>
                  </a:lnTo>
                  <a:lnTo>
                    <a:pt x="492826" y="1627"/>
                  </a:lnTo>
                  <a:lnTo>
                    <a:pt x="557888" y="0"/>
                  </a:lnTo>
                  <a:lnTo>
                    <a:pt x="622950" y="1627"/>
                  </a:lnTo>
                  <a:lnTo>
                    <a:pt x="685807" y="6387"/>
                  </a:lnTo>
                  <a:lnTo>
                    <a:pt x="746041" y="14098"/>
                  </a:lnTo>
                  <a:lnTo>
                    <a:pt x="803233" y="24580"/>
                  </a:lnTo>
                  <a:lnTo>
                    <a:pt x="856965" y="37651"/>
                  </a:lnTo>
                  <a:lnTo>
                    <a:pt x="906819" y="53129"/>
                  </a:lnTo>
                  <a:lnTo>
                    <a:pt x="952375" y="70833"/>
                  </a:lnTo>
                  <a:lnTo>
                    <a:pt x="993215" y="90581"/>
                  </a:lnTo>
                  <a:lnTo>
                    <a:pt x="1028920" y="112192"/>
                  </a:lnTo>
                  <a:lnTo>
                    <a:pt x="1059072" y="135484"/>
                  </a:lnTo>
                  <a:lnTo>
                    <a:pt x="1101042" y="186387"/>
                  </a:lnTo>
                  <a:lnTo>
                    <a:pt x="1115777" y="241839"/>
                  </a:lnTo>
                  <a:lnTo>
                    <a:pt x="1112023" y="270043"/>
                  </a:lnTo>
                  <a:lnTo>
                    <a:pt x="1083252" y="323401"/>
                  </a:lnTo>
                  <a:lnTo>
                    <a:pt x="1028920" y="371486"/>
                  </a:lnTo>
                  <a:lnTo>
                    <a:pt x="993215" y="393097"/>
                  </a:lnTo>
                  <a:lnTo>
                    <a:pt x="952375" y="412845"/>
                  </a:lnTo>
                  <a:lnTo>
                    <a:pt x="906819" y="430549"/>
                  </a:lnTo>
                  <a:lnTo>
                    <a:pt x="856965" y="446027"/>
                  </a:lnTo>
                  <a:lnTo>
                    <a:pt x="803233" y="459098"/>
                  </a:lnTo>
                  <a:lnTo>
                    <a:pt x="746041" y="469580"/>
                  </a:lnTo>
                  <a:lnTo>
                    <a:pt x="685807" y="477291"/>
                  </a:lnTo>
                  <a:lnTo>
                    <a:pt x="622950" y="482051"/>
                  </a:lnTo>
                  <a:lnTo>
                    <a:pt x="557888" y="483678"/>
                  </a:lnTo>
                  <a:lnTo>
                    <a:pt x="492826" y="482051"/>
                  </a:lnTo>
                  <a:lnTo>
                    <a:pt x="429969" y="477291"/>
                  </a:lnTo>
                  <a:lnTo>
                    <a:pt x="369735" y="469580"/>
                  </a:lnTo>
                  <a:lnTo>
                    <a:pt x="312543" y="459098"/>
                  </a:lnTo>
                  <a:lnTo>
                    <a:pt x="258811" y="446027"/>
                  </a:lnTo>
                  <a:lnTo>
                    <a:pt x="208957" y="430549"/>
                  </a:lnTo>
                  <a:lnTo>
                    <a:pt x="163401" y="412845"/>
                  </a:lnTo>
                  <a:lnTo>
                    <a:pt x="122561" y="393097"/>
                  </a:lnTo>
                  <a:lnTo>
                    <a:pt x="86856" y="371486"/>
                  </a:lnTo>
                  <a:lnTo>
                    <a:pt x="56704" y="348194"/>
                  </a:lnTo>
                  <a:lnTo>
                    <a:pt x="14734" y="297291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601347" y="3709415"/>
            <a:ext cx="7480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700" dirty="0">
                <a:solidFill>
                  <a:srgbClr val="292934"/>
                </a:solidFill>
                <a:latin typeface="Arial MT"/>
                <a:cs typeface="Arial MT"/>
              </a:rPr>
              <a:t>Name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850786" y="3440011"/>
            <a:ext cx="540385" cy="629920"/>
          </a:xfrm>
          <a:custGeom>
            <a:avLst/>
            <a:gdLst/>
            <a:ahLst/>
            <a:cxnLst/>
            <a:rect l="l" t="t" r="r" b="b"/>
            <a:pathLst>
              <a:path w="540384" h="629920">
                <a:moveTo>
                  <a:pt x="0" y="629416"/>
                </a:moveTo>
                <a:lnTo>
                  <a:pt x="192136" y="0"/>
                </a:lnTo>
              </a:path>
              <a:path w="540384" h="629920">
                <a:moveTo>
                  <a:pt x="0" y="629416"/>
                </a:moveTo>
                <a:lnTo>
                  <a:pt x="539925" y="402593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1291052" y="2962847"/>
            <a:ext cx="1949450" cy="494030"/>
            <a:chOff x="1291052" y="2962847"/>
            <a:chExt cx="1949450" cy="494030"/>
          </a:xfrm>
        </p:grpSpPr>
        <p:sp>
          <p:nvSpPr>
            <p:cNvPr id="41" name="object 41"/>
            <p:cNvSpPr/>
            <p:nvPr/>
          </p:nvSpPr>
          <p:spPr>
            <a:xfrm>
              <a:off x="1296132" y="2967927"/>
              <a:ext cx="1939289" cy="483870"/>
            </a:xfrm>
            <a:custGeom>
              <a:avLst/>
              <a:gdLst/>
              <a:ahLst/>
              <a:cxnLst/>
              <a:rect l="l" t="t" r="r" b="b"/>
              <a:pathLst>
                <a:path w="1939289" h="483870">
                  <a:moveTo>
                    <a:pt x="969553" y="0"/>
                  </a:moveTo>
                  <a:lnTo>
                    <a:pt x="897194" y="663"/>
                  </a:lnTo>
                  <a:lnTo>
                    <a:pt x="826279" y="2622"/>
                  </a:lnTo>
                  <a:lnTo>
                    <a:pt x="756997" y="5829"/>
                  </a:lnTo>
                  <a:lnTo>
                    <a:pt x="689533" y="10239"/>
                  </a:lnTo>
                  <a:lnTo>
                    <a:pt x="624076" y="15803"/>
                  </a:lnTo>
                  <a:lnTo>
                    <a:pt x="560814" y="22477"/>
                  </a:lnTo>
                  <a:lnTo>
                    <a:pt x="499933" y="30212"/>
                  </a:lnTo>
                  <a:lnTo>
                    <a:pt x="441621" y="38961"/>
                  </a:lnTo>
                  <a:lnTo>
                    <a:pt x="386066" y="48679"/>
                  </a:lnTo>
                  <a:lnTo>
                    <a:pt x="333455" y="59319"/>
                  </a:lnTo>
                  <a:lnTo>
                    <a:pt x="283975" y="70833"/>
                  </a:lnTo>
                  <a:lnTo>
                    <a:pt x="237814" y="83175"/>
                  </a:lnTo>
                  <a:lnTo>
                    <a:pt x="195160" y="96298"/>
                  </a:lnTo>
                  <a:lnTo>
                    <a:pt x="156200" y="110155"/>
                  </a:lnTo>
                  <a:lnTo>
                    <a:pt x="90112" y="139886"/>
                  </a:lnTo>
                  <a:lnTo>
                    <a:pt x="41049" y="171993"/>
                  </a:lnTo>
                  <a:lnTo>
                    <a:pt x="10512" y="206102"/>
                  </a:lnTo>
                  <a:lnTo>
                    <a:pt x="0" y="241839"/>
                  </a:lnTo>
                  <a:lnTo>
                    <a:pt x="2659" y="259888"/>
                  </a:lnTo>
                  <a:lnTo>
                    <a:pt x="23371" y="294858"/>
                  </a:lnTo>
                  <a:lnTo>
                    <a:pt x="63359" y="328013"/>
                  </a:lnTo>
                  <a:lnTo>
                    <a:pt x="121122" y="358979"/>
                  </a:lnTo>
                  <a:lnTo>
                    <a:pt x="195160" y="387381"/>
                  </a:lnTo>
                  <a:lnTo>
                    <a:pt x="237814" y="400504"/>
                  </a:lnTo>
                  <a:lnTo>
                    <a:pt x="283975" y="412846"/>
                  </a:lnTo>
                  <a:lnTo>
                    <a:pt x="333455" y="424360"/>
                  </a:lnTo>
                  <a:lnTo>
                    <a:pt x="386066" y="434999"/>
                  </a:lnTo>
                  <a:lnTo>
                    <a:pt x="441621" y="444717"/>
                  </a:lnTo>
                  <a:lnTo>
                    <a:pt x="499933" y="453467"/>
                  </a:lnTo>
                  <a:lnTo>
                    <a:pt x="560814" y="461202"/>
                  </a:lnTo>
                  <a:lnTo>
                    <a:pt x="624076" y="467875"/>
                  </a:lnTo>
                  <a:lnTo>
                    <a:pt x="689533" y="473440"/>
                  </a:lnTo>
                  <a:lnTo>
                    <a:pt x="756997" y="477849"/>
                  </a:lnTo>
                  <a:lnTo>
                    <a:pt x="826279" y="481057"/>
                  </a:lnTo>
                  <a:lnTo>
                    <a:pt x="897194" y="483016"/>
                  </a:lnTo>
                  <a:lnTo>
                    <a:pt x="969553" y="483679"/>
                  </a:lnTo>
                  <a:lnTo>
                    <a:pt x="1041912" y="483016"/>
                  </a:lnTo>
                  <a:lnTo>
                    <a:pt x="1112826" y="481057"/>
                  </a:lnTo>
                  <a:lnTo>
                    <a:pt x="1182109" y="477849"/>
                  </a:lnTo>
                  <a:lnTo>
                    <a:pt x="1249573" y="473440"/>
                  </a:lnTo>
                  <a:lnTo>
                    <a:pt x="1315029" y="467875"/>
                  </a:lnTo>
                  <a:lnTo>
                    <a:pt x="1378292" y="461202"/>
                  </a:lnTo>
                  <a:lnTo>
                    <a:pt x="1439173" y="453467"/>
                  </a:lnTo>
                  <a:lnTo>
                    <a:pt x="1497485" y="444717"/>
                  </a:lnTo>
                  <a:lnTo>
                    <a:pt x="1553040" y="434999"/>
                  </a:lnTo>
                  <a:lnTo>
                    <a:pt x="1605651" y="424360"/>
                  </a:lnTo>
                  <a:lnTo>
                    <a:pt x="1655131" y="412846"/>
                  </a:lnTo>
                  <a:lnTo>
                    <a:pt x="1701291" y="400504"/>
                  </a:lnTo>
                  <a:lnTo>
                    <a:pt x="1743945" y="387381"/>
                  </a:lnTo>
                  <a:lnTo>
                    <a:pt x="1782905" y="373524"/>
                  </a:lnTo>
                  <a:lnTo>
                    <a:pt x="1848994" y="343793"/>
                  </a:lnTo>
                  <a:lnTo>
                    <a:pt x="1898057" y="311686"/>
                  </a:lnTo>
                  <a:lnTo>
                    <a:pt x="1928594" y="277577"/>
                  </a:lnTo>
                  <a:lnTo>
                    <a:pt x="1939107" y="241839"/>
                  </a:lnTo>
                  <a:lnTo>
                    <a:pt x="1936447" y="223790"/>
                  </a:lnTo>
                  <a:lnTo>
                    <a:pt x="1915735" y="188820"/>
                  </a:lnTo>
                  <a:lnTo>
                    <a:pt x="1875747" y="155665"/>
                  </a:lnTo>
                  <a:lnTo>
                    <a:pt x="1817984" y="124700"/>
                  </a:lnTo>
                  <a:lnTo>
                    <a:pt x="1743945" y="96298"/>
                  </a:lnTo>
                  <a:lnTo>
                    <a:pt x="1701291" y="83175"/>
                  </a:lnTo>
                  <a:lnTo>
                    <a:pt x="1655131" y="70833"/>
                  </a:lnTo>
                  <a:lnTo>
                    <a:pt x="1605651" y="59319"/>
                  </a:lnTo>
                  <a:lnTo>
                    <a:pt x="1553040" y="48679"/>
                  </a:lnTo>
                  <a:lnTo>
                    <a:pt x="1497485" y="38961"/>
                  </a:lnTo>
                  <a:lnTo>
                    <a:pt x="1439173" y="30212"/>
                  </a:lnTo>
                  <a:lnTo>
                    <a:pt x="1378292" y="22477"/>
                  </a:lnTo>
                  <a:lnTo>
                    <a:pt x="1315029" y="15803"/>
                  </a:lnTo>
                  <a:lnTo>
                    <a:pt x="1249573" y="10239"/>
                  </a:lnTo>
                  <a:lnTo>
                    <a:pt x="1182109" y="5829"/>
                  </a:lnTo>
                  <a:lnTo>
                    <a:pt x="1112826" y="2622"/>
                  </a:lnTo>
                  <a:lnTo>
                    <a:pt x="1041912" y="663"/>
                  </a:lnTo>
                  <a:lnTo>
                    <a:pt x="9695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296132" y="2967927"/>
              <a:ext cx="1939289" cy="483870"/>
            </a:xfrm>
            <a:custGeom>
              <a:avLst/>
              <a:gdLst/>
              <a:ahLst/>
              <a:cxnLst/>
              <a:rect l="l" t="t" r="r" b="b"/>
              <a:pathLst>
                <a:path w="1939289" h="483870">
                  <a:moveTo>
                    <a:pt x="0" y="241839"/>
                  </a:moveTo>
                  <a:lnTo>
                    <a:pt x="23371" y="188820"/>
                  </a:lnTo>
                  <a:lnTo>
                    <a:pt x="63359" y="155665"/>
                  </a:lnTo>
                  <a:lnTo>
                    <a:pt x="121122" y="124700"/>
                  </a:lnTo>
                  <a:lnTo>
                    <a:pt x="195161" y="96297"/>
                  </a:lnTo>
                  <a:lnTo>
                    <a:pt x="237815" y="83175"/>
                  </a:lnTo>
                  <a:lnTo>
                    <a:pt x="283975" y="70833"/>
                  </a:lnTo>
                  <a:lnTo>
                    <a:pt x="333455" y="59319"/>
                  </a:lnTo>
                  <a:lnTo>
                    <a:pt x="386066" y="48679"/>
                  </a:lnTo>
                  <a:lnTo>
                    <a:pt x="441621" y="38961"/>
                  </a:lnTo>
                  <a:lnTo>
                    <a:pt x="499933" y="30212"/>
                  </a:lnTo>
                  <a:lnTo>
                    <a:pt x="560814" y="22477"/>
                  </a:lnTo>
                  <a:lnTo>
                    <a:pt x="624076" y="15803"/>
                  </a:lnTo>
                  <a:lnTo>
                    <a:pt x="689533" y="10239"/>
                  </a:lnTo>
                  <a:lnTo>
                    <a:pt x="756997" y="5829"/>
                  </a:lnTo>
                  <a:lnTo>
                    <a:pt x="826280" y="2622"/>
                  </a:lnTo>
                  <a:lnTo>
                    <a:pt x="897194" y="663"/>
                  </a:lnTo>
                  <a:lnTo>
                    <a:pt x="969553" y="0"/>
                  </a:lnTo>
                  <a:lnTo>
                    <a:pt x="1041912" y="663"/>
                  </a:lnTo>
                  <a:lnTo>
                    <a:pt x="1112827" y="2622"/>
                  </a:lnTo>
                  <a:lnTo>
                    <a:pt x="1182109" y="5829"/>
                  </a:lnTo>
                  <a:lnTo>
                    <a:pt x="1249573" y="10239"/>
                  </a:lnTo>
                  <a:lnTo>
                    <a:pt x="1315030" y="15803"/>
                  </a:lnTo>
                  <a:lnTo>
                    <a:pt x="1378292" y="22477"/>
                  </a:lnTo>
                  <a:lnTo>
                    <a:pt x="1439173" y="30212"/>
                  </a:lnTo>
                  <a:lnTo>
                    <a:pt x="1497485" y="38961"/>
                  </a:lnTo>
                  <a:lnTo>
                    <a:pt x="1553040" y="48679"/>
                  </a:lnTo>
                  <a:lnTo>
                    <a:pt x="1605651" y="59319"/>
                  </a:lnTo>
                  <a:lnTo>
                    <a:pt x="1655131" y="70833"/>
                  </a:lnTo>
                  <a:lnTo>
                    <a:pt x="1701291" y="83175"/>
                  </a:lnTo>
                  <a:lnTo>
                    <a:pt x="1743945" y="96297"/>
                  </a:lnTo>
                  <a:lnTo>
                    <a:pt x="1782906" y="110155"/>
                  </a:lnTo>
                  <a:lnTo>
                    <a:pt x="1848994" y="139886"/>
                  </a:lnTo>
                  <a:lnTo>
                    <a:pt x="1898057" y="171993"/>
                  </a:lnTo>
                  <a:lnTo>
                    <a:pt x="1928594" y="206102"/>
                  </a:lnTo>
                  <a:lnTo>
                    <a:pt x="1939107" y="241839"/>
                  </a:lnTo>
                  <a:lnTo>
                    <a:pt x="1936447" y="259888"/>
                  </a:lnTo>
                  <a:lnTo>
                    <a:pt x="1915735" y="294858"/>
                  </a:lnTo>
                  <a:lnTo>
                    <a:pt x="1875747" y="328013"/>
                  </a:lnTo>
                  <a:lnTo>
                    <a:pt x="1817984" y="358978"/>
                  </a:lnTo>
                  <a:lnTo>
                    <a:pt x="1743945" y="387380"/>
                  </a:lnTo>
                  <a:lnTo>
                    <a:pt x="1701291" y="400503"/>
                  </a:lnTo>
                  <a:lnTo>
                    <a:pt x="1655131" y="412845"/>
                  </a:lnTo>
                  <a:lnTo>
                    <a:pt x="1605651" y="424359"/>
                  </a:lnTo>
                  <a:lnTo>
                    <a:pt x="1553040" y="434999"/>
                  </a:lnTo>
                  <a:lnTo>
                    <a:pt x="1497485" y="444717"/>
                  </a:lnTo>
                  <a:lnTo>
                    <a:pt x="1439173" y="453466"/>
                  </a:lnTo>
                  <a:lnTo>
                    <a:pt x="1378292" y="461201"/>
                  </a:lnTo>
                  <a:lnTo>
                    <a:pt x="1315030" y="467874"/>
                  </a:lnTo>
                  <a:lnTo>
                    <a:pt x="1249573" y="473439"/>
                  </a:lnTo>
                  <a:lnTo>
                    <a:pt x="1182109" y="477849"/>
                  </a:lnTo>
                  <a:lnTo>
                    <a:pt x="1112827" y="481056"/>
                  </a:lnTo>
                  <a:lnTo>
                    <a:pt x="1041912" y="483015"/>
                  </a:lnTo>
                  <a:lnTo>
                    <a:pt x="969553" y="483678"/>
                  </a:lnTo>
                  <a:lnTo>
                    <a:pt x="897194" y="483015"/>
                  </a:lnTo>
                  <a:lnTo>
                    <a:pt x="826280" y="481056"/>
                  </a:lnTo>
                  <a:lnTo>
                    <a:pt x="756997" y="477849"/>
                  </a:lnTo>
                  <a:lnTo>
                    <a:pt x="689533" y="473439"/>
                  </a:lnTo>
                  <a:lnTo>
                    <a:pt x="624076" y="467874"/>
                  </a:lnTo>
                  <a:lnTo>
                    <a:pt x="560814" y="461201"/>
                  </a:lnTo>
                  <a:lnTo>
                    <a:pt x="499933" y="453466"/>
                  </a:lnTo>
                  <a:lnTo>
                    <a:pt x="441621" y="444717"/>
                  </a:lnTo>
                  <a:lnTo>
                    <a:pt x="386066" y="434999"/>
                  </a:lnTo>
                  <a:lnTo>
                    <a:pt x="333455" y="424359"/>
                  </a:lnTo>
                  <a:lnTo>
                    <a:pt x="283975" y="412845"/>
                  </a:lnTo>
                  <a:lnTo>
                    <a:pt x="237815" y="400503"/>
                  </a:lnTo>
                  <a:lnTo>
                    <a:pt x="195161" y="387380"/>
                  </a:lnTo>
                  <a:lnTo>
                    <a:pt x="156201" y="373523"/>
                  </a:lnTo>
                  <a:lnTo>
                    <a:pt x="90112" y="343792"/>
                  </a:lnTo>
                  <a:lnTo>
                    <a:pt x="41049" y="311685"/>
                  </a:lnTo>
                  <a:lnTo>
                    <a:pt x="10512" y="277576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408196" y="3044952"/>
            <a:ext cx="171132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</a:t>
            </a:r>
            <a:r>
              <a:rPr sz="1700" u="heavy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ayment_numbe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88557" y="4079081"/>
            <a:ext cx="1949450" cy="1056005"/>
            <a:chOff x="588557" y="4079081"/>
            <a:chExt cx="1949450" cy="1056005"/>
          </a:xfrm>
        </p:grpSpPr>
        <p:sp>
          <p:nvSpPr>
            <p:cNvPr id="45" name="object 45"/>
            <p:cNvSpPr/>
            <p:nvPr/>
          </p:nvSpPr>
          <p:spPr>
            <a:xfrm>
              <a:off x="1523629" y="4084161"/>
              <a:ext cx="494030" cy="54610"/>
            </a:xfrm>
            <a:custGeom>
              <a:avLst/>
              <a:gdLst/>
              <a:ahLst/>
              <a:cxnLst/>
              <a:rect l="l" t="t" r="r" b="b"/>
              <a:pathLst>
                <a:path w="494030" h="54610">
                  <a:moveTo>
                    <a:pt x="493809" y="0"/>
                  </a:moveTo>
                  <a:lnTo>
                    <a:pt x="0" y="54513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93637" y="4645771"/>
              <a:ext cx="1939289" cy="483870"/>
            </a:xfrm>
            <a:custGeom>
              <a:avLst/>
              <a:gdLst/>
              <a:ahLst/>
              <a:cxnLst/>
              <a:rect l="l" t="t" r="r" b="b"/>
              <a:pathLst>
                <a:path w="1939289" h="483870">
                  <a:moveTo>
                    <a:pt x="969553" y="0"/>
                  </a:moveTo>
                  <a:lnTo>
                    <a:pt x="897194" y="663"/>
                  </a:lnTo>
                  <a:lnTo>
                    <a:pt x="826280" y="2622"/>
                  </a:lnTo>
                  <a:lnTo>
                    <a:pt x="756997" y="5829"/>
                  </a:lnTo>
                  <a:lnTo>
                    <a:pt x="689533" y="10239"/>
                  </a:lnTo>
                  <a:lnTo>
                    <a:pt x="624076" y="15803"/>
                  </a:lnTo>
                  <a:lnTo>
                    <a:pt x="560814" y="22477"/>
                  </a:lnTo>
                  <a:lnTo>
                    <a:pt x="499933" y="30211"/>
                  </a:lnTo>
                  <a:lnTo>
                    <a:pt x="441621" y="38961"/>
                  </a:lnTo>
                  <a:lnTo>
                    <a:pt x="386066" y="48679"/>
                  </a:lnTo>
                  <a:lnTo>
                    <a:pt x="333455" y="59319"/>
                  </a:lnTo>
                  <a:lnTo>
                    <a:pt x="283975" y="70832"/>
                  </a:lnTo>
                  <a:lnTo>
                    <a:pt x="237815" y="83174"/>
                  </a:lnTo>
                  <a:lnTo>
                    <a:pt x="195161" y="96297"/>
                  </a:lnTo>
                  <a:lnTo>
                    <a:pt x="156201" y="110155"/>
                  </a:lnTo>
                  <a:lnTo>
                    <a:pt x="90112" y="139885"/>
                  </a:lnTo>
                  <a:lnTo>
                    <a:pt x="41049" y="171992"/>
                  </a:lnTo>
                  <a:lnTo>
                    <a:pt x="10512" y="206101"/>
                  </a:lnTo>
                  <a:lnTo>
                    <a:pt x="0" y="241838"/>
                  </a:lnTo>
                  <a:lnTo>
                    <a:pt x="2659" y="259887"/>
                  </a:lnTo>
                  <a:lnTo>
                    <a:pt x="23371" y="294857"/>
                  </a:lnTo>
                  <a:lnTo>
                    <a:pt x="63359" y="328012"/>
                  </a:lnTo>
                  <a:lnTo>
                    <a:pt x="121122" y="358977"/>
                  </a:lnTo>
                  <a:lnTo>
                    <a:pt x="195161" y="387380"/>
                  </a:lnTo>
                  <a:lnTo>
                    <a:pt x="237815" y="400503"/>
                  </a:lnTo>
                  <a:lnTo>
                    <a:pt x="283975" y="412845"/>
                  </a:lnTo>
                  <a:lnTo>
                    <a:pt x="333455" y="424359"/>
                  </a:lnTo>
                  <a:lnTo>
                    <a:pt x="386066" y="434998"/>
                  </a:lnTo>
                  <a:lnTo>
                    <a:pt x="441621" y="444716"/>
                  </a:lnTo>
                  <a:lnTo>
                    <a:pt x="499933" y="453466"/>
                  </a:lnTo>
                  <a:lnTo>
                    <a:pt x="560814" y="461201"/>
                  </a:lnTo>
                  <a:lnTo>
                    <a:pt x="624076" y="467874"/>
                  </a:lnTo>
                  <a:lnTo>
                    <a:pt x="689533" y="473438"/>
                  </a:lnTo>
                  <a:lnTo>
                    <a:pt x="756997" y="477848"/>
                  </a:lnTo>
                  <a:lnTo>
                    <a:pt x="826280" y="481056"/>
                  </a:lnTo>
                  <a:lnTo>
                    <a:pt x="897194" y="483014"/>
                  </a:lnTo>
                  <a:lnTo>
                    <a:pt x="969553" y="483678"/>
                  </a:lnTo>
                  <a:lnTo>
                    <a:pt x="1041912" y="483014"/>
                  </a:lnTo>
                  <a:lnTo>
                    <a:pt x="1112827" y="481056"/>
                  </a:lnTo>
                  <a:lnTo>
                    <a:pt x="1182110" y="477848"/>
                  </a:lnTo>
                  <a:lnTo>
                    <a:pt x="1249573" y="473438"/>
                  </a:lnTo>
                  <a:lnTo>
                    <a:pt x="1315030" y="467874"/>
                  </a:lnTo>
                  <a:lnTo>
                    <a:pt x="1378293" y="461201"/>
                  </a:lnTo>
                  <a:lnTo>
                    <a:pt x="1439174" y="453466"/>
                  </a:lnTo>
                  <a:lnTo>
                    <a:pt x="1497485" y="444716"/>
                  </a:lnTo>
                  <a:lnTo>
                    <a:pt x="1553041" y="434998"/>
                  </a:lnTo>
                  <a:lnTo>
                    <a:pt x="1605652" y="424359"/>
                  </a:lnTo>
                  <a:lnTo>
                    <a:pt x="1655131" y="412845"/>
                  </a:lnTo>
                  <a:lnTo>
                    <a:pt x="1701292" y="400503"/>
                  </a:lnTo>
                  <a:lnTo>
                    <a:pt x="1743946" y="387380"/>
                  </a:lnTo>
                  <a:lnTo>
                    <a:pt x="1782906" y="373522"/>
                  </a:lnTo>
                  <a:lnTo>
                    <a:pt x="1848994" y="343792"/>
                  </a:lnTo>
                  <a:lnTo>
                    <a:pt x="1898057" y="311685"/>
                  </a:lnTo>
                  <a:lnTo>
                    <a:pt x="1928594" y="277575"/>
                  </a:lnTo>
                  <a:lnTo>
                    <a:pt x="1939107" y="241838"/>
                  </a:lnTo>
                  <a:lnTo>
                    <a:pt x="1936447" y="223789"/>
                  </a:lnTo>
                  <a:lnTo>
                    <a:pt x="1915735" y="188820"/>
                  </a:lnTo>
                  <a:lnTo>
                    <a:pt x="1875747" y="155665"/>
                  </a:lnTo>
                  <a:lnTo>
                    <a:pt x="1817984" y="124699"/>
                  </a:lnTo>
                  <a:lnTo>
                    <a:pt x="1743946" y="96297"/>
                  </a:lnTo>
                  <a:lnTo>
                    <a:pt x="1701292" y="83174"/>
                  </a:lnTo>
                  <a:lnTo>
                    <a:pt x="1655131" y="70832"/>
                  </a:lnTo>
                  <a:lnTo>
                    <a:pt x="1605652" y="59319"/>
                  </a:lnTo>
                  <a:lnTo>
                    <a:pt x="1553041" y="48679"/>
                  </a:lnTo>
                  <a:lnTo>
                    <a:pt x="1497485" y="38961"/>
                  </a:lnTo>
                  <a:lnTo>
                    <a:pt x="1439174" y="30211"/>
                  </a:lnTo>
                  <a:lnTo>
                    <a:pt x="1378293" y="22477"/>
                  </a:lnTo>
                  <a:lnTo>
                    <a:pt x="1315030" y="15803"/>
                  </a:lnTo>
                  <a:lnTo>
                    <a:pt x="1249573" y="10239"/>
                  </a:lnTo>
                  <a:lnTo>
                    <a:pt x="1182110" y="5829"/>
                  </a:lnTo>
                  <a:lnTo>
                    <a:pt x="1112827" y="2622"/>
                  </a:lnTo>
                  <a:lnTo>
                    <a:pt x="1041912" y="663"/>
                  </a:lnTo>
                  <a:lnTo>
                    <a:pt x="969553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93637" y="4645771"/>
              <a:ext cx="1939289" cy="483870"/>
            </a:xfrm>
            <a:custGeom>
              <a:avLst/>
              <a:gdLst/>
              <a:ahLst/>
              <a:cxnLst/>
              <a:rect l="l" t="t" r="r" b="b"/>
              <a:pathLst>
                <a:path w="1939289" h="483870">
                  <a:moveTo>
                    <a:pt x="0" y="241839"/>
                  </a:moveTo>
                  <a:lnTo>
                    <a:pt x="23371" y="188820"/>
                  </a:lnTo>
                  <a:lnTo>
                    <a:pt x="63359" y="155665"/>
                  </a:lnTo>
                  <a:lnTo>
                    <a:pt x="121122" y="124700"/>
                  </a:lnTo>
                  <a:lnTo>
                    <a:pt x="195161" y="96297"/>
                  </a:lnTo>
                  <a:lnTo>
                    <a:pt x="237815" y="83175"/>
                  </a:lnTo>
                  <a:lnTo>
                    <a:pt x="283975" y="70833"/>
                  </a:lnTo>
                  <a:lnTo>
                    <a:pt x="333455" y="59319"/>
                  </a:lnTo>
                  <a:lnTo>
                    <a:pt x="386066" y="48679"/>
                  </a:lnTo>
                  <a:lnTo>
                    <a:pt x="441621" y="38961"/>
                  </a:lnTo>
                  <a:lnTo>
                    <a:pt x="499933" y="30212"/>
                  </a:lnTo>
                  <a:lnTo>
                    <a:pt x="560814" y="22477"/>
                  </a:lnTo>
                  <a:lnTo>
                    <a:pt x="624076" y="15803"/>
                  </a:lnTo>
                  <a:lnTo>
                    <a:pt x="689533" y="10239"/>
                  </a:lnTo>
                  <a:lnTo>
                    <a:pt x="756997" y="5829"/>
                  </a:lnTo>
                  <a:lnTo>
                    <a:pt x="826280" y="2622"/>
                  </a:lnTo>
                  <a:lnTo>
                    <a:pt x="897194" y="663"/>
                  </a:lnTo>
                  <a:lnTo>
                    <a:pt x="969553" y="0"/>
                  </a:lnTo>
                  <a:lnTo>
                    <a:pt x="1041912" y="663"/>
                  </a:lnTo>
                  <a:lnTo>
                    <a:pt x="1112827" y="2622"/>
                  </a:lnTo>
                  <a:lnTo>
                    <a:pt x="1182109" y="5829"/>
                  </a:lnTo>
                  <a:lnTo>
                    <a:pt x="1249573" y="10239"/>
                  </a:lnTo>
                  <a:lnTo>
                    <a:pt x="1315030" y="15803"/>
                  </a:lnTo>
                  <a:lnTo>
                    <a:pt x="1378292" y="22477"/>
                  </a:lnTo>
                  <a:lnTo>
                    <a:pt x="1439173" y="30212"/>
                  </a:lnTo>
                  <a:lnTo>
                    <a:pt x="1497485" y="38961"/>
                  </a:lnTo>
                  <a:lnTo>
                    <a:pt x="1553040" y="48679"/>
                  </a:lnTo>
                  <a:lnTo>
                    <a:pt x="1605651" y="59319"/>
                  </a:lnTo>
                  <a:lnTo>
                    <a:pt x="1655131" y="70833"/>
                  </a:lnTo>
                  <a:lnTo>
                    <a:pt x="1701291" y="83175"/>
                  </a:lnTo>
                  <a:lnTo>
                    <a:pt x="1743945" y="96297"/>
                  </a:lnTo>
                  <a:lnTo>
                    <a:pt x="1782906" y="110155"/>
                  </a:lnTo>
                  <a:lnTo>
                    <a:pt x="1848994" y="139886"/>
                  </a:lnTo>
                  <a:lnTo>
                    <a:pt x="1898057" y="171993"/>
                  </a:lnTo>
                  <a:lnTo>
                    <a:pt x="1928594" y="206102"/>
                  </a:lnTo>
                  <a:lnTo>
                    <a:pt x="1939107" y="241839"/>
                  </a:lnTo>
                  <a:lnTo>
                    <a:pt x="1936447" y="259888"/>
                  </a:lnTo>
                  <a:lnTo>
                    <a:pt x="1915735" y="294858"/>
                  </a:lnTo>
                  <a:lnTo>
                    <a:pt x="1875747" y="328013"/>
                  </a:lnTo>
                  <a:lnTo>
                    <a:pt x="1817984" y="358978"/>
                  </a:lnTo>
                  <a:lnTo>
                    <a:pt x="1743945" y="387380"/>
                  </a:lnTo>
                  <a:lnTo>
                    <a:pt x="1701291" y="400503"/>
                  </a:lnTo>
                  <a:lnTo>
                    <a:pt x="1655131" y="412845"/>
                  </a:lnTo>
                  <a:lnTo>
                    <a:pt x="1605651" y="424359"/>
                  </a:lnTo>
                  <a:lnTo>
                    <a:pt x="1553040" y="434999"/>
                  </a:lnTo>
                  <a:lnTo>
                    <a:pt x="1497485" y="444717"/>
                  </a:lnTo>
                  <a:lnTo>
                    <a:pt x="1439173" y="453466"/>
                  </a:lnTo>
                  <a:lnTo>
                    <a:pt x="1378292" y="461201"/>
                  </a:lnTo>
                  <a:lnTo>
                    <a:pt x="1315030" y="467874"/>
                  </a:lnTo>
                  <a:lnTo>
                    <a:pt x="1249573" y="473439"/>
                  </a:lnTo>
                  <a:lnTo>
                    <a:pt x="1182109" y="477849"/>
                  </a:lnTo>
                  <a:lnTo>
                    <a:pt x="1112827" y="481056"/>
                  </a:lnTo>
                  <a:lnTo>
                    <a:pt x="1041912" y="483015"/>
                  </a:lnTo>
                  <a:lnTo>
                    <a:pt x="969553" y="483678"/>
                  </a:lnTo>
                  <a:lnTo>
                    <a:pt x="897194" y="483015"/>
                  </a:lnTo>
                  <a:lnTo>
                    <a:pt x="826280" y="481056"/>
                  </a:lnTo>
                  <a:lnTo>
                    <a:pt x="756997" y="477849"/>
                  </a:lnTo>
                  <a:lnTo>
                    <a:pt x="689533" y="473439"/>
                  </a:lnTo>
                  <a:lnTo>
                    <a:pt x="624076" y="467874"/>
                  </a:lnTo>
                  <a:lnTo>
                    <a:pt x="560814" y="461201"/>
                  </a:lnTo>
                  <a:lnTo>
                    <a:pt x="499933" y="453466"/>
                  </a:lnTo>
                  <a:lnTo>
                    <a:pt x="441621" y="444717"/>
                  </a:lnTo>
                  <a:lnTo>
                    <a:pt x="386066" y="434999"/>
                  </a:lnTo>
                  <a:lnTo>
                    <a:pt x="333455" y="424359"/>
                  </a:lnTo>
                  <a:lnTo>
                    <a:pt x="283975" y="412845"/>
                  </a:lnTo>
                  <a:lnTo>
                    <a:pt x="237815" y="400503"/>
                  </a:lnTo>
                  <a:lnTo>
                    <a:pt x="195161" y="387380"/>
                  </a:lnTo>
                  <a:lnTo>
                    <a:pt x="156201" y="373523"/>
                  </a:lnTo>
                  <a:lnTo>
                    <a:pt x="90112" y="343792"/>
                  </a:lnTo>
                  <a:lnTo>
                    <a:pt x="41049" y="311685"/>
                  </a:lnTo>
                  <a:lnTo>
                    <a:pt x="10512" y="277576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11627" y="4721352"/>
            <a:ext cx="16992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payment_amount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65329" y="3891755"/>
            <a:ext cx="963930" cy="494030"/>
            <a:chOff x="565329" y="3891755"/>
            <a:chExt cx="963930" cy="494030"/>
          </a:xfrm>
        </p:grpSpPr>
        <p:sp>
          <p:nvSpPr>
            <p:cNvPr id="50" name="object 50"/>
            <p:cNvSpPr/>
            <p:nvPr/>
          </p:nvSpPr>
          <p:spPr>
            <a:xfrm>
              <a:off x="570409" y="3896835"/>
              <a:ext cx="953769" cy="483870"/>
            </a:xfrm>
            <a:custGeom>
              <a:avLst/>
              <a:gdLst/>
              <a:ahLst/>
              <a:cxnLst/>
              <a:rect l="l" t="t" r="r" b="b"/>
              <a:pathLst>
                <a:path w="953769" h="483870">
                  <a:moveTo>
                    <a:pt x="476609" y="0"/>
                  </a:moveTo>
                  <a:lnTo>
                    <a:pt x="416824" y="1884"/>
                  </a:lnTo>
                  <a:lnTo>
                    <a:pt x="359255" y="7385"/>
                  </a:lnTo>
                  <a:lnTo>
                    <a:pt x="304349" y="16278"/>
                  </a:lnTo>
                  <a:lnTo>
                    <a:pt x="252553" y="28335"/>
                  </a:lnTo>
                  <a:lnTo>
                    <a:pt x="204312" y="43329"/>
                  </a:lnTo>
                  <a:lnTo>
                    <a:pt x="160074" y="61034"/>
                  </a:lnTo>
                  <a:lnTo>
                    <a:pt x="120285" y="81224"/>
                  </a:lnTo>
                  <a:lnTo>
                    <a:pt x="85392" y="103671"/>
                  </a:lnTo>
                  <a:lnTo>
                    <a:pt x="55842" y="128149"/>
                  </a:lnTo>
                  <a:lnTo>
                    <a:pt x="14556" y="182291"/>
                  </a:lnTo>
                  <a:lnTo>
                    <a:pt x="0" y="241838"/>
                  </a:lnTo>
                  <a:lnTo>
                    <a:pt x="3713" y="272174"/>
                  </a:lnTo>
                  <a:lnTo>
                    <a:pt x="32081" y="329246"/>
                  </a:lnTo>
                  <a:lnTo>
                    <a:pt x="85392" y="380006"/>
                  </a:lnTo>
                  <a:lnTo>
                    <a:pt x="120285" y="402453"/>
                  </a:lnTo>
                  <a:lnTo>
                    <a:pt x="160074" y="422643"/>
                  </a:lnTo>
                  <a:lnTo>
                    <a:pt x="204312" y="440348"/>
                  </a:lnTo>
                  <a:lnTo>
                    <a:pt x="252553" y="455342"/>
                  </a:lnTo>
                  <a:lnTo>
                    <a:pt x="304349" y="467399"/>
                  </a:lnTo>
                  <a:lnTo>
                    <a:pt x="359255" y="476292"/>
                  </a:lnTo>
                  <a:lnTo>
                    <a:pt x="416824" y="481793"/>
                  </a:lnTo>
                  <a:lnTo>
                    <a:pt x="476609" y="483678"/>
                  </a:lnTo>
                  <a:lnTo>
                    <a:pt x="536394" y="481793"/>
                  </a:lnTo>
                  <a:lnTo>
                    <a:pt x="593963" y="476292"/>
                  </a:lnTo>
                  <a:lnTo>
                    <a:pt x="648869" y="467399"/>
                  </a:lnTo>
                  <a:lnTo>
                    <a:pt x="700666" y="455342"/>
                  </a:lnTo>
                  <a:lnTo>
                    <a:pt x="748907" y="440348"/>
                  </a:lnTo>
                  <a:lnTo>
                    <a:pt x="793145" y="422643"/>
                  </a:lnTo>
                  <a:lnTo>
                    <a:pt x="832934" y="402453"/>
                  </a:lnTo>
                  <a:lnTo>
                    <a:pt x="867827" y="380006"/>
                  </a:lnTo>
                  <a:lnTo>
                    <a:pt x="897377" y="355528"/>
                  </a:lnTo>
                  <a:lnTo>
                    <a:pt x="938663" y="301385"/>
                  </a:lnTo>
                  <a:lnTo>
                    <a:pt x="953219" y="241838"/>
                  </a:lnTo>
                  <a:lnTo>
                    <a:pt x="949506" y="211502"/>
                  </a:lnTo>
                  <a:lnTo>
                    <a:pt x="921138" y="154431"/>
                  </a:lnTo>
                  <a:lnTo>
                    <a:pt x="867827" y="103671"/>
                  </a:lnTo>
                  <a:lnTo>
                    <a:pt x="832934" y="81224"/>
                  </a:lnTo>
                  <a:lnTo>
                    <a:pt x="793145" y="61034"/>
                  </a:lnTo>
                  <a:lnTo>
                    <a:pt x="748907" y="43329"/>
                  </a:lnTo>
                  <a:lnTo>
                    <a:pt x="700666" y="28335"/>
                  </a:lnTo>
                  <a:lnTo>
                    <a:pt x="648869" y="16278"/>
                  </a:lnTo>
                  <a:lnTo>
                    <a:pt x="593963" y="7385"/>
                  </a:lnTo>
                  <a:lnTo>
                    <a:pt x="536394" y="1884"/>
                  </a:lnTo>
                  <a:lnTo>
                    <a:pt x="47660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70409" y="3896835"/>
              <a:ext cx="953769" cy="483870"/>
            </a:xfrm>
            <a:custGeom>
              <a:avLst/>
              <a:gdLst/>
              <a:ahLst/>
              <a:cxnLst/>
              <a:rect l="l" t="t" r="r" b="b"/>
              <a:pathLst>
                <a:path w="953769" h="483870">
                  <a:moveTo>
                    <a:pt x="0" y="241839"/>
                  </a:moveTo>
                  <a:lnTo>
                    <a:pt x="14556" y="182292"/>
                  </a:lnTo>
                  <a:lnTo>
                    <a:pt x="55842" y="128149"/>
                  </a:lnTo>
                  <a:lnTo>
                    <a:pt x="85392" y="103671"/>
                  </a:lnTo>
                  <a:lnTo>
                    <a:pt x="120285" y="81224"/>
                  </a:lnTo>
                  <a:lnTo>
                    <a:pt x="160074" y="61034"/>
                  </a:lnTo>
                  <a:lnTo>
                    <a:pt x="204312" y="43329"/>
                  </a:lnTo>
                  <a:lnTo>
                    <a:pt x="252553" y="28335"/>
                  </a:lnTo>
                  <a:lnTo>
                    <a:pt x="304349" y="16278"/>
                  </a:lnTo>
                  <a:lnTo>
                    <a:pt x="359255" y="7385"/>
                  </a:lnTo>
                  <a:lnTo>
                    <a:pt x="416824" y="1884"/>
                  </a:lnTo>
                  <a:lnTo>
                    <a:pt x="476609" y="0"/>
                  </a:lnTo>
                  <a:lnTo>
                    <a:pt x="536394" y="1884"/>
                  </a:lnTo>
                  <a:lnTo>
                    <a:pt x="593963" y="7385"/>
                  </a:lnTo>
                  <a:lnTo>
                    <a:pt x="648869" y="16278"/>
                  </a:lnTo>
                  <a:lnTo>
                    <a:pt x="700666" y="28335"/>
                  </a:lnTo>
                  <a:lnTo>
                    <a:pt x="748906" y="43329"/>
                  </a:lnTo>
                  <a:lnTo>
                    <a:pt x="793144" y="61034"/>
                  </a:lnTo>
                  <a:lnTo>
                    <a:pt x="832933" y="81224"/>
                  </a:lnTo>
                  <a:lnTo>
                    <a:pt x="867826" y="103671"/>
                  </a:lnTo>
                  <a:lnTo>
                    <a:pt x="897376" y="128149"/>
                  </a:lnTo>
                  <a:lnTo>
                    <a:pt x="938663" y="182292"/>
                  </a:lnTo>
                  <a:lnTo>
                    <a:pt x="953219" y="241839"/>
                  </a:lnTo>
                  <a:lnTo>
                    <a:pt x="949505" y="272175"/>
                  </a:lnTo>
                  <a:lnTo>
                    <a:pt x="921137" y="329246"/>
                  </a:lnTo>
                  <a:lnTo>
                    <a:pt x="867826" y="380007"/>
                  </a:lnTo>
                  <a:lnTo>
                    <a:pt x="832933" y="402454"/>
                  </a:lnTo>
                  <a:lnTo>
                    <a:pt x="793144" y="422644"/>
                  </a:lnTo>
                  <a:lnTo>
                    <a:pt x="748906" y="440349"/>
                  </a:lnTo>
                  <a:lnTo>
                    <a:pt x="700666" y="455343"/>
                  </a:lnTo>
                  <a:lnTo>
                    <a:pt x="648869" y="467400"/>
                  </a:lnTo>
                  <a:lnTo>
                    <a:pt x="593963" y="476292"/>
                  </a:lnTo>
                  <a:lnTo>
                    <a:pt x="536394" y="481794"/>
                  </a:lnTo>
                  <a:lnTo>
                    <a:pt x="476609" y="483678"/>
                  </a:lnTo>
                  <a:lnTo>
                    <a:pt x="416824" y="481794"/>
                  </a:lnTo>
                  <a:lnTo>
                    <a:pt x="359255" y="476292"/>
                  </a:lnTo>
                  <a:lnTo>
                    <a:pt x="304349" y="467400"/>
                  </a:lnTo>
                  <a:lnTo>
                    <a:pt x="252553" y="455343"/>
                  </a:lnTo>
                  <a:lnTo>
                    <a:pt x="204312" y="440349"/>
                  </a:lnTo>
                  <a:lnTo>
                    <a:pt x="160074" y="422644"/>
                  </a:lnTo>
                  <a:lnTo>
                    <a:pt x="120285" y="402454"/>
                  </a:lnTo>
                  <a:lnTo>
                    <a:pt x="85392" y="380007"/>
                  </a:lnTo>
                  <a:lnTo>
                    <a:pt x="55842" y="355529"/>
                  </a:lnTo>
                  <a:lnTo>
                    <a:pt x="14556" y="301386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31663" y="3989832"/>
            <a:ext cx="4470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da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558111" y="2786295"/>
            <a:ext cx="3687445" cy="1864995"/>
            <a:chOff x="1558111" y="2786295"/>
            <a:chExt cx="3687445" cy="1864995"/>
          </a:xfrm>
        </p:grpSpPr>
        <p:sp>
          <p:nvSpPr>
            <p:cNvPr id="54" name="object 54"/>
            <p:cNvSpPr/>
            <p:nvPr/>
          </p:nvSpPr>
          <p:spPr>
            <a:xfrm>
              <a:off x="1563191" y="4084161"/>
              <a:ext cx="454659" cy="561975"/>
            </a:xfrm>
            <a:custGeom>
              <a:avLst/>
              <a:gdLst/>
              <a:ahLst/>
              <a:cxnLst/>
              <a:rect l="l" t="t" r="r" b="b"/>
              <a:pathLst>
                <a:path w="454660" h="561975">
                  <a:moveTo>
                    <a:pt x="454246" y="0"/>
                  </a:moveTo>
                  <a:lnTo>
                    <a:pt x="0" y="561609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265686" y="3451607"/>
              <a:ext cx="410209" cy="368935"/>
            </a:xfrm>
            <a:custGeom>
              <a:avLst/>
              <a:gdLst/>
              <a:ahLst/>
              <a:cxnLst/>
              <a:rect l="l" t="t" r="r" b="b"/>
              <a:pathLst>
                <a:path w="410210" h="368935">
                  <a:moveTo>
                    <a:pt x="0" y="0"/>
                  </a:moveTo>
                  <a:lnTo>
                    <a:pt x="410119" y="36886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670425" y="2793069"/>
              <a:ext cx="1567815" cy="1147445"/>
            </a:xfrm>
            <a:custGeom>
              <a:avLst/>
              <a:gdLst/>
              <a:ahLst/>
              <a:cxnLst/>
              <a:rect l="l" t="t" r="r" b="b"/>
              <a:pathLst>
                <a:path w="1567814" h="1147445">
                  <a:moveTo>
                    <a:pt x="656769" y="698897"/>
                  </a:moveTo>
                  <a:lnTo>
                    <a:pt x="266334" y="698897"/>
                  </a:lnTo>
                  <a:lnTo>
                    <a:pt x="0" y="1146911"/>
                  </a:lnTo>
                  <a:lnTo>
                    <a:pt x="656769" y="698897"/>
                  </a:lnTo>
                  <a:close/>
                </a:path>
                <a:path w="1567814" h="1147445">
                  <a:moveTo>
                    <a:pt x="1451297" y="0"/>
                  </a:moveTo>
                  <a:lnTo>
                    <a:pt x="122529" y="0"/>
                  </a:lnTo>
                  <a:lnTo>
                    <a:pt x="77188" y="9154"/>
                  </a:lnTo>
                  <a:lnTo>
                    <a:pt x="40161" y="34117"/>
                  </a:lnTo>
                  <a:lnTo>
                    <a:pt x="15197" y="71144"/>
                  </a:lnTo>
                  <a:lnTo>
                    <a:pt x="6043" y="116485"/>
                  </a:lnTo>
                  <a:lnTo>
                    <a:pt x="6044" y="582414"/>
                  </a:lnTo>
                  <a:lnTo>
                    <a:pt x="15197" y="627753"/>
                  </a:lnTo>
                  <a:lnTo>
                    <a:pt x="40161" y="664779"/>
                  </a:lnTo>
                  <a:lnTo>
                    <a:pt x="77188" y="689743"/>
                  </a:lnTo>
                  <a:lnTo>
                    <a:pt x="122529" y="698897"/>
                  </a:lnTo>
                  <a:lnTo>
                    <a:pt x="1451297" y="698897"/>
                  </a:lnTo>
                  <a:lnTo>
                    <a:pt x="1496638" y="689743"/>
                  </a:lnTo>
                  <a:lnTo>
                    <a:pt x="1533664" y="664779"/>
                  </a:lnTo>
                  <a:lnTo>
                    <a:pt x="1558627" y="627753"/>
                  </a:lnTo>
                  <a:lnTo>
                    <a:pt x="1567781" y="582414"/>
                  </a:lnTo>
                  <a:lnTo>
                    <a:pt x="1567781" y="116485"/>
                  </a:lnTo>
                  <a:lnTo>
                    <a:pt x="1558627" y="71144"/>
                  </a:lnTo>
                  <a:lnTo>
                    <a:pt x="1533664" y="34117"/>
                  </a:lnTo>
                  <a:lnTo>
                    <a:pt x="1496638" y="9154"/>
                  </a:lnTo>
                  <a:lnTo>
                    <a:pt x="1451297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670425" y="2793069"/>
              <a:ext cx="1567815" cy="1147445"/>
            </a:xfrm>
            <a:custGeom>
              <a:avLst/>
              <a:gdLst/>
              <a:ahLst/>
              <a:cxnLst/>
              <a:rect l="l" t="t" r="r" b="b"/>
              <a:pathLst>
                <a:path w="1567814" h="1147445">
                  <a:moveTo>
                    <a:pt x="6044" y="116484"/>
                  </a:moveTo>
                  <a:lnTo>
                    <a:pt x="15198" y="71143"/>
                  </a:lnTo>
                  <a:lnTo>
                    <a:pt x="40161" y="34117"/>
                  </a:lnTo>
                  <a:lnTo>
                    <a:pt x="77187" y="9153"/>
                  </a:lnTo>
                  <a:lnTo>
                    <a:pt x="122529" y="0"/>
                  </a:lnTo>
                  <a:lnTo>
                    <a:pt x="266333" y="0"/>
                  </a:lnTo>
                  <a:lnTo>
                    <a:pt x="656768" y="0"/>
                  </a:lnTo>
                  <a:lnTo>
                    <a:pt x="1451297" y="0"/>
                  </a:lnTo>
                  <a:lnTo>
                    <a:pt x="1496638" y="9153"/>
                  </a:lnTo>
                  <a:lnTo>
                    <a:pt x="1533664" y="34117"/>
                  </a:lnTo>
                  <a:lnTo>
                    <a:pt x="1558628" y="71143"/>
                  </a:lnTo>
                  <a:lnTo>
                    <a:pt x="1567781" y="116484"/>
                  </a:lnTo>
                  <a:lnTo>
                    <a:pt x="1567781" y="407690"/>
                  </a:lnTo>
                  <a:lnTo>
                    <a:pt x="1567781" y="582413"/>
                  </a:lnTo>
                  <a:lnTo>
                    <a:pt x="1558628" y="627753"/>
                  </a:lnTo>
                  <a:lnTo>
                    <a:pt x="1533664" y="664779"/>
                  </a:lnTo>
                  <a:lnTo>
                    <a:pt x="1496638" y="689743"/>
                  </a:lnTo>
                  <a:lnTo>
                    <a:pt x="1451297" y="698897"/>
                  </a:lnTo>
                  <a:lnTo>
                    <a:pt x="656768" y="698897"/>
                  </a:lnTo>
                  <a:lnTo>
                    <a:pt x="0" y="1146911"/>
                  </a:lnTo>
                  <a:lnTo>
                    <a:pt x="266333" y="698897"/>
                  </a:lnTo>
                  <a:lnTo>
                    <a:pt x="122529" y="698897"/>
                  </a:lnTo>
                  <a:lnTo>
                    <a:pt x="77187" y="689743"/>
                  </a:lnTo>
                  <a:lnTo>
                    <a:pt x="40161" y="664779"/>
                  </a:lnTo>
                  <a:lnTo>
                    <a:pt x="15198" y="627753"/>
                  </a:lnTo>
                  <a:lnTo>
                    <a:pt x="6044" y="582412"/>
                  </a:lnTo>
                  <a:lnTo>
                    <a:pt x="6044" y="407690"/>
                  </a:lnTo>
                  <a:lnTo>
                    <a:pt x="6044" y="116484"/>
                  </a:lnTo>
                  <a:close/>
                </a:path>
              </a:pathLst>
            </a:custGeom>
            <a:ln w="13546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861285" y="2868167"/>
            <a:ext cx="1192530" cy="5410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354330">
              <a:lnSpc>
                <a:spcPts val="2020"/>
              </a:lnSpc>
              <a:spcBef>
                <a:spcPts val="180"/>
              </a:spcBef>
            </a:pPr>
            <a:r>
              <a:rPr sz="1700" spc="-40" dirty="0">
                <a:solidFill>
                  <a:srgbClr val="FFFFFF"/>
                </a:solidFill>
                <a:latin typeface="Arial MT"/>
                <a:cs typeface="Arial MT"/>
              </a:rPr>
              <a:t>Total </a:t>
            </a:r>
            <a:r>
              <a:rPr sz="17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pa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rt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c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pa</a:t>
            </a:r>
            <a:r>
              <a:rPr sz="1700" spc="5" dirty="0">
                <a:solidFill>
                  <a:srgbClr val="FFFFFF"/>
                </a:solidFill>
                <a:latin typeface="Arial MT"/>
                <a:cs typeface="Arial MT"/>
              </a:rPr>
              <a:t>t</a:t>
            </a:r>
            <a:r>
              <a:rPr sz="1700" spc="-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7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15911" y="5962904"/>
            <a:ext cx="9090025" cy="105600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29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Does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not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sufficient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attributes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form</a:t>
            </a:r>
            <a:r>
              <a:rPr sz="21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40" dirty="0">
                <a:solidFill>
                  <a:srgbClr val="292934"/>
                </a:solidFill>
                <a:latin typeface="Verdana"/>
                <a:cs typeface="Verdana"/>
              </a:rPr>
              <a:t>key.</a:t>
            </a:r>
            <a:endParaRPr sz="2100" dirty="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9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Depends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on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strong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is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associated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with.</a:t>
            </a:r>
            <a:endParaRPr sz="2100" dirty="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7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Needs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discriminator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primary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key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of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strong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set.</a:t>
            </a:r>
            <a:endParaRPr sz="2100" dirty="0">
              <a:latin typeface="Verdana"/>
              <a:cs typeface="Verdana"/>
            </a:endParaRPr>
          </a:p>
        </p:txBody>
      </p:sp>
      <p:pic>
        <p:nvPicPr>
          <p:cNvPr id="60" name="object 6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839" y="1261872"/>
            <a:ext cx="7757159" cy="1338072"/>
          </a:xfrm>
          <a:prstGeom prst="rect">
            <a:avLst/>
          </a:prstGeom>
        </p:spPr>
      </p:pic>
      <p:sp>
        <p:nvSpPr>
          <p:cNvPr id="61" name="object 61"/>
          <p:cNvSpPr txBox="1"/>
          <p:nvPr/>
        </p:nvSpPr>
        <p:spPr>
          <a:xfrm>
            <a:off x="2386124" y="1261327"/>
            <a:ext cx="7334884" cy="1050925"/>
          </a:xfrm>
          <a:prstGeom prst="rect">
            <a:avLst/>
          </a:prstGeom>
          <a:solidFill>
            <a:srgbClr val="FFFED6"/>
          </a:solidFill>
          <a:ln w="10159">
            <a:solidFill>
              <a:srgbClr val="7F7F7F"/>
            </a:solidFill>
          </a:ln>
        </p:spPr>
        <p:txBody>
          <a:bodyPr vert="horz" wrap="square" lIns="0" tIns="132715" rIns="0" bIns="0" rtlCol="0">
            <a:spAutoFit/>
          </a:bodyPr>
          <a:lstStyle/>
          <a:p>
            <a:pPr marL="227965" marR="206375" algn="ctr">
              <a:lnSpc>
                <a:spcPct val="90000"/>
              </a:lnSpc>
              <a:spcBef>
                <a:spcPts val="1045"/>
              </a:spcBef>
            </a:pP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By</a:t>
            </a:r>
            <a:r>
              <a:rPr sz="19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definition,</a:t>
            </a:r>
            <a:r>
              <a:rPr sz="1900" spc="3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there</a:t>
            </a:r>
            <a:r>
              <a:rPr sz="19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must</a:t>
            </a:r>
            <a:r>
              <a:rPr sz="19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1900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C00000"/>
                </a:solidFill>
                <a:latin typeface="Verdana"/>
                <a:cs typeface="Verdana"/>
              </a:rPr>
              <a:t>total</a:t>
            </a:r>
            <a:r>
              <a:rPr sz="19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participation</a:t>
            </a:r>
            <a:r>
              <a:rPr sz="1900" spc="4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between </a:t>
            </a:r>
            <a:r>
              <a:rPr sz="1900" spc="-6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19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weak</a:t>
            </a:r>
            <a:r>
              <a:rPr sz="19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r>
              <a:rPr sz="19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set</a:t>
            </a:r>
            <a:r>
              <a:rPr sz="19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19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92934"/>
                </a:solidFill>
                <a:latin typeface="Verdana"/>
                <a:cs typeface="Verdana"/>
              </a:rPr>
              <a:t>its</a:t>
            </a:r>
            <a:r>
              <a:rPr sz="1900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identifying</a:t>
            </a:r>
            <a:r>
              <a:rPr sz="1900" spc="5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relationship 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92934"/>
                </a:solidFill>
                <a:latin typeface="Verdana"/>
                <a:cs typeface="Verdana"/>
              </a:rPr>
              <a:t>“</a:t>
            </a:r>
            <a:r>
              <a:rPr sz="1900" spc="15" dirty="0">
                <a:solidFill>
                  <a:srgbClr val="C00000"/>
                </a:solidFill>
                <a:latin typeface="Verdana"/>
                <a:cs typeface="Verdana"/>
              </a:rPr>
              <a:t>existence</a:t>
            </a:r>
            <a:r>
              <a:rPr sz="1900" spc="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900" spc="20" dirty="0">
                <a:solidFill>
                  <a:srgbClr val="C00000"/>
                </a:solidFill>
                <a:latin typeface="Verdana"/>
                <a:cs typeface="Verdana"/>
              </a:rPr>
              <a:t>dependency</a:t>
            </a:r>
            <a:r>
              <a:rPr sz="1900" spc="20" dirty="0">
                <a:solidFill>
                  <a:srgbClr val="292934"/>
                </a:solidFill>
                <a:latin typeface="Verdana"/>
                <a:cs typeface="Verdana"/>
              </a:rPr>
              <a:t>”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 15"/>
          <p:cNvSpPr>
            <a:spLocks/>
          </p:cNvSpPr>
          <p:nvPr/>
        </p:nvSpPr>
        <p:spPr bwMode="auto">
          <a:xfrm>
            <a:off x="4263044" y="5212914"/>
            <a:ext cx="2014494" cy="1143436"/>
          </a:xfrm>
          <a:custGeom>
            <a:avLst/>
            <a:gdLst>
              <a:gd name="T0" fmla="*/ 0 w 789"/>
              <a:gd name="T1" fmla="*/ 196 h 392"/>
              <a:gd name="T2" fmla="*/ 394 w 789"/>
              <a:gd name="T3" fmla="*/ 0 h 392"/>
              <a:gd name="T4" fmla="*/ 788 w 789"/>
              <a:gd name="T5" fmla="*/ 196 h 392"/>
              <a:gd name="T6" fmla="*/ 394 w 789"/>
              <a:gd name="T7" fmla="*/ 391 h 392"/>
              <a:gd name="T8" fmla="*/ 0 w 789"/>
              <a:gd name="T9" fmla="*/ 196 h 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9"/>
              <a:gd name="T16" fmla="*/ 0 h 392"/>
              <a:gd name="T17" fmla="*/ 789 w 789"/>
              <a:gd name="T18" fmla="*/ 392 h 3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89" h="392">
                <a:moveTo>
                  <a:pt x="0" y="196"/>
                </a:moveTo>
                <a:lnTo>
                  <a:pt x="394" y="0"/>
                </a:lnTo>
                <a:lnTo>
                  <a:pt x="788" y="196"/>
                </a:lnTo>
                <a:lnTo>
                  <a:pt x="394" y="391"/>
                </a:lnTo>
                <a:lnTo>
                  <a:pt x="0" y="196"/>
                </a:lnTo>
              </a:path>
            </a:pathLst>
          </a:custGeom>
          <a:solidFill>
            <a:schemeClr val="bg1">
              <a:lumMod val="85000"/>
            </a:schemeClr>
          </a:solidFill>
          <a:ln w="5080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zh-CN" sz="1485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4293" y="283244"/>
            <a:ext cx="7920990" cy="630942"/>
          </a:xfrm>
        </p:spPr>
        <p:txBody>
          <a:bodyPr/>
          <a:lstStyle/>
          <a:p>
            <a:r>
              <a:rPr lang="en-US" altLang="zh-CN" dirty="0"/>
              <a:t>Weak Entity Set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6982"/>
            <a:ext cx="9356798" cy="245807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Entity sets are weak when their </a:t>
            </a:r>
            <a:r>
              <a:rPr lang="en-US" altLang="zh-CN" u="sng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key attributes 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come from </a:t>
            </a:r>
            <a:r>
              <a:rPr lang="en-US" altLang="zh-CN" u="sng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other classes 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which they are related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This happens if:</a:t>
            </a:r>
          </a:p>
          <a:p>
            <a:pPr lvl="2">
              <a:lnSpc>
                <a:spcPct val="120000"/>
              </a:lnSpc>
              <a:spcBef>
                <a:spcPct val="0"/>
              </a:spcBef>
            </a:pPr>
            <a:r>
              <a:rPr lang="en-US" altLang="zh-CN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part-of hierarchies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Diamond with double border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lang="en-US" altLang="zh-CN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an attribute of it is a part of the key, underline it</a:t>
            </a:r>
          </a:p>
          <a:p>
            <a:pPr>
              <a:lnSpc>
                <a:spcPct val="120000"/>
              </a:lnSpc>
            </a:pPr>
            <a:endParaRPr lang="zh-CN" altLang="en-US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EA73CC8-1FB2-4026-8376-D74F350192CA}" type="slidenum">
              <a:rPr lang="en-US" smtClean="0"/>
              <a:pPr>
                <a:defRPr/>
              </a:pPr>
              <a:t>30</a:t>
            </a:fld>
            <a:endParaRPr lang="zh-CN" altLang="en-US" dirty="0"/>
          </a:p>
        </p:txBody>
      </p:sp>
      <p:grpSp>
        <p:nvGrpSpPr>
          <p:cNvPr id="21" name="Group 34"/>
          <p:cNvGrpSpPr>
            <a:grpSpLocks/>
          </p:cNvGrpSpPr>
          <p:nvPr/>
        </p:nvGrpSpPr>
        <p:grpSpPr bwMode="auto">
          <a:xfrm>
            <a:off x="1541708" y="4379952"/>
            <a:ext cx="6712148" cy="1836181"/>
            <a:chOff x="313" y="2779"/>
            <a:chExt cx="5125" cy="1402"/>
          </a:xfrm>
        </p:grpSpPr>
        <p:sp>
          <p:nvSpPr>
            <p:cNvPr id="22" name="Freeform 6"/>
            <p:cNvSpPr>
              <a:spLocks/>
            </p:cNvSpPr>
            <p:nvPr/>
          </p:nvSpPr>
          <p:spPr bwMode="auto">
            <a:xfrm>
              <a:off x="3637" y="3014"/>
              <a:ext cx="835" cy="393"/>
            </a:xfrm>
            <a:custGeom>
              <a:avLst/>
              <a:gdLst>
                <a:gd name="T0" fmla="*/ 788 w 790"/>
                <a:gd name="T1" fmla="*/ 153 h 334"/>
                <a:gd name="T2" fmla="*/ 775 w 790"/>
                <a:gd name="T3" fmla="*/ 124 h 334"/>
                <a:gd name="T4" fmla="*/ 752 w 790"/>
                <a:gd name="T5" fmla="*/ 97 h 334"/>
                <a:gd name="T6" fmla="*/ 718 w 790"/>
                <a:gd name="T7" fmla="*/ 71 h 334"/>
                <a:gd name="T8" fmla="*/ 674 w 790"/>
                <a:gd name="T9" fmla="*/ 50 h 334"/>
                <a:gd name="T10" fmla="*/ 621 w 790"/>
                <a:gd name="T11" fmla="*/ 30 h 334"/>
                <a:gd name="T12" fmla="*/ 561 w 790"/>
                <a:gd name="T13" fmla="*/ 17 h 334"/>
                <a:gd name="T14" fmla="*/ 497 w 790"/>
                <a:gd name="T15" fmla="*/ 6 h 334"/>
                <a:gd name="T16" fmla="*/ 429 w 790"/>
                <a:gd name="T17" fmla="*/ 1 h 334"/>
                <a:gd name="T18" fmla="*/ 360 w 790"/>
                <a:gd name="T19" fmla="*/ 1 h 334"/>
                <a:gd name="T20" fmla="*/ 293 w 790"/>
                <a:gd name="T21" fmla="*/ 6 h 334"/>
                <a:gd name="T22" fmla="*/ 228 w 790"/>
                <a:gd name="T23" fmla="*/ 17 h 334"/>
                <a:gd name="T24" fmla="*/ 169 w 790"/>
                <a:gd name="T25" fmla="*/ 30 h 334"/>
                <a:gd name="T26" fmla="*/ 116 w 790"/>
                <a:gd name="T27" fmla="*/ 50 h 334"/>
                <a:gd name="T28" fmla="*/ 72 w 790"/>
                <a:gd name="T29" fmla="*/ 71 h 334"/>
                <a:gd name="T30" fmla="*/ 38 w 790"/>
                <a:gd name="T31" fmla="*/ 97 h 334"/>
                <a:gd name="T32" fmla="*/ 14 w 790"/>
                <a:gd name="T33" fmla="*/ 124 h 334"/>
                <a:gd name="T34" fmla="*/ 2 w 790"/>
                <a:gd name="T35" fmla="*/ 153 h 334"/>
                <a:gd name="T36" fmla="*/ 2 w 790"/>
                <a:gd name="T37" fmla="*/ 181 h 334"/>
                <a:gd name="T38" fmla="*/ 14 w 790"/>
                <a:gd name="T39" fmla="*/ 210 h 334"/>
                <a:gd name="T40" fmla="*/ 38 w 790"/>
                <a:gd name="T41" fmla="*/ 237 h 334"/>
                <a:gd name="T42" fmla="*/ 72 w 790"/>
                <a:gd name="T43" fmla="*/ 262 h 334"/>
                <a:gd name="T44" fmla="*/ 116 w 790"/>
                <a:gd name="T45" fmla="*/ 284 h 334"/>
                <a:gd name="T46" fmla="*/ 169 w 790"/>
                <a:gd name="T47" fmla="*/ 303 h 334"/>
                <a:gd name="T48" fmla="*/ 228 w 790"/>
                <a:gd name="T49" fmla="*/ 317 h 334"/>
                <a:gd name="T50" fmla="*/ 293 w 790"/>
                <a:gd name="T51" fmla="*/ 327 h 334"/>
                <a:gd name="T52" fmla="*/ 360 w 790"/>
                <a:gd name="T53" fmla="*/ 332 h 334"/>
                <a:gd name="T54" fmla="*/ 429 w 790"/>
                <a:gd name="T55" fmla="*/ 332 h 334"/>
                <a:gd name="T56" fmla="*/ 497 w 790"/>
                <a:gd name="T57" fmla="*/ 327 h 334"/>
                <a:gd name="T58" fmla="*/ 561 w 790"/>
                <a:gd name="T59" fmla="*/ 317 h 334"/>
                <a:gd name="T60" fmla="*/ 621 w 790"/>
                <a:gd name="T61" fmla="*/ 303 h 334"/>
                <a:gd name="T62" fmla="*/ 674 w 790"/>
                <a:gd name="T63" fmla="*/ 284 h 334"/>
                <a:gd name="T64" fmla="*/ 718 w 790"/>
                <a:gd name="T65" fmla="*/ 262 h 334"/>
                <a:gd name="T66" fmla="*/ 752 w 790"/>
                <a:gd name="T67" fmla="*/ 237 h 334"/>
                <a:gd name="T68" fmla="*/ 775 w 790"/>
                <a:gd name="T69" fmla="*/ 210 h 334"/>
                <a:gd name="T70" fmla="*/ 788 w 790"/>
                <a:gd name="T71" fmla="*/ 181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90"/>
                <a:gd name="T109" fmla="*/ 0 h 334"/>
                <a:gd name="T110" fmla="*/ 790 w 790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90" h="334">
                  <a:moveTo>
                    <a:pt x="789" y="167"/>
                  </a:moveTo>
                  <a:lnTo>
                    <a:pt x="788" y="153"/>
                  </a:lnTo>
                  <a:lnTo>
                    <a:pt x="783" y="138"/>
                  </a:lnTo>
                  <a:lnTo>
                    <a:pt x="775" y="124"/>
                  </a:lnTo>
                  <a:lnTo>
                    <a:pt x="765" y="110"/>
                  </a:lnTo>
                  <a:lnTo>
                    <a:pt x="752" y="97"/>
                  </a:lnTo>
                  <a:lnTo>
                    <a:pt x="736" y="83"/>
                  </a:lnTo>
                  <a:lnTo>
                    <a:pt x="718" y="71"/>
                  </a:lnTo>
                  <a:lnTo>
                    <a:pt x="697" y="60"/>
                  </a:lnTo>
                  <a:lnTo>
                    <a:pt x="674" y="50"/>
                  </a:lnTo>
                  <a:lnTo>
                    <a:pt x="648" y="40"/>
                  </a:lnTo>
                  <a:lnTo>
                    <a:pt x="621" y="30"/>
                  </a:lnTo>
                  <a:lnTo>
                    <a:pt x="592" y="23"/>
                  </a:lnTo>
                  <a:lnTo>
                    <a:pt x="561" y="17"/>
                  </a:lnTo>
                  <a:lnTo>
                    <a:pt x="529" y="10"/>
                  </a:lnTo>
                  <a:lnTo>
                    <a:pt x="497" y="6"/>
                  </a:lnTo>
                  <a:lnTo>
                    <a:pt x="463" y="3"/>
                  </a:lnTo>
                  <a:lnTo>
                    <a:pt x="429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3" y="6"/>
                  </a:lnTo>
                  <a:lnTo>
                    <a:pt x="260" y="10"/>
                  </a:lnTo>
                  <a:lnTo>
                    <a:pt x="228" y="17"/>
                  </a:lnTo>
                  <a:lnTo>
                    <a:pt x="197" y="23"/>
                  </a:lnTo>
                  <a:lnTo>
                    <a:pt x="169" y="30"/>
                  </a:lnTo>
                  <a:lnTo>
                    <a:pt x="142" y="40"/>
                  </a:lnTo>
                  <a:lnTo>
                    <a:pt x="116" y="50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4" y="83"/>
                  </a:lnTo>
                  <a:lnTo>
                    <a:pt x="38" y="97"/>
                  </a:lnTo>
                  <a:lnTo>
                    <a:pt x="24" y="110"/>
                  </a:lnTo>
                  <a:lnTo>
                    <a:pt x="14" y="124"/>
                  </a:lnTo>
                  <a:lnTo>
                    <a:pt x="7" y="138"/>
                  </a:lnTo>
                  <a:lnTo>
                    <a:pt x="2" y="153"/>
                  </a:lnTo>
                  <a:lnTo>
                    <a:pt x="0" y="167"/>
                  </a:lnTo>
                  <a:lnTo>
                    <a:pt x="2" y="181"/>
                  </a:lnTo>
                  <a:lnTo>
                    <a:pt x="7" y="196"/>
                  </a:lnTo>
                  <a:lnTo>
                    <a:pt x="14" y="210"/>
                  </a:lnTo>
                  <a:lnTo>
                    <a:pt x="24" y="224"/>
                  </a:lnTo>
                  <a:lnTo>
                    <a:pt x="38" y="237"/>
                  </a:lnTo>
                  <a:lnTo>
                    <a:pt x="54" y="250"/>
                  </a:lnTo>
                  <a:lnTo>
                    <a:pt x="72" y="262"/>
                  </a:lnTo>
                  <a:lnTo>
                    <a:pt x="93" y="274"/>
                  </a:lnTo>
                  <a:lnTo>
                    <a:pt x="116" y="284"/>
                  </a:lnTo>
                  <a:lnTo>
                    <a:pt x="142" y="294"/>
                  </a:lnTo>
                  <a:lnTo>
                    <a:pt x="169" y="303"/>
                  </a:lnTo>
                  <a:lnTo>
                    <a:pt x="197" y="311"/>
                  </a:lnTo>
                  <a:lnTo>
                    <a:pt x="228" y="317"/>
                  </a:lnTo>
                  <a:lnTo>
                    <a:pt x="260" y="323"/>
                  </a:lnTo>
                  <a:lnTo>
                    <a:pt x="293" y="327"/>
                  </a:lnTo>
                  <a:lnTo>
                    <a:pt x="326" y="331"/>
                  </a:lnTo>
                  <a:lnTo>
                    <a:pt x="360" y="332"/>
                  </a:lnTo>
                  <a:lnTo>
                    <a:pt x="394" y="333"/>
                  </a:lnTo>
                  <a:lnTo>
                    <a:pt x="429" y="332"/>
                  </a:lnTo>
                  <a:lnTo>
                    <a:pt x="463" y="331"/>
                  </a:lnTo>
                  <a:lnTo>
                    <a:pt x="497" y="327"/>
                  </a:lnTo>
                  <a:lnTo>
                    <a:pt x="529" y="323"/>
                  </a:lnTo>
                  <a:lnTo>
                    <a:pt x="561" y="317"/>
                  </a:lnTo>
                  <a:lnTo>
                    <a:pt x="592" y="311"/>
                  </a:lnTo>
                  <a:lnTo>
                    <a:pt x="621" y="303"/>
                  </a:lnTo>
                  <a:lnTo>
                    <a:pt x="648" y="294"/>
                  </a:lnTo>
                  <a:lnTo>
                    <a:pt x="674" y="284"/>
                  </a:lnTo>
                  <a:lnTo>
                    <a:pt x="697" y="274"/>
                  </a:lnTo>
                  <a:lnTo>
                    <a:pt x="718" y="262"/>
                  </a:lnTo>
                  <a:lnTo>
                    <a:pt x="736" y="250"/>
                  </a:lnTo>
                  <a:lnTo>
                    <a:pt x="752" y="237"/>
                  </a:lnTo>
                  <a:lnTo>
                    <a:pt x="765" y="224"/>
                  </a:lnTo>
                  <a:lnTo>
                    <a:pt x="775" y="210"/>
                  </a:lnTo>
                  <a:lnTo>
                    <a:pt x="783" y="196"/>
                  </a:lnTo>
                  <a:lnTo>
                    <a:pt x="788" y="181"/>
                  </a:lnTo>
                  <a:lnTo>
                    <a:pt x="789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23" name="Freeform 7"/>
            <p:cNvSpPr>
              <a:spLocks/>
            </p:cNvSpPr>
            <p:nvPr/>
          </p:nvSpPr>
          <p:spPr bwMode="auto">
            <a:xfrm>
              <a:off x="4648" y="3083"/>
              <a:ext cx="790" cy="334"/>
            </a:xfrm>
            <a:custGeom>
              <a:avLst/>
              <a:gdLst>
                <a:gd name="T0" fmla="*/ 2 w 790"/>
                <a:gd name="T1" fmla="*/ 181 h 334"/>
                <a:gd name="T2" fmla="*/ 13 w 790"/>
                <a:gd name="T3" fmla="*/ 210 h 334"/>
                <a:gd name="T4" fmla="*/ 38 w 790"/>
                <a:gd name="T5" fmla="*/ 237 h 334"/>
                <a:gd name="T6" fmla="*/ 72 w 790"/>
                <a:gd name="T7" fmla="*/ 262 h 334"/>
                <a:gd name="T8" fmla="*/ 116 w 790"/>
                <a:gd name="T9" fmla="*/ 284 h 334"/>
                <a:gd name="T10" fmla="*/ 169 w 790"/>
                <a:gd name="T11" fmla="*/ 303 h 334"/>
                <a:gd name="T12" fmla="*/ 228 w 790"/>
                <a:gd name="T13" fmla="*/ 317 h 334"/>
                <a:gd name="T14" fmla="*/ 293 w 790"/>
                <a:gd name="T15" fmla="*/ 327 h 334"/>
                <a:gd name="T16" fmla="*/ 360 w 790"/>
                <a:gd name="T17" fmla="*/ 332 h 334"/>
                <a:gd name="T18" fmla="*/ 429 w 790"/>
                <a:gd name="T19" fmla="*/ 332 h 334"/>
                <a:gd name="T20" fmla="*/ 497 w 790"/>
                <a:gd name="T21" fmla="*/ 327 h 334"/>
                <a:gd name="T22" fmla="*/ 561 w 790"/>
                <a:gd name="T23" fmla="*/ 317 h 334"/>
                <a:gd name="T24" fmla="*/ 621 w 790"/>
                <a:gd name="T25" fmla="*/ 303 h 334"/>
                <a:gd name="T26" fmla="*/ 673 w 790"/>
                <a:gd name="T27" fmla="*/ 284 h 334"/>
                <a:gd name="T28" fmla="*/ 717 w 790"/>
                <a:gd name="T29" fmla="*/ 262 h 334"/>
                <a:gd name="T30" fmla="*/ 752 w 790"/>
                <a:gd name="T31" fmla="*/ 237 h 334"/>
                <a:gd name="T32" fmla="*/ 775 w 790"/>
                <a:gd name="T33" fmla="*/ 210 h 334"/>
                <a:gd name="T34" fmla="*/ 787 w 790"/>
                <a:gd name="T35" fmla="*/ 181 h 334"/>
                <a:gd name="T36" fmla="*/ 787 w 790"/>
                <a:gd name="T37" fmla="*/ 152 h 334"/>
                <a:gd name="T38" fmla="*/ 775 w 790"/>
                <a:gd name="T39" fmla="*/ 124 h 334"/>
                <a:gd name="T40" fmla="*/ 751 w 790"/>
                <a:gd name="T41" fmla="*/ 97 h 334"/>
                <a:gd name="T42" fmla="*/ 717 w 790"/>
                <a:gd name="T43" fmla="*/ 71 h 334"/>
                <a:gd name="T44" fmla="*/ 673 w 790"/>
                <a:gd name="T45" fmla="*/ 49 h 334"/>
                <a:gd name="T46" fmla="*/ 620 w 790"/>
                <a:gd name="T47" fmla="*/ 30 h 334"/>
                <a:gd name="T48" fmla="*/ 561 w 790"/>
                <a:gd name="T49" fmla="*/ 16 h 334"/>
                <a:gd name="T50" fmla="*/ 496 w 790"/>
                <a:gd name="T51" fmla="*/ 6 h 334"/>
                <a:gd name="T52" fmla="*/ 429 w 790"/>
                <a:gd name="T53" fmla="*/ 1 h 334"/>
                <a:gd name="T54" fmla="*/ 360 w 790"/>
                <a:gd name="T55" fmla="*/ 1 h 334"/>
                <a:gd name="T56" fmla="*/ 293 w 790"/>
                <a:gd name="T57" fmla="*/ 7 h 334"/>
                <a:gd name="T58" fmla="*/ 228 w 790"/>
                <a:gd name="T59" fmla="*/ 16 h 334"/>
                <a:gd name="T60" fmla="*/ 169 w 790"/>
                <a:gd name="T61" fmla="*/ 30 h 334"/>
                <a:gd name="T62" fmla="*/ 116 w 790"/>
                <a:gd name="T63" fmla="*/ 50 h 334"/>
                <a:gd name="T64" fmla="*/ 72 w 790"/>
                <a:gd name="T65" fmla="*/ 71 h 334"/>
                <a:gd name="T66" fmla="*/ 38 w 790"/>
                <a:gd name="T67" fmla="*/ 97 h 334"/>
                <a:gd name="T68" fmla="*/ 13 w 790"/>
                <a:gd name="T69" fmla="*/ 124 h 334"/>
                <a:gd name="T70" fmla="*/ 2 w 790"/>
                <a:gd name="T71" fmla="*/ 152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90"/>
                <a:gd name="T109" fmla="*/ 0 h 334"/>
                <a:gd name="T110" fmla="*/ 790 w 790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90" h="334">
                  <a:moveTo>
                    <a:pt x="0" y="167"/>
                  </a:moveTo>
                  <a:lnTo>
                    <a:pt x="2" y="181"/>
                  </a:lnTo>
                  <a:lnTo>
                    <a:pt x="6" y="196"/>
                  </a:lnTo>
                  <a:lnTo>
                    <a:pt x="13" y="210"/>
                  </a:lnTo>
                  <a:lnTo>
                    <a:pt x="24" y="224"/>
                  </a:lnTo>
                  <a:lnTo>
                    <a:pt x="38" y="237"/>
                  </a:lnTo>
                  <a:lnTo>
                    <a:pt x="53" y="250"/>
                  </a:lnTo>
                  <a:lnTo>
                    <a:pt x="72" y="262"/>
                  </a:lnTo>
                  <a:lnTo>
                    <a:pt x="93" y="274"/>
                  </a:lnTo>
                  <a:lnTo>
                    <a:pt x="116" y="284"/>
                  </a:lnTo>
                  <a:lnTo>
                    <a:pt x="141" y="294"/>
                  </a:lnTo>
                  <a:lnTo>
                    <a:pt x="169" y="303"/>
                  </a:lnTo>
                  <a:lnTo>
                    <a:pt x="197" y="311"/>
                  </a:lnTo>
                  <a:lnTo>
                    <a:pt x="228" y="317"/>
                  </a:lnTo>
                  <a:lnTo>
                    <a:pt x="259" y="323"/>
                  </a:lnTo>
                  <a:lnTo>
                    <a:pt x="293" y="327"/>
                  </a:lnTo>
                  <a:lnTo>
                    <a:pt x="326" y="331"/>
                  </a:lnTo>
                  <a:lnTo>
                    <a:pt x="360" y="332"/>
                  </a:lnTo>
                  <a:lnTo>
                    <a:pt x="394" y="333"/>
                  </a:lnTo>
                  <a:lnTo>
                    <a:pt x="429" y="332"/>
                  </a:lnTo>
                  <a:lnTo>
                    <a:pt x="463" y="331"/>
                  </a:lnTo>
                  <a:lnTo>
                    <a:pt x="497" y="327"/>
                  </a:lnTo>
                  <a:lnTo>
                    <a:pt x="529" y="323"/>
                  </a:lnTo>
                  <a:lnTo>
                    <a:pt x="561" y="317"/>
                  </a:lnTo>
                  <a:lnTo>
                    <a:pt x="591" y="311"/>
                  </a:lnTo>
                  <a:lnTo>
                    <a:pt x="621" y="303"/>
                  </a:lnTo>
                  <a:lnTo>
                    <a:pt x="648" y="294"/>
                  </a:lnTo>
                  <a:lnTo>
                    <a:pt x="673" y="284"/>
                  </a:lnTo>
                  <a:lnTo>
                    <a:pt x="696" y="274"/>
                  </a:lnTo>
                  <a:lnTo>
                    <a:pt x="717" y="262"/>
                  </a:lnTo>
                  <a:lnTo>
                    <a:pt x="736" y="250"/>
                  </a:lnTo>
                  <a:lnTo>
                    <a:pt x="752" y="237"/>
                  </a:lnTo>
                  <a:lnTo>
                    <a:pt x="765" y="224"/>
                  </a:lnTo>
                  <a:lnTo>
                    <a:pt x="775" y="210"/>
                  </a:lnTo>
                  <a:lnTo>
                    <a:pt x="782" y="195"/>
                  </a:lnTo>
                  <a:lnTo>
                    <a:pt x="787" y="181"/>
                  </a:lnTo>
                  <a:lnTo>
                    <a:pt x="789" y="167"/>
                  </a:lnTo>
                  <a:lnTo>
                    <a:pt x="787" y="152"/>
                  </a:lnTo>
                  <a:lnTo>
                    <a:pt x="782" y="137"/>
                  </a:lnTo>
                  <a:lnTo>
                    <a:pt x="775" y="124"/>
                  </a:lnTo>
                  <a:lnTo>
                    <a:pt x="765" y="110"/>
                  </a:lnTo>
                  <a:lnTo>
                    <a:pt x="751" y="97"/>
                  </a:lnTo>
                  <a:lnTo>
                    <a:pt x="736" y="83"/>
                  </a:lnTo>
                  <a:lnTo>
                    <a:pt x="717" y="71"/>
                  </a:lnTo>
                  <a:lnTo>
                    <a:pt x="696" y="60"/>
                  </a:lnTo>
                  <a:lnTo>
                    <a:pt x="673" y="49"/>
                  </a:lnTo>
                  <a:lnTo>
                    <a:pt x="648" y="40"/>
                  </a:lnTo>
                  <a:lnTo>
                    <a:pt x="620" y="30"/>
                  </a:lnTo>
                  <a:lnTo>
                    <a:pt x="591" y="23"/>
                  </a:lnTo>
                  <a:lnTo>
                    <a:pt x="561" y="16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3" y="3"/>
                  </a:lnTo>
                  <a:lnTo>
                    <a:pt x="429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3" y="7"/>
                  </a:lnTo>
                  <a:lnTo>
                    <a:pt x="259" y="10"/>
                  </a:lnTo>
                  <a:lnTo>
                    <a:pt x="228" y="16"/>
                  </a:lnTo>
                  <a:lnTo>
                    <a:pt x="197" y="23"/>
                  </a:lnTo>
                  <a:lnTo>
                    <a:pt x="169" y="30"/>
                  </a:lnTo>
                  <a:lnTo>
                    <a:pt x="141" y="40"/>
                  </a:lnTo>
                  <a:lnTo>
                    <a:pt x="116" y="50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3" y="83"/>
                  </a:lnTo>
                  <a:lnTo>
                    <a:pt x="38" y="97"/>
                  </a:lnTo>
                  <a:lnTo>
                    <a:pt x="24" y="110"/>
                  </a:lnTo>
                  <a:lnTo>
                    <a:pt x="13" y="124"/>
                  </a:lnTo>
                  <a:lnTo>
                    <a:pt x="6" y="138"/>
                  </a:lnTo>
                  <a:lnTo>
                    <a:pt x="2" y="152"/>
                  </a:lnTo>
                  <a:lnTo>
                    <a:pt x="0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24" name="Freeform 8"/>
            <p:cNvSpPr>
              <a:spLocks/>
            </p:cNvSpPr>
            <p:nvPr/>
          </p:nvSpPr>
          <p:spPr bwMode="auto">
            <a:xfrm>
              <a:off x="313" y="3093"/>
              <a:ext cx="790" cy="334"/>
            </a:xfrm>
            <a:custGeom>
              <a:avLst/>
              <a:gdLst>
                <a:gd name="T0" fmla="*/ 787 w 790"/>
                <a:gd name="T1" fmla="*/ 152 h 334"/>
                <a:gd name="T2" fmla="*/ 776 w 790"/>
                <a:gd name="T3" fmla="*/ 124 h 334"/>
                <a:gd name="T4" fmla="*/ 752 w 790"/>
                <a:gd name="T5" fmla="*/ 96 h 334"/>
                <a:gd name="T6" fmla="*/ 717 w 790"/>
                <a:gd name="T7" fmla="*/ 71 h 334"/>
                <a:gd name="T8" fmla="*/ 673 w 790"/>
                <a:gd name="T9" fmla="*/ 49 h 334"/>
                <a:gd name="T10" fmla="*/ 620 w 790"/>
                <a:gd name="T11" fmla="*/ 30 h 334"/>
                <a:gd name="T12" fmla="*/ 561 w 790"/>
                <a:gd name="T13" fmla="*/ 16 h 334"/>
                <a:gd name="T14" fmla="*/ 497 w 790"/>
                <a:gd name="T15" fmla="*/ 6 h 334"/>
                <a:gd name="T16" fmla="*/ 429 w 790"/>
                <a:gd name="T17" fmla="*/ 1 h 334"/>
                <a:gd name="T18" fmla="*/ 360 w 790"/>
                <a:gd name="T19" fmla="*/ 1 h 334"/>
                <a:gd name="T20" fmla="*/ 293 w 790"/>
                <a:gd name="T21" fmla="*/ 6 h 334"/>
                <a:gd name="T22" fmla="*/ 228 w 790"/>
                <a:gd name="T23" fmla="*/ 16 h 334"/>
                <a:gd name="T24" fmla="*/ 169 w 790"/>
                <a:gd name="T25" fmla="*/ 30 h 334"/>
                <a:gd name="T26" fmla="*/ 116 w 790"/>
                <a:gd name="T27" fmla="*/ 49 h 334"/>
                <a:gd name="T28" fmla="*/ 72 w 790"/>
                <a:gd name="T29" fmla="*/ 71 h 334"/>
                <a:gd name="T30" fmla="*/ 38 w 790"/>
                <a:gd name="T31" fmla="*/ 96 h 334"/>
                <a:gd name="T32" fmla="*/ 14 w 790"/>
                <a:gd name="T33" fmla="*/ 124 h 334"/>
                <a:gd name="T34" fmla="*/ 2 w 790"/>
                <a:gd name="T35" fmla="*/ 152 h 334"/>
                <a:gd name="T36" fmla="*/ 2 w 790"/>
                <a:gd name="T37" fmla="*/ 181 h 334"/>
                <a:gd name="T38" fmla="*/ 14 w 790"/>
                <a:gd name="T39" fmla="*/ 210 h 334"/>
                <a:gd name="T40" fmla="*/ 38 w 790"/>
                <a:gd name="T41" fmla="*/ 237 h 334"/>
                <a:gd name="T42" fmla="*/ 72 w 790"/>
                <a:gd name="T43" fmla="*/ 262 h 334"/>
                <a:gd name="T44" fmla="*/ 116 w 790"/>
                <a:gd name="T45" fmla="*/ 284 h 334"/>
                <a:gd name="T46" fmla="*/ 169 w 790"/>
                <a:gd name="T47" fmla="*/ 303 h 334"/>
                <a:gd name="T48" fmla="*/ 228 w 790"/>
                <a:gd name="T49" fmla="*/ 317 h 334"/>
                <a:gd name="T50" fmla="*/ 293 w 790"/>
                <a:gd name="T51" fmla="*/ 327 h 334"/>
                <a:gd name="T52" fmla="*/ 360 w 790"/>
                <a:gd name="T53" fmla="*/ 332 h 334"/>
                <a:gd name="T54" fmla="*/ 429 w 790"/>
                <a:gd name="T55" fmla="*/ 332 h 334"/>
                <a:gd name="T56" fmla="*/ 497 w 790"/>
                <a:gd name="T57" fmla="*/ 327 h 334"/>
                <a:gd name="T58" fmla="*/ 561 w 790"/>
                <a:gd name="T59" fmla="*/ 317 h 334"/>
                <a:gd name="T60" fmla="*/ 620 w 790"/>
                <a:gd name="T61" fmla="*/ 303 h 334"/>
                <a:gd name="T62" fmla="*/ 673 w 790"/>
                <a:gd name="T63" fmla="*/ 284 h 334"/>
                <a:gd name="T64" fmla="*/ 717 w 790"/>
                <a:gd name="T65" fmla="*/ 262 h 334"/>
                <a:gd name="T66" fmla="*/ 752 w 790"/>
                <a:gd name="T67" fmla="*/ 237 h 334"/>
                <a:gd name="T68" fmla="*/ 776 w 790"/>
                <a:gd name="T69" fmla="*/ 210 h 334"/>
                <a:gd name="T70" fmla="*/ 787 w 790"/>
                <a:gd name="T71" fmla="*/ 181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90"/>
                <a:gd name="T109" fmla="*/ 0 h 334"/>
                <a:gd name="T110" fmla="*/ 790 w 790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90" h="334">
                  <a:moveTo>
                    <a:pt x="789" y="167"/>
                  </a:moveTo>
                  <a:lnTo>
                    <a:pt x="787" y="152"/>
                  </a:lnTo>
                  <a:lnTo>
                    <a:pt x="783" y="137"/>
                  </a:lnTo>
                  <a:lnTo>
                    <a:pt x="776" y="124"/>
                  </a:lnTo>
                  <a:lnTo>
                    <a:pt x="765" y="110"/>
                  </a:lnTo>
                  <a:lnTo>
                    <a:pt x="752" y="96"/>
                  </a:lnTo>
                  <a:lnTo>
                    <a:pt x="736" y="83"/>
                  </a:lnTo>
                  <a:lnTo>
                    <a:pt x="717" y="71"/>
                  </a:lnTo>
                  <a:lnTo>
                    <a:pt x="696" y="60"/>
                  </a:lnTo>
                  <a:lnTo>
                    <a:pt x="673" y="49"/>
                  </a:lnTo>
                  <a:lnTo>
                    <a:pt x="648" y="39"/>
                  </a:lnTo>
                  <a:lnTo>
                    <a:pt x="620" y="30"/>
                  </a:lnTo>
                  <a:lnTo>
                    <a:pt x="592" y="23"/>
                  </a:lnTo>
                  <a:lnTo>
                    <a:pt x="561" y="16"/>
                  </a:lnTo>
                  <a:lnTo>
                    <a:pt x="530" y="10"/>
                  </a:lnTo>
                  <a:lnTo>
                    <a:pt x="497" y="6"/>
                  </a:lnTo>
                  <a:lnTo>
                    <a:pt x="463" y="3"/>
                  </a:lnTo>
                  <a:lnTo>
                    <a:pt x="429" y="1"/>
                  </a:lnTo>
                  <a:lnTo>
                    <a:pt x="395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3" y="6"/>
                  </a:lnTo>
                  <a:lnTo>
                    <a:pt x="260" y="10"/>
                  </a:lnTo>
                  <a:lnTo>
                    <a:pt x="228" y="16"/>
                  </a:lnTo>
                  <a:lnTo>
                    <a:pt x="198" y="23"/>
                  </a:lnTo>
                  <a:lnTo>
                    <a:pt x="169" y="30"/>
                  </a:lnTo>
                  <a:lnTo>
                    <a:pt x="142" y="39"/>
                  </a:lnTo>
                  <a:lnTo>
                    <a:pt x="116" y="49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3" y="83"/>
                  </a:lnTo>
                  <a:lnTo>
                    <a:pt x="38" y="96"/>
                  </a:lnTo>
                  <a:lnTo>
                    <a:pt x="24" y="110"/>
                  </a:lnTo>
                  <a:lnTo>
                    <a:pt x="14" y="124"/>
                  </a:lnTo>
                  <a:lnTo>
                    <a:pt x="7" y="137"/>
                  </a:lnTo>
                  <a:lnTo>
                    <a:pt x="2" y="152"/>
                  </a:lnTo>
                  <a:lnTo>
                    <a:pt x="0" y="167"/>
                  </a:lnTo>
                  <a:lnTo>
                    <a:pt x="2" y="181"/>
                  </a:lnTo>
                  <a:lnTo>
                    <a:pt x="7" y="195"/>
                  </a:lnTo>
                  <a:lnTo>
                    <a:pt x="14" y="210"/>
                  </a:lnTo>
                  <a:lnTo>
                    <a:pt x="24" y="224"/>
                  </a:lnTo>
                  <a:lnTo>
                    <a:pt x="38" y="237"/>
                  </a:lnTo>
                  <a:lnTo>
                    <a:pt x="53" y="250"/>
                  </a:lnTo>
                  <a:lnTo>
                    <a:pt x="72" y="262"/>
                  </a:lnTo>
                  <a:lnTo>
                    <a:pt x="93" y="273"/>
                  </a:lnTo>
                  <a:lnTo>
                    <a:pt x="116" y="284"/>
                  </a:lnTo>
                  <a:lnTo>
                    <a:pt x="142" y="294"/>
                  </a:lnTo>
                  <a:lnTo>
                    <a:pt x="169" y="303"/>
                  </a:lnTo>
                  <a:lnTo>
                    <a:pt x="198" y="311"/>
                  </a:lnTo>
                  <a:lnTo>
                    <a:pt x="228" y="317"/>
                  </a:lnTo>
                  <a:lnTo>
                    <a:pt x="260" y="323"/>
                  </a:lnTo>
                  <a:lnTo>
                    <a:pt x="293" y="327"/>
                  </a:lnTo>
                  <a:lnTo>
                    <a:pt x="326" y="330"/>
                  </a:lnTo>
                  <a:lnTo>
                    <a:pt x="360" y="332"/>
                  </a:lnTo>
                  <a:lnTo>
                    <a:pt x="395" y="333"/>
                  </a:lnTo>
                  <a:lnTo>
                    <a:pt x="429" y="332"/>
                  </a:lnTo>
                  <a:lnTo>
                    <a:pt x="463" y="330"/>
                  </a:lnTo>
                  <a:lnTo>
                    <a:pt x="497" y="327"/>
                  </a:lnTo>
                  <a:lnTo>
                    <a:pt x="530" y="323"/>
                  </a:lnTo>
                  <a:lnTo>
                    <a:pt x="561" y="317"/>
                  </a:lnTo>
                  <a:lnTo>
                    <a:pt x="592" y="311"/>
                  </a:lnTo>
                  <a:lnTo>
                    <a:pt x="620" y="303"/>
                  </a:lnTo>
                  <a:lnTo>
                    <a:pt x="648" y="294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7" y="262"/>
                  </a:lnTo>
                  <a:lnTo>
                    <a:pt x="736" y="250"/>
                  </a:lnTo>
                  <a:lnTo>
                    <a:pt x="752" y="237"/>
                  </a:lnTo>
                  <a:lnTo>
                    <a:pt x="765" y="224"/>
                  </a:lnTo>
                  <a:lnTo>
                    <a:pt x="776" y="210"/>
                  </a:lnTo>
                  <a:lnTo>
                    <a:pt x="783" y="195"/>
                  </a:lnTo>
                  <a:lnTo>
                    <a:pt x="787" y="181"/>
                  </a:lnTo>
                  <a:lnTo>
                    <a:pt x="789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25" name="Freeform 9"/>
            <p:cNvSpPr>
              <a:spLocks/>
            </p:cNvSpPr>
            <p:nvPr/>
          </p:nvSpPr>
          <p:spPr bwMode="auto">
            <a:xfrm>
              <a:off x="1762" y="3093"/>
              <a:ext cx="789" cy="334"/>
            </a:xfrm>
            <a:custGeom>
              <a:avLst/>
              <a:gdLst>
                <a:gd name="T0" fmla="*/ 2 w 789"/>
                <a:gd name="T1" fmla="*/ 181 h 334"/>
                <a:gd name="T2" fmla="*/ 13 w 789"/>
                <a:gd name="T3" fmla="*/ 210 h 334"/>
                <a:gd name="T4" fmla="*/ 37 w 789"/>
                <a:gd name="T5" fmla="*/ 237 h 334"/>
                <a:gd name="T6" fmla="*/ 71 w 789"/>
                <a:gd name="T7" fmla="*/ 262 h 334"/>
                <a:gd name="T8" fmla="*/ 116 w 789"/>
                <a:gd name="T9" fmla="*/ 284 h 334"/>
                <a:gd name="T10" fmla="*/ 168 w 789"/>
                <a:gd name="T11" fmla="*/ 303 h 334"/>
                <a:gd name="T12" fmla="*/ 227 w 789"/>
                <a:gd name="T13" fmla="*/ 317 h 334"/>
                <a:gd name="T14" fmla="*/ 293 w 789"/>
                <a:gd name="T15" fmla="*/ 327 h 334"/>
                <a:gd name="T16" fmla="*/ 360 w 789"/>
                <a:gd name="T17" fmla="*/ 332 h 334"/>
                <a:gd name="T18" fmla="*/ 428 w 789"/>
                <a:gd name="T19" fmla="*/ 332 h 334"/>
                <a:gd name="T20" fmla="*/ 497 w 789"/>
                <a:gd name="T21" fmla="*/ 327 h 334"/>
                <a:gd name="T22" fmla="*/ 561 w 789"/>
                <a:gd name="T23" fmla="*/ 317 h 334"/>
                <a:gd name="T24" fmla="*/ 620 w 789"/>
                <a:gd name="T25" fmla="*/ 302 h 334"/>
                <a:gd name="T26" fmla="*/ 673 w 789"/>
                <a:gd name="T27" fmla="*/ 284 h 334"/>
                <a:gd name="T28" fmla="*/ 717 w 789"/>
                <a:gd name="T29" fmla="*/ 261 h 334"/>
                <a:gd name="T30" fmla="*/ 751 w 789"/>
                <a:gd name="T31" fmla="*/ 237 h 334"/>
                <a:gd name="T32" fmla="*/ 775 w 789"/>
                <a:gd name="T33" fmla="*/ 209 h 334"/>
                <a:gd name="T34" fmla="*/ 787 w 789"/>
                <a:gd name="T35" fmla="*/ 180 h 334"/>
                <a:gd name="T36" fmla="*/ 787 w 789"/>
                <a:gd name="T37" fmla="*/ 152 h 334"/>
                <a:gd name="T38" fmla="*/ 775 w 789"/>
                <a:gd name="T39" fmla="*/ 124 h 334"/>
                <a:gd name="T40" fmla="*/ 751 w 789"/>
                <a:gd name="T41" fmla="*/ 96 h 334"/>
                <a:gd name="T42" fmla="*/ 717 w 789"/>
                <a:gd name="T43" fmla="*/ 71 h 334"/>
                <a:gd name="T44" fmla="*/ 673 w 789"/>
                <a:gd name="T45" fmla="*/ 49 h 334"/>
                <a:gd name="T46" fmla="*/ 620 w 789"/>
                <a:gd name="T47" fmla="*/ 30 h 334"/>
                <a:gd name="T48" fmla="*/ 561 w 789"/>
                <a:gd name="T49" fmla="*/ 16 h 334"/>
                <a:gd name="T50" fmla="*/ 496 w 789"/>
                <a:gd name="T51" fmla="*/ 6 h 334"/>
                <a:gd name="T52" fmla="*/ 428 w 789"/>
                <a:gd name="T53" fmla="*/ 1 h 334"/>
                <a:gd name="T54" fmla="*/ 360 w 789"/>
                <a:gd name="T55" fmla="*/ 1 h 334"/>
                <a:gd name="T56" fmla="*/ 292 w 789"/>
                <a:gd name="T57" fmla="*/ 6 h 334"/>
                <a:gd name="T58" fmla="*/ 227 w 789"/>
                <a:gd name="T59" fmla="*/ 16 h 334"/>
                <a:gd name="T60" fmla="*/ 168 w 789"/>
                <a:gd name="T61" fmla="*/ 30 h 334"/>
                <a:gd name="T62" fmla="*/ 116 w 789"/>
                <a:gd name="T63" fmla="*/ 49 h 334"/>
                <a:gd name="T64" fmla="*/ 71 w 789"/>
                <a:gd name="T65" fmla="*/ 71 h 334"/>
                <a:gd name="T66" fmla="*/ 37 w 789"/>
                <a:gd name="T67" fmla="*/ 97 h 334"/>
                <a:gd name="T68" fmla="*/ 13 w 789"/>
                <a:gd name="T69" fmla="*/ 124 h 334"/>
                <a:gd name="T70" fmla="*/ 2 w 789"/>
                <a:gd name="T71" fmla="*/ 152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89"/>
                <a:gd name="T109" fmla="*/ 0 h 334"/>
                <a:gd name="T110" fmla="*/ 789 w 789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89" h="334">
                  <a:moveTo>
                    <a:pt x="0" y="167"/>
                  </a:moveTo>
                  <a:lnTo>
                    <a:pt x="2" y="181"/>
                  </a:lnTo>
                  <a:lnTo>
                    <a:pt x="6" y="195"/>
                  </a:lnTo>
                  <a:lnTo>
                    <a:pt x="13" y="210"/>
                  </a:lnTo>
                  <a:lnTo>
                    <a:pt x="24" y="224"/>
                  </a:lnTo>
                  <a:lnTo>
                    <a:pt x="37" y="237"/>
                  </a:lnTo>
                  <a:lnTo>
                    <a:pt x="53" y="250"/>
                  </a:lnTo>
                  <a:lnTo>
                    <a:pt x="71" y="262"/>
                  </a:lnTo>
                  <a:lnTo>
                    <a:pt x="92" y="274"/>
                  </a:lnTo>
                  <a:lnTo>
                    <a:pt x="116" y="284"/>
                  </a:lnTo>
                  <a:lnTo>
                    <a:pt x="141" y="294"/>
                  </a:lnTo>
                  <a:lnTo>
                    <a:pt x="168" y="303"/>
                  </a:lnTo>
                  <a:lnTo>
                    <a:pt x="197" y="311"/>
                  </a:lnTo>
                  <a:lnTo>
                    <a:pt x="227" y="317"/>
                  </a:lnTo>
                  <a:lnTo>
                    <a:pt x="259" y="323"/>
                  </a:lnTo>
                  <a:lnTo>
                    <a:pt x="293" y="327"/>
                  </a:lnTo>
                  <a:lnTo>
                    <a:pt x="326" y="330"/>
                  </a:lnTo>
                  <a:lnTo>
                    <a:pt x="360" y="332"/>
                  </a:lnTo>
                  <a:lnTo>
                    <a:pt x="394" y="333"/>
                  </a:lnTo>
                  <a:lnTo>
                    <a:pt x="428" y="332"/>
                  </a:lnTo>
                  <a:lnTo>
                    <a:pt x="462" y="330"/>
                  </a:lnTo>
                  <a:lnTo>
                    <a:pt x="497" y="327"/>
                  </a:lnTo>
                  <a:lnTo>
                    <a:pt x="529" y="323"/>
                  </a:lnTo>
                  <a:lnTo>
                    <a:pt x="561" y="317"/>
                  </a:lnTo>
                  <a:lnTo>
                    <a:pt x="591" y="311"/>
                  </a:lnTo>
                  <a:lnTo>
                    <a:pt x="620" y="302"/>
                  </a:lnTo>
                  <a:lnTo>
                    <a:pt x="648" y="294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7" y="261"/>
                  </a:lnTo>
                  <a:lnTo>
                    <a:pt x="736" y="250"/>
                  </a:lnTo>
                  <a:lnTo>
                    <a:pt x="751" y="237"/>
                  </a:lnTo>
                  <a:lnTo>
                    <a:pt x="764" y="223"/>
                  </a:lnTo>
                  <a:lnTo>
                    <a:pt x="775" y="209"/>
                  </a:lnTo>
                  <a:lnTo>
                    <a:pt x="782" y="195"/>
                  </a:lnTo>
                  <a:lnTo>
                    <a:pt x="787" y="180"/>
                  </a:lnTo>
                  <a:lnTo>
                    <a:pt x="788" y="167"/>
                  </a:lnTo>
                  <a:lnTo>
                    <a:pt x="787" y="152"/>
                  </a:lnTo>
                  <a:lnTo>
                    <a:pt x="782" y="137"/>
                  </a:lnTo>
                  <a:lnTo>
                    <a:pt x="775" y="124"/>
                  </a:lnTo>
                  <a:lnTo>
                    <a:pt x="764" y="110"/>
                  </a:lnTo>
                  <a:lnTo>
                    <a:pt x="751" y="96"/>
                  </a:lnTo>
                  <a:lnTo>
                    <a:pt x="736" y="83"/>
                  </a:lnTo>
                  <a:lnTo>
                    <a:pt x="717" y="71"/>
                  </a:lnTo>
                  <a:lnTo>
                    <a:pt x="696" y="60"/>
                  </a:lnTo>
                  <a:lnTo>
                    <a:pt x="673" y="49"/>
                  </a:lnTo>
                  <a:lnTo>
                    <a:pt x="647" y="39"/>
                  </a:lnTo>
                  <a:lnTo>
                    <a:pt x="620" y="30"/>
                  </a:lnTo>
                  <a:lnTo>
                    <a:pt x="591" y="23"/>
                  </a:lnTo>
                  <a:lnTo>
                    <a:pt x="561" y="16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2" y="3"/>
                  </a:lnTo>
                  <a:lnTo>
                    <a:pt x="428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2" y="6"/>
                  </a:lnTo>
                  <a:lnTo>
                    <a:pt x="259" y="10"/>
                  </a:lnTo>
                  <a:lnTo>
                    <a:pt x="227" y="16"/>
                  </a:lnTo>
                  <a:lnTo>
                    <a:pt x="197" y="23"/>
                  </a:lnTo>
                  <a:lnTo>
                    <a:pt x="168" y="30"/>
                  </a:lnTo>
                  <a:lnTo>
                    <a:pt x="140" y="39"/>
                  </a:lnTo>
                  <a:lnTo>
                    <a:pt x="116" y="49"/>
                  </a:lnTo>
                  <a:lnTo>
                    <a:pt x="92" y="60"/>
                  </a:lnTo>
                  <a:lnTo>
                    <a:pt x="71" y="71"/>
                  </a:lnTo>
                  <a:lnTo>
                    <a:pt x="53" y="83"/>
                  </a:lnTo>
                  <a:lnTo>
                    <a:pt x="37" y="97"/>
                  </a:lnTo>
                  <a:lnTo>
                    <a:pt x="24" y="110"/>
                  </a:lnTo>
                  <a:lnTo>
                    <a:pt x="13" y="124"/>
                  </a:lnTo>
                  <a:lnTo>
                    <a:pt x="6" y="137"/>
                  </a:lnTo>
                  <a:lnTo>
                    <a:pt x="2" y="152"/>
                  </a:lnTo>
                  <a:lnTo>
                    <a:pt x="0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27" name="Freeform 11"/>
            <p:cNvSpPr>
              <a:spLocks/>
            </p:cNvSpPr>
            <p:nvPr/>
          </p:nvSpPr>
          <p:spPr bwMode="auto">
            <a:xfrm>
              <a:off x="4405" y="3650"/>
              <a:ext cx="913" cy="343"/>
            </a:xfrm>
            <a:custGeom>
              <a:avLst/>
              <a:gdLst>
                <a:gd name="T0" fmla="*/ 912 w 913"/>
                <a:gd name="T1" fmla="*/ 342 h 343"/>
                <a:gd name="T2" fmla="*/ 912 w 913"/>
                <a:gd name="T3" fmla="*/ 0 h 343"/>
                <a:gd name="T4" fmla="*/ 0 w 913"/>
                <a:gd name="T5" fmla="*/ 0 h 343"/>
                <a:gd name="T6" fmla="*/ 0 w 913"/>
                <a:gd name="T7" fmla="*/ 342 h 343"/>
                <a:gd name="T8" fmla="*/ 912 w 913"/>
                <a:gd name="T9" fmla="*/ 342 h 3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3"/>
                <a:gd name="T16" fmla="*/ 0 h 343"/>
                <a:gd name="T17" fmla="*/ 913 w 913"/>
                <a:gd name="T18" fmla="*/ 343 h 3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3" h="343">
                  <a:moveTo>
                    <a:pt x="912" y="342"/>
                  </a:moveTo>
                  <a:lnTo>
                    <a:pt x="912" y="0"/>
                  </a:lnTo>
                  <a:lnTo>
                    <a:pt x="0" y="0"/>
                  </a:lnTo>
                  <a:lnTo>
                    <a:pt x="0" y="342"/>
                  </a:lnTo>
                  <a:lnTo>
                    <a:pt x="912" y="342"/>
                  </a:ln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508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28" name="Freeform 12"/>
            <p:cNvSpPr>
              <a:spLocks/>
            </p:cNvSpPr>
            <p:nvPr/>
          </p:nvSpPr>
          <p:spPr bwMode="auto">
            <a:xfrm>
              <a:off x="980" y="3688"/>
              <a:ext cx="789" cy="343"/>
            </a:xfrm>
            <a:custGeom>
              <a:avLst/>
              <a:gdLst>
                <a:gd name="T0" fmla="*/ 788 w 789"/>
                <a:gd name="T1" fmla="*/ 342 h 343"/>
                <a:gd name="T2" fmla="*/ 788 w 789"/>
                <a:gd name="T3" fmla="*/ 0 h 343"/>
                <a:gd name="T4" fmla="*/ 0 w 789"/>
                <a:gd name="T5" fmla="*/ 0 h 343"/>
                <a:gd name="T6" fmla="*/ 0 w 789"/>
                <a:gd name="T7" fmla="*/ 342 h 343"/>
                <a:gd name="T8" fmla="*/ 788 w 789"/>
                <a:gd name="T9" fmla="*/ 342 h 3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343"/>
                <a:gd name="T17" fmla="*/ 789 w 789"/>
                <a:gd name="T18" fmla="*/ 343 h 3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343">
                  <a:moveTo>
                    <a:pt x="788" y="342"/>
                  </a:moveTo>
                  <a:lnTo>
                    <a:pt x="788" y="0"/>
                  </a:lnTo>
                  <a:lnTo>
                    <a:pt x="0" y="0"/>
                  </a:lnTo>
                  <a:lnTo>
                    <a:pt x="0" y="342"/>
                  </a:lnTo>
                  <a:lnTo>
                    <a:pt x="788" y="342"/>
                  </a:ln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29" name="Freeform 13"/>
            <p:cNvSpPr>
              <a:spLocks/>
            </p:cNvSpPr>
            <p:nvPr/>
          </p:nvSpPr>
          <p:spPr bwMode="auto">
            <a:xfrm>
              <a:off x="1023" y="2779"/>
              <a:ext cx="876" cy="403"/>
            </a:xfrm>
            <a:custGeom>
              <a:avLst/>
              <a:gdLst>
                <a:gd name="T0" fmla="*/ 787 w 789"/>
                <a:gd name="T1" fmla="*/ 151 h 333"/>
                <a:gd name="T2" fmla="*/ 775 w 789"/>
                <a:gd name="T3" fmla="*/ 123 h 333"/>
                <a:gd name="T4" fmla="*/ 751 w 789"/>
                <a:gd name="T5" fmla="*/ 96 h 333"/>
                <a:gd name="T6" fmla="*/ 717 w 789"/>
                <a:gd name="T7" fmla="*/ 70 h 333"/>
                <a:gd name="T8" fmla="*/ 673 w 789"/>
                <a:gd name="T9" fmla="*/ 49 h 333"/>
                <a:gd name="T10" fmla="*/ 620 w 789"/>
                <a:gd name="T11" fmla="*/ 30 h 333"/>
                <a:gd name="T12" fmla="*/ 561 w 789"/>
                <a:gd name="T13" fmla="*/ 16 h 333"/>
                <a:gd name="T14" fmla="*/ 496 w 789"/>
                <a:gd name="T15" fmla="*/ 6 h 333"/>
                <a:gd name="T16" fmla="*/ 429 w 789"/>
                <a:gd name="T17" fmla="*/ 0 h 333"/>
                <a:gd name="T18" fmla="*/ 360 w 789"/>
                <a:gd name="T19" fmla="*/ 0 h 333"/>
                <a:gd name="T20" fmla="*/ 292 w 789"/>
                <a:gd name="T21" fmla="*/ 6 h 333"/>
                <a:gd name="T22" fmla="*/ 228 w 789"/>
                <a:gd name="T23" fmla="*/ 16 h 333"/>
                <a:gd name="T24" fmla="*/ 168 w 789"/>
                <a:gd name="T25" fmla="*/ 30 h 333"/>
                <a:gd name="T26" fmla="*/ 115 w 789"/>
                <a:gd name="T27" fmla="*/ 49 h 333"/>
                <a:gd name="T28" fmla="*/ 71 w 789"/>
                <a:gd name="T29" fmla="*/ 70 h 333"/>
                <a:gd name="T30" fmla="*/ 37 w 789"/>
                <a:gd name="T31" fmla="*/ 96 h 333"/>
                <a:gd name="T32" fmla="*/ 14 w 789"/>
                <a:gd name="T33" fmla="*/ 123 h 333"/>
                <a:gd name="T34" fmla="*/ 1 w 789"/>
                <a:gd name="T35" fmla="*/ 151 h 333"/>
                <a:gd name="T36" fmla="*/ 1 w 789"/>
                <a:gd name="T37" fmla="*/ 180 h 333"/>
                <a:gd name="T38" fmla="*/ 14 w 789"/>
                <a:gd name="T39" fmla="*/ 209 h 333"/>
                <a:gd name="T40" fmla="*/ 37 w 789"/>
                <a:gd name="T41" fmla="*/ 236 h 333"/>
                <a:gd name="T42" fmla="*/ 71 w 789"/>
                <a:gd name="T43" fmla="*/ 261 h 333"/>
                <a:gd name="T44" fmla="*/ 115 w 789"/>
                <a:gd name="T45" fmla="*/ 284 h 333"/>
                <a:gd name="T46" fmla="*/ 168 w 789"/>
                <a:gd name="T47" fmla="*/ 302 h 333"/>
                <a:gd name="T48" fmla="*/ 228 w 789"/>
                <a:gd name="T49" fmla="*/ 317 h 333"/>
                <a:gd name="T50" fmla="*/ 292 w 789"/>
                <a:gd name="T51" fmla="*/ 327 h 333"/>
                <a:gd name="T52" fmla="*/ 360 w 789"/>
                <a:gd name="T53" fmla="*/ 331 h 333"/>
                <a:gd name="T54" fmla="*/ 429 w 789"/>
                <a:gd name="T55" fmla="*/ 331 h 333"/>
                <a:gd name="T56" fmla="*/ 496 w 789"/>
                <a:gd name="T57" fmla="*/ 327 h 333"/>
                <a:gd name="T58" fmla="*/ 561 w 789"/>
                <a:gd name="T59" fmla="*/ 317 h 333"/>
                <a:gd name="T60" fmla="*/ 620 w 789"/>
                <a:gd name="T61" fmla="*/ 302 h 333"/>
                <a:gd name="T62" fmla="*/ 673 w 789"/>
                <a:gd name="T63" fmla="*/ 284 h 333"/>
                <a:gd name="T64" fmla="*/ 717 w 789"/>
                <a:gd name="T65" fmla="*/ 261 h 333"/>
                <a:gd name="T66" fmla="*/ 751 w 789"/>
                <a:gd name="T67" fmla="*/ 236 h 333"/>
                <a:gd name="T68" fmla="*/ 775 w 789"/>
                <a:gd name="T69" fmla="*/ 209 h 333"/>
                <a:gd name="T70" fmla="*/ 787 w 789"/>
                <a:gd name="T71" fmla="*/ 180 h 33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89"/>
                <a:gd name="T109" fmla="*/ 0 h 333"/>
                <a:gd name="T110" fmla="*/ 789 w 789"/>
                <a:gd name="T111" fmla="*/ 333 h 33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89" h="333">
                  <a:moveTo>
                    <a:pt x="788" y="166"/>
                  </a:moveTo>
                  <a:lnTo>
                    <a:pt x="787" y="151"/>
                  </a:lnTo>
                  <a:lnTo>
                    <a:pt x="782" y="137"/>
                  </a:lnTo>
                  <a:lnTo>
                    <a:pt x="775" y="123"/>
                  </a:lnTo>
                  <a:lnTo>
                    <a:pt x="765" y="109"/>
                  </a:lnTo>
                  <a:lnTo>
                    <a:pt x="751" y="96"/>
                  </a:lnTo>
                  <a:lnTo>
                    <a:pt x="735" y="83"/>
                  </a:lnTo>
                  <a:lnTo>
                    <a:pt x="717" y="70"/>
                  </a:lnTo>
                  <a:lnTo>
                    <a:pt x="696" y="59"/>
                  </a:lnTo>
                  <a:lnTo>
                    <a:pt x="673" y="49"/>
                  </a:lnTo>
                  <a:lnTo>
                    <a:pt x="647" y="39"/>
                  </a:lnTo>
                  <a:lnTo>
                    <a:pt x="620" y="30"/>
                  </a:lnTo>
                  <a:lnTo>
                    <a:pt x="591" y="22"/>
                  </a:lnTo>
                  <a:lnTo>
                    <a:pt x="561" y="16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3" y="3"/>
                  </a:lnTo>
                  <a:lnTo>
                    <a:pt x="429" y="0"/>
                  </a:lnTo>
                  <a:lnTo>
                    <a:pt x="394" y="0"/>
                  </a:lnTo>
                  <a:lnTo>
                    <a:pt x="360" y="0"/>
                  </a:lnTo>
                  <a:lnTo>
                    <a:pt x="325" y="3"/>
                  </a:lnTo>
                  <a:lnTo>
                    <a:pt x="292" y="6"/>
                  </a:lnTo>
                  <a:lnTo>
                    <a:pt x="260" y="10"/>
                  </a:lnTo>
                  <a:lnTo>
                    <a:pt x="228" y="16"/>
                  </a:lnTo>
                  <a:lnTo>
                    <a:pt x="197" y="22"/>
                  </a:lnTo>
                  <a:lnTo>
                    <a:pt x="168" y="30"/>
                  </a:lnTo>
                  <a:lnTo>
                    <a:pt x="141" y="39"/>
                  </a:lnTo>
                  <a:lnTo>
                    <a:pt x="115" y="49"/>
                  </a:lnTo>
                  <a:lnTo>
                    <a:pt x="92" y="59"/>
                  </a:lnTo>
                  <a:lnTo>
                    <a:pt x="71" y="70"/>
                  </a:lnTo>
                  <a:lnTo>
                    <a:pt x="53" y="83"/>
                  </a:lnTo>
                  <a:lnTo>
                    <a:pt x="37" y="96"/>
                  </a:lnTo>
                  <a:lnTo>
                    <a:pt x="24" y="109"/>
                  </a:lnTo>
                  <a:lnTo>
                    <a:pt x="14" y="123"/>
                  </a:lnTo>
                  <a:lnTo>
                    <a:pt x="6" y="137"/>
                  </a:lnTo>
                  <a:lnTo>
                    <a:pt x="1" y="151"/>
                  </a:lnTo>
                  <a:lnTo>
                    <a:pt x="0" y="166"/>
                  </a:lnTo>
                  <a:lnTo>
                    <a:pt x="1" y="180"/>
                  </a:lnTo>
                  <a:lnTo>
                    <a:pt x="6" y="195"/>
                  </a:lnTo>
                  <a:lnTo>
                    <a:pt x="14" y="209"/>
                  </a:lnTo>
                  <a:lnTo>
                    <a:pt x="24" y="223"/>
                  </a:lnTo>
                  <a:lnTo>
                    <a:pt x="37" y="236"/>
                  </a:lnTo>
                  <a:lnTo>
                    <a:pt x="53" y="249"/>
                  </a:lnTo>
                  <a:lnTo>
                    <a:pt x="71" y="261"/>
                  </a:lnTo>
                  <a:lnTo>
                    <a:pt x="92" y="273"/>
                  </a:lnTo>
                  <a:lnTo>
                    <a:pt x="115" y="284"/>
                  </a:lnTo>
                  <a:lnTo>
                    <a:pt x="141" y="294"/>
                  </a:lnTo>
                  <a:lnTo>
                    <a:pt x="168" y="302"/>
                  </a:lnTo>
                  <a:lnTo>
                    <a:pt x="197" y="310"/>
                  </a:lnTo>
                  <a:lnTo>
                    <a:pt x="228" y="317"/>
                  </a:lnTo>
                  <a:lnTo>
                    <a:pt x="260" y="322"/>
                  </a:lnTo>
                  <a:lnTo>
                    <a:pt x="292" y="327"/>
                  </a:lnTo>
                  <a:lnTo>
                    <a:pt x="325" y="330"/>
                  </a:lnTo>
                  <a:lnTo>
                    <a:pt x="360" y="331"/>
                  </a:lnTo>
                  <a:lnTo>
                    <a:pt x="394" y="332"/>
                  </a:lnTo>
                  <a:lnTo>
                    <a:pt x="429" y="331"/>
                  </a:lnTo>
                  <a:lnTo>
                    <a:pt x="463" y="330"/>
                  </a:lnTo>
                  <a:lnTo>
                    <a:pt x="496" y="327"/>
                  </a:lnTo>
                  <a:lnTo>
                    <a:pt x="529" y="322"/>
                  </a:lnTo>
                  <a:lnTo>
                    <a:pt x="561" y="317"/>
                  </a:lnTo>
                  <a:lnTo>
                    <a:pt x="591" y="310"/>
                  </a:lnTo>
                  <a:lnTo>
                    <a:pt x="620" y="302"/>
                  </a:lnTo>
                  <a:lnTo>
                    <a:pt x="647" y="294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7" y="261"/>
                  </a:lnTo>
                  <a:lnTo>
                    <a:pt x="735" y="249"/>
                  </a:lnTo>
                  <a:lnTo>
                    <a:pt x="751" y="236"/>
                  </a:lnTo>
                  <a:lnTo>
                    <a:pt x="765" y="223"/>
                  </a:lnTo>
                  <a:lnTo>
                    <a:pt x="775" y="209"/>
                  </a:lnTo>
                  <a:lnTo>
                    <a:pt x="782" y="195"/>
                  </a:lnTo>
                  <a:lnTo>
                    <a:pt x="787" y="180"/>
                  </a:lnTo>
                  <a:lnTo>
                    <a:pt x="788" y="166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1848" y="3142"/>
              <a:ext cx="60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Amount</a:t>
              </a:r>
            </a:p>
          </p:txBody>
        </p:sp>
        <p:sp>
          <p:nvSpPr>
            <p:cNvPr id="31" name="Freeform 15"/>
            <p:cNvSpPr>
              <a:spLocks/>
            </p:cNvSpPr>
            <p:nvPr/>
          </p:nvSpPr>
          <p:spPr bwMode="auto">
            <a:xfrm>
              <a:off x="2600" y="3527"/>
              <a:ext cx="1140" cy="654"/>
            </a:xfrm>
            <a:custGeom>
              <a:avLst/>
              <a:gdLst>
                <a:gd name="T0" fmla="*/ 0 w 789"/>
                <a:gd name="T1" fmla="*/ 196 h 392"/>
                <a:gd name="T2" fmla="*/ 394 w 789"/>
                <a:gd name="T3" fmla="*/ 0 h 392"/>
                <a:gd name="T4" fmla="*/ 788 w 789"/>
                <a:gd name="T5" fmla="*/ 196 h 392"/>
                <a:gd name="T6" fmla="*/ 394 w 789"/>
                <a:gd name="T7" fmla="*/ 391 h 392"/>
                <a:gd name="T8" fmla="*/ 0 w 789"/>
                <a:gd name="T9" fmla="*/ 196 h 3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392"/>
                <a:gd name="T17" fmla="*/ 789 w 789"/>
                <a:gd name="T18" fmla="*/ 392 h 3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392">
                  <a:moveTo>
                    <a:pt x="0" y="196"/>
                  </a:moveTo>
                  <a:lnTo>
                    <a:pt x="394" y="0"/>
                  </a:lnTo>
                  <a:lnTo>
                    <a:pt x="788" y="196"/>
                  </a:lnTo>
                  <a:lnTo>
                    <a:pt x="394" y="391"/>
                  </a:lnTo>
                  <a:lnTo>
                    <a:pt x="0" y="196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508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980" y="2864"/>
              <a:ext cx="95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 u="sng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Loan Number</a:t>
              </a:r>
            </a:p>
          </p:txBody>
        </p:sp>
        <p:sp>
          <p:nvSpPr>
            <p:cNvPr id="33" name="Rectangle 17"/>
            <p:cNvSpPr>
              <a:spLocks noChangeArrowheads="1"/>
            </p:cNvSpPr>
            <p:nvPr/>
          </p:nvSpPr>
          <p:spPr bwMode="auto">
            <a:xfrm>
              <a:off x="4912" y="3131"/>
              <a:ext cx="3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Date</a:t>
              </a:r>
            </a:p>
          </p:txBody>
        </p:sp>
        <p:sp>
          <p:nvSpPr>
            <p:cNvPr id="34" name="Rectangle 18"/>
            <p:cNvSpPr>
              <a:spLocks noChangeArrowheads="1"/>
            </p:cNvSpPr>
            <p:nvPr/>
          </p:nvSpPr>
          <p:spPr bwMode="auto">
            <a:xfrm>
              <a:off x="3508" y="3117"/>
              <a:ext cx="119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4653" tIns="36671" rIns="74653" bIns="36671">
              <a:spAutoFit/>
            </a:bodyPr>
            <a:lstStyle/>
            <a:p>
              <a:r>
                <a:rPr lang="en-US" altLang="zh-CN" sz="1320" b="1" u="sng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Payment Number</a:t>
              </a:r>
            </a:p>
          </p:txBody>
        </p:sp>
        <p:sp>
          <p:nvSpPr>
            <p:cNvPr id="35" name="Rectangle 19"/>
            <p:cNvSpPr>
              <a:spLocks noChangeArrowheads="1"/>
            </p:cNvSpPr>
            <p:nvPr/>
          </p:nvSpPr>
          <p:spPr bwMode="auto">
            <a:xfrm>
              <a:off x="4460" y="3705"/>
              <a:ext cx="65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Payment</a:t>
              </a:r>
            </a:p>
          </p:txBody>
        </p:sp>
        <p:sp>
          <p:nvSpPr>
            <p:cNvPr id="36" name="Rectangle 20"/>
            <p:cNvSpPr>
              <a:spLocks noChangeArrowheads="1"/>
            </p:cNvSpPr>
            <p:nvPr/>
          </p:nvSpPr>
          <p:spPr bwMode="auto">
            <a:xfrm>
              <a:off x="1103" y="3767"/>
              <a:ext cx="74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74653" tIns="36671" rIns="74653" bIns="36671">
              <a:spAutoFit/>
            </a:bodyPr>
            <a:lstStyle/>
            <a:p>
              <a:r>
                <a:rPr lang="en-US" altLang="zh-CN" sz="1320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Officer</a:t>
              </a:r>
            </a:p>
          </p:txBody>
        </p:sp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549" y="3151"/>
              <a:ext cx="33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 u="sng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ssn</a:t>
              </a:r>
            </a:p>
          </p:txBody>
        </p:sp>
        <p:sp>
          <p:nvSpPr>
            <p:cNvPr id="38" name="Rectangle 22"/>
            <p:cNvSpPr>
              <a:spLocks noChangeArrowheads="1"/>
            </p:cNvSpPr>
            <p:nvPr/>
          </p:nvSpPr>
          <p:spPr bwMode="auto">
            <a:xfrm>
              <a:off x="2698" y="3726"/>
              <a:ext cx="100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Loan Payment</a:t>
              </a:r>
            </a:p>
          </p:txBody>
        </p:sp>
        <p:sp>
          <p:nvSpPr>
            <p:cNvPr id="41" name="Line 25"/>
            <p:cNvSpPr>
              <a:spLocks noChangeShapeType="1"/>
            </p:cNvSpPr>
            <p:nvPr/>
          </p:nvSpPr>
          <p:spPr bwMode="auto">
            <a:xfrm>
              <a:off x="1427" y="3197"/>
              <a:ext cx="6" cy="49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42" name="Line 26"/>
            <p:cNvSpPr>
              <a:spLocks noChangeShapeType="1"/>
            </p:cNvSpPr>
            <p:nvPr/>
          </p:nvSpPr>
          <p:spPr bwMode="auto">
            <a:xfrm>
              <a:off x="883" y="3407"/>
              <a:ext cx="304" cy="28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43" name="Line 27"/>
            <p:cNvSpPr>
              <a:spLocks noChangeShapeType="1"/>
            </p:cNvSpPr>
            <p:nvPr/>
          </p:nvSpPr>
          <p:spPr bwMode="auto">
            <a:xfrm flipH="1">
              <a:off x="1654" y="3424"/>
              <a:ext cx="497" cy="27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45" name="Line 29"/>
            <p:cNvSpPr>
              <a:spLocks noChangeShapeType="1"/>
            </p:cNvSpPr>
            <p:nvPr/>
          </p:nvSpPr>
          <p:spPr bwMode="auto">
            <a:xfrm>
              <a:off x="4131" y="3407"/>
              <a:ext cx="271" cy="243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46" name="Line 30"/>
            <p:cNvSpPr>
              <a:spLocks noChangeShapeType="1"/>
            </p:cNvSpPr>
            <p:nvPr/>
          </p:nvSpPr>
          <p:spPr bwMode="auto">
            <a:xfrm flipH="1">
              <a:off x="4708" y="3424"/>
              <a:ext cx="324" cy="21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47" name="Line 31"/>
            <p:cNvSpPr>
              <a:spLocks noChangeShapeType="1"/>
            </p:cNvSpPr>
            <p:nvPr/>
          </p:nvSpPr>
          <p:spPr bwMode="auto">
            <a:xfrm flipH="1" flipV="1">
              <a:off x="3925" y="3849"/>
              <a:ext cx="499" cy="5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48" name="Line 32"/>
            <p:cNvSpPr>
              <a:spLocks noChangeShapeType="1"/>
            </p:cNvSpPr>
            <p:nvPr/>
          </p:nvSpPr>
          <p:spPr bwMode="auto">
            <a:xfrm flipV="1">
              <a:off x="1782" y="3835"/>
              <a:ext cx="609" cy="14"/>
            </a:xfrm>
            <a:prstGeom prst="line">
              <a:avLst/>
            </a:prstGeom>
            <a:noFill/>
            <a:ln w="19050" cap="rnd">
              <a:solidFill>
                <a:schemeClr val="tx2"/>
              </a:solidFill>
              <a:round/>
              <a:headEnd type="none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</p:grpSp>
      <p:sp>
        <p:nvSpPr>
          <p:cNvPr id="50" name="Text Box 19"/>
          <p:cNvSpPr txBox="1">
            <a:spLocks noChangeArrowheads="1"/>
          </p:cNvSpPr>
          <p:nvPr/>
        </p:nvSpPr>
        <p:spPr bwMode="auto">
          <a:xfrm rot="10979844">
            <a:off x="3338684" y="5602688"/>
            <a:ext cx="269626" cy="39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980" dirty="0">
                <a:ea typeface="宋体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90515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8953" y="292934"/>
            <a:ext cx="7920990" cy="630942"/>
          </a:xfrm>
        </p:spPr>
        <p:txBody>
          <a:bodyPr/>
          <a:lstStyle/>
          <a:p>
            <a:r>
              <a:rPr lang="en-US" altLang="zh-CN" dirty="0"/>
              <a:t>Weak Entity Set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688" y="1371963"/>
            <a:ext cx="9458112" cy="3165963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entity set </a:t>
            </a:r>
            <a:r>
              <a:rPr lang="en-US" altLang="zh-CN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is said to be </a:t>
            </a:r>
            <a:r>
              <a:rPr lang="en-US" altLang="zh-CN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weak</a:t>
            </a:r>
            <a:r>
              <a:rPr lang="en-US" altLang="zh-CN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if </a:t>
            </a:r>
          </a:p>
          <a:p>
            <a:pPr lvl="1"/>
            <a:r>
              <a:rPr lang="en-US" altLang="zh-CN" sz="21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 order to identify entities of E uniquely, we need to follow one or more many-one relationships from E  and include the key of the related entities from the owner entity sets: </a:t>
            </a:r>
            <a:r>
              <a:rPr lang="en-US" altLang="zh-CN" sz="2100" b="1" dirty="0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owner, many weak entities</a:t>
            </a:r>
          </a:p>
        </p:txBody>
      </p:sp>
      <p:sp>
        <p:nvSpPr>
          <p:cNvPr id="50" name="Freeform 15"/>
          <p:cNvSpPr>
            <a:spLocks/>
          </p:cNvSpPr>
          <p:nvPr/>
        </p:nvSpPr>
        <p:spPr bwMode="auto">
          <a:xfrm>
            <a:off x="4613354" y="5201190"/>
            <a:ext cx="1360999" cy="676187"/>
          </a:xfrm>
          <a:custGeom>
            <a:avLst/>
            <a:gdLst>
              <a:gd name="T0" fmla="*/ 0 w 789"/>
              <a:gd name="T1" fmla="*/ 196 h 392"/>
              <a:gd name="T2" fmla="*/ 394 w 789"/>
              <a:gd name="T3" fmla="*/ 0 h 392"/>
              <a:gd name="T4" fmla="*/ 788 w 789"/>
              <a:gd name="T5" fmla="*/ 196 h 392"/>
              <a:gd name="T6" fmla="*/ 394 w 789"/>
              <a:gd name="T7" fmla="*/ 391 h 392"/>
              <a:gd name="T8" fmla="*/ 0 w 789"/>
              <a:gd name="T9" fmla="*/ 196 h 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9"/>
              <a:gd name="T16" fmla="*/ 0 h 392"/>
              <a:gd name="T17" fmla="*/ 789 w 789"/>
              <a:gd name="T18" fmla="*/ 392 h 3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89" h="392">
                <a:moveTo>
                  <a:pt x="0" y="196"/>
                </a:moveTo>
                <a:lnTo>
                  <a:pt x="394" y="0"/>
                </a:lnTo>
                <a:lnTo>
                  <a:pt x="788" y="196"/>
                </a:lnTo>
                <a:lnTo>
                  <a:pt x="394" y="391"/>
                </a:lnTo>
                <a:lnTo>
                  <a:pt x="0" y="196"/>
                </a:lnTo>
              </a:path>
            </a:pathLst>
          </a:custGeom>
          <a:solidFill>
            <a:schemeClr val="bg1">
              <a:lumMod val="85000"/>
            </a:schemeClr>
          </a:solidFill>
          <a:ln w="5080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CN" altLang="zh-CN" sz="1485"/>
          </a:p>
        </p:txBody>
      </p:sp>
      <p:grpSp>
        <p:nvGrpSpPr>
          <p:cNvPr id="51" name="Group 34"/>
          <p:cNvGrpSpPr>
            <a:grpSpLocks/>
          </p:cNvGrpSpPr>
          <p:nvPr/>
        </p:nvGrpSpPr>
        <p:grpSpPr bwMode="auto">
          <a:xfrm>
            <a:off x="1583618" y="4309229"/>
            <a:ext cx="6712148" cy="1486495"/>
            <a:chOff x="313" y="2849"/>
            <a:chExt cx="5125" cy="1135"/>
          </a:xfrm>
        </p:grpSpPr>
        <p:sp>
          <p:nvSpPr>
            <p:cNvPr id="52" name="Freeform 6"/>
            <p:cNvSpPr>
              <a:spLocks/>
            </p:cNvSpPr>
            <p:nvPr/>
          </p:nvSpPr>
          <p:spPr bwMode="auto">
            <a:xfrm>
              <a:off x="3682" y="3073"/>
              <a:ext cx="790" cy="334"/>
            </a:xfrm>
            <a:custGeom>
              <a:avLst/>
              <a:gdLst>
                <a:gd name="T0" fmla="*/ 788 w 790"/>
                <a:gd name="T1" fmla="*/ 153 h 334"/>
                <a:gd name="T2" fmla="*/ 775 w 790"/>
                <a:gd name="T3" fmla="*/ 124 h 334"/>
                <a:gd name="T4" fmla="*/ 752 w 790"/>
                <a:gd name="T5" fmla="*/ 97 h 334"/>
                <a:gd name="T6" fmla="*/ 718 w 790"/>
                <a:gd name="T7" fmla="*/ 71 h 334"/>
                <a:gd name="T8" fmla="*/ 674 w 790"/>
                <a:gd name="T9" fmla="*/ 50 h 334"/>
                <a:gd name="T10" fmla="*/ 621 w 790"/>
                <a:gd name="T11" fmla="*/ 30 h 334"/>
                <a:gd name="T12" fmla="*/ 561 w 790"/>
                <a:gd name="T13" fmla="*/ 17 h 334"/>
                <a:gd name="T14" fmla="*/ 497 w 790"/>
                <a:gd name="T15" fmla="*/ 6 h 334"/>
                <a:gd name="T16" fmla="*/ 429 w 790"/>
                <a:gd name="T17" fmla="*/ 1 h 334"/>
                <a:gd name="T18" fmla="*/ 360 w 790"/>
                <a:gd name="T19" fmla="*/ 1 h 334"/>
                <a:gd name="T20" fmla="*/ 293 w 790"/>
                <a:gd name="T21" fmla="*/ 6 h 334"/>
                <a:gd name="T22" fmla="*/ 228 w 790"/>
                <a:gd name="T23" fmla="*/ 17 h 334"/>
                <a:gd name="T24" fmla="*/ 169 w 790"/>
                <a:gd name="T25" fmla="*/ 30 h 334"/>
                <a:gd name="T26" fmla="*/ 116 w 790"/>
                <a:gd name="T27" fmla="*/ 50 h 334"/>
                <a:gd name="T28" fmla="*/ 72 w 790"/>
                <a:gd name="T29" fmla="*/ 71 h 334"/>
                <a:gd name="T30" fmla="*/ 38 w 790"/>
                <a:gd name="T31" fmla="*/ 97 h 334"/>
                <a:gd name="T32" fmla="*/ 14 w 790"/>
                <a:gd name="T33" fmla="*/ 124 h 334"/>
                <a:gd name="T34" fmla="*/ 2 w 790"/>
                <a:gd name="T35" fmla="*/ 153 h 334"/>
                <a:gd name="T36" fmla="*/ 2 w 790"/>
                <a:gd name="T37" fmla="*/ 181 h 334"/>
                <a:gd name="T38" fmla="*/ 14 w 790"/>
                <a:gd name="T39" fmla="*/ 210 h 334"/>
                <a:gd name="T40" fmla="*/ 38 w 790"/>
                <a:gd name="T41" fmla="*/ 237 h 334"/>
                <a:gd name="T42" fmla="*/ 72 w 790"/>
                <a:gd name="T43" fmla="*/ 262 h 334"/>
                <a:gd name="T44" fmla="*/ 116 w 790"/>
                <a:gd name="T45" fmla="*/ 284 h 334"/>
                <a:gd name="T46" fmla="*/ 169 w 790"/>
                <a:gd name="T47" fmla="*/ 303 h 334"/>
                <a:gd name="T48" fmla="*/ 228 w 790"/>
                <a:gd name="T49" fmla="*/ 317 h 334"/>
                <a:gd name="T50" fmla="*/ 293 w 790"/>
                <a:gd name="T51" fmla="*/ 327 h 334"/>
                <a:gd name="T52" fmla="*/ 360 w 790"/>
                <a:gd name="T53" fmla="*/ 332 h 334"/>
                <a:gd name="T54" fmla="*/ 429 w 790"/>
                <a:gd name="T55" fmla="*/ 332 h 334"/>
                <a:gd name="T56" fmla="*/ 497 w 790"/>
                <a:gd name="T57" fmla="*/ 327 h 334"/>
                <a:gd name="T58" fmla="*/ 561 w 790"/>
                <a:gd name="T59" fmla="*/ 317 h 334"/>
                <a:gd name="T60" fmla="*/ 621 w 790"/>
                <a:gd name="T61" fmla="*/ 303 h 334"/>
                <a:gd name="T62" fmla="*/ 674 w 790"/>
                <a:gd name="T63" fmla="*/ 284 h 334"/>
                <a:gd name="T64" fmla="*/ 718 w 790"/>
                <a:gd name="T65" fmla="*/ 262 h 334"/>
                <a:gd name="T66" fmla="*/ 752 w 790"/>
                <a:gd name="T67" fmla="*/ 237 h 334"/>
                <a:gd name="T68" fmla="*/ 775 w 790"/>
                <a:gd name="T69" fmla="*/ 210 h 334"/>
                <a:gd name="T70" fmla="*/ 788 w 790"/>
                <a:gd name="T71" fmla="*/ 181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90"/>
                <a:gd name="T109" fmla="*/ 0 h 334"/>
                <a:gd name="T110" fmla="*/ 790 w 790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90" h="334">
                  <a:moveTo>
                    <a:pt x="789" y="167"/>
                  </a:moveTo>
                  <a:lnTo>
                    <a:pt x="788" y="153"/>
                  </a:lnTo>
                  <a:lnTo>
                    <a:pt x="783" y="138"/>
                  </a:lnTo>
                  <a:lnTo>
                    <a:pt x="775" y="124"/>
                  </a:lnTo>
                  <a:lnTo>
                    <a:pt x="765" y="110"/>
                  </a:lnTo>
                  <a:lnTo>
                    <a:pt x="752" y="97"/>
                  </a:lnTo>
                  <a:lnTo>
                    <a:pt x="736" y="83"/>
                  </a:lnTo>
                  <a:lnTo>
                    <a:pt x="718" y="71"/>
                  </a:lnTo>
                  <a:lnTo>
                    <a:pt x="697" y="60"/>
                  </a:lnTo>
                  <a:lnTo>
                    <a:pt x="674" y="50"/>
                  </a:lnTo>
                  <a:lnTo>
                    <a:pt x="648" y="40"/>
                  </a:lnTo>
                  <a:lnTo>
                    <a:pt x="621" y="30"/>
                  </a:lnTo>
                  <a:lnTo>
                    <a:pt x="592" y="23"/>
                  </a:lnTo>
                  <a:lnTo>
                    <a:pt x="561" y="17"/>
                  </a:lnTo>
                  <a:lnTo>
                    <a:pt x="529" y="10"/>
                  </a:lnTo>
                  <a:lnTo>
                    <a:pt x="497" y="6"/>
                  </a:lnTo>
                  <a:lnTo>
                    <a:pt x="463" y="3"/>
                  </a:lnTo>
                  <a:lnTo>
                    <a:pt x="429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3" y="6"/>
                  </a:lnTo>
                  <a:lnTo>
                    <a:pt x="260" y="10"/>
                  </a:lnTo>
                  <a:lnTo>
                    <a:pt x="228" y="17"/>
                  </a:lnTo>
                  <a:lnTo>
                    <a:pt x="197" y="23"/>
                  </a:lnTo>
                  <a:lnTo>
                    <a:pt x="169" y="30"/>
                  </a:lnTo>
                  <a:lnTo>
                    <a:pt x="142" y="40"/>
                  </a:lnTo>
                  <a:lnTo>
                    <a:pt x="116" y="50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4" y="83"/>
                  </a:lnTo>
                  <a:lnTo>
                    <a:pt x="38" y="97"/>
                  </a:lnTo>
                  <a:lnTo>
                    <a:pt x="24" y="110"/>
                  </a:lnTo>
                  <a:lnTo>
                    <a:pt x="14" y="124"/>
                  </a:lnTo>
                  <a:lnTo>
                    <a:pt x="7" y="138"/>
                  </a:lnTo>
                  <a:lnTo>
                    <a:pt x="2" y="153"/>
                  </a:lnTo>
                  <a:lnTo>
                    <a:pt x="0" y="167"/>
                  </a:lnTo>
                  <a:lnTo>
                    <a:pt x="2" y="181"/>
                  </a:lnTo>
                  <a:lnTo>
                    <a:pt x="7" y="196"/>
                  </a:lnTo>
                  <a:lnTo>
                    <a:pt x="14" y="210"/>
                  </a:lnTo>
                  <a:lnTo>
                    <a:pt x="24" y="224"/>
                  </a:lnTo>
                  <a:lnTo>
                    <a:pt x="38" y="237"/>
                  </a:lnTo>
                  <a:lnTo>
                    <a:pt x="54" y="250"/>
                  </a:lnTo>
                  <a:lnTo>
                    <a:pt x="72" y="262"/>
                  </a:lnTo>
                  <a:lnTo>
                    <a:pt x="93" y="274"/>
                  </a:lnTo>
                  <a:lnTo>
                    <a:pt x="116" y="284"/>
                  </a:lnTo>
                  <a:lnTo>
                    <a:pt x="142" y="294"/>
                  </a:lnTo>
                  <a:lnTo>
                    <a:pt x="169" y="303"/>
                  </a:lnTo>
                  <a:lnTo>
                    <a:pt x="197" y="311"/>
                  </a:lnTo>
                  <a:lnTo>
                    <a:pt x="228" y="317"/>
                  </a:lnTo>
                  <a:lnTo>
                    <a:pt x="260" y="323"/>
                  </a:lnTo>
                  <a:lnTo>
                    <a:pt x="293" y="327"/>
                  </a:lnTo>
                  <a:lnTo>
                    <a:pt x="326" y="331"/>
                  </a:lnTo>
                  <a:lnTo>
                    <a:pt x="360" y="332"/>
                  </a:lnTo>
                  <a:lnTo>
                    <a:pt x="394" y="333"/>
                  </a:lnTo>
                  <a:lnTo>
                    <a:pt x="429" y="332"/>
                  </a:lnTo>
                  <a:lnTo>
                    <a:pt x="463" y="331"/>
                  </a:lnTo>
                  <a:lnTo>
                    <a:pt x="497" y="327"/>
                  </a:lnTo>
                  <a:lnTo>
                    <a:pt x="529" y="323"/>
                  </a:lnTo>
                  <a:lnTo>
                    <a:pt x="561" y="317"/>
                  </a:lnTo>
                  <a:lnTo>
                    <a:pt x="592" y="311"/>
                  </a:lnTo>
                  <a:lnTo>
                    <a:pt x="621" y="303"/>
                  </a:lnTo>
                  <a:lnTo>
                    <a:pt x="648" y="294"/>
                  </a:lnTo>
                  <a:lnTo>
                    <a:pt x="674" y="284"/>
                  </a:lnTo>
                  <a:lnTo>
                    <a:pt x="697" y="274"/>
                  </a:lnTo>
                  <a:lnTo>
                    <a:pt x="718" y="262"/>
                  </a:lnTo>
                  <a:lnTo>
                    <a:pt x="736" y="250"/>
                  </a:lnTo>
                  <a:lnTo>
                    <a:pt x="752" y="237"/>
                  </a:lnTo>
                  <a:lnTo>
                    <a:pt x="765" y="224"/>
                  </a:lnTo>
                  <a:lnTo>
                    <a:pt x="775" y="210"/>
                  </a:lnTo>
                  <a:lnTo>
                    <a:pt x="783" y="196"/>
                  </a:lnTo>
                  <a:lnTo>
                    <a:pt x="788" y="181"/>
                  </a:lnTo>
                  <a:lnTo>
                    <a:pt x="789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53" name="Freeform 7"/>
            <p:cNvSpPr>
              <a:spLocks/>
            </p:cNvSpPr>
            <p:nvPr/>
          </p:nvSpPr>
          <p:spPr bwMode="auto">
            <a:xfrm>
              <a:off x="4648" y="3083"/>
              <a:ext cx="790" cy="334"/>
            </a:xfrm>
            <a:custGeom>
              <a:avLst/>
              <a:gdLst>
                <a:gd name="T0" fmla="*/ 2 w 790"/>
                <a:gd name="T1" fmla="*/ 181 h 334"/>
                <a:gd name="T2" fmla="*/ 13 w 790"/>
                <a:gd name="T3" fmla="*/ 210 h 334"/>
                <a:gd name="T4" fmla="*/ 38 w 790"/>
                <a:gd name="T5" fmla="*/ 237 h 334"/>
                <a:gd name="T6" fmla="*/ 72 w 790"/>
                <a:gd name="T7" fmla="*/ 262 h 334"/>
                <a:gd name="T8" fmla="*/ 116 w 790"/>
                <a:gd name="T9" fmla="*/ 284 h 334"/>
                <a:gd name="T10" fmla="*/ 169 w 790"/>
                <a:gd name="T11" fmla="*/ 303 h 334"/>
                <a:gd name="T12" fmla="*/ 228 w 790"/>
                <a:gd name="T13" fmla="*/ 317 h 334"/>
                <a:gd name="T14" fmla="*/ 293 w 790"/>
                <a:gd name="T15" fmla="*/ 327 h 334"/>
                <a:gd name="T16" fmla="*/ 360 w 790"/>
                <a:gd name="T17" fmla="*/ 332 h 334"/>
                <a:gd name="T18" fmla="*/ 429 w 790"/>
                <a:gd name="T19" fmla="*/ 332 h 334"/>
                <a:gd name="T20" fmla="*/ 497 w 790"/>
                <a:gd name="T21" fmla="*/ 327 h 334"/>
                <a:gd name="T22" fmla="*/ 561 w 790"/>
                <a:gd name="T23" fmla="*/ 317 h 334"/>
                <a:gd name="T24" fmla="*/ 621 w 790"/>
                <a:gd name="T25" fmla="*/ 303 h 334"/>
                <a:gd name="T26" fmla="*/ 673 w 790"/>
                <a:gd name="T27" fmla="*/ 284 h 334"/>
                <a:gd name="T28" fmla="*/ 717 w 790"/>
                <a:gd name="T29" fmla="*/ 262 h 334"/>
                <a:gd name="T30" fmla="*/ 752 w 790"/>
                <a:gd name="T31" fmla="*/ 237 h 334"/>
                <a:gd name="T32" fmla="*/ 775 w 790"/>
                <a:gd name="T33" fmla="*/ 210 h 334"/>
                <a:gd name="T34" fmla="*/ 787 w 790"/>
                <a:gd name="T35" fmla="*/ 181 h 334"/>
                <a:gd name="T36" fmla="*/ 787 w 790"/>
                <a:gd name="T37" fmla="*/ 152 h 334"/>
                <a:gd name="T38" fmla="*/ 775 w 790"/>
                <a:gd name="T39" fmla="*/ 124 h 334"/>
                <a:gd name="T40" fmla="*/ 751 w 790"/>
                <a:gd name="T41" fmla="*/ 97 h 334"/>
                <a:gd name="T42" fmla="*/ 717 w 790"/>
                <a:gd name="T43" fmla="*/ 71 h 334"/>
                <a:gd name="T44" fmla="*/ 673 w 790"/>
                <a:gd name="T45" fmla="*/ 49 h 334"/>
                <a:gd name="T46" fmla="*/ 620 w 790"/>
                <a:gd name="T47" fmla="*/ 30 h 334"/>
                <a:gd name="T48" fmla="*/ 561 w 790"/>
                <a:gd name="T49" fmla="*/ 16 h 334"/>
                <a:gd name="T50" fmla="*/ 496 w 790"/>
                <a:gd name="T51" fmla="*/ 6 h 334"/>
                <a:gd name="T52" fmla="*/ 429 w 790"/>
                <a:gd name="T53" fmla="*/ 1 h 334"/>
                <a:gd name="T54" fmla="*/ 360 w 790"/>
                <a:gd name="T55" fmla="*/ 1 h 334"/>
                <a:gd name="T56" fmla="*/ 293 w 790"/>
                <a:gd name="T57" fmla="*/ 7 h 334"/>
                <a:gd name="T58" fmla="*/ 228 w 790"/>
                <a:gd name="T59" fmla="*/ 16 h 334"/>
                <a:gd name="T60" fmla="*/ 169 w 790"/>
                <a:gd name="T61" fmla="*/ 30 h 334"/>
                <a:gd name="T62" fmla="*/ 116 w 790"/>
                <a:gd name="T63" fmla="*/ 50 h 334"/>
                <a:gd name="T64" fmla="*/ 72 w 790"/>
                <a:gd name="T65" fmla="*/ 71 h 334"/>
                <a:gd name="T66" fmla="*/ 38 w 790"/>
                <a:gd name="T67" fmla="*/ 97 h 334"/>
                <a:gd name="T68" fmla="*/ 13 w 790"/>
                <a:gd name="T69" fmla="*/ 124 h 334"/>
                <a:gd name="T70" fmla="*/ 2 w 790"/>
                <a:gd name="T71" fmla="*/ 152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90"/>
                <a:gd name="T109" fmla="*/ 0 h 334"/>
                <a:gd name="T110" fmla="*/ 790 w 790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90" h="334">
                  <a:moveTo>
                    <a:pt x="0" y="167"/>
                  </a:moveTo>
                  <a:lnTo>
                    <a:pt x="2" y="181"/>
                  </a:lnTo>
                  <a:lnTo>
                    <a:pt x="6" y="196"/>
                  </a:lnTo>
                  <a:lnTo>
                    <a:pt x="13" y="210"/>
                  </a:lnTo>
                  <a:lnTo>
                    <a:pt x="24" y="224"/>
                  </a:lnTo>
                  <a:lnTo>
                    <a:pt x="38" y="237"/>
                  </a:lnTo>
                  <a:lnTo>
                    <a:pt x="53" y="250"/>
                  </a:lnTo>
                  <a:lnTo>
                    <a:pt x="72" y="262"/>
                  </a:lnTo>
                  <a:lnTo>
                    <a:pt x="93" y="274"/>
                  </a:lnTo>
                  <a:lnTo>
                    <a:pt x="116" y="284"/>
                  </a:lnTo>
                  <a:lnTo>
                    <a:pt x="141" y="294"/>
                  </a:lnTo>
                  <a:lnTo>
                    <a:pt x="169" y="303"/>
                  </a:lnTo>
                  <a:lnTo>
                    <a:pt x="197" y="311"/>
                  </a:lnTo>
                  <a:lnTo>
                    <a:pt x="228" y="317"/>
                  </a:lnTo>
                  <a:lnTo>
                    <a:pt x="259" y="323"/>
                  </a:lnTo>
                  <a:lnTo>
                    <a:pt x="293" y="327"/>
                  </a:lnTo>
                  <a:lnTo>
                    <a:pt x="326" y="331"/>
                  </a:lnTo>
                  <a:lnTo>
                    <a:pt x="360" y="332"/>
                  </a:lnTo>
                  <a:lnTo>
                    <a:pt x="394" y="333"/>
                  </a:lnTo>
                  <a:lnTo>
                    <a:pt x="429" y="332"/>
                  </a:lnTo>
                  <a:lnTo>
                    <a:pt x="463" y="331"/>
                  </a:lnTo>
                  <a:lnTo>
                    <a:pt x="497" y="327"/>
                  </a:lnTo>
                  <a:lnTo>
                    <a:pt x="529" y="323"/>
                  </a:lnTo>
                  <a:lnTo>
                    <a:pt x="561" y="317"/>
                  </a:lnTo>
                  <a:lnTo>
                    <a:pt x="591" y="311"/>
                  </a:lnTo>
                  <a:lnTo>
                    <a:pt x="621" y="303"/>
                  </a:lnTo>
                  <a:lnTo>
                    <a:pt x="648" y="294"/>
                  </a:lnTo>
                  <a:lnTo>
                    <a:pt x="673" y="284"/>
                  </a:lnTo>
                  <a:lnTo>
                    <a:pt x="696" y="274"/>
                  </a:lnTo>
                  <a:lnTo>
                    <a:pt x="717" y="262"/>
                  </a:lnTo>
                  <a:lnTo>
                    <a:pt x="736" y="250"/>
                  </a:lnTo>
                  <a:lnTo>
                    <a:pt x="752" y="237"/>
                  </a:lnTo>
                  <a:lnTo>
                    <a:pt x="765" y="224"/>
                  </a:lnTo>
                  <a:lnTo>
                    <a:pt x="775" y="210"/>
                  </a:lnTo>
                  <a:lnTo>
                    <a:pt x="782" y="195"/>
                  </a:lnTo>
                  <a:lnTo>
                    <a:pt x="787" y="181"/>
                  </a:lnTo>
                  <a:lnTo>
                    <a:pt x="789" y="167"/>
                  </a:lnTo>
                  <a:lnTo>
                    <a:pt x="787" y="152"/>
                  </a:lnTo>
                  <a:lnTo>
                    <a:pt x="782" y="137"/>
                  </a:lnTo>
                  <a:lnTo>
                    <a:pt x="775" y="124"/>
                  </a:lnTo>
                  <a:lnTo>
                    <a:pt x="765" y="110"/>
                  </a:lnTo>
                  <a:lnTo>
                    <a:pt x="751" y="97"/>
                  </a:lnTo>
                  <a:lnTo>
                    <a:pt x="736" y="83"/>
                  </a:lnTo>
                  <a:lnTo>
                    <a:pt x="717" y="71"/>
                  </a:lnTo>
                  <a:lnTo>
                    <a:pt x="696" y="60"/>
                  </a:lnTo>
                  <a:lnTo>
                    <a:pt x="673" y="49"/>
                  </a:lnTo>
                  <a:lnTo>
                    <a:pt x="648" y="40"/>
                  </a:lnTo>
                  <a:lnTo>
                    <a:pt x="620" y="30"/>
                  </a:lnTo>
                  <a:lnTo>
                    <a:pt x="591" y="23"/>
                  </a:lnTo>
                  <a:lnTo>
                    <a:pt x="561" y="16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3" y="3"/>
                  </a:lnTo>
                  <a:lnTo>
                    <a:pt x="429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3" y="7"/>
                  </a:lnTo>
                  <a:lnTo>
                    <a:pt x="259" y="10"/>
                  </a:lnTo>
                  <a:lnTo>
                    <a:pt x="228" y="16"/>
                  </a:lnTo>
                  <a:lnTo>
                    <a:pt x="197" y="23"/>
                  </a:lnTo>
                  <a:lnTo>
                    <a:pt x="169" y="30"/>
                  </a:lnTo>
                  <a:lnTo>
                    <a:pt x="141" y="40"/>
                  </a:lnTo>
                  <a:lnTo>
                    <a:pt x="116" y="50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3" y="83"/>
                  </a:lnTo>
                  <a:lnTo>
                    <a:pt x="38" y="97"/>
                  </a:lnTo>
                  <a:lnTo>
                    <a:pt x="24" y="110"/>
                  </a:lnTo>
                  <a:lnTo>
                    <a:pt x="13" y="124"/>
                  </a:lnTo>
                  <a:lnTo>
                    <a:pt x="6" y="138"/>
                  </a:lnTo>
                  <a:lnTo>
                    <a:pt x="2" y="152"/>
                  </a:lnTo>
                  <a:lnTo>
                    <a:pt x="0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54" name="Freeform 8"/>
            <p:cNvSpPr>
              <a:spLocks/>
            </p:cNvSpPr>
            <p:nvPr/>
          </p:nvSpPr>
          <p:spPr bwMode="auto">
            <a:xfrm>
              <a:off x="313" y="3093"/>
              <a:ext cx="790" cy="334"/>
            </a:xfrm>
            <a:custGeom>
              <a:avLst/>
              <a:gdLst>
                <a:gd name="T0" fmla="*/ 787 w 790"/>
                <a:gd name="T1" fmla="*/ 152 h 334"/>
                <a:gd name="T2" fmla="*/ 776 w 790"/>
                <a:gd name="T3" fmla="*/ 124 h 334"/>
                <a:gd name="T4" fmla="*/ 752 w 790"/>
                <a:gd name="T5" fmla="*/ 96 h 334"/>
                <a:gd name="T6" fmla="*/ 717 w 790"/>
                <a:gd name="T7" fmla="*/ 71 h 334"/>
                <a:gd name="T8" fmla="*/ 673 w 790"/>
                <a:gd name="T9" fmla="*/ 49 h 334"/>
                <a:gd name="T10" fmla="*/ 620 w 790"/>
                <a:gd name="T11" fmla="*/ 30 h 334"/>
                <a:gd name="T12" fmla="*/ 561 w 790"/>
                <a:gd name="T13" fmla="*/ 16 h 334"/>
                <a:gd name="T14" fmla="*/ 497 w 790"/>
                <a:gd name="T15" fmla="*/ 6 h 334"/>
                <a:gd name="T16" fmla="*/ 429 w 790"/>
                <a:gd name="T17" fmla="*/ 1 h 334"/>
                <a:gd name="T18" fmla="*/ 360 w 790"/>
                <a:gd name="T19" fmla="*/ 1 h 334"/>
                <a:gd name="T20" fmla="*/ 293 w 790"/>
                <a:gd name="T21" fmla="*/ 6 h 334"/>
                <a:gd name="T22" fmla="*/ 228 w 790"/>
                <a:gd name="T23" fmla="*/ 16 h 334"/>
                <a:gd name="T24" fmla="*/ 169 w 790"/>
                <a:gd name="T25" fmla="*/ 30 h 334"/>
                <a:gd name="T26" fmla="*/ 116 w 790"/>
                <a:gd name="T27" fmla="*/ 49 h 334"/>
                <a:gd name="T28" fmla="*/ 72 w 790"/>
                <a:gd name="T29" fmla="*/ 71 h 334"/>
                <a:gd name="T30" fmla="*/ 38 w 790"/>
                <a:gd name="T31" fmla="*/ 96 h 334"/>
                <a:gd name="T32" fmla="*/ 14 w 790"/>
                <a:gd name="T33" fmla="*/ 124 h 334"/>
                <a:gd name="T34" fmla="*/ 2 w 790"/>
                <a:gd name="T35" fmla="*/ 152 h 334"/>
                <a:gd name="T36" fmla="*/ 2 w 790"/>
                <a:gd name="T37" fmla="*/ 181 h 334"/>
                <a:gd name="T38" fmla="*/ 14 w 790"/>
                <a:gd name="T39" fmla="*/ 210 h 334"/>
                <a:gd name="T40" fmla="*/ 38 w 790"/>
                <a:gd name="T41" fmla="*/ 237 h 334"/>
                <a:gd name="T42" fmla="*/ 72 w 790"/>
                <a:gd name="T43" fmla="*/ 262 h 334"/>
                <a:gd name="T44" fmla="*/ 116 w 790"/>
                <a:gd name="T45" fmla="*/ 284 h 334"/>
                <a:gd name="T46" fmla="*/ 169 w 790"/>
                <a:gd name="T47" fmla="*/ 303 h 334"/>
                <a:gd name="T48" fmla="*/ 228 w 790"/>
                <a:gd name="T49" fmla="*/ 317 h 334"/>
                <a:gd name="T50" fmla="*/ 293 w 790"/>
                <a:gd name="T51" fmla="*/ 327 h 334"/>
                <a:gd name="T52" fmla="*/ 360 w 790"/>
                <a:gd name="T53" fmla="*/ 332 h 334"/>
                <a:gd name="T54" fmla="*/ 429 w 790"/>
                <a:gd name="T55" fmla="*/ 332 h 334"/>
                <a:gd name="T56" fmla="*/ 497 w 790"/>
                <a:gd name="T57" fmla="*/ 327 h 334"/>
                <a:gd name="T58" fmla="*/ 561 w 790"/>
                <a:gd name="T59" fmla="*/ 317 h 334"/>
                <a:gd name="T60" fmla="*/ 620 w 790"/>
                <a:gd name="T61" fmla="*/ 303 h 334"/>
                <a:gd name="T62" fmla="*/ 673 w 790"/>
                <a:gd name="T63" fmla="*/ 284 h 334"/>
                <a:gd name="T64" fmla="*/ 717 w 790"/>
                <a:gd name="T65" fmla="*/ 262 h 334"/>
                <a:gd name="T66" fmla="*/ 752 w 790"/>
                <a:gd name="T67" fmla="*/ 237 h 334"/>
                <a:gd name="T68" fmla="*/ 776 w 790"/>
                <a:gd name="T69" fmla="*/ 210 h 334"/>
                <a:gd name="T70" fmla="*/ 787 w 790"/>
                <a:gd name="T71" fmla="*/ 181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90"/>
                <a:gd name="T109" fmla="*/ 0 h 334"/>
                <a:gd name="T110" fmla="*/ 790 w 790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90" h="334">
                  <a:moveTo>
                    <a:pt x="789" y="167"/>
                  </a:moveTo>
                  <a:lnTo>
                    <a:pt x="787" y="152"/>
                  </a:lnTo>
                  <a:lnTo>
                    <a:pt x="783" y="137"/>
                  </a:lnTo>
                  <a:lnTo>
                    <a:pt x="776" y="124"/>
                  </a:lnTo>
                  <a:lnTo>
                    <a:pt x="765" y="110"/>
                  </a:lnTo>
                  <a:lnTo>
                    <a:pt x="752" y="96"/>
                  </a:lnTo>
                  <a:lnTo>
                    <a:pt x="736" y="83"/>
                  </a:lnTo>
                  <a:lnTo>
                    <a:pt x="717" y="71"/>
                  </a:lnTo>
                  <a:lnTo>
                    <a:pt x="696" y="60"/>
                  </a:lnTo>
                  <a:lnTo>
                    <a:pt x="673" y="49"/>
                  </a:lnTo>
                  <a:lnTo>
                    <a:pt x="648" y="39"/>
                  </a:lnTo>
                  <a:lnTo>
                    <a:pt x="620" y="30"/>
                  </a:lnTo>
                  <a:lnTo>
                    <a:pt x="592" y="23"/>
                  </a:lnTo>
                  <a:lnTo>
                    <a:pt x="561" y="16"/>
                  </a:lnTo>
                  <a:lnTo>
                    <a:pt x="530" y="10"/>
                  </a:lnTo>
                  <a:lnTo>
                    <a:pt x="497" y="6"/>
                  </a:lnTo>
                  <a:lnTo>
                    <a:pt x="463" y="3"/>
                  </a:lnTo>
                  <a:lnTo>
                    <a:pt x="429" y="1"/>
                  </a:lnTo>
                  <a:lnTo>
                    <a:pt x="395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3" y="6"/>
                  </a:lnTo>
                  <a:lnTo>
                    <a:pt x="260" y="10"/>
                  </a:lnTo>
                  <a:lnTo>
                    <a:pt x="228" y="16"/>
                  </a:lnTo>
                  <a:lnTo>
                    <a:pt x="198" y="23"/>
                  </a:lnTo>
                  <a:lnTo>
                    <a:pt x="169" y="30"/>
                  </a:lnTo>
                  <a:lnTo>
                    <a:pt x="142" y="39"/>
                  </a:lnTo>
                  <a:lnTo>
                    <a:pt x="116" y="49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3" y="83"/>
                  </a:lnTo>
                  <a:lnTo>
                    <a:pt x="38" y="96"/>
                  </a:lnTo>
                  <a:lnTo>
                    <a:pt x="24" y="110"/>
                  </a:lnTo>
                  <a:lnTo>
                    <a:pt x="14" y="124"/>
                  </a:lnTo>
                  <a:lnTo>
                    <a:pt x="7" y="137"/>
                  </a:lnTo>
                  <a:lnTo>
                    <a:pt x="2" y="152"/>
                  </a:lnTo>
                  <a:lnTo>
                    <a:pt x="0" y="167"/>
                  </a:lnTo>
                  <a:lnTo>
                    <a:pt x="2" y="181"/>
                  </a:lnTo>
                  <a:lnTo>
                    <a:pt x="7" y="195"/>
                  </a:lnTo>
                  <a:lnTo>
                    <a:pt x="14" y="210"/>
                  </a:lnTo>
                  <a:lnTo>
                    <a:pt x="24" y="224"/>
                  </a:lnTo>
                  <a:lnTo>
                    <a:pt x="38" y="237"/>
                  </a:lnTo>
                  <a:lnTo>
                    <a:pt x="53" y="250"/>
                  </a:lnTo>
                  <a:lnTo>
                    <a:pt x="72" y="262"/>
                  </a:lnTo>
                  <a:lnTo>
                    <a:pt x="93" y="273"/>
                  </a:lnTo>
                  <a:lnTo>
                    <a:pt x="116" y="284"/>
                  </a:lnTo>
                  <a:lnTo>
                    <a:pt x="142" y="294"/>
                  </a:lnTo>
                  <a:lnTo>
                    <a:pt x="169" y="303"/>
                  </a:lnTo>
                  <a:lnTo>
                    <a:pt x="198" y="311"/>
                  </a:lnTo>
                  <a:lnTo>
                    <a:pt x="228" y="317"/>
                  </a:lnTo>
                  <a:lnTo>
                    <a:pt x="260" y="323"/>
                  </a:lnTo>
                  <a:lnTo>
                    <a:pt x="293" y="327"/>
                  </a:lnTo>
                  <a:lnTo>
                    <a:pt x="326" y="330"/>
                  </a:lnTo>
                  <a:lnTo>
                    <a:pt x="360" y="332"/>
                  </a:lnTo>
                  <a:lnTo>
                    <a:pt x="395" y="333"/>
                  </a:lnTo>
                  <a:lnTo>
                    <a:pt x="429" y="332"/>
                  </a:lnTo>
                  <a:lnTo>
                    <a:pt x="463" y="330"/>
                  </a:lnTo>
                  <a:lnTo>
                    <a:pt x="497" y="327"/>
                  </a:lnTo>
                  <a:lnTo>
                    <a:pt x="530" y="323"/>
                  </a:lnTo>
                  <a:lnTo>
                    <a:pt x="561" y="317"/>
                  </a:lnTo>
                  <a:lnTo>
                    <a:pt x="592" y="311"/>
                  </a:lnTo>
                  <a:lnTo>
                    <a:pt x="620" y="303"/>
                  </a:lnTo>
                  <a:lnTo>
                    <a:pt x="648" y="294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7" y="262"/>
                  </a:lnTo>
                  <a:lnTo>
                    <a:pt x="736" y="250"/>
                  </a:lnTo>
                  <a:lnTo>
                    <a:pt x="752" y="237"/>
                  </a:lnTo>
                  <a:lnTo>
                    <a:pt x="765" y="224"/>
                  </a:lnTo>
                  <a:lnTo>
                    <a:pt x="776" y="210"/>
                  </a:lnTo>
                  <a:lnTo>
                    <a:pt x="783" y="195"/>
                  </a:lnTo>
                  <a:lnTo>
                    <a:pt x="787" y="181"/>
                  </a:lnTo>
                  <a:lnTo>
                    <a:pt x="789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55" name="Freeform 9"/>
            <p:cNvSpPr>
              <a:spLocks/>
            </p:cNvSpPr>
            <p:nvPr/>
          </p:nvSpPr>
          <p:spPr bwMode="auto">
            <a:xfrm>
              <a:off x="1762" y="3093"/>
              <a:ext cx="789" cy="334"/>
            </a:xfrm>
            <a:custGeom>
              <a:avLst/>
              <a:gdLst>
                <a:gd name="T0" fmla="*/ 2 w 789"/>
                <a:gd name="T1" fmla="*/ 181 h 334"/>
                <a:gd name="T2" fmla="*/ 13 w 789"/>
                <a:gd name="T3" fmla="*/ 210 h 334"/>
                <a:gd name="T4" fmla="*/ 37 w 789"/>
                <a:gd name="T5" fmla="*/ 237 h 334"/>
                <a:gd name="T6" fmla="*/ 71 w 789"/>
                <a:gd name="T7" fmla="*/ 262 h 334"/>
                <a:gd name="T8" fmla="*/ 116 w 789"/>
                <a:gd name="T9" fmla="*/ 284 h 334"/>
                <a:gd name="T10" fmla="*/ 168 w 789"/>
                <a:gd name="T11" fmla="*/ 303 h 334"/>
                <a:gd name="T12" fmla="*/ 227 w 789"/>
                <a:gd name="T13" fmla="*/ 317 h 334"/>
                <a:gd name="T14" fmla="*/ 293 w 789"/>
                <a:gd name="T15" fmla="*/ 327 h 334"/>
                <a:gd name="T16" fmla="*/ 360 w 789"/>
                <a:gd name="T17" fmla="*/ 332 h 334"/>
                <a:gd name="T18" fmla="*/ 428 w 789"/>
                <a:gd name="T19" fmla="*/ 332 h 334"/>
                <a:gd name="T20" fmla="*/ 497 w 789"/>
                <a:gd name="T21" fmla="*/ 327 h 334"/>
                <a:gd name="T22" fmla="*/ 561 w 789"/>
                <a:gd name="T23" fmla="*/ 317 h 334"/>
                <a:gd name="T24" fmla="*/ 620 w 789"/>
                <a:gd name="T25" fmla="*/ 302 h 334"/>
                <a:gd name="T26" fmla="*/ 673 w 789"/>
                <a:gd name="T27" fmla="*/ 284 h 334"/>
                <a:gd name="T28" fmla="*/ 717 w 789"/>
                <a:gd name="T29" fmla="*/ 261 h 334"/>
                <a:gd name="T30" fmla="*/ 751 w 789"/>
                <a:gd name="T31" fmla="*/ 237 h 334"/>
                <a:gd name="T32" fmla="*/ 775 w 789"/>
                <a:gd name="T33" fmla="*/ 209 h 334"/>
                <a:gd name="T34" fmla="*/ 787 w 789"/>
                <a:gd name="T35" fmla="*/ 180 h 334"/>
                <a:gd name="T36" fmla="*/ 787 w 789"/>
                <a:gd name="T37" fmla="*/ 152 h 334"/>
                <a:gd name="T38" fmla="*/ 775 w 789"/>
                <a:gd name="T39" fmla="*/ 124 h 334"/>
                <a:gd name="T40" fmla="*/ 751 w 789"/>
                <a:gd name="T41" fmla="*/ 96 h 334"/>
                <a:gd name="T42" fmla="*/ 717 w 789"/>
                <a:gd name="T43" fmla="*/ 71 h 334"/>
                <a:gd name="T44" fmla="*/ 673 w 789"/>
                <a:gd name="T45" fmla="*/ 49 h 334"/>
                <a:gd name="T46" fmla="*/ 620 w 789"/>
                <a:gd name="T47" fmla="*/ 30 h 334"/>
                <a:gd name="T48" fmla="*/ 561 w 789"/>
                <a:gd name="T49" fmla="*/ 16 h 334"/>
                <a:gd name="T50" fmla="*/ 496 w 789"/>
                <a:gd name="T51" fmla="*/ 6 h 334"/>
                <a:gd name="T52" fmla="*/ 428 w 789"/>
                <a:gd name="T53" fmla="*/ 1 h 334"/>
                <a:gd name="T54" fmla="*/ 360 w 789"/>
                <a:gd name="T55" fmla="*/ 1 h 334"/>
                <a:gd name="T56" fmla="*/ 292 w 789"/>
                <a:gd name="T57" fmla="*/ 6 h 334"/>
                <a:gd name="T58" fmla="*/ 227 w 789"/>
                <a:gd name="T59" fmla="*/ 16 h 334"/>
                <a:gd name="T60" fmla="*/ 168 w 789"/>
                <a:gd name="T61" fmla="*/ 30 h 334"/>
                <a:gd name="T62" fmla="*/ 116 w 789"/>
                <a:gd name="T63" fmla="*/ 49 h 334"/>
                <a:gd name="T64" fmla="*/ 71 w 789"/>
                <a:gd name="T65" fmla="*/ 71 h 334"/>
                <a:gd name="T66" fmla="*/ 37 w 789"/>
                <a:gd name="T67" fmla="*/ 97 h 334"/>
                <a:gd name="T68" fmla="*/ 13 w 789"/>
                <a:gd name="T69" fmla="*/ 124 h 334"/>
                <a:gd name="T70" fmla="*/ 2 w 789"/>
                <a:gd name="T71" fmla="*/ 152 h 33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89"/>
                <a:gd name="T109" fmla="*/ 0 h 334"/>
                <a:gd name="T110" fmla="*/ 789 w 789"/>
                <a:gd name="T111" fmla="*/ 334 h 334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89" h="334">
                  <a:moveTo>
                    <a:pt x="0" y="167"/>
                  </a:moveTo>
                  <a:lnTo>
                    <a:pt x="2" y="181"/>
                  </a:lnTo>
                  <a:lnTo>
                    <a:pt x="6" y="195"/>
                  </a:lnTo>
                  <a:lnTo>
                    <a:pt x="13" y="210"/>
                  </a:lnTo>
                  <a:lnTo>
                    <a:pt x="24" y="224"/>
                  </a:lnTo>
                  <a:lnTo>
                    <a:pt x="37" y="237"/>
                  </a:lnTo>
                  <a:lnTo>
                    <a:pt x="53" y="250"/>
                  </a:lnTo>
                  <a:lnTo>
                    <a:pt x="71" y="262"/>
                  </a:lnTo>
                  <a:lnTo>
                    <a:pt x="92" y="274"/>
                  </a:lnTo>
                  <a:lnTo>
                    <a:pt x="116" y="284"/>
                  </a:lnTo>
                  <a:lnTo>
                    <a:pt x="141" y="294"/>
                  </a:lnTo>
                  <a:lnTo>
                    <a:pt x="168" y="303"/>
                  </a:lnTo>
                  <a:lnTo>
                    <a:pt x="197" y="311"/>
                  </a:lnTo>
                  <a:lnTo>
                    <a:pt x="227" y="317"/>
                  </a:lnTo>
                  <a:lnTo>
                    <a:pt x="259" y="323"/>
                  </a:lnTo>
                  <a:lnTo>
                    <a:pt x="293" y="327"/>
                  </a:lnTo>
                  <a:lnTo>
                    <a:pt x="326" y="330"/>
                  </a:lnTo>
                  <a:lnTo>
                    <a:pt x="360" y="332"/>
                  </a:lnTo>
                  <a:lnTo>
                    <a:pt x="394" y="333"/>
                  </a:lnTo>
                  <a:lnTo>
                    <a:pt x="428" y="332"/>
                  </a:lnTo>
                  <a:lnTo>
                    <a:pt x="462" y="330"/>
                  </a:lnTo>
                  <a:lnTo>
                    <a:pt x="497" y="327"/>
                  </a:lnTo>
                  <a:lnTo>
                    <a:pt x="529" y="323"/>
                  </a:lnTo>
                  <a:lnTo>
                    <a:pt x="561" y="317"/>
                  </a:lnTo>
                  <a:lnTo>
                    <a:pt x="591" y="311"/>
                  </a:lnTo>
                  <a:lnTo>
                    <a:pt x="620" y="302"/>
                  </a:lnTo>
                  <a:lnTo>
                    <a:pt x="648" y="294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7" y="261"/>
                  </a:lnTo>
                  <a:lnTo>
                    <a:pt x="736" y="250"/>
                  </a:lnTo>
                  <a:lnTo>
                    <a:pt x="751" y="237"/>
                  </a:lnTo>
                  <a:lnTo>
                    <a:pt x="764" y="223"/>
                  </a:lnTo>
                  <a:lnTo>
                    <a:pt x="775" y="209"/>
                  </a:lnTo>
                  <a:lnTo>
                    <a:pt x="782" y="195"/>
                  </a:lnTo>
                  <a:lnTo>
                    <a:pt x="787" y="180"/>
                  </a:lnTo>
                  <a:lnTo>
                    <a:pt x="788" y="167"/>
                  </a:lnTo>
                  <a:lnTo>
                    <a:pt x="787" y="152"/>
                  </a:lnTo>
                  <a:lnTo>
                    <a:pt x="782" y="137"/>
                  </a:lnTo>
                  <a:lnTo>
                    <a:pt x="775" y="124"/>
                  </a:lnTo>
                  <a:lnTo>
                    <a:pt x="764" y="110"/>
                  </a:lnTo>
                  <a:lnTo>
                    <a:pt x="751" y="96"/>
                  </a:lnTo>
                  <a:lnTo>
                    <a:pt x="736" y="83"/>
                  </a:lnTo>
                  <a:lnTo>
                    <a:pt x="717" y="71"/>
                  </a:lnTo>
                  <a:lnTo>
                    <a:pt x="696" y="60"/>
                  </a:lnTo>
                  <a:lnTo>
                    <a:pt x="673" y="49"/>
                  </a:lnTo>
                  <a:lnTo>
                    <a:pt x="647" y="39"/>
                  </a:lnTo>
                  <a:lnTo>
                    <a:pt x="620" y="30"/>
                  </a:lnTo>
                  <a:lnTo>
                    <a:pt x="591" y="23"/>
                  </a:lnTo>
                  <a:lnTo>
                    <a:pt x="561" y="16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2" y="3"/>
                  </a:lnTo>
                  <a:lnTo>
                    <a:pt x="428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6" y="3"/>
                  </a:lnTo>
                  <a:lnTo>
                    <a:pt x="292" y="6"/>
                  </a:lnTo>
                  <a:lnTo>
                    <a:pt x="259" y="10"/>
                  </a:lnTo>
                  <a:lnTo>
                    <a:pt x="227" y="16"/>
                  </a:lnTo>
                  <a:lnTo>
                    <a:pt x="197" y="23"/>
                  </a:lnTo>
                  <a:lnTo>
                    <a:pt x="168" y="30"/>
                  </a:lnTo>
                  <a:lnTo>
                    <a:pt x="140" y="39"/>
                  </a:lnTo>
                  <a:lnTo>
                    <a:pt x="116" y="49"/>
                  </a:lnTo>
                  <a:lnTo>
                    <a:pt x="92" y="60"/>
                  </a:lnTo>
                  <a:lnTo>
                    <a:pt x="71" y="71"/>
                  </a:lnTo>
                  <a:lnTo>
                    <a:pt x="53" y="83"/>
                  </a:lnTo>
                  <a:lnTo>
                    <a:pt x="37" y="97"/>
                  </a:lnTo>
                  <a:lnTo>
                    <a:pt x="24" y="110"/>
                  </a:lnTo>
                  <a:lnTo>
                    <a:pt x="13" y="124"/>
                  </a:lnTo>
                  <a:lnTo>
                    <a:pt x="6" y="137"/>
                  </a:lnTo>
                  <a:lnTo>
                    <a:pt x="2" y="152"/>
                  </a:lnTo>
                  <a:lnTo>
                    <a:pt x="0" y="167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56" name="Freeform 10"/>
            <p:cNvSpPr>
              <a:spLocks/>
            </p:cNvSpPr>
            <p:nvPr/>
          </p:nvSpPr>
          <p:spPr bwMode="auto">
            <a:xfrm>
              <a:off x="2752" y="3034"/>
              <a:ext cx="789" cy="333"/>
            </a:xfrm>
            <a:custGeom>
              <a:avLst/>
              <a:gdLst>
                <a:gd name="T0" fmla="*/ 2 w 789"/>
                <a:gd name="T1" fmla="*/ 181 h 333"/>
                <a:gd name="T2" fmla="*/ 14 w 789"/>
                <a:gd name="T3" fmla="*/ 209 h 333"/>
                <a:gd name="T4" fmla="*/ 38 w 789"/>
                <a:gd name="T5" fmla="*/ 237 h 333"/>
                <a:gd name="T6" fmla="*/ 72 w 789"/>
                <a:gd name="T7" fmla="*/ 262 h 333"/>
                <a:gd name="T8" fmla="*/ 116 w 789"/>
                <a:gd name="T9" fmla="*/ 284 h 333"/>
                <a:gd name="T10" fmla="*/ 169 w 789"/>
                <a:gd name="T11" fmla="*/ 302 h 333"/>
                <a:gd name="T12" fmla="*/ 228 w 789"/>
                <a:gd name="T13" fmla="*/ 317 h 333"/>
                <a:gd name="T14" fmla="*/ 292 w 789"/>
                <a:gd name="T15" fmla="*/ 327 h 333"/>
                <a:gd name="T16" fmla="*/ 360 w 789"/>
                <a:gd name="T17" fmla="*/ 332 h 333"/>
                <a:gd name="T18" fmla="*/ 429 w 789"/>
                <a:gd name="T19" fmla="*/ 332 h 333"/>
                <a:gd name="T20" fmla="*/ 496 w 789"/>
                <a:gd name="T21" fmla="*/ 327 h 333"/>
                <a:gd name="T22" fmla="*/ 560 w 789"/>
                <a:gd name="T23" fmla="*/ 317 h 333"/>
                <a:gd name="T24" fmla="*/ 620 w 789"/>
                <a:gd name="T25" fmla="*/ 302 h 333"/>
                <a:gd name="T26" fmla="*/ 673 w 789"/>
                <a:gd name="T27" fmla="*/ 284 h 333"/>
                <a:gd name="T28" fmla="*/ 716 w 789"/>
                <a:gd name="T29" fmla="*/ 262 h 333"/>
                <a:gd name="T30" fmla="*/ 751 w 789"/>
                <a:gd name="T31" fmla="*/ 236 h 333"/>
                <a:gd name="T32" fmla="*/ 775 w 789"/>
                <a:gd name="T33" fmla="*/ 209 h 333"/>
                <a:gd name="T34" fmla="*/ 786 w 789"/>
                <a:gd name="T35" fmla="*/ 181 h 333"/>
                <a:gd name="T36" fmla="*/ 786 w 789"/>
                <a:gd name="T37" fmla="*/ 151 h 333"/>
                <a:gd name="T38" fmla="*/ 775 w 789"/>
                <a:gd name="T39" fmla="*/ 123 h 333"/>
                <a:gd name="T40" fmla="*/ 751 w 789"/>
                <a:gd name="T41" fmla="*/ 96 h 333"/>
                <a:gd name="T42" fmla="*/ 716 w 789"/>
                <a:gd name="T43" fmla="*/ 71 h 333"/>
                <a:gd name="T44" fmla="*/ 672 w 789"/>
                <a:gd name="T45" fmla="*/ 48 h 333"/>
                <a:gd name="T46" fmla="*/ 620 w 789"/>
                <a:gd name="T47" fmla="*/ 30 h 333"/>
                <a:gd name="T48" fmla="*/ 560 w 789"/>
                <a:gd name="T49" fmla="*/ 15 h 333"/>
                <a:gd name="T50" fmla="*/ 496 w 789"/>
                <a:gd name="T51" fmla="*/ 6 h 333"/>
                <a:gd name="T52" fmla="*/ 428 w 789"/>
                <a:gd name="T53" fmla="*/ 1 h 333"/>
                <a:gd name="T54" fmla="*/ 360 w 789"/>
                <a:gd name="T55" fmla="*/ 1 h 333"/>
                <a:gd name="T56" fmla="*/ 292 w 789"/>
                <a:gd name="T57" fmla="*/ 6 h 333"/>
                <a:gd name="T58" fmla="*/ 228 w 789"/>
                <a:gd name="T59" fmla="*/ 16 h 333"/>
                <a:gd name="T60" fmla="*/ 169 w 789"/>
                <a:gd name="T61" fmla="*/ 30 h 333"/>
                <a:gd name="T62" fmla="*/ 116 w 789"/>
                <a:gd name="T63" fmla="*/ 49 h 333"/>
                <a:gd name="T64" fmla="*/ 72 w 789"/>
                <a:gd name="T65" fmla="*/ 71 h 333"/>
                <a:gd name="T66" fmla="*/ 38 w 789"/>
                <a:gd name="T67" fmla="*/ 96 h 333"/>
                <a:gd name="T68" fmla="*/ 14 w 789"/>
                <a:gd name="T69" fmla="*/ 123 h 333"/>
                <a:gd name="T70" fmla="*/ 2 w 789"/>
                <a:gd name="T71" fmla="*/ 152 h 33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89"/>
                <a:gd name="T109" fmla="*/ 0 h 333"/>
                <a:gd name="T110" fmla="*/ 789 w 789"/>
                <a:gd name="T111" fmla="*/ 333 h 33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89" h="333">
                  <a:moveTo>
                    <a:pt x="0" y="166"/>
                  </a:moveTo>
                  <a:lnTo>
                    <a:pt x="2" y="181"/>
                  </a:lnTo>
                  <a:lnTo>
                    <a:pt x="6" y="195"/>
                  </a:lnTo>
                  <a:lnTo>
                    <a:pt x="14" y="209"/>
                  </a:lnTo>
                  <a:lnTo>
                    <a:pt x="24" y="223"/>
                  </a:lnTo>
                  <a:lnTo>
                    <a:pt x="38" y="237"/>
                  </a:lnTo>
                  <a:lnTo>
                    <a:pt x="53" y="249"/>
                  </a:lnTo>
                  <a:lnTo>
                    <a:pt x="72" y="262"/>
                  </a:lnTo>
                  <a:lnTo>
                    <a:pt x="93" y="273"/>
                  </a:lnTo>
                  <a:lnTo>
                    <a:pt x="116" y="284"/>
                  </a:lnTo>
                  <a:lnTo>
                    <a:pt x="141" y="294"/>
                  </a:lnTo>
                  <a:lnTo>
                    <a:pt x="169" y="302"/>
                  </a:lnTo>
                  <a:lnTo>
                    <a:pt x="197" y="310"/>
                  </a:lnTo>
                  <a:lnTo>
                    <a:pt x="228" y="317"/>
                  </a:lnTo>
                  <a:lnTo>
                    <a:pt x="259" y="322"/>
                  </a:lnTo>
                  <a:lnTo>
                    <a:pt x="292" y="327"/>
                  </a:lnTo>
                  <a:lnTo>
                    <a:pt x="325" y="330"/>
                  </a:lnTo>
                  <a:lnTo>
                    <a:pt x="360" y="332"/>
                  </a:lnTo>
                  <a:lnTo>
                    <a:pt x="394" y="332"/>
                  </a:lnTo>
                  <a:lnTo>
                    <a:pt x="429" y="332"/>
                  </a:lnTo>
                  <a:lnTo>
                    <a:pt x="463" y="330"/>
                  </a:lnTo>
                  <a:lnTo>
                    <a:pt x="496" y="327"/>
                  </a:lnTo>
                  <a:lnTo>
                    <a:pt x="529" y="322"/>
                  </a:lnTo>
                  <a:lnTo>
                    <a:pt x="560" y="317"/>
                  </a:lnTo>
                  <a:lnTo>
                    <a:pt x="591" y="310"/>
                  </a:lnTo>
                  <a:lnTo>
                    <a:pt x="620" y="302"/>
                  </a:lnTo>
                  <a:lnTo>
                    <a:pt x="647" y="293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6" y="262"/>
                  </a:lnTo>
                  <a:lnTo>
                    <a:pt x="735" y="249"/>
                  </a:lnTo>
                  <a:lnTo>
                    <a:pt x="751" y="236"/>
                  </a:lnTo>
                  <a:lnTo>
                    <a:pt x="765" y="223"/>
                  </a:lnTo>
                  <a:lnTo>
                    <a:pt x="775" y="209"/>
                  </a:lnTo>
                  <a:lnTo>
                    <a:pt x="782" y="195"/>
                  </a:lnTo>
                  <a:lnTo>
                    <a:pt x="786" y="181"/>
                  </a:lnTo>
                  <a:lnTo>
                    <a:pt x="788" y="166"/>
                  </a:lnTo>
                  <a:lnTo>
                    <a:pt x="786" y="151"/>
                  </a:lnTo>
                  <a:lnTo>
                    <a:pt x="782" y="137"/>
                  </a:lnTo>
                  <a:lnTo>
                    <a:pt x="775" y="123"/>
                  </a:lnTo>
                  <a:lnTo>
                    <a:pt x="765" y="109"/>
                  </a:lnTo>
                  <a:lnTo>
                    <a:pt x="751" y="96"/>
                  </a:lnTo>
                  <a:lnTo>
                    <a:pt x="735" y="83"/>
                  </a:lnTo>
                  <a:lnTo>
                    <a:pt x="716" y="71"/>
                  </a:lnTo>
                  <a:lnTo>
                    <a:pt x="695" y="59"/>
                  </a:lnTo>
                  <a:lnTo>
                    <a:pt x="672" y="48"/>
                  </a:lnTo>
                  <a:lnTo>
                    <a:pt x="647" y="39"/>
                  </a:lnTo>
                  <a:lnTo>
                    <a:pt x="620" y="30"/>
                  </a:lnTo>
                  <a:lnTo>
                    <a:pt x="591" y="22"/>
                  </a:lnTo>
                  <a:lnTo>
                    <a:pt x="560" y="15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2" y="2"/>
                  </a:lnTo>
                  <a:lnTo>
                    <a:pt x="428" y="1"/>
                  </a:lnTo>
                  <a:lnTo>
                    <a:pt x="394" y="0"/>
                  </a:lnTo>
                  <a:lnTo>
                    <a:pt x="360" y="1"/>
                  </a:lnTo>
                  <a:lnTo>
                    <a:pt x="325" y="3"/>
                  </a:lnTo>
                  <a:lnTo>
                    <a:pt x="292" y="6"/>
                  </a:lnTo>
                  <a:lnTo>
                    <a:pt x="259" y="10"/>
                  </a:lnTo>
                  <a:lnTo>
                    <a:pt x="228" y="16"/>
                  </a:lnTo>
                  <a:lnTo>
                    <a:pt x="197" y="22"/>
                  </a:lnTo>
                  <a:lnTo>
                    <a:pt x="169" y="30"/>
                  </a:lnTo>
                  <a:lnTo>
                    <a:pt x="141" y="39"/>
                  </a:lnTo>
                  <a:lnTo>
                    <a:pt x="116" y="49"/>
                  </a:lnTo>
                  <a:lnTo>
                    <a:pt x="93" y="60"/>
                  </a:lnTo>
                  <a:lnTo>
                    <a:pt x="72" y="71"/>
                  </a:lnTo>
                  <a:lnTo>
                    <a:pt x="53" y="83"/>
                  </a:lnTo>
                  <a:lnTo>
                    <a:pt x="38" y="96"/>
                  </a:lnTo>
                  <a:lnTo>
                    <a:pt x="24" y="109"/>
                  </a:lnTo>
                  <a:lnTo>
                    <a:pt x="14" y="123"/>
                  </a:lnTo>
                  <a:lnTo>
                    <a:pt x="6" y="138"/>
                  </a:lnTo>
                  <a:lnTo>
                    <a:pt x="2" y="152"/>
                  </a:lnTo>
                  <a:lnTo>
                    <a:pt x="0" y="166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57" name="Freeform 11"/>
            <p:cNvSpPr>
              <a:spLocks/>
            </p:cNvSpPr>
            <p:nvPr/>
          </p:nvSpPr>
          <p:spPr bwMode="auto">
            <a:xfrm>
              <a:off x="4175" y="3641"/>
              <a:ext cx="913" cy="343"/>
            </a:xfrm>
            <a:custGeom>
              <a:avLst/>
              <a:gdLst>
                <a:gd name="T0" fmla="*/ 912 w 913"/>
                <a:gd name="T1" fmla="*/ 342 h 343"/>
                <a:gd name="T2" fmla="*/ 912 w 913"/>
                <a:gd name="T3" fmla="*/ 0 h 343"/>
                <a:gd name="T4" fmla="*/ 0 w 913"/>
                <a:gd name="T5" fmla="*/ 0 h 343"/>
                <a:gd name="T6" fmla="*/ 0 w 913"/>
                <a:gd name="T7" fmla="*/ 342 h 343"/>
                <a:gd name="T8" fmla="*/ 912 w 913"/>
                <a:gd name="T9" fmla="*/ 342 h 3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3"/>
                <a:gd name="T16" fmla="*/ 0 h 343"/>
                <a:gd name="T17" fmla="*/ 913 w 913"/>
                <a:gd name="T18" fmla="*/ 343 h 3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3" h="343">
                  <a:moveTo>
                    <a:pt x="912" y="342"/>
                  </a:moveTo>
                  <a:lnTo>
                    <a:pt x="912" y="0"/>
                  </a:lnTo>
                  <a:lnTo>
                    <a:pt x="0" y="0"/>
                  </a:lnTo>
                  <a:lnTo>
                    <a:pt x="0" y="342"/>
                  </a:lnTo>
                  <a:lnTo>
                    <a:pt x="912" y="342"/>
                  </a:ln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508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58" name="Freeform 12"/>
            <p:cNvSpPr>
              <a:spLocks/>
            </p:cNvSpPr>
            <p:nvPr/>
          </p:nvSpPr>
          <p:spPr bwMode="auto">
            <a:xfrm>
              <a:off x="1023" y="3631"/>
              <a:ext cx="789" cy="343"/>
            </a:xfrm>
            <a:custGeom>
              <a:avLst/>
              <a:gdLst>
                <a:gd name="T0" fmla="*/ 788 w 789"/>
                <a:gd name="T1" fmla="*/ 342 h 343"/>
                <a:gd name="T2" fmla="*/ 788 w 789"/>
                <a:gd name="T3" fmla="*/ 0 h 343"/>
                <a:gd name="T4" fmla="*/ 0 w 789"/>
                <a:gd name="T5" fmla="*/ 0 h 343"/>
                <a:gd name="T6" fmla="*/ 0 w 789"/>
                <a:gd name="T7" fmla="*/ 342 h 343"/>
                <a:gd name="T8" fmla="*/ 788 w 789"/>
                <a:gd name="T9" fmla="*/ 342 h 3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343"/>
                <a:gd name="T17" fmla="*/ 789 w 789"/>
                <a:gd name="T18" fmla="*/ 343 h 34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343">
                  <a:moveTo>
                    <a:pt x="788" y="342"/>
                  </a:moveTo>
                  <a:lnTo>
                    <a:pt x="788" y="0"/>
                  </a:lnTo>
                  <a:lnTo>
                    <a:pt x="0" y="0"/>
                  </a:lnTo>
                  <a:lnTo>
                    <a:pt x="0" y="342"/>
                  </a:lnTo>
                  <a:lnTo>
                    <a:pt x="788" y="342"/>
                  </a:lnTo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59" name="Freeform 13"/>
            <p:cNvSpPr>
              <a:spLocks/>
            </p:cNvSpPr>
            <p:nvPr/>
          </p:nvSpPr>
          <p:spPr bwMode="auto">
            <a:xfrm>
              <a:off x="1023" y="2849"/>
              <a:ext cx="789" cy="333"/>
            </a:xfrm>
            <a:custGeom>
              <a:avLst/>
              <a:gdLst>
                <a:gd name="T0" fmla="*/ 787 w 789"/>
                <a:gd name="T1" fmla="*/ 151 h 333"/>
                <a:gd name="T2" fmla="*/ 775 w 789"/>
                <a:gd name="T3" fmla="*/ 123 h 333"/>
                <a:gd name="T4" fmla="*/ 751 w 789"/>
                <a:gd name="T5" fmla="*/ 96 h 333"/>
                <a:gd name="T6" fmla="*/ 717 w 789"/>
                <a:gd name="T7" fmla="*/ 70 h 333"/>
                <a:gd name="T8" fmla="*/ 673 w 789"/>
                <a:gd name="T9" fmla="*/ 49 h 333"/>
                <a:gd name="T10" fmla="*/ 620 w 789"/>
                <a:gd name="T11" fmla="*/ 30 h 333"/>
                <a:gd name="T12" fmla="*/ 561 w 789"/>
                <a:gd name="T13" fmla="*/ 16 h 333"/>
                <a:gd name="T14" fmla="*/ 496 w 789"/>
                <a:gd name="T15" fmla="*/ 6 h 333"/>
                <a:gd name="T16" fmla="*/ 429 w 789"/>
                <a:gd name="T17" fmla="*/ 0 h 333"/>
                <a:gd name="T18" fmla="*/ 360 w 789"/>
                <a:gd name="T19" fmla="*/ 0 h 333"/>
                <a:gd name="T20" fmla="*/ 292 w 789"/>
                <a:gd name="T21" fmla="*/ 6 h 333"/>
                <a:gd name="T22" fmla="*/ 228 w 789"/>
                <a:gd name="T23" fmla="*/ 16 h 333"/>
                <a:gd name="T24" fmla="*/ 168 w 789"/>
                <a:gd name="T25" fmla="*/ 30 h 333"/>
                <a:gd name="T26" fmla="*/ 115 w 789"/>
                <a:gd name="T27" fmla="*/ 49 h 333"/>
                <a:gd name="T28" fmla="*/ 71 w 789"/>
                <a:gd name="T29" fmla="*/ 70 h 333"/>
                <a:gd name="T30" fmla="*/ 37 w 789"/>
                <a:gd name="T31" fmla="*/ 96 h 333"/>
                <a:gd name="T32" fmla="*/ 14 w 789"/>
                <a:gd name="T33" fmla="*/ 123 h 333"/>
                <a:gd name="T34" fmla="*/ 1 w 789"/>
                <a:gd name="T35" fmla="*/ 151 h 333"/>
                <a:gd name="T36" fmla="*/ 1 w 789"/>
                <a:gd name="T37" fmla="*/ 180 h 333"/>
                <a:gd name="T38" fmla="*/ 14 w 789"/>
                <a:gd name="T39" fmla="*/ 209 h 333"/>
                <a:gd name="T40" fmla="*/ 37 w 789"/>
                <a:gd name="T41" fmla="*/ 236 h 333"/>
                <a:gd name="T42" fmla="*/ 71 w 789"/>
                <a:gd name="T43" fmla="*/ 261 h 333"/>
                <a:gd name="T44" fmla="*/ 115 w 789"/>
                <a:gd name="T45" fmla="*/ 284 h 333"/>
                <a:gd name="T46" fmla="*/ 168 w 789"/>
                <a:gd name="T47" fmla="*/ 302 h 333"/>
                <a:gd name="T48" fmla="*/ 228 w 789"/>
                <a:gd name="T49" fmla="*/ 317 h 333"/>
                <a:gd name="T50" fmla="*/ 292 w 789"/>
                <a:gd name="T51" fmla="*/ 327 h 333"/>
                <a:gd name="T52" fmla="*/ 360 w 789"/>
                <a:gd name="T53" fmla="*/ 331 h 333"/>
                <a:gd name="T54" fmla="*/ 429 w 789"/>
                <a:gd name="T55" fmla="*/ 331 h 333"/>
                <a:gd name="T56" fmla="*/ 496 w 789"/>
                <a:gd name="T57" fmla="*/ 327 h 333"/>
                <a:gd name="T58" fmla="*/ 561 w 789"/>
                <a:gd name="T59" fmla="*/ 317 h 333"/>
                <a:gd name="T60" fmla="*/ 620 w 789"/>
                <a:gd name="T61" fmla="*/ 302 h 333"/>
                <a:gd name="T62" fmla="*/ 673 w 789"/>
                <a:gd name="T63" fmla="*/ 284 h 333"/>
                <a:gd name="T64" fmla="*/ 717 w 789"/>
                <a:gd name="T65" fmla="*/ 261 h 333"/>
                <a:gd name="T66" fmla="*/ 751 w 789"/>
                <a:gd name="T67" fmla="*/ 236 h 333"/>
                <a:gd name="T68" fmla="*/ 775 w 789"/>
                <a:gd name="T69" fmla="*/ 209 h 333"/>
                <a:gd name="T70" fmla="*/ 787 w 789"/>
                <a:gd name="T71" fmla="*/ 180 h 333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789"/>
                <a:gd name="T109" fmla="*/ 0 h 333"/>
                <a:gd name="T110" fmla="*/ 789 w 789"/>
                <a:gd name="T111" fmla="*/ 333 h 333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789" h="333">
                  <a:moveTo>
                    <a:pt x="788" y="166"/>
                  </a:moveTo>
                  <a:lnTo>
                    <a:pt x="787" y="151"/>
                  </a:lnTo>
                  <a:lnTo>
                    <a:pt x="782" y="137"/>
                  </a:lnTo>
                  <a:lnTo>
                    <a:pt x="775" y="123"/>
                  </a:lnTo>
                  <a:lnTo>
                    <a:pt x="765" y="109"/>
                  </a:lnTo>
                  <a:lnTo>
                    <a:pt x="751" y="96"/>
                  </a:lnTo>
                  <a:lnTo>
                    <a:pt x="735" y="83"/>
                  </a:lnTo>
                  <a:lnTo>
                    <a:pt x="717" y="70"/>
                  </a:lnTo>
                  <a:lnTo>
                    <a:pt x="696" y="59"/>
                  </a:lnTo>
                  <a:lnTo>
                    <a:pt x="673" y="49"/>
                  </a:lnTo>
                  <a:lnTo>
                    <a:pt x="647" y="39"/>
                  </a:lnTo>
                  <a:lnTo>
                    <a:pt x="620" y="30"/>
                  </a:lnTo>
                  <a:lnTo>
                    <a:pt x="591" y="22"/>
                  </a:lnTo>
                  <a:lnTo>
                    <a:pt x="561" y="16"/>
                  </a:lnTo>
                  <a:lnTo>
                    <a:pt x="529" y="10"/>
                  </a:lnTo>
                  <a:lnTo>
                    <a:pt x="496" y="6"/>
                  </a:lnTo>
                  <a:lnTo>
                    <a:pt x="463" y="3"/>
                  </a:lnTo>
                  <a:lnTo>
                    <a:pt x="429" y="0"/>
                  </a:lnTo>
                  <a:lnTo>
                    <a:pt x="394" y="0"/>
                  </a:lnTo>
                  <a:lnTo>
                    <a:pt x="360" y="0"/>
                  </a:lnTo>
                  <a:lnTo>
                    <a:pt x="325" y="3"/>
                  </a:lnTo>
                  <a:lnTo>
                    <a:pt x="292" y="6"/>
                  </a:lnTo>
                  <a:lnTo>
                    <a:pt x="260" y="10"/>
                  </a:lnTo>
                  <a:lnTo>
                    <a:pt x="228" y="16"/>
                  </a:lnTo>
                  <a:lnTo>
                    <a:pt x="197" y="22"/>
                  </a:lnTo>
                  <a:lnTo>
                    <a:pt x="168" y="30"/>
                  </a:lnTo>
                  <a:lnTo>
                    <a:pt x="141" y="39"/>
                  </a:lnTo>
                  <a:lnTo>
                    <a:pt x="115" y="49"/>
                  </a:lnTo>
                  <a:lnTo>
                    <a:pt x="92" y="59"/>
                  </a:lnTo>
                  <a:lnTo>
                    <a:pt x="71" y="70"/>
                  </a:lnTo>
                  <a:lnTo>
                    <a:pt x="53" y="83"/>
                  </a:lnTo>
                  <a:lnTo>
                    <a:pt x="37" y="96"/>
                  </a:lnTo>
                  <a:lnTo>
                    <a:pt x="24" y="109"/>
                  </a:lnTo>
                  <a:lnTo>
                    <a:pt x="14" y="123"/>
                  </a:lnTo>
                  <a:lnTo>
                    <a:pt x="6" y="137"/>
                  </a:lnTo>
                  <a:lnTo>
                    <a:pt x="1" y="151"/>
                  </a:lnTo>
                  <a:lnTo>
                    <a:pt x="0" y="166"/>
                  </a:lnTo>
                  <a:lnTo>
                    <a:pt x="1" y="180"/>
                  </a:lnTo>
                  <a:lnTo>
                    <a:pt x="6" y="195"/>
                  </a:lnTo>
                  <a:lnTo>
                    <a:pt x="14" y="209"/>
                  </a:lnTo>
                  <a:lnTo>
                    <a:pt x="24" y="223"/>
                  </a:lnTo>
                  <a:lnTo>
                    <a:pt x="37" y="236"/>
                  </a:lnTo>
                  <a:lnTo>
                    <a:pt x="53" y="249"/>
                  </a:lnTo>
                  <a:lnTo>
                    <a:pt x="71" y="261"/>
                  </a:lnTo>
                  <a:lnTo>
                    <a:pt x="92" y="273"/>
                  </a:lnTo>
                  <a:lnTo>
                    <a:pt x="115" y="284"/>
                  </a:lnTo>
                  <a:lnTo>
                    <a:pt x="141" y="294"/>
                  </a:lnTo>
                  <a:lnTo>
                    <a:pt x="168" y="302"/>
                  </a:lnTo>
                  <a:lnTo>
                    <a:pt x="197" y="310"/>
                  </a:lnTo>
                  <a:lnTo>
                    <a:pt x="228" y="317"/>
                  </a:lnTo>
                  <a:lnTo>
                    <a:pt x="260" y="322"/>
                  </a:lnTo>
                  <a:lnTo>
                    <a:pt x="292" y="327"/>
                  </a:lnTo>
                  <a:lnTo>
                    <a:pt x="325" y="330"/>
                  </a:lnTo>
                  <a:lnTo>
                    <a:pt x="360" y="331"/>
                  </a:lnTo>
                  <a:lnTo>
                    <a:pt x="394" y="332"/>
                  </a:lnTo>
                  <a:lnTo>
                    <a:pt x="429" y="331"/>
                  </a:lnTo>
                  <a:lnTo>
                    <a:pt x="463" y="330"/>
                  </a:lnTo>
                  <a:lnTo>
                    <a:pt x="496" y="327"/>
                  </a:lnTo>
                  <a:lnTo>
                    <a:pt x="529" y="322"/>
                  </a:lnTo>
                  <a:lnTo>
                    <a:pt x="561" y="317"/>
                  </a:lnTo>
                  <a:lnTo>
                    <a:pt x="591" y="310"/>
                  </a:lnTo>
                  <a:lnTo>
                    <a:pt x="620" y="302"/>
                  </a:lnTo>
                  <a:lnTo>
                    <a:pt x="647" y="294"/>
                  </a:lnTo>
                  <a:lnTo>
                    <a:pt x="673" y="284"/>
                  </a:lnTo>
                  <a:lnTo>
                    <a:pt x="696" y="273"/>
                  </a:lnTo>
                  <a:lnTo>
                    <a:pt x="717" y="261"/>
                  </a:lnTo>
                  <a:lnTo>
                    <a:pt x="735" y="249"/>
                  </a:lnTo>
                  <a:lnTo>
                    <a:pt x="751" y="236"/>
                  </a:lnTo>
                  <a:lnTo>
                    <a:pt x="765" y="223"/>
                  </a:lnTo>
                  <a:lnTo>
                    <a:pt x="775" y="209"/>
                  </a:lnTo>
                  <a:lnTo>
                    <a:pt x="782" y="195"/>
                  </a:lnTo>
                  <a:lnTo>
                    <a:pt x="787" y="180"/>
                  </a:lnTo>
                  <a:lnTo>
                    <a:pt x="788" y="166"/>
                  </a:lnTo>
                </a:path>
              </a:pathLst>
            </a:custGeom>
            <a:solidFill>
              <a:srgbClr val="92D050"/>
            </a:solidFill>
            <a:ln w="127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60" name="Rectangle 14"/>
            <p:cNvSpPr>
              <a:spLocks noChangeArrowheads="1"/>
            </p:cNvSpPr>
            <p:nvPr/>
          </p:nvSpPr>
          <p:spPr bwMode="auto">
            <a:xfrm>
              <a:off x="2037" y="3160"/>
              <a:ext cx="27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lot</a:t>
              </a:r>
            </a:p>
          </p:txBody>
        </p:sp>
        <p:sp>
          <p:nvSpPr>
            <p:cNvPr id="61" name="Freeform 15"/>
            <p:cNvSpPr>
              <a:spLocks/>
            </p:cNvSpPr>
            <p:nvPr/>
          </p:nvSpPr>
          <p:spPr bwMode="auto">
            <a:xfrm>
              <a:off x="2747" y="3592"/>
              <a:ext cx="789" cy="392"/>
            </a:xfrm>
            <a:custGeom>
              <a:avLst/>
              <a:gdLst>
                <a:gd name="T0" fmla="*/ 0 w 789"/>
                <a:gd name="T1" fmla="*/ 196 h 392"/>
                <a:gd name="T2" fmla="*/ 394 w 789"/>
                <a:gd name="T3" fmla="*/ 0 h 392"/>
                <a:gd name="T4" fmla="*/ 788 w 789"/>
                <a:gd name="T5" fmla="*/ 196 h 392"/>
                <a:gd name="T6" fmla="*/ 394 w 789"/>
                <a:gd name="T7" fmla="*/ 391 h 392"/>
                <a:gd name="T8" fmla="*/ 0 w 789"/>
                <a:gd name="T9" fmla="*/ 196 h 3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89"/>
                <a:gd name="T16" fmla="*/ 0 h 392"/>
                <a:gd name="T17" fmla="*/ 789 w 789"/>
                <a:gd name="T18" fmla="*/ 392 h 3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89" h="392">
                  <a:moveTo>
                    <a:pt x="0" y="196"/>
                  </a:moveTo>
                  <a:lnTo>
                    <a:pt x="394" y="0"/>
                  </a:lnTo>
                  <a:lnTo>
                    <a:pt x="788" y="196"/>
                  </a:lnTo>
                  <a:lnTo>
                    <a:pt x="394" y="391"/>
                  </a:lnTo>
                  <a:lnTo>
                    <a:pt x="0" y="196"/>
                  </a:lnTo>
                </a:path>
              </a:pathLst>
            </a:custGeom>
            <a:solidFill>
              <a:schemeClr val="bg1">
                <a:lumMod val="85000"/>
              </a:schemeClr>
            </a:solidFill>
            <a:ln w="50800" cap="rnd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zh-CN" sz="1485"/>
            </a:p>
          </p:txBody>
        </p:sp>
        <p:sp>
          <p:nvSpPr>
            <p:cNvPr id="62" name="Rectangle 16"/>
            <p:cNvSpPr>
              <a:spLocks noChangeArrowheads="1"/>
            </p:cNvSpPr>
            <p:nvPr/>
          </p:nvSpPr>
          <p:spPr bwMode="auto">
            <a:xfrm>
              <a:off x="1239" y="2896"/>
              <a:ext cx="45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name</a:t>
              </a:r>
            </a:p>
          </p:txBody>
        </p:sp>
        <p:sp>
          <p:nvSpPr>
            <p:cNvPr id="63" name="Rectangle 17"/>
            <p:cNvSpPr>
              <a:spLocks noChangeArrowheads="1"/>
            </p:cNvSpPr>
            <p:nvPr/>
          </p:nvSpPr>
          <p:spPr bwMode="auto">
            <a:xfrm>
              <a:off x="4912" y="3131"/>
              <a:ext cx="33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age</a:t>
              </a:r>
            </a:p>
          </p:txBody>
        </p:sp>
        <p:sp>
          <p:nvSpPr>
            <p:cNvPr id="64" name="Rectangle 18"/>
            <p:cNvSpPr>
              <a:spLocks noChangeArrowheads="1"/>
            </p:cNvSpPr>
            <p:nvPr/>
          </p:nvSpPr>
          <p:spPr bwMode="auto">
            <a:xfrm>
              <a:off x="3868" y="3121"/>
              <a:ext cx="53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 u="sng" dirty="0" err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pname</a:t>
              </a:r>
              <a:endParaRPr lang="en-US" altLang="zh-CN" sz="1320" b="1" u="sng" dirty="0">
                <a:solidFill>
                  <a:srgbClr val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65" name="Rectangle 19"/>
            <p:cNvSpPr>
              <a:spLocks noChangeArrowheads="1"/>
            </p:cNvSpPr>
            <p:nvPr/>
          </p:nvSpPr>
          <p:spPr bwMode="auto">
            <a:xfrm>
              <a:off x="4243" y="3688"/>
              <a:ext cx="8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Dependents</a:t>
              </a:r>
            </a:p>
          </p:txBody>
        </p:sp>
        <p:sp>
          <p:nvSpPr>
            <p:cNvPr id="66" name="Rectangle 20"/>
            <p:cNvSpPr>
              <a:spLocks noChangeArrowheads="1"/>
            </p:cNvSpPr>
            <p:nvPr/>
          </p:nvSpPr>
          <p:spPr bwMode="auto">
            <a:xfrm>
              <a:off x="1016" y="3699"/>
              <a:ext cx="79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 dirty="0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Employees</a:t>
              </a:r>
            </a:p>
          </p:txBody>
        </p:sp>
        <p:sp>
          <p:nvSpPr>
            <p:cNvPr id="67" name="Rectangle 21"/>
            <p:cNvSpPr>
              <a:spLocks noChangeArrowheads="1"/>
            </p:cNvSpPr>
            <p:nvPr/>
          </p:nvSpPr>
          <p:spPr bwMode="auto">
            <a:xfrm>
              <a:off x="549" y="3151"/>
              <a:ext cx="33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 u="sng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ssn</a:t>
              </a:r>
            </a:p>
          </p:txBody>
        </p:sp>
        <p:sp>
          <p:nvSpPr>
            <p:cNvPr id="68" name="Rectangle 22"/>
            <p:cNvSpPr>
              <a:spLocks noChangeArrowheads="1"/>
            </p:cNvSpPr>
            <p:nvPr/>
          </p:nvSpPr>
          <p:spPr bwMode="auto">
            <a:xfrm>
              <a:off x="2890" y="3688"/>
              <a:ext cx="49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Policy</a:t>
              </a:r>
            </a:p>
          </p:txBody>
        </p:sp>
        <p:sp>
          <p:nvSpPr>
            <p:cNvPr id="69" name="Rectangle 23"/>
            <p:cNvSpPr>
              <a:spLocks noChangeArrowheads="1"/>
            </p:cNvSpPr>
            <p:nvPr/>
          </p:nvSpPr>
          <p:spPr bwMode="auto">
            <a:xfrm>
              <a:off x="2962" y="3082"/>
              <a:ext cx="38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4653" tIns="36671" rIns="74653" bIns="36671">
              <a:spAutoFit/>
            </a:bodyPr>
            <a:lstStyle/>
            <a:p>
              <a:r>
                <a:rPr lang="en-US" altLang="zh-CN" sz="1320" b="1">
                  <a:solidFill>
                    <a:srgbClr val="000000"/>
                  </a:solidFill>
                  <a:latin typeface="Arial" pitchFamily="34" charset="0"/>
                  <a:ea typeface="宋体" pitchFamily="2" charset="-122"/>
                </a:rPr>
                <a:t>cost</a:t>
              </a:r>
            </a:p>
          </p:txBody>
        </p:sp>
        <p:sp>
          <p:nvSpPr>
            <p:cNvPr id="71" name="Line 25"/>
            <p:cNvSpPr>
              <a:spLocks noChangeShapeType="1"/>
            </p:cNvSpPr>
            <p:nvPr/>
          </p:nvSpPr>
          <p:spPr bwMode="auto">
            <a:xfrm>
              <a:off x="1427" y="3197"/>
              <a:ext cx="0" cy="421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72" name="Line 26"/>
            <p:cNvSpPr>
              <a:spLocks noChangeShapeType="1"/>
            </p:cNvSpPr>
            <p:nvPr/>
          </p:nvSpPr>
          <p:spPr bwMode="auto">
            <a:xfrm>
              <a:off x="883" y="3407"/>
              <a:ext cx="325" cy="22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73" name="Line 27"/>
            <p:cNvSpPr>
              <a:spLocks noChangeShapeType="1"/>
            </p:cNvSpPr>
            <p:nvPr/>
          </p:nvSpPr>
          <p:spPr bwMode="auto">
            <a:xfrm flipH="1">
              <a:off x="1638" y="3424"/>
              <a:ext cx="513" cy="207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74" name="Line 28"/>
            <p:cNvSpPr>
              <a:spLocks noChangeShapeType="1"/>
            </p:cNvSpPr>
            <p:nvPr/>
          </p:nvSpPr>
          <p:spPr bwMode="auto">
            <a:xfrm flipV="1">
              <a:off x="3150" y="3361"/>
              <a:ext cx="0" cy="16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75" name="Line 29"/>
            <p:cNvSpPr>
              <a:spLocks noChangeShapeType="1"/>
            </p:cNvSpPr>
            <p:nvPr/>
          </p:nvSpPr>
          <p:spPr bwMode="auto">
            <a:xfrm>
              <a:off x="4131" y="3407"/>
              <a:ext cx="186" cy="23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76" name="Line 30"/>
            <p:cNvSpPr>
              <a:spLocks noChangeShapeType="1"/>
            </p:cNvSpPr>
            <p:nvPr/>
          </p:nvSpPr>
          <p:spPr bwMode="auto">
            <a:xfrm flipH="1">
              <a:off x="4708" y="3424"/>
              <a:ext cx="324" cy="21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77" name="Line 31"/>
            <p:cNvSpPr>
              <a:spLocks noChangeShapeType="1"/>
            </p:cNvSpPr>
            <p:nvPr/>
          </p:nvSpPr>
          <p:spPr bwMode="auto">
            <a:xfrm flipH="1" flipV="1">
              <a:off x="3666" y="3788"/>
              <a:ext cx="499" cy="5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  <p:sp>
          <p:nvSpPr>
            <p:cNvPr id="78" name="Line 32"/>
            <p:cNvSpPr>
              <a:spLocks noChangeShapeType="1"/>
            </p:cNvSpPr>
            <p:nvPr/>
          </p:nvSpPr>
          <p:spPr bwMode="auto">
            <a:xfrm>
              <a:off x="1812" y="3788"/>
              <a:ext cx="811" cy="0"/>
            </a:xfrm>
            <a:prstGeom prst="line">
              <a:avLst/>
            </a:prstGeom>
            <a:noFill/>
            <a:ln w="19050" cap="rnd">
              <a:solidFill>
                <a:schemeClr val="tx2"/>
              </a:solidFill>
              <a:round/>
              <a:headEnd type="none" w="med" len="med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485"/>
            </a:p>
          </p:txBody>
        </p:sp>
      </p:grpSp>
      <p:sp>
        <p:nvSpPr>
          <p:cNvPr id="79" name="Text Box 19"/>
          <p:cNvSpPr txBox="1">
            <a:spLocks noChangeArrowheads="1"/>
          </p:cNvSpPr>
          <p:nvPr/>
        </p:nvSpPr>
        <p:spPr bwMode="auto">
          <a:xfrm rot="10979844">
            <a:off x="3437081" y="5372598"/>
            <a:ext cx="269626" cy="397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zh-CN" sz="1980" dirty="0">
                <a:ea typeface="宋体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955873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1740" y="4426132"/>
            <a:ext cx="9475470" cy="2682240"/>
          </a:xfrm>
          <a:custGeom>
            <a:avLst/>
            <a:gdLst/>
            <a:ahLst/>
            <a:cxnLst/>
            <a:rect l="l" t="t" r="r" b="b"/>
            <a:pathLst>
              <a:path w="9475470" h="2682240">
                <a:moveTo>
                  <a:pt x="0" y="0"/>
                </a:moveTo>
                <a:lnTo>
                  <a:pt x="9474925" y="0"/>
                </a:lnTo>
                <a:lnTo>
                  <a:pt x="9474925" y="2682239"/>
                </a:lnTo>
                <a:lnTo>
                  <a:pt x="0" y="2682239"/>
                </a:lnTo>
                <a:lnTo>
                  <a:pt x="0" y="0"/>
                </a:lnTo>
                <a:close/>
              </a:path>
            </a:pathLst>
          </a:custGeom>
          <a:ln w="2031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0306" y="319023"/>
            <a:ext cx="8551545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0" dirty="0"/>
              <a:t>L</a:t>
            </a:r>
            <a:r>
              <a:rPr sz="4300" spc="-125" dirty="0"/>
              <a:t>e</a:t>
            </a:r>
            <a:r>
              <a:rPr sz="4300" spc="-120" dirty="0"/>
              <a:t>t</a:t>
            </a:r>
            <a:r>
              <a:rPr sz="4300" spc="-125" dirty="0"/>
              <a:t>’</a:t>
            </a:r>
            <a:r>
              <a:rPr sz="4300" dirty="0"/>
              <a:t>s</a:t>
            </a:r>
            <a:r>
              <a:rPr sz="4300" spc="-250" dirty="0"/>
              <a:t> </a:t>
            </a:r>
            <a:r>
              <a:rPr sz="4300" spc="-120" dirty="0"/>
              <a:t>t</a:t>
            </a:r>
            <a:r>
              <a:rPr sz="4300" spc="-130" dirty="0"/>
              <a:t>r</a:t>
            </a:r>
            <a:r>
              <a:rPr sz="4300" dirty="0"/>
              <a:t>y:</a:t>
            </a:r>
            <a:r>
              <a:rPr sz="4300" spc="-245" dirty="0"/>
              <a:t> </a:t>
            </a:r>
            <a:r>
              <a:rPr sz="4300" spc="-145" dirty="0"/>
              <a:t>W</a:t>
            </a:r>
            <a:r>
              <a:rPr sz="4300" spc="-125" dirty="0"/>
              <a:t>e</a:t>
            </a:r>
            <a:r>
              <a:rPr sz="4300" spc="-130" dirty="0"/>
              <a:t>a</a:t>
            </a:r>
            <a:r>
              <a:rPr sz="4300" dirty="0"/>
              <a:t>k</a:t>
            </a:r>
            <a:r>
              <a:rPr sz="4300" spc="-250" dirty="0"/>
              <a:t> </a:t>
            </a:r>
            <a:r>
              <a:rPr sz="4300" spc="-125" dirty="0"/>
              <a:t>E</a:t>
            </a:r>
            <a:r>
              <a:rPr sz="4300" spc="-135" dirty="0"/>
              <a:t>n</a:t>
            </a:r>
            <a:r>
              <a:rPr sz="4300" spc="-120" dirty="0"/>
              <a:t>t</a:t>
            </a:r>
            <a:r>
              <a:rPr sz="4300" spc="-125" dirty="0"/>
              <a:t>it</a:t>
            </a:r>
            <a:r>
              <a:rPr sz="4300" dirty="0"/>
              <a:t>y</a:t>
            </a:r>
            <a:r>
              <a:rPr sz="4300" spc="-260" dirty="0"/>
              <a:t> </a:t>
            </a:r>
            <a:r>
              <a:rPr sz="4300" spc="-140" dirty="0"/>
              <a:t>S</a:t>
            </a:r>
            <a:r>
              <a:rPr sz="4300" spc="-125" dirty="0"/>
              <a:t>e</a:t>
            </a:r>
            <a:r>
              <a:rPr sz="4300" dirty="0"/>
              <a:t>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012358" y="2864218"/>
            <a:ext cx="2029460" cy="537845"/>
            <a:chOff x="2012358" y="2864218"/>
            <a:chExt cx="2029460" cy="537845"/>
          </a:xfrm>
        </p:grpSpPr>
        <p:sp>
          <p:nvSpPr>
            <p:cNvPr id="5" name="object 5"/>
            <p:cNvSpPr/>
            <p:nvPr/>
          </p:nvSpPr>
          <p:spPr>
            <a:xfrm>
              <a:off x="3334174" y="3094732"/>
              <a:ext cx="702310" cy="3810"/>
            </a:xfrm>
            <a:custGeom>
              <a:avLst/>
              <a:gdLst/>
              <a:ahLst/>
              <a:cxnLst/>
              <a:rect l="l" t="t" r="r" b="b"/>
              <a:pathLst>
                <a:path w="702310" h="3810">
                  <a:moveTo>
                    <a:pt x="0" y="3422"/>
                  </a:moveTo>
                  <a:lnTo>
                    <a:pt x="70225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34174" y="3172087"/>
              <a:ext cx="702310" cy="3810"/>
            </a:xfrm>
            <a:custGeom>
              <a:avLst/>
              <a:gdLst/>
              <a:ahLst/>
              <a:cxnLst/>
              <a:rect l="l" t="t" r="r" b="b"/>
              <a:pathLst>
                <a:path w="702310" h="3810">
                  <a:moveTo>
                    <a:pt x="0" y="3422"/>
                  </a:moveTo>
                  <a:lnTo>
                    <a:pt x="702259" y="0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17438" y="2869298"/>
              <a:ext cx="1316990" cy="527685"/>
            </a:xfrm>
            <a:custGeom>
              <a:avLst/>
              <a:gdLst/>
              <a:ahLst/>
              <a:cxnLst/>
              <a:rect l="l" t="t" r="r" b="b"/>
              <a:pathLst>
                <a:path w="1316989" h="527685">
                  <a:moveTo>
                    <a:pt x="0" y="0"/>
                  </a:moveTo>
                  <a:lnTo>
                    <a:pt x="1316735" y="0"/>
                  </a:lnTo>
                  <a:lnTo>
                    <a:pt x="1316735" y="527382"/>
                  </a:lnTo>
                  <a:lnTo>
                    <a:pt x="0" y="527382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87570" y="2922623"/>
            <a:ext cx="1188085" cy="42164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63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homework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31650" y="3066681"/>
            <a:ext cx="631825" cy="106680"/>
          </a:xfrm>
          <a:custGeom>
            <a:avLst/>
            <a:gdLst/>
            <a:ahLst/>
            <a:cxnLst/>
            <a:rect l="l" t="t" r="r" b="b"/>
            <a:pathLst>
              <a:path w="631825" h="106680">
                <a:moveTo>
                  <a:pt x="622908" y="46675"/>
                </a:moveTo>
                <a:lnTo>
                  <a:pt x="621492" y="46675"/>
                </a:lnTo>
                <a:lnTo>
                  <a:pt x="621673" y="56832"/>
                </a:lnTo>
                <a:lnTo>
                  <a:pt x="602887" y="57168"/>
                </a:lnTo>
                <a:lnTo>
                  <a:pt x="536129" y="97730"/>
                </a:lnTo>
                <a:lnTo>
                  <a:pt x="535365" y="100855"/>
                </a:lnTo>
                <a:lnTo>
                  <a:pt x="538279" y="105651"/>
                </a:lnTo>
                <a:lnTo>
                  <a:pt x="541404" y="106413"/>
                </a:lnTo>
                <a:lnTo>
                  <a:pt x="631662" y="51573"/>
                </a:lnTo>
                <a:lnTo>
                  <a:pt x="622908" y="46675"/>
                </a:lnTo>
                <a:close/>
              </a:path>
              <a:path w="631825" h="106680">
                <a:moveTo>
                  <a:pt x="602704" y="47011"/>
                </a:moveTo>
                <a:lnTo>
                  <a:pt x="0" y="57805"/>
                </a:lnTo>
                <a:lnTo>
                  <a:pt x="182" y="67964"/>
                </a:lnTo>
                <a:lnTo>
                  <a:pt x="602887" y="57168"/>
                </a:lnTo>
                <a:lnTo>
                  <a:pt x="611502" y="51934"/>
                </a:lnTo>
                <a:lnTo>
                  <a:pt x="602704" y="47011"/>
                </a:lnTo>
                <a:close/>
              </a:path>
              <a:path w="631825" h="106680">
                <a:moveTo>
                  <a:pt x="611502" y="51934"/>
                </a:moveTo>
                <a:lnTo>
                  <a:pt x="602887" y="57168"/>
                </a:lnTo>
                <a:lnTo>
                  <a:pt x="621673" y="56832"/>
                </a:lnTo>
                <a:lnTo>
                  <a:pt x="621662" y="56187"/>
                </a:lnTo>
                <a:lnTo>
                  <a:pt x="619102" y="56187"/>
                </a:lnTo>
                <a:lnTo>
                  <a:pt x="611502" y="51934"/>
                </a:lnTo>
                <a:close/>
              </a:path>
              <a:path w="631825" h="106680">
                <a:moveTo>
                  <a:pt x="618944" y="47412"/>
                </a:moveTo>
                <a:lnTo>
                  <a:pt x="611502" y="51934"/>
                </a:lnTo>
                <a:lnTo>
                  <a:pt x="619102" y="56187"/>
                </a:lnTo>
                <a:lnTo>
                  <a:pt x="618944" y="47412"/>
                </a:lnTo>
                <a:close/>
              </a:path>
              <a:path w="631825" h="106680">
                <a:moveTo>
                  <a:pt x="621505" y="47412"/>
                </a:moveTo>
                <a:lnTo>
                  <a:pt x="618944" y="47412"/>
                </a:lnTo>
                <a:lnTo>
                  <a:pt x="619102" y="56187"/>
                </a:lnTo>
                <a:lnTo>
                  <a:pt x="621662" y="56187"/>
                </a:lnTo>
                <a:lnTo>
                  <a:pt x="621505" y="47412"/>
                </a:lnTo>
                <a:close/>
              </a:path>
              <a:path w="631825" h="106680">
                <a:moveTo>
                  <a:pt x="621492" y="46675"/>
                </a:moveTo>
                <a:lnTo>
                  <a:pt x="602704" y="47011"/>
                </a:lnTo>
                <a:lnTo>
                  <a:pt x="611502" y="51934"/>
                </a:lnTo>
                <a:lnTo>
                  <a:pt x="618944" y="47412"/>
                </a:lnTo>
                <a:lnTo>
                  <a:pt x="621505" y="47412"/>
                </a:lnTo>
                <a:lnTo>
                  <a:pt x="621492" y="46675"/>
                </a:lnTo>
                <a:close/>
              </a:path>
              <a:path w="631825" h="106680">
                <a:moveTo>
                  <a:pt x="539498" y="0"/>
                </a:moveTo>
                <a:lnTo>
                  <a:pt x="536403" y="875"/>
                </a:lnTo>
                <a:lnTo>
                  <a:pt x="533662" y="5770"/>
                </a:lnTo>
                <a:lnTo>
                  <a:pt x="534537" y="8867"/>
                </a:lnTo>
                <a:lnTo>
                  <a:pt x="602704" y="47011"/>
                </a:lnTo>
                <a:lnTo>
                  <a:pt x="621492" y="46675"/>
                </a:lnTo>
                <a:lnTo>
                  <a:pt x="622908" y="46675"/>
                </a:lnTo>
                <a:lnTo>
                  <a:pt x="539498" y="0"/>
                </a:lnTo>
                <a:close/>
              </a:path>
            </a:pathLst>
          </a:custGeom>
          <a:solidFill>
            <a:srgbClr val="3B3B4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663290" y="2907661"/>
            <a:ext cx="1188085" cy="421640"/>
          </a:xfrm>
          <a:prstGeom prst="rect">
            <a:avLst/>
          </a:prstGeom>
          <a:solidFill>
            <a:srgbClr val="E1FAFF"/>
          </a:solidFill>
          <a:ln w="10159">
            <a:solidFill>
              <a:srgbClr val="3B3B4B"/>
            </a:solidFill>
          </a:ln>
        </p:spPr>
        <p:txBody>
          <a:bodyPr vert="horz" wrap="square" lIns="0" tIns="80010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63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course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63978" y="2708800"/>
            <a:ext cx="2068195" cy="842010"/>
          </a:xfrm>
          <a:custGeom>
            <a:avLst/>
            <a:gdLst/>
            <a:ahLst/>
            <a:cxnLst/>
            <a:rect l="l" t="t" r="r" b="b"/>
            <a:pathLst>
              <a:path w="2068195" h="842010">
                <a:moveTo>
                  <a:pt x="0" y="420765"/>
                </a:moveTo>
                <a:lnTo>
                  <a:pt x="1033881" y="0"/>
                </a:lnTo>
                <a:lnTo>
                  <a:pt x="2067763" y="420765"/>
                </a:lnTo>
                <a:lnTo>
                  <a:pt x="1033881" y="841531"/>
                </a:lnTo>
                <a:lnTo>
                  <a:pt x="0" y="420765"/>
                </a:lnTo>
                <a:close/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4160442" y="2789108"/>
            <a:ext cx="1687830" cy="688975"/>
            <a:chOff x="4160442" y="2789108"/>
            <a:chExt cx="1687830" cy="688975"/>
          </a:xfrm>
        </p:grpSpPr>
        <p:sp>
          <p:nvSpPr>
            <p:cNvPr id="13" name="object 13"/>
            <p:cNvSpPr/>
            <p:nvPr/>
          </p:nvSpPr>
          <p:spPr>
            <a:xfrm>
              <a:off x="4165522" y="2794188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838809" y="0"/>
                  </a:moveTo>
                  <a:lnTo>
                    <a:pt x="0" y="339266"/>
                  </a:lnTo>
                  <a:lnTo>
                    <a:pt x="838809" y="678534"/>
                  </a:lnTo>
                  <a:lnTo>
                    <a:pt x="1677619" y="339266"/>
                  </a:lnTo>
                  <a:lnTo>
                    <a:pt x="83880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65522" y="2794188"/>
              <a:ext cx="1677670" cy="678815"/>
            </a:xfrm>
            <a:custGeom>
              <a:avLst/>
              <a:gdLst/>
              <a:ahLst/>
              <a:cxnLst/>
              <a:rect l="l" t="t" r="r" b="b"/>
              <a:pathLst>
                <a:path w="1677670" h="678814">
                  <a:moveTo>
                    <a:pt x="0" y="339266"/>
                  </a:moveTo>
                  <a:lnTo>
                    <a:pt x="838809" y="0"/>
                  </a:lnTo>
                  <a:lnTo>
                    <a:pt x="1677619" y="339266"/>
                  </a:lnTo>
                  <a:lnTo>
                    <a:pt x="838809" y="678533"/>
                  </a:lnTo>
                  <a:lnTo>
                    <a:pt x="0" y="339266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77733" y="2983991"/>
            <a:ext cx="49466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have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79954" y="2000079"/>
            <a:ext cx="1126490" cy="494030"/>
            <a:chOff x="7479954" y="2000079"/>
            <a:chExt cx="1126490" cy="494030"/>
          </a:xfrm>
        </p:grpSpPr>
        <p:sp>
          <p:nvSpPr>
            <p:cNvPr id="17" name="object 17"/>
            <p:cNvSpPr/>
            <p:nvPr/>
          </p:nvSpPr>
          <p:spPr>
            <a:xfrm>
              <a:off x="7485034" y="2005159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557888" y="0"/>
                  </a:moveTo>
                  <a:lnTo>
                    <a:pt x="492826" y="1627"/>
                  </a:lnTo>
                  <a:lnTo>
                    <a:pt x="429969" y="6387"/>
                  </a:lnTo>
                  <a:lnTo>
                    <a:pt x="369735" y="14098"/>
                  </a:lnTo>
                  <a:lnTo>
                    <a:pt x="312542" y="24580"/>
                  </a:lnTo>
                  <a:lnTo>
                    <a:pt x="258810" y="37651"/>
                  </a:lnTo>
                  <a:lnTo>
                    <a:pt x="208957" y="53129"/>
                  </a:lnTo>
                  <a:lnTo>
                    <a:pt x="163401" y="70833"/>
                  </a:lnTo>
                  <a:lnTo>
                    <a:pt x="122561" y="90581"/>
                  </a:lnTo>
                  <a:lnTo>
                    <a:pt x="86856" y="112192"/>
                  </a:lnTo>
                  <a:lnTo>
                    <a:pt x="56704" y="135484"/>
                  </a:lnTo>
                  <a:lnTo>
                    <a:pt x="14734" y="186388"/>
                  </a:lnTo>
                  <a:lnTo>
                    <a:pt x="0" y="241839"/>
                  </a:lnTo>
                  <a:lnTo>
                    <a:pt x="3753" y="270043"/>
                  </a:lnTo>
                  <a:lnTo>
                    <a:pt x="32524" y="323402"/>
                  </a:lnTo>
                  <a:lnTo>
                    <a:pt x="86856" y="371487"/>
                  </a:lnTo>
                  <a:lnTo>
                    <a:pt x="122561" y="393098"/>
                  </a:lnTo>
                  <a:lnTo>
                    <a:pt x="163401" y="412846"/>
                  </a:lnTo>
                  <a:lnTo>
                    <a:pt x="208957" y="430550"/>
                  </a:lnTo>
                  <a:lnTo>
                    <a:pt x="258810" y="446028"/>
                  </a:lnTo>
                  <a:lnTo>
                    <a:pt x="312542" y="459098"/>
                  </a:lnTo>
                  <a:lnTo>
                    <a:pt x="369735" y="469580"/>
                  </a:lnTo>
                  <a:lnTo>
                    <a:pt x="429969" y="477292"/>
                  </a:lnTo>
                  <a:lnTo>
                    <a:pt x="492826" y="482052"/>
                  </a:lnTo>
                  <a:lnTo>
                    <a:pt x="557888" y="483679"/>
                  </a:lnTo>
                  <a:lnTo>
                    <a:pt x="622949" y="482052"/>
                  </a:lnTo>
                  <a:lnTo>
                    <a:pt x="685806" y="477292"/>
                  </a:lnTo>
                  <a:lnTo>
                    <a:pt x="746040" y="469580"/>
                  </a:lnTo>
                  <a:lnTo>
                    <a:pt x="803233" y="459098"/>
                  </a:lnTo>
                  <a:lnTo>
                    <a:pt x="856965" y="446028"/>
                  </a:lnTo>
                  <a:lnTo>
                    <a:pt x="906818" y="430550"/>
                  </a:lnTo>
                  <a:lnTo>
                    <a:pt x="952374" y="412846"/>
                  </a:lnTo>
                  <a:lnTo>
                    <a:pt x="993214" y="393098"/>
                  </a:lnTo>
                  <a:lnTo>
                    <a:pt x="1028919" y="371487"/>
                  </a:lnTo>
                  <a:lnTo>
                    <a:pt x="1059071" y="348194"/>
                  </a:lnTo>
                  <a:lnTo>
                    <a:pt x="1101042" y="297291"/>
                  </a:lnTo>
                  <a:lnTo>
                    <a:pt x="1115776" y="241839"/>
                  </a:lnTo>
                  <a:lnTo>
                    <a:pt x="1112022" y="213636"/>
                  </a:lnTo>
                  <a:lnTo>
                    <a:pt x="1083252" y="160277"/>
                  </a:lnTo>
                  <a:lnTo>
                    <a:pt x="1028919" y="112192"/>
                  </a:lnTo>
                  <a:lnTo>
                    <a:pt x="993214" y="90581"/>
                  </a:lnTo>
                  <a:lnTo>
                    <a:pt x="952374" y="70833"/>
                  </a:lnTo>
                  <a:lnTo>
                    <a:pt x="906818" y="53129"/>
                  </a:lnTo>
                  <a:lnTo>
                    <a:pt x="856965" y="37651"/>
                  </a:lnTo>
                  <a:lnTo>
                    <a:pt x="803233" y="24580"/>
                  </a:lnTo>
                  <a:lnTo>
                    <a:pt x="746040" y="14098"/>
                  </a:lnTo>
                  <a:lnTo>
                    <a:pt x="685806" y="6387"/>
                  </a:lnTo>
                  <a:lnTo>
                    <a:pt x="622949" y="1627"/>
                  </a:lnTo>
                  <a:lnTo>
                    <a:pt x="557888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485034" y="2005159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0" y="241839"/>
                  </a:moveTo>
                  <a:lnTo>
                    <a:pt x="14734" y="186387"/>
                  </a:lnTo>
                  <a:lnTo>
                    <a:pt x="56704" y="135484"/>
                  </a:lnTo>
                  <a:lnTo>
                    <a:pt x="86856" y="112192"/>
                  </a:lnTo>
                  <a:lnTo>
                    <a:pt x="122561" y="90581"/>
                  </a:lnTo>
                  <a:lnTo>
                    <a:pt x="163401" y="70833"/>
                  </a:lnTo>
                  <a:lnTo>
                    <a:pt x="208957" y="53129"/>
                  </a:lnTo>
                  <a:lnTo>
                    <a:pt x="258811" y="37651"/>
                  </a:lnTo>
                  <a:lnTo>
                    <a:pt x="312543" y="24580"/>
                  </a:lnTo>
                  <a:lnTo>
                    <a:pt x="369735" y="14098"/>
                  </a:lnTo>
                  <a:lnTo>
                    <a:pt x="429969" y="6387"/>
                  </a:lnTo>
                  <a:lnTo>
                    <a:pt x="492826" y="1627"/>
                  </a:lnTo>
                  <a:lnTo>
                    <a:pt x="557888" y="0"/>
                  </a:lnTo>
                  <a:lnTo>
                    <a:pt x="622950" y="1627"/>
                  </a:lnTo>
                  <a:lnTo>
                    <a:pt x="685807" y="6387"/>
                  </a:lnTo>
                  <a:lnTo>
                    <a:pt x="746041" y="14098"/>
                  </a:lnTo>
                  <a:lnTo>
                    <a:pt x="803233" y="24580"/>
                  </a:lnTo>
                  <a:lnTo>
                    <a:pt x="856965" y="37651"/>
                  </a:lnTo>
                  <a:lnTo>
                    <a:pt x="906819" y="53129"/>
                  </a:lnTo>
                  <a:lnTo>
                    <a:pt x="952375" y="70833"/>
                  </a:lnTo>
                  <a:lnTo>
                    <a:pt x="993215" y="90581"/>
                  </a:lnTo>
                  <a:lnTo>
                    <a:pt x="1028920" y="112192"/>
                  </a:lnTo>
                  <a:lnTo>
                    <a:pt x="1059072" y="135484"/>
                  </a:lnTo>
                  <a:lnTo>
                    <a:pt x="1101042" y="186387"/>
                  </a:lnTo>
                  <a:lnTo>
                    <a:pt x="1115777" y="241839"/>
                  </a:lnTo>
                  <a:lnTo>
                    <a:pt x="1112023" y="270043"/>
                  </a:lnTo>
                  <a:lnTo>
                    <a:pt x="1083252" y="323401"/>
                  </a:lnTo>
                  <a:lnTo>
                    <a:pt x="1028920" y="371486"/>
                  </a:lnTo>
                  <a:lnTo>
                    <a:pt x="993215" y="393097"/>
                  </a:lnTo>
                  <a:lnTo>
                    <a:pt x="952375" y="412845"/>
                  </a:lnTo>
                  <a:lnTo>
                    <a:pt x="906819" y="430549"/>
                  </a:lnTo>
                  <a:lnTo>
                    <a:pt x="856965" y="446027"/>
                  </a:lnTo>
                  <a:lnTo>
                    <a:pt x="803233" y="459098"/>
                  </a:lnTo>
                  <a:lnTo>
                    <a:pt x="746041" y="469580"/>
                  </a:lnTo>
                  <a:lnTo>
                    <a:pt x="685807" y="477291"/>
                  </a:lnTo>
                  <a:lnTo>
                    <a:pt x="622950" y="482051"/>
                  </a:lnTo>
                  <a:lnTo>
                    <a:pt x="557888" y="483678"/>
                  </a:lnTo>
                  <a:lnTo>
                    <a:pt x="492826" y="482051"/>
                  </a:lnTo>
                  <a:lnTo>
                    <a:pt x="429969" y="477291"/>
                  </a:lnTo>
                  <a:lnTo>
                    <a:pt x="369735" y="469580"/>
                  </a:lnTo>
                  <a:lnTo>
                    <a:pt x="312543" y="459098"/>
                  </a:lnTo>
                  <a:lnTo>
                    <a:pt x="258811" y="446027"/>
                  </a:lnTo>
                  <a:lnTo>
                    <a:pt x="208957" y="430549"/>
                  </a:lnTo>
                  <a:lnTo>
                    <a:pt x="163401" y="412845"/>
                  </a:lnTo>
                  <a:lnTo>
                    <a:pt x="122561" y="393097"/>
                  </a:lnTo>
                  <a:lnTo>
                    <a:pt x="86856" y="371486"/>
                  </a:lnTo>
                  <a:lnTo>
                    <a:pt x="56704" y="348194"/>
                  </a:lnTo>
                  <a:lnTo>
                    <a:pt x="14734" y="297291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575440" y="2115311"/>
            <a:ext cx="988694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c_nu</a:t>
            </a:r>
            <a:r>
              <a:rPr sz="1700" u="sng" spc="10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m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 MT"/>
                <a:cs typeface="Arial MT"/>
              </a:rPr>
              <a:t>ber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385632" y="2644512"/>
            <a:ext cx="1126490" cy="494030"/>
            <a:chOff x="8385632" y="2644512"/>
            <a:chExt cx="1126490" cy="494030"/>
          </a:xfrm>
        </p:grpSpPr>
        <p:sp>
          <p:nvSpPr>
            <p:cNvPr id="21" name="object 21"/>
            <p:cNvSpPr/>
            <p:nvPr/>
          </p:nvSpPr>
          <p:spPr>
            <a:xfrm>
              <a:off x="8390712" y="2649592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557888" y="0"/>
                  </a:moveTo>
                  <a:lnTo>
                    <a:pt x="492826" y="1627"/>
                  </a:lnTo>
                  <a:lnTo>
                    <a:pt x="429969" y="6387"/>
                  </a:lnTo>
                  <a:lnTo>
                    <a:pt x="369735" y="14098"/>
                  </a:lnTo>
                  <a:lnTo>
                    <a:pt x="312542" y="24580"/>
                  </a:lnTo>
                  <a:lnTo>
                    <a:pt x="258810" y="37651"/>
                  </a:lnTo>
                  <a:lnTo>
                    <a:pt x="208957" y="53129"/>
                  </a:lnTo>
                  <a:lnTo>
                    <a:pt x="163401" y="70833"/>
                  </a:lnTo>
                  <a:lnTo>
                    <a:pt x="122561" y="90581"/>
                  </a:lnTo>
                  <a:lnTo>
                    <a:pt x="86856" y="112192"/>
                  </a:lnTo>
                  <a:lnTo>
                    <a:pt x="56704" y="135484"/>
                  </a:lnTo>
                  <a:lnTo>
                    <a:pt x="14734" y="186388"/>
                  </a:lnTo>
                  <a:lnTo>
                    <a:pt x="0" y="241839"/>
                  </a:lnTo>
                  <a:lnTo>
                    <a:pt x="3753" y="270043"/>
                  </a:lnTo>
                  <a:lnTo>
                    <a:pt x="32524" y="323401"/>
                  </a:lnTo>
                  <a:lnTo>
                    <a:pt x="86856" y="371486"/>
                  </a:lnTo>
                  <a:lnTo>
                    <a:pt x="122561" y="393097"/>
                  </a:lnTo>
                  <a:lnTo>
                    <a:pt x="163401" y="412845"/>
                  </a:lnTo>
                  <a:lnTo>
                    <a:pt x="208957" y="430549"/>
                  </a:lnTo>
                  <a:lnTo>
                    <a:pt x="258810" y="446027"/>
                  </a:lnTo>
                  <a:lnTo>
                    <a:pt x="312542" y="459098"/>
                  </a:lnTo>
                  <a:lnTo>
                    <a:pt x="369735" y="469580"/>
                  </a:lnTo>
                  <a:lnTo>
                    <a:pt x="429969" y="477292"/>
                  </a:lnTo>
                  <a:lnTo>
                    <a:pt x="492826" y="482052"/>
                  </a:lnTo>
                  <a:lnTo>
                    <a:pt x="557888" y="483679"/>
                  </a:lnTo>
                  <a:lnTo>
                    <a:pt x="622949" y="482052"/>
                  </a:lnTo>
                  <a:lnTo>
                    <a:pt x="685806" y="477292"/>
                  </a:lnTo>
                  <a:lnTo>
                    <a:pt x="746041" y="469580"/>
                  </a:lnTo>
                  <a:lnTo>
                    <a:pt x="803233" y="459098"/>
                  </a:lnTo>
                  <a:lnTo>
                    <a:pt x="856965" y="446027"/>
                  </a:lnTo>
                  <a:lnTo>
                    <a:pt x="906819" y="430549"/>
                  </a:lnTo>
                  <a:lnTo>
                    <a:pt x="952375" y="412845"/>
                  </a:lnTo>
                  <a:lnTo>
                    <a:pt x="993215" y="393097"/>
                  </a:lnTo>
                  <a:lnTo>
                    <a:pt x="1028920" y="371486"/>
                  </a:lnTo>
                  <a:lnTo>
                    <a:pt x="1059072" y="348194"/>
                  </a:lnTo>
                  <a:lnTo>
                    <a:pt x="1101043" y="297291"/>
                  </a:lnTo>
                  <a:lnTo>
                    <a:pt x="1115777" y="241839"/>
                  </a:lnTo>
                  <a:lnTo>
                    <a:pt x="1112024" y="213636"/>
                  </a:lnTo>
                  <a:lnTo>
                    <a:pt x="1083253" y="160277"/>
                  </a:lnTo>
                  <a:lnTo>
                    <a:pt x="1028920" y="112192"/>
                  </a:lnTo>
                  <a:lnTo>
                    <a:pt x="993215" y="90581"/>
                  </a:lnTo>
                  <a:lnTo>
                    <a:pt x="952375" y="70833"/>
                  </a:lnTo>
                  <a:lnTo>
                    <a:pt x="906819" y="53129"/>
                  </a:lnTo>
                  <a:lnTo>
                    <a:pt x="856965" y="37651"/>
                  </a:lnTo>
                  <a:lnTo>
                    <a:pt x="803233" y="24580"/>
                  </a:lnTo>
                  <a:lnTo>
                    <a:pt x="746041" y="14098"/>
                  </a:lnTo>
                  <a:lnTo>
                    <a:pt x="685806" y="6387"/>
                  </a:lnTo>
                  <a:lnTo>
                    <a:pt x="622949" y="1627"/>
                  </a:lnTo>
                  <a:lnTo>
                    <a:pt x="557888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90712" y="2649592"/>
              <a:ext cx="1116330" cy="483870"/>
            </a:xfrm>
            <a:custGeom>
              <a:avLst/>
              <a:gdLst/>
              <a:ahLst/>
              <a:cxnLst/>
              <a:rect l="l" t="t" r="r" b="b"/>
              <a:pathLst>
                <a:path w="1116329" h="483869">
                  <a:moveTo>
                    <a:pt x="0" y="241839"/>
                  </a:moveTo>
                  <a:lnTo>
                    <a:pt x="14734" y="186387"/>
                  </a:lnTo>
                  <a:lnTo>
                    <a:pt x="56704" y="135484"/>
                  </a:lnTo>
                  <a:lnTo>
                    <a:pt x="86856" y="112192"/>
                  </a:lnTo>
                  <a:lnTo>
                    <a:pt x="122561" y="90581"/>
                  </a:lnTo>
                  <a:lnTo>
                    <a:pt x="163401" y="70833"/>
                  </a:lnTo>
                  <a:lnTo>
                    <a:pt x="208957" y="53129"/>
                  </a:lnTo>
                  <a:lnTo>
                    <a:pt x="258811" y="37651"/>
                  </a:lnTo>
                  <a:lnTo>
                    <a:pt x="312543" y="24580"/>
                  </a:lnTo>
                  <a:lnTo>
                    <a:pt x="369735" y="14098"/>
                  </a:lnTo>
                  <a:lnTo>
                    <a:pt x="429969" y="6387"/>
                  </a:lnTo>
                  <a:lnTo>
                    <a:pt x="492826" y="1627"/>
                  </a:lnTo>
                  <a:lnTo>
                    <a:pt x="557888" y="0"/>
                  </a:lnTo>
                  <a:lnTo>
                    <a:pt x="622950" y="1627"/>
                  </a:lnTo>
                  <a:lnTo>
                    <a:pt x="685807" y="6387"/>
                  </a:lnTo>
                  <a:lnTo>
                    <a:pt x="746041" y="14098"/>
                  </a:lnTo>
                  <a:lnTo>
                    <a:pt x="803233" y="24580"/>
                  </a:lnTo>
                  <a:lnTo>
                    <a:pt x="856965" y="37651"/>
                  </a:lnTo>
                  <a:lnTo>
                    <a:pt x="906819" y="53129"/>
                  </a:lnTo>
                  <a:lnTo>
                    <a:pt x="952375" y="70833"/>
                  </a:lnTo>
                  <a:lnTo>
                    <a:pt x="993215" y="90581"/>
                  </a:lnTo>
                  <a:lnTo>
                    <a:pt x="1028920" y="112192"/>
                  </a:lnTo>
                  <a:lnTo>
                    <a:pt x="1059072" y="135484"/>
                  </a:lnTo>
                  <a:lnTo>
                    <a:pt x="1101042" y="186387"/>
                  </a:lnTo>
                  <a:lnTo>
                    <a:pt x="1115777" y="241839"/>
                  </a:lnTo>
                  <a:lnTo>
                    <a:pt x="1112023" y="270043"/>
                  </a:lnTo>
                  <a:lnTo>
                    <a:pt x="1083252" y="323401"/>
                  </a:lnTo>
                  <a:lnTo>
                    <a:pt x="1028920" y="371486"/>
                  </a:lnTo>
                  <a:lnTo>
                    <a:pt x="993215" y="393097"/>
                  </a:lnTo>
                  <a:lnTo>
                    <a:pt x="952375" y="412845"/>
                  </a:lnTo>
                  <a:lnTo>
                    <a:pt x="906819" y="430549"/>
                  </a:lnTo>
                  <a:lnTo>
                    <a:pt x="856965" y="446027"/>
                  </a:lnTo>
                  <a:lnTo>
                    <a:pt x="803233" y="459098"/>
                  </a:lnTo>
                  <a:lnTo>
                    <a:pt x="746041" y="469580"/>
                  </a:lnTo>
                  <a:lnTo>
                    <a:pt x="685807" y="477291"/>
                  </a:lnTo>
                  <a:lnTo>
                    <a:pt x="622950" y="482051"/>
                  </a:lnTo>
                  <a:lnTo>
                    <a:pt x="557888" y="483678"/>
                  </a:lnTo>
                  <a:lnTo>
                    <a:pt x="492826" y="482051"/>
                  </a:lnTo>
                  <a:lnTo>
                    <a:pt x="429969" y="477291"/>
                  </a:lnTo>
                  <a:lnTo>
                    <a:pt x="369735" y="469580"/>
                  </a:lnTo>
                  <a:lnTo>
                    <a:pt x="312543" y="459098"/>
                  </a:lnTo>
                  <a:lnTo>
                    <a:pt x="258811" y="446027"/>
                  </a:lnTo>
                  <a:lnTo>
                    <a:pt x="208957" y="430549"/>
                  </a:lnTo>
                  <a:lnTo>
                    <a:pt x="163401" y="412845"/>
                  </a:lnTo>
                  <a:lnTo>
                    <a:pt x="122561" y="393097"/>
                  </a:lnTo>
                  <a:lnTo>
                    <a:pt x="86856" y="371486"/>
                  </a:lnTo>
                  <a:lnTo>
                    <a:pt x="56704" y="348194"/>
                  </a:lnTo>
                  <a:lnTo>
                    <a:pt x="14734" y="297291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794386" y="2758440"/>
            <a:ext cx="36258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i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850786" y="2488838"/>
            <a:ext cx="540385" cy="629920"/>
          </a:xfrm>
          <a:custGeom>
            <a:avLst/>
            <a:gdLst/>
            <a:ahLst/>
            <a:cxnLst/>
            <a:rect l="l" t="t" r="r" b="b"/>
            <a:pathLst>
              <a:path w="540384" h="629919">
                <a:moveTo>
                  <a:pt x="0" y="629416"/>
                </a:moveTo>
                <a:lnTo>
                  <a:pt x="192136" y="0"/>
                </a:lnTo>
              </a:path>
              <a:path w="540384" h="629919">
                <a:moveTo>
                  <a:pt x="0" y="629416"/>
                </a:moveTo>
                <a:lnTo>
                  <a:pt x="539925" y="402593"/>
                </a:lnTo>
              </a:path>
            </a:pathLst>
          </a:custGeom>
          <a:ln w="10159">
            <a:solidFill>
              <a:srgbClr val="3B3B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1412976" y="2011676"/>
            <a:ext cx="1705610" cy="494030"/>
            <a:chOff x="1412976" y="2011676"/>
            <a:chExt cx="1705610" cy="494030"/>
          </a:xfrm>
        </p:grpSpPr>
        <p:sp>
          <p:nvSpPr>
            <p:cNvPr id="26" name="object 26"/>
            <p:cNvSpPr/>
            <p:nvPr/>
          </p:nvSpPr>
          <p:spPr>
            <a:xfrm>
              <a:off x="1418056" y="2016756"/>
              <a:ext cx="1695450" cy="483870"/>
            </a:xfrm>
            <a:custGeom>
              <a:avLst/>
              <a:gdLst/>
              <a:ahLst/>
              <a:cxnLst/>
              <a:rect l="l" t="t" r="r" b="b"/>
              <a:pathLst>
                <a:path w="1695450" h="483869">
                  <a:moveTo>
                    <a:pt x="847629" y="0"/>
                  </a:moveTo>
                  <a:lnTo>
                    <a:pt x="778110" y="801"/>
                  </a:lnTo>
                  <a:lnTo>
                    <a:pt x="710139" y="3165"/>
                  </a:lnTo>
                  <a:lnTo>
                    <a:pt x="643934" y="7028"/>
                  </a:lnTo>
                  <a:lnTo>
                    <a:pt x="579713" y="12329"/>
                  </a:lnTo>
                  <a:lnTo>
                    <a:pt x="517693" y="19004"/>
                  </a:lnTo>
                  <a:lnTo>
                    <a:pt x="458094" y="26993"/>
                  </a:lnTo>
                  <a:lnTo>
                    <a:pt x="401134" y="36233"/>
                  </a:lnTo>
                  <a:lnTo>
                    <a:pt x="347030" y="46660"/>
                  </a:lnTo>
                  <a:lnTo>
                    <a:pt x="296001" y="58215"/>
                  </a:lnTo>
                  <a:lnTo>
                    <a:pt x="248264" y="70833"/>
                  </a:lnTo>
                  <a:lnTo>
                    <a:pt x="204039" y="84452"/>
                  </a:lnTo>
                  <a:lnTo>
                    <a:pt x="163543" y="99012"/>
                  </a:lnTo>
                  <a:lnTo>
                    <a:pt x="126994" y="114448"/>
                  </a:lnTo>
                  <a:lnTo>
                    <a:pt x="66610" y="147704"/>
                  </a:lnTo>
                  <a:lnTo>
                    <a:pt x="24634" y="183722"/>
                  </a:lnTo>
                  <a:lnTo>
                    <a:pt x="2809" y="222005"/>
                  </a:lnTo>
                  <a:lnTo>
                    <a:pt x="0" y="241839"/>
                  </a:lnTo>
                  <a:lnTo>
                    <a:pt x="2809" y="261674"/>
                  </a:lnTo>
                  <a:lnTo>
                    <a:pt x="24634" y="299956"/>
                  </a:lnTo>
                  <a:lnTo>
                    <a:pt x="66610" y="335974"/>
                  </a:lnTo>
                  <a:lnTo>
                    <a:pt x="126994" y="369229"/>
                  </a:lnTo>
                  <a:lnTo>
                    <a:pt x="163543" y="384666"/>
                  </a:lnTo>
                  <a:lnTo>
                    <a:pt x="204039" y="399225"/>
                  </a:lnTo>
                  <a:lnTo>
                    <a:pt x="248264" y="412845"/>
                  </a:lnTo>
                  <a:lnTo>
                    <a:pt x="296001" y="425463"/>
                  </a:lnTo>
                  <a:lnTo>
                    <a:pt x="347030" y="437017"/>
                  </a:lnTo>
                  <a:lnTo>
                    <a:pt x="401134" y="447445"/>
                  </a:lnTo>
                  <a:lnTo>
                    <a:pt x="458094" y="456684"/>
                  </a:lnTo>
                  <a:lnTo>
                    <a:pt x="517693" y="464673"/>
                  </a:lnTo>
                  <a:lnTo>
                    <a:pt x="579713" y="471349"/>
                  </a:lnTo>
                  <a:lnTo>
                    <a:pt x="643934" y="476649"/>
                  </a:lnTo>
                  <a:lnTo>
                    <a:pt x="710139" y="480512"/>
                  </a:lnTo>
                  <a:lnTo>
                    <a:pt x="778110" y="482876"/>
                  </a:lnTo>
                  <a:lnTo>
                    <a:pt x="847629" y="483678"/>
                  </a:lnTo>
                  <a:lnTo>
                    <a:pt x="917148" y="482876"/>
                  </a:lnTo>
                  <a:lnTo>
                    <a:pt x="985119" y="480512"/>
                  </a:lnTo>
                  <a:lnTo>
                    <a:pt x="1051325" y="476649"/>
                  </a:lnTo>
                  <a:lnTo>
                    <a:pt x="1115546" y="471349"/>
                  </a:lnTo>
                  <a:lnTo>
                    <a:pt x="1177565" y="464673"/>
                  </a:lnTo>
                  <a:lnTo>
                    <a:pt x="1237164" y="456684"/>
                  </a:lnTo>
                  <a:lnTo>
                    <a:pt x="1294125" y="447445"/>
                  </a:lnTo>
                  <a:lnTo>
                    <a:pt x="1348229" y="437017"/>
                  </a:lnTo>
                  <a:lnTo>
                    <a:pt x="1399258" y="425463"/>
                  </a:lnTo>
                  <a:lnTo>
                    <a:pt x="1446994" y="412845"/>
                  </a:lnTo>
                  <a:lnTo>
                    <a:pt x="1491220" y="399225"/>
                  </a:lnTo>
                  <a:lnTo>
                    <a:pt x="1531716" y="384666"/>
                  </a:lnTo>
                  <a:lnTo>
                    <a:pt x="1568265" y="369229"/>
                  </a:lnTo>
                  <a:lnTo>
                    <a:pt x="1628648" y="335974"/>
                  </a:lnTo>
                  <a:lnTo>
                    <a:pt x="1670625" y="299956"/>
                  </a:lnTo>
                  <a:lnTo>
                    <a:pt x="1692449" y="261674"/>
                  </a:lnTo>
                  <a:lnTo>
                    <a:pt x="1695259" y="241839"/>
                  </a:lnTo>
                  <a:lnTo>
                    <a:pt x="1692449" y="222005"/>
                  </a:lnTo>
                  <a:lnTo>
                    <a:pt x="1670625" y="183722"/>
                  </a:lnTo>
                  <a:lnTo>
                    <a:pt x="1628648" y="147704"/>
                  </a:lnTo>
                  <a:lnTo>
                    <a:pt x="1568265" y="114448"/>
                  </a:lnTo>
                  <a:lnTo>
                    <a:pt x="1531716" y="99012"/>
                  </a:lnTo>
                  <a:lnTo>
                    <a:pt x="1491220" y="84452"/>
                  </a:lnTo>
                  <a:lnTo>
                    <a:pt x="1446994" y="70833"/>
                  </a:lnTo>
                  <a:lnTo>
                    <a:pt x="1399258" y="58215"/>
                  </a:lnTo>
                  <a:lnTo>
                    <a:pt x="1348229" y="46660"/>
                  </a:lnTo>
                  <a:lnTo>
                    <a:pt x="1294125" y="36233"/>
                  </a:lnTo>
                  <a:lnTo>
                    <a:pt x="1237164" y="26993"/>
                  </a:lnTo>
                  <a:lnTo>
                    <a:pt x="1177565" y="19004"/>
                  </a:lnTo>
                  <a:lnTo>
                    <a:pt x="1115546" y="12329"/>
                  </a:lnTo>
                  <a:lnTo>
                    <a:pt x="1051325" y="7028"/>
                  </a:lnTo>
                  <a:lnTo>
                    <a:pt x="985119" y="3165"/>
                  </a:lnTo>
                  <a:lnTo>
                    <a:pt x="917148" y="801"/>
                  </a:lnTo>
                  <a:lnTo>
                    <a:pt x="84762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18056" y="2016756"/>
              <a:ext cx="1695450" cy="483870"/>
            </a:xfrm>
            <a:custGeom>
              <a:avLst/>
              <a:gdLst/>
              <a:ahLst/>
              <a:cxnLst/>
              <a:rect l="l" t="t" r="r" b="b"/>
              <a:pathLst>
                <a:path w="1695450" h="483869">
                  <a:moveTo>
                    <a:pt x="0" y="241839"/>
                  </a:moveTo>
                  <a:lnTo>
                    <a:pt x="11094" y="202611"/>
                  </a:lnTo>
                  <a:lnTo>
                    <a:pt x="43212" y="165399"/>
                  </a:lnTo>
                  <a:lnTo>
                    <a:pt x="94610" y="130700"/>
                  </a:lnTo>
                  <a:lnTo>
                    <a:pt x="163543" y="99012"/>
                  </a:lnTo>
                  <a:lnTo>
                    <a:pt x="204039" y="84452"/>
                  </a:lnTo>
                  <a:lnTo>
                    <a:pt x="248265" y="70833"/>
                  </a:lnTo>
                  <a:lnTo>
                    <a:pt x="296001" y="58215"/>
                  </a:lnTo>
                  <a:lnTo>
                    <a:pt x="347030" y="46660"/>
                  </a:lnTo>
                  <a:lnTo>
                    <a:pt x="401134" y="36233"/>
                  </a:lnTo>
                  <a:lnTo>
                    <a:pt x="458095" y="26993"/>
                  </a:lnTo>
                  <a:lnTo>
                    <a:pt x="517694" y="19004"/>
                  </a:lnTo>
                  <a:lnTo>
                    <a:pt x="579713" y="12329"/>
                  </a:lnTo>
                  <a:lnTo>
                    <a:pt x="643934" y="7028"/>
                  </a:lnTo>
                  <a:lnTo>
                    <a:pt x="710139" y="3165"/>
                  </a:lnTo>
                  <a:lnTo>
                    <a:pt x="778111" y="801"/>
                  </a:lnTo>
                  <a:lnTo>
                    <a:pt x="847629" y="0"/>
                  </a:lnTo>
                  <a:lnTo>
                    <a:pt x="917148" y="801"/>
                  </a:lnTo>
                  <a:lnTo>
                    <a:pt x="985119" y="3165"/>
                  </a:lnTo>
                  <a:lnTo>
                    <a:pt x="1051325" y="7028"/>
                  </a:lnTo>
                  <a:lnTo>
                    <a:pt x="1115546" y="12329"/>
                  </a:lnTo>
                  <a:lnTo>
                    <a:pt x="1177565" y="19004"/>
                  </a:lnTo>
                  <a:lnTo>
                    <a:pt x="1237164" y="26993"/>
                  </a:lnTo>
                  <a:lnTo>
                    <a:pt x="1294125" y="36233"/>
                  </a:lnTo>
                  <a:lnTo>
                    <a:pt x="1348229" y="46660"/>
                  </a:lnTo>
                  <a:lnTo>
                    <a:pt x="1399258" y="58215"/>
                  </a:lnTo>
                  <a:lnTo>
                    <a:pt x="1446994" y="70833"/>
                  </a:lnTo>
                  <a:lnTo>
                    <a:pt x="1491220" y="84452"/>
                  </a:lnTo>
                  <a:lnTo>
                    <a:pt x="1531716" y="99012"/>
                  </a:lnTo>
                  <a:lnTo>
                    <a:pt x="1568265" y="114448"/>
                  </a:lnTo>
                  <a:lnTo>
                    <a:pt x="1628648" y="147704"/>
                  </a:lnTo>
                  <a:lnTo>
                    <a:pt x="1670625" y="183722"/>
                  </a:lnTo>
                  <a:lnTo>
                    <a:pt x="1692449" y="222004"/>
                  </a:lnTo>
                  <a:lnTo>
                    <a:pt x="1695259" y="241839"/>
                  </a:lnTo>
                  <a:lnTo>
                    <a:pt x="1692449" y="261674"/>
                  </a:lnTo>
                  <a:lnTo>
                    <a:pt x="1670625" y="299956"/>
                  </a:lnTo>
                  <a:lnTo>
                    <a:pt x="1628648" y="335974"/>
                  </a:lnTo>
                  <a:lnTo>
                    <a:pt x="1568265" y="369230"/>
                  </a:lnTo>
                  <a:lnTo>
                    <a:pt x="1531716" y="384666"/>
                  </a:lnTo>
                  <a:lnTo>
                    <a:pt x="1491220" y="399226"/>
                  </a:lnTo>
                  <a:lnTo>
                    <a:pt x="1446994" y="412845"/>
                  </a:lnTo>
                  <a:lnTo>
                    <a:pt x="1399258" y="425463"/>
                  </a:lnTo>
                  <a:lnTo>
                    <a:pt x="1348229" y="437017"/>
                  </a:lnTo>
                  <a:lnTo>
                    <a:pt x="1294125" y="447445"/>
                  </a:lnTo>
                  <a:lnTo>
                    <a:pt x="1237164" y="456685"/>
                  </a:lnTo>
                  <a:lnTo>
                    <a:pt x="1177565" y="464673"/>
                  </a:lnTo>
                  <a:lnTo>
                    <a:pt x="1115546" y="471349"/>
                  </a:lnTo>
                  <a:lnTo>
                    <a:pt x="1051325" y="476650"/>
                  </a:lnTo>
                  <a:lnTo>
                    <a:pt x="985119" y="480513"/>
                  </a:lnTo>
                  <a:lnTo>
                    <a:pt x="917148" y="482877"/>
                  </a:lnTo>
                  <a:lnTo>
                    <a:pt x="847629" y="483678"/>
                  </a:lnTo>
                  <a:lnTo>
                    <a:pt x="778111" y="482877"/>
                  </a:lnTo>
                  <a:lnTo>
                    <a:pt x="710139" y="480513"/>
                  </a:lnTo>
                  <a:lnTo>
                    <a:pt x="643934" y="476650"/>
                  </a:lnTo>
                  <a:lnTo>
                    <a:pt x="579713" y="471349"/>
                  </a:lnTo>
                  <a:lnTo>
                    <a:pt x="517694" y="464673"/>
                  </a:lnTo>
                  <a:lnTo>
                    <a:pt x="458095" y="456685"/>
                  </a:lnTo>
                  <a:lnTo>
                    <a:pt x="401134" y="447445"/>
                  </a:lnTo>
                  <a:lnTo>
                    <a:pt x="347030" y="437017"/>
                  </a:lnTo>
                  <a:lnTo>
                    <a:pt x="296001" y="425463"/>
                  </a:lnTo>
                  <a:lnTo>
                    <a:pt x="248265" y="412845"/>
                  </a:lnTo>
                  <a:lnTo>
                    <a:pt x="204039" y="399226"/>
                  </a:lnTo>
                  <a:lnTo>
                    <a:pt x="163543" y="384666"/>
                  </a:lnTo>
                  <a:lnTo>
                    <a:pt x="126994" y="369230"/>
                  </a:lnTo>
                  <a:lnTo>
                    <a:pt x="66610" y="335974"/>
                  </a:lnTo>
                  <a:lnTo>
                    <a:pt x="24634" y="299956"/>
                  </a:lnTo>
                  <a:lnTo>
                    <a:pt x="2809" y="261674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637572" y="2093976"/>
            <a:ext cx="1204595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u="sng" spc="-45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h</a:t>
            </a:r>
            <a:r>
              <a:rPr sz="1700" u="sng" spc="-5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w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_nu</a:t>
            </a:r>
            <a:r>
              <a:rPr sz="1700" u="sng" spc="5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m</a:t>
            </a:r>
            <a:r>
              <a:rPr sz="1700" u="sng" dirty="0">
                <a:solidFill>
                  <a:srgbClr val="292934"/>
                </a:solidFill>
                <a:uFill>
                  <a:solidFill>
                    <a:srgbClr val="3B3B4B"/>
                  </a:solidFill>
                </a:uFill>
                <a:latin typeface="Arial MT"/>
                <a:cs typeface="Arial MT"/>
              </a:rPr>
              <a:t>ber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45314" y="3127909"/>
            <a:ext cx="1572260" cy="1056005"/>
            <a:chOff x="745314" y="3127909"/>
            <a:chExt cx="1572260" cy="1056005"/>
          </a:xfrm>
        </p:grpSpPr>
        <p:sp>
          <p:nvSpPr>
            <p:cNvPr id="30" name="object 30"/>
            <p:cNvSpPr/>
            <p:nvPr/>
          </p:nvSpPr>
          <p:spPr>
            <a:xfrm>
              <a:off x="1558470" y="3132989"/>
              <a:ext cx="459105" cy="54610"/>
            </a:xfrm>
            <a:custGeom>
              <a:avLst/>
              <a:gdLst/>
              <a:ahLst/>
              <a:cxnLst/>
              <a:rect l="l" t="t" r="r" b="b"/>
              <a:pathLst>
                <a:path w="459105" h="54610">
                  <a:moveTo>
                    <a:pt x="458967" y="0"/>
                  </a:moveTo>
                  <a:lnTo>
                    <a:pt x="0" y="54513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0394" y="3694598"/>
              <a:ext cx="1562100" cy="483870"/>
            </a:xfrm>
            <a:custGeom>
              <a:avLst/>
              <a:gdLst/>
              <a:ahLst/>
              <a:cxnLst/>
              <a:rect l="l" t="t" r="r" b="b"/>
              <a:pathLst>
                <a:path w="1562100" h="483870">
                  <a:moveTo>
                    <a:pt x="780867" y="0"/>
                  </a:moveTo>
                  <a:lnTo>
                    <a:pt x="709792" y="988"/>
                  </a:lnTo>
                  <a:lnTo>
                    <a:pt x="640505" y="3896"/>
                  </a:lnTo>
                  <a:lnTo>
                    <a:pt x="573281" y="8638"/>
                  </a:lnTo>
                  <a:lnTo>
                    <a:pt x="508397" y="15130"/>
                  </a:lnTo>
                  <a:lnTo>
                    <a:pt x="446127" y="23285"/>
                  </a:lnTo>
                  <a:lnTo>
                    <a:pt x="386748" y="33018"/>
                  </a:lnTo>
                  <a:lnTo>
                    <a:pt x="330535" y="44244"/>
                  </a:lnTo>
                  <a:lnTo>
                    <a:pt x="277764" y="56877"/>
                  </a:lnTo>
                  <a:lnTo>
                    <a:pt x="228710" y="70833"/>
                  </a:lnTo>
                  <a:lnTo>
                    <a:pt x="183650" y="86025"/>
                  </a:lnTo>
                  <a:lnTo>
                    <a:pt x="142858" y="102368"/>
                  </a:lnTo>
                  <a:lnTo>
                    <a:pt x="106611" y="119778"/>
                  </a:lnTo>
                  <a:lnTo>
                    <a:pt x="48853" y="157453"/>
                  </a:lnTo>
                  <a:lnTo>
                    <a:pt x="12580" y="198368"/>
                  </a:lnTo>
                  <a:lnTo>
                    <a:pt x="0" y="241839"/>
                  </a:lnTo>
                  <a:lnTo>
                    <a:pt x="3191" y="263852"/>
                  </a:lnTo>
                  <a:lnTo>
                    <a:pt x="27893" y="306130"/>
                  </a:lnTo>
                  <a:lnTo>
                    <a:pt x="75184" y="345510"/>
                  </a:lnTo>
                  <a:lnTo>
                    <a:pt x="142858" y="381310"/>
                  </a:lnTo>
                  <a:lnTo>
                    <a:pt x="183650" y="397654"/>
                  </a:lnTo>
                  <a:lnTo>
                    <a:pt x="228710" y="412846"/>
                  </a:lnTo>
                  <a:lnTo>
                    <a:pt x="277764" y="426801"/>
                  </a:lnTo>
                  <a:lnTo>
                    <a:pt x="330535" y="439435"/>
                  </a:lnTo>
                  <a:lnTo>
                    <a:pt x="386748" y="450661"/>
                  </a:lnTo>
                  <a:lnTo>
                    <a:pt x="446127" y="460394"/>
                  </a:lnTo>
                  <a:lnTo>
                    <a:pt x="508397" y="468549"/>
                  </a:lnTo>
                  <a:lnTo>
                    <a:pt x="573281" y="475040"/>
                  </a:lnTo>
                  <a:lnTo>
                    <a:pt x="640505" y="479783"/>
                  </a:lnTo>
                  <a:lnTo>
                    <a:pt x="709792" y="482691"/>
                  </a:lnTo>
                  <a:lnTo>
                    <a:pt x="780867" y="483679"/>
                  </a:lnTo>
                  <a:lnTo>
                    <a:pt x="851942" y="482691"/>
                  </a:lnTo>
                  <a:lnTo>
                    <a:pt x="921229" y="479783"/>
                  </a:lnTo>
                  <a:lnTo>
                    <a:pt x="988452" y="475040"/>
                  </a:lnTo>
                  <a:lnTo>
                    <a:pt x="1053337" y="468549"/>
                  </a:lnTo>
                  <a:lnTo>
                    <a:pt x="1115606" y="460394"/>
                  </a:lnTo>
                  <a:lnTo>
                    <a:pt x="1174986" y="450661"/>
                  </a:lnTo>
                  <a:lnTo>
                    <a:pt x="1231199" y="439435"/>
                  </a:lnTo>
                  <a:lnTo>
                    <a:pt x="1283970" y="426801"/>
                  </a:lnTo>
                  <a:lnTo>
                    <a:pt x="1333023" y="412846"/>
                  </a:lnTo>
                  <a:lnTo>
                    <a:pt x="1378084" y="397654"/>
                  </a:lnTo>
                  <a:lnTo>
                    <a:pt x="1418876" y="381310"/>
                  </a:lnTo>
                  <a:lnTo>
                    <a:pt x="1455123" y="363901"/>
                  </a:lnTo>
                  <a:lnTo>
                    <a:pt x="1512881" y="326225"/>
                  </a:lnTo>
                  <a:lnTo>
                    <a:pt x="1549153" y="285310"/>
                  </a:lnTo>
                  <a:lnTo>
                    <a:pt x="1561734" y="241839"/>
                  </a:lnTo>
                  <a:lnTo>
                    <a:pt x="1558543" y="219827"/>
                  </a:lnTo>
                  <a:lnTo>
                    <a:pt x="1533841" y="177549"/>
                  </a:lnTo>
                  <a:lnTo>
                    <a:pt x="1486550" y="138168"/>
                  </a:lnTo>
                  <a:lnTo>
                    <a:pt x="1418876" y="102368"/>
                  </a:lnTo>
                  <a:lnTo>
                    <a:pt x="1378084" y="86025"/>
                  </a:lnTo>
                  <a:lnTo>
                    <a:pt x="1333023" y="70833"/>
                  </a:lnTo>
                  <a:lnTo>
                    <a:pt x="1283970" y="56877"/>
                  </a:lnTo>
                  <a:lnTo>
                    <a:pt x="1231199" y="44244"/>
                  </a:lnTo>
                  <a:lnTo>
                    <a:pt x="1174986" y="33018"/>
                  </a:lnTo>
                  <a:lnTo>
                    <a:pt x="1115606" y="23285"/>
                  </a:lnTo>
                  <a:lnTo>
                    <a:pt x="1053337" y="15130"/>
                  </a:lnTo>
                  <a:lnTo>
                    <a:pt x="988452" y="8638"/>
                  </a:lnTo>
                  <a:lnTo>
                    <a:pt x="921229" y="3896"/>
                  </a:lnTo>
                  <a:lnTo>
                    <a:pt x="851942" y="988"/>
                  </a:lnTo>
                  <a:lnTo>
                    <a:pt x="780867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0394" y="3694598"/>
              <a:ext cx="1562100" cy="483870"/>
            </a:xfrm>
            <a:custGeom>
              <a:avLst/>
              <a:gdLst/>
              <a:ahLst/>
              <a:cxnLst/>
              <a:rect l="l" t="t" r="r" b="b"/>
              <a:pathLst>
                <a:path w="1562100" h="483870">
                  <a:moveTo>
                    <a:pt x="0" y="241839"/>
                  </a:moveTo>
                  <a:lnTo>
                    <a:pt x="12580" y="198368"/>
                  </a:lnTo>
                  <a:lnTo>
                    <a:pt x="48853" y="157453"/>
                  </a:lnTo>
                  <a:lnTo>
                    <a:pt x="106611" y="119778"/>
                  </a:lnTo>
                  <a:lnTo>
                    <a:pt x="142858" y="102368"/>
                  </a:lnTo>
                  <a:lnTo>
                    <a:pt x="183650" y="86025"/>
                  </a:lnTo>
                  <a:lnTo>
                    <a:pt x="228710" y="70833"/>
                  </a:lnTo>
                  <a:lnTo>
                    <a:pt x="277764" y="56877"/>
                  </a:lnTo>
                  <a:lnTo>
                    <a:pt x="330535" y="44244"/>
                  </a:lnTo>
                  <a:lnTo>
                    <a:pt x="386748" y="33018"/>
                  </a:lnTo>
                  <a:lnTo>
                    <a:pt x="446127" y="23285"/>
                  </a:lnTo>
                  <a:lnTo>
                    <a:pt x="508397" y="15130"/>
                  </a:lnTo>
                  <a:lnTo>
                    <a:pt x="573281" y="8638"/>
                  </a:lnTo>
                  <a:lnTo>
                    <a:pt x="640505" y="3896"/>
                  </a:lnTo>
                  <a:lnTo>
                    <a:pt x="709792" y="988"/>
                  </a:lnTo>
                  <a:lnTo>
                    <a:pt x="780867" y="0"/>
                  </a:lnTo>
                  <a:lnTo>
                    <a:pt x="851941" y="988"/>
                  </a:lnTo>
                  <a:lnTo>
                    <a:pt x="921228" y="3896"/>
                  </a:lnTo>
                  <a:lnTo>
                    <a:pt x="988452" y="8638"/>
                  </a:lnTo>
                  <a:lnTo>
                    <a:pt x="1053336" y="15130"/>
                  </a:lnTo>
                  <a:lnTo>
                    <a:pt x="1115606" y="23285"/>
                  </a:lnTo>
                  <a:lnTo>
                    <a:pt x="1174985" y="33018"/>
                  </a:lnTo>
                  <a:lnTo>
                    <a:pt x="1231198" y="44244"/>
                  </a:lnTo>
                  <a:lnTo>
                    <a:pt x="1283969" y="56877"/>
                  </a:lnTo>
                  <a:lnTo>
                    <a:pt x="1333023" y="70833"/>
                  </a:lnTo>
                  <a:lnTo>
                    <a:pt x="1378084" y="86025"/>
                  </a:lnTo>
                  <a:lnTo>
                    <a:pt x="1418875" y="102368"/>
                  </a:lnTo>
                  <a:lnTo>
                    <a:pt x="1455123" y="119778"/>
                  </a:lnTo>
                  <a:lnTo>
                    <a:pt x="1512881" y="157453"/>
                  </a:lnTo>
                  <a:lnTo>
                    <a:pt x="1549153" y="198368"/>
                  </a:lnTo>
                  <a:lnTo>
                    <a:pt x="1561734" y="241839"/>
                  </a:lnTo>
                  <a:lnTo>
                    <a:pt x="1558543" y="263851"/>
                  </a:lnTo>
                  <a:lnTo>
                    <a:pt x="1533841" y="306129"/>
                  </a:lnTo>
                  <a:lnTo>
                    <a:pt x="1486550" y="345510"/>
                  </a:lnTo>
                  <a:lnTo>
                    <a:pt x="1418875" y="381309"/>
                  </a:lnTo>
                  <a:lnTo>
                    <a:pt x="1378084" y="397653"/>
                  </a:lnTo>
                  <a:lnTo>
                    <a:pt x="1333023" y="412845"/>
                  </a:lnTo>
                  <a:lnTo>
                    <a:pt x="1283969" y="426801"/>
                  </a:lnTo>
                  <a:lnTo>
                    <a:pt x="1231198" y="439434"/>
                  </a:lnTo>
                  <a:lnTo>
                    <a:pt x="1174985" y="450660"/>
                  </a:lnTo>
                  <a:lnTo>
                    <a:pt x="1115606" y="460393"/>
                  </a:lnTo>
                  <a:lnTo>
                    <a:pt x="1053336" y="468548"/>
                  </a:lnTo>
                  <a:lnTo>
                    <a:pt x="988452" y="475040"/>
                  </a:lnTo>
                  <a:lnTo>
                    <a:pt x="921228" y="479782"/>
                  </a:lnTo>
                  <a:lnTo>
                    <a:pt x="851941" y="482690"/>
                  </a:lnTo>
                  <a:lnTo>
                    <a:pt x="780867" y="483678"/>
                  </a:lnTo>
                  <a:lnTo>
                    <a:pt x="709792" y="482690"/>
                  </a:lnTo>
                  <a:lnTo>
                    <a:pt x="640505" y="479782"/>
                  </a:lnTo>
                  <a:lnTo>
                    <a:pt x="573281" y="475040"/>
                  </a:lnTo>
                  <a:lnTo>
                    <a:pt x="508397" y="468548"/>
                  </a:lnTo>
                  <a:lnTo>
                    <a:pt x="446127" y="460393"/>
                  </a:lnTo>
                  <a:lnTo>
                    <a:pt x="386748" y="450660"/>
                  </a:lnTo>
                  <a:lnTo>
                    <a:pt x="330535" y="439434"/>
                  </a:lnTo>
                  <a:lnTo>
                    <a:pt x="277764" y="426801"/>
                  </a:lnTo>
                  <a:lnTo>
                    <a:pt x="228710" y="412845"/>
                  </a:lnTo>
                  <a:lnTo>
                    <a:pt x="183650" y="397653"/>
                  </a:lnTo>
                  <a:lnTo>
                    <a:pt x="142858" y="381309"/>
                  </a:lnTo>
                  <a:lnTo>
                    <a:pt x="106611" y="363900"/>
                  </a:lnTo>
                  <a:lnTo>
                    <a:pt x="48853" y="326225"/>
                  </a:lnTo>
                  <a:lnTo>
                    <a:pt x="12580" y="285310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64782" y="3770376"/>
            <a:ext cx="119380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700" spc="-5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_sco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r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es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60830" y="2940582"/>
            <a:ext cx="1102995" cy="494030"/>
            <a:chOff x="460830" y="2940582"/>
            <a:chExt cx="1102995" cy="494030"/>
          </a:xfrm>
        </p:grpSpPr>
        <p:sp>
          <p:nvSpPr>
            <p:cNvPr id="35" name="object 35"/>
            <p:cNvSpPr/>
            <p:nvPr/>
          </p:nvSpPr>
          <p:spPr>
            <a:xfrm>
              <a:off x="465910" y="2945662"/>
              <a:ext cx="1092835" cy="483870"/>
            </a:xfrm>
            <a:custGeom>
              <a:avLst/>
              <a:gdLst/>
              <a:ahLst/>
              <a:cxnLst/>
              <a:rect l="l" t="t" r="r" b="b"/>
              <a:pathLst>
                <a:path w="1092835" h="483870">
                  <a:moveTo>
                    <a:pt x="546279" y="0"/>
                  </a:moveTo>
                  <a:lnTo>
                    <a:pt x="482571" y="1627"/>
                  </a:lnTo>
                  <a:lnTo>
                    <a:pt x="421022" y="6387"/>
                  </a:lnTo>
                  <a:lnTo>
                    <a:pt x="362041" y="14098"/>
                  </a:lnTo>
                  <a:lnTo>
                    <a:pt x="306039" y="24580"/>
                  </a:lnTo>
                  <a:lnTo>
                    <a:pt x="253425" y="37651"/>
                  </a:lnTo>
                  <a:lnTo>
                    <a:pt x="204609" y="53129"/>
                  </a:lnTo>
                  <a:lnTo>
                    <a:pt x="160001" y="70833"/>
                  </a:lnTo>
                  <a:lnTo>
                    <a:pt x="120011" y="90581"/>
                  </a:lnTo>
                  <a:lnTo>
                    <a:pt x="85049" y="112192"/>
                  </a:lnTo>
                  <a:lnTo>
                    <a:pt x="31847" y="160277"/>
                  </a:lnTo>
                  <a:lnTo>
                    <a:pt x="3675" y="213636"/>
                  </a:lnTo>
                  <a:lnTo>
                    <a:pt x="0" y="241839"/>
                  </a:lnTo>
                  <a:lnTo>
                    <a:pt x="3675" y="270043"/>
                  </a:lnTo>
                  <a:lnTo>
                    <a:pt x="31847" y="323402"/>
                  </a:lnTo>
                  <a:lnTo>
                    <a:pt x="85049" y="371487"/>
                  </a:lnTo>
                  <a:lnTo>
                    <a:pt x="120011" y="393098"/>
                  </a:lnTo>
                  <a:lnTo>
                    <a:pt x="160001" y="412846"/>
                  </a:lnTo>
                  <a:lnTo>
                    <a:pt x="204609" y="430550"/>
                  </a:lnTo>
                  <a:lnTo>
                    <a:pt x="253425" y="446028"/>
                  </a:lnTo>
                  <a:lnTo>
                    <a:pt x="306039" y="459098"/>
                  </a:lnTo>
                  <a:lnTo>
                    <a:pt x="362041" y="469580"/>
                  </a:lnTo>
                  <a:lnTo>
                    <a:pt x="421022" y="477292"/>
                  </a:lnTo>
                  <a:lnTo>
                    <a:pt x="482571" y="482052"/>
                  </a:lnTo>
                  <a:lnTo>
                    <a:pt x="546279" y="483679"/>
                  </a:lnTo>
                  <a:lnTo>
                    <a:pt x="609986" y="482052"/>
                  </a:lnTo>
                  <a:lnTo>
                    <a:pt x="671536" y="477292"/>
                  </a:lnTo>
                  <a:lnTo>
                    <a:pt x="730516" y="469580"/>
                  </a:lnTo>
                  <a:lnTo>
                    <a:pt x="786519" y="459098"/>
                  </a:lnTo>
                  <a:lnTo>
                    <a:pt x="839133" y="446028"/>
                  </a:lnTo>
                  <a:lnTo>
                    <a:pt x="887949" y="430550"/>
                  </a:lnTo>
                  <a:lnTo>
                    <a:pt x="932557" y="412846"/>
                  </a:lnTo>
                  <a:lnTo>
                    <a:pt x="972547" y="393098"/>
                  </a:lnTo>
                  <a:lnTo>
                    <a:pt x="1007509" y="371487"/>
                  </a:lnTo>
                  <a:lnTo>
                    <a:pt x="1060711" y="323402"/>
                  </a:lnTo>
                  <a:lnTo>
                    <a:pt x="1088883" y="270043"/>
                  </a:lnTo>
                  <a:lnTo>
                    <a:pt x="1092558" y="241839"/>
                  </a:lnTo>
                  <a:lnTo>
                    <a:pt x="1088883" y="213636"/>
                  </a:lnTo>
                  <a:lnTo>
                    <a:pt x="1060711" y="160277"/>
                  </a:lnTo>
                  <a:lnTo>
                    <a:pt x="1007509" y="112192"/>
                  </a:lnTo>
                  <a:lnTo>
                    <a:pt x="972547" y="90581"/>
                  </a:lnTo>
                  <a:lnTo>
                    <a:pt x="932557" y="70833"/>
                  </a:lnTo>
                  <a:lnTo>
                    <a:pt x="887949" y="53129"/>
                  </a:lnTo>
                  <a:lnTo>
                    <a:pt x="839133" y="37651"/>
                  </a:lnTo>
                  <a:lnTo>
                    <a:pt x="786519" y="24580"/>
                  </a:lnTo>
                  <a:lnTo>
                    <a:pt x="730516" y="14098"/>
                  </a:lnTo>
                  <a:lnTo>
                    <a:pt x="671536" y="6387"/>
                  </a:lnTo>
                  <a:lnTo>
                    <a:pt x="609986" y="1627"/>
                  </a:lnTo>
                  <a:lnTo>
                    <a:pt x="546279" y="0"/>
                  </a:lnTo>
                  <a:close/>
                </a:path>
              </a:pathLst>
            </a:custGeom>
            <a:solidFill>
              <a:srgbClr val="A8D4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5910" y="2945662"/>
              <a:ext cx="1092835" cy="483870"/>
            </a:xfrm>
            <a:custGeom>
              <a:avLst/>
              <a:gdLst/>
              <a:ahLst/>
              <a:cxnLst/>
              <a:rect l="l" t="t" r="r" b="b"/>
              <a:pathLst>
                <a:path w="1092835" h="483870">
                  <a:moveTo>
                    <a:pt x="0" y="241839"/>
                  </a:moveTo>
                  <a:lnTo>
                    <a:pt x="14427" y="186387"/>
                  </a:lnTo>
                  <a:lnTo>
                    <a:pt x="55524" y="135484"/>
                  </a:lnTo>
                  <a:lnTo>
                    <a:pt x="120011" y="90581"/>
                  </a:lnTo>
                  <a:lnTo>
                    <a:pt x="160001" y="70833"/>
                  </a:lnTo>
                  <a:lnTo>
                    <a:pt x="204609" y="53129"/>
                  </a:lnTo>
                  <a:lnTo>
                    <a:pt x="253425" y="37651"/>
                  </a:lnTo>
                  <a:lnTo>
                    <a:pt x="306039" y="24580"/>
                  </a:lnTo>
                  <a:lnTo>
                    <a:pt x="362041" y="14098"/>
                  </a:lnTo>
                  <a:lnTo>
                    <a:pt x="421022" y="6387"/>
                  </a:lnTo>
                  <a:lnTo>
                    <a:pt x="482571" y="1627"/>
                  </a:lnTo>
                  <a:lnTo>
                    <a:pt x="546279" y="0"/>
                  </a:lnTo>
                  <a:lnTo>
                    <a:pt x="609987" y="1627"/>
                  </a:lnTo>
                  <a:lnTo>
                    <a:pt x="671536" y="6387"/>
                  </a:lnTo>
                  <a:lnTo>
                    <a:pt x="730516" y="14098"/>
                  </a:lnTo>
                  <a:lnTo>
                    <a:pt x="786519" y="24580"/>
                  </a:lnTo>
                  <a:lnTo>
                    <a:pt x="839133" y="37651"/>
                  </a:lnTo>
                  <a:lnTo>
                    <a:pt x="887949" y="53129"/>
                  </a:lnTo>
                  <a:lnTo>
                    <a:pt x="932557" y="70833"/>
                  </a:lnTo>
                  <a:lnTo>
                    <a:pt x="972547" y="90581"/>
                  </a:lnTo>
                  <a:lnTo>
                    <a:pt x="1007509" y="112192"/>
                  </a:lnTo>
                  <a:lnTo>
                    <a:pt x="1060711" y="160276"/>
                  </a:lnTo>
                  <a:lnTo>
                    <a:pt x="1088883" y="213635"/>
                  </a:lnTo>
                  <a:lnTo>
                    <a:pt x="1092558" y="241839"/>
                  </a:lnTo>
                  <a:lnTo>
                    <a:pt x="1088883" y="270043"/>
                  </a:lnTo>
                  <a:lnTo>
                    <a:pt x="1060711" y="323401"/>
                  </a:lnTo>
                  <a:lnTo>
                    <a:pt x="1007509" y="371486"/>
                  </a:lnTo>
                  <a:lnTo>
                    <a:pt x="972547" y="393097"/>
                  </a:lnTo>
                  <a:lnTo>
                    <a:pt x="932557" y="412845"/>
                  </a:lnTo>
                  <a:lnTo>
                    <a:pt x="887949" y="430549"/>
                  </a:lnTo>
                  <a:lnTo>
                    <a:pt x="839133" y="446027"/>
                  </a:lnTo>
                  <a:lnTo>
                    <a:pt x="786519" y="459098"/>
                  </a:lnTo>
                  <a:lnTo>
                    <a:pt x="730516" y="469580"/>
                  </a:lnTo>
                  <a:lnTo>
                    <a:pt x="671536" y="477291"/>
                  </a:lnTo>
                  <a:lnTo>
                    <a:pt x="609987" y="482051"/>
                  </a:lnTo>
                  <a:lnTo>
                    <a:pt x="546279" y="483678"/>
                  </a:lnTo>
                  <a:lnTo>
                    <a:pt x="482571" y="482051"/>
                  </a:lnTo>
                  <a:lnTo>
                    <a:pt x="421022" y="477291"/>
                  </a:lnTo>
                  <a:lnTo>
                    <a:pt x="362041" y="469580"/>
                  </a:lnTo>
                  <a:lnTo>
                    <a:pt x="306039" y="459098"/>
                  </a:lnTo>
                  <a:lnTo>
                    <a:pt x="253425" y="446027"/>
                  </a:lnTo>
                  <a:lnTo>
                    <a:pt x="204609" y="430549"/>
                  </a:lnTo>
                  <a:lnTo>
                    <a:pt x="160001" y="412845"/>
                  </a:lnTo>
                  <a:lnTo>
                    <a:pt x="120011" y="393097"/>
                  </a:lnTo>
                  <a:lnTo>
                    <a:pt x="85049" y="371486"/>
                  </a:lnTo>
                  <a:lnTo>
                    <a:pt x="31847" y="323401"/>
                  </a:lnTo>
                  <a:lnTo>
                    <a:pt x="3675" y="270043"/>
                  </a:lnTo>
                  <a:lnTo>
                    <a:pt x="0" y="241839"/>
                  </a:lnTo>
                  <a:close/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73800" y="3038855"/>
            <a:ext cx="928369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due_da</a:t>
            </a:r>
            <a:r>
              <a:rPr sz="1700" spc="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1700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526182" y="2495354"/>
            <a:ext cx="1155065" cy="1204595"/>
            <a:chOff x="1526182" y="2495354"/>
            <a:chExt cx="1155065" cy="1204595"/>
          </a:xfrm>
        </p:grpSpPr>
        <p:sp>
          <p:nvSpPr>
            <p:cNvPr id="39" name="object 39"/>
            <p:cNvSpPr/>
            <p:nvPr/>
          </p:nvSpPr>
          <p:spPr>
            <a:xfrm>
              <a:off x="1531262" y="3132989"/>
              <a:ext cx="486409" cy="561975"/>
            </a:xfrm>
            <a:custGeom>
              <a:avLst/>
              <a:gdLst/>
              <a:ahLst/>
              <a:cxnLst/>
              <a:rect l="l" t="t" r="r" b="b"/>
              <a:pathLst>
                <a:path w="486410" h="561975">
                  <a:moveTo>
                    <a:pt x="486175" y="0"/>
                  </a:moveTo>
                  <a:lnTo>
                    <a:pt x="0" y="561609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265686" y="2500434"/>
              <a:ext cx="410209" cy="368935"/>
            </a:xfrm>
            <a:custGeom>
              <a:avLst/>
              <a:gdLst/>
              <a:ahLst/>
              <a:cxnLst/>
              <a:rect l="l" t="t" r="r" b="b"/>
              <a:pathLst>
                <a:path w="410210" h="368935">
                  <a:moveTo>
                    <a:pt x="0" y="0"/>
                  </a:moveTo>
                  <a:lnTo>
                    <a:pt x="410119" y="368862"/>
                  </a:lnTo>
                </a:path>
              </a:pathLst>
            </a:custGeom>
            <a:ln w="10159">
              <a:solidFill>
                <a:srgbClr val="3B3B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06344" y="4701032"/>
            <a:ext cx="8257540" cy="1738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812289">
              <a:lnSpc>
                <a:spcPct val="107100"/>
              </a:lnSpc>
              <a:spcBef>
                <a:spcPts val="90"/>
              </a:spcBef>
            </a:pP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Homework</a:t>
            </a:r>
            <a:r>
              <a:rPr sz="2100" spc="7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cannot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exist</a:t>
            </a:r>
            <a:r>
              <a:rPr sz="2100" spc="6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without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6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course.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Every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homework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must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belong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single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class. </a:t>
            </a:r>
            <a:r>
              <a:rPr sz="2100" spc="-7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course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many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homework.</a:t>
            </a:r>
            <a:endParaRPr sz="21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Different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courses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may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have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same homework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-30" dirty="0">
                <a:solidFill>
                  <a:srgbClr val="292934"/>
                </a:solidFill>
                <a:latin typeface="Verdana"/>
                <a:cs typeface="Verdana"/>
              </a:rPr>
              <a:t>number.</a:t>
            </a:r>
            <a:endParaRPr sz="21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100" spc="-105" dirty="0">
                <a:solidFill>
                  <a:srgbClr val="292934"/>
                </a:solidFill>
                <a:latin typeface="Verdana"/>
                <a:cs typeface="Verdana"/>
              </a:rPr>
              <a:t>To</a:t>
            </a:r>
            <a:r>
              <a:rPr sz="2100" spc="2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identify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a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homework,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we</a:t>
            </a:r>
            <a:r>
              <a:rPr sz="2100" spc="1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need</a:t>
            </a:r>
            <a:r>
              <a:rPr sz="2100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c_number</a:t>
            </a:r>
            <a:r>
              <a:rPr sz="2100" spc="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and</a:t>
            </a:r>
            <a:r>
              <a:rPr sz="2100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10" dirty="0">
                <a:solidFill>
                  <a:srgbClr val="292934"/>
                </a:solidFill>
                <a:latin typeface="Courier New"/>
                <a:cs typeface="Courier New"/>
              </a:rPr>
              <a:t>hw_number</a:t>
            </a: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.</a:t>
            </a:r>
            <a:endParaRPr sz="2100" dirty="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28777" y="1226311"/>
            <a:ext cx="86029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20" dirty="0">
                <a:solidFill>
                  <a:srgbClr val="292934"/>
                </a:solidFill>
                <a:latin typeface="Verdana"/>
                <a:cs typeface="Verdana"/>
              </a:rPr>
              <a:t>What</a:t>
            </a:r>
            <a:r>
              <a:rPr sz="2100" b="1" spc="2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can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be</a:t>
            </a:r>
            <a:r>
              <a:rPr sz="21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concluded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from</a:t>
            </a:r>
            <a:r>
              <a:rPr sz="2100" b="1" spc="4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0" dirty="0">
                <a:solidFill>
                  <a:srgbClr val="292934"/>
                </a:solidFill>
                <a:latin typeface="Verdana"/>
                <a:cs typeface="Verdana"/>
              </a:rPr>
              <a:t>the</a:t>
            </a:r>
            <a:r>
              <a:rPr sz="2100" b="1" spc="3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following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5" dirty="0">
                <a:solidFill>
                  <a:srgbClr val="292934"/>
                </a:solidFill>
                <a:latin typeface="Verdana"/>
                <a:cs typeface="Verdana"/>
              </a:rPr>
              <a:t>E-R</a:t>
            </a:r>
            <a:r>
              <a:rPr sz="2100" b="1" spc="4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b="1" spc="15" dirty="0">
                <a:solidFill>
                  <a:srgbClr val="292934"/>
                </a:solidFill>
                <a:latin typeface="Verdana"/>
                <a:cs typeface="Verdana"/>
              </a:rPr>
              <a:t>diagram?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person&#10;&#10;Description automatically generated">
            <a:extLst>
              <a:ext uri="{FF2B5EF4-FFF2-40B4-BE49-F238E27FC236}">
                <a16:creationId xmlns:a16="http://schemas.microsoft.com/office/drawing/2014/main" id="{2086DA8A-33F8-783F-0CF2-275AF37AE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600200"/>
            <a:ext cx="6640284" cy="4648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1A34D6-01D2-D28B-3603-6DC6D6C28E35}"/>
              </a:ext>
            </a:extLst>
          </p:cNvPr>
          <p:cNvSpPr txBox="1"/>
          <p:nvPr/>
        </p:nvSpPr>
        <p:spPr>
          <a:xfrm>
            <a:off x="3276600" y="304800"/>
            <a:ext cx="2765501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1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Subclass</a:t>
            </a:r>
          </a:p>
        </p:txBody>
      </p:sp>
    </p:spTree>
    <p:extLst>
      <p:ext uri="{BB962C8B-B14F-4D97-AF65-F5344CB8AC3E}">
        <p14:creationId xmlns:p14="http://schemas.microsoft.com/office/powerpoint/2010/main" val="3910207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61339"/>
            <a:ext cx="9601200" cy="1225868"/>
          </a:xfrm>
        </p:spPr>
        <p:txBody>
          <a:bodyPr>
            <a:normAutofit/>
          </a:bodyPr>
          <a:lstStyle/>
          <a:p>
            <a:r>
              <a:rPr lang="en-US" sz="3200" dirty="0"/>
              <a:t>Inheritance in the E/R Model </a:t>
            </a:r>
            <a:br>
              <a:rPr lang="en-US" sz="3200" dirty="0"/>
            </a:br>
            <a:r>
              <a:rPr lang="en-US" altLang="zh-CN" sz="3200" dirty="0">
                <a:ea typeface="宋体" charset="-122"/>
              </a:rPr>
              <a:t>Subclasses(</a:t>
            </a:r>
            <a:r>
              <a:rPr lang="en-US" altLang="zh-CN" sz="3200" dirty="0" err="1">
                <a:ea typeface="宋体" charset="-122"/>
              </a:rPr>
              <a:t>subentities</a:t>
            </a:r>
            <a:r>
              <a:rPr lang="en-US" altLang="zh-CN" sz="3200" dirty="0">
                <a:ea typeface="宋体" charset="-122"/>
              </a:rPr>
              <a:t>)</a:t>
            </a:r>
            <a:endParaRPr lang="zh-CN" alt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044" y="2693068"/>
            <a:ext cx="9601200" cy="3557420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宋体" charset="-122"/>
              </a:rPr>
              <a:t>Assume subclasses form a tree</a:t>
            </a:r>
          </a:p>
          <a:p>
            <a:pPr lvl="1"/>
            <a:r>
              <a:rPr lang="en-US" altLang="zh-CN" dirty="0">
                <a:ea typeface="宋体" charset="-122"/>
              </a:rPr>
              <a:t>No multiple inheritance</a:t>
            </a:r>
          </a:p>
          <a:p>
            <a:r>
              <a:rPr lang="en-US" altLang="zh-CN" b="1" dirty="0">
                <a:solidFill>
                  <a:srgbClr val="FF0000"/>
                </a:solidFill>
                <a:ea typeface="宋体" charset="-122"/>
              </a:rPr>
              <a:t>Isa</a:t>
            </a:r>
            <a:r>
              <a:rPr lang="en-US" altLang="zh-CN" dirty="0">
                <a:ea typeface="宋体" charset="-122"/>
              </a:rPr>
              <a:t> triangles indicate the subclass relationship</a:t>
            </a:r>
          </a:p>
          <a:p>
            <a:pPr lvl="1"/>
            <a:r>
              <a:rPr lang="en-US" altLang="zh-CN" dirty="0">
                <a:ea typeface="宋体" charset="-122"/>
              </a:rPr>
              <a:t>Point to the superclass</a:t>
            </a:r>
          </a:p>
          <a:p>
            <a:pPr>
              <a:lnSpc>
                <a:spcPct val="90000"/>
              </a:lnSpc>
            </a:pPr>
            <a:r>
              <a:rPr lang="en-US" dirty="0"/>
              <a:t>Superclass contains all common attributes</a:t>
            </a:r>
          </a:p>
          <a:p>
            <a:pPr>
              <a:lnSpc>
                <a:spcPct val="90000"/>
              </a:lnSpc>
            </a:pPr>
            <a:r>
              <a:rPr lang="en-US" dirty="0"/>
              <a:t>Subclasses contain specific attributes.</a:t>
            </a:r>
          </a:p>
          <a:p>
            <a:endParaRPr lang="en-US" altLang="zh-CN" sz="1320" dirty="0">
              <a:ea typeface="宋体" charset="-122"/>
            </a:endParaRPr>
          </a:p>
          <a:p>
            <a:pPr>
              <a:lnSpc>
                <a:spcPct val="120000"/>
              </a:lnSpc>
            </a:pPr>
            <a:endParaRPr lang="zh-CN" altLang="en-US" sz="132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EA73CC8-1FB2-4026-8376-D74F350192CA}" type="slidenum">
              <a:rPr lang="en-US" smtClean="0"/>
              <a:pPr>
                <a:defRPr/>
              </a:pPr>
              <a:t>34</a:t>
            </a:fld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70D6C-6515-12A8-BC5C-B0C638A823CC}"/>
              </a:ext>
            </a:extLst>
          </p:cNvPr>
          <p:cNvSpPr txBox="1"/>
          <p:nvPr/>
        </p:nvSpPr>
        <p:spPr>
          <a:xfrm>
            <a:off x="3276600" y="304800"/>
            <a:ext cx="2765501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1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Subclass</a:t>
            </a:r>
          </a:p>
        </p:txBody>
      </p:sp>
    </p:spTree>
    <p:extLst>
      <p:ext uri="{BB962C8B-B14F-4D97-AF65-F5344CB8AC3E}">
        <p14:creationId xmlns:p14="http://schemas.microsoft.com/office/powerpoint/2010/main" val="1155040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968" y="1209805"/>
            <a:ext cx="9453831" cy="1225868"/>
          </a:xfrm>
        </p:spPr>
        <p:txBody>
          <a:bodyPr>
            <a:normAutofit/>
          </a:bodyPr>
          <a:lstStyle/>
          <a:p>
            <a:r>
              <a:rPr lang="en-US" sz="3200" dirty="0"/>
              <a:t>Inheritance in the E/R Model </a:t>
            </a:r>
            <a:br>
              <a:rPr lang="en-US" sz="3200" dirty="0"/>
            </a:br>
            <a:r>
              <a:rPr lang="en-US" altLang="zh-CN" sz="3200" dirty="0">
                <a:ea typeface="宋体" charset="-122"/>
              </a:rPr>
              <a:t>Subclasses(</a:t>
            </a:r>
            <a:r>
              <a:rPr lang="en-US" altLang="zh-CN" sz="3200" dirty="0" err="1">
                <a:ea typeface="宋体" charset="-122"/>
              </a:rPr>
              <a:t>subentities</a:t>
            </a:r>
            <a:r>
              <a:rPr lang="en-US" altLang="zh-CN" sz="3200" dirty="0">
                <a:ea typeface="宋体" charset="-122"/>
              </a:rPr>
              <a:t>)</a:t>
            </a:r>
            <a:endParaRPr lang="zh-CN" alt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0210" y="2435672"/>
            <a:ext cx="9419590" cy="449852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980" dirty="0">
                <a:ea typeface="宋体" charset="-122"/>
              </a:rPr>
              <a:t>Entity set containing special properties not associated with all members of the set</a:t>
            </a:r>
          </a:p>
          <a:p>
            <a:pPr>
              <a:lnSpc>
                <a:spcPct val="120000"/>
              </a:lnSpc>
            </a:pPr>
            <a:r>
              <a:rPr lang="en-US" altLang="zh-CN" sz="1980" dirty="0">
                <a:ea typeface="宋体" charset="-122"/>
              </a:rPr>
              <a:t>Subclass = special case </a:t>
            </a:r>
          </a:p>
          <a:p>
            <a:pPr marL="814730" lvl="2">
              <a:lnSpc>
                <a:spcPct val="120000"/>
              </a:lnSpc>
            </a:pPr>
            <a:r>
              <a:rPr lang="en-US" altLang="zh-CN" sz="1650" dirty="0">
                <a:ea typeface="宋体" charset="-122"/>
              </a:rPr>
              <a:t>   = with its own special properties and/or relationships</a:t>
            </a:r>
          </a:p>
          <a:p>
            <a:pPr>
              <a:lnSpc>
                <a:spcPct val="120000"/>
              </a:lnSpc>
            </a:pPr>
            <a:r>
              <a:rPr lang="en-US" altLang="zh-CN" sz="1980" dirty="0">
                <a:ea typeface="宋体" charset="-122"/>
              </a:rPr>
              <a:t>Example: </a:t>
            </a:r>
            <a:r>
              <a:rPr lang="en-US" sz="1980" dirty="0"/>
              <a:t>Products </a:t>
            </a:r>
          </a:p>
          <a:p>
            <a:pPr lvl="3">
              <a:lnSpc>
                <a:spcPct val="120000"/>
              </a:lnSpc>
            </a:pPr>
            <a:r>
              <a:rPr lang="en-US" sz="1650" dirty="0"/>
              <a:t>Software products </a:t>
            </a:r>
          </a:p>
          <a:p>
            <a:pPr lvl="3">
              <a:lnSpc>
                <a:spcPct val="120000"/>
              </a:lnSpc>
            </a:pPr>
            <a:r>
              <a:rPr lang="en-US" sz="1650" dirty="0"/>
              <a:t>Educational products</a:t>
            </a:r>
            <a:endParaRPr lang="en-US" altLang="zh-CN" sz="1650" dirty="0">
              <a:ea typeface="宋体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sz="1980" dirty="0">
                <a:ea typeface="宋体" charset="-122"/>
              </a:rPr>
              <a:t>Let us suppose that in addition to all the </a:t>
            </a:r>
            <a:r>
              <a:rPr lang="en-US" altLang="zh-CN" sz="1980" i="1" dirty="0">
                <a:ea typeface="宋体" charset="-122"/>
              </a:rPr>
              <a:t>properties</a:t>
            </a:r>
            <a:r>
              <a:rPr lang="en-US" altLang="zh-CN" sz="1980" dirty="0">
                <a:ea typeface="宋体" charset="-122"/>
              </a:rPr>
              <a:t> (attributes and relationships) of products, </a:t>
            </a:r>
            <a:r>
              <a:rPr lang="en-US" sz="1980" dirty="0"/>
              <a:t>Software products</a:t>
            </a:r>
            <a:r>
              <a:rPr lang="en-US" altLang="zh-CN" sz="1980" dirty="0">
                <a:ea typeface="宋体" charset="-122"/>
              </a:rPr>
              <a:t> also have the other attributes, e.g. platform</a:t>
            </a:r>
          </a:p>
          <a:p>
            <a:endParaRPr lang="en-US" altLang="zh-CN" sz="1485" dirty="0">
              <a:ea typeface="宋体" charset="-122"/>
            </a:endParaRPr>
          </a:p>
          <a:p>
            <a:pPr>
              <a:lnSpc>
                <a:spcPct val="120000"/>
              </a:lnSpc>
            </a:pPr>
            <a:endParaRPr lang="zh-CN" altLang="en-US" sz="1485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EA73CC8-1FB2-4026-8376-D74F350192CA}" type="slidenum">
              <a:rPr lang="en-US" smtClean="0"/>
              <a:pPr>
                <a:defRPr/>
              </a:pPr>
              <a:t>35</a:t>
            </a:fld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906B6-0A90-7C9C-664B-DDE24B380728}"/>
              </a:ext>
            </a:extLst>
          </p:cNvPr>
          <p:cNvSpPr txBox="1"/>
          <p:nvPr/>
        </p:nvSpPr>
        <p:spPr>
          <a:xfrm>
            <a:off x="3276600" y="304800"/>
            <a:ext cx="2765501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1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Subclass</a:t>
            </a:r>
          </a:p>
        </p:txBody>
      </p:sp>
    </p:spTree>
    <p:extLst>
      <p:ext uri="{BB962C8B-B14F-4D97-AF65-F5344CB8AC3E}">
        <p14:creationId xmlns:p14="http://schemas.microsoft.com/office/powerpoint/2010/main" val="2657576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CC6E-8BCA-4D47-B147-961220DC9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861" y="338154"/>
            <a:ext cx="2718435" cy="650240"/>
          </a:xfrm>
        </p:spPr>
        <p:txBody>
          <a:bodyPr>
            <a:normAutofit/>
          </a:bodyPr>
          <a:lstStyle/>
          <a:p>
            <a:r>
              <a:rPr lang="en-US" altLang="zh-CN" sz="3300" dirty="0"/>
              <a:t>Subclass</a:t>
            </a:r>
            <a:endParaRPr lang="en-US" sz="3300" dirty="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C5675EC-A1FC-4C8E-9806-9228BC31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A73CC8-1FB2-4026-8376-D74F350192CA}" type="slidenum">
              <a:rPr lang="en-US" smtClean="0"/>
              <a:pPr/>
              <a:t>36</a:t>
            </a:fld>
            <a:endParaRPr lang="en-US" altLang="zh-CN" sz="99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33520A3-3B5F-424B-B989-67B24F7E4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0969" y="3022158"/>
            <a:ext cx="1760220" cy="6286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 dirty="0">
                <a:ea typeface="宋体" charset="-122"/>
              </a:rPr>
              <a:t>Product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CA8CD245-5DAB-4757-8D40-539B35935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429" y="1513398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 dirty="0">
                <a:ea typeface="宋体" charset="-122"/>
              </a:rPr>
              <a:t>name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A7B42900-3DFA-4F63-88D8-4DEC4281C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2594" y="1513398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category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1CE2920B-5EB6-42E7-AB96-92A2B3A87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0832" y="1513398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price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00126A98-030F-4FED-A185-3C32D2BB0D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12347" y="2079183"/>
            <a:ext cx="911543" cy="942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DD044A0B-44B3-444E-8DC7-4442E36447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01079" y="2079183"/>
            <a:ext cx="0" cy="942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4021DD3B-DF00-40E2-9E4F-DE5EEDDC3B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3999" y="2079183"/>
            <a:ext cx="628650" cy="942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1FBC4C71-759D-49A5-88BF-3A41BD9EE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724" y="3902268"/>
            <a:ext cx="817245" cy="691515"/>
          </a:xfrm>
          <a:prstGeom prst="triangle">
            <a:avLst>
              <a:gd name="adj" fmla="val 50000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isa</a:t>
            </a:r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489AB172-36E9-471B-A69F-7DD12AAAB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9784" y="3902268"/>
            <a:ext cx="817245" cy="691515"/>
          </a:xfrm>
          <a:prstGeom prst="triangle">
            <a:avLst>
              <a:gd name="adj" fmla="val 50000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isa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751B5F1C-9D38-440E-9AF9-B8E28E25A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6919" y="5159568"/>
            <a:ext cx="2200275" cy="6286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Educational Product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BC66658C-5797-4848-A884-83B7DAA17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694" y="5159568"/>
            <a:ext cx="1948815" cy="6286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Software Product</a:t>
            </a: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AF6254F6-3E2D-4612-BD2B-520767C920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00804" y="4593783"/>
            <a:ext cx="942975" cy="5657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CBE556F3-797F-4382-8175-BEA733F660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9839" y="4593783"/>
            <a:ext cx="440055" cy="5657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BFECE1E6-86F5-4438-B8DE-41E440F210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12347" y="3650808"/>
            <a:ext cx="408623" cy="2514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C92D83DD-8F2E-4F65-B9E0-5C887648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7139" y="5913948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age group</a:t>
            </a:r>
            <a:endParaRPr lang="en-US" altLang="zh-CN" sz="1320" dirty="0">
              <a:ea typeface="宋体" charset="-122"/>
            </a:endParaRPr>
          </a:p>
        </p:txBody>
      </p:sp>
      <p:sp>
        <p:nvSpPr>
          <p:cNvPr id="20" name="Oval 18">
            <a:extLst>
              <a:ext uri="{FF2B5EF4-FFF2-40B4-BE49-F238E27FC236}">
                <a16:creationId xmlns:a16="http://schemas.microsoft.com/office/drawing/2014/main" id="{C714363C-ADB6-4B1C-BCCB-6AC49EAB9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504" y="5913948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platforms</a:t>
            </a:r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47461B33-C544-48DF-83AF-EEEE3E5647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7939" y="5788218"/>
            <a:ext cx="157163" cy="3771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0DBACE9E-D501-4C2D-A237-77D8EAF6D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7002" y="5788218"/>
            <a:ext cx="350137" cy="3771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B940411D-834E-457F-9349-7C9E46CCA2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1189" y="3650808"/>
            <a:ext cx="628649" cy="25146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</p:spTree>
    <p:extLst>
      <p:ext uri="{BB962C8B-B14F-4D97-AF65-F5344CB8AC3E}">
        <p14:creationId xmlns:p14="http://schemas.microsoft.com/office/powerpoint/2010/main" val="39616616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3017222-AEDF-4555-9F48-1FB976E30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232" y="3022158"/>
            <a:ext cx="4614824" cy="1200329"/>
          </a:xfrm>
        </p:spPr>
        <p:txBody>
          <a:bodyPr/>
          <a:lstStyle/>
          <a:p>
            <a:r>
              <a:rPr lang="en-US" dirty="0"/>
              <a:t>How to keep </a:t>
            </a:r>
            <a:r>
              <a:rPr lang="en-US" dirty="0" err="1"/>
              <a:t>subclasstype</a:t>
            </a:r>
            <a:endParaRPr lang="en-US" dirty="0"/>
          </a:p>
          <a:p>
            <a:pPr lvl="1"/>
            <a:r>
              <a:rPr lang="en-US" dirty="0"/>
              <a:t>Supertype may have a </a:t>
            </a:r>
            <a:r>
              <a:rPr lang="en-US" b="1" dirty="0"/>
              <a:t>discriminator</a:t>
            </a:r>
            <a:r>
              <a:rPr lang="en-US" dirty="0"/>
              <a:t> attribute which indicates subtype</a:t>
            </a:r>
          </a:p>
          <a:p>
            <a:endParaRPr lang="en-US" dirty="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C5675EC-A1FC-4C8E-9806-9228BC31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A73CC8-1FB2-4026-8376-D74F350192CA}" type="slidenum">
              <a:rPr lang="en-US" smtClean="0"/>
              <a:pPr/>
              <a:t>37</a:t>
            </a:fld>
            <a:endParaRPr lang="en-US" altLang="zh-CN" sz="99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33520A3-3B5F-424B-B989-67B24F7E4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976" y="3022158"/>
            <a:ext cx="1760220" cy="6286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 dirty="0">
                <a:ea typeface="宋体" charset="-122"/>
              </a:rPr>
              <a:t>Product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CA8CD245-5DAB-4757-8D40-539B35935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436" y="1513398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 dirty="0">
                <a:ea typeface="宋体" charset="-122"/>
              </a:rPr>
              <a:t>name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A7B42900-3DFA-4F63-88D8-4DEC4281C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9601" y="1513398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category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1CE2920B-5EB6-42E7-AB96-92A2B3A87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7838" y="1513398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 dirty="0">
                <a:ea typeface="宋体" charset="-122"/>
              </a:rPr>
              <a:t>price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00126A98-030F-4FED-A185-3C32D2BB0D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25068" y="2079183"/>
            <a:ext cx="911543" cy="942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DD044A0B-44B3-444E-8DC7-4442E36447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8086" y="2079183"/>
            <a:ext cx="0" cy="942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4021DD3B-DF00-40E2-9E4F-DE5EEDDC3B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01006" y="2079183"/>
            <a:ext cx="628650" cy="942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1FBC4C71-759D-49A5-88BF-3A41BD9EE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786" y="3981690"/>
            <a:ext cx="817245" cy="691515"/>
          </a:xfrm>
          <a:prstGeom prst="triangle">
            <a:avLst>
              <a:gd name="adj" fmla="val 50000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isa</a:t>
            </a:r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489AB172-36E9-471B-A69F-7DD12AAAB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6736" y="3981690"/>
            <a:ext cx="817245" cy="691515"/>
          </a:xfrm>
          <a:prstGeom prst="triangle">
            <a:avLst>
              <a:gd name="adj" fmla="val 50000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 dirty="0" err="1">
                <a:ea typeface="宋体" charset="-122"/>
              </a:rPr>
              <a:t>isa</a:t>
            </a:r>
            <a:endParaRPr lang="en-US" altLang="zh-CN" sz="1320" dirty="0">
              <a:ea typeface="宋体" charset="-122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751B5F1C-9D38-440E-9AF9-B8E28E25A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518" y="5253163"/>
            <a:ext cx="1655334" cy="6286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Educational Product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BC66658C-5797-4848-A884-83B7DAA17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0945" y="5253163"/>
            <a:ext cx="1552060" cy="6286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Software Product</a:t>
            </a: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AF6254F6-3E2D-4612-BD2B-520767C920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88968" y="4673205"/>
            <a:ext cx="291873" cy="5586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CBE556F3-797F-4382-8175-BEA733F660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3926" y="4680292"/>
            <a:ext cx="0" cy="5586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BFECE1E6-86F5-4438-B8DE-41E440F210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80841" y="3650809"/>
            <a:ext cx="188595" cy="3308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C92D83DD-8F2E-4F65-B9E0-5C887648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417" y="6094753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age group</a:t>
            </a:r>
            <a:endParaRPr lang="en-US" altLang="zh-CN" sz="1320" dirty="0">
              <a:ea typeface="宋体" charset="-122"/>
            </a:endParaRPr>
          </a:p>
        </p:txBody>
      </p:sp>
      <p:sp>
        <p:nvSpPr>
          <p:cNvPr id="20" name="Oval 18">
            <a:extLst>
              <a:ext uri="{FF2B5EF4-FFF2-40B4-BE49-F238E27FC236}">
                <a16:creationId xmlns:a16="http://schemas.microsoft.com/office/drawing/2014/main" id="{C714363C-ADB6-4B1C-BCCB-6AC49EAB9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947" y="6149340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platforms</a:t>
            </a:r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47461B33-C544-48DF-83AF-EEEE3E5647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8598" y="5881813"/>
            <a:ext cx="0" cy="2828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0DBACE9E-D501-4C2D-A237-77D8EAF6D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5263" y="5867640"/>
            <a:ext cx="27473" cy="2424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B940411D-834E-457F-9349-7C9E46CCA2C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6736" y="3650808"/>
            <a:ext cx="377190" cy="3821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25" name="Oval 6">
            <a:extLst>
              <a:ext uri="{FF2B5EF4-FFF2-40B4-BE49-F238E27FC236}">
                <a16:creationId xmlns:a16="http://schemas.microsoft.com/office/drawing/2014/main" id="{C87069C4-3676-4801-8ED4-F38454669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307" y="2093356"/>
            <a:ext cx="1194435" cy="565785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 dirty="0">
                <a:ea typeface="宋体" charset="-122"/>
              </a:rPr>
              <a:t>type</a:t>
            </a:r>
          </a:p>
        </p:txBody>
      </p:sp>
      <p:sp>
        <p:nvSpPr>
          <p:cNvPr id="26" name="Line 7">
            <a:extLst>
              <a:ext uri="{FF2B5EF4-FFF2-40B4-BE49-F238E27FC236}">
                <a16:creationId xmlns:a16="http://schemas.microsoft.com/office/drawing/2014/main" id="{732C701C-F9F3-4194-965C-CC59B42D1D2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63822" y="2659141"/>
            <a:ext cx="1479559" cy="3417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BC66658C-5797-4848-A884-83B7DAA17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0945" y="5268717"/>
            <a:ext cx="1552060" cy="6286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Software Product</a:t>
            </a:r>
          </a:p>
        </p:txBody>
      </p:sp>
      <p:sp>
        <p:nvSpPr>
          <p:cNvPr id="28" name="Oval 18">
            <a:extLst>
              <a:ext uri="{FF2B5EF4-FFF2-40B4-BE49-F238E27FC236}">
                <a16:creationId xmlns:a16="http://schemas.microsoft.com/office/drawing/2014/main" id="{C714363C-ADB6-4B1C-BCCB-6AC49EAB9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947" y="6164894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platforms</a:t>
            </a:r>
          </a:p>
        </p:txBody>
      </p:sp>
    </p:spTree>
    <p:extLst>
      <p:ext uri="{BB962C8B-B14F-4D97-AF65-F5344CB8AC3E}">
        <p14:creationId xmlns:p14="http://schemas.microsoft.com/office/powerpoint/2010/main" val="16455534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E11E1-67C5-4488-87A3-FA2D4D063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</a:t>
            </a:r>
            <a:r>
              <a:rPr lang="en-US" dirty="0" err="1"/>
              <a:t>IsA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D84E5-7140-4F91-BFA7-3853198B0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744" y="2070219"/>
            <a:ext cx="5015418" cy="2031325"/>
          </a:xfrm>
        </p:spPr>
        <p:txBody>
          <a:bodyPr/>
          <a:lstStyle/>
          <a:p>
            <a:r>
              <a:rPr lang="en-US" dirty="0"/>
              <a:t>Can create a more concise and readable E-R diagram</a:t>
            </a:r>
          </a:p>
          <a:p>
            <a:pPr lvl="1"/>
            <a:r>
              <a:rPr lang="en-US" dirty="0"/>
              <a:t> Attributes common to different entity sets need not be repeated </a:t>
            </a:r>
          </a:p>
          <a:p>
            <a:pPr lvl="1"/>
            <a:r>
              <a:rPr lang="en-US" dirty="0"/>
              <a:t>They can be grouped in one place as attributes of supertype </a:t>
            </a:r>
          </a:p>
          <a:p>
            <a:pPr lvl="1"/>
            <a:r>
              <a:rPr lang="en-US" dirty="0"/>
              <a:t>Attributes of (sibling) subtypes can be different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C5675EC-A1FC-4C8E-9806-9228BC31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A73CC8-1FB2-4026-8376-D74F350192CA}" type="slidenum">
              <a:rPr lang="en-US" smtClean="0"/>
              <a:pPr/>
              <a:t>38</a:t>
            </a:fld>
            <a:endParaRPr lang="en-US" altLang="zh-CN" sz="99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33520A3-3B5F-424B-B989-67B24F7E4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976" y="3022158"/>
            <a:ext cx="1760220" cy="6286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 dirty="0">
                <a:ea typeface="宋体" charset="-122"/>
              </a:rPr>
              <a:t>Product</a:t>
            </a: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CA8CD245-5DAB-4757-8D40-539B35935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436" y="1513398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 dirty="0">
                <a:ea typeface="宋体" charset="-122"/>
              </a:rPr>
              <a:t>name</a:t>
            </a:r>
          </a:p>
        </p:txBody>
      </p:sp>
      <p:sp>
        <p:nvSpPr>
          <p:cNvPr id="7" name="Oval 5">
            <a:extLst>
              <a:ext uri="{FF2B5EF4-FFF2-40B4-BE49-F238E27FC236}">
                <a16:creationId xmlns:a16="http://schemas.microsoft.com/office/drawing/2014/main" id="{A7B42900-3DFA-4F63-88D8-4DEC4281C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9601" y="1513398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category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1CE2920B-5EB6-42E7-AB96-92A2B3A87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7838" y="1513398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 dirty="0">
                <a:ea typeface="宋体" charset="-122"/>
              </a:rPr>
              <a:t>price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00126A98-030F-4FED-A185-3C32D2BB0D3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25068" y="2079183"/>
            <a:ext cx="911543" cy="942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DD044A0B-44B3-444E-8DC7-4442E36447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8086" y="2079183"/>
            <a:ext cx="0" cy="942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4021DD3B-DF00-40E2-9E4F-DE5EEDDC3B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01006" y="2079183"/>
            <a:ext cx="628650" cy="942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1FBC4C71-759D-49A5-88BF-3A41BD9EE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786" y="3981690"/>
            <a:ext cx="817245" cy="691515"/>
          </a:xfrm>
          <a:prstGeom prst="triangle">
            <a:avLst>
              <a:gd name="adj" fmla="val 50000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isa</a:t>
            </a:r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489AB172-36E9-471B-A69F-7DD12AAAB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6736" y="3981690"/>
            <a:ext cx="817245" cy="691515"/>
          </a:xfrm>
          <a:prstGeom prst="triangle">
            <a:avLst>
              <a:gd name="adj" fmla="val 50000"/>
            </a:avLst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 dirty="0" err="1">
                <a:ea typeface="宋体" charset="-122"/>
              </a:rPr>
              <a:t>isa</a:t>
            </a:r>
            <a:endParaRPr lang="en-US" altLang="zh-CN" sz="1320" dirty="0">
              <a:ea typeface="宋体" charset="-122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751B5F1C-9D38-440E-9AF9-B8E28E25A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518" y="5253163"/>
            <a:ext cx="1655334" cy="6286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Educational Product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BC66658C-5797-4848-A884-83B7DAA17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0945" y="5253163"/>
            <a:ext cx="1552060" cy="6286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Software Product</a:t>
            </a:r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AF6254F6-3E2D-4612-BD2B-520767C920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88968" y="4673205"/>
            <a:ext cx="291873" cy="5586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CBE556F3-797F-4382-8175-BEA733F660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3926" y="4680292"/>
            <a:ext cx="0" cy="5586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BFECE1E6-86F5-4438-B8DE-41E440F210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80841" y="3650809"/>
            <a:ext cx="188595" cy="3308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19" name="Oval 17">
            <a:extLst>
              <a:ext uri="{FF2B5EF4-FFF2-40B4-BE49-F238E27FC236}">
                <a16:creationId xmlns:a16="http://schemas.microsoft.com/office/drawing/2014/main" id="{C92D83DD-8F2E-4F65-B9E0-5C887648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0417" y="6094753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age group</a:t>
            </a:r>
            <a:endParaRPr lang="en-US" altLang="zh-CN" sz="1320" dirty="0">
              <a:ea typeface="宋体" charset="-122"/>
            </a:endParaRPr>
          </a:p>
        </p:txBody>
      </p:sp>
      <p:sp>
        <p:nvSpPr>
          <p:cNvPr id="20" name="Oval 18">
            <a:extLst>
              <a:ext uri="{FF2B5EF4-FFF2-40B4-BE49-F238E27FC236}">
                <a16:creationId xmlns:a16="http://schemas.microsoft.com/office/drawing/2014/main" id="{C714363C-ADB6-4B1C-BCCB-6AC49EAB9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947" y="6149340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platforms</a:t>
            </a:r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47461B33-C544-48DF-83AF-EEEE3E5647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28598" y="5881813"/>
            <a:ext cx="0" cy="2828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0DBACE9E-D501-4C2D-A237-77D8EAF6D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15263" y="5867640"/>
            <a:ext cx="27473" cy="2424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B940411D-834E-457F-9349-7C9E46CCA2C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6736" y="3650808"/>
            <a:ext cx="377190" cy="3821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1320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BC66658C-5797-4848-A884-83B7DAA17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0945" y="5268717"/>
            <a:ext cx="1552060" cy="6286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Software Product</a:t>
            </a:r>
          </a:p>
        </p:txBody>
      </p:sp>
      <p:sp>
        <p:nvSpPr>
          <p:cNvPr id="28" name="Oval 18">
            <a:extLst>
              <a:ext uri="{FF2B5EF4-FFF2-40B4-BE49-F238E27FC236}">
                <a16:creationId xmlns:a16="http://schemas.microsoft.com/office/drawing/2014/main" id="{C714363C-ADB6-4B1C-BCCB-6AC49EAB9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947" y="6164894"/>
            <a:ext cx="1194435" cy="565785"/>
          </a:xfrm>
          <a:prstGeom prst="ellipse">
            <a:avLst/>
          </a:prstGeom>
          <a:solidFill>
            <a:srgbClr val="99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320">
                <a:ea typeface="宋体" charset="-122"/>
              </a:rPr>
              <a:t>platforms</a:t>
            </a:r>
          </a:p>
        </p:txBody>
      </p:sp>
    </p:spTree>
    <p:extLst>
      <p:ext uri="{BB962C8B-B14F-4D97-AF65-F5344CB8AC3E}">
        <p14:creationId xmlns:p14="http://schemas.microsoft.com/office/powerpoint/2010/main" val="3896983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26802-2F54-F90A-676A-245151CF7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854" y="4578237"/>
            <a:ext cx="3964947" cy="1070120"/>
          </a:xfrm>
        </p:spPr>
        <p:txBody>
          <a:bodyPr vert="horz" wrap="square" lIns="75438" tIns="37719" rIns="75438" bIns="37719" rtlCol="0" anchor="t">
            <a:normAutofit/>
          </a:bodyPr>
          <a:lstStyle/>
          <a:p>
            <a:r>
              <a:rPr lang="en-US" sz="3300" kern="1200">
                <a:solidFill>
                  <a:schemeClr val="tx2"/>
                </a:solidFill>
                <a:latin typeface="+mj-lt"/>
                <a:cs typeface="+mj-cs"/>
              </a:rPr>
              <a:t>Questions?</a:t>
            </a:r>
          </a:p>
        </p:txBody>
      </p:sp>
      <p:pic>
        <p:nvPicPr>
          <p:cNvPr id="7" name="Graphic 6" descr="Question mark">
            <a:extLst>
              <a:ext uri="{FF2B5EF4-FFF2-40B4-BE49-F238E27FC236}">
                <a16:creationId xmlns:a16="http://schemas.microsoft.com/office/drawing/2014/main" id="{F999B5AB-3718-9C33-97F0-EF5A16C6F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6963" y="2591014"/>
            <a:ext cx="3152409" cy="315240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58298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1F147-5B38-48C2-B160-54AC968D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B039D-239F-4B44-B589-498314FF8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235994"/>
            <a:ext cx="7920990" cy="3457422"/>
          </a:xfrm>
        </p:spPr>
        <p:txBody>
          <a:bodyPr>
            <a:normAutofit/>
          </a:bodyPr>
          <a:lstStyle/>
          <a:p>
            <a:r>
              <a:rPr lang="en-US" sz="231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 a database for a bank including information about customers and their accounts. </a:t>
            </a:r>
          </a:p>
          <a:p>
            <a:pPr lvl="1"/>
            <a:r>
              <a:rPr lang="en-US" sz="231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 about a customer includes their name, address, phone, and Social Security number. </a:t>
            </a:r>
          </a:p>
          <a:p>
            <a:pPr lvl="1"/>
            <a:r>
              <a:rPr lang="en-US" sz="231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Accounts have numbers, types (saving, checking) and balances. Also record the customer(s) who own an account. </a:t>
            </a:r>
          </a:p>
          <a:p>
            <a:pPr lvl="1"/>
            <a:r>
              <a:rPr lang="en-US" sz="231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Draw the E/R diagram for this database. Be sure to include arrows where appropriate, to indicate the multiplicity of a relationship.</a:t>
            </a:r>
          </a:p>
          <a:p>
            <a:endParaRPr lang="en-US" sz="2640" dirty="0"/>
          </a:p>
        </p:txBody>
      </p:sp>
    </p:spTree>
    <p:extLst>
      <p:ext uri="{BB962C8B-B14F-4D97-AF65-F5344CB8AC3E}">
        <p14:creationId xmlns:p14="http://schemas.microsoft.com/office/powerpoint/2010/main" val="38501686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45514-E6BE-4184-9590-19CA5917C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9ED00-3DD9-480D-B3D1-2AA0705ABEE7}"/>
              </a:ext>
            </a:extLst>
          </p:cNvPr>
          <p:cNvSpPr txBox="1"/>
          <p:nvPr/>
        </p:nvSpPr>
        <p:spPr>
          <a:xfrm>
            <a:off x="904523" y="2663331"/>
            <a:ext cx="8558185" cy="3118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2893" indent="-282893">
              <a:lnSpc>
                <a:spcPct val="107000"/>
              </a:lnSpc>
              <a:buFont typeface="+mj-lt"/>
              <a:buAutoNum type="alphaLcParenR"/>
            </a:pPr>
            <a:r>
              <a:rPr lang="en-US" sz="231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Change your diagram so Saving account has interest rate and checking account has overdraft amount.</a:t>
            </a:r>
          </a:p>
          <a:p>
            <a:pPr marL="282893" indent="-282893">
              <a:lnSpc>
                <a:spcPct val="107000"/>
              </a:lnSpc>
              <a:buFont typeface="+mj-lt"/>
              <a:buAutoNum type="alphaLcParenR"/>
            </a:pPr>
            <a:r>
              <a:rPr lang="en-US" sz="231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Further change your diagram so a customer can have only one account</a:t>
            </a:r>
          </a:p>
          <a:p>
            <a:pPr marL="282893" indent="-282893">
              <a:lnSpc>
                <a:spcPct val="107000"/>
              </a:lnSpc>
              <a:spcAft>
                <a:spcPts val="660"/>
              </a:spcAft>
              <a:buFont typeface="+mj-lt"/>
              <a:buAutoNum type="alphaLcParenR"/>
            </a:pPr>
            <a:r>
              <a:rPr lang="en-US" sz="231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Change your original diagram so that a customer can have a set of address (which are street-city-state triples) and a set of phones. Remember that we do not allow attributes to have non-primitive types, such as sets, in the E/R model.</a:t>
            </a:r>
          </a:p>
        </p:txBody>
      </p:sp>
    </p:spTree>
    <p:extLst>
      <p:ext uri="{BB962C8B-B14F-4D97-AF65-F5344CB8AC3E}">
        <p14:creationId xmlns:p14="http://schemas.microsoft.com/office/powerpoint/2010/main" val="22027750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2633" y="319023"/>
            <a:ext cx="263652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35" dirty="0"/>
              <a:t>Wrap-Up</a:t>
            </a:r>
            <a:endParaRPr sz="4300"/>
          </a:p>
        </p:txBody>
      </p:sp>
      <p:sp>
        <p:nvSpPr>
          <p:cNvPr id="3" name="object 3"/>
          <p:cNvSpPr txBox="1"/>
          <p:nvPr/>
        </p:nvSpPr>
        <p:spPr>
          <a:xfrm>
            <a:off x="399795" y="1058672"/>
            <a:ext cx="7513320" cy="189218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207645" indent="-195580">
              <a:lnSpc>
                <a:spcPct val="100000"/>
              </a:lnSpc>
              <a:spcBef>
                <a:spcPts val="1275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Roles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in Relationships</a:t>
            </a:r>
            <a:endParaRPr sz="2100" dirty="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175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Relationships: </a:t>
            </a: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binary,</a:t>
            </a:r>
            <a:r>
              <a:rPr sz="2100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u-ary</a:t>
            </a:r>
            <a:endParaRPr sz="2100" dirty="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08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-15" dirty="0">
                <a:solidFill>
                  <a:srgbClr val="292934"/>
                </a:solidFill>
                <a:latin typeface="Verdana"/>
                <a:cs typeface="Verdana"/>
              </a:rPr>
              <a:t>Weak</a:t>
            </a:r>
            <a:r>
              <a:rPr sz="2100" spc="-5" dirty="0">
                <a:solidFill>
                  <a:srgbClr val="292934"/>
                </a:solidFill>
                <a:latin typeface="Verdana"/>
                <a:cs typeface="Verdana"/>
              </a:rPr>
              <a:t> </a:t>
            </a:r>
            <a:r>
              <a:rPr sz="2100" spc="5" dirty="0">
                <a:solidFill>
                  <a:srgbClr val="292934"/>
                </a:solidFill>
                <a:latin typeface="Verdana"/>
                <a:cs typeface="Verdana"/>
              </a:rPr>
              <a:t>entity</a:t>
            </a:r>
            <a:endParaRPr lang="en-US" sz="2100" dirty="0">
              <a:latin typeface="Verdana"/>
              <a:cs typeface="Verdana"/>
            </a:endParaRPr>
          </a:p>
          <a:p>
            <a:pPr marL="207645" indent="-195580">
              <a:lnSpc>
                <a:spcPct val="100000"/>
              </a:lnSpc>
              <a:spcBef>
                <a:spcPts val="1080"/>
              </a:spcBef>
              <a:buSzPct val="85714"/>
              <a:buFont typeface="Arial MT"/>
              <a:buChar char="•"/>
              <a:tabLst>
                <a:tab pos="208279" algn="l"/>
              </a:tabLst>
            </a:pPr>
            <a:r>
              <a:rPr sz="2100" spc="10" dirty="0">
                <a:solidFill>
                  <a:srgbClr val="292934"/>
                </a:solidFill>
                <a:latin typeface="Verdana"/>
                <a:cs typeface="Verdana"/>
              </a:rPr>
              <a:t>Subclassing</a:t>
            </a:r>
            <a:endParaRPr sz="21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16740</TotalTime>
  <Words>2096</Words>
  <Application>Microsoft Macintosh PowerPoint</Application>
  <PresentationFormat>Custom</PresentationFormat>
  <Paragraphs>497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宋体</vt:lpstr>
      <vt:lpstr>Arial</vt:lpstr>
      <vt:lpstr>Arial MT</vt:lpstr>
      <vt:lpstr>Calibri</vt:lpstr>
      <vt:lpstr>Courier New</vt:lpstr>
      <vt:lpstr>HelveticaNeue</vt:lpstr>
      <vt:lpstr>Times New Roman</vt:lpstr>
      <vt:lpstr>Trebuchet MS</vt:lpstr>
      <vt:lpstr>Verdana</vt:lpstr>
      <vt:lpstr>Wingdings</vt:lpstr>
      <vt:lpstr>Office Theme</vt:lpstr>
      <vt:lpstr>E-R Diagram:</vt:lpstr>
      <vt:lpstr>TA Information</vt:lpstr>
      <vt:lpstr>Entity-Relationship Model</vt:lpstr>
      <vt:lpstr>E-R Diagram: Building Blocks</vt:lpstr>
      <vt:lpstr>Entity and Entity Sets</vt:lpstr>
      <vt:lpstr>PowerPoint Presentation</vt:lpstr>
      <vt:lpstr>PowerPoint Presentation</vt:lpstr>
      <vt:lpstr>Entity Sets and Attributes</vt:lpstr>
      <vt:lpstr>Let’s try: Movie-Database</vt:lpstr>
      <vt:lpstr>Relationships</vt:lpstr>
      <vt:lpstr>Cardinality (or Multiplicity)</vt:lpstr>
      <vt:lpstr>Cardinality: One-to-One</vt:lpstr>
      <vt:lpstr>Example</vt:lpstr>
      <vt:lpstr>Cardinality: One-to-Many</vt:lpstr>
      <vt:lpstr>Example</vt:lpstr>
      <vt:lpstr>Cardinality: Many-to-Many</vt:lpstr>
      <vt:lpstr>Example</vt:lpstr>
      <vt:lpstr>Attributes on Relationships</vt:lpstr>
      <vt:lpstr>Let’s try: Attributes - Relationships</vt:lpstr>
      <vt:lpstr>Binary vs. Multi-Way Relationships</vt:lpstr>
      <vt:lpstr>Multi-Way Relationships</vt:lpstr>
      <vt:lpstr>Multiway Relationships</vt:lpstr>
      <vt:lpstr>Roles in Relationships</vt:lpstr>
      <vt:lpstr>Roles in Relationships</vt:lpstr>
      <vt:lpstr>Example</vt:lpstr>
      <vt:lpstr>Example</vt:lpstr>
      <vt:lpstr>E-R Diagram: Building Blocks</vt:lpstr>
      <vt:lpstr>Strong and Weak Entity Sets</vt:lpstr>
      <vt:lpstr>Weak Entity Set</vt:lpstr>
      <vt:lpstr>Weak Entity Set</vt:lpstr>
      <vt:lpstr>Weak Entity Set</vt:lpstr>
      <vt:lpstr>Let’s try: Weak Entity Set</vt:lpstr>
      <vt:lpstr>PowerPoint Presentation</vt:lpstr>
      <vt:lpstr>Inheritance in the E/R Model  Subclasses(subentities)</vt:lpstr>
      <vt:lpstr>Inheritance in the E/R Model  Subclasses(subentities)</vt:lpstr>
      <vt:lpstr>Subclass</vt:lpstr>
      <vt:lpstr>PowerPoint Presentation</vt:lpstr>
      <vt:lpstr>Advantages of IsA</vt:lpstr>
      <vt:lpstr>Questions?</vt:lpstr>
      <vt:lpstr>Example</vt:lpstr>
      <vt:lpstr>Example cont.</vt:lpstr>
      <vt:lpstr>Wrap-Up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4750meet05-ER-present</dc:title>
  <dc:creator>upsorn</dc:creator>
  <cp:lastModifiedBy>Farhan Tanvir</cp:lastModifiedBy>
  <cp:revision>42</cp:revision>
  <dcterms:created xsi:type="dcterms:W3CDTF">2024-01-15T04:17:18Z</dcterms:created>
  <dcterms:modified xsi:type="dcterms:W3CDTF">2026-01-27T16:27:14Z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2023-09-01T00:00:00Z</vt:filetime>
  </property>
  <property fmtid="{D5CDD505-2E9C-101B-9397-08002B2CF9AE}" pid="3" name="Creator">
    <vt:lpwstr>PowerPoint</vt:lpwstr>
  </property>
  <property fmtid="{D5CDD505-2E9C-101B-9397-08002B2CF9AE}" pid="4" name="LastSaved">
    <vt:filetime>2024-01-15T00:00:00Z</vt:filetime>
  </property>
</Properties>
</file>