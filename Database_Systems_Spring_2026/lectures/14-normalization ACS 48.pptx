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80" r:id="rId2"/>
    <p:sldId id="35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09" r:id="rId26"/>
    <p:sldId id="310" r:id="rId27"/>
    <p:sldId id="362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279" r:id="rId4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8"/>
    <p:restoredTop sz="94626"/>
  </p:normalViewPr>
  <p:slideViewPr>
    <p:cSldViewPr>
      <p:cViewPr varScale="1">
        <p:scale>
          <a:sx n="107" d="100"/>
          <a:sy n="107" d="100"/>
        </p:scale>
        <p:origin x="1528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4A21-03EF-5FC9-E113-6AE210AED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F3BB2-2FCE-A4E5-50C9-393EBED08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43D28-4CC0-E715-2038-3D89796A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839E1-0631-9168-DE97-836071AF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25B8-A4E8-13EB-9D97-99BAB296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69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DE66-157B-52E4-122A-56953F5F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8E803-8893-C7CB-AA36-2E57AF6C2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0A84D-D583-1C37-0BB2-64D11EE2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70770-22D6-8CDB-7CB7-496CF015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18112-8FDA-F162-3EA6-6903BF27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2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207F-CBE4-CBFD-C65E-03F151C4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4009-9F44-DAAC-284A-827BC542A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E2E33-923B-DF6E-0FAC-D49350D2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F5EB4-44F8-B8B4-FC1A-0B2C7FDB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4534-9F37-A545-AFD2-E8582D70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09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8B04-BCE3-E6BA-B818-853E400D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E4DF-929E-7E56-4800-8C66CEFF9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7423D-01BA-E065-AB36-69AA07CEE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9FDFE-8410-8B5D-BFD1-7DD19F24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B40C0-BC18-13F2-637D-681F1C43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263B3-93D0-4142-CA61-B51CDB7F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4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3F41-D4C1-322E-D505-F03BF2CA7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97BD1-7D97-A27E-E6F1-95EB198C3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FFE7E-9DF8-A65C-1FE7-0BA5CABEC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A79A9E-9E9F-AB2B-DA06-5CC71FC34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041F6-8E02-E396-85C5-A8C9B0BB3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4C3E4-4C8D-D418-F203-930F117E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8F7BC-B7B9-88E0-CC09-C61B3D6F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56518-548A-8D96-BE5F-77042C35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843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0042-92F0-1FD5-6DCA-FD3321A67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2FBE9-0DDD-FB99-A48F-0C1E2D90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BF16C-87E2-3B42-437E-C6758E95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D2E3F-E315-4F10-C2F9-45F70A6C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47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E8B46-0EA6-C818-53B1-9E53A021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C25F9-3867-941D-5086-5E3DB7E3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198DE-6A25-49D7-4BC6-0FFB5C1E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9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F536-6C47-7D3D-E113-33927964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B3EC4-8D9A-ABC7-091F-BB5719AE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93E27-62B8-8959-132E-9E95F4CCC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4567A-8BFC-D848-6508-61D13076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F6951-CD83-F821-87BD-4FDE0EDA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ED3F3-1930-F8D7-7CBB-7DDEAC7C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57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7FF7-B35A-D33B-1216-3350E542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738C5-61BB-CBF6-2466-947B8C5E5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1D260-2329-0AAD-F780-D26373687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F9443-ABF9-3911-AEEA-89E7C944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C6916-89A2-0FC7-A825-9C8A2CD6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65FF9-C1B7-EED2-0C94-5DB6ABED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0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AAC8D-955C-3BAE-1534-8682BD55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83B5A-C4AE-874A-AFF0-B97616655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F7CCA-24F0-D590-16D7-7EF81ACB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50098-0EA2-D734-28AF-7058B335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74589-3A68-2323-E0A2-E5748862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61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92791A-F412-F443-D8B6-1F40A3543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3DBE6-4086-6C0A-2488-8668B2D4D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2AF17-6297-A6DC-92EE-42113557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DE163-7EA9-726A-A4E9-C33E33B95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6DE86-807B-1D01-4180-81524F0F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67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2A9BF-EBE5-414B-C0A8-04DD880D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575B0-4297-719D-8375-85F7A57F8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15C0D-B83A-C973-AB9A-11F9EB6BB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7F879-21F7-4811-6312-12F5F3E38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FA8D5-ECF0-FED3-47E6-2C1970424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10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B4F4-EC1F-9D5A-BBAE-0DAEA3FD82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50935-B96C-9F4A-7773-4931E3611F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 4710 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4001798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7920990" cy="619669"/>
          </a:xfrm>
        </p:spPr>
        <p:txBody>
          <a:bodyPr/>
          <a:lstStyle/>
          <a:p>
            <a:r>
              <a:rPr lang="en-US" dirty="0"/>
              <a:t>Functional Dependencies (FD)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75370" cy="4931516"/>
          </a:xfrm>
        </p:spPr>
        <p:txBody>
          <a:bodyPr/>
          <a:lstStyle/>
          <a:p>
            <a:r>
              <a:rPr lang="en-US" dirty="0"/>
              <a:t>For any relation R, attribute Y is functionally dependent on attribute X (usually the PK), if </a:t>
            </a:r>
          </a:p>
          <a:p>
            <a:pPr lvl="1"/>
            <a:r>
              <a:rPr lang="en-US" dirty="0"/>
              <a:t>for every valid instance of X, that value of X uniquely </a:t>
            </a:r>
            <a:r>
              <a:rPr lang="en-US" b="1" dirty="0"/>
              <a:t>determines</a:t>
            </a:r>
            <a:r>
              <a:rPr lang="en-US" dirty="0"/>
              <a:t> the value of Y.</a:t>
            </a:r>
          </a:p>
          <a:p>
            <a:pPr lvl="1"/>
            <a:r>
              <a:rPr lang="en-US" dirty="0"/>
              <a:t>This relationship is indicated by the representation below :</a:t>
            </a:r>
          </a:p>
          <a:p>
            <a:pPr lvl="1"/>
            <a:r>
              <a:rPr lang="en-US" b="1" dirty="0"/>
              <a:t>X ———&gt; Y</a:t>
            </a:r>
          </a:p>
          <a:p>
            <a:r>
              <a:rPr lang="en-US" dirty="0"/>
              <a:t>The left side of the FD diagram is called the </a:t>
            </a:r>
            <a:r>
              <a:rPr lang="en-US" b="1" dirty="0"/>
              <a:t>determinant</a:t>
            </a:r>
            <a:r>
              <a:rPr lang="en-US" dirty="0"/>
              <a:t>, and the right side is the </a:t>
            </a:r>
            <a:r>
              <a:rPr lang="en-US" b="1" dirty="0"/>
              <a:t>dependent</a:t>
            </a:r>
            <a:r>
              <a:rPr lang="en-US" dirty="0"/>
              <a:t>.</a:t>
            </a:r>
          </a:p>
          <a:p>
            <a:r>
              <a:rPr lang="en-US" dirty="0"/>
              <a:t>Finding them is part of the database design</a:t>
            </a:r>
          </a:p>
          <a:p>
            <a:r>
              <a:rPr lang="en-US" dirty="0"/>
              <a:t>Used heavily in schema refinement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50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2" y="25400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R</a:t>
            </a:r>
            <a:r>
              <a:rPr spc="-125" dirty="0"/>
              <a:t>e</a:t>
            </a:r>
            <a:r>
              <a:rPr spc="-130" dirty="0"/>
              <a:t>cap</a:t>
            </a:r>
            <a:r>
              <a:rPr dirty="0"/>
              <a:t>:</a:t>
            </a:r>
            <a:r>
              <a:rPr spc="-240" dirty="0"/>
              <a:t> </a:t>
            </a:r>
            <a:r>
              <a:rPr spc="-130" dirty="0"/>
              <a:t>F</a:t>
            </a:r>
            <a:r>
              <a:rPr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250696"/>
            <a:ext cx="48139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student_lecture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840" y="4652264"/>
            <a:ext cx="8698865" cy="172973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Assume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exactly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teaching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assistant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assigned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endParaRPr sz="2100">
              <a:latin typeface="Verdana"/>
              <a:cs typeface="Verdana"/>
            </a:endParaRPr>
          </a:p>
          <a:p>
            <a:pPr marL="381635" indent="-369570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38227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Determine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dependencies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2100">
              <a:latin typeface="Verdana"/>
              <a:cs typeface="Verdana"/>
            </a:endParaRPr>
          </a:p>
          <a:p>
            <a:pPr marL="381635" indent="-36957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8227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Give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example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8189" y="1837831"/>
          <a:ext cx="9409430" cy="2373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5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9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562"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7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7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7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700" dirty="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7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 dirty="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5109" y="5059116"/>
            <a:ext cx="9294495" cy="1906905"/>
            <a:chOff x="395109" y="5059116"/>
            <a:chExt cx="9294495" cy="1906905"/>
          </a:xfrm>
        </p:grpSpPr>
        <p:sp>
          <p:nvSpPr>
            <p:cNvPr id="3" name="object 3"/>
            <p:cNvSpPr/>
            <p:nvPr/>
          </p:nvSpPr>
          <p:spPr>
            <a:xfrm>
              <a:off x="405269" y="5069276"/>
              <a:ext cx="9248140" cy="1481455"/>
            </a:xfrm>
            <a:custGeom>
              <a:avLst/>
              <a:gdLst/>
              <a:ahLst/>
              <a:cxnLst/>
              <a:rect l="l" t="t" r="r" b="b"/>
              <a:pathLst>
                <a:path w="9248140" h="1481454">
                  <a:moveTo>
                    <a:pt x="0" y="0"/>
                  </a:moveTo>
                  <a:lnTo>
                    <a:pt x="9247858" y="0"/>
                  </a:lnTo>
                  <a:lnTo>
                    <a:pt x="9247858" y="1481102"/>
                  </a:lnTo>
                  <a:lnTo>
                    <a:pt x="0" y="148110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76809" y="5703834"/>
              <a:ext cx="3612515" cy="1262380"/>
            </a:xfrm>
            <a:custGeom>
              <a:avLst/>
              <a:gdLst/>
              <a:ahLst/>
              <a:cxnLst/>
              <a:rect l="l" t="t" r="r" b="b"/>
              <a:pathLst>
                <a:path w="3612515" h="1262379">
                  <a:moveTo>
                    <a:pt x="3449877" y="286617"/>
                  </a:moveTo>
                  <a:lnTo>
                    <a:pt x="162563" y="286617"/>
                  </a:lnTo>
                  <a:lnTo>
                    <a:pt x="119347" y="292424"/>
                  </a:lnTo>
                  <a:lnTo>
                    <a:pt x="80514" y="308812"/>
                  </a:lnTo>
                  <a:lnTo>
                    <a:pt x="47613" y="334231"/>
                  </a:lnTo>
                  <a:lnTo>
                    <a:pt x="22194" y="367132"/>
                  </a:lnTo>
                  <a:lnTo>
                    <a:pt x="5806" y="405966"/>
                  </a:lnTo>
                  <a:lnTo>
                    <a:pt x="0" y="449178"/>
                  </a:lnTo>
                  <a:lnTo>
                    <a:pt x="0" y="1099412"/>
                  </a:lnTo>
                  <a:lnTo>
                    <a:pt x="5806" y="1142628"/>
                  </a:lnTo>
                  <a:lnTo>
                    <a:pt x="22194" y="1181461"/>
                  </a:lnTo>
                  <a:lnTo>
                    <a:pt x="47613" y="1214362"/>
                  </a:lnTo>
                  <a:lnTo>
                    <a:pt x="80514" y="1239781"/>
                  </a:lnTo>
                  <a:lnTo>
                    <a:pt x="119347" y="1256169"/>
                  </a:lnTo>
                  <a:lnTo>
                    <a:pt x="162563" y="1261976"/>
                  </a:lnTo>
                  <a:lnTo>
                    <a:pt x="3449877" y="1261976"/>
                  </a:lnTo>
                  <a:lnTo>
                    <a:pt x="3493093" y="1256169"/>
                  </a:lnTo>
                  <a:lnTo>
                    <a:pt x="3531927" y="1239781"/>
                  </a:lnTo>
                  <a:lnTo>
                    <a:pt x="3564828" y="1214362"/>
                  </a:lnTo>
                  <a:lnTo>
                    <a:pt x="3590247" y="1181461"/>
                  </a:lnTo>
                  <a:lnTo>
                    <a:pt x="3606635" y="1142628"/>
                  </a:lnTo>
                  <a:lnTo>
                    <a:pt x="3612442" y="1099412"/>
                  </a:lnTo>
                  <a:lnTo>
                    <a:pt x="3612442" y="449178"/>
                  </a:lnTo>
                  <a:lnTo>
                    <a:pt x="3606635" y="405966"/>
                  </a:lnTo>
                  <a:lnTo>
                    <a:pt x="3590247" y="367132"/>
                  </a:lnTo>
                  <a:lnTo>
                    <a:pt x="3564828" y="334231"/>
                  </a:lnTo>
                  <a:lnTo>
                    <a:pt x="3531927" y="308812"/>
                  </a:lnTo>
                  <a:lnTo>
                    <a:pt x="3493093" y="292424"/>
                  </a:lnTo>
                  <a:lnTo>
                    <a:pt x="3449877" y="286617"/>
                  </a:lnTo>
                  <a:close/>
                </a:path>
                <a:path w="3612515" h="1262379">
                  <a:moveTo>
                    <a:pt x="1786423" y="0"/>
                  </a:moveTo>
                  <a:lnTo>
                    <a:pt x="602072" y="286617"/>
                  </a:lnTo>
                  <a:lnTo>
                    <a:pt x="1505183" y="286617"/>
                  </a:lnTo>
                  <a:lnTo>
                    <a:pt x="1786423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8189" y="-27197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R</a:t>
            </a:r>
            <a:r>
              <a:rPr spc="-125" dirty="0"/>
              <a:t>e</a:t>
            </a:r>
            <a:r>
              <a:rPr spc="-130" dirty="0"/>
              <a:t>cap</a:t>
            </a:r>
            <a:r>
              <a:rPr dirty="0"/>
              <a:t>:</a:t>
            </a:r>
            <a:r>
              <a:rPr spc="-240" dirty="0"/>
              <a:t> </a:t>
            </a:r>
            <a:r>
              <a:rPr spc="-130" dirty="0"/>
              <a:t>F</a:t>
            </a:r>
            <a:r>
              <a:rPr dirty="0"/>
              <a:t>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2839" y="1250696"/>
            <a:ext cx="48139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student_lecture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840" y="4563871"/>
            <a:ext cx="9020175" cy="203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1.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Determine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dependencies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21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Verdana"/>
              <a:cs typeface="Verdana"/>
            </a:endParaRPr>
          </a:p>
          <a:p>
            <a:pPr marL="229235" marR="79375">
              <a:lnSpc>
                <a:spcPct val="127600"/>
              </a:lnSpc>
              <a:spcBef>
                <a:spcPts val="5"/>
              </a:spcBef>
              <a:tabLst>
                <a:tab pos="602678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S_id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Address	</a:t>
            </a:r>
            <a:r>
              <a:rPr sz="2100" b="1" spc="10" dirty="0">
                <a:solidFill>
                  <a:srgbClr val="C00000"/>
                </a:solidFill>
                <a:latin typeface="Verdana"/>
                <a:cs typeface="Verdana"/>
              </a:rPr>
              <a:t>??</a:t>
            </a:r>
            <a:r>
              <a:rPr sz="2100" b="1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Address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Course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S_id, Course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Teaching_assistant</a:t>
            </a:r>
            <a:endParaRPr sz="2100" dirty="0">
              <a:latin typeface="Verdana"/>
              <a:cs typeface="Verdana"/>
            </a:endParaRPr>
          </a:p>
          <a:p>
            <a:pPr marL="6105525" marR="5080" indent="-354330">
              <a:lnSpc>
                <a:spcPts val="1800"/>
              </a:lnSpc>
              <a:spcBef>
                <a:spcPts val="440"/>
              </a:spcBef>
            </a:pP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Possible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(if no student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lives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in </a:t>
            </a:r>
            <a:r>
              <a:rPr sz="1700" spc="-5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same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address), but</a:t>
            </a:r>
            <a:endParaRPr sz="1700" dirty="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08189" y="1837831"/>
          <a:ext cx="9409430" cy="2373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5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9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562"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7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7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7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7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799296" y="6559295"/>
            <a:ext cx="21666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probably</a:t>
            </a: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unrealistic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1993" y="6653783"/>
            <a:ext cx="5245100" cy="5130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Assume: there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exactly one teaching assistant </a:t>
            </a:r>
            <a:r>
              <a:rPr sz="1700" spc="-5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assigned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993" y="8467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R</a:t>
            </a:r>
            <a:r>
              <a:rPr spc="-125" dirty="0"/>
              <a:t>e</a:t>
            </a:r>
            <a:r>
              <a:rPr spc="-130" dirty="0"/>
              <a:t>cap</a:t>
            </a:r>
            <a:r>
              <a:rPr dirty="0"/>
              <a:t>:</a:t>
            </a:r>
            <a:r>
              <a:rPr spc="-240" dirty="0"/>
              <a:t> </a:t>
            </a:r>
            <a:r>
              <a:rPr spc="-130" dirty="0"/>
              <a:t>F</a:t>
            </a:r>
            <a:r>
              <a:rPr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250696"/>
            <a:ext cx="48139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student_lecture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840" y="4563871"/>
            <a:ext cx="76701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974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2.	Give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example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8189" y="1837831"/>
          <a:ext cx="9409430" cy="2373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5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9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562"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7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7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7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7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7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5269" y="5069276"/>
            <a:ext cx="9248140" cy="148145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1686560" marR="993140">
              <a:lnSpc>
                <a:spcPct val="154300"/>
              </a:lnSpc>
              <a:spcBef>
                <a:spcPts val="725"/>
              </a:spcBef>
              <a:tabLst>
                <a:tab pos="385952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trivial super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(S_id,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Course)	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1993" y="6653783"/>
            <a:ext cx="5245100" cy="5130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Assume: there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exactly one teaching assistant </a:t>
            </a:r>
            <a:r>
              <a:rPr sz="1700" spc="-5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assigned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269" y="3281114"/>
            <a:ext cx="9248140" cy="2944495"/>
          </a:xfrm>
          <a:custGeom>
            <a:avLst/>
            <a:gdLst/>
            <a:ahLst/>
            <a:cxnLst/>
            <a:rect l="l" t="t" r="r" b="b"/>
            <a:pathLst>
              <a:path w="9248140" h="2944495">
                <a:moveTo>
                  <a:pt x="0" y="0"/>
                </a:moveTo>
                <a:lnTo>
                  <a:pt x="9247858" y="0"/>
                </a:lnTo>
                <a:lnTo>
                  <a:pt x="9247858" y="2944142"/>
                </a:lnTo>
                <a:lnTo>
                  <a:pt x="0" y="2944142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5269" y="213158"/>
            <a:ext cx="71774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R</a:t>
            </a:r>
            <a:r>
              <a:rPr spc="-125" dirty="0"/>
              <a:t>e</a:t>
            </a:r>
            <a:r>
              <a:rPr spc="-130" dirty="0"/>
              <a:t>cap</a:t>
            </a:r>
            <a:r>
              <a:rPr dirty="0"/>
              <a:t>:</a:t>
            </a:r>
            <a:r>
              <a:rPr spc="-240" dirty="0"/>
              <a:t> </a:t>
            </a:r>
            <a:r>
              <a:rPr spc="-140" dirty="0"/>
              <a:t>A</a:t>
            </a:r>
            <a:r>
              <a:rPr spc="-125" dirty="0"/>
              <a:t>t</a:t>
            </a:r>
            <a:r>
              <a:rPr spc="-120" dirty="0"/>
              <a:t>t</a:t>
            </a:r>
            <a:r>
              <a:rPr spc="-125" dirty="0"/>
              <a:t>ri</a:t>
            </a:r>
            <a:r>
              <a:rPr spc="-130" dirty="0"/>
              <a:t>bu</a:t>
            </a:r>
            <a:r>
              <a:rPr spc="-120" dirty="0"/>
              <a:t>t</a:t>
            </a:r>
            <a:r>
              <a:rPr dirty="0"/>
              <a:t>e</a:t>
            </a:r>
            <a:r>
              <a:rPr spc="-250" dirty="0"/>
              <a:t> </a:t>
            </a:r>
            <a:r>
              <a:rPr spc="-130" dirty="0"/>
              <a:t>C</a:t>
            </a:r>
            <a:r>
              <a:rPr spc="-125" dirty="0"/>
              <a:t>l</a:t>
            </a:r>
            <a:r>
              <a:rPr spc="-130" dirty="0"/>
              <a:t>o</a:t>
            </a:r>
            <a:r>
              <a:rPr spc="-125" dirty="0"/>
              <a:t>s</a:t>
            </a:r>
            <a:r>
              <a:rPr spc="-130" dirty="0"/>
              <a:t>u</a:t>
            </a:r>
            <a:r>
              <a:rPr spc="-125" dirty="0"/>
              <a:t>r</a:t>
            </a:r>
            <a:r>
              <a:rPr dirty="0"/>
              <a:t>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2839" y="1250696"/>
            <a:ext cx="8325484" cy="1540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(A,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50" dirty="0">
                <a:solidFill>
                  <a:srgbClr val="292934"/>
                </a:solidFill>
                <a:latin typeface="Verdana"/>
                <a:cs typeface="Verdana"/>
              </a:rPr>
              <a:t>F,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G)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BC,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90" dirty="0">
                <a:solidFill>
                  <a:srgbClr val="292934"/>
                </a:solidFill>
                <a:latin typeface="Verdana"/>
                <a:cs typeface="Verdana"/>
              </a:rPr>
              <a:t>CF,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CD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95" dirty="0">
                <a:solidFill>
                  <a:srgbClr val="292934"/>
                </a:solidFill>
                <a:latin typeface="Verdana"/>
                <a:cs typeface="Verdana"/>
              </a:rPr>
              <a:t>EF,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  <a:tabLst>
                <a:tab pos="300037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closure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	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(A+)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12925" y="3581491"/>
          <a:ext cx="7548878" cy="1631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4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07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1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2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1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A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29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(decompose</a:t>
                      </a:r>
                      <a:r>
                        <a:rPr sz="21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1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3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BC)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29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1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2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539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(transitive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1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4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1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21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1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4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E)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539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6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1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1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CF</a:t>
                      </a:r>
                      <a:endParaRPr sz="2100">
                        <a:latin typeface="Verdana"/>
                        <a:cs typeface="Verdana"/>
                      </a:endParaRPr>
                    </a:p>
                    <a:p>
                      <a:pPr marL="31750">
                        <a:lnSpc>
                          <a:spcPts val="2445"/>
                        </a:lnSpc>
                        <a:spcBef>
                          <a:spcPts val="985"/>
                        </a:spcBef>
                      </a:pP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1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2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1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(transitive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4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21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21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21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100" spc="24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CF)</a:t>
                      </a:r>
                      <a:endParaRPr sz="2100">
                        <a:latin typeface="Verdana"/>
                        <a:cs typeface="Verdana"/>
                      </a:endParaRPr>
                    </a:p>
                    <a:p>
                      <a:pPr marL="481330">
                        <a:lnSpc>
                          <a:spcPts val="2445"/>
                        </a:lnSpc>
                        <a:spcBef>
                          <a:spcPts val="985"/>
                        </a:spcBef>
                      </a:pPr>
                      <a:r>
                        <a:rPr sz="21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(FD</a:t>
                      </a:r>
                      <a:r>
                        <a:rPr sz="21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given)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31975" y="5472176"/>
            <a:ext cx="36004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0594" algn="l"/>
                <a:tab pos="1546225" algn="l"/>
                <a:tab pos="195770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Thus,	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A+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	{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ABCEFG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310513"/>
            <a:ext cx="77069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G</a:t>
            </a:r>
            <a:r>
              <a:rPr spc="-125" dirty="0"/>
              <a:t>e</a:t>
            </a:r>
            <a:r>
              <a:rPr spc="-130" dirty="0"/>
              <a:t>n</a:t>
            </a:r>
            <a:r>
              <a:rPr spc="-125" dirty="0"/>
              <a:t>er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30" dirty="0"/>
              <a:t>D</a:t>
            </a:r>
            <a:r>
              <a:rPr spc="-125" dirty="0"/>
              <a:t>esi</a:t>
            </a:r>
            <a:r>
              <a:rPr spc="-130" dirty="0"/>
              <a:t>g</a:t>
            </a:r>
            <a:r>
              <a:rPr dirty="0"/>
              <a:t>n</a:t>
            </a:r>
            <a:r>
              <a:rPr spc="-254" dirty="0"/>
              <a:t> </a:t>
            </a:r>
            <a:r>
              <a:rPr spc="-130" dirty="0"/>
              <a:t>Gu</a:t>
            </a:r>
            <a:r>
              <a:rPr spc="-125" dirty="0"/>
              <a:t>i</a:t>
            </a:r>
            <a:r>
              <a:rPr spc="-130" dirty="0"/>
              <a:t>d</a:t>
            </a:r>
            <a:r>
              <a:rPr spc="-125" dirty="0"/>
              <a:t>eli</a:t>
            </a:r>
            <a:r>
              <a:rPr spc="-130" dirty="0"/>
              <a:t>n</a:t>
            </a:r>
            <a:r>
              <a:rPr spc="-12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162304"/>
            <a:ext cx="7103109" cy="165353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79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Semantics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attributes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self-evident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69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between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67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NULL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values in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67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certain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exist,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don’t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allow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them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" y="3240023"/>
            <a:ext cx="8948928" cy="16062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8415" y="3211695"/>
            <a:ext cx="8522335" cy="126746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145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process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organizing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2100">
              <a:latin typeface="Verdana"/>
              <a:cs typeface="Verdana"/>
            </a:endParaRPr>
          </a:p>
          <a:p>
            <a:pPr marL="147320" marR="123825" algn="ctr">
              <a:lnSpc>
                <a:spcPts val="2620"/>
              </a:lnSpc>
              <a:spcBef>
                <a:spcPts val="75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considering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needs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to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be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stored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interrelationship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9576" y="4682744"/>
            <a:ext cx="6014085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1263015">
              <a:lnSpc>
                <a:spcPct val="102899"/>
              </a:lnSpc>
              <a:spcBef>
                <a:spcPts val="25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about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characterizing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organizing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3966" y="5426390"/>
            <a:ext cx="3665220" cy="1139825"/>
          </a:xfrm>
          <a:custGeom>
            <a:avLst/>
            <a:gdLst/>
            <a:ahLst/>
            <a:cxnLst/>
            <a:rect l="l" t="t" r="r" b="b"/>
            <a:pathLst>
              <a:path w="3665220" h="1139825">
                <a:moveTo>
                  <a:pt x="3512276" y="223434"/>
                </a:moveTo>
                <a:lnTo>
                  <a:pt x="152711" y="223434"/>
                </a:lnTo>
                <a:lnTo>
                  <a:pt x="104443" y="231220"/>
                </a:lnTo>
                <a:lnTo>
                  <a:pt x="62522" y="252899"/>
                </a:lnTo>
                <a:lnTo>
                  <a:pt x="29464" y="285956"/>
                </a:lnTo>
                <a:lnTo>
                  <a:pt x="7785" y="327877"/>
                </a:lnTo>
                <a:lnTo>
                  <a:pt x="0" y="376142"/>
                </a:lnTo>
                <a:lnTo>
                  <a:pt x="0" y="986970"/>
                </a:lnTo>
                <a:lnTo>
                  <a:pt x="7785" y="1035239"/>
                </a:lnTo>
                <a:lnTo>
                  <a:pt x="29464" y="1077159"/>
                </a:lnTo>
                <a:lnTo>
                  <a:pt x="62522" y="1110217"/>
                </a:lnTo>
                <a:lnTo>
                  <a:pt x="104443" y="1131896"/>
                </a:lnTo>
                <a:lnTo>
                  <a:pt x="152711" y="1139681"/>
                </a:lnTo>
                <a:lnTo>
                  <a:pt x="3512276" y="1139681"/>
                </a:lnTo>
                <a:lnTo>
                  <a:pt x="3560545" y="1131896"/>
                </a:lnTo>
                <a:lnTo>
                  <a:pt x="3602466" y="1110217"/>
                </a:lnTo>
                <a:lnTo>
                  <a:pt x="3635524" y="1077159"/>
                </a:lnTo>
                <a:lnTo>
                  <a:pt x="3657203" y="1035239"/>
                </a:lnTo>
                <a:lnTo>
                  <a:pt x="3664989" y="986970"/>
                </a:lnTo>
                <a:lnTo>
                  <a:pt x="3664988" y="376142"/>
                </a:lnTo>
                <a:lnTo>
                  <a:pt x="3657203" y="327877"/>
                </a:lnTo>
                <a:lnTo>
                  <a:pt x="3635524" y="285956"/>
                </a:lnTo>
                <a:lnTo>
                  <a:pt x="3602466" y="252899"/>
                </a:lnTo>
                <a:lnTo>
                  <a:pt x="3560545" y="231220"/>
                </a:lnTo>
                <a:lnTo>
                  <a:pt x="3512276" y="223434"/>
                </a:lnTo>
                <a:close/>
              </a:path>
              <a:path w="3665220" h="1139825">
                <a:moveTo>
                  <a:pt x="1763519" y="0"/>
                </a:moveTo>
                <a:lnTo>
                  <a:pt x="610831" y="223434"/>
                </a:lnTo>
                <a:lnTo>
                  <a:pt x="1527078" y="223434"/>
                </a:lnTo>
                <a:lnTo>
                  <a:pt x="1763519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8114" y="5821171"/>
            <a:ext cx="317500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18415">
              <a:lnSpc>
                <a:spcPts val="1989"/>
              </a:lnSpc>
              <a:spcBef>
                <a:spcPts val="305"/>
              </a:spcBef>
            </a:pP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How to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describe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properties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know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see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17860" y="5455945"/>
            <a:ext cx="4226560" cy="1110615"/>
          </a:xfrm>
          <a:custGeom>
            <a:avLst/>
            <a:gdLst/>
            <a:ahLst/>
            <a:cxnLst/>
            <a:rect l="l" t="t" r="r" b="b"/>
            <a:pathLst>
              <a:path w="4226559" h="1110615">
                <a:moveTo>
                  <a:pt x="4073851" y="193879"/>
                </a:moveTo>
                <a:lnTo>
                  <a:pt x="152708" y="193879"/>
                </a:lnTo>
                <a:lnTo>
                  <a:pt x="104441" y="201664"/>
                </a:lnTo>
                <a:lnTo>
                  <a:pt x="62521" y="223343"/>
                </a:lnTo>
                <a:lnTo>
                  <a:pt x="29464" y="256400"/>
                </a:lnTo>
                <a:lnTo>
                  <a:pt x="7785" y="298320"/>
                </a:lnTo>
                <a:lnTo>
                  <a:pt x="0" y="346588"/>
                </a:lnTo>
                <a:lnTo>
                  <a:pt x="0" y="957417"/>
                </a:lnTo>
                <a:lnTo>
                  <a:pt x="7785" y="1005685"/>
                </a:lnTo>
                <a:lnTo>
                  <a:pt x="29464" y="1047605"/>
                </a:lnTo>
                <a:lnTo>
                  <a:pt x="62521" y="1080662"/>
                </a:lnTo>
                <a:lnTo>
                  <a:pt x="104441" y="1102341"/>
                </a:lnTo>
                <a:lnTo>
                  <a:pt x="152708" y="1110126"/>
                </a:lnTo>
                <a:lnTo>
                  <a:pt x="4073851" y="1110126"/>
                </a:lnTo>
                <a:lnTo>
                  <a:pt x="4122118" y="1102341"/>
                </a:lnTo>
                <a:lnTo>
                  <a:pt x="4164038" y="1080662"/>
                </a:lnTo>
                <a:lnTo>
                  <a:pt x="4197095" y="1047605"/>
                </a:lnTo>
                <a:lnTo>
                  <a:pt x="4218774" y="1005685"/>
                </a:lnTo>
                <a:lnTo>
                  <a:pt x="4226560" y="957417"/>
                </a:lnTo>
                <a:lnTo>
                  <a:pt x="4226560" y="346588"/>
                </a:lnTo>
                <a:lnTo>
                  <a:pt x="4218774" y="298320"/>
                </a:lnTo>
                <a:lnTo>
                  <a:pt x="4197095" y="256400"/>
                </a:lnTo>
                <a:lnTo>
                  <a:pt x="4164038" y="223343"/>
                </a:lnTo>
                <a:lnTo>
                  <a:pt x="4122118" y="201664"/>
                </a:lnTo>
                <a:lnTo>
                  <a:pt x="4073851" y="193879"/>
                </a:lnTo>
                <a:close/>
              </a:path>
              <a:path w="4226559" h="1110615">
                <a:moveTo>
                  <a:pt x="2239272" y="0"/>
                </a:moveTo>
                <a:lnTo>
                  <a:pt x="2465492" y="193879"/>
                </a:lnTo>
                <a:lnTo>
                  <a:pt x="3522132" y="193879"/>
                </a:lnTo>
                <a:lnTo>
                  <a:pt x="2239272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95489" y="5821171"/>
            <a:ext cx="386969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37515" marR="5080" indent="-425450">
              <a:lnSpc>
                <a:spcPts val="1989"/>
              </a:lnSpc>
              <a:spcBef>
                <a:spcPts val="305"/>
              </a:spcBef>
            </a:pP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organize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data to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promote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ease of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use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efficiency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92545" y="228600"/>
            <a:ext cx="696595" cy="328295"/>
          </a:xfrm>
          <a:custGeom>
            <a:avLst/>
            <a:gdLst/>
            <a:ahLst/>
            <a:cxnLst/>
            <a:rect l="l" t="t" r="r" b="b"/>
            <a:pathLst>
              <a:path w="696595" h="328295">
                <a:moveTo>
                  <a:pt x="0" y="0"/>
                </a:moveTo>
                <a:lnTo>
                  <a:pt x="696259" y="0"/>
                </a:lnTo>
                <a:lnTo>
                  <a:pt x="696259" y="328295"/>
                </a:lnTo>
                <a:lnTo>
                  <a:pt x="0" y="328295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97625" y="228600"/>
            <a:ext cx="686435" cy="323215"/>
          </a:xfrm>
          <a:prstGeom prst="rect">
            <a:avLst/>
          </a:prstGeom>
          <a:solidFill>
            <a:srgbClr val="E6E6FA"/>
          </a:solidFill>
        </p:spPr>
        <p:txBody>
          <a:bodyPr vert="horz" wrap="square" lIns="0" tIns="4699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70"/>
              </a:spcBef>
            </a:pPr>
            <a:r>
              <a:rPr sz="1500" spc="-10" dirty="0">
                <a:solidFill>
                  <a:srgbClr val="7F7F7F"/>
                </a:solidFill>
                <a:latin typeface="Arial MT"/>
                <a:cs typeface="Arial MT"/>
              </a:rPr>
              <a:t>revisit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228600"/>
            <a:ext cx="414909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Normalization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252728"/>
            <a:ext cx="9140190" cy="439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Normalization</a:t>
            </a:r>
            <a:r>
              <a:rPr sz="23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technique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organizing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8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202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-6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purposes:</a:t>
            </a:r>
            <a:endParaRPr sz="2300">
              <a:latin typeface="Verdana"/>
              <a:cs typeface="Verdana"/>
            </a:endParaRPr>
          </a:p>
          <a:p>
            <a:pPr marL="689610" lvl="1" indent="-186690">
              <a:lnSpc>
                <a:spcPct val="100000"/>
              </a:lnSpc>
              <a:spcBef>
                <a:spcPts val="224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69024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Eliminating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redundant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1120140" lvl="2" indent="-185420">
              <a:lnSpc>
                <a:spcPct val="100000"/>
              </a:lnSpc>
              <a:spcBef>
                <a:spcPts val="680"/>
              </a:spcBef>
              <a:buSzPct val="89473"/>
              <a:buFont typeface="Arial MT"/>
              <a:buChar char="•"/>
              <a:tabLst>
                <a:tab pos="1120140" algn="l"/>
              </a:tabLst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storing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endParaRPr sz="19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1750">
              <a:latin typeface="Verdana"/>
              <a:cs typeface="Verdana"/>
            </a:endParaRPr>
          </a:p>
          <a:p>
            <a:pPr marL="689610" lvl="1" indent="-186690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69024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Ensuring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dependencies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sense</a:t>
            </a:r>
            <a:endParaRPr sz="2100">
              <a:latin typeface="Verdana"/>
              <a:cs typeface="Verdana"/>
            </a:endParaRPr>
          </a:p>
          <a:p>
            <a:pPr marL="1120140" lvl="2" indent="-185420">
              <a:lnSpc>
                <a:spcPct val="100000"/>
              </a:lnSpc>
              <a:spcBef>
                <a:spcPts val="680"/>
              </a:spcBef>
              <a:buSzPct val="89473"/>
              <a:buFont typeface="Arial MT"/>
              <a:buChar char="•"/>
              <a:tabLst>
                <a:tab pos="112014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logically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table,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nothing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else</a:t>
            </a:r>
            <a:endParaRPr sz="19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3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50">
              <a:latin typeface="Verdana"/>
              <a:cs typeface="Verdana"/>
            </a:endParaRPr>
          </a:p>
          <a:p>
            <a:pPr marL="258445" indent="-226060">
              <a:lnSpc>
                <a:spcPct val="100000"/>
              </a:lnSpc>
              <a:buSzPct val="86956"/>
              <a:buFont typeface="Arial MT"/>
              <a:buChar char="•"/>
              <a:tabLst>
                <a:tab pos="258445" algn="l"/>
                <a:tab pos="2590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refine</a:t>
            </a:r>
            <a:r>
              <a:rPr sz="23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schema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381000"/>
            <a:ext cx="589343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Sch</a:t>
            </a:r>
            <a:r>
              <a:rPr spc="-125" dirty="0"/>
              <a:t>e</a:t>
            </a:r>
            <a:r>
              <a:rPr spc="-140" dirty="0"/>
              <a:t>m</a:t>
            </a:r>
            <a:r>
              <a:rPr dirty="0"/>
              <a:t>a</a:t>
            </a:r>
            <a:r>
              <a:rPr spc="-250" dirty="0"/>
              <a:t> </a:t>
            </a:r>
            <a:r>
              <a:rPr spc="-140" dirty="0"/>
              <a:t>R</a:t>
            </a:r>
            <a:r>
              <a:rPr spc="-125" dirty="0"/>
              <a:t>efi</a:t>
            </a:r>
            <a:r>
              <a:rPr spc="-135" dirty="0"/>
              <a:t>n</a:t>
            </a:r>
            <a:r>
              <a:rPr spc="-125" dirty="0"/>
              <a:t>e</a:t>
            </a:r>
            <a:r>
              <a:rPr spc="-140" dirty="0"/>
              <a:t>m</a:t>
            </a:r>
            <a:r>
              <a:rPr spc="-125" dirty="0"/>
              <a:t>e</a:t>
            </a:r>
            <a:r>
              <a:rPr spc="-135" dirty="0"/>
              <a:t>n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274064"/>
            <a:ext cx="9157970" cy="503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marR="459105" indent="-195580">
              <a:lnSpc>
                <a:spcPct val="1052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Constraints,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particular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functional</a:t>
            </a:r>
            <a:r>
              <a:rPr sz="23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dependencies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cause </a:t>
            </a:r>
            <a:r>
              <a:rPr sz="2300" spc="-7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problems</a:t>
            </a:r>
            <a:endParaRPr sz="2300">
              <a:latin typeface="Verdana"/>
              <a:cs typeface="Verdana"/>
            </a:endParaRPr>
          </a:p>
          <a:p>
            <a:pPr marL="207645" marR="1452880" indent="-195580">
              <a:lnSpc>
                <a:spcPct val="106100"/>
              </a:lnSpc>
              <a:spcBef>
                <a:spcPts val="235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understand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how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constraints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cause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92934"/>
              </a:buClr>
              <a:buFont typeface="Arial MT"/>
              <a:buChar char="•"/>
            </a:pPr>
            <a:endParaRPr sz="215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Refinement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needed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exists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292934"/>
              </a:buClr>
              <a:buFont typeface="Arial MT"/>
              <a:buChar char="•"/>
            </a:pPr>
            <a:endParaRPr sz="355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Decomposition</a:t>
            </a:r>
            <a:r>
              <a:rPr sz="23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main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refinement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technique</a:t>
            </a:r>
            <a:endParaRPr sz="2300">
              <a:latin typeface="Verdana"/>
              <a:cs typeface="Verdana"/>
            </a:endParaRPr>
          </a:p>
          <a:p>
            <a:pPr marL="689610" lvl="1" indent="-186690">
              <a:lnSpc>
                <a:spcPct val="100000"/>
              </a:lnSpc>
              <a:spcBef>
                <a:spcPts val="1040"/>
              </a:spcBef>
              <a:buSzPct val="85714"/>
              <a:buFont typeface="Arial MT"/>
              <a:buChar char="•"/>
              <a:tabLst>
                <a:tab pos="690245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Example: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replace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ABCD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[AB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BCD]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[ACD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ABD]</a:t>
            </a:r>
            <a:endParaRPr sz="2100">
              <a:latin typeface="Verdana"/>
              <a:cs typeface="Verdana"/>
            </a:endParaRPr>
          </a:p>
          <a:p>
            <a:pPr marL="689610" lvl="1" indent="-186690">
              <a:lnSpc>
                <a:spcPct val="100000"/>
              </a:lnSpc>
              <a:spcBef>
                <a:spcPts val="1175"/>
              </a:spcBef>
              <a:buSzPct val="85714"/>
              <a:buFont typeface="Arial MT"/>
              <a:buChar char="•"/>
              <a:tabLst>
                <a:tab pos="690245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Judgment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call:</a:t>
            </a:r>
            <a:endParaRPr sz="2100">
              <a:latin typeface="Verdana"/>
              <a:cs typeface="Verdana"/>
            </a:endParaRPr>
          </a:p>
          <a:p>
            <a:pPr marL="1120140" lvl="2" indent="-185420">
              <a:lnSpc>
                <a:spcPct val="100000"/>
              </a:lnSpc>
              <a:spcBef>
                <a:spcPts val="1085"/>
              </a:spcBef>
              <a:buSzPct val="89473"/>
              <a:buFont typeface="Arial MT"/>
              <a:buChar char="•"/>
              <a:tabLst>
                <a:tab pos="112014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reason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decompose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relation?</a:t>
            </a:r>
            <a:endParaRPr sz="1900">
              <a:latin typeface="Verdana"/>
              <a:cs typeface="Verdana"/>
            </a:endParaRPr>
          </a:p>
          <a:p>
            <a:pPr marL="1120140" lvl="2" indent="-185420">
              <a:lnSpc>
                <a:spcPct val="100000"/>
              </a:lnSpc>
              <a:spcBef>
                <a:spcPts val="25"/>
              </a:spcBef>
              <a:buSzPct val="89473"/>
              <a:buFont typeface="Arial MT"/>
              <a:buChar char="•"/>
              <a:tabLst>
                <a:tab pos="112014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problems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(if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any)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cause?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076" y="199455"/>
            <a:ext cx="43770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Decomposition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5676" y="1272032"/>
            <a:ext cx="9157970" cy="228219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 marR="55244">
              <a:lnSpc>
                <a:spcPct val="102899"/>
              </a:lnSpc>
              <a:spcBef>
                <a:spcPts val="25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Suppose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contains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i="1" spc="15" baseline="-15873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, …,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i="1" spc="15" baseline="-15873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decomposition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consists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replacing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such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endParaRPr sz="2100">
              <a:latin typeface="Verdana"/>
              <a:cs typeface="Verdana"/>
            </a:endParaRPr>
          </a:p>
          <a:p>
            <a:pPr marL="525780" indent="-195580">
              <a:lnSpc>
                <a:spcPct val="100000"/>
              </a:lnSpc>
              <a:spcBef>
                <a:spcPts val="1785"/>
              </a:spcBef>
              <a:buSzPct val="94736"/>
              <a:buFont typeface="Arial MT"/>
              <a:buChar char="•"/>
              <a:tabLst>
                <a:tab pos="52578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new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contains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subset</a:t>
            </a:r>
            <a:r>
              <a:rPr sz="19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endParaRPr sz="1900">
              <a:latin typeface="Verdana"/>
              <a:cs typeface="Verdana"/>
            </a:endParaRPr>
          </a:p>
          <a:p>
            <a:pPr marL="52578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(and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appear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1900">
              <a:latin typeface="Verdana"/>
              <a:cs typeface="Verdana"/>
            </a:endParaRPr>
          </a:p>
          <a:p>
            <a:pPr marL="525780" marR="30480" indent="-195580">
              <a:lnSpc>
                <a:spcPct val="101099"/>
              </a:lnSpc>
              <a:spcBef>
                <a:spcPts val="1675"/>
              </a:spcBef>
              <a:buSzPct val="94736"/>
              <a:buFont typeface="Arial MT"/>
              <a:buChar char="•"/>
              <a:tabLst>
                <a:tab pos="52578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appears</a:t>
            </a:r>
            <a:r>
              <a:rPr sz="19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as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an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19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least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new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1076" y="4312920"/>
            <a:ext cx="436181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Three</a:t>
            </a:r>
            <a:r>
              <a:rPr sz="2300" b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potential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problems: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683" y="4881879"/>
            <a:ext cx="8904605" cy="193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SzPct val="94736"/>
              <a:buFont typeface="Arial MT"/>
              <a:buChar char="•"/>
              <a:tabLst>
                <a:tab pos="20827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become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expensive</a:t>
            </a:r>
            <a:endParaRPr sz="1900">
              <a:latin typeface="Verdana"/>
              <a:cs typeface="Verdana"/>
            </a:endParaRPr>
          </a:p>
          <a:p>
            <a:pPr marL="207645" marR="266065" indent="-195580">
              <a:lnSpc>
                <a:spcPct val="101099"/>
              </a:lnSpc>
              <a:spcBef>
                <a:spcPts val="1795"/>
              </a:spcBef>
              <a:buSzPct val="94736"/>
              <a:buFont typeface="Arial MT"/>
              <a:buChar char="•"/>
              <a:tabLst>
                <a:tab pos="20827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relations,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not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be</a:t>
            </a:r>
            <a:r>
              <a:rPr sz="19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able</a:t>
            </a:r>
            <a:r>
              <a:rPr sz="19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to </a:t>
            </a:r>
            <a:r>
              <a:rPr sz="1900" spc="-6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reconstruct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original</a:t>
            </a:r>
            <a:r>
              <a:rPr sz="19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endParaRPr sz="1900">
              <a:latin typeface="Verdana"/>
              <a:cs typeface="Verdana"/>
            </a:endParaRPr>
          </a:p>
          <a:p>
            <a:pPr marL="207645" marR="5080" indent="-195580">
              <a:lnSpc>
                <a:spcPct val="101099"/>
              </a:lnSpc>
              <a:spcBef>
                <a:spcPts val="1705"/>
              </a:spcBef>
              <a:buSzPct val="94736"/>
              <a:buFont typeface="Arial MT"/>
              <a:buChar char="•"/>
              <a:tabLst>
                <a:tab pos="20827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Checking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dependencies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require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joining</a:t>
            </a:r>
            <a:r>
              <a:rPr sz="19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decomposed </a:t>
            </a:r>
            <a:r>
              <a:rPr sz="1900" spc="-6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relations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1015" y="3992879"/>
            <a:ext cx="4824984" cy="10637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43854" y="3999105"/>
            <a:ext cx="4401185" cy="77978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13665" rIns="0" bIns="0" rtlCol="0">
            <a:spAutoFit/>
          </a:bodyPr>
          <a:lstStyle/>
          <a:p>
            <a:pPr marL="371475" marR="364490" indent="293370">
              <a:lnSpc>
                <a:spcPts val="2210"/>
              </a:lnSpc>
              <a:spcBef>
                <a:spcPts val="895"/>
              </a:spcBef>
            </a:pP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Tradeoff: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consider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issues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vs.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819" y="272268"/>
            <a:ext cx="832993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Pr</a:t>
            </a:r>
            <a:r>
              <a:rPr spc="-130" dirty="0"/>
              <a:t>op</a:t>
            </a:r>
            <a:r>
              <a:rPr spc="-125" dirty="0"/>
              <a:t>e</a:t>
            </a:r>
            <a:r>
              <a:rPr spc="-130" dirty="0"/>
              <a:t>r</a:t>
            </a:r>
            <a:r>
              <a:rPr spc="-125" dirty="0"/>
              <a:t>ti</a:t>
            </a:r>
            <a:r>
              <a:rPr spc="-120" dirty="0"/>
              <a:t>e</a:t>
            </a:r>
            <a:r>
              <a:rPr dirty="0"/>
              <a:t>s</a:t>
            </a:r>
            <a:r>
              <a:rPr spc="-254" dirty="0"/>
              <a:t> </a:t>
            </a:r>
            <a:r>
              <a:rPr spc="-130" dirty="0"/>
              <a:t>o</a:t>
            </a:r>
            <a:r>
              <a:rPr dirty="0"/>
              <a:t>f</a:t>
            </a:r>
            <a:r>
              <a:rPr spc="-250" dirty="0"/>
              <a:t> 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spc="-135" dirty="0"/>
              <a:t>c</a:t>
            </a:r>
            <a:r>
              <a:rPr spc="-130" dirty="0"/>
              <a:t>o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35" dirty="0"/>
              <a:t>o</a:t>
            </a:r>
            <a:r>
              <a:rPr spc="-130" dirty="0"/>
              <a:t>si</a:t>
            </a:r>
            <a:r>
              <a:rPr spc="-125" dirty="0"/>
              <a:t>ti</a:t>
            </a:r>
            <a:r>
              <a:rPr spc="-130" dirty="0"/>
              <a:t>o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819" y="1182995"/>
            <a:ext cx="6405880" cy="94106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2100" b="1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endParaRPr sz="2100">
              <a:latin typeface="Verdana"/>
              <a:cs typeface="Verdana"/>
            </a:endParaRPr>
          </a:p>
          <a:p>
            <a:pPr marL="500380" indent="-195580">
              <a:lnSpc>
                <a:spcPct val="100000"/>
              </a:lnSpc>
              <a:spcBef>
                <a:spcPts val="870"/>
              </a:spcBef>
              <a:buSzPct val="94736"/>
              <a:buFont typeface="Arial MT"/>
              <a:buChar char="•"/>
              <a:tabLst>
                <a:tab pos="500380" algn="l"/>
                <a:tab pos="3931285" algn="l"/>
                <a:tab pos="4570095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292934"/>
                </a:solidFill>
                <a:latin typeface="Cambria Math"/>
                <a:cs typeface="Cambria Math"/>
              </a:rPr>
              <a:t>⋈</a:t>
            </a:r>
            <a:r>
              <a:rPr sz="2600" spc="70" dirty="0">
                <a:solidFill>
                  <a:srgbClr val="292934"/>
                </a:solidFill>
                <a:latin typeface="Cambria Math"/>
                <a:cs typeface="Cambria Math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R2	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292934"/>
                </a:solidFill>
                <a:latin typeface="Cambria Math"/>
                <a:cs typeface="Cambria Math"/>
              </a:rPr>
              <a:t>⋈	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“natural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join”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7427" y="2132583"/>
            <a:ext cx="4178300" cy="121729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915"/>
              </a:spcBef>
              <a:buSzPct val="94736"/>
              <a:buFont typeface="Arial MT"/>
              <a:buChar char="•"/>
              <a:tabLst>
                <a:tab pos="20827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 gain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loose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endParaRPr sz="19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815"/>
              </a:spcBef>
              <a:buSzPct val="94736"/>
              <a:buFont typeface="Arial MT"/>
              <a:buChar char="•"/>
              <a:tabLst>
                <a:tab pos="20827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292934"/>
                </a:solidFill>
                <a:latin typeface="Times New Roman"/>
                <a:cs typeface="Times New Roman"/>
              </a:rPr>
              <a:t>∩</a:t>
            </a:r>
            <a:r>
              <a:rPr sz="1900" b="1" spc="2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R2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≠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 }</a:t>
            </a:r>
            <a:endParaRPr sz="19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915"/>
              </a:spcBef>
              <a:buSzPct val="94736"/>
              <a:buFont typeface="Arial MT"/>
              <a:buChar char="•"/>
              <a:tabLst>
                <a:tab pos="208279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292934"/>
                </a:solidFill>
                <a:latin typeface="Times New Roman"/>
                <a:cs typeface="Times New Roman"/>
              </a:rPr>
              <a:t>∩</a:t>
            </a:r>
            <a:r>
              <a:rPr sz="1900" b="1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292934"/>
                </a:solidFill>
                <a:latin typeface="Times New Roman"/>
                <a:cs typeface="Times New Roman"/>
              </a:rPr>
              <a:t>∩</a:t>
            </a:r>
            <a:r>
              <a:rPr sz="1900" b="1" spc="2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9759" y="3034791"/>
            <a:ext cx="45237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292934"/>
                </a:solidFill>
                <a:latin typeface="Times New Roman"/>
                <a:cs typeface="Times New Roman"/>
              </a:rPr>
              <a:t>∩</a:t>
            </a:r>
            <a:r>
              <a:rPr sz="1900" b="1" spc="2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super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R2)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4819" y="3670487"/>
            <a:ext cx="8709025" cy="27552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2100" b="1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preserving</a:t>
            </a:r>
            <a:endParaRPr sz="2100">
              <a:latin typeface="Verdana"/>
              <a:cs typeface="Verdana"/>
            </a:endParaRPr>
          </a:p>
          <a:p>
            <a:pPr marL="500380" marR="179705" indent="-195580">
              <a:lnSpc>
                <a:spcPct val="101099"/>
              </a:lnSpc>
              <a:spcBef>
                <a:spcPts val="1065"/>
              </a:spcBef>
              <a:buSzPct val="94736"/>
              <a:buFont typeface="Arial MT"/>
              <a:buChar char="•"/>
              <a:tabLst>
                <a:tab pos="50038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(thus,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when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checking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dependency,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no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tables)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292934"/>
              </a:buClr>
              <a:buFont typeface="Arial MT"/>
              <a:buChar char="•"/>
            </a:pP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100" b="1" spc="10" dirty="0">
                <a:solidFill>
                  <a:srgbClr val="C00000"/>
                </a:solidFill>
                <a:latin typeface="Verdana"/>
                <a:cs typeface="Verdana"/>
              </a:rPr>
              <a:t>No</a:t>
            </a:r>
            <a:r>
              <a:rPr sz="2100" b="1" spc="-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redundancy</a:t>
            </a:r>
            <a:endParaRPr sz="2100">
              <a:latin typeface="Verdana"/>
              <a:cs typeface="Verdana"/>
            </a:endParaRPr>
          </a:p>
          <a:p>
            <a:pPr marL="500380" marR="5080" indent="-195580">
              <a:lnSpc>
                <a:spcPct val="101099"/>
              </a:lnSpc>
              <a:spcBef>
                <a:spcPts val="1060"/>
              </a:spcBef>
              <a:buSzPct val="94736"/>
              <a:buFont typeface="Arial MT"/>
              <a:buChar char="•"/>
              <a:tabLst>
                <a:tab pos="500380" algn="l"/>
              </a:tabLst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nontrivial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FD,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determinant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(solved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through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normal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forms)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185" y="232732"/>
            <a:ext cx="84404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Lo</a:t>
            </a:r>
            <a:r>
              <a:rPr spc="-125" dirty="0"/>
              <a:t>ssles</a:t>
            </a:r>
            <a:r>
              <a:rPr spc="-130" dirty="0"/>
              <a:t>s</a:t>
            </a:r>
            <a:r>
              <a:rPr spc="-120" dirty="0"/>
              <a:t>-</a:t>
            </a:r>
            <a:r>
              <a:rPr spc="-125" dirty="0"/>
              <a:t>J</a:t>
            </a:r>
            <a:r>
              <a:rPr spc="-130" dirty="0"/>
              <a:t>o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spc="-130" dirty="0"/>
              <a:t>co</a:t>
            </a:r>
            <a:r>
              <a:rPr spc="-140" dirty="0"/>
              <a:t>m</a:t>
            </a:r>
            <a:r>
              <a:rPr spc="-130" dirty="0"/>
              <a:t>pos</a:t>
            </a:r>
            <a:r>
              <a:rPr spc="-125" dirty="0"/>
              <a:t>i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o</a:t>
            </a:r>
            <a:r>
              <a:rPr dirty="0"/>
              <a:t>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55185" y="1490872"/>
          <a:ext cx="7256779" cy="1950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6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56558" y="4726147"/>
          <a:ext cx="5142228" cy="1950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2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85200" y="5704746"/>
          <a:ext cx="2175510" cy="975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46381" y="5915659"/>
            <a:ext cx="3378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3138" y="5931408"/>
            <a:ext cx="52070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dirty="0">
                <a:solidFill>
                  <a:srgbClr val="292934"/>
                </a:solidFill>
                <a:latin typeface="Cambria Math"/>
                <a:cs typeface="Cambria Math"/>
              </a:rPr>
              <a:t>⋈</a:t>
            </a:r>
            <a:endParaRPr sz="47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54634" y="4665859"/>
            <a:ext cx="830580" cy="2076450"/>
          </a:xfrm>
          <a:custGeom>
            <a:avLst/>
            <a:gdLst/>
            <a:ahLst/>
            <a:cxnLst/>
            <a:rect l="l" t="t" r="r" b="b"/>
            <a:pathLst>
              <a:path w="830579" h="2076450">
                <a:moveTo>
                  <a:pt x="0" y="138352"/>
                </a:moveTo>
                <a:lnTo>
                  <a:pt x="7053" y="94622"/>
                </a:lnTo>
                <a:lnTo>
                  <a:pt x="26694" y="56643"/>
                </a:lnTo>
                <a:lnTo>
                  <a:pt x="56643" y="26694"/>
                </a:lnTo>
                <a:lnTo>
                  <a:pt x="94622" y="7053"/>
                </a:lnTo>
                <a:lnTo>
                  <a:pt x="138352" y="0"/>
                </a:lnTo>
                <a:lnTo>
                  <a:pt x="691741" y="0"/>
                </a:lnTo>
                <a:lnTo>
                  <a:pt x="735471" y="7053"/>
                </a:lnTo>
                <a:lnTo>
                  <a:pt x="773450" y="26694"/>
                </a:lnTo>
                <a:lnTo>
                  <a:pt x="803399" y="56643"/>
                </a:lnTo>
                <a:lnTo>
                  <a:pt x="823040" y="94622"/>
                </a:lnTo>
                <a:lnTo>
                  <a:pt x="830093" y="138352"/>
                </a:lnTo>
                <a:lnTo>
                  <a:pt x="830093" y="1937516"/>
                </a:lnTo>
                <a:lnTo>
                  <a:pt x="823040" y="1981247"/>
                </a:lnTo>
                <a:lnTo>
                  <a:pt x="803399" y="2019226"/>
                </a:lnTo>
                <a:lnTo>
                  <a:pt x="773450" y="2049175"/>
                </a:lnTo>
                <a:lnTo>
                  <a:pt x="735471" y="2068816"/>
                </a:lnTo>
                <a:lnTo>
                  <a:pt x="691741" y="2075869"/>
                </a:lnTo>
                <a:lnTo>
                  <a:pt x="138352" y="2075869"/>
                </a:lnTo>
                <a:lnTo>
                  <a:pt x="94622" y="2068816"/>
                </a:lnTo>
                <a:lnTo>
                  <a:pt x="56643" y="2049175"/>
                </a:lnTo>
                <a:lnTo>
                  <a:pt x="26694" y="2019226"/>
                </a:lnTo>
                <a:lnTo>
                  <a:pt x="7053" y="1981247"/>
                </a:lnTo>
                <a:lnTo>
                  <a:pt x="0" y="1937516"/>
                </a:lnTo>
                <a:lnTo>
                  <a:pt x="0" y="138352"/>
                </a:lnTo>
                <a:close/>
              </a:path>
            </a:pathLst>
          </a:custGeom>
          <a:ln w="4063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32432" y="5661182"/>
            <a:ext cx="830580" cy="1080770"/>
          </a:xfrm>
          <a:custGeom>
            <a:avLst/>
            <a:gdLst/>
            <a:ahLst/>
            <a:cxnLst/>
            <a:rect l="l" t="t" r="r" b="b"/>
            <a:pathLst>
              <a:path w="830579" h="1080770">
                <a:moveTo>
                  <a:pt x="0" y="138352"/>
                </a:moveTo>
                <a:lnTo>
                  <a:pt x="7053" y="94622"/>
                </a:lnTo>
                <a:lnTo>
                  <a:pt x="26693" y="56643"/>
                </a:lnTo>
                <a:lnTo>
                  <a:pt x="56643" y="26693"/>
                </a:lnTo>
                <a:lnTo>
                  <a:pt x="94622" y="7053"/>
                </a:lnTo>
                <a:lnTo>
                  <a:pt x="138352" y="0"/>
                </a:lnTo>
                <a:lnTo>
                  <a:pt x="691741" y="0"/>
                </a:lnTo>
                <a:lnTo>
                  <a:pt x="735471" y="7053"/>
                </a:lnTo>
                <a:lnTo>
                  <a:pt x="773450" y="26693"/>
                </a:lnTo>
                <a:lnTo>
                  <a:pt x="803399" y="56643"/>
                </a:lnTo>
                <a:lnTo>
                  <a:pt x="823040" y="94622"/>
                </a:lnTo>
                <a:lnTo>
                  <a:pt x="830093" y="138352"/>
                </a:lnTo>
                <a:lnTo>
                  <a:pt x="830093" y="942193"/>
                </a:lnTo>
                <a:lnTo>
                  <a:pt x="823040" y="985923"/>
                </a:lnTo>
                <a:lnTo>
                  <a:pt x="803399" y="1023902"/>
                </a:lnTo>
                <a:lnTo>
                  <a:pt x="773450" y="1053852"/>
                </a:lnTo>
                <a:lnTo>
                  <a:pt x="735471" y="1073492"/>
                </a:lnTo>
                <a:lnTo>
                  <a:pt x="691741" y="1080546"/>
                </a:lnTo>
                <a:lnTo>
                  <a:pt x="138352" y="1080546"/>
                </a:lnTo>
                <a:lnTo>
                  <a:pt x="94622" y="1073492"/>
                </a:lnTo>
                <a:lnTo>
                  <a:pt x="56643" y="1053852"/>
                </a:lnTo>
                <a:lnTo>
                  <a:pt x="26693" y="1023902"/>
                </a:lnTo>
                <a:lnTo>
                  <a:pt x="7053" y="985923"/>
                </a:lnTo>
                <a:lnTo>
                  <a:pt x="0" y="942193"/>
                </a:lnTo>
                <a:lnTo>
                  <a:pt x="0" y="138352"/>
                </a:lnTo>
                <a:close/>
              </a:path>
            </a:pathLst>
          </a:custGeom>
          <a:ln w="4063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3321" y="4446016"/>
            <a:ext cx="3498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07154" y="5433567"/>
            <a:ext cx="3498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4333" y="1209040"/>
            <a:ext cx="12134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mp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oy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67600" y="4903720"/>
            <a:ext cx="680720" cy="689610"/>
          </a:xfrm>
          <a:custGeom>
            <a:avLst/>
            <a:gdLst/>
            <a:ahLst/>
            <a:cxnLst/>
            <a:rect l="l" t="t" r="r" b="b"/>
            <a:pathLst>
              <a:path w="680720" h="689610">
                <a:moveTo>
                  <a:pt x="31694" y="592165"/>
                </a:moveTo>
                <a:lnTo>
                  <a:pt x="0" y="689362"/>
                </a:lnTo>
                <a:lnTo>
                  <a:pt x="96772" y="656399"/>
                </a:lnTo>
                <a:lnTo>
                  <a:pt x="86068" y="645834"/>
                </a:lnTo>
                <a:lnTo>
                  <a:pt x="64375" y="645834"/>
                </a:lnTo>
                <a:lnTo>
                  <a:pt x="42682" y="624423"/>
                </a:lnTo>
                <a:lnTo>
                  <a:pt x="53387" y="613577"/>
                </a:lnTo>
                <a:lnTo>
                  <a:pt x="31694" y="592165"/>
                </a:lnTo>
                <a:close/>
              </a:path>
              <a:path w="680720" h="689610">
                <a:moveTo>
                  <a:pt x="53387" y="613577"/>
                </a:moveTo>
                <a:lnTo>
                  <a:pt x="42682" y="624423"/>
                </a:lnTo>
                <a:lnTo>
                  <a:pt x="64375" y="645834"/>
                </a:lnTo>
                <a:lnTo>
                  <a:pt x="75080" y="634988"/>
                </a:lnTo>
                <a:lnTo>
                  <a:pt x="53387" y="613577"/>
                </a:lnTo>
                <a:close/>
              </a:path>
              <a:path w="680720" h="689610">
                <a:moveTo>
                  <a:pt x="75080" y="634988"/>
                </a:moveTo>
                <a:lnTo>
                  <a:pt x="64375" y="645834"/>
                </a:lnTo>
                <a:lnTo>
                  <a:pt x="86068" y="645834"/>
                </a:lnTo>
                <a:lnTo>
                  <a:pt x="75080" y="634988"/>
                </a:lnTo>
                <a:close/>
              </a:path>
              <a:path w="680720" h="689610">
                <a:moveTo>
                  <a:pt x="658986" y="0"/>
                </a:moveTo>
                <a:lnTo>
                  <a:pt x="53387" y="613577"/>
                </a:lnTo>
                <a:lnTo>
                  <a:pt x="75080" y="634988"/>
                </a:lnTo>
                <a:lnTo>
                  <a:pt x="680680" y="21410"/>
                </a:lnTo>
                <a:lnTo>
                  <a:pt x="65898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72463" y="3349244"/>
            <a:ext cx="3602354" cy="19272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 indent="617855">
              <a:lnSpc>
                <a:spcPct val="125699"/>
              </a:lnSpc>
              <a:spcBef>
                <a:spcPts val="49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=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292934"/>
                </a:solidFill>
                <a:latin typeface="Cambria Math"/>
                <a:cs typeface="Cambria Math"/>
              </a:rPr>
              <a:t>⋈</a:t>
            </a:r>
            <a:r>
              <a:rPr sz="3000" spc="60" dirty="0">
                <a:solidFill>
                  <a:srgbClr val="292934"/>
                </a:solidFill>
                <a:latin typeface="Cambria Math"/>
                <a:cs typeface="Cambria Math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R2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gain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loose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columns</a:t>
            </a:r>
            <a:endParaRPr sz="2100">
              <a:latin typeface="Verdana"/>
              <a:cs typeface="Verdana"/>
            </a:endParaRPr>
          </a:p>
          <a:p>
            <a:pPr marL="1539875">
              <a:lnSpc>
                <a:spcPct val="100000"/>
              </a:lnSpc>
              <a:spcBef>
                <a:spcPts val="550"/>
              </a:spcBef>
            </a:pPr>
            <a:r>
              <a:rPr sz="2100" u="heavy" spc="5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R1</a:t>
            </a:r>
            <a:r>
              <a:rPr sz="2100" u="heavy" spc="10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 </a:t>
            </a:r>
            <a:r>
              <a:rPr sz="2100" b="1" u="heavy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∩</a:t>
            </a:r>
            <a:r>
              <a:rPr sz="2100" b="1" u="heavy" spc="229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u="heavy" spc="5" dirty="0">
                <a:solidFill>
                  <a:srgbClr val="292934"/>
                </a:solidFill>
                <a:uFill>
                  <a:solidFill>
                    <a:srgbClr val="C00000"/>
                  </a:solidFill>
                </a:uFill>
                <a:latin typeface="Verdana"/>
                <a:cs typeface="Verdana"/>
              </a:rPr>
              <a:t>R2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≠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  <a:p>
            <a:pPr marL="427355">
              <a:lnSpc>
                <a:spcPct val="100000"/>
              </a:lnSpc>
              <a:spcBef>
                <a:spcPts val="1255"/>
              </a:spcBef>
            </a:pP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Super</a:t>
            </a:r>
            <a:r>
              <a:rPr sz="1900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990" y="331071"/>
            <a:ext cx="84404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Lo</a:t>
            </a:r>
            <a:r>
              <a:rPr spc="-125" dirty="0"/>
              <a:t>ssles</a:t>
            </a:r>
            <a:r>
              <a:rPr spc="-130" dirty="0"/>
              <a:t>s</a:t>
            </a:r>
            <a:r>
              <a:rPr spc="-120" dirty="0"/>
              <a:t>-</a:t>
            </a:r>
            <a:r>
              <a:rPr spc="-125" dirty="0"/>
              <a:t>J</a:t>
            </a:r>
            <a:r>
              <a:rPr spc="-130" dirty="0"/>
              <a:t>o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30" dirty="0"/>
              <a:t>D</a:t>
            </a:r>
            <a:r>
              <a:rPr spc="-125" dirty="0"/>
              <a:t>e</a:t>
            </a:r>
            <a:r>
              <a:rPr spc="-130" dirty="0"/>
              <a:t>co</a:t>
            </a:r>
            <a:r>
              <a:rPr spc="-140" dirty="0"/>
              <a:t>m</a:t>
            </a:r>
            <a:r>
              <a:rPr spc="-130" dirty="0"/>
              <a:t>pos</a:t>
            </a:r>
            <a:r>
              <a:rPr spc="-125" dirty="0"/>
              <a:t>i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o</a:t>
            </a:r>
            <a:r>
              <a:rPr dirty="0"/>
              <a:t>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13797" y="4799543"/>
          <a:ext cx="7256779" cy="1950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6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56558" y="1532420"/>
          <a:ext cx="5142228" cy="1950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2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85200" y="2511021"/>
          <a:ext cx="2175510" cy="975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70180" y="5467604"/>
            <a:ext cx="3378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3138" y="2737104"/>
            <a:ext cx="52070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dirty="0">
                <a:solidFill>
                  <a:srgbClr val="292934"/>
                </a:solidFill>
                <a:latin typeface="Cambria Math"/>
                <a:cs typeface="Cambria Math"/>
              </a:rPr>
              <a:t>⋈</a:t>
            </a:r>
            <a:endParaRPr sz="47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321" y="1251711"/>
            <a:ext cx="3498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07152" y="2242311"/>
            <a:ext cx="3498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2946" y="4519167"/>
            <a:ext cx="12134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mp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oy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6857" y="3899408"/>
            <a:ext cx="441706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31750">
              <a:lnSpc>
                <a:spcPct val="102899"/>
              </a:lnSpc>
              <a:spcBef>
                <a:spcPts val="25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Reconstruct the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original relation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gain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loose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799" y="69766"/>
            <a:ext cx="336550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70" dirty="0"/>
              <a:t>Let’s</a:t>
            </a:r>
            <a:r>
              <a:rPr sz="3900" spc="-215" dirty="0"/>
              <a:t> </a:t>
            </a:r>
            <a:r>
              <a:rPr sz="3900" spc="-55" dirty="0"/>
              <a:t>Try</a:t>
            </a:r>
            <a:r>
              <a:rPr sz="3900" spc="-204" dirty="0"/>
              <a:t> </a:t>
            </a:r>
            <a:r>
              <a:rPr sz="3900" spc="-55" dirty="0"/>
              <a:t>(1)</a:t>
            </a:r>
            <a:endParaRPr sz="3900" dirty="0"/>
          </a:p>
        </p:txBody>
      </p:sp>
      <p:sp>
        <p:nvSpPr>
          <p:cNvPr id="3" name="object 3"/>
          <p:cNvSpPr txBox="1"/>
          <p:nvPr/>
        </p:nvSpPr>
        <p:spPr>
          <a:xfrm>
            <a:off x="544799" y="714906"/>
            <a:ext cx="792416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-70" dirty="0">
                <a:solidFill>
                  <a:srgbClr val="000099"/>
                </a:solidFill>
                <a:latin typeface="Verdana"/>
                <a:cs typeface="Verdana"/>
              </a:rPr>
              <a:t>Lossless</a:t>
            </a:r>
            <a:r>
              <a:rPr sz="3900" b="1" spc="-210" dirty="0">
                <a:solidFill>
                  <a:srgbClr val="000099"/>
                </a:solidFill>
                <a:latin typeface="Verdana"/>
                <a:cs typeface="Verdana"/>
              </a:rPr>
              <a:t> </a:t>
            </a:r>
            <a:r>
              <a:rPr sz="3900" b="1" spc="-70" dirty="0">
                <a:solidFill>
                  <a:srgbClr val="000099"/>
                </a:solidFill>
                <a:latin typeface="Verdana"/>
                <a:cs typeface="Verdana"/>
              </a:rPr>
              <a:t>Join</a:t>
            </a:r>
            <a:r>
              <a:rPr sz="3900" b="1" spc="-204" dirty="0">
                <a:solidFill>
                  <a:srgbClr val="000099"/>
                </a:solidFill>
                <a:latin typeface="Verdana"/>
                <a:cs typeface="Verdana"/>
              </a:rPr>
              <a:t> </a:t>
            </a:r>
            <a:r>
              <a:rPr sz="3900" b="1" spc="-80" dirty="0">
                <a:solidFill>
                  <a:srgbClr val="000099"/>
                </a:solidFill>
                <a:latin typeface="Verdana"/>
                <a:cs typeface="Verdana"/>
              </a:rPr>
              <a:t>decomposition?</a:t>
            </a:r>
            <a:endParaRPr sz="3900" dirty="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4799" y="2560888"/>
          <a:ext cx="2007869" cy="1300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177115" y="1580109"/>
          <a:ext cx="1317625" cy="1300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marR="25463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R="259079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R="25907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R="259079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177115" y="3471224"/>
          <a:ext cx="1316355" cy="1300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009079" y="2459287"/>
            <a:ext cx="931544" cy="571500"/>
          </a:xfrm>
          <a:custGeom>
            <a:avLst/>
            <a:gdLst/>
            <a:ahLst/>
            <a:cxnLst/>
            <a:rect l="l" t="t" r="r" b="b"/>
            <a:pathLst>
              <a:path w="931545" h="571500">
                <a:moveTo>
                  <a:pt x="700258" y="88783"/>
                </a:moveTo>
                <a:lnTo>
                  <a:pt x="0" y="501435"/>
                </a:lnTo>
                <a:lnTo>
                  <a:pt x="41264" y="571461"/>
                </a:lnTo>
                <a:lnTo>
                  <a:pt x="741523" y="158808"/>
                </a:lnTo>
                <a:lnTo>
                  <a:pt x="700258" y="88783"/>
                </a:lnTo>
                <a:close/>
              </a:path>
              <a:path w="931545" h="571500">
                <a:moveTo>
                  <a:pt x="886838" y="68150"/>
                </a:moveTo>
                <a:lnTo>
                  <a:pt x="735271" y="68150"/>
                </a:lnTo>
                <a:lnTo>
                  <a:pt x="776536" y="138175"/>
                </a:lnTo>
                <a:lnTo>
                  <a:pt x="741523" y="158808"/>
                </a:lnTo>
                <a:lnTo>
                  <a:pt x="782788" y="228834"/>
                </a:lnTo>
                <a:lnTo>
                  <a:pt x="886838" y="68150"/>
                </a:lnTo>
                <a:close/>
              </a:path>
              <a:path w="931545" h="571500">
                <a:moveTo>
                  <a:pt x="735271" y="68150"/>
                </a:moveTo>
                <a:lnTo>
                  <a:pt x="700258" y="88783"/>
                </a:lnTo>
                <a:lnTo>
                  <a:pt x="741523" y="158808"/>
                </a:lnTo>
                <a:lnTo>
                  <a:pt x="776536" y="138175"/>
                </a:lnTo>
                <a:lnTo>
                  <a:pt x="735271" y="68150"/>
                </a:lnTo>
                <a:close/>
              </a:path>
              <a:path w="931545" h="571500">
                <a:moveTo>
                  <a:pt x="930968" y="0"/>
                </a:moveTo>
                <a:lnTo>
                  <a:pt x="658992" y="18757"/>
                </a:lnTo>
                <a:lnTo>
                  <a:pt x="700258" y="88783"/>
                </a:lnTo>
                <a:lnTo>
                  <a:pt x="735271" y="68150"/>
                </a:lnTo>
                <a:lnTo>
                  <a:pt x="886838" y="68150"/>
                </a:lnTo>
                <a:lnTo>
                  <a:pt x="930968" y="0"/>
                </a:lnTo>
                <a:close/>
              </a:path>
            </a:pathLst>
          </a:custGeom>
          <a:solidFill>
            <a:srgbClr val="93A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11023" y="3431071"/>
            <a:ext cx="929640" cy="508000"/>
          </a:xfrm>
          <a:custGeom>
            <a:avLst/>
            <a:gdLst/>
            <a:ahLst/>
            <a:cxnLst/>
            <a:rect l="l" t="t" r="r" b="b"/>
            <a:pathLst>
              <a:path w="929639" h="508000">
                <a:moveTo>
                  <a:pt x="693807" y="431469"/>
                </a:moveTo>
                <a:lnTo>
                  <a:pt x="656429" y="503646"/>
                </a:lnTo>
                <a:lnTo>
                  <a:pt x="929024" y="507512"/>
                </a:lnTo>
                <a:lnTo>
                  <a:pt x="887265" y="450157"/>
                </a:lnTo>
                <a:lnTo>
                  <a:pt x="729894" y="450157"/>
                </a:lnTo>
                <a:lnTo>
                  <a:pt x="693807" y="431469"/>
                </a:lnTo>
                <a:close/>
              </a:path>
              <a:path w="929639" h="508000">
                <a:moveTo>
                  <a:pt x="731183" y="359294"/>
                </a:moveTo>
                <a:lnTo>
                  <a:pt x="693807" y="431469"/>
                </a:lnTo>
                <a:lnTo>
                  <a:pt x="729894" y="450157"/>
                </a:lnTo>
                <a:lnTo>
                  <a:pt x="767271" y="377982"/>
                </a:lnTo>
                <a:lnTo>
                  <a:pt x="731183" y="359294"/>
                </a:lnTo>
                <a:close/>
              </a:path>
              <a:path w="929639" h="508000">
                <a:moveTo>
                  <a:pt x="768560" y="287117"/>
                </a:moveTo>
                <a:lnTo>
                  <a:pt x="731183" y="359294"/>
                </a:lnTo>
                <a:lnTo>
                  <a:pt x="767271" y="377982"/>
                </a:lnTo>
                <a:lnTo>
                  <a:pt x="729894" y="450157"/>
                </a:lnTo>
                <a:lnTo>
                  <a:pt x="887265" y="450157"/>
                </a:lnTo>
                <a:lnTo>
                  <a:pt x="768560" y="287117"/>
                </a:lnTo>
                <a:close/>
              </a:path>
              <a:path w="929639" h="508000">
                <a:moveTo>
                  <a:pt x="37376" y="0"/>
                </a:moveTo>
                <a:lnTo>
                  <a:pt x="0" y="72176"/>
                </a:lnTo>
                <a:lnTo>
                  <a:pt x="693807" y="431469"/>
                </a:lnTo>
                <a:lnTo>
                  <a:pt x="731183" y="359294"/>
                </a:lnTo>
                <a:lnTo>
                  <a:pt x="37376" y="0"/>
                </a:lnTo>
                <a:close/>
              </a:path>
            </a:pathLst>
          </a:custGeom>
          <a:solidFill>
            <a:srgbClr val="93A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13654" y="3066288"/>
            <a:ext cx="13912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200731" y="2138232"/>
          <a:ext cx="2007869" cy="1950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7191247" y="2784407"/>
            <a:ext cx="2048510" cy="358140"/>
          </a:xfrm>
          <a:custGeom>
            <a:avLst/>
            <a:gdLst/>
            <a:ahLst/>
            <a:cxnLst/>
            <a:rect l="l" t="t" r="r" b="b"/>
            <a:pathLst>
              <a:path w="2048509" h="358139">
                <a:moveTo>
                  <a:pt x="0" y="59606"/>
                </a:moveTo>
                <a:lnTo>
                  <a:pt x="4684" y="36404"/>
                </a:lnTo>
                <a:lnTo>
                  <a:pt x="17458" y="17458"/>
                </a:lnTo>
                <a:lnTo>
                  <a:pt x="36404" y="4684"/>
                </a:lnTo>
                <a:lnTo>
                  <a:pt x="59606" y="0"/>
                </a:lnTo>
                <a:lnTo>
                  <a:pt x="1988649" y="0"/>
                </a:lnTo>
                <a:lnTo>
                  <a:pt x="2011850" y="4684"/>
                </a:lnTo>
                <a:lnTo>
                  <a:pt x="2030797" y="17458"/>
                </a:lnTo>
                <a:lnTo>
                  <a:pt x="2043571" y="36404"/>
                </a:lnTo>
                <a:lnTo>
                  <a:pt x="2048255" y="59606"/>
                </a:lnTo>
                <a:lnTo>
                  <a:pt x="2048255" y="298025"/>
                </a:lnTo>
                <a:lnTo>
                  <a:pt x="2043571" y="321227"/>
                </a:lnTo>
                <a:lnTo>
                  <a:pt x="2030797" y="340173"/>
                </a:lnTo>
                <a:lnTo>
                  <a:pt x="2011850" y="352947"/>
                </a:lnTo>
                <a:lnTo>
                  <a:pt x="1988649" y="357631"/>
                </a:lnTo>
                <a:lnTo>
                  <a:pt x="59606" y="357631"/>
                </a:lnTo>
                <a:lnTo>
                  <a:pt x="36404" y="352947"/>
                </a:lnTo>
                <a:lnTo>
                  <a:pt x="17458" y="340173"/>
                </a:lnTo>
                <a:lnTo>
                  <a:pt x="4684" y="321227"/>
                </a:lnTo>
                <a:lnTo>
                  <a:pt x="0" y="298025"/>
                </a:lnTo>
                <a:lnTo>
                  <a:pt x="0" y="59606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91247" y="3450903"/>
            <a:ext cx="2048510" cy="358140"/>
          </a:xfrm>
          <a:custGeom>
            <a:avLst/>
            <a:gdLst/>
            <a:ahLst/>
            <a:cxnLst/>
            <a:rect l="l" t="t" r="r" b="b"/>
            <a:pathLst>
              <a:path w="2048509" h="358139">
                <a:moveTo>
                  <a:pt x="0" y="59606"/>
                </a:moveTo>
                <a:lnTo>
                  <a:pt x="4684" y="36404"/>
                </a:lnTo>
                <a:lnTo>
                  <a:pt x="17458" y="17458"/>
                </a:lnTo>
                <a:lnTo>
                  <a:pt x="36404" y="4684"/>
                </a:lnTo>
                <a:lnTo>
                  <a:pt x="59606" y="0"/>
                </a:lnTo>
                <a:lnTo>
                  <a:pt x="1988649" y="0"/>
                </a:lnTo>
                <a:lnTo>
                  <a:pt x="2011850" y="4684"/>
                </a:lnTo>
                <a:lnTo>
                  <a:pt x="2030797" y="17458"/>
                </a:lnTo>
                <a:lnTo>
                  <a:pt x="2043571" y="36404"/>
                </a:lnTo>
                <a:lnTo>
                  <a:pt x="2048255" y="59606"/>
                </a:lnTo>
                <a:lnTo>
                  <a:pt x="2048255" y="298025"/>
                </a:lnTo>
                <a:lnTo>
                  <a:pt x="2043571" y="321227"/>
                </a:lnTo>
                <a:lnTo>
                  <a:pt x="2030797" y="340173"/>
                </a:lnTo>
                <a:lnTo>
                  <a:pt x="2011850" y="352947"/>
                </a:lnTo>
                <a:lnTo>
                  <a:pt x="1988649" y="357631"/>
                </a:lnTo>
                <a:lnTo>
                  <a:pt x="59606" y="357631"/>
                </a:lnTo>
                <a:lnTo>
                  <a:pt x="36404" y="352947"/>
                </a:lnTo>
                <a:lnTo>
                  <a:pt x="17458" y="340173"/>
                </a:lnTo>
                <a:lnTo>
                  <a:pt x="4684" y="321227"/>
                </a:lnTo>
                <a:lnTo>
                  <a:pt x="0" y="298025"/>
                </a:lnTo>
                <a:lnTo>
                  <a:pt x="0" y="59606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93264" y="2374432"/>
            <a:ext cx="929640" cy="508000"/>
          </a:xfrm>
          <a:custGeom>
            <a:avLst/>
            <a:gdLst/>
            <a:ahLst/>
            <a:cxnLst/>
            <a:rect l="l" t="t" r="r" b="b"/>
            <a:pathLst>
              <a:path w="929640" h="508000">
                <a:moveTo>
                  <a:pt x="693807" y="431468"/>
                </a:moveTo>
                <a:lnTo>
                  <a:pt x="656429" y="503645"/>
                </a:lnTo>
                <a:lnTo>
                  <a:pt x="929024" y="507511"/>
                </a:lnTo>
                <a:lnTo>
                  <a:pt x="887265" y="450156"/>
                </a:lnTo>
                <a:lnTo>
                  <a:pt x="729894" y="450156"/>
                </a:lnTo>
                <a:lnTo>
                  <a:pt x="693807" y="431468"/>
                </a:lnTo>
                <a:close/>
              </a:path>
              <a:path w="929640" h="508000">
                <a:moveTo>
                  <a:pt x="731183" y="359292"/>
                </a:moveTo>
                <a:lnTo>
                  <a:pt x="693807" y="431468"/>
                </a:lnTo>
                <a:lnTo>
                  <a:pt x="729894" y="450156"/>
                </a:lnTo>
                <a:lnTo>
                  <a:pt x="767271" y="377981"/>
                </a:lnTo>
                <a:lnTo>
                  <a:pt x="731183" y="359292"/>
                </a:lnTo>
                <a:close/>
              </a:path>
              <a:path w="929640" h="508000">
                <a:moveTo>
                  <a:pt x="768560" y="287116"/>
                </a:moveTo>
                <a:lnTo>
                  <a:pt x="731183" y="359292"/>
                </a:lnTo>
                <a:lnTo>
                  <a:pt x="767271" y="377981"/>
                </a:lnTo>
                <a:lnTo>
                  <a:pt x="729894" y="450156"/>
                </a:lnTo>
                <a:lnTo>
                  <a:pt x="887265" y="450156"/>
                </a:lnTo>
                <a:lnTo>
                  <a:pt x="768560" y="287116"/>
                </a:lnTo>
                <a:close/>
              </a:path>
              <a:path w="929640" h="508000">
                <a:moveTo>
                  <a:pt x="37376" y="0"/>
                </a:moveTo>
                <a:lnTo>
                  <a:pt x="0" y="72175"/>
                </a:lnTo>
                <a:lnTo>
                  <a:pt x="693807" y="431468"/>
                </a:lnTo>
                <a:lnTo>
                  <a:pt x="731183" y="359292"/>
                </a:lnTo>
                <a:lnTo>
                  <a:pt x="37376" y="0"/>
                </a:lnTo>
                <a:close/>
              </a:path>
            </a:pathLst>
          </a:custGeom>
          <a:solidFill>
            <a:srgbClr val="93A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91319" y="3467159"/>
            <a:ext cx="931544" cy="571500"/>
          </a:xfrm>
          <a:custGeom>
            <a:avLst/>
            <a:gdLst/>
            <a:ahLst/>
            <a:cxnLst/>
            <a:rect l="l" t="t" r="r" b="b"/>
            <a:pathLst>
              <a:path w="931545" h="571500">
                <a:moveTo>
                  <a:pt x="700258" y="88783"/>
                </a:moveTo>
                <a:lnTo>
                  <a:pt x="0" y="501435"/>
                </a:lnTo>
                <a:lnTo>
                  <a:pt x="41264" y="571460"/>
                </a:lnTo>
                <a:lnTo>
                  <a:pt x="741523" y="158808"/>
                </a:lnTo>
                <a:lnTo>
                  <a:pt x="700258" y="88783"/>
                </a:lnTo>
                <a:close/>
              </a:path>
              <a:path w="931545" h="571500">
                <a:moveTo>
                  <a:pt x="886838" y="68150"/>
                </a:moveTo>
                <a:lnTo>
                  <a:pt x="735271" y="68150"/>
                </a:lnTo>
                <a:lnTo>
                  <a:pt x="776536" y="138175"/>
                </a:lnTo>
                <a:lnTo>
                  <a:pt x="741523" y="158808"/>
                </a:lnTo>
                <a:lnTo>
                  <a:pt x="782788" y="228834"/>
                </a:lnTo>
                <a:lnTo>
                  <a:pt x="886838" y="68150"/>
                </a:lnTo>
                <a:close/>
              </a:path>
              <a:path w="931545" h="571500">
                <a:moveTo>
                  <a:pt x="735271" y="68150"/>
                </a:moveTo>
                <a:lnTo>
                  <a:pt x="700258" y="88783"/>
                </a:lnTo>
                <a:lnTo>
                  <a:pt x="741523" y="158808"/>
                </a:lnTo>
                <a:lnTo>
                  <a:pt x="776536" y="138175"/>
                </a:lnTo>
                <a:lnTo>
                  <a:pt x="735271" y="68150"/>
                </a:lnTo>
                <a:close/>
              </a:path>
              <a:path w="931545" h="571500">
                <a:moveTo>
                  <a:pt x="930968" y="0"/>
                </a:moveTo>
                <a:lnTo>
                  <a:pt x="658992" y="18756"/>
                </a:lnTo>
                <a:lnTo>
                  <a:pt x="700258" y="88783"/>
                </a:lnTo>
                <a:lnTo>
                  <a:pt x="735271" y="68150"/>
                </a:lnTo>
                <a:lnTo>
                  <a:pt x="886838" y="68150"/>
                </a:lnTo>
                <a:lnTo>
                  <a:pt x="930968" y="0"/>
                </a:lnTo>
                <a:close/>
              </a:path>
            </a:pathLst>
          </a:custGeom>
          <a:solidFill>
            <a:srgbClr val="93A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02294" y="3051047"/>
            <a:ext cx="12731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natural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8106" y="5383105"/>
            <a:ext cx="8218805" cy="140208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300" b="1" spc="3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4799" y="2560887"/>
          <a:ext cx="2007869" cy="1300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77115" y="1580108"/>
          <a:ext cx="1317625" cy="1300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marR="25463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R="259079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R="25907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R="259079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77115" y="3568759"/>
          <a:ext cx="1316355" cy="975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009079" y="2459286"/>
            <a:ext cx="931544" cy="571500"/>
          </a:xfrm>
          <a:custGeom>
            <a:avLst/>
            <a:gdLst/>
            <a:ahLst/>
            <a:cxnLst/>
            <a:rect l="l" t="t" r="r" b="b"/>
            <a:pathLst>
              <a:path w="931545" h="571500">
                <a:moveTo>
                  <a:pt x="700258" y="88783"/>
                </a:moveTo>
                <a:lnTo>
                  <a:pt x="0" y="501435"/>
                </a:lnTo>
                <a:lnTo>
                  <a:pt x="41264" y="571461"/>
                </a:lnTo>
                <a:lnTo>
                  <a:pt x="741523" y="158808"/>
                </a:lnTo>
                <a:lnTo>
                  <a:pt x="700258" y="88783"/>
                </a:lnTo>
                <a:close/>
              </a:path>
              <a:path w="931545" h="571500">
                <a:moveTo>
                  <a:pt x="886838" y="68150"/>
                </a:moveTo>
                <a:lnTo>
                  <a:pt x="735271" y="68150"/>
                </a:lnTo>
                <a:lnTo>
                  <a:pt x="776536" y="138175"/>
                </a:lnTo>
                <a:lnTo>
                  <a:pt x="741523" y="158808"/>
                </a:lnTo>
                <a:lnTo>
                  <a:pt x="782788" y="228834"/>
                </a:lnTo>
                <a:lnTo>
                  <a:pt x="886838" y="68150"/>
                </a:lnTo>
                <a:close/>
              </a:path>
              <a:path w="931545" h="571500">
                <a:moveTo>
                  <a:pt x="735271" y="68150"/>
                </a:moveTo>
                <a:lnTo>
                  <a:pt x="700258" y="88783"/>
                </a:lnTo>
                <a:lnTo>
                  <a:pt x="741523" y="158808"/>
                </a:lnTo>
                <a:lnTo>
                  <a:pt x="776536" y="138175"/>
                </a:lnTo>
                <a:lnTo>
                  <a:pt x="735271" y="68150"/>
                </a:lnTo>
                <a:close/>
              </a:path>
              <a:path w="931545" h="571500">
                <a:moveTo>
                  <a:pt x="930968" y="0"/>
                </a:moveTo>
                <a:lnTo>
                  <a:pt x="658992" y="18757"/>
                </a:lnTo>
                <a:lnTo>
                  <a:pt x="700258" y="88783"/>
                </a:lnTo>
                <a:lnTo>
                  <a:pt x="735271" y="68150"/>
                </a:lnTo>
                <a:lnTo>
                  <a:pt x="886838" y="68150"/>
                </a:lnTo>
                <a:lnTo>
                  <a:pt x="930968" y="0"/>
                </a:lnTo>
                <a:close/>
              </a:path>
            </a:pathLst>
          </a:custGeom>
          <a:solidFill>
            <a:srgbClr val="93A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11023" y="3431071"/>
            <a:ext cx="929640" cy="508000"/>
          </a:xfrm>
          <a:custGeom>
            <a:avLst/>
            <a:gdLst/>
            <a:ahLst/>
            <a:cxnLst/>
            <a:rect l="l" t="t" r="r" b="b"/>
            <a:pathLst>
              <a:path w="929639" h="508000">
                <a:moveTo>
                  <a:pt x="693807" y="431468"/>
                </a:moveTo>
                <a:lnTo>
                  <a:pt x="656429" y="503645"/>
                </a:lnTo>
                <a:lnTo>
                  <a:pt x="929024" y="507511"/>
                </a:lnTo>
                <a:lnTo>
                  <a:pt x="887265" y="450156"/>
                </a:lnTo>
                <a:lnTo>
                  <a:pt x="729894" y="450156"/>
                </a:lnTo>
                <a:lnTo>
                  <a:pt x="693807" y="431468"/>
                </a:lnTo>
                <a:close/>
              </a:path>
              <a:path w="929639" h="508000">
                <a:moveTo>
                  <a:pt x="731183" y="359292"/>
                </a:moveTo>
                <a:lnTo>
                  <a:pt x="693807" y="431468"/>
                </a:lnTo>
                <a:lnTo>
                  <a:pt x="729894" y="450156"/>
                </a:lnTo>
                <a:lnTo>
                  <a:pt x="767271" y="377981"/>
                </a:lnTo>
                <a:lnTo>
                  <a:pt x="731183" y="359292"/>
                </a:lnTo>
                <a:close/>
              </a:path>
              <a:path w="929639" h="508000">
                <a:moveTo>
                  <a:pt x="768560" y="287116"/>
                </a:moveTo>
                <a:lnTo>
                  <a:pt x="731183" y="359292"/>
                </a:lnTo>
                <a:lnTo>
                  <a:pt x="767271" y="377981"/>
                </a:lnTo>
                <a:lnTo>
                  <a:pt x="729894" y="450156"/>
                </a:lnTo>
                <a:lnTo>
                  <a:pt x="887265" y="450156"/>
                </a:lnTo>
                <a:lnTo>
                  <a:pt x="768560" y="287116"/>
                </a:lnTo>
                <a:close/>
              </a:path>
              <a:path w="929639" h="508000">
                <a:moveTo>
                  <a:pt x="37376" y="0"/>
                </a:moveTo>
                <a:lnTo>
                  <a:pt x="0" y="72175"/>
                </a:lnTo>
                <a:lnTo>
                  <a:pt x="693807" y="431468"/>
                </a:lnTo>
                <a:lnTo>
                  <a:pt x="731183" y="359292"/>
                </a:lnTo>
                <a:lnTo>
                  <a:pt x="37376" y="0"/>
                </a:lnTo>
                <a:close/>
              </a:path>
            </a:pathLst>
          </a:custGeom>
          <a:solidFill>
            <a:srgbClr val="93A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13654" y="3066288"/>
            <a:ext cx="13912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200731" y="2577143"/>
          <a:ext cx="2007869" cy="1300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7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693264" y="2374431"/>
            <a:ext cx="929640" cy="508000"/>
          </a:xfrm>
          <a:custGeom>
            <a:avLst/>
            <a:gdLst/>
            <a:ahLst/>
            <a:cxnLst/>
            <a:rect l="l" t="t" r="r" b="b"/>
            <a:pathLst>
              <a:path w="929640" h="508000">
                <a:moveTo>
                  <a:pt x="693806" y="431469"/>
                </a:moveTo>
                <a:lnTo>
                  <a:pt x="656429" y="503645"/>
                </a:lnTo>
                <a:lnTo>
                  <a:pt x="929024" y="507511"/>
                </a:lnTo>
                <a:lnTo>
                  <a:pt x="887266" y="450157"/>
                </a:lnTo>
                <a:lnTo>
                  <a:pt x="729894" y="450157"/>
                </a:lnTo>
                <a:lnTo>
                  <a:pt x="693806" y="431469"/>
                </a:lnTo>
                <a:close/>
              </a:path>
              <a:path w="929640" h="508000">
                <a:moveTo>
                  <a:pt x="731183" y="359292"/>
                </a:moveTo>
                <a:lnTo>
                  <a:pt x="693806" y="431469"/>
                </a:lnTo>
                <a:lnTo>
                  <a:pt x="729894" y="450157"/>
                </a:lnTo>
                <a:lnTo>
                  <a:pt x="767271" y="377981"/>
                </a:lnTo>
                <a:lnTo>
                  <a:pt x="731183" y="359292"/>
                </a:lnTo>
                <a:close/>
              </a:path>
              <a:path w="929640" h="508000">
                <a:moveTo>
                  <a:pt x="768560" y="287116"/>
                </a:moveTo>
                <a:lnTo>
                  <a:pt x="731183" y="359292"/>
                </a:lnTo>
                <a:lnTo>
                  <a:pt x="767271" y="377981"/>
                </a:lnTo>
                <a:lnTo>
                  <a:pt x="729894" y="450157"/>
                </a:lnTo>
                <a:lnTo>
                  <a:pt x="887266" y="450157"/>
                </a:lnTo>
                <a:lnTo>
                  <a:pt x="768560" y="287116"/>
                </a:lnTo>
                <a:close/>
              </a:path>
              <a:path w="929640" h="508000">
                <a:moveTo>
                  <a:pt x="37376" y="0"/>
                </a:moveTo>
                <a:lnTo>
                  <a:pt x="0" y="72175"/>
                </a:lnTo>
                <a:lnTo>
                  <a:pt x="693806" y="431469"/>
                </a:lnTo>
                <a:lnTo>
                  <a:pt x="731183" y="359292"/>
                </a:lnTo>
                <a:lnTo>
                  <a:pt x="37376" y="0"/>
                </a:lnTo>
                <a:close/>
              </a:path>
            </a:pathLst>
          </a:custGeom>
          <a:solidFill>
            <a:srgbClr val="93A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91319" y="3467158"/>
            <a:ext cx="931544" cy="571500"/>
          </a:xfrm>
          <a:custGeom>
            <a:avLst/>
            <a:gdLst/>
            <a:ahLst/>
            <a:cxnLst/>
            <a:rect l="l" t="t" r="r" b="b"/>
            <a:pathLst>
              <a:path w="931545" h="571500">
                <a:moveTo>
                  <a:pt x="700258" y="88783"/>
                </a:moveTo>
                <a:lnTo>
                  <a:pt x="0" y="501435"/>
                </a:lnTo>
                <a:lnTo>
                  <a:pt x="41264" y="571461"/>
                </a:lnTo>
                <a:lnTo>
                  <a:pt x="741523" y="158808"/>
                </a:lnTo>
                <a:lnTo>
                  <a:pt x="700258" y="88783"/>
                </a:lnTo>
                <a:close/>
              </a:path>
              <a:path w="931545" h="571500">
                <a:moveTo>
                  <a:pt x="886838" y="68150"/>
                </a:moveTo>
                <a:lnTo>
                  <a:pt x="735271" y="68150"/>
                </a:lnTo>
                <a:lnTo>
                  <a:pt x="776536" y="138175"/>
                </a:lnTo>
                <a:lnTo>
                  <a:pt x="741523" y="158808"/>
                </a:lnTo>
                <a:lnTo>
                  <a:pt x="782788" y="228834"/>
                </a:lnTo>
                <a:lnTo>
                  <a:pt x="886838" y="68150"/>
                </a:lnTo>
                <a:close/>
              </a:path>
              <a:path w="931545" h="571500">
                <a:moveTo>
                  <a:pt x="735271" y="68150"/>
                </a:moveTo>
                <a:lnTo>
                  <a:pt x="700258" y="88783"/>
                </a:lnTo>
                <a:lnTo>
                  <a:pt x="741523" y="158808"/>
                </a:lnTo>
                <a:lnTo>
                  <a:pt x="776536" y="138175"/>
                </a:lnTo>
                <a:lnTo>
                  <a:pt x="735271" y="68150"/>
                </a:lnTo>
                <a:close/>
              </a:path>
              <a:path w="931545" h="571500">
                <a:moveTo>
                  <a:pt x="930968" y="0"/>
                </a:moveTo>
                <a:lnTo>
                  <a:pt x="658992" y="18757"/>
                </a:lnTo>
                <a:lnTo>
                  <a:pt x="700258" y="88783"/>
                </a:lnTo>
                <a:lnTo>
                  <a:pt x="735271" y="68150"/>
                </a:lnTo>
                <a:lnTo>
                  <a:pt x="886838" y="68150"/>
                </a:lnTo>
                <a:lnTo>
                  <a:pt x="930968" y="0"/>
                </a:lnTo>
                <a:close/>
              </a:path>
            </a:pathLst>
          </a:custGeom>
          <a:solidFill>
            <a:srgbClr val="93A2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02294" y="3051047"/>
            <a:ext cx="12731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natural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44799" y="136991"/>
            <a:ext cx="336550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70" dirty="0"/>
              <a:t>Let’s</a:t>
            </a:r>
            <a:r>
              <a:rPr sz="3900" spc="-215" dirty="0"/>
              <a:t> </a:t>
            </a:r>
            <a:r>
              <a:rPr sz="3900" spc="-55" dirty="0"/>
              <a:t>Try</a:t>
            </a:r>
            <a:r>
              <a:rPr sz="3900" spc="-204" dirty="0"/>
              <a:t> </a:t>
            </a:r>
            <a:r>
              <a:rPr sz="3900" spc="-55" dirty="0"/>
              <a:t>(2)</a:t>
            </a:r>
            <a:endParaRPr sz="3900" dirty="0"/>
          </a:p>
        </p:txBody>
      </p:sp>
      <p:sp>
        <p:nvSpPr>
          <p:cNvPr id="12" name="object 12"/>
          <p:cNvSpPr txBox="1"/>
          <p:nvPr/>
        </p:nvSpPr>
        <p:spPr>
          <a:xfrm>
            <a:off x="938106" y="5383105"/>
            <a:ext cx="8218805" cy="140208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225425" rIns="0" bIns="0" rtlCol="0">
            <a:spAutoFit/>
          </a:bodyPr>
          <a:lstStyle/>
          <a:p>
            <a:pPr marR="180340" algn="ctr">
              <a:lnSpc>
                <a:spcPct val="100000"/>
              </a:lnSpc>
              <a:spcBef>
                <a:spcPts val="1775"/>
              </a:spcBef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Yes</a:t>
            </a:r>
            <a:endParaRPr sz="2300">
              <a:latin typeface="Verdana"/>
              <a:cs typeface="Verdana"/>
            </a:endParaRPr>
          </a:p>
          <a:p>
            <a:pPr marR="168275" algn="ctr">
              <a:lnSpc>
                <a:spcPct val="100000"/>
              </a:lnSpc>
              <a:spcBef>
                <a:spcPts val="101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(AB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Times New Roman"/>
                <a:cs typeface="Times New Roman"/>
              </a:rPr>
              <a:t>∩</a:t>
            </a:r>
            <a:r>
              <a:rPr sz="2100" spc="229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BC)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4799" y="764031"/>
            <a:ext cx="792416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-70" dirty="0">
                <a:solidFill>
                  <a:srgbClr val="000099"/>
                </a:solidFill>
                <a:latin typeface="Verdana"/>
                <a:cs typeface="Verdana"/>
              </a:rPr>
              <a:t>Lossless</a:t>
            </a:r>
            <a:r>
              <a:rPr sz="3900" b="1" spc="-210" dirty="0">
                <a:solidFill>
                  <a:srgbClr val="000099"/>
                </a:solidFill>
                <a:latin typeface="Verdana"/>
                <a:cs typeface="Verdana"/>
              </a:rPr>
              <a:t> </a:t>
            </a:r>
            <a:r>
              <a:rPr sz="3900" b="1" spc="-70" dirty="0">
                <a:solidFill>
                  <a:srgbClr val="000099"/>
                </a:solidFill>
                <a:latin typeface="Verdana"/>
                <a:cs typeface="Verdana"/>
              </a:rPr>
              <a:t>Join</a:t>
            </a:r>
            <a:r>
              <a:rPr sz="3900" b="1" spc="-204" dirty="0">
                <a:solidFill>
                  <a:srgbClr val="000099"/>
                </a:solidFill>
                <a:latin typeface="Verdana"/>
                <a:cs typeface="Verdana"/>
              </a:rPr>
              <a:t> </a:t>
            </a:r>
            <a:r>
              <a:rPr sz="3900" b="1" spc="-80" dirty="0">
                <a:solidFill>
                  <a:srgbClr val="000099"/>
                </a:solidFill>
                <a:latin typeface="Verdana"/>
                <a:cs typeface="Verdana"/>
              </a:rPr>
              <a:t>decomposition?</a:t>
            </a:r>
            <a:endParaRPr sz="39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304800"/>
            <a:ext cx="414909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Normalization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296415"/>
            <a:ext cx="9187815" cy="458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1NF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: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atomic,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flat</a:t>
            </a:r>
            <a:endParaRPr sz="21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218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2NF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1NF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partial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[outdated]</a:t>
            </a:r>
            <a:endParaRPr sz="21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218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3NF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2NF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lossless-join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preserving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[our</a:t>
            </a:r>
            <a:r>
              <a:rPr sz="2100" i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5" dirty="0">
                <a:solidFill>
                  <a:srgbClr val="292934"/>
                </a:solidFill>
                <a:latin typeface="Verdana"/>
                <a:cs typeface="Verdana"/>
              </a:rPr>
              <a:t>focus]</a:t>
            </a:r>
            <a:endParaRPr sz="21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218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BCNF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1NF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lossless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free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[our</a:t>
            </a:r>
            <a:r>
              <a:rPr sz="2100" i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5" dirty="0">
                <a:solidFill>
                  <a:srgbClr val="292934"/>
                </a:solidFill>
                <a:latin typeface="Verdana"/>
                <a:cs typeface="Verdana"/>
              </a:rPr>
              <a:t>focus]</a:t>
            </a:r>
            <a:endParaRPr sz="21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216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4NF:</a:t>
            </a:r>
            <a:r>
              <a:rPr sz="2100" b="1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multi-valued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[out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5" dirty="0">
                <a:solidFill>
                  <a:srgbClr val="7F7F7F"/>
                </a:solidFill>
                <a:latin typeface="Verdana"/>
                <a:cs typeface="Verdana"/>
              </a:rPr>
              <a:t>of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 CS</a:t>
            </a:r>
            <a:r>
              <a:rPr sz="2100" i="1" spc="2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47</a:t>
            </a:r>
            <a:r>
              <a:rPr lang="en-US" sz="2100" i="1" spc="15" dirty="0">
                <a:solidFill>
                  <a:srgbClr val="7F7F7F"/>
                </a:solidFill>
                <a:latin typeface="Verdana"/>
                <a:cs typeface="Verdana"/>
              </a:rPr>
              <a:t>1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0</a:t>
            </a:r>
            <a:r>
              <a:rPr sz="2100" i="1" spc="2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scope]</a:t>
            </a:r>
            <a:endParaRPr sz="21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92934"/>
              </a:buClr>
              <a:buFont typeface="Arial MT"/>
              <a:buChar char="•"/>
            </a:pPr>
            <a:endParaRPr sz="1850" dirty="0">
              <a:latin typeface="Verdana"/>
              <a:cs typeface="Verdana"/>
            </a:endParaRPr>
          </a:p>
          <a:p>
            <a:pPr marL="207645" marR="5080" indent="-195580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5NF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: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4NF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further non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loss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[out </a:t>
            </a:r>
            <a:r>
              <a:rPr sz="2100" i="1" spc="5" dirty="0">
                <a:solidFill>
                  <a:srgbClr val="7F7F7F"/>
                </a:solidFill>
                <a:latin typeface="Verdana"/>
                <a:cs typeface="Verdana"/>
              </a:rPr>
              <a:t>of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CS </a:t>
            </a:r>
            <a:r>
              <a:rPr sz="2100" i="1" spc="-72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47</a:t>
            </a:r>
            <a:r>
              <a:rPr lang="en-US" sz="2100" i="1" spc="15" dirty="0">
                <a:solidFill>
                  <a:srgbClr val="7F7F7F"/>
                </a:solidFill>
                <a:latin typeface="Verdana"/>
                <a:cs typeface="Verdana"/>
              </a:rPr>
              <a:t>1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0</a:t>
            </a:r>
            <a:r>
              <a:rPr sz="2100" i="1" spc="2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scope</a:t>
            </a:r>
            <a:r>
              <a:rPr sz="2100" i="1" spc="20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7F7F7F"/>
                </a:solidFill>
                <a:latin typeface="Verdana"/>
                <a:cs typeface="Verdana"/>
              </a:rPr>
              <a:t>–</a:t>
            </a:r>
            <a:r>
              <a:rPr sz="2100" i="1" spc="30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5" dirty="0">
                <a:solidFill>
                  <a:srgbClr val="7F7F7F"/>
                </a:solidFill>
                <a:latin typeface="Verdana"/>
                <a:cs typeface="Verdana"/>
              </a:rPr>
              <a:t>too</a:t>
            </a:r>
            <a:r>
              <a:rPr sz="2100" i="1" spc="2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complicated]</a:t>
            </a:r>
            <a:endParaRPr sz="2100" dirty="0">
              <a:latin typeface="Verdana"/>
              <a:cs typeface="Verdana"/>
            </a:endParaRPr>
          </a:p>
          <a:p>
            <a:pPr marL="207645" marR="348615" indent="-195580">
              <a:lnSpc>
                <a:spcPct val="103800"/>
              </a:lnSpc>
              <a:spcBef>
                <a:spcPts val="206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6NF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5NF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[out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5" dirty="0">
                <a:solidFill>
                  <a:srgbClr val="7F7F7F"/>
                </a:solidFill>
                <a:latin typeface="Verdana"/>
                <a:cs typeface="Verdana"/>
              </a:rPr>
              <a:t>of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CS</a:t>
            </a:r>
            <a:r>
              <a:rPr sz="2100" i="1" spc="2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4</a:t>
            </a:r>
            <a:r>
              <a:rPr lang="en-US" sz="2100" i="1" spc="15" dirty="0">
                <a:solidFill>
                  <a:srgbClr val="7F7F7F"/>
                </a:solidFill>
                <a:latin typeface="Verdana"/>
                <a:cs typeface="Verdana"/>
              </a:rPr>
              <a:t>1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0 </a:t>
            </a:r>
            <a:r>
              <a:rPr sz="2100" i="1" spc="-720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scope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7F7F7F"/>
                </a:solidFill>
                <a:latin typeface="Verdana"/>
                <a:cs typeface="Verdana"/>
              </a:rPr>
              <a:t>–</a:t>
            </a:r>
            <a:r>
              <a:rPr sz="2100" i="1" spc="30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5" dirty="0">
                <a:solidFill>
                  <a:srgbClr val="7F7F7F"/>
                </a:solidFill>
                <a:latin typeface="Verdana"/>
                <a:cs typeface="Verdana"/>
              </a:rPr>
              <a:t>somewhat</a:t>
            </a:r>
            <a:r>
              <a:rPr sz="2100" i="1" spc="20" dirty="0">
                <a:solidFill>
                  <a:srgbClr val="7F7F7F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7F7F7F"/>
                </a:solidFill>
                <a:latin typeface="Verdana"/>
                <a:cs typeface="Verdana"/>
              </a:rPr>
              <a:t>unrealistic]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6279" y="3654552"/>
            <a:ext cx="4873752" cy="7559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06612" y="3685123"/>
            <a:ext cx="636905" cy="324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Fun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c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4960" y="3685123"/>
            <a:ext cx="2695575" cy="324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tional</a:t>
            </a:r>
            <a:r>
              <a:rPr sz="2100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dependencies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103" y="260651"/>
            <a:ext cx="72212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Fi</a:t>
            </a:r>
            <a:r>
              <a:rPr spc="-125" dirty="0"/>
              <a:t>rs</a:t>
            </a:r>
            <a:r>
              <a:rPr dirty="0"/>
              <a:t>t</a:t>
            </a:r>
            <a:r>
              <a:rPr spc="-245" dirty="0"/>
              <a:t> </a:t>
            </a:r>
            <a:r>
              <a:rPr spc="-140" dirty="0"/>
              <a:t>N</a:t>
            </a:r>
            <a:r>
              <a:rPr spc="-130" dirty="0"/>
              <a:t>o</a:t>
            </a:r>
            <a:r>
              <a:rPr spc="-125" dirty="0"/>
              <a:t>r</a:t>
            </a:r>
            <a:r>
              <a:rPr spc="-140" dirty="0"/>
              <a:t>m</a:t>
            </a:r>
            <a:r>
              <a:rPr spc="-125" dirty="0"/>
              <a:t>a</a:t>
            </a:r>
            <a:r>
              <a:rPr dirty="0"/>
              <a:t>l</a:t>
            </a:r>
            <a:r>
              <a:rPr spc="-250" dirty="0"/>
              <a:t> </a:t>
            </a:r>
            <a:r>
              <a:rPr spc="-130" dirty="0"/>
              <a:t>For</a:t>
            </a:r>
            <a:r>
              <a:rPr dirty="0"/>
              <a:t>m</a:t>
            </a:r>
            <a:r>
              <a:rPr spc="-265" dirty="0"/>
              <a:t> </a:t>
            </a:r>
            <a:r>
              <a:rPr spc="-125" dirty="0"/>
              <a:t>(1</a:t>
            </a:r>
            <a:r>
              <a:rPr spc="-140" dirty="0"/>
              <a:t>N</a:t>
            </a:r>
            <a:r>
              <a:rPr spc="-130" dirty="0"/>
              <a:t>F)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2839" y="1085087"/>
            <a:ext cx="8742680" cy="151003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225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attribute/column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atomic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23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13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domain</a:t>
            </a:r>
            <a:endParaRPr sz="23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15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matter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7496" y="4240268"/>
            <a:ext cx="422909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7366" y="4240268"/>
            <a:ext cx="136334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915669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333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0542" y="4240268"/>
            <a:ext cx="928369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333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3333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21660" y="4240268"/>
            <a:ext cx="1732914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Computer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Science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17496" y="4542020"/>
            <a:ext cx="50482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nn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2443" y="4542020"/>
            <a:ext cx="127825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83058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444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0542" y="4542020"/>
            <a:ext cx="928369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444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4444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21660" y="4542020"/>
            <a:ext cx="1732914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Computer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Science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68117" y="3304719"/>
          <a:ext cx="8772520" cy="2767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46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17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02361">
                <a:tc gridSpan="2"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361"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111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111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013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Science,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Math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365">
                <a:tc rowSpan="2"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ts val="1115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222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222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115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1125" algn="ctr">
                        <a:lnSpc>
                          <a:spcPts val="1115"/>
                        </a:lnSpc>
                        <a:spcBef>
                          <a:spcPts val="1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Biology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179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134">
                <a:tc>
                  <a:txBody>
                    <a:bodyPr/>
                    <a:lstStyle/>
                    <a:p>
                      <a:pPr algn="r">
                        <a:lnSpc>
                          <a:spcPts val="17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EDEEF0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EDEEF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00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EDEEF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EDEEF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71">
                <a:tc>
                  <a:txBody>
                    <a:bodyPr/>
                    <a:lstStyle/>
                    <a:p>
                      <a:pPr algn="r">
                        <a:lnSpc>
                          <a:spcPts val="173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EDEEF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EDEEF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111-111-1111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EDEEF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546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sz="15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Science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361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111-111-1111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Math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36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222-222-2222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Biology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36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333-333-3333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546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sz="15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Science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36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444-444-4444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546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Computer</a:t>
                      </a:r>
                      <a:r>
                        <a:rPr sz="15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Science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1438785" y="4540078"/>
            <a:ext cx="8058784" cy="693420"/>
            <a:chOff x="1438785" y="4540078"/>
            <a:chExt cx="8058784" cy="693420"/>
          </a:xfrm>
        </p:grpSpPr>
        <p:sp>
          <p:nvSpPr>
            <p:cNvPr id="17" name="object 17"/>
            <p:cNvSpPr/>
            <p:nvPr/>
          </p:nvSpPr>
          <p:spPr>
            <a:xfrm>
              <a:off x="6347741" y="4554171"/>
              <a:ext cx="3124835" cy="665480"/>
            </a:xfrm>
            <a:custGeom>
              <a:avLst/>
              <a:gdLst/>
              <a:ahLst/>
              <a:cxnLst/>
              <a:rect l="l" t="t" r="r" b="b"/>
              <a:pathLst>
                <a:path w="3124834" h="665479">
                  <a:moveTo>
                    <a:pt x="0" y="110840"/>
                  </a:moveTo>
                  <a:lnTo>
                    <a:pt x="8710" y="67696"/>
                  </a:lnTo>
                  <a:lnTo>
                    <a:pt x="32464" y="32464"/>
                  </a:lnTo>
                  <a:lnTo>
                    <a:pt x="67695" y="8710"/>
                  </a:lnTo>
                  <a:lnTo>
                    <a:pt x="110839" y="0"/>
                  </a:lnTo>
                  <a:lnTo>
                    <a:pt x="3013926" y="0"/>
                  </a:lnTo>
                  <a:lnTo>
                    <a:pt x="3057070" y="8710"/>
                  </a:lnTo>
                  <a:lnTo>
                    <a:pt x="3092301" y="32464"/>
                  </a:lnTo>
                  <a:lnTo>
                    <a:pt x="3116055" y="67696"/>
                  </a:lnTo>
                  <a:lnTo>
                    <a:pt x="3124765" y="110840"/>
                  </a:lnTo>
                  <a:lnTo>
                    <a:pt x="3124765" y="554180"/>
                  </a:lnTo>
                  <a:lnTo>
                    <a:pt x="3116055" y="597324"/>
                  </a:lnTo>
                  <a:lnTo>
                    <a:pt x="3092301" y="632556"/>
                  </a:lnTo>
                  <a:lnTo>
                    <a:pt x="3057070" y="656310"/>
                  </a:lnTo>
                  <a:lnTo>
                    <a:pt x="3013926" y="665020"/>
                  </a:lnTo>
                  <a:lnTo>
                    <a:pt x="110839" y="665020"/>
                  </a:lnTo>
                  <a:lnTo>
                    <a:pt x="67695" y="656310"/>
                  </a:lnTo>
                  <a:lnTo>
                    <a:pt x="32464" y="632556"/>
                  </a:lnTo>
                  <a:lnTo>
                    <a:pt x="8710" y="597324"/>
                  </a:lnTo>
                  <a:lnTo>
                    <a:pt x="0" y="554180"/>
                  </a:lnTo>
                  <a:lnTo>
                    <a:pt x="0" y="11084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52878" y="4554171"/>
              <a:ext cx="8030845" cy="665480"/>
            </a:xfrm>
            <a:custGeom>
              <a:avLst/>
              <a:gdLst/>
              <a:ahLst/>
              <a:cxnLst/>
              <a:rect l="l" t="t" r="r" b="b"/>
              <a:pathLst>
                <a:path w="8030845" h="665479">
                  <a:moveTo>
                    <a:pt x="0" y="110841"/>
                  </a:moveTo>
                  <a:lnTo>
                    <a:pt x="8710" y="67696"/>
                  </a:lnTo>
                  <a:lnTo>
                    <a:pt x="32464" y="32464"/>
                  </a:lnTo>
                  <a:lnTo>
                    <a:pt x="67696" y="8710"/>
                  </a:lnTo>
                  <a:lnTo>
                    <a:pt x="110840" y="0"/>
                  </a:lnTo>
                  <a:lnTo>
                    <a:pt x="7919624" y="0"/>
                  </a:lnTo>
                  <a:lnTo>
                    <a:pt x="7962768" y="8710"/>
                  </a:lnTo>
                  <a:lnTo>
                    <a:pt x="7998000" y="32464"/>
                  </a:lnTo>
                  <a:lnTo>
                    <a:pt x="8021754" y="67696"/>
                  </a:lnTo>
                  <a:lnTo>
                    <a:pt x="8030464" y="110841"/>
                  </a:lnTo>
                  <a:lnTo>
                    <a:pt x="8030464" y="554179"/>
                  </a:lnTo>
                  <a:lnTo>
                    <a:pt x="8021754" y="597323"/>
                  </a:lnTo>
                  <a:lnTo>
                    <a:pt x="7998000" y="632556"/>
                  </a:lnTo>
                  <a:lnTo>
                    <a:pt x="7962768" y="656310"/>
                  </a:lnTo>
                  <a:lnTo>
                    <a:pt x="7919624" y="665020"/>
                  </a:lnTo>
                  <a:lnTo>
                    <a:pt x="110840" y="665020"/>
                  </a:lnTo>
                  <a:lnTo>
                    <a:pt x="67696" y="656310"/>
                  </a:lnTo>
                  <a:lnTo>
                    <a:pt x="32464" y="632556"/>
                  </a:lnTo>
                  <a:lnTo>
                    <a:pt x="8710" y="597323"/>
                  </a:lnTo>
                  <a:lnTo>
                    <a:pt x="0" y="554179"/>
                  </a:lnTo>
                  <a:lnTo>
                    <a:pt x="0" y="110841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0103" y="6811771"/>
            <a:ext cx="76301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Suppose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8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 that</a:t>
            </a:r>
            <a:r>
              <a:rPr sz="18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 be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18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departments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119" y="192237"/>
            <a:ext cx="80467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</a:t>
            </a:r>
            <a:r>
              <a:rPr spc="-125" dirty="0"/>
              <a:t>e</a:t>
            </a:r>
            <a:r>
              <a:rPr spc="-135" dirty="0"/>
              <a:t>c</a:t>
            </a:r>
            <a:r>
              <a:rPr spc="-130" dirty="0"/>
              <a:t>o</a:t>
            </a:r>
            <a:r>
              <a:rPr spc="-135" dirty="0"/>
              <a:t>n</a:t>
            </a:r>
            <a:r>
              <a:rPr dirty="0"/>
              <a:t>d</a:t>
            </a:r>
            <a:r>
              <a:rPr spc="-250" dirty="0"/>
              <a:t> </a:t>
            </a:r>
            <a:r>
              <a:rPr spc="-140" dirty="0"/>
              <a:t>N</a:t>
            </a:r>
            <a:r>
              <a:rPr spc="-130" dirty="0"/>
              <a:t>o</a:t>
            </a:r>
            <a:r>
              <a:rPr spc="-125" dirty="0"/>
              <a:t>r</a:t>
            </a:r>
            <a:r>
              <a:rPr spc="-140" dirty="0"/>
              <a:t>m</a:t>
            </a:r>
            <a:r>
              <a:rPr spc="-125" dirty="0"/>
              <a:t>a</a:t>
            </a:r>
            <a:r>
              <a:rPr dirty="0"/>
              <a:t>l</a:t>
            </a:r>
            <a:r>
              <a:rPr spc="-250" dirty="0"/>
              <a:t> </a:t>
            </a:r>
            <a:r>
              <a:rPr spc="-135" dirty="0"/>
              <a:t>F</a:t>
            </a:r>
            <a:r>
              <a:rPr spc="-130" dirty="0"/>
              <a:t>o</a:t>
            </a:r>
            <a:r>
              <a:rPr spc="-125" dirty="0"/>
              <a:t>r</a:t>
            </a:r>
            <a:r>
              <a:rPr dirty="0"/>
              <a:t>m</a:t>
            </a:r>
            <a:r>
              <a:rPr spc="-265" dirty="0"/>
              <a:t> </a:t>
            </a:r>
            <a:r>
              <a:rPr spc="-125" dirty="0"/>
              <a:t>(2</a:t>
            </a:r>
            <a:r>
              <a:rPr spc="-140" dirty="0"/>
              <a:t>N</a:t>
            </a:r>
            <a:r>
              <a:rPr spc="-135" dirty="0"/>
              <a:t>F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225296"/>
            <a:ext cx="912749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1NF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C00000"/>
                </a:solidFill>
                <a:latin typeface="Verdana"/>
                <a:cs typeface="Verdana"/>
              </a:rPr>
              <a:t>no</a:t>
            </a:r>
            <a:r>
              <a:rPr sz="23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partial</a:t>
            </a: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 dependency</a:t>
            </a:r>
            <a:r>
              <a:rPr sz="23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(FDs)</a:t>
            </a:r>
            <a:endParaRPr sz="2300">
              <a:latin typeface="Verdana"/>
              <a:cs typeface="Verdana"/>
            </a:endParaRPr>
          </a:p>
          <a:p>
            <a:pPr marL="3853815">
              <a:lnSpc>
                <a:spcPct val="100000"/>
              </a:lnSpc>
              <a:spcBef>
                <a:spcPts val="198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Suppose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also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instructor</a:t>
            </a:r>
            <a:endParaRPr sz="19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34610" y="2745889"/>
          <a:ext cx="6965315" cy="21165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3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grade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instructor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B+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A-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 dirty="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 dirty="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 dirty="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517903" y="2689444"/>
            <a:ext cx="3124835" cy="2261235"/>
          </a:xfrm>
          <a:custGeom>
            <a:avLst/>
            <a:gdLst/>
            <a:ahLst/>
            <a:cxnLst/>
            <a:rect l="l" t="t" r="r" b="b"/>
            <a:pathLst>
              <a:path w="3124835" h="2261235">
                <a:moveTo>
                  <a:pt x="0" y="376845"/>
                </a:moveTo>
                <a:lnTo>
                  <a:pt x="2936" y="329574"/>
                </a:lnTo>
                <a:lnTo>
                  <a:pt x="11509" y="284055"/>
                </a:lnTo>
                <a:lnTo>
                  <a:pt x="25365" y="240642"/>
                </a:lnTo>
                <a:lnTo>
                  <a:pt x="44153" y="199688"/>
                </a:lnTo>
                <a:lnTo>
                  <a:pt x="67517" y="161545"/>
                </a:lnTo>
                <a:lnTo>
                  <a:pt x="95106" y="126567"/>
                </a:lnTo>
                <a:lnTo>
                  <a:pt x="126567" y="95107"/>
                </a:lnTo>
                <a:lnTo>
                  <a:pt x="161545" y="67518"/>
                </a:lnTo>
                <a:lnTo>
                  <a:pt x="199688" y="44153"/>
                </a:lnTo>
                <a:lnTo>
                  <a:pt x="240642" y="25365"/>
                </a:lnTo>
                <a:lnTo>
                  <a:pt x="284055" y="11509"/>
                </a:lnTo>
                <a:lnTo>
                  <a:pt x="329573" y="2936"/>
                </a:lnTo>
                <a:lnTo>
                  <a:pt x="376844" y="0"/>
                </a:lnTo>
                <a:lnTo>
                  <a:pt x="2747921" y="0"/>
                </a:lnTo>
                <a:lnTo>
                  <a:pt x="2795191" y="2936"/>
                </a:lnTo>
                <a:lnTo>
                  <a:pt x="2840710" y="11509"/>
                </a:lnTo>
                <a:lnTo>
                  <a:pt x="2884123" y="25365"/>
                </a:lnTo>
                <a:lnTo>
                  <a:pt x="2925077" y="44153"/>
                </a:lnTo>
                <a:lnTo>
                  <a:pt x="2963220" y="67518"/>
                </a:lnTo>
                <a:lnTo>
                  <a:pt x="2998198" y="95107"/>
                </a:lnTo>
                <a:lnTo>
                  <a:pt x="3029658" y="126567"/>
                </a:lnTo>
                <a:lnTo>
                  <a:pt x="3057247" y="161545"/>
                </a:lnTo>
                <a:lnTo>
                  <a:pt x="3080612" y="199688"/>
                </a:lnTo>
                <a:lnTo>
                  <a:pt x="3099399" y="240642"/>
                </a:lnTo>
                <a:lnTo>
                  <a:pt x="3113256" y="284055"/>
                </a:lnTo>
                <a:lnTo>
                  <a:pt x="3121829" y="329574"/>
                </a:lnTo>
                <a:lnTo>
                  <a:pt x="3124765" y="376845"/>
                </a:lnTo>
                <a:lnTo>
                  <a:pt x="3124765" y="1884184"/>
                </a:lnTo>
                <a:lnTo>
                  <a:pt x="3121829" y="1931455"/>
                </a:lnTo>
                <a:lnTo>
                  <a:pt x="3113256" y="1976973"/>
                </a:lnTo>
                <a:lnTo>
                  <a:pt x="3099399" y="2020386"/>
                </a:lnTo>
                <a:lnTo>
                  <a:pt x="3080612" y="2061341"/>
                </a:lnTo>
                <a:lnTo>
                  <a:pt x="3057247" y="2099484"/>
                </a:lnTo>
                <a:lnTo>
                  <a:pt x="3029658" y="2134462"/>
                </a:lnTo>
                <a:lnTo>
                  <a:pt x="2998198" y="2165922"/>
                </a:lnTo>
                <a:lnTo>
                  <a:pt x="2963220" y="2193511"/>
                </a:lnTo>
                <a:lnTo>
                  <a:pt x="2925077" y="2216876"/>
                </a:lnTo>
                <a:lnTo>
                  <a:pt x="2884123" y="2235663"/>
                </a:lnTo>
                <a:lnTo>
                  <a:pt x="2840710" y="2249520"/>
                </a:lnTo>
                <a:lnTo>
                  <a:pt x="2795191" y="2258093"/>
                </a:lnTo>
                <a:lnTo>
                  <a:pt x="2747921" y="2261029"/>
                </a:lnTo>
                <a:lnTo>
                  <a:pt x="376844" y="2261029"/>
                </a:lnTo>
                <a:lnTo>
                  <a:pt x="329573" y="2258093"/>
                </a:lnTo>
                <a:lnTo>
                  <a:pt x="284055" y="2249520"/>
                </a:lnTo>
                <a:lnTo>
                  <a:pt x="240642" y="2235663"/>
                </a:lnTo>
                <a:lnTo>
                  <a:pt x="199688" y="2216876"/>
                </a:lnTo>
                <a:lnTo>
                  <a:pt x="161545" y="2193511"/>
                </a:lnTo>
                <a:lnTo>
                  <a:pt x="126567" y="2165922"/>
                </a:lnTo>
                <a:lnTo>
                  <a:pt x="95106" y="2134462"/>
                </a:lnTo>
                <a:lnTo>
                  <a:pt x="67517" y="2099484"/>
                </a:lnTo>
                <a:lnTo>
                  <a:pt x="44153" y="2061341"/>
                </a:lnTo>
                <a:lnTo>
                  <a:pt x="25365" y="2020386"/>
                </a:lnTo>
                <a:lnTo>
                  <a:pt x="11509" y="1976973"/>
                </a:lnTo>
                <a:lnTo>
                  <a:pt x="2936" y="1931455"/>
                </a:lnTo>
                <a:lnTo>
                  <a:pt x="0" y="1884184"/>
                </a:lnTo>
                <a:lnTo>
                  <a:pt x="0" y="376845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5616" y="5208016"/>
            <a:ext cx="8524240" cy="201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 marR="307975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simplify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name: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(A,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D),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C,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  <a:p>
            <a:pPr marL="659765" marR="5080">
              <a:lnSpc>
                <a:spcPct val="109500"/>
              </a:lnSpc>
              <a:spcBef>
                <a:spcPts val="160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key,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depends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“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Partial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”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many-to-many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33345" y="2235942"/>
            <a:ext cx="4221480" cy="459740"/>
            <a:chOff x="3133345" y="2235942"/>
            <a:chExt cx="4221480" cy="459740"/>
          </a:xfrm>
        </p:grpSpPr>
        <p:sp>
          <p:nvSpPr>
            <p:cNvPr id="8" name="object 8"/>
            <p:cNvSpPr/>
            <p:nvPr/>
          </p:nvSpPr>
          <p:spPr>
            <a:xfrm>
              <a:off x="3133345" y="2481548"/>
              <a:ext cx="3597275" cy="205740"/>
            </a:xfrm>
            <a:custGeom>
              <a:avLst/>
              <a:gdLst/>
              <a:ahLst/>
              <a:cxnLst/>
              <a:rect l="l" t="t" r="r" b="b"/>
              <a:pathLst>
                <a:path w="3597275" h="205739">
                  <a:moveTo>
                    <a:pt x="3562007" y="0"/>
                  </a:moveTo>
                  <a:lnTo>
                    <a:pt x="4549" y="0"/>
                  </a:lnTo>
                  <a:lnTo>
                    <a:pt x="0" y="4549"/>
                  </a:lnTo>
                  <a:lnTo>
                    <a:pt x="0" y="205404"/>
                  </a:lnTo>
                  <a:lnTo>
                    <a:pt x="20319" y="205404"/>
                  </a:lnTo>
                  <a:lnTo>
                    <a:pt x="20319" y="20320"/>
                  </a:lnTo>
                  <a:lnTo>
                    <a:pt x="10160" y="20320"/>
                  </a:lnTo>
                  <a:lnTo>
                    <a:pt x="20319" y="10160"/>
                  </a:lnTo>
                  <a:lnTo>
                    <a:pt x="3566556" y="10160"/>
                  </a:lnTo>
                  <a:lnTo>
                    <a:pt x="3566556" y="4549"/>
                  </a:lnTo>
                  <a:lnTo>
                    <a:pt x="3562007" y="0"/>
                  </a:lnTo>
                  <a:close/>
                </a:path>
                <a:path w="3597275" h="205739">
                  <a:moveTo>
                    <a:pt x="3546236" y="110568"/>
                  </a:moveTo>
                  <a:lnTo>
                    <a:pt x="3515756" y="110568"/>
                  </a:lnTo>
                  <a:lnTo>
                    <a:pt x="3556396" y="191848"/>
                  </a:lnTo>
                  <a:lnTo>
                    <a:pt x="3590262" y="124115"/>
                  </a:lnTo>
                  <a:lnTo>
                    <a:pt x="3546236" y="124115"/>
                  </a:lnTo>
                  <a:lnTo>
                    <a:pt x="3546236" y="110568"/>
                  </a:lnTo>
                  <a:close/>
                </a:path>
                <a:path w="3597275" h="205739">
                  <a:moveTo>
                    <a:pt x="3546236" y="10160"/>
                  </a:moveTo>
                  <a:lnTo>
                    <a:pt x="3546236" y="124115"/>
                  </a:lnTo>
                  <a:lnTo>
                    <a:pt x="3566556" y="124115"/>
                  </a:lnTo>
                  <a:lnTo>
                    <a:pt x="3566556" y="20320"/>
                  </a:lnTo>
                  <a:lnTo>
                    <a:pt x="3556396" y="20320"/>
                  </a:lnTo>
                  <a:lnTo>
                    <a:pt x="3546236" y="10160"/>
                  </a:lnTo>
                  <a:close/>
                </a:path>
                <a:path w="3597275" h="205739">
                  <a:moveTo>
                    <a:pt x="3597036" y="110568"/>
                  </a:moveTo>
                  <a:lnTo>
                    <a:pt x="3566556" y="110568"/>
                  </a:lnTo>
                  <a:lnTo>
                    <a:pt x="3566556" y="124115"/>
                  </a:lnTo>
                  <a:lnTo>
                    <a:pt x="3590262" y="124115"/>
                  </a:lnTo>
                  <a:lnTo>
                    <a:pt x="3597036" y="110568"/>
                  </a:lnTo>
                  <a:close/>
                </a:path>
                <a:path w="3597275" h="205739">
                  <a:moveTo>
                    <a:pt x="20319" y="10160"/>
                  </a:moveTo>
                  <a:lnTo>
                    <a:pt x="10160" y="20320"/>
                  </a:lnTo>
                  <a:lnTo>
                    <a:pt x="20319" y="20320"/>
                  </a:lnTo>
                  <a:lnTo>
                    <a:pt x="20319" y="10160"/>
                  </a:lnTo>
                  <a:close/>
                </a:path>
                <a:path w="3597275" h="205739">
                  <a:moveTo>
                    <a:pt x="3546236" y="10160"/>
                  </a:moveTo>
                  <a:lnTo>
                    <a:pt x="20319" y="10160"/>
                  </a:lnTo>
                  <a:lnTo>
                    <a:pt x="20319" y="20320"/>
                  </a:lnTo>
                  <a:lnTo>
                    <a:pt x="3546236" y="20320"/>
                  </a:lnTo>
                  <a:lnTo>
                    <a:pt x="3546236" y="10160"/>
                  </a:lnTo>
                  <a:close/>
                </a:path>
                <a:path w="3597275" h="205739">
                  <a:moveTo>
                    <a:pt x="3566556" y="10160"/>
                  </a:moveTo>
                  <a:lnTo>
                    <a:pt x="3546236" y="10160"/>
                  </a:lnTo>
                  <a:lnTo>
                    <a:pt x="3556396" y="20320"/>
                  </a:lnTo>
                  <a:lnTo>
                    <a:pt x="3566556" y="20320"/>
                  </a:lnTo>
                  <a:lnTo>
                    <a:pt x="3566556" y="101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82784" y="2235942"/>
              <a:ext cx="3272154" cy="459740"/>
            </a:xfrm>
            <a:custGeom>
              <a:avLst/>
              <a:gdLst/>
              <a:ahLst/>
              <a:cxnLst/>
              <a:rect l="l" t="t" r="r" b="b"/>
              <a:pathLst>
                <a:path w="3272154" h="459739">
                  <a:moveTo>
                    <a:pt x="30479" y="368284"/>
                  </a:moveTo>
                  <a:lnTo>
                    <a:pt x="0" y="368284"/>
                  </a:lnTo>
                  <a:lnTo>
                    <a:pt x="0" y="459724"/>
                  </a:lnTo>
                  <a:lnTo>
                    <a:pt x="30479" y="459724"/>
                  </a:lnTo>
                  <a:lnTo>
                    <a:pt x="30479" y="368284"/>
                  </a:lnTo>
                  <a:close/>
                </a:path>
                <a:path w="3272154" h="459739">
                  <a:moveTo>
                    <a:pt x="30479" y="246364"/>
                  </a:moveTo>
                  <a:lnTo>
                    <a:pt x="0" y="246364"/>
                  </a:lnTo>
                  <a:lnTo>
                    <a:pt x="0" y="337804"/>
                  </a:lnTo>
                  <a:lnTo>
                    <a:pt x="30479" y="337804"/>
                  </a:lnTo>
                  <a:lnTo>
                    <a:pt x="30479" y="246364"/>
                  </a:lnTo>
                  <a:close/>
                </a:path>
                <a:path w="3272154" h="459739">
                  <a:moveTo>
                    <a:pt x="30479" y="124444"/>
                  </a:moveTo>
                  <a:lnTo>
                    <a:pt x="0" y="124444"/>
                  </a:lnTo>
                  <a:lnTo>
                    <a:pt x="0" y="215884"/>
                  </a:lnTo>
                  <a:lnTo>
                    <a:pt x="30479" y="215884"/>
                  </a:lnTo>
                  <a:lnTo>
                    <a:pt x="30479" y="124444"/>
                  </a:lnTo>
                  <a:close/>
                </a:path>
                <a:path w="3272154" h="459739">
                  <a:moveTo>
                    <a:pt x="27956" y="0"/>
                  </a:moveTo>
                  <a:lnTo>
                    <a:pt x="6823" y="0"/>
                  </a:lnTo>
                  <a:lnTo>
                    <a:pt x="0" y="6823"/>
                  </a:lnTo>
                  <a:lnTo>
                    <a:pt x="0" y="93964"/>
                  </a:lnTo>
                  <a:lnTo>
                    <a:pt x="30479" y="93964"/>
                  </a:lnTo>
                  <a:lnTo>
                    <a:pt x="30479" y="30480"/>
                  </a:lnTo>
                  <a:lnTo>
                    <a:pt x="15239" y="30480"/>
                  </a:lnTo>
                  <a:lnTo>
                    <a:pt x="27956" y="17763"/>
                  </a:lnTo>
                  <a:lnTo>
                    <a:pt x="27956" y="0"/>
                  </a:lnTo>
                  <a:close/>
                </a:path>
                <a:path w="3272154" h="459739">
                  <a:moveTo>
                    <a:pt x="27956" y="17763"/>
                  </a:moveTo>
                  <a:lnTo>
                    <a:pt x="15239" y="30480"/>
                  </a:lnTo>
                  <a:lnTo>
                    <a:pt x="27956" y="30480"/>
                  </a:lnTo>
                  <a:lnTo>
                    <a:pt x="27956" y="17763"/>
                  </a:lnTo>
                  <a:close/>
                </a:path>
                <a:path w="3272154" h="459739">
                  <a:moveTo>
                    <a:pt x="30479" y="15240"/>
                  </a:moveTo>
                  <a:lnTo>
                    <a:pt x="27956" y="17763"/>
                  </a:lnTo>
                  <a:lnTo>
                    <a:pt x="27956" y="30480"/>
                  </a:lnTo>
                  <a:lnTo>
                    <a:pt x="30479" y="30480"/>
                  </a:lnTo>
                  <a:lnTo>
                    <a:pt x="30479" y="15240"/>
                  </a:lnTo>
                  <a:close/>
                </a:path>
                <a:path w="3272154" h="459739">
                  <a:moveTo>
                    <a:pt x="149876" y="0"/>
                  </a:moveTo>
                  <a:lnTo>
                    <a:pt x="58436" y="0"/>
                  </a:lnTo>
                  <a:lnTo>
                    <a:pt x="58436" y="30480"/>
                  </a:lnTo>
                  <a:lnTo>
                    <a:pt x="149876" y="30480"/>
                  </a:lnTo>
                  <a:lnTo>
                    <a:pt x="149876" y="0"/>
                  </a:lnTo>
                  <a:close/>
                </a:path>
                <a:path w="3272154" h="459739">
                  <a:moveTo>
                    <a:pt x="271796" y="0"/>
                  </a:moveTo>
                  <a:lnTo>
                    <a:pt x="180356" y="0"/>
                  </a:lnTo>
                  <a:lnTo>
                    <a:pt x="180356" y="30480"/>
                  </a:lnTo>
                  <a:lnTo>
                    <a:pt x="271796" y="30480"/>
                  </a:lnTo>
                  <a:lnTo>
                    <a:pt x="271796" y="0"/>
                  </a:lnTo>
                  <a:close/>
                </a:path>
                <a:path w="3272154" h="459739">
                  <a:moveTo>
                    <a:pt x="393716" y="0"/>
                  </a:moveTo>
                  <a:lnTo>
                    <a:pt x="302276" y="0"/>
                  </a:lnTo>
                  <a:lnTo>
                    <a:pt x="302276" y="30480"/>
                  </a:lnTo>
                  <a:lnTo>
                    <a:pt x="393716" y="30480"/>
                  </a:lnTo>
                  <a:lnTo>
                    <a:pt x="393716" y="0"/>
                  </a:lnTo>
                  <a:close/>
                </a:path>
                <a:path w="3272154" h="459739">
                  <a:moveTo>
                    <a:pt x="515636" y="0"/>
                  </a:moveTo>
                  <a:lnTo>
                    <a:pt x="424196" y="0"/>
                  </a:lnTo>
                  <a:lnTo>
                    <a:pt x="424196" y="30480"/>
                  </a:lnTo>
                  <a:lnTo>
                    <a:pt x="515636" y="30480"/>
                  </a:lnTo>
                  <a:lnTo>
                    <a:pt x="515636" y="0"/>
                  </a:lnTo>
                  <a:close/>
                </a:path>
                <a:path w="3272154" h="459739">
                  <a:moveTo>
                    <a:pt x="637556" y="0"/>
                  </a:moveTo>
                  <a:lnTo>
                    <a:pt x="546116" y="0"/>
                  </a:lnTo>
                  <a:lnTo>
                    <a:pt x="546116" y="30480"/>
                  </a:lnTo>
                  <a:lnTo>
                    <a:pt x="637556" y="30480"/>
                  </a:lnTo>
                  <a:lnTo>
                    <a:pt x="637556" y="0"/>
                  </a:lnTo>
                  <a:close/>
                </a:path>
                <a:path w="3272154" h="459739">
                  <a:moveTo>
                    <a:pt x="759476" y="0"/>
                  </a:moveTo>
                  <a:lnTo>
                    <a:pt x="668036" y="0"/>
                  </a:lnTo>
                  <a:lnTo>
                    <a:pt x="668036" y="30480"/>
                  </a:lnTo>
                  <a:lnTo>
                    <a:pt x="759476" y="30480"/>
                  </a:lnTo>
                  <a:lnTo>
                    <a:pt x="759476" y="0"/>
                  </a:lnTo>
                  <a:close/>
                </a:path>
                <a:path w="3272154" h="459739">
                  <a:moveTo>
                    <a:pt x="881396" y="0"/>
                  </a:moveTo>
                  <a:lnTo>
                    <a:pt x="789956" y="0"/>
                  </a:lnTo>
                  <a:lnTo>
                    <a:pt x="789956" y="30480"/>
                  </a:lnTo>
                  <a:lnTo>
                    <a:pt x="881396" y="30480"/>
                  </a:lnTo>
                  <a:lnTo>
                    <a:pt x="881396" y="0"/>
                  </a:lnTo>
                  <a:close/>
                </a:path>
                <a:path w="3272154" h="459739">
                  <a:moveTo>
                    <a:pt x="1003316" y="0"/>
                  </a:moveTo>
                  <a:lnTo>
                    <a:pt x="911876" y="0"/>
                  </a:lnTo>
                  <a:lnTo>
                    <a:pt x="911876" y="30480"/>
                  </a:lnTo>
                  <a:lnTo>
                    <a:pt x="1003316" y="30480"/>
                  </a:lnTo>
                  <a:lnTo>
                    <a:pt x="1003316" y="0"/>
                  </a:lnTo>
                  <a:close/>
                </a:path>
                <a:path w="3272154" h="459739">
                  <a:moveTo>
                    <a:pt x="1125236" y="0"/>
                  </a:moveTo>
                  <a:lnTo>
                    <a:pt x="1033796" y="0"/>
                  </a:lnTo>
                  <a:lnTo>
                    <a:pt x="1033796" y="30480"/>
                  </a:lnTo>
                  <a:lnTo>
                    <a:pt x="1125236" y="30480"/>
                  </a:lnTo>
                  <a:lnTo>
                    <a:pt x="1125236" y="0"/>
                  </a:lnTo>
                  <a:close/>
                </a:path>
                <a:path w="3272154" h="459739">
                  <a:moveTo>
                    <a:pt x="1247156" y="0"/>
                  </a:moveTo>
                  <a:lnTo>
                    <a:pt x="1155716" y="0"/>
                  </a:lnTo>
                  <a:lnTo>
                    <a:pt x="1155716" y="30480"/>
                  </a:lnTo>
                  <a:lnTo>
                    <a:pt x="1247156" y="30480"/>
                  </a:lnTo>
                  <a:lnTo>
                    <a:pt x="1247156" y="0"/>
                  </a:lnTo>
                  <a:close/>
                </a:path>
                <a:path w="3272154" h="459739">
                  <a:moveTo>
                    <a:pt x="1369076" y="0"/>
                  </a:moveTo>
                  <a:lnTo>
                    <a:pt x="1277636" y="0"/>
                  </a:lnTo>
                  <a:lnTo>
                    <a:pt x="1277636" y="30480"/>
                  </a:lnTo>
                  <a:lnTo>
                    <a:pt x="1369076" y="30480"/>
                  </a:lnTo>
                  <a:lnTo>
                    <a:pt x="1369076" y="0"/>
                  </a:lnTo>
                  <a:close/>
                </a:path>
                <a:path w="3272154" h="459739">
                  <a:moveTo>
                    <a:pt x="1490996" y="0"/>
                  </a:moveTo>
                  <a:lnTo>
                    <a:pt x="1399556" y="0"/>
                  </a:lnTo>
                  <a:lnTo>
                    <a:pt x="1399556" y="30480"/>
                  </a:lnTo>
                  <a:lnTo>
                    <a:pt x="1490996" y="30480"/>
                  </a:lnTo>
                  <a:lnTo>
                    <a:pt x="1490996" y="0"/>
                  </a:lnTo>
                  <a:close/>
                </a:path>
                <a:path w="3272154" h="459739">
                  <a:moveTo>
                    <a:pt x="1612916" y="0"/>
                  </a:moveTo>
                  <a:lnTo>
                    <a:pt x="1521476" y="0"/>
                  </a:lnTo>
                  <a:lnTo>
                    <a:pt x="1521476" y="30480"/>
                  </a:lnTo>
                  <a:lnTo>
                    <a:pt x="1612916" y="30480"/>
                  </a:lnTo>
                  <a:lnTo>
                    <a:pt x="1612916" y="0"/>
                  </a:lnTo>
                  <a:close/>
                </a:path>
                <a:path w="3272154" h="459739">
                  <a:moveTo>
                    <a:pt x="1734836" y="0"/>
                  </a:moveTo>
                  <a:lnTo>
                    <a:pt x="1643396" y="0"/>
                  </a:lnTo>
                  <a:lnTo>
                    <a:pt x="1643396" y="30480"/>
                  </a:lnTo>
                  <a:lnTo>
                    <a:pt x="1734836" y="30480"/>
                  </a:lnTo>
                  <a:lnTo>
                    <a:pt x="1734836" y="0"/>
                  </a:lnTo>
                  <a:close/>
                </a:path>
                <a:path w="3272154" h="459739">
                  <a:moveTo>
                    <a:pt x="1856756" y="0"/>
                  </a:moveTo>
                  <a:lnTo>
                    <a:pt x="1765316" y="0"/>
                  </a:lnTo>
                  <a:lnTo>
                    <a:pt x="1765316" y="30480"/>
                  </a:lnTo>
                  <a:lnTo>
                    <a:pt x="1856756" y="30480"/>
                  </a:lnTo>
                  <a:lnTo>
                    <a:pt x="1856756" y="0"/>
                  </a:lnTo>
                  <a:close/>
                </a:path>
                <a:path w="3272154" h="459739">
                  <a:moveTo>
                    <a:pt x="1978676" y="0"/>
                  </a:moveTo>
                  <a:lnTo>
                    <a:pt x="1887236" y="0"/>
                  </a:lnTo>
                  <a:lnTo>
                    <a:pt x="1887236" y="30480"/>
                  </a:lnTo>
                  <a:lnTo>
                    <a:pt x="1978676" y="30480"/>
                  </a:lnTo>
                  <a:lnTo>
                    <a:pt x="1978676" y="0"/>
                  </a:lnTo>
                  <a:close/>
                </a:path>
                <a:path w="3272154" h="459739">
                  <a:moveTo>
                    <a:pt x="2100596" y="0"/>
                  </a:moveTo>
                  <a:lnTo>
                    <a:pt x="2009156" y="0"/>
                  </a:lnTo>
                  <a:lnTo>
                    <a:pt x="2009156" y="30480"/>
                  </a:lnTo>
                  <a:lnTo>
                    <a:pt x="2100596" y="30480"/>
                  </a:lnTo>
                  <a:lnTo>
                    <a:pt x="2100596" y="0"/>
                  </a:lnTo>
                  <a:close/>
                </a:path>
                <a:path w="3272154" h="459739">
                  <a:moveTo>
                    <a:pt x="2222516" y="0"/>
                  </a:moveTo>
                  <a:lnTo>
                    <a:pt x="2131076" y="0"/>
                  </a:lnTo>
                  <a:lnTo>
                    <a:pt x="2131076" y="30480"/>
                  </a:lnTo>
                  <a:lnTo>
                    <a:pt x="2222516" y="30480"/>
                  </a:lnTo>
                  <a:lnTo>
                    <a:pt x="2222516" y="0"/>
                  </a:lnTo>
                  <a:close/>
                </a:path>
                <a:path w="3272154" h="459739">
                  <a:moveTo>
                    <a:pt x="2344436" y="0"/>
                  </a:moveTo>
                  <a:lnTo>
                    <a:pt x="2252996" y="0"/>
                  </a:lnTo>
                  <a:lnTo>
                    <a:pt x="2252996" y="30480"/>
                  </a:lnTo>
                  <a:lnTo>
                    <a:pt x="2344436" y="30480"/>
                  </a:lnTo>
                  <a:lnTo>
                    <a:pt x="2344436" y="0"/>
                  </a:lnTo>
                  <a:close/>
                </a:path>
                <a:path w="3272154" h="459739">
                  <a:moveTo>
                    <a:pt x="2466356" y="0"/>
                  </a:moveTo>
                  <a:lnTo>
                    <a:pt x="2374916" y="0"/>
                  </a:lnTo>
                  <a:lnTo>
                    <a:pt x="2374916" y="30480"/>
                  </a:lnTo>
                  <a:lnTo>
                    <a:pt x="2466356" y="30480"/>
                  </a:lnTo>
                  <a:lnTo>
                    <a:pt x="2466356" y="0"/>
                  </a:lnTo>
                  <a:close/>
                </a:path>
                <a:path w="3272154" h="459739">
                  <a:moveTo>
                    <a:pt x="2588276" y="0"/>
                  </a:moveTo>
                  <a:lnTo>
                    <a:pt x="2496836" y="0"/>
                  </a:lnTo>
                  <a:lnTo>
                    <a:pt x="2496836" y="30480"/>
                  </a:lnTo>
                  <a:lnTo>
                    <a:pt x="2588276" y="30480"/>
                  </a:lnTo>
                  <a:lnTo>
                    <a:pt x="2588276" y="0"/>
                  </a:lnTo>
                  <a:close/>
                </a:path>
                <a:path w="3272154" h="459739">
                  <a:moveTo>
                    <a:pt x="2710196" y="0"/>
                  </a:moveTo>
                  <a:lnTo>
                    <a:pt x="2618756" y="0"/>
                  </a:lnTo>
                  <a:lnTo>
                    <a:pt x="2618756" y="30480"/>
                  </a:lnTo>
                  <a:lnTo>
                    <a:pt x="2710196" y="30480"/>
                  </a:lnTo>
                  <a:lnTo>
                    <a:pt x="2710196" y="0"/>
                  </a:lnTo>
                  <a:close/>
                </a:path>
                <a:path w="3272154" h="459739">
                  <a:moveTo>
                    <a:pt x="2832116" y="0"/>
                  </a:moveTo>
                  <a:lnTo>
                    <a:pt x="2740676" y="0"/>
                  </a:lnTo>
                  <a:lnTo>
                    <a:pt x="2740676" y="30480"/>
                  </a:lnTo>
                  <a:lnTo>
                    <a:pt x="2832116" y="30480"/>
                  </a:lnTo>
                  <a:lnTo>
                    <a:pt x="2832116" y="0"/>
                  </a:lnTo>
                  <a:close/>
                </a:path>
                <a:path w="3272154" h="459739">
                  <a:moveTo>
                    <a:pt x="2954036" y="0"/>
                  </a:moveTo>
                  <a:lnTo>
                    <a:pt x="2862596" y="0"/>
                  </a:lnTo>
                  <a:lnTo>
                    <a:pt x="2862596" y="30480"/>
                  </a:lnTo>
                  <a:lnTo>
                    <a:pt x="2954036" y="30480"/>
                  </a:lnTo>
                  <a:lnTo>
                    <a:pt x="2954036" y="0"/>
                  </a:lnTo>
                  <a:close/>
                </a:path>
                <a:path w="3272154" h="459739">
                  <a:moveTo>
                    <a:pt x="3075956" y="0"/>
                  </a:moveTo>
                  <a:lnTo>
                    <a:pt x="2984516" y="0"/>
                  </a:lnTo>
                  <a:lnTo>
                    <a:pt x="2984516" y="30480"/>
                  </a:lnTo>
                  <a:lnTo>
                    <a:pt x="3075956" y="30480"/>
                  </a:lnTo>
                  <a:lnTo>
                    <a:pt x="3075956" y="0"/>
                  </a:lnTo>
                  <a:close/>
                </a:path>
                <a:path w="3272154" h="459739">
                  <a:moveTo>
                    <a:pt x="3197876" y="0"/>
                  </a:moveTo>
                  <a:lnTo>
                    <a:pt x="3106436" y="0"/>
                  </a:lnTo>
                  <a:lnTo>
                    <a:pt x="3106436" y="30480"/>
                  </a:lnTo>
                  <a:lnTo>
                    <a:pt x="3197876" y="30480"/>
                  </a:lnTo>
                  <a:lnTo>
                    <a:pt x="3197876" y="0"/>
                  </a:lnTo>
                  <a:close/>
                </a:path>
                <a:path w="3272154" h="459739">
                  <a:moveTo>
                    <a:pt x="3241391" y="17444"/>
                  </a:moveTo>
                  <a:lnTo>
                    <a:pt x="3210911" y="17444"/>
                  </a:lnTo>
                  <a:lnTo>
                    <a:pt x="3210911" y="108884"/>
                  </a:lnTo>
                  <a:lnTo>
                    <a:pt x="3241391" y="108884"/>
                  </a:lnTo>
                  <a:lnTo>
                    <a:pt x="3241391" y="17444"/>
                  </a:lnTo>
                  <a:close/>
                </a:path>
                <a:path w="3272154" h="459739">
                  <a:moveTo>
                    <a:pt x="3241391" y="139364"/>
                  </a:moveTo>
                  <a:lnTo>
                    <a:pt x="3210911" y="139364"/>
                  </a:lnTo>
                  <a:lnTo>
                    <a:pt x="3210911" y="230804"/>
                  </a:lnTo>
                  <a:lnTo>
                    <a:pt x="3241391" y="230804"/>
                  </a:lnTo>
                  <a:lnTo>
                    <a:pt x="3241391" y="139364"/>
                  </a:lnTo>
                  <a:close/>
                </a:path>
                <a:path w="3272154" h="459739">
                  <a:moveTo>
                    <a:pt x="3241391" y="261284"/>
                  </a:moveTo>
                  <a:lnTo>
                    <a:pt x="3210911" y="261284"/>
                  </a:lnTo>
                  <a:lnTo>
                    <a:pt x="3210911" y="352724"/>
                  </a:lnTo>
                  <a:lnTo>
                    <a:pt x="3241391" y="352724"/>
                  </a:lnTo>
                  <a:lnTo>
                    <a:pt x="3241391" y="261284"/>
                  </a:lnTo>
                  <a:close/>
                </a:path>
                <a:path w="3272154" h="459739">
                  <a:moveTo>
                    <a:pt x="3271871" y="352792"/>
                  </a:moveTo>
                  <a:lnTo>
                    <a:pt x="3180431" y="352792"/>
                  </a:lnTo>
                  <a:lnTo>
                    <a:pt x="3226151" y="444232"/>
                  </a:lnTo>
                  <a:lnTo>
                    <a:pt x="3271871" y="352792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97376" y="2172787"/>
            <a:ext cx="7019290" cy="2287905"/>
            <a:chOff x="1597376" y="2172787"/>
            <a:chExt cx="7019290" cy="2287905"/>
          </a:xfrm>
        </p:grpSpPr>
        <p:sp>
          <p:nvSpPr>
            <p:cNvPr id="3" name="object 3"/>
            <p:cNvSpPr/>
            <p:nvPr/>
          </p:nvSpPr>
          <p:spPr>
            <a:xfrm>
              <a:off x="1624469" y="2186545"/>
              <a:ext cx="6965315" cy="323850"/>
            </a:xfrm>
            <a:custGeom>
              <a:avLst/>
              <a:gdLst/>
              <a:ahLst/>
              <a:cxnLst/>
              <a:rect l="l" t="t" r="r" b="b"/>
              <a:pathLst>
                <a:path w="6965315" h="323850">
                  <a:moveTo>
                    <a:pt x="3095853" y="0"/>
                  </a:moveTo>
                  <a:lnTo>
                    <a:pt x="1876666" y="0"/>
                  </a:lnTo>
                  <a:lnTo>
                    <a:pt x="0" y="0"/>
                  </a:lnTo>
                  <a:lnTo>
                    <a:pt x="0" y="323837"/>
                  </a:lnTo>
                  <a:lnTo>
                    <a:pt x="1876666" y="323837"/>
                  </a:lnTo>
                  <a:lnTo>
                    <a:pt x="3095853" y="323837"/>
                  </a:lnTo>
                  <a:lnTo>
                    <a:pt x="3095853" y="0"/>
                  </a:lnTo>
                  <a:close/>
                </a:path>
                <a:path w="6965315" h="323850">
                  <a:moveTo>
                    <a:pt x="6964781" y="0"/>
                  </a:moveTo>
                  <a:lnTo>
                    <a:pt x="4293209" y="0"/>
                  </a:lnTo>
                  <a:lnTo>
                    <a:pt x="3095866" y="0"/>
                  </a:lnTo>
                  <a:lnTo>
                    <a:pt x="3095866" y="323837"/>
                  </a:lnTo>
                  <a:lnTo>
                    <a:pt x="4293209" y="323837"/>
                  </a:lnTo>
                  <a:lnTo>
                    <a:pt x="6964781" y="323837"/>
                  </a:lnTo>
                  <a:lnTo>
                    <a:pt x="696478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24469" y="2510383"/>
              <a:ext cx="6965315" cy="323850"/>
            </a:xfrm>
            <a:custGeom>
              <a:avLst/>
              <a:gdLst/>
              <a:ahLst/>
              <a:cxnLst/>
              <a:rect l="l" t="t" r="r" b="b"/>
              <a:pathLst>
                <a:path w="6965315" h="323850">
                  <a:moveTo>
                    <a:pt x="3095853" y="0"/>
                  </a:move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53" y="323824"/>
                  </a:lnTo>
                  <a:lnTo>
                    <a:pt x="3095853" y="0"/>
                  </a:lnTo>
                  <a:close/>
                </a:path>
                <a:path w="6965315" h="323850">
                  <a:moveTo>
                    <a:pt x="6964781" y="0"/>
                  </a:moveTo>
                  <a:lnTo>
                    <a:pt x="4293209" y="0"/>
                  </a:lnTo>
                  <a:lnTo>
                    <a:pt x="3095866" y="0"/>
                  </a:lnTo>
                  <a:lnTo>
                    <a:pt x="3095866" y="323824"/>
                  </a:lnTo>
                  <a:lnTo>
                    <a:pt x="4293209" y="323824"/>
                  </a:lnTo>
                  <a:lnTo>
                    <a:pt x="6964781" y="323824"/>
                  </a:lnTo>
                  <a:lnTo>
                    <a:pt x="6964781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4469" y="2834207"/>
              <a:ext cx="6965315" cy="323850"/>
            </a:xfrm>
            <a:custGeom>
              <a:avLst/>
              <a:gdLst/>
              <a:ahLst/>
              <a:cxnLst/>
              <a:rect l="l" t="t" r="r" b="b"/>
              <a:pathLst>
                <a:path w="6965315" h="323850">
                  <a:moveTo>
                    <a:pt x="3095853" y="0"/>
                  </a:moveTo>
                  <a:lnTo>
                    <a:pt x="1876666" y="0"/>
                  </a:lnTo>
                  <a:lnTo>
                    <a:pt x="0" y="0"/>
                  </a:lnTo>
                  <a:lnTo>
                    <a:pt x="0" y="323837"/>
                  </a:lnTo>
                  <a:lnTo>
                    <a:pt x="1876666" y="323837"/>
                  </a:lnTo>
                  <a:lnTo>
                    <a:pt x="3095853" y="323837"/>
                  </a:lnTo>
                  <a:lnTo>
                    <a:pt x="3095853" y="0"/>
                  </a:lnTo>
                  <a:close/>
                </a:path>
                <a:path w="6965315" h="323850">
                  <a:moveTo>
                    <a:pt x="6964781" y="0"/>
                  </a:moveTo>
                  <a:lnTo>
                    <a:pt x="4293209" y="0"/>
                  </a:lnTo>
                  <a:lnTo>
                    <a:pt x="3095866" y="0"/>
                  </a:lnTo>
                  <a:lnTo>
                    <a:pt x="3095866" y="323837"/>
                  </a:lnTo>
                  <a:lnTo>
                    <a:pt x="4293209" y="323837"/>
                  </a:lnTo>
                  <a:lnTo>
                    <a:pt x="6964781" y="323837"/>
                  </a:lnTo>
                  <a:lnTo>
                    <a:pt x="6964781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24469" y="3158045"/>
              <a:ext cx="6965315" cy="323850"/>
            </a:xfrm>
            <a:custGeom>
              <a:avLst/>
              <a:gdLst/>
              <a:ahLst/>
              <a:cxnLst/>
              <a:rect l="l" t="t" r="r" b="b"/>
              <a:pathLst>
                <a:path w="6965315" h="323850">
                  <a:moveTo>
                    <a:pt x="3095853" y="0"/>
                  </a:moveTo>
                  <a:lnTo>
                    <a:pt x="1876666" y="0"/>
                  </a:lnTo>
                  <a:lnTo>
                    <a:pt x="0" y="0"/>
                  </a:lnTo>
                  <a:lnTo>
                    <a:pt x="0" y="267576"/>
                  </a:lnTo>
                  <a:lnTo>
                    <a:pt x="0" y="323824"/>
                  </a:lnTo>
                  <a:lnTo>
                    <a:pt x="950074" y="323824"/>
                  </a:lnTo>
                  <a:lnTo>
                    <a:pt x="950074" y="267576"/>
                  </a:lnTo>
                  <a:lnTo>
                    <a:pt x="1876666" y="267576"/>
                  </a:lnTo>
                  <a:lnTo>
                    <a:pt x="1876666" y="323824"/>
                  </a:lnTo>
                  <a:lnTo>
                    <a:pt x="2169274" y="323824"/>
                  </a:lnTo>
                  <a:lnTo>
                    <a:pt x="2169274" y="267576"/>
                  </a:lnTo>
                  <a:lnTo>
                    <a:pt x="3095853" y="267576"/>
                  </a:lnTo>
                  <a:lnTo>
                    <a:pt x="3095853" y="0"/>
                  </a:lnTo>
                  <a:close/>
                </a:path>
                <a:path w="6965315" h="323850">
                  <a:moveTo>
                    <a:pt x="6964781" y="0"/>
                  </a:moveTo>
                  <a:lnTo>
                    <a:pt x="4293209" y="0"/>
                  </a:lnTo>
                  <a:lnTo>
                    <a:pt x="3095866" y="0"/>
                  </a:lnTo>
                  <a:lnTo>
                    <a:pt x="3095866" y="267576"/>
                  </a:lnTo>
                  <a:lnTo>
                    <a:pt x="3095866" y="323824"/>
                  </a:lnTo>
                  <a:lnTo>
                    <a:pt x="4293209" y="323824"/>
                  </a:lnTo>
                  <a:lnTo>
                    <a:pt x="6964781" y="323824"/>
                  </a:lnTo>
                  <a:lnTo>
                    <a:pt x="6964781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24469" y="3481869"/>
              <a:ext cx="6965315" cy="323850"/>
            </a:xfrm>
            <a:custGeom>
              <a:avLst/>
              <a:gdLst/>
              <a:ahLst/>
              <a:cxnLst/>
              <a:rect l="l" t="t" r="r" b="b"/>
              <a:pathLst>
                <a:path w="6965315" h="323850">
                  <a:moveTo>
                    <a:pt x="950074" y="0"/>
                  </a:moveTo>
                  <a:lnTo>
                    <a:pt x="0" y="0"/>
                  </a:lnTo>
                  <a:lnTo>
                    <a:pt x="0" y="246113"/>
                  </a:lnTo>
                  <a:lnTo>
                    <a:pt x="950074" y="246113"/>
                  </a:lnTo>
                  <a:lnTo>
                    <a:pt x="950074" y="0"/>
                  </a:lnTo>
                  <a:close/>
                </a:path>
                <a:path w="6965315" h="323850">
                  <a:moveTo>
                    <a:pt x="2169274" y="0"/>
                  </a:moveTo>
                  <a:lnTo>
                    <a:pt x="1876666" y="0"/>
                  </a:lnTo>
                  <a:lnTo>
                    <a:pt x="1876666" y="246113"/>
                  </a:lnTo>
                  <a:lnTo>
                    <a:pt x="2169274" y="246113"/>
                  </a:lnTo>
                  <a:lnTo>
                    <a:pt x="2169274" y="0"/>
                  </a:lnTo>
                  <a:close/>
                </a:path>
                <a:path w="6965315" h="323850">
                  <a:moveTo>
                    <a:pt x="6964781" y="0"/>
                  </a:moveTo>
                  <a:lnTo>
                    <a:pt x="4293209" y="0"/>
                  </a:lnTo>
                  <a:lnTo>
                    <a:pt x="3095866" y="0"/>
                  </a:lnTo>
                  <a:lnTo>
                    <a:pt x="3095866" y="246113"/>
                  </a:lnTo>
                  <a:lnTo>
                    <a:pt x="3366617" y="246113"/>
                  </a:lnTo>
                  <a:lnTo>
                    <a:pt x="3366617" y="323824"/>
                  </a:lnTo>
                  <a:lnTo>
                    <a:pt x="4293209" y="323824"/>
                  </a:lnTo>
                  <a:lnTo>
                    <a:pt x="6964781" y="323824"/>
                  </a:lnTo>
                  <a:lnTo>
                    <a:pt x="6964781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24469" y="3805694"/>
              <a:ext cx="6965315" cy="323850"/>
            </a:xfrm>
            <a:custGeom>
              <a:avLst/>
              <a:gdLst/>
              <a:ahLst/>
              <a:cxnLst/>
              <a:rect l="l" t="t" r="r" b="b"/>
              <a:pathLst>
                <a:path w="6965315" h="323850">
                  <a:moveTo>
                    <a:pt x="3095853" y="0"/>
                  </a:moveTo>
                  <a:lnTo>
                    <a:pt x="1876666" y="0"/>
                  </a:lnTo>
                  <a:lnTo>
                    <a:pt x="0" y="0"/>
                  </a:lnTo>
                  <a:lnTo>
                    <a:pt x="0" y="224650"/>
                  </a:lnTo>
                  <a:lnTo>
                    <a:pt x="0" y="323837"/>
                  </a:lnTo>
                  <a:lnTo>
                    <a:pt x="950074" y="323837"/>
                  </a:lnTo>
                  <a:lnTo>
                    <a:pt x="950074" y="224650"/>
                  </a:lnTo>
                  <a:lnTo>
                    <a:pt x="1876666" y="224650"/>
                  </a:lnTo>
                  <a:lnTo>
                    <a:pt x="1876666" y="323837"/>
                  </a:lnTo>
                  <a:lnTo>
                    <a:pt x="2169274" y="323837"/>
                  </a:lnTo>
                  <a:lnTo>
                    <a:pt x="2169274" y="224650"/>
                  </a:lnTo>
                  <a:lnTo>
                    <a:pt x="3095853" y="224650"/>
                  </a:lnTo>
                  <a:lnTo>
                    <a:pt x="3095853" y="0"/>
                  </a:lnTo>
                  <a:close/>
                </a:path>
                <a:path w="6965315" h="323850">
                  <a:moveTo>
                    <a:pt x="6964781" y="0"/>
                  </a:moveTo>
                  <a:lnTo>
                    <a:pt x="4293209" y="0"/>
                  </a:lnTo>
                  <a:lnTo>
                    <a:pt x="3095866" y="0"/>
                  </a:lnTo>
                  <a:lnTo>
                    <a:pt x="3095866" y="91351"/>
                  </a:lnTo>
                  <a:lnTo>
                    <a:pt x="3095866" y="224650"/>
                  </a:lnTo>
                  <a:lnTo>
                    <a:pt x="3095866" y="323837"/>
                  </a:lnTo>
                  <a:lnTo>
                    <a:pt x="3771379" y="323837"/>
                  </a:lnTo>
                  <a:lnTo>
                    <a:pt x="3771379" y="224650"/>
                  </a:lnTo>
                  <a:lnTo>
                    <a:pt x="4293209" y="224650"/>
                  </a:lnTo>
                  <a:lnTo>
                    <a:pt x="4293209" y="323837"/>
                  </a:lnTo>
                  <a:lnTo>
                    <a:pt x="4990579" y="323837"/>
                  </a:lnTo>
                  <a:lnTo>
                    <a:pt x="4990579" y="91351"/>
                  </a:lnTo>
                  <a:lnTo>
                    <a:pt x="6964781" y="91351"/>
                  </a:lnTo>
                  <a:lnTo>
                    <a:pt x="6964781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24469" y="4129531"/>
              <a:ext cx="4991100" cy="323850"/>
            </a:xfrm>
            <a:custGeom>
              <a:avLst/>
              <a:gdLst/>
              <a:ahLst/>
              <a:cxnLst/>
              <a:rect l="l" t="t" r="r" b="b"/>
              <a:pathLst>
                <a:path w="4991100" h="323850">
                  <a:moveTo>
                    <a:pt x="3095853" y="0"/>
                  </a:moveTo>
                  <a:lnTo>
                    <a:pt x="1876666" y="0"/>
                  </a:lnTo>
                  <a:lnTo>
                    <a:pt x="0" y="0"/>
                  </a:lnTo>
                  <a:lnTo>
                    <a:pt x="0" y="203174"/>
                  </a:lnTo>
                  <a:lnTo>
                    <a:pt x="0" y="323824"/>
                  </a:lnTo>
                  <a:lnTo>
                    <a:pt x="950074" y="323824"/>
                  </a:lnTo>
                  <a:lnTo>
                    <a:pt x="950074" y="203174"/>
                  </a:lnTo>
                  <a:lnTo>
                    <a:pt x="1876666" y="203174"/>
                  </a:lnTo>
                  <a:lnTo>
                    <a:pt x="1876666" y="323824"/>
                  </a:lnTo>
                  <a:lnTo>
                    <a:pt x="2169274" y="323824"/>
                  </a:lnTo>
                  <a:lnTo>
                    <a:pt x="2169274" y="203174"/>
                  </a:lnTo>
                  <a:lnTo>
                    <a:pt x="3095853" y="203174"/>
                  </a:lnTo>
                  <a:lnTo>
                    <a:pt x="3095853" y="0"/>
                  </a:lnTo>
                  <a:close/>
                </a:path>
                <a:path w="4991100" h="323850">
                  <a:moveTo>
                    <a:pt x="4990579" y="0"/>
                  </a:moveTo>
                  <a:lnTo>
                    <a:pt x="4293209" y="0"/>
                  </a:lnTo>
                  <a:lnTo>
                    <a:pt x="3095866" y="0"/>
                  </a:lnTo>
                  <a:lnTo>
                    <a:pt x="3095866" y="91338"/>
                  </a:lnTo>
                  <a:lnTo>
                    <a:pt x="3095866" y="203174"/>
                  </a:lnTo>
                  <a:lnTo>
                    <a:pt x="3095866" y="323824"/>
                  </a:lnTo>
                  <a:lnTo>
                    <a:pt x="3771379" y="323824"/>
                  </a:lnTo>
                  <a:lnTo>
                    <a:pt x="3771379" y="203174"/>
                  </a:lnTo>
                  <a:lnTo>
                    <a:pt x="3771379" y="91338"/>
                  </a:lnTo>
                  <a:lnTo>
                    <a:pt x="4293209" y="91338"/>
                  </a:lnTo>
                  <a:lnTo>
                    <a:pt x="4990579" y="91338"/>
                  </a:lnTo>
                  <a:lnTo>
                    <a:pt x="4990579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1136" y="2179772"/>
              <a:ext cx="2416810" cy="1717675"/>
            </a:xfrm>
            <a:custGeom>
              <a:avLst/>
              <a:gdLst/>
              <a:ahLst/>
              <a:cxnLst/>
              <a:rect l="l" t="t" r="r" b="b"/>
              <a:pathLst>
                <a:path w="2416810" h="1717675">
                  <a:moveTo>
                    <a:pt x="0" y="0"/>
                  </a:moveTo>
                  <a:lnTo>
                    <a:pt x="0" y="1245839"/>
                  </a:lnTo>
                </a:path>
                <a:path w="2416810" h="1717675">
                  <a:moveTo>
                    <a:pt x="1219199" y="0"/>
                  </a:moveTo>
                  <a:lnTo>
                    <a:pt x="1219199" y="1245839"/>
                  </a:lnTo>
                </a:path>
                <a:path w="2416810" h="1717675">
                  <a:moveTo>
                    <a:pt x="2416546" y="0"/>
                  </a:moveTo>
                  <a:lnTo>
                    <a:pt x="2416546" y="171726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17696" y="2510375"/>
              <a:ext cx="6978650" cy="0"/>
            </a:xfrm>
            <a:custGeom>
              <a:avLst/>
              <a:gdLst/>
              <a:ahLst/>
              <a:cxnLst/>
              <a:rect l="l" t="t" r="r" b="b"/>
              <a:pathLst>
                <a:path w="6978650">
                  <a:moveTo>
                    <a:pt x="0" y="0"/>
                  </a:moveTo>
                  <a:lnTo>
                    <a:pt x="6978340" y="0"/>
                  </a:lnTo>
                </a:path>
              </a:pathLst>
            </a:custGeom>
            <a:ln w="406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17696" y="2834204"/>
              <a:ext cx="6978650" cy="323850"/>
            </a:xfrm>
            <a:custGeom>
              <a:avLst/>
              <a:gdLst/>
              <a:ahLst/>
              <a:cxnLst/>
              <a:rect l="l" t="t" r="r" b="b"/>
              <a:pathLst>
                <a:path w="6978650" h="323850">
                  <a:moveTo>
                    <a:pt x="0" y="0"/>
                  </a:moveTo>
                  <a:lnTo>
                    <a:pt x="6978340" y="0"/>
                  </a:lnTo>
                </a:path>
                <a:path w="6978650" h="323850">
                  <a:moveTo>
                    <a:pt x="0" y="323829"/>
                  </a:moveTo>
                  <a:lnTo>
                    <a:pt x="6978340" y="323829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24469" y="2179772"/>
              <a:ext cx="6971665" cy="1950085"/>
            </a:xfrm>
            <a:custGeom>
              <a:avLst/>
              <a:gdLst/>
              <a:ahLst/>
              <a:cxnLst/>
              <a:rect l="l" t="t" r="r" b="b"/>
              <a:pathLst>
                <a:path w="6971665" h="1950085">
                  <a:moveTo>
                    <a:pt x="3366620" y="1302090"/>
                  </a:moveTo>
                  <a:lnTo>
                    <a:pt x="6971566" y="1302090"/>
                  </a:lnTo>
                </a:path>
                <a:path w="6971665" h="1950085">
                  <a:moveTo>
                    <a:pt x="3366620" y="1625919"/>
                  </a:moveTo>
                  <a:lnTo>
                    <a:pt x="6971566" y="1625919"/>
                  </a:lnTo>
                </a:path>
                <a:path w="6971665" h="1950085">
                  <a:moveTo>
                    <a:pt x="3366620" y="1949749"/>
                  </a:moveTo>
                  <a:lnTo>
                    <a:pt x="3771390" y="1949749"/>
                  </a:lnTo>
                </a:path>
                <a:path w="6971665" h="1950085">
                  <a:moveTo>
                    <a:pt x="0" y="0"/>
                  </a:moveTo>
                  <a:lnTo>
                    <a:pt x="0" y="1245839"/>
                  </a:lnTo>
                </a:path>
                <a:path w="6971665" h="1950085">
                  <a:moveTo>
                    <a:pt x="6964793" y="0"/>
                  </a:moveTo>
                  <a:lnTo>
                    <a:pt x="6964793" y="171726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17696" y="2186546"/>
              <a:ext cx="6978650" cy="0"/>
            </a:xfrm>
            <a:custGeom>
              <a:avLst/>
              <a:gdLst/>
              <a:ahLst/>
              <a:cxnLst/>
              <a:rect l="l" t="t" r="r" b="b"/>
              <a:pathLst>
                <a:path w="6978650">
                  <a:moveTo>
                    <a:pt x="0" y="0"/>
                  </a:moveTo>
                  <a:lnTo>
                    <a:pt x="6978340" y="0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91090" y="4453351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0" y="0"/>
                  </a:moveTo>
                  <a:lnTo>
                    <a:pt x="404770" y="0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95255" y="3502652"/>
            <a:ext cx="30289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8377" y="3502652"/>
            <a:ext cx="23304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52408" y="3502652"/>
            <a:ext cx="31686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1116" y="3490976"/>
            <a:ext cx="2516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146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93561" y="3828788"/>
            <a:ext cx="30480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mn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98353" y="3828788"/>
            <a:ext cx="233679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52408" y="3828788"/>
            <a:ext cx="31686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1116" y="3817111"/>
            <a:ext cx="1562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63251" y="3828788"/>
            <a:ext cx="98171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eone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95255" y="4151876"/>
            <a:ext cx="30289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98377" y="4151876"/>
            <a:ext cx="23304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52408" y="4151876"/>
            <a:ext cx="31686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41116" y="4140200"/>
            <a:ext cx="1562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63251" y="4151876"/>
            <a:ext cx="98171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eone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2839" y="1226311"/>
            <a:ext cx="8449945" cy="219583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spc="-10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34"/>
                </a:solidFill>
                <a:latin typeface="Verdana"/>
                <a:cs typeface="Verdana"/>
              </a:rPr>
              <a:t>2NF,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decompose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remove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partial dependency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Verdana"/>
              <a:cs typeface="Verdana"/>
            </a:endParaRPr>
          </a:p>
          <a:p>
            <a:pPr marL="223520" algn="ctr">
              <a:lnSpc>
                <a:spcPct val="100000"/>
              </a:lnSpc>
              <a:tabLst>
                <a:tab pos="2038985" algn="l"/>
                <a:tab pos="3299460" algn="l"/>
                <a:tab pos="5050790" algn="l"/>
              </a:tabLst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computingID	course	grade	instructor</a:t>
            </a:r>
            <a:endParaRPr sz="1500">
              <a:latin typeface="Arial"/>
              <a:cs typeface="Arial"/>
            </a:endParaRPr>
          </a:p>
          <a:p>
            <a:pPr marL="1846580">
              <a:lnSpc>
                <a:spcPct val="100000"/>
              </a:lnSpc>
              <a:spcBef>
                <a:spcPts val="765"/>
              </a:spcBef>
              <a:tabLst>
                <a:tab pos="3449320" algn="l"/>
                <a:tab pos="4672965" algn="l"/>
                <a:tab pos="625983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ht1y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	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B+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someone1</a:t>
            </a:r>
            <a:endParaRPr sz="1500">
              <a:latin typeface="Verdana"/>
              <a:cs typeface="Verdana"/>
            </a:endParaRPr>
          </a:p>
          <a:p>
            <a:pPr marL="1847214">
              <a:lnSpc>
                <a:spcPct val="100000"/>
              </a:lnSpc>
              <a:spcBef>
                <a:spcPts val="745"/>
              </a:spcBef>
              <a:tabLst>
                <a:tab pos="3449320" algn="l"/>
                <a:tab pos="4709795" algn="l"/>
                <a:tab pos="625983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dt2y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	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A-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someone1</a:t>
            </a:r>
            <a:endParaRPr sz="1500">
              <a:latin typeface="Verdana"/>
              <a:cs typeface="Verdana"/>
            </a:endParaRPr>
          </a:p>
          <a:p>
            <a:pPr marL="1847214">
              <a:lnSpc>
                <a:spcPct val="100000"/>
              </a:lnSpc>
              <a:spcBef>
                <a:spcPts val="745"/>
              </a:spcBef>
              <a:tabLst>
                <a:tab pos="3449320" algn="l"/>
                <a:tab pos="4750435" algn="l"/>
                <a:tab pos="625983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dt2y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	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88341" y="183834"/>
            <a:ext cx="80467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</a:t>
            </a:r>
            <a:r>
              <a:rPr spc="-125" dirty="0"/>
              <a:t>e</a:t>
            </a:r>
            <a:r>
              <a:rPr spc="-135" dirty="0"/>
              <a:t>c</a:t>
            </a:r>
            <a:r>
              <a:rPr spc="-130" dirty="0"/>
              <a:t>o</a:t>
            </a:r>
            <a:r>
              <a:rPr spc="-135" dirty="0"/>
              <a:t>n</a:t>
            </a:r>
            <a:r>
              <a:rPr dirty="0"/>
              <a:t>d</a:t>
            </a:r>
            <a:r>
              <a:rPr spc="-250" dirty="0"/>
              <a:t> </a:t>
            </a:r>
            <a:r>
              <a:rPr spc="-140" dirty="0"/>
              <a:t>N</a:t>
            </a:r>
            <a:r>
              <a:rPr spc="-130" dirty="0"/>
              <a:t>o</a:t>
            </a:r>
            <a:r>
              <a:rPr spc="-125" dirty="0"/>
              <a:t>r</a:t>
            </a:r>
            <a:r>
              <a:rPr spc="-140" dirty="0"/>
              <a:t>m</a:t>
            </a:r>
            <a:r>
              <a:rPr spc="-125" dirty="0"/>
              <a:t>a</a:t>
            </a:r>
            <a:r>
              <a:rPr dirty="0"/>
              <a:t>l</a:t>
            </a:r>
            <a:r>
              <a:rPr spc="-250" dirty="0"/>
              <a:t> </a:t>
            </a:r>
            <a:r>
              <a:rPr spc="-135" dirty="0"/>
              <a:t>F</a:t>
            </a:r>
            <a:r>
              <a:rPr spc="-130" dirty="0"/>
              <a:t>o</a:t>
            </a:r>
            <a:r>
              <a:rPr spc="-125" dirty="0"/>
              <a:t>r</a:t>
            </a:r>
            <a:r>
              <a:rPr dirty="0"/>
              <a:t>m</a:t>
            </a:r>
            <a:r>
              <a:rPr spc="-265" dirty="0"/>
              <a:t> </a:t>
            </a:r>
            <a:r>
              <a:rPr spc="-125" dirty="0"/>
              <a:t>(2</a:t>
            </a:r>
            <a:r>
              <a:rPr spc="-140" dirty="0"/>
              <a:t>N</a:t>
            </a:r>
            <a:r>
              <a:rPr spc="-135" dirty="0"/>
              <a:t>F</a:t>
            </a:r>
            <a:r>
              <a:rPr dirty="0"/>
              <a:t>)</a:t>
            </a:r>
          </a:p>
        </p:txBody>
      </p:sp>
      <p:grpSp>
        <p:nvGrpSpPr>
          <p:cNvPr id="32" name="object 32"/>
          <p:cNvGrpSpPr/>
          <p:nvPr/>
        </p:nvGrpSpPr>
        <p:grpSpPr>
          <a:xfrm>
            <a:off x="691104" y="3418839"/>
            <a:ext cx="4307205" cy="2130425"/>
            <a:chOff x="691104" y="3418839"/>
            <a:chExt cx="4307205" cy="2130425"/>
          </a:xfrm>
        </p:grpSpPr>
        <p:sp>
          <p:nvSpPr>
            <p:cNvPr id="33" name="object 33"/>
            <p:cNvSpPr/>
            <p:nvPr/>
          </p:nvSpPr>
          <p:spPr>
            <a:xfrm>
              <a:off x="697865" y="3425621"/>
              <a:ext cx="4293235" cy="302895"/>
            </a:xfrm>
            <a:custGeom>
              <a:avLst/>
              <a:gdLst/>
              <a:ahLst/>
              <a:cxnLst/>
              <a:rect l="l" t="t" r="r" b="b"/>
              <a:pathLst>
                <a:path w="4293235" h="302895">
                  <a:moveTo>
                    <a:pt x="1876666" y="0"/>
                  </a:moveTo>
                  <a:lnTo>
                    <a:pt x="0" y="0"/>
                  </a:lnTo>
                  <a:lnTo>
                    <a:pt x="0" y="302361"/>
                  </a:lnTo>
                  <a:lnTo>
                    <a:pt x="1876666" y="302361"/>
                  </a:lnTo>
                  <a:lnTo>
                    <a:pt x="1876666" y="0"/>
                  </a:lnTo>
                  <a:close/>
                </a:path>
                <a:path w="4293235" h="302895">
                  <a:moveTo>
                    <a:pt x="3095866" y="0"/>
                  </a:moveTo>
                  <a:lnTo>
                    <a:pt x="1876679" y="0"/>
                  </a:lnTo>
                  <a:lnTo>
                    <a:pt x="1876679" y="302361"/>
                  </a:lnTo>
                  <a:lnTo>
                    <a:pt x="3095866" y="302361"/>
                  </a:lnTo>
                  <a:lnTo>
                    <a:pt x="3095866" y="0"/>
                  </a:lnTo>
                  <a:close/>
                </a:path>
                <a:path w="4293235" h="302895">
                  <a:moveTo>
                    <a:pt x="4293222" y="0"/>
                  </a:moveTo>
                  <a:lnTo>
                    <a:pt x="3095879" y="0"/>
                  </a:lnTo>
                  <a:lnTo>
                    <a:pt x="3095879" y="302361"/>
                  </a:lnTo>
                  <a:lnTo>
                    <a:pt x="4293222" y="302361"/>
                  </a:lnTo>
                  <a:lnTo>
                    <a:pt x="4293222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7865" y="3727983"/>
              <a:ext cx="4293235" cy="302895"/>
            </a:xfrm>
            <a:custGeom>
              <a:avLst/>
              <a:gdLst/>
              <a:ahLst/>
              <a:cxnLst/>
              <a:rect l="l" t="t" r="r" b="b"/>
              <a:pathLst>
                <a:path w="4293235" h="302895">
                  <a:moveTo>
                    <a:pt x="1876666" y="0"/>
                  </a:moveTo>
                  <a:lnTo>
                    <a:pt x="0" y="0"/>
                  </a:lnTo>
                  <a:lnTo>
                    <a:pt x="0" y="302361"/>
                  </a:lnTo>
                  <a:lnTo>
                    <a:pt x="1876666" y="302361"/>
                  </a:lnTo>
                  <a:lnTo>
                    <a:pt x="1876666" y="0"/>
                  </a:lnTo>
                  <a:close/>
                </a:path>
                <a:path w="4293235" h="302895">
                  <a:moveTo>
                    <a:pt x="3095866" y="0"/>
                  </a:moveTo>
                  <a:lnTo>
                    <a:pt x="1876679" y="0"/>
                  </a:lnTo>
                  <a:lnTo>
                    <a:pt x="1876679" y="302361"/>
                  </a:lnTo>
                  <a:lnTo>
                    <a:pt x="3095866" y="302361"/>
                  </a:lnTo>
                  <a:lnTo>
                    <a:pt x="3095866" y="0"/>
                  </a:lnTo>
                  <a:close/>
                </a:path>
                <a:path w="4293235" h="302895">
                  <a:moveTo>
                    <a:pt x="4293222" y="0"/>
                  </a:moveTo>
                  <a:lnTo>
                    <a:pt x="3095879" y="0"/>
                  </a:lnTo>
                  <a:lnTo>
                    <a:pt x="3095879" y="302361"/>
                  </a:lnTo>
                  <a:lnTo>
                    <a:pt x="4293222" y="302361"/>
                  </a:lnTo>
                  <a:lnTo>
                    <a:pt x="4293222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7865" y="4030344"/>
              <a:ext cx="4293235" cy="302895"/>
            </a:xfrm>
            <a:custGeom>
              <a:avLst/>
              <a:gdLst/>
              <a:ahLst/>
              <a:cxnLst/>
              <a:rect l="l" t="t" r="r" b="b"/>
              <a:pathLst>
                <a:path w="4293235" h="302895">
                  <a:moveTo>
                    <a:pt x="1876666" y="0"/>
                  </a:moveTo>
                  <a:lnTo>
                    <a:pt x="0" y="0"/>
                  </a:lnTo>
                  <a:lnTo>
                    <a:pt x="0" y="302361"/>
                  </a:lnTo>
                  <a:lnTo>
                    <a:pt x="1876666" y="302361"/>
                  </a:lnTo>
                  <a:lnTo>
                    <a:pt x="1876666" y="0"/>
                  </a:lnTo>
                  <a:close/>
                </a:path>
                <a:path w="4293235" h="302895">
                  <a:moveTo>
                    <a:pt x="3095866" y="0"/>
                  </a:moveTo>
                  <a:lnTo>
                    <a:pt x="1876679" y="0"/>
                  </a:lnTo>
                  <a:lnTo>
                    <a:pt x="1876679" y="302361"/>
                  </a:lnTo>
                  <a:lnTo>
                    <a:pt x="3095866" y="302361"/>
                  </a:lnTo>
                  <a:lnTo>
                    <a:pt x="3095866" y="0"/>
                  </a:lnTo>
                  <a:close/>
                </a:path>
                <a:path w="4293235" h="302895">
                  <a:moveTo>
                    <a:pt x="4293222" y="0"/>
                  </a:moveTo>
                  <a:lnTo>
                    <a:pt x="3095879" y="0"/>
                  </a:lnTo>
                  <a:lnTo>
                    <a:pt x="3095879" y="302361"/>
                  </a:lnTo>
                  <a:lnTo>
                    <a:pt x="4293222" y="302361"/>
                  </a:lnTo>
                  <a:lnTo>
                    <a:pt x="4293222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7865" y="4332706"/>
              <a:ext cx="4293235" cy="302895"/>
            </a:xfrm>
            <a:custGeom>
              <a:avLst/>
              <a:gdLst/>
              <a:ahLst/>
              <a:cxnLst/>
              <a:rect l="l" t="t" r="r" b="b"/>
              <a:pathLst>
                <a:path w="4293235" h="302895">
                  <a:moveTo>
                    <a:pt x="1876666" y="0"/>
                  </a:moveTo>
                  <a:lnTo>
                    <a:pt x="0" y="0"/>
                  </a:lnTo>
                  <a:lnTo>
                    <a:pt x="0" y="302361"/>
                  </a:lnTo>
                  <a:lnTo>
                    <a:pt x="1876666" y="302361"/>
                  </a:lnTo>
                  <a:lnTo>
                    <a:pt x="1876666" y="0"/>
                  </a:lnTo>
                  <a:close/>
                </a:path>
                <a:path w="4293235" h="302895">
                  <a:moveTo>
                    <a:pt x="3095866" y="0"/>
                  </a:moveTo>
                  <a:lnTo>
                    <a:pt x="1876679" y="0"/>
                  </a:lnTo>
                  <a:lnTo>
                    <a:pt x="1876679" y="302361"/>
                  </a:lnTo>
                  <a:lnTo>
                    <a:pt x="3095866" y="302361"/>
                  </a:lnTo>
                  <a:lnTo>
                    <a:pt x="3095866" y="0"/>
                  </a:lnTo>
                  <a:close/>
                </a:path>
                <a:path w="4293235" h="302895">
                  <a:moveTo>
                    <a:pt x="4293222" y="0"/>
                  </a:moveTo>
                  <a:lnTo>
                    <a:pt x="3095879" y="0"/>
                  </a:lnTo>
                  <a:lnTo>
                    <a:pt x="3095879" y="302361"/>
                  </a:lnTo>
                  <a:lnTo>
                    <a:pt x="4293222" y="302361"/>
                  </a:lnTo>
                  <a:lnTo>
                    <a:pt x="4293222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7865" y="4635068"/>
              <a:ext cx="4293235" cy="302895"/>
            </a:xfrm>
            <a:custGeom>
              <a:avLst/>
              <a:gdLst/>
              <a:ahLst/>
              <a:cxnLst/>
              <a:rect l="l" t="t" r="r" b="b"/>
              <a:pathLst>
                <a:path w="4293235" h="302895">
                  <a:moveTo>
                    <a:pt x="1876666" y="0"/>
                  </a:moveTo>
                  <a:lnTo>
                    <a:pt x="0" y="0"/>
                  </a:lnTo>
                  <a:lnTo>
                    <a:pt x="0" y="302361"/>
                  </a:lnTo>
                  <a:lnTo>
                    <a:pt x="1876666" y="302361"/>
                  </a:lnTo>
                  <a:lnTo>
                    <a:pt x="1876666" y="0"/>
                  </a:lnTo>
                  <a:close/>
                </a:path>
                <a:path w="4293235" h="302895">
                  <a:moveTo>
                    <a:pt x="3095866" y="0"/>
                  </a:moveTo>
                  <a:lnTo>
                    <a:pt x="1876679" y="0"/>
                  </a:lnTo>
                  <a:lnTo>
                    <a:pt x="1876679" y="302361"/>
                  </a:lnTo>
                  <a:lnTo>
                    <a:pt x="3095866" y="302361"/>
                  </a:lnTo>
                  <a:lnTo>
                    <a:pt x="3095866" y="0"/>
                  </a:lnTo>
                  <a:close/>
                </a:path>
                <a:path w="4293235" h="302895">
                  <a:moveTo>
                    <a:pt x="4293222" y="0"/>
                  </a:moveTo>
                  <a:lnTo>
                    <a:pt x="3095879" y="0"/>
                  </a:lnTo>
                  <a:lnTo>
                    <a:pt x="3095879" y="302361"/>
                  </a:lnTo>
                  <a:lnTo>
                    <a:pt x="4293222" y="302361"/>
                  </a:lnTo>
                  <a:lnTo>
                    <a:pt x="4293222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7865" y="4937429"/>
              <a:ext cx="4293235" cy="302895"/>
            </a:xfrm>
            <a:custGeom>
              <a:avLst/>
              <a:gdLst/>
              <a:ahLst/>
              <a:cxnLst/>
              <a:rect l="l" t="t" r="r" b="b"/>
              <a:pathLst>
                <a:path w="4293235" h="302895">
                  <a:moveTo>
                    <a:pt x="1876666" y="0"/>
                  </a:moveTo>
                  <a:lnTo>
                    <a:pt x="0" y="0"/>
                  </a:lnTo>
                  <a:lnTo>
                    <a:pt x="0" y="302361"/>
                  </a:lnTo>
                  <a:lnTo>
                    <a:pt x="1876666" y="302361"/>
                  </a:lnTo>
                  <a:lnTo>
                    <a:pt x="1876666" y="0"/>
                  </a:lnTo>
                  <a:close/>
                </a:path>
                <a:path w="4293235" h="302895">
                  <a:moveTo>
                    <a:pt x="3095866" y="0"/>
                  </a:moveTo>
                  <a:lnTo>
                    <a:pt x="1876679" y="0"/>
                  </a:lnTo>
                  <a:lnTo>
                    <a:pt x="1876679" y="302361"/>
                  </a:lnTo>
                  <a:lnTo>
                    <a:pt x="3095866" y="302361"/>
                  </a:lnTo>
                  <a:lnTo>
                    <a:pt x="3095866" y="0"/>
                  </a:lnTo>
                  <a:close/>
                </a:path>
                <a:path w="4293235" h="302895">
                  <a:moveTo>
                    <a:pt x="4293222" y="0"/>
                  </a:moveTo>
                  <a:lnTo>
                    <a:pt x="3095879" y="0"/>
                  </a:lnTo>
                  <a:lnTo>
                    <a:pt x="3095879" y="302361"/>
                  </a:lnTo>
                  <a:lnTo>
                    <a:pt x="4293222" y="302361"/>
                  </a:lnTo>
                  <a:lnTo>
                    <a:pt x="4293222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74543" y="3418839"/>
              <a:ext cx="1219200" cy="2130425"/>
            </a:xfrm>
            <a:custGeom>
              <a:avLst/>
              <a:gdLst/>
              <a:ahLst/>
              <a:cxnLst/>
              <a:rect l="l" t="t" r="r" b="b"/>
              <a:pathLst>
                <a:path w="1219200" h="2130425">
                  <a:moveTo>
                    <a:pt x="0" y="0"/>
                  </a:moveTo>
                  <a:lnTo>
                    <a:pt x="0" y="2130077"/>
                  </a:lnTo>
                </a:path>
                <a:path w="1219200" h="2130425">
                  <a:moveTo>
                    <a:pt x="1219199" y="0"/>
                  </a:moveTo>
                  <a:lnTo>
                    <a:pt x="1219199" y="2130077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1104" y="3727974"/>
              <a:ext cx="4307205" cy="0"/>
            </a:xfrm>
            <a:custGeom>
              <a:avLst/>
              <a:gdLst/>
              <a:ahLst/>
              <a:cxnLst/>
              <a:rect l="l" t="t" r="r" b="b"/>
              <a:pathLst>
                <a:path w="4307205">
                  <a:moveTo>
                    <a:pt x="0" y="0"/>
                  </a:moveTo>
                  <a:lnTo>
                    <a:pt x="4306759" y="0"/>
                  </a:lnTo>
                </a:path>
              </a:pathLst>
            </a:custGeom>
            <a:ln w="406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91104" y="3418839"/>
              <a:ext cx="4307205" cy="2130425"/>
            </a:xfrm>
            <a:custGeom>
              <a:avLst/>
              <a:gdLst/>
              <a:ahLst/>
              <a:cxnLst/>
              <a:rect l="l" t="t" r="r" b="b"/>
              <a:pathLst>
                <a:path w="4307205" h="2130425">
                  <a:moveTo>
                    <a:pt x="0" y="611496"/>
                  </a:moveTo>
                  <a:lnTo>
                    <a:pt x="4306759" y="611496"/>
                  </a:lnTo>
                </a:path>
                <a:path w="4307205" h="2130425">
                  <a:moveTo>
                    <a:pt x="0" y="913858"/>
                  </a:moveTo>
                  <a:lnTo>
                    <a:pt x="4306759" y="913858"/>
                  </a:lnTo>
                </a:path>
                <a:path w="4307205" h="2130425">
                  <a:moveTo>
                    <a:pt x="0" y="1216219"/>
                  </a:moveTo>
                  <a:lnTo>
                    <a:pt x="4306759" y="1216219"/>
                  </a:lnTo>
                </a:path>
                <a:path w="4307205" h="2130425">
                  <a:moveTo>
                    <a:pt x="0" y="1518581"/>
                  </a:moveTo>
                  <a:lnTo>
                    <a:pt x="4306759" y="1518581"/>
                  </a:lnTo>
                </a:path>
                <a:path w="4307205" h="2130425">
                  <a:moveTo>
                    <a:pt x="0" y="1820942"/>
                  </a:moveTo>
                  <a:lnTo>
                    <a:pt x="4306759" y="1820942"/>
                  </a:lnTo>
                </a:path>
                <a:path w="4307205" h="2130425">
                  <a:moveTo>
                    <a:pt x="6773" y="0"/>
                  </a:moveTo>
                  <a:lnTo>
                    <a:pt x="6773" y="2130077"/>
                  </a:lnTo>
                </a:path>
                <a:path w="4307205" h="2130425">
                  <a:moveTo>
                    <a:pt x="4299986" y="0"/>
                  </a:moveTo>
                  <a:lnTo>
                    <a:pt x="4299986" y="2130077"/>
                  </a:lnTo>
                </a:path>
                <a:path w="4307205" h="2130425">
                  <a:moveTo>
                    <a:pt x="0" y="6773"/>
                  </a:moveTo>
                  <a:lnTo>
                    <a:pt x="4306759" y="6773"/>
                  </a:lnTo>
                </a:path>
                <a:path w="4307205" h="2130425">
                  <a:moveTo>
                    <a:pt x="0" y="2123304"/>
                  </a:moveTo>
                  <a:lnTo>
                    <a:pt x="4306759" y="2123304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46083" y="3362959"/>
            <a:ext cx="3616325" cy="6292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1827530" algn="l"/>
                <a:tab pos="3088640" algn="l"/>
              </a:tabLst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pu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D	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e	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ade</a:t>
            </a:r>
            <a:endParaRPr sz="1500">
              <a:latin typeface="Arial"/>
              <a:cs typeface="Arial"/>
            </a:endParaRPr>
          </a:p>
          <a:p>
            <a:pPr marL="376555">
              <a:lnSpc>
                <a:spcPct val="100000"/>
              </a:lnSpc>
              <a:spcBef>
                <a:spcPts val="575"/>
              </a:spcBef>
              <a:tabLst>
                <a:tab pos="1979295" algn="l"/>
                <a:tab pos="320294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ht1y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	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B+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10996" y="3963415"/>
            <a:ext cx="3100705" cy="635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1614170" algn="l"/>
                <a:tab pos="287528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dt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1	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1614170" algn="l"/>
                <a:tab pos="291592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dt2y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	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54269" y="4573015"/>
            <a:ext cx="3116580" cy="6292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675"/>
              </a:spcBef>
              <a:tabLst>
                <a:tab pos="1671320" algn="l"/>
                <a:tab pos="2972435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1	A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1671320" algn="l"/>
                <a:tab pos="2972435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2	B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368767" y="3883277"/>
            <a:ext cx="3945254" cy="999490"/>
            <a:chOff x="5368767" y="3883277"/>
            <a:chExt cx="3945254" cy="999490"/>
          </a:xfrm>
        </p:grpSpPr>
        <p:sp>
          <p:nvSpPr>
            <p:cNvPr id="48" name="object 48"/>
            <p:cNvSpPr/>
            <p:nvPr/>
          </p:nvSpPr>
          <p:spPr>
            <a:xfrm>
              <a:off x="5395849" y="3897045"/>
              <a:ext cx="3891279" cy="323850"/>
            </a:xfrm>
            <a:custGeom>
              <a:avLst/>
              <a:gdLst/>
              <a:ahLst/>
              <a:cxnLst/>
              <a:rect l="l" t="t" r="r" b="b"/>
              <a:pathLst>
                <a:path w="3891279" h="323850">
                  <a:moveTo>
                    <a:pt x="3890784" y="0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219200" y="323824"/>
                  </a:lnTo>
                  <a:lnTo>
                    <a:pt x="3890784" y="323824"/>
                  </a:lnTo>
                  <a:lnTo>
                    <a:pt x="389078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395849" y="4220870"/>
              <a:ext cx="3891279" cy="323850"/>
            </a:xfrm>
            <a:custGeom>
              <a:avLst/>
              <a:gdLst/>
              <a:ahLst/>
              <a:cxnLst/>
              <a:rect l="l" t="t" r="r" b="b"/>
              <a:pathLst>
                <a:path w="3891279" h="323850">
                  <a:moveTo>
                    <a:pt x="3890784" y="0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219200" y="323824"/>
                  </a:lnTo>
                  <a:lnTo>
                    <a:pt x="3890784" y="323824"/>
                  </a:lnTo>
                  <a:lnTo>
                    <a:pt x="3890784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395849" y="4544707"/>
              <a:ext cx="3891279" cy="323850"/>
            </a:xfrm>
            <a:custGeom>
              <a:avLst/>
              <a:gdLst/>
              <a:ahLst/>
              <a:cxnLst/>
              <a:rect l="l" t="t" r="r" b="b"/>
              <a:pathLst>
                <a:path w="3891279" h="323850">
                  <a:moveTo>
                    <a:pt x="3890784" y="0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219200" y="323824"/>
                  </a:lnTo>
                  <a:lnTo>
                    <a:pt x="3890784" y="323824"/>
                  </a:lnTo>
                  <a:lnTo>
                    <a:pt x="3890784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15060" y="3890262"/>
              <a:ext cx="0" cy="985519"/>
            </a:xfrm>
            <a:custGeom>
              <a:avLst/>
              <a:gdLst/>
              <a:ahLst/>
              <a:cxnLst/>
              <a:rect l="l" t="t" r="r" b="b"/>
              <a:pathLst>
                <a:path h="985520">
                  <a:moveTo>
                    <a:pt x="0" y="0"/>
                  </a:moveTo>
                  <a:lnTo>
                    <a:pt x="0" y="985034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389087" y="4220864"/>
              <a:ext cx="3904615" cy="0"/>
            </a:xfrm>
            <a:custGeom>
              <a:avLst/>
              <a:gdLst/>
              <a:ahLst/>
              <a:cxnLst/>
              <a:rect l="l" t="t" r="r" b="b"/>
              <a:pathLst>
                <a:path w="3904615">
                  <a:moveTo>
                    <a:pt x="0" y="0"/>
                  </a:moveTo>
                  <a:lnTo>
                    <a:pt x="3904327" y="0"/>
                  </a:lnTo>
                </a:path>
              </a:pathLst>
            </a:custGeom>
            <a:ln w="406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89087" y="3890262"/>
              <a:ext cx="3904615" cy="985519"/>
            </a:xfrm>
            <a:custGeom>
              <a:avLst/>
              <a:gdLst/>
              <a:ahLst/>
              <a:cxnLst/>
              <a:rect l="l" t="t" r="r" b="b"/>
              <a:pathLst>
                <a:path w="3904615" h="985520">
                  <a:moveTo>
                    <a:pt x="0" y="654431"/>
                  </a:moveTo>
                  <a:lnTo>
                    <a:pt x="3904327" y="654431"/>
                  </a:lnTo>
                </a:path>
                <a:path w="3904615" h="985520">
                  <a:moveTo>
                    <a:pt x="6773" y="0"/>
                  </a:moveTo>
                  <a:lnTo>
                    <a:pt x="6773" y="985034"/>
                  </a:lnTo>
                </a:path>
                <a:path w="3904615" h="985520">
                  <a:moveTo>
                    <a:pt x="3897554" y="0"/>
                  </a:moveTo>
                  <a:lnTo>
                    <a:pt x="3897554" y="985034"/>
                  </a:lnTo>
                </a:path>
                <a:path w="3904615" h="985520">
                  <a:moveTo>
                    <a:pt x="0" y="6773"/>
                  </a:moveTo>
                  <a:lnTo>
                    <a:pt x="3904327" y="6773"/>
                  </a:lnTo>
                </a:path>
                <a:path w="3904615" h="985520">
                  <a:moveTo>
                    <a:pt x="0" y="978261"/>
                  </a:moveTo>
                  <a:lnTo>
                    <a:pt x="3904327" y="978261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682880" y="3814064"/>
            <a:ext cx="2772410" cy="995044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5"/>
              </a:spcBef>
              <a:tabLst>
                <a:tab pos="1826260" algn="l"/>
              </a:tabLst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course	instructor</a:t>
            </a:r>
            <a:endParaRPr sz="1500">
              <a:latin typeface="Arial"/>
              <a:cs typeface="Arial"/>
            </a:endParaRPr>
          </a:p>
          <a:p>
            <a:pPr marL="163830">
              <a:lnSpc>
                <a:spcPct val="100000"/>
              </a:lnSpc>
              <a:spcBef>
                <a:spcPts val="740"/>
              </a:spcBef>
              <a:tabLst>
                <a:tab pos="1777364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	someone1</a:t>
            </a:r>
            <a:endParaRPr sz="1500">
              <a:latin typeface="Verdana"/>
              <a:cs typeface="Verdana"/>
            </a:endParaRPr>
          </a:p>
          <a:p>
            <a:pPr marL="163830">
              <a:lnSpc>
                <a:spcPct val="100000"/>
              </a:lnSpc>
              <a:spcBef>
                <a:spcPts val="745"/>
              </a:spcBef>
              <a:tabLst>
                <a:tab pos="1777364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	someone2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41885" y="3421999"/>
            <a:ext cx="5964146" cy="1978049"/>
            <a:chOff x="641885" y="3421999"/>
            <a:chExt cx="5964146" cy="1978049"/>
          </a:xfrm>
        </p:grpSpPr>
        <p:sp>
          <p:nvSpPr>
            <p:cNvPr id="56" name="object 56"/>
            <p:cNvSpPr/>
            <p:nvPr/>
          </p:nvSpPr>
          <p:spPr>
            <a:xfrm>
              <a:off x="641885" y="3421999"/>
              <a:ext cx="3124835" cy="1978049"/>
            </a:xfrm>
            <a:custGeom>
              <a:avLst/>
              <a:gdLst/>
              <a:ahLst/>
              <a:cxnLst/>
              <a:rect l="l" t="t" r="r" b="b"/>
              <a:pathLst>
                <a:path w="3124835" h="2152650">
                  <a:moveTo>
                    <a:pt x="0" y="358784"/>
                  </a:moveTo>
                  <a:lnTo>
                    <a:pt x="3275" y="310099"/>
                  </a:lnTo>
                  <a:lnTo>
                    <a:pt x="12816" y="263405"/>
                  </a:lnTo>
                  <a:lnTo>
                    <a:pt x="28195" y="219129"/>
                  </a:lnTo>
                  <a:lnTo>
                    <a:pt x="48984" y="177699"/>
                  </a:lnTo>
                  <a:lnTo>
                    <a:pt x="74757" y="139541"/>
                  </a:lnTo>
                  <a:lnTo>
                    <a:pt x="105085" y="105085"/>
                  </a:lnTo>
                  <a:lnTo>
                    <a:pt x="139541" y="74757"/>
                  </a:lnTo>
                  <a:lnTo>
                    <a:pt x="177698" y="48984"/>
                  </a:lnTo>
                  <a:lnTo>
                    <a:pt x="219129" y="28195"/>
                  </a:lnTo>
                  <a:lnTo>
                    <a:pt x="263405" y="12816"/>
                  </a:lnTo>
                  <a:lnTo>
                    <a:pt x="310099" y="3275"/>
                  </a:lnTo>
                  <a:lnTo>
                    <a:pt x="358784" y="0"/>
                  </a:lnTo>
                  <a:lnTo>
                    <a:pt x="2765981" y="0"/>
                  </a:lnTo>
                  <a:lnTo>
                    <a:pt x="2814666" y="3275"/>
                  </a:lnTo>
                  <a:lnTo>
                    <a:pt x="2861360" y="12816"/>
                  </a:lnTo>
                  <a:lnTo>
                    <a:pt x="2905636" y="28195"/>
                  </a:lnTo>
                  <a:lnTo>
                    <a:pt x="2947066" y="48984"/>
                  </a:lnTo>
                  <a:lnTo>
                    <a:pt x="2985223" y="74757"/>
                  </a:lnTo>
                  <a:lnTo>
                    <a:pt x="3019680" y="105085"/>
                  </a:lnTo>
                  <a:lnTo>
                    <a:pt x="3050008" y="139541"/>
                  </a:lnTo>
                  <a:lnTo>
                    <a:pt x="3075781" y="177699"/>
                  </a:lnTo>
                  <a:lnTo>
                    <a:pt x="3096570" y="219129"/>
                  </a:lnTo>
                  <a:lnTo>
                    <a:pt x="3111949" y="263405"/>
                  </a:lnTo>
                  <a:lnTo>
                    <a:pt x="3121490" y="310099"/>
                  </a:lnTo>
                  <a:lnTo>
                    <a:pt x="3124765" y="358784"/>
                  </a:lnTo>
                  <a:lnTo>
                    <a:pt x="3124765" y="1793870"/>
                  </a:lnTo>
                  <a:lnTo>
                    <a:pt x="3121490" y="1842555"/>
                  </a:lnTo>
                  <a:lnTo>
                    <a:pt x="3111949" y="1889250"/>
                  </a:lnTo>
                  <a:lnTo>
                    <a:pt x="3096570" y="1933526"/>
                  </a:lnTo>
                  <a:lnTo>
                    <a:pt x="3075781" y="1974956"/>
                  </a:lnTo>
                  <a:lnTo>
                    <a:pt x="3050008" y="2013113"/>
                  </a:lnTo>
                  <a:lnTo>
                    <a:pt x="3019680" y="2047570"/>
                  </a:lnTo>
                  <a:lnTo>
                    <a:pt x="2985223" y="2077898"/>
                  </a:lnTo>
                  <a:lnTo>
                    <a:pt x="2947066" y="2103671"/>
                  </a:lnTo>
                  <a:lnTo>
                    <a:pt x="2905636" y="2124460"/>
                  </a:lnTo>
                  <a:lnTo>
                    <a:pt x="2861360" y="2139839"/>
                  </a:lnTo>
                  <a:lnTo>
                    <a:pt x="2814666" y="2149380"/>
                  </a:lnTo>
                  <a:lnTo>
                    <a:pt x="2765981" y="2152655"/>
                  </a:lnTo>
                  <a:lnTo>
                    <a:pt x="358784" y="2152655"/>
                  </a:lnTo>
                  <a:lnTo>
                    <a:pt x="310099" y="2149380"/>
                  </a:lnTo>
                  <a:lnTo>
                    <a:pt x="263405" y="2139839"/>
                  </a:lnTo>
                  <a:lnTo>
                    <a:pt x="219129" y="2124460"/>
                  </a:lnTo>
                  <a:lnTo>
                    <a:pt x="177698" y="2103671"/>
                  </a:lnTo>
                  <a:lnTo>
                    <a:pt x="139541" y="2077898"/>
                  </a:lnTo>
                  <a:lnTo>
                    <a:pt x="105085" y="2047570"/>
                  </a:lnTo>
                  <a:lnTo>
                    <a:pt x="74757" y="2013113"/>
                  </a:lnTo>
                  <a:lnTo>
                    <a:pt x="48984" y="1974956"/>
                  </a:lnTo>
                  <a:lnTo>
                    <a:pt x="28195" y="1933526"/>
                  </a:lnTo>
                  <a:lnTo>
                    <a:pt x="12816" y="1889250"/>
                  </a:lnTo>
                  <a:lnTo>
                    <a:pt x="3275" y="1842555"/>
                  </a:lnTo>
                  <a:lnTo>
                    <a:pt x="0" y="1793870"/>
                  </a:lnTo>
                  <a:lnTo>
                    <a:pt x="0" y="358784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86831" y="3913292"/>
              <a:ext cx="1219200" cy="971550"/>
            </a:xfrm>
            <a:custGeom>
              <a:avLst/>
              <a:gdLst/>
              <a:ahLst/>
              <a:cxnLst/>
              <a:rect l="l" t="t" r="r" b="b"/>
              <a:pathLst>
                <a:path w="1219200" h="971550">
                  <a:moveTo>
                    <a:pt x="0" y="161917"/>
                  </a:moveTo>
                  <a:lnTo>
                    <a:pt x="5783" y="118873"/>
                  </a:lnTo>
                  <a:lnTo>
                    <a:pt x="22106" y="80194"/>
                  </a:lnTo>
                  <a:lnTo>
                    <a:pt x="47424" y="47424"/>
                  </a:lnTo>
                  <a:lnTo>
                    <a:pt x="80194" y="22106"/>
                  </a:lnTo>
                  <a:lnTo>
                    <a:pt x="118873" y="5783"/>
                  </a:lnTo>
                  <a:lnTo>
                    <a:pt x="161917" y="0"/>
                  </a:lnTo>
                  <a:lnTo>
                    <a:pt x="1057282" y="0"/>
                  </a:lnTo>
                  <a:lnTo>
                    <a:pt x="1100326" y="5783"/>
                  </a:lnTo>
                  <a:lnTo>
                    <a:pt x="1139005" y="22106"/>
                  </a:lnTo>
                  <a:lnTo>
                    <a:pt x="1171775" y="47424"/>
                  </a:lnTo>
                  <a:lnTo>
                    <a:pt x="1197093" y="80194"/>
                  </a:lnTo>
                  <a:lnTo>
                    <a:pt x="1213416" y="118873"/>
                  </a:lnTo>
                  <a:lnTo>
                    <a:pt x="1219199" y="161917"/>
                  </a:lnTo>
                  <a:lnTo>
                    <a:pt x="1219199" y="809570"/>
                  </a:lnTo>
                  <a:lnTo>
                    <a:pt x="1213416" y="852614"/>
                  </a:lnTo>
                  <a:lnTo>
                    <a:pt x="1197093" y="891293"/>
                  </a:lnTo>
                  <a:lnTo>
                    <a:pt x="1171775" y="924063"/>
                  </a:lnTo>
                  <a:lnTo>
                    <a:pt x="1139005" y="949381"/>
                  </a:lnTo>
                  <a:lnTo>
                    <a:pt x="1100326" y="965704"/>
                  </a:lnTo>
                  <a:lnTo>
                    <a:pt x="1057282" y="971487"/>
                  </a:lnTo>
                  <a:lnTo>
                    <a:pt x="161917" y="971487"/>
                  </a:lnTo>
                  <a:lnTo>
                    <a:pt x="118873" y="965704"/>
                  </a:lnTo>
                  <a:lnTo>
                    <a:pt x="80194" y="949381"/>
                  </a:lnTo>
                  <a:lnTo>
                    <a:pt x="47424" y="924063"/>
                  </a:lnTo>
                  <a:lnTo>
                    <a:pt x="22106" y="891293"/>
                  </a:lnTo>
                  <a:lnTo>
                    <a:pt x="5783" y="852614"/>
                  </a:lnTo>
                  <a:lnTo>
                    <a:pt x="0" y="809570"/>
                  </a:lnTo>
                  <a:lnTo>
                    <a:pt x="0" y="161917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6315455"/>
            <a:ext cx="9753600" cy="832104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610092" y="6283585"/>
            <a:ext cx="8792210" cy="56896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8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Non-key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depend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upon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whole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494" y="177272"/>
            <a:ext cx="74485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T</a:t>
            </a:r>
            <a:r>
              <a:rPr spc="-130" dirty="0"/>
              <a:t>h</a:t>
            </a:r>
            <a:r>
              <a:rPr spc="-125" dirty="0"/>
              <a:t>ir</a:t>
            </a:r>
            <a:r>
              <a:rPr dirty="0"/>
              <a:t>d</a:t>
            </a:r>
            <a:r>
              <a:rPr spc="-250" dirty="0"/>
              <a:t> </a:t>
            </a:r>
            <a:r>
              <a:rPr spc="-140" dirty="0"/>
              <a:t>N</a:t>
            </a:r>
            <a:r>
              <a:rPr spc="-130" dirty="0"/>
              <a:t>o</a:t>
            </a:r>
            <a:r>
              <a:rPr spc="-125" dirty="0"/>
              <a:t>r</a:t>
            </a:r>
            <a:r>
              <a:rPr spc="-140" dirty="0"/>
              <a:t>m</a:t>
            </a:r>
            <a:r>
              <a:rPr spc="-125" dirty="0"/>
              <a:t>a</a:t>
            </a:r>
            <a:r>
              <a:rPr dirty="0"/>
              <a:t>l</a:t>
            </a:r>
            <a:r>
              <a:rPr spc="-250" dirty="0"/>
              <a:t> </a:t>
            </a:r>
            <a:r>
              <a:rPr spc="-130" dirty="0"/>
              <a:t>Fo</a:t>
            </a:r>
            <a:r>
              <a:rPr spc="-125" dirty="0"/>
              <a:t>r</a:t>
            </a:r>
            <a:r>
              <a:rPr dirty="0"/>
              <a:t>m</a:t>
            </a:r>
            <a:r>
              <a:rPr spc="-265" dirty="0"/>
              <a:t> </a:t>
            </a:r>
            <a:r>
              <a:rPr spc="-125" dirty="0"/>
              <a:t>(3</a:t>
            </a:r>
            <a:r>
              <a:rPr spc="-140" dirty="0"/>
              <a:t>N</a:t>
            </a:r>
            <a:r>
              <a:rPr spc="-130" dirty="0"/>
              <a:t>F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134872"/>
            <a:ext cx="8587105" cy="8667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8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2NF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lossless-join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preserving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7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non-trivial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dependency,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either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LHS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superkey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11" y="1960879"/>
            <a:ext cx="561213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RHS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consists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of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prime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attributes only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21797" y="2989726"/>
          <a:ext cx="7191372" cy="21165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5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4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3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grade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textbook_id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B+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A-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Java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 dirty="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Java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36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Java</a:t>
                      </a:r>
                      <a:endParaRPr sz="1500" dirty="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006715" y="2942313"/>
            <a:ext cx="2760345" cy="2215515"/>
          </a:xfrm>
          <a:custGeom>
            <a:avLst/>
            <a:gdLst/>
            <a:ahLst/>
            <a:cxnLst/>
            <a:rect l="l" t="t" r="r" b="b"/>
            <a:pathLst>
              <a:path w="2760345" h="2215515">
                <a:moveTo>
                  <a:pt x="0" y="369250"/>
                </a:moveTo>
                <a:lnTo>
                  <a:pt x="2876" y="322932"/>
                </a:lnTo>
                <a:lnTo>
                  <a:pt x="11277" y="278331"/>
                </a:lnTo>
                <a:lnTo>
                  <a:pt x="24854" y="235793"/>
                </a:lnTo>
                <a:lnTo>
                  <a:pt x="43263" y="195663"/>
                </a:lnTo>
                <a:lnTo>
                  <a:pt x="66157" y="158289"/>
                </a:lnTo>
                <a:lnTo>
                  <a:pt x="93190" y="124016"/>
                </a:lnTo>
                <a:lnTo>
                  <a:pt x="124016" y="93190"/>
                </a:lnTo>
                <a:lnTo>
                  <a:pt x="158289" y="66157"/>
                </a:lnTo>
                <a:lnTo>
                  <a:pt x="195663" y="43263"/>
                </a:lnTo>
                <a:lnTo>
                  <a:pt x="235792" y="24854"/>
                </a:lnTo>
                <a:lnTo>
                  <a:pt x="278330" y="11277"/>
                </a:lnTo>
                <a:lnTo>
                  <a:pt x="322931" y="2876"/>
                </a:lnTo>
                <a:lnTo>
                  <a:pt x="369249" y="0"/>
                </a:lnTo>
                <a:lnTo>
                  <a:pt x="2390684" y="0"/>
                </a:lnTo>
                <a:lnTo>
                  <a:pt x="2437002" y="2876"/>
                </a:lnTo>
                <a:lnTo>
                  <a:pt x="2481603" y="11277"/>
                </a:lnTo>
                <a:lnTo>
                  <a:pt x="2524142" y="24854"/>
                </a:lnTo>
                <a:lnTo>
                  <a:pt x="2564271" y="43263"/>
                </a:lnTo>
                <a:lnTo>
                  <a:pt x="2601645" y="66157"/>
                </a:lnTo>
                <a:lnTo>
                  <a:pt x="2635918" y="93190"/>
                </a:lnTo>
                <a:lnTo>
                  <a:pt x="2666744" y="124016"/>
                </a:lnTo>
                <a:lnTo>
                  <a:pt x="2693777" y="158289"/>
                </a:lnTo>
                <a:lnTo>
                  <a:pt x="2716671" y="195663"/>
                </a:lnTo>
                <a:lnTo>
                  <a:pt x="2735080" y="235793"/>
                </a:lnTo>
                <a:lnTo>
                  <a:pt x="2748657" y="278331"/>
                </a:lnTo>
                <a:lnTo>
                  <a:pt x="2757057" y="322932"/>
                </a:lnTo>
                <a:lnTo>
                  <a:pt x="2759934" y="369250"/>
                </a:lnTo>
                <a:lnTo>
                  <a:pt x="2759934" y="1846209"/>
                </a:lnTo>
                <a:lnTo>
                  <a:pt x="2757057" y="1892527"/>
                </a:lnTo>
                <a:lnTo>
                  <a:pt x="2748657" y="1937128"/>
                </a:lnTo>
                <a:lnTo>
                  <a:pt x="2735080" y="1979666"/>
                </a:lnTo>
                <a:lnTo>
                  <a:pt x="2716671" y="2019795"/>
                </a:lnTo>
                <a:lnTo>
                  <a:pt x="2693777" y="2057169"/>
                </a:lnTo>
                <a:lnTo>
                  <a:pt x="2666744" y="2091442"/>
                </a:lnTo>
                <a:lnTo>
                  <a:pt x="2635918" y="2122269"/>
                </a:lnTo>
                <a:lnTo>
                  <a:pt x="2601645" y="2149301"/>
                </a:lnTo>
                <a:lnTo>
                  <a:pt x="2564271" y="2172195"/>
                </a:lnTo>
                <a:lnTo>
                  <a:pt x="2524142" y="2190604"/>
                </a:lnTo>
                <a:lnTo>
                  <a:pt x="2481603" y="2204181"/>
                </a:lnTo>
                <a:lnTo>
                  <a:pt x="2437002" y="2212582"/>
                </a:lnTo>
                <a:lnTo>
                  <a:pt x="2390684" y="2215459"/>
                </a:lnTo>
                <a:lnTo>
                  <a:pt x="369249" y="2215459"/>
                </a:lnTo>
                <a:lnTo>
                  <a:pt x="322931" y="2212582"/>
                </a:lnTo>
                <a:lnTo>
                  <a:pt x="278330" y="2204181"/>
                </a:lnTo>
                <a:lnTo>
                  <a:pt x="235792" y="2190604"/>
                </a:lnTo>
                <a:lnTo>
                  <a:pt x="195663" y="2172195"/>
                </a:lnTo>
                <a:lnTo>
                  <a:pt x="158289" y="2149301"/>
                </a:lnTo>
                <a:lnTo>
                  <a:pt x="124016" y="2122269"/>
                </a:lnTo>
                <a:lnTo>
                  <a:pt x="93190" y="2091442"/>
                </a:lnTo>
                <a:lnTo>
                  <a:pt x="66157" y="2057169"/>
                </a:lnTo>
                <a:lnTo>
                  <a:pt x="43263" y="2019795"/>
                </a:lnTo>
                <a:lnTo>
                  <a:pt x="24854" y="1979666"/>
                </a:lnTo>
                <a:lnTo>
                  <a:pt x="11277" y="1937128"/>
                </a:lnTo>
                <a:lnTo>
                  <a:pt x="2876" y="1892527"/>
                </a:lnTo>
                <a:lnTo>
                  <a:pt x="0" y="1846209"/>
                </a:lnTo>
                <a:lnTo>
                  <a:pt x="0" y="369250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7427" y="5122671"/>
            <a:ext cx="8908415" cy="208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1305">
              <a:lnSpc>
                <a:spcPct val="1579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Suppose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want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track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textbook_id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course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simplify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name: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(A,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E),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9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“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transitive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”</a:t>
            </a:r>
            <a:endParaRPr sz="1900" dirty="0">
              <a:latin typeface="Verdana"/>
              <a:cs typeface="Verdana"/>
            </a:endParaRPr>
          </a:p>
          <a:p>
            <a:pPr marL="4660265">
              <a:lnSpc>
                <a:spcPct val="100000"/>
              </a:lnSpc>
              <a:spcBef>
                <a:spcPts val="795"/>
              </a:spcBef>
            </a:pP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Problem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with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dependency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…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Fix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it!</a:t>
            </a:r>
            <a:endParaRPr sz="1900" dirty="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8871" y="2084832"/>
            <a:ext cx="2145792" cy="9448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875577" y="2083972"/>
            <a:ext cx="1938655" cy="69596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33985" marR="127635" indent="55244">
              <a:lnSpc>
                <a:spcPts val="2110"/>
              </a:lnSpc>
              <a:spcBef>
                <a:spcPts val="67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transitive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enci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99153" y="2942313"/>
            <a:ext cx="1336675" cy="2215515"/>
          </a:xfrm>
          <a:custGeom>
            <a:avLst/>
            <a:gdLst/>
            <a:ahLst/>
            <a:cxnLst/>
            <a:rect l="l" t="t" r="r" b="b"/>
            <a:pathLst>
              <a:path w="1336675" h="2215515">
                <a:moveTo>
                  <a:pt x="0" y="222771"/>
                </a:moveTo>
                <a:lnTo>
                  <a:pt x="4525" y="177875"/>
                </a:lnTo>
                <a:lnTo>
                  <a:pt x="17506" y="136058"/>
                </a:lnTo>
                <a:lnTo>
                  <a:pt x="38045" y="98217"/>
                </a:lnTo>
                <a:lnTo>
                  <a:pt x="65248" y="65248"/>
                </a:lnTo>
                <a:lnTo>
                  <a:pt x="98218" y="38045"/>
                </a:lnTo>
                <a:lnTo>
                  <a:pt x="136059" y="17506"/>
                </a:lnTo>
                <a:lnTo>
                  <a:pt x="177875" y="4525"/>
                </a:lnTo>
                <a:lnTo>
                  <a:pt x="222771" y="0"/>
                </a:lnTo>
                <a:lnTo>
                  <a:pt x="1113832" y="0"/>
                </a:lnTo>
                <a:lnTo>
                  <a:pt x="1158728" y="4525"/>
                </a:lnTo>
                <a:lnTo>
                  <a:pt x="1200545" y="17506"/>
                </a:lnTo>
                <a:lnTo>
                  <a:pt x="1238386" y="38045"/>
                </a:lnTo>
                <a:lnTo>
                  <a:pt x="1271356" y="65248"/>
                </a:lnTo>
                <a:lnTo>
                  <a:pt x="1298558" y="98217"/>
                </a:lnTo>
                <a:lnTo>
                  <a:pt x="1319098" y="136058"/>
                </a:lnTo>
                <a:lnTo>
                  <a:pt x="1332078" y="177875"/>
                </a:lnTo>
                <a:lnTo>
                  <a:pt x="1336604" y="222771"/>
                </a:lnTo>
                <a:lnTo>
                  <a:pt x="1336604" y="1992686"/>
                </a:lnTo>
                <a:lnTo>
                  <a:pt x="1332078" y="2037583"/>
                </a:lnTo>
                <a:lnTo>
                  <a:pt x="1319098" y="2079399"/>
                </a:lnTo>
                <a:lnTo>
                  <a:pt x="1298558" y="2117240"/>
                </a:lnTo>
                <a:lnTo>
                  <a:pt x="1271356" y="2150210"/>
                </a:lnTo>
                <a:lnTo>
                  <a:pt x="1238386" y="2177413"/>
                </a:lnTo>
                <a:lnTo>
                  <a:pt x="1200545" y="2197952"/>
                </a:lnTo>
                <a:lnTo>
                  <a:pt x="1158728" y="2210933"/>
                </a:lnTo>
                <a:lnTo>
                  <a:pt x="1113832" y="2215459"/>
                </a:lnTo>
                <a:lnTo>
                  <a:pt x="222771" y="2215459"/>
                </a:lnTo>
                <a:lnTo>
                  <a:pt x="177875" y="2210933"/>
                </a:lnTo>
                <a:lnTo>
                  <a:pt x="136059" y="2197952"/>
                </a:lnTo>
                <a:lnTo>
                  <a:pt x="98218" y="2177413"/>
                </a:lnTo>
                <a:lnTo>
                  <a:pt x="65248" y="2150210"/>
                </a:lnTo>
                <a:lnTo>
                  <a:pt x="38045" y="2117240"/>
                </a:lnTo>
                <a:lnTo>
                  <a:pt x="17506" y="2079399"/>
                </a:lnTo>
                <a:lnTo>
                  <a:pt x="4525" y="2037583"/>
                </a:lnTo>
                <a:lnTo>
                  <a:pt x="0" y="1992686"/>
                </a:lnTo>
                <a:lnTo>
                  <a:pt x="0" y="222771"/>
                </a:lnTo>
                <a:close/>
              </a:path>
            </a:pathLst>
          </a:custGeom>
          <a:ln w="28186">
            <a:solidFill>
              <a:srgbClr val="0048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7382" y="2690005"/>
            <a:ext cx="3554729" cy="259079"/>
          </a:xfrm>
          <a:custGeom>
            <a:avLst/>
            <a:gdLst/>
            <a:ahLst/>
            <a:cxnLst/>
            <a:rect l="l" t="t" r="r" b="b"/>
            <a:pathLst>
              <a:path w="3554729" h="259080">
                <a:moveTo>
                  <a:pt x="30480" y="167639"/>
                </a:moveTo>
                <a:lnTo>
                  <a:pt x="0" y="167639"/>
                </a:lnTo>
                <a:lnTo>
                  <a:pt x="0" y="259079"/>
                </a:lnTo>
                <a:lnTo>
                  <a:pt x="30480" y="259079"/>
                </a:lnTo>
                <a:lnTo>
                  <a:pt x="30480" y="167639"/>
                </a:lnTo>
                <a:close/>
              </a:path>
              <a:path w="3554729" h="259080">
                <a:moveTo>
                  <a:pt x="30480" y="45719"/>
                </a:moveTo>
                <a:lnTo>
                  <a:pt x="0" y="45719"/>
                </a:lnTo>
                <a:lnTo>
                  <a:pt x="0" y="137159"/>
                </a:lnTo>
                <a:lnTo>
                  <a:pt x="30480" y="137159"/>
                </a:lnTo>
                <a:lnTo>
                  <a:pt x="30480" y="45719"/>
                </a:lnTo>
                <a:close/>
              </a:path>
              <a:path w="3554729" h="259080">
                <a:moveTo>
                  <a:pt x="106680" y="0"/>
                </a:moveTo>
                <a:lnTo>
                  <a:pt x="15240" y="0"/>
                </a:lnTo>
                <a:lnTo>
                  <a:pt x="15240" y="30479"/>
                </a:lnTo>
                <a:lnTo>
                  <a:pt x="106680" y="30479"/>
                </a:lnTo>
                <a:lnTo>
                  <a:pt x="106680" y="0"/>
                </a:lnTo>
                <a:close/>
              </a:path>
              <a:path w="3554729" h="259080">
                <a:moveTo>
                  <a:pt x="228600" y="0"/>
                </a:moveTo>
                <a:lnTo>
                  <a:pt x="137160" y="0"/>
                </a:lnTo>
                <a:lnTo>
                  <a:pt x="137160" y="30479"/>
                </a:lnTo>
                <a:lnTo>
                  <a:pt x="228600" y="30479"/>
                </a:lnTo>
                <a:lnTo>
                  <a:pt x="228600" y="0"/>
                </a:lnTo>
                <a:close/>
              </a:path>
              <a:path w="3554729" h="259080">
                <a:moveTo>
                  <a:pt x="350520" y="0"/>
                </a:moveTo>
                <a:lnTo>
                  <a:pt x="259080" y="0"/>
                </a:lnTo>
                <a:lnTo>
                  <a:pt x="259080" y="30479"/>
                </a:lnTo>
                <a:lnTo>
                  <a:pt x="350520" y="30479"/>
                </a:lnTo>
                <a:lnTo>
                  <a:pt x="350520" y="0"/>
                </a:lnTo>
                <a:close/>
              </a:path>
              <a:path w="3554729" h="259080">
                <a:moveTo>
                  <a:pt x="472440" y="0"/>
                </a:moveTo>
                <a:lnTo>
                  <a:pt x="381000" y="0"/>
                </a:lnTo>
                <a:lnTo>
                  <a:pt x="381000" y="30479"/>
                </a:lnTo>
                <a:lnTo>
                  <a:pt x="472440" y="30479"/>
                </a:lnTo>
                <a:lnTo>
                  <a:pt x="472440" y="0"/>
                </a:lnTo>
                <a:close/>
              </a:path>
              <a:path w="3554729" h="259080">
                <a:moveTo>
                  <a:pt x="594360" y="0"/>
                </a:moveTo>
                <a:lnTo>
                  <a:pt x="502920" y="0"/>
                </a:lnTo>
                <a:lnTo>
                  <a:pt x="502920" y="30479"/>
                </a:lnTo>
                <a:lnTo>
                  <a:pt x="594360" y="30479"/>
                </a:lnTo>
                <a:lnTo>
                  <a:pt x="594360" y="0"/>
                </a:lnTo>
                <a:close/>
              </a:path>
              <a:path w="3554729" h="259080">
                <a:moveTo>
                  <a:pt x="716280" y="0"/>
                </a:moveTo>
                <a:lnTo>
                  <a:pt x="624840" y="0"/>
                </a:lnTo>
                <a:lnTo>
                  <a:pt x="624840" y="30479"/>
                </a:lnTo>
                <a:lnTo>
                  <a:pt x="716280" y="30479"/>
                </a:lnTo>
                <a:lnTo>
                  <a:pt x="716280" y="0"/>
                </a:lnTo>
                <a:close/>
              </a:path>
              <a:path w="3554729" h="259080">
                <a:moveTo>
                  <a:pt x="838200" y="0"/>
                </a:moveTo>
                <a:lnTo>
                  <a:pt x="746760" y="0"/>
                </a:lnTo>
                <a:lnTo>
                  <a:pt x="746760" y="30479"/>
                </a:lnTo>
                <a:lnTo>
                  <a:pt x="838200" y="30479"/>
                </a:lnTo>
                <a:lnTo>
                  <a:pt x="838200" y="0"/>
                </a:lnTo>
                <a:close/>
              </a:path>
              <a:path w="3554729" h="259080">
                <a:moveTo>
                  <a:pt x="960120" y="0"/>
                </a:moveTo>
                <a:lnTo>
                  <a:pt x="868680" y="0"/>
                </a:lnTo>
                <a:lnTo>
                  <a:pt x="868680" y="30479"/>
                </a:lnTo>
                <a:lnTo>
                  <a:pt x="960120" y="30479"/>
                </a:lnTo>
                <a:lnTo>
                  <a:pt x="960120" y="0"/>
                </a:lnTo>
                <a:close/>
              </a:path>
              <a:path w="3554729" h="259080">
                <a:moveTo>
                  <a:pt x="1082040" y="0"/>
                </a:moveTo>
                <a:lnTo>
                  <a:pt x="990600" y="0"/>
                </a:lnTo>
                <a:lnTo>
                  <a:pt x="990600" y="30479"/>
                </a:lnTo>
                <a:lnTo>
                  <a:pt x="1082040" y="30479"/>
                </a:lnTo>
                <a:lnTo>
                  <a:pt x="1082040" y="0"/>
                </a:lnTo>
                <a:close/>
              </a:path>
              <a:path w="3554729" h="259080">
                <a:moveTo>
                  <a:pt x="1203960" y="0"/>
                </a:moveTo>
                <a:lnTo>
                  <a:pt x="1112520" y="0"/>
                </a:lnTo>
                <a:lnTo>
                  <a:pt x="1112520" y="30479"/>
                </a:lnTo>
                <a:lnTo>
                  <a:pt x="1203960" y="30479"/>
                </a:lnTo>
                <a:lnTo>
                  <a:pt x="1203960" y="0"/>
                </a:lnTo>
                <a:close/>
              </a:path>
              <a:path w="3554729" h="259080">
                <a:moveTo>
                  <a:pt x="1325880" y="0"/>
                </a:moveTo>
                <a:lnTo>
                  <a:pt x="1234440" y="0"/>
                </a:lnTo>
                <a:lnTo>
                  <a:pt x="1234440" y="30479"/>
                </a:lnTo>
                <a:lnTo>
                  <a:pt x="1325880" y="30479"/>
                </a:lnTo>
                <a:lnTo>
                  <a:pt x="1325880" y="0"/>
                </a:lnTo>
                <a:close/>
              </a:path>
              <a:path w="3554729" h="259080">
                <a:moveTo>
                  <a:pt x="1447800" y="0"/>
                </a:moveTo>
                <a:lnTo>
                  <a:pt x="1356360" y="0"/>
                </a:lnTo>
                <a:lnTo>
                  <a:pt x="1356360" y="30479"/>
                </a:lnTo>
                <a:lnTo>
                  <a:pt x="1447800" y="30479"/>
                </a:lnTo>
                <a:lnTo>
                  <a:pt x="1447800" y="0"/>
                </a:lnTo>
                <a:close/>
              </a:path>
              <a:path w="3554729" h="259080">
                <a:moveTo>
                  <a:pt x="1569720" y="0"/>
                </a:moveTo>
                <a:lnTo>
                  <a:pt x="1478280" y="0"/>
                </a:lnTo>
                <a:lnTo>
                  <a:pt x="1478280" y="30479"/>
                </a:lnTo>
                <a:lnTo>
                  <a:pt x="1569720" y="30479"/>
                </a:lnTo>
                <a:lnTo>
                  <a:pt x="1569720" y="0"/>
                </a:lnTo>
                <a:close/>
              </a:path>
              <a:path w="3554729" h="259080">
                <a:moveTo>
                  <a:pt x="1691639" y="0"/>
                </a:moveTo>
                <a:lnTo>
                  <a:pt x="1600200" y="0"/>
                </a:lnTo>
                <a:lnTo>
                  <a:pt x="1600200" y="30479"/>
                </a:lnTo>
                <a:lnTo>
                  <a:pt x="1691639" y="30479"/>
                </a:lnTo>
                <a:lnTo>
                  <a:pt x="1691639" y="0"/>
                </a:lnTo>
                <a:close/>
              </a:path>
              <a:path w="3554729" h="259080">
                <a:moveTo>
                  <a:pt x="1813560" y="0"/>
                </a:moveTo>
                <a:lnTo>
                  <a:pt x="1722120" y="0"/>
                </a:lnTo>
                <a:lnTo>
                  <a:pt x="1722120" y="30479"/>
                </a:lnTo>
                <a:lnTo>
                  <a:pt x="1813560" y="30479"/>
                </a:lnTo>
                <a:lnTo>
                  <a:pt x="1813560" y="0"/>
                </a:lnTo>
                <a:close/>
              </a:path>
              <a:path w="3554729" h="259080">
                <a:moveTo>
                  <a:pt x="1935480" y="0"/>
                </a:moveTo>
                <a:lnTo>
                  <a:pt x="1844039" y="0"/>
                </a:lnTo>
                <a:lnTo>
                  <a:pt x="1844039" y="30479"/>
                </a:lnTo>
                <a:lnTo>
                  <a:pt x="1935480" y="30479"/>
                </a:lnTo>
                <a:lnTo>
                  <a:pt x="1935480" y="0"/>
                </a:lnTo>
                <a:close/>
              </a:path>
              <a:path w="3554729" h="259080">
                <a:moveTo>
                  <a:pt x="2057400" y="0"/>
                </a:moveTo>
                <a:lnTo>
                  <a:pt x="1965960" y="0"/>
                </a:lnTo>
                <a:lnTo>
                  <a:pt x="1965960" y="30479"/>
                </a:lnTo>
                <a:lnTo>
                  <a:pt x="2057400" y="30479"/>
                </a:lnTo>
                <a:lnTo>
                  <a:pt x="2057400" y="0"/>
                </a:lnTo>
                <a:close/>
              </a:path>
              <a:path w="3554729" h="259080">
                <a:moveTo>
                  <a:pt x="2179320" y="0"/>
                </a:moveTo>
                <a:lnTo>
                  <a:pt x="2087880" y="0"/>
                </a:lnTo>
                <a:lnTo>
                  <a:pt x="2087880" y="30479"/>
                </a:lnTo>
                <a:lnTo>
                  <a:pt x="2179320" y="30479"/>
                </a:lnTo>
                <a:lnTo>
                  <a:pt x="2179320" y="0"/>
                </a:lnTo>
                <a:close/>
              </a:path>
              <a:path w="3554729" h="259080">
                <a:moveTo>
                  <a:pt x="2301240" y="0"/>
                </a:moveTo>
                <a:lnTo>
                  <a:pt x="2209800" y="0"/>
                </a:lnTo>
                <a:lnTo>
                  <a:pt x="2209800" y="30479"/>
                </a:lnTo>
                <a:lnTo>
                  <a:pt x="2301240" y="30479"/>
                </a:lnTo>
                <a:lnTo>
                  <a:pt x="2301240" y="0"/>
                </a:lnTo>
                <a:close/>
              </a:path>
              <a:path w="3554729" h="259080">
                <a:moveTo>
                  <a:pt x="2423160" y="0"/>
                </a:moveTo>
                <a:lnTo>
                  <a:pt x="2331720" y="0"/>
                </a:lnTo>
                <a:lnTo>
                  <a:pt x="2331720" y="30479"/>
                </a:lnTo>
                <a:lnTo>
                  <a:pt x="2423160" y="30479"/>
                </a:lnTo>
                <a:lnTo>
                  <a:pt x="2423160" y="0"/>
                </a:lnTo>
                <a:close/>
              </a:path>
              <a:path w="3554729" h="259080">
                <a:moveTo>
                  <a:pt x="2545080" y="0"/>
                </a:moveTo>
                <a:lnTo>
                  <a:pt x="2453640" y="0"/>
                </a:lnTo>
                <a:lnTo>
                  <a:pt x="2453640" y="30479"/>
                </a:lnTo>
                <a:lnTo>
                  <a:pt x="2545080" y="30479"/>
                </a:lnTo>
                <a:lnTo>
                  <a:pt x="2545080" y="0"/>
                </a:lnTo>
                <a:close/>
              </a:path>
              <a:path w="3554729" h="259080">
                <a:moveTo>
                  <a:pt x="2667000" y="0"/>
                </a:moveTo>
                <a:lnTo>
                  <a:pt x="2575560" y="0"/>
                </a:lnTo>
                <a:lnTo>
                  <a:pt x="2575560" y="30479"/>
                </a:lnTo>
                <a:lnTo>
                  <a:pt x="2667000" y="30479"/>
                </a:lnTo>
                <a:lnTo>
                  <a:pt x="2667000" y="0"/>
                </a:lnTo>
                <a:close/>
              </a:path>
              <a:path w="3554729" h="259080">
                <a:moveTo>
                  <a:pt x="2788920" y="0"/>
                </a:moveTo>
                <a:lnTo>
                  <a:pt x="2697480" y="0"/>
                </a:lnTo>
                <a:lnTo>
                  <a:pt x="2697480" y="30479"/>
                </a:lnTo>
                <a:lnTo>
                  <a:pt x="2788920" y="30479"/>
                </a:lnTo>
                <a:lnTo>
                  <a:pt x="2788920" y="0"/>
                </a:lnTo>
                <a:close/>
              </a:path>
              <a:path w="3554729" h="259080">
                <a:moveTo>
                  <a:pt x="2910840" y="0"/>
                </a:moveTo>
                <a:lnTo>
                  <a:pt x="2819400" y="0"/>
                </a:lnTo>
                <a:lnTo>
                  <a:pt x="2819400" y="30479"/>
                </a:lnTo>
                <a:lnTo>
                  <a:pt x="2910840" y="30479"/>
                </a:lnTo>
                <a:lnTo>
                  <a:pt x="2910840" y="0"/>
                </a:lnTo>
                <a:close/>
              </a:path>
              <a:path w="3554729" h="259080">
                <a:moveTo>
                  <a:pt x="3032760" y="0"/>
                </a:moveTo>
                <a:lnTo>
                  <a:pt x="2941320" y="0"/>
                </a:lnTo>
                <a:lnTo>
                  <a:pt x="2941320" y="30479"/>
                </a:lnTo>
                <a:lnTo>
                  <a:pt x="3032760" y="30479"/>
                </a:lnTo>
                <a:lnTo>
                  <a:pt x="3032760" y="0"/>
                </a:lnTo>
                <a:close/>
              </a:path>
              <a:path w="3554729" h="259080">
                <a:moveTo>
                  <a:pt x="3154680" y="0"/>
                </a:moveTo>
                <a:lnTo>
                  <a:pt x="3063240" y="0"/>
                </a:lnTo>
                <a:lnTo>
                  <a:pt x="3063240" y="30479"/>
                </a:lnTo>
                <a:lnTo>
                  <a:pt x="3154680" y="30479"/>
                </a:lnTo>
                <a:lnTo>
                  <a:pt x="3154680" y="0"/>
                </a:lnTo>
                <a:close/>
              </a:path>
              <a:path w="3554729" h="259080">
                <a:moveTo>
                  <a:pt x="3276600" y="0"/>
                </a:moveTo>
                <a:lnTo>
                  <a:pt x="3185160" y="0"/>
                </a:lnTo>
                <a:lnTo>
                  <a:pt x="3185160" y="30479"/>
                </a:lnTo>
                <a:lnTo>
                  <a:pt x="3276600" y="30479"/>
                </a:lnTo>
                <a:lnTo>
                  <a:pt x="3276600" y="0"/>
                </a:lnTo>
                <a:close/>
              </a:path>
              <a:path w="3554729" h="259080">
                <a:moveTo>
                  <a:pt x="3398520" y="0"/>
                </a:moveTo>
                <a:lnTo>
                  <a:pt x="3307080" y="0"/>
                </a:lnTo>
                <a:lnTo>
                  <a:pt x="3307080" y="30479"/>
                </a:lnTo>
                <a:lnTo>
                  <a:pt x="3398520" y="30479"/>
                </a:lnTo>
                <a:lnTo>
                  <a:pt x="3398520" y="0"/>
                </a:lnTo>
                <a:close/>
              </a:path>
              <a:path w="3554729" h="259080">
                <a:moveTo>
                  <a:pt x="3516891" y="0"/>
                </a:moveTo>
                <a:lnTo>
                  <a:pt x="3429000" y="0"/>
                </a:lnTo>
                <a:lnTo>
                  <a:pt x="3429000" y="30479"/>
                </a:lnTo>
                <a:lnTo>
                  <a:pt x="3508475" y="30479"/>
                </a:lnTo>
                <a:lnTo>
                  <a:pt x="3505200" y="27204"/>
                </a:lnTo>
                <a:lnTo>
                  <a:pt x="3493235" y="27204"/>
                </a:lnTo>
                <a:lnTo>
                  <a:pt x="3493235" y="15239"/>
                </a:lnTo>
                <a:lnTo>
                  <a:pt x="3523715" y="15239"/>
                </a:lnTo>
                <a:lnTo>
                  <a:pt x="3523715" y="6823"/>
                </a:lnTo>
                <a:lnTo>
                  <a:pt x="3516891" y="0"/>
                </a:lnTo>
                <a:close/>
              </a:path>
              <a:path w="3554729" h="259080">
                <a:moveTo>
                  <a:pt x="3493235" y="15239"/>
                </a:moveTo>
                <a:lnTo>
                  <a:pt x="3493235" y="27204"/>
                </a:lnTo>
                <a:lnTo>
                  <a:pt x="3505200" y="27204"/>
                </a:lnTo>
                <a:lnTo>
                  <a:pt x="3493235" y="15239"/>
                </a:lnTo>
                <a:close/>
              </a:path>
              <a:path w="3554729" h="259080">
                <a:moveTo>
                  <a:pt x="3523715" y="15239"/>
                </a:moveTo>
                <a:lnTo>
                  <a:pt x="3493235" y="15239"/>
                </a:lnTo>
                <a:lnTo>
                  <a:pt x="3505200" y="27204"/>
                </a:lnTo>
                <a:lnTo>
                  <a:pt x="3523715" y="27204"/>
                </a:lnTo>
                <a:lnTo>
                  <a:pt x="3523715" y="15239"/>
                </a:lnTo>
                <a:close/>
              </a:path>
              <a:path w="3554729" h="259080">
                <a:moveTo>
                  <a:pt x="3523715" y="57684"/>
                </a:moveTo>
                <a:lnTo>
                  <a:pt x="3493235" y="57684"/>
                </a:lnTo>
                <a:lnTo>
                  <a:pt x="3493235" y="149124"/>
                </a:lnTo>
                <a:lnTo>
                  <a:pt x="3523715" y="149124"/>
                </a:lnTo>
                <a:lnTo>
                  <a:pt x="3523715" y="57684"/>
                </a:lnTo>
                <a:close/>
              </a:path>
              <a:path w="3554729" h="259080">
                <a:moveTo>
                  <a:pt x="3554195" y="154094"/>
                </a:moveTo>
                <a:lnTo>
                  <a:pt x="3462755" y="154094"/>
                </a:lnTo>
                <a:lnTo>
                  <a:pt x="3508475" y="245534"/>
                </a:lnTo>
                <a:lnTo>
                  <a:pt x="3554195" y="154094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82060" y="2942314"/>
            <a:ext cx="1815464" cy="2224405"/>
          </a:xfrm>
          <a:custGeom>
            <a:avLst/>
            <a:gdLst/>
            <a:ahLst/>
            <a:cxnLst/>
            <a:rect l="l" t="t" r="r" b="b"/>
            <a:pathLst>
              <a:path w="1815465" h="2224404">
                <a:moveTo>
                  <a:pt x="0" y="302547"/>
                </a:moveTo>
                <a:lnTo>
                  <a:pt x="3959" y="253472"/>
                </a:lnTo>
                <a:lnTo>
                  <a:pt x="15424" y="206919"/>
                </a:lnTo>
                <a:lnTo>
                  <a:pt x="33769" y="163509"/>
                </a:lnTo>
                <a:lnTo>
                  <a:pt x="58374" y="123866"/>
                </a:lnTo>
                <a:lnTo>
                  <a:pt x="88614" y="88614"/>
                </a:lnTo>
                <a:lnTo>
                  <a:pt x="123867" y="58374"/>
                </a:lnTo>
                <a:lnTo>
                  <a:pt x="163509" y="33769"/>
                </a:lnTo>
                <a:lnTo>
                  <a:pt x="206919" y="15424"/>
                </a:lnTo>
                <a:lnTo>
                  <a:pt x="253473" y="3959"/>
                </a:lnTo>
                <a:lnTo>
                  <a:pt x="302547" y="0"/>
                </a:lnTo>
                <a:lnTo>
                  <a:pt x="1512705" y="0"/>
                </a:lnTo>
                <a:lnTo>
                  <a:pt x="1561780" y="3959"/>
                </a:lnTo>
                <a:lnTo>
                  <a:pt x="1608333" y="15424"/>
                </a:lnTo>
                <a:lnTo>
                  <a:pt x="1651743" y="33769"/>
                </a:lnTo>
                <a:lnTo>
                  <a:pt x="1691386" y="58374"/>
                </a:lnTo>
                <a:lnTo>
                  <a:pt x="1726639" y="88614"/>
                </a:lnTo>
                <a:lnTo>
                  <a:pt x="1756879" y="123866"/>
                </a:lnTo>
                <a:lnTo>
                  <a:pt x="1781483" y="163509"/>
                </a:lnTo>
                <a:lnTo>
                  <a:pt x="1799829" y="206919"/>
                </a:lnTo>
                <a:lnTo>
                  <a:pt x="1811293" y="253472"/>
                </a:lnTo>
                <a:lnTo>
                  <a:pt x="1815253" y="302547"/>
                </a:lnTo>
                <a:lnTo>
                  <a:pt x="1815253" y="1921591"/>
                </a:lnTo>
                <a:lnTo>
                  <a:pt x="1811293" y="1970666"/>
                </a:lnTo>
                <a:lnTo>
                  <a:pt x="1799829" y="2017219"/>
                </a:lnTo>
                <a:lnTo>
                  <a:pt x="1781483" y="2060629"/>
                </a:lnTo>
                <a:lnTo>
                  <a:pt x="1756879" y="2100271"/>
                </a:lnTo>
                <a:lnTo>
                  <a:pt x="1726639" y="2135524"/>
                </a:lnTo>
                <a:lnTo>
                  <a:pt x="1691386" y="2165764"/>
                </a:lnTo>
                <a:lnTo>
                  <a:pt x="1651743" y="2190368"/>
                </a:lnTo>
                <a:lnTo>
                  <a:pt x="1608333" y="2208714"/>
                </a:lnTo>
                <a:lnTo>
                  <a:pt x="1561780" y="2220178"/>
                </a:lnTo>
                <a:lnTo>
                  <a:pt x="1512705" y="2224138"/>
                </a:lnTo>
                <a:lnTo>
                  <a:pt x="302547" y="2224138"/>
                </a:lnTo>
                <a:lnTo>
                  <a:pt x="253473" y="2220178"/>
                </a:lnTo>
                <a:lnTo>
                  <a:pt x="206919" y="2208714"/>
                </a:lnTo>
                <a:lnTo>
                  <a:pt x="163509" y="2190368"/>
                </a:lnTo>
                <a:lnTo>
                  <a:pt x="123867" y="2165764"/>
                </a:lnTo>
                <a:lnTo>
                  <a:pt x="88614" y="2135524"/>
                </a:lnTo>
                <a:lnTo>
                  <a:pt x="58374" y="2100271"/>
                </a:lnTo>
                <a:lnTo>
                  <a:pt x="33769" y="2060629"/>
                </a:lnTo>
                <a:lnTo>
                  <a:pt x="15424" y="2017219"/>
                </a:lnTo>
                <a:lnTo>
                  <a:pt x="3959" y="1970666"/>
                </a:lnTo>
                <a:lnTo>
                  <a:pt x="0" y="1921591"/>
                </a:lnTo>
                <a:lnTo>
                  <a:pt x="0" y="302547"/>
                </a:lnTo>
                <a:close/>
              </a:path>
            </a:pathLst>
          </a:custGeom>
          <a:ln w="28186">
            <a:solidFill>
              <a:srgbClr val="0048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69823" y="2690007"/>
            <a:ext cx="1844675" cy="259079"/>
          </a:xfrm>
          <a:custGeom>
            <a:avLst/>
            <a:gdLst/>
            <a:ahLst/>
            <a:cxnLst/>
            <a:rect l="l" t="t" r="r" b="b"/>
            <a:pathLst>
              <a:path w="1844675" h="259080">
                <a:moveTo>
                  <a:pt x="30479" y="167639"/>
                </a:moveTo>
                <a:lnTo>
                  <a:pt x="0" y="167639"/>
                </a:lnTo>
                <a:lnTo>
                  <a:pt x="0" y="259079"/>
                </a:lnTo>
                <a:lnTo>
                  <a:pt x="30479" y="259079"/>
                </a:lnTo>
                <a:lnTo>
                  <a:pt x="30479" y="167639"/>
                </a:lnTo>
                <a:close/>
              </a:path>
              <a:path w="1844675" h="259080">
                <a:moveTo>
                  <a:pt x="30479" y="45720"/>
                </a:moveTo>
                <a:lnTo>
                  <a:pt x="0" y="45720"/>
                </a:lnTo>
                <a:lnTo>
                  <a:pt x="0" y="137160"/>
                </a:lnTo>
                <a:lnTo>
                  <a:pt x="30479" y="137160"/>
                </a:lnTo>
                <a:lnTo>
                  <a:pt x="30479" y="45720"/>
                </a:lnTo>
                <a:close/>
              </a:path>
              <a:path w="1844675" h="259080">
                <a:moveTo>
                  <a:pt x="106679" y="0"/>
                </a:moveTo>
                <a:lnTo>
                  <a:pt x="15239" y="0"/>
                </a:lnTo>
                <a:lnTo>
                  <a:pt x="15239" y="30479"/>
                </a:lnTo>
                <a:lnTo>
                  <a:pt x="106679" y="30479"/>
                </a:lnTo>
                <a:lnTo>
                  <a:pt x="106679" y="0"/>
                </a:lnTo>
                <a:close/>
              </a:path>
              <a:path w="1844675" h="259080">
                <a:moveTo>
                  <a:pt x="228600" y="0"/>
                </a:moveTo>
                <a:lnTo>
                  <a:pt x="137160" y="0"/>
                </a:lnTo>
                <a:lnTo>
                  <a:pt x="137160" y="30479"/>
                </a:lnTo>
                <a:lnTo>
                  <a:pt x="228600" y="30479"/>
                </a:lnTo>
                <a:lnTo>
                  <a:pt x="228600" y="0"/>
                </a:lnTo>
                <a:close/>
              </a:path>
              <a:path w="1844675" h="259080">
                <a:moveTo>
                  <a:pt x="350519" y="0"/>
                </a:moveTo>
                <a:lnTo>
                  <a:pt x="259079" y="0"/>
                </a:lnTo>
                <a:lnTo>
                  <a:pt x="259079" y="30479"/>
                </a:lnTo>
                <a:lnTo>
                  <a:pt x="350519" y="30479"/>
                </a:lnTo>
                <a:lnTo>
                  <a:pt x="350519" y="0"/>
                </a:lnTo>
                <a:close/>
              </a:path>
              <a:path w="1844675" h="259080">
                <a:moveTo>
                  <a:pt x="472439" y="0"/>
                </a:moveTo>
                <a:lnTo>
                  <a:pt x="381000" y="0"/>
                </a:lnTo>
                <a:lnTo>
                  <a:pt x="381000" y="30479"/>
                </a:lnTo>
                <a:lnTo>
                  <a:pt x="472439" y="30479"/>
                </a:lnTo>
                <a:lnTo>
                  <a:pt x="472439" y="0"/>
                </a:lnTo>
                <a:close/>
              </a:path>
              <a:path w="1844675" h="259080">
                <a:moveTo>
                  <a:pt x="594360" y="0"/>
                </a:moveTo>
                <a:lnTo>
                  <a:pt x="502919" y="0"/>
                </a:lnTo>
                <a:lnTo>
                  <a:pt x="502919" y="30479"/>
                </a:lnTo>
                <a:lnTo>
                  <a:pt x="594360" y="30479"/>
                </a:lnTo>
                <a:lnTo>
                  <a:pt x="594360" y="0"/>
                </a:lnTo>
                <a:close/>
              </a:path>
              <a:path w="1844675" h="259080">
                <a:moveTo>
                  <a:pt x="716279" y="0"/>
                </a:moveTo>
                <a:lnTo>
                  <a:pt x="624839" y="0"/>
                </a:lnTo>
                <a:lnTo>
                  <a:pt x="624839" y="30479"/>
                </a:lnTo>
                <a:lnTo>
                  <a:pt x="716279" y="30479"/>
                </a:lnTo>
                <a:lnTo>
                  <a:pt x="716279" y="0"/>
                </a:lnTo>
                <a:close/>
              </a:path>
              <a:path w="1844675" h="259080">
                <a:moveTo>
                  <a:pt x="838200" y="0"/>
                </a:moveTo>
                <a:lnTo>
                  <a:pt x="746760" y="0"/>
                </a:lnTo>
                <a:lnTo>
                  <a:pt x="746760" y="30479"/>
                </a:lnTo>
                <a:lnTo>
                  <a:pt x="838200" y="30479"/>
                </a:lnTo>
                <a:lnTo>
                  <a:pt x="838200" y="0"/>
                </a:lnTo>
                <a:close/>
              </a:path>
              <a:path w="1844675" h="259080">
                <a:moveTo>
                  <a:pt x="960120" y="0"/>
                </a:moveTo>
                <a:lnTo>
                  <a:pt x="868679" y="0"/>
                </a:lnTo>
                <a:lnTo>
                  <a:pt x="868679" y="30479"/>
                </a:lnTo>
                <a:lnTo>
                  <a:pt x="960120" y="30479"/>
                </a:lnTo>
                <a:lnTo>
                  <a:pt x="960120" y="0"/>
                </a:lnTo>
                <a:close/>
              </a:path>
              <a:path w="1844675" h="259080">
                <a:moveTo>
                  <a:pt x="1082040" y="0"/>
                </a:moveTo>
                <a:lnTo>
                  <a:pt x="990600" y="0"/>
                </a:lnTo>
                <a:lnTo>
                  <a:pt x="990600" y="30479"/>
                </a:lnTo>
                <a:lnTo>
                  <a:pt x="1082040" y="30479"/>
                </a:lnTo>
                <a:lnTo>
                  <a:pt x="1082040" y="0"/>
                </a:lnTo>
                <a:close/>
              </a:path>
              <a:path w="1844675" h="259080">
                <a:moveTo>
                  <a:pt x="1203959" y="0"/>
                </a:moveTo>
                <a:lnTo>
                  <a:pt x="1112520" y="0"/>
                </a:lnTo>
                <a:lnTo>
                  <a:pt x="1112520" y="30479"/>
                </a:lnTo>
                <a:lnTo>
                  <a:pt x="1203959" y="30479"/>
                </a:lnTo>
                <a:lnTo>
                  <a:pt x="1203959" y="0"/>
                </a:lnTo>
                <a:close/>
              </a:path>
              <a:path w="1844675" h="259080">
                <a:moveTo>
                  <a:pt x="1325879" y="0"/>
                </a:moveTo>
                <a:lnTo>
                  <a:pt x="1234440" y="0"/>
                </a:lnTo>
                <a:lnTo>
                  <a:pt x="1234440" y="30479"/>
                </a:lnTo>
                <a:lnTo>
                  <a:pt x="1325879" y="30479"/>
                </a:lnTo>
                <a:lnTo>
                  <a:pt x="1325879" y="0"/>
                </a:lnTo>
                <a:close/>
              </a:path>
              <a:path w="1844675" h="259080">
                <a:moveTo>
                  <a:pt x="1447800" y="0"/>
                </a:moveTo>
                <a:lnTo>
                  <a:pt x="1356359" y="0"/>
                </a:lnTo>
                <a:lnTo>
                  <a:pt x="1356359" y="30479"/>
                </a:lnTo>
                <a:lnTo>
                  <a:pt x="1447800" y="30479"/>
                </a:lnTo>
                <a:lnTo>
                  <a:pt x="1447800" y="0"/>
                </a:lnTo>
                <a:close/>
              </a:path>
              <a:path w="1844675" h="259080">
                <a:moveTo>
                  <a:pt x="1569720" y="0"/>
                </a:moveTo>
                <a:lnTo>
                  <a:pt x="1478279" y="0"/>
                </a:lnTo>
                <a:lnTo>
                  <a:pt x="1478279" y="30479"/>
                </a:lnTo>
                <a:lnTo>
                  <a:pt x="1569720" y="30479"/>
                </a:lnTo>
                <a:lnTo>
                  <a:pt x="1569720" y="0"/>
                </a:lnTo>
                <a:close/>
              </a:path>
              <a:path w="1844675" h="259080">
                <a:moveTo>
                  <a:pt x="1691640" y="0"/>
                </a:moveTo>
                <a:lnTo>
                  <a:pt x="1600200" y="0"/>
                </a:lnTo>
                <a:lnTo>
                  <a:pt x="1600200" y="30479"/>
                </a:lnTo>
                <a:lnTo>
                  <a:pt x="1691640" y="30479"/>
                </a:lnTo>
                <a:lnTo>
                  <a:pt x="1691640" y="0"/>
                </a:lnTo>
                <a:close/>
              </a:path>
              <a:path w="1844675" h="259080">
                <a:moveTo>
                  <a:pt x="1807300" y="0"/>
                </a:moveTo>
                <a:lnTo>
                  <a:pt x="1722120" y="0"/>
                </a:lnTo>
                <a:lnTo>
                  <a:pt x="1722120" y="30479"/>
                </a:lnTo>
                <a:lnTo>
                  <a:pt x="1798882" y="30479"/>
                </a:lnTo>
                <a:lnTo>
                  <a:pt x="1798320" y="29917"/>
                </a:lnTo>
                <a:lnTo>
                  <a:pt x="1783642" y="29917"/>
                </a:lnTo>
                <a:lnTo>
                  <a:pt x="1783642" y="15239"/>
                </a:lnTo>
                <a:lnTo>
                  <a:pt x="1814122" y="15239"/>
                </a:lnTo>
                <a:lnTo>
                  <a:pt x="1814122" y="6822"/>
                </a:lnTo>
                <a:lnTo>
                  <a:pt x="1807300" y="0"/>
                </a:lnTo>
                <a:close/>
              </a:path>
              <a:path w="1844675" h="259080">
                <a:moveTo>
                  <a:pt x="1783642" y="15239"/>
                </a:moveTo>
                <a:lnTo>
                  <a:pt x="1783642" y="29917"/>
                </a:lnTo>
                <a:lnTo>
                  <a:pt x="1798320" y="29917"/>
                </a:lnTo>
                <a:lnTo>
                  <a:pt x="1783642" y="15239"/>
                </a:lnTo>
                <a:close/>
              </a:path>
              <a:path w="1844675" h="259080">
                <a:moveTo>
                  <a:pt x="1814122" y="15239"/>
                </a:moveTo>
                <a:lnTo>
                  <a:pt x="1783642" y="15239"/>
                </a:lnTo>
                <a:lnTo>
                  <a:pt x="1798320" y="29917"/>
                </a:lnTo>
                <a:lnTo>
                  <a:pt x="1814122" y="29917"/>
                </a:lnTo>
                <a:lnTo>
                  <a:pt x="1814122" y="15239"/>
                </a:lnTo>
                <a:close/>
              </a:path>
              <a:path w="1844675" h="259080">
                <a:moveTo>
                  <a:pt x="1814122" y="60397"/>
                </a:moveTo>
                <a:lnTo>
                  <a:pt x="1783642" y="60397"/>
                </a:lnTo>
                <a:lnTo>
                  <a:pt x="1783642" y="151837"/>
                </a:lnTo>
                <a:lnTo>
                  <a:pt x="1814122" y="151837"/>
                </a:lnTo>
                <a:lnTo>
                  <a:pt x="1814122" y="60397"/>
                </a:lnTo>
                <a:close/>
              </a:path>
              <a:path w="1844675" h="259080">
                <a:moveTo>
                  <a:pt x="1844602" y="154092"/>
                </a:moveTo>
                <a:lnTo>
                  <a:pt x="1753162" y="154092"/>
                </a:lnTo>
                <a:lnTo>
                  <a:pt x="1798882" y="245532"/>
                </a:lnTo>
                <a:lnTo>
                  <a:pt x="1844602" y="154092"/>
                </a:lnTo>
                <a:close/>
              </a:path>
            </a:pathLst>
          </a:custGeom>
          <a:solidFill>
            <a:srgbClr val="0048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8357589" y="3753635"/>
            <a:ext cx="1374775" cy="579755"/>
            <a:chOff x="8357589" y="3753635"/>
            <a:chExt cx="1374775" cy="579755"/>
          </a:xfrm>
        </p:grpSpPr>
        <p:sp>
          <p:nvSpPr>
            <p:cNvPr id="15" name="object 15"/>
            <p:cNvSpPr/>
            <p:nvPr/>
          </p:nvSpPr>
          <p:spPr>
            <a:xfrm>
              <a:off x="8371682" y="3767729"/>
              <a:ext cx="1346835" cy="551815"/>
            </a:xfrm>
            <a:custGeom>
              <a:avLst/>
              <a:gdLst/>
              <a:ahLst/>
              <a:cxnLst/>
              <a:rect l="l" t="t" r="r" b="b"/>
              <a:pathLst>
                <a:path w="1346834" h="551814">
                  <a:moveTo>
                    <a:pt x="1254412" y="0"/>
                  </a:moveTo>
                  <a:lnTo>
                    <a:pt x="91879" y="0"/>
                  </a:lnTo>
                  <a:lnTo>
                    <a:pt x="56116" y="7220"/>
                  </a:lnTo>
                  <a:lnTo>
                    <a:pt x="26911" y="26910"/>
                  </a:lnTo>
                  <a:lnTo>
                    <a:pt x="7220" y="56115"/>
                  </a:lnTo>
                  <a:lnTo>
                    <a:pt x="0" y="91879"/>
                  </a:lnTo>
                  <a:lnTo>
                    <a:pt x="0" y="459381"/>
                  </a:lnTo>
                  <a:lnTo>
                    <a:pt x="7220" y="495142"/>
                  </a:lnTo>
                  <a:lnTo>
                    <a:pt x="26911" y="524346"/>
                  </a:lnTo>
                  <a:lnTo>
                    <a:pt x="56116" y="544037"/>
                  </a:lnTo>
                  <a:lnTo>
                    <a:pt x="91879" y="551257"/>
                  </a:lnTo>
                  <a:lnTo>
                    <a:pt x="1254412" y="551257"/>
                  </a:lnTo>
                  <a:lnTo>
                    <a:pt x="1319379" y="524346"/>
                  </a:lnTo>
                  <a:lnTo>
                    <a:pt x="1346289" y="459381"/>
                  </a:lnTo>
                  <a:lnTo>
                    <a:pt x="1346290" y="91879"/>
                  </a:lnTo>
                  <a:lnTo>
                    <a:pt x="1339069" y="56115"/>
                  </a:lnTo>
                  <a:lnTo>
                    <a:pt x="1319379" y="26910"/>
                  </a:lnTo>
                  <a:lnTo>
                    <a:pt x="1290175" y="7220"/>
                  </a:lnTo>
                  <a:lnTo>
                    <a:pt x="1254412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71682" y="3767729"/>
              <a:ext cx="1346835" cy="551815"/>
            </a:xfrm>
            <a:custGeom>
              <a:avLst/>
              <a:gdLst/>
              <a:ahLst/>
              <a:cxnLst/>
              <a:rect l="l" t="t" r="r" b="b"/>
              <a:pathLst>
                <a:path w="1346834" h="551814">
                  <a:moveTo>
                    <a:pt x="0" y="91878"/>
                  </a:moveTo>
                  <a:lnTo>
                    <a:pt x="7220" y="56115"/>
                  </a:lnTo>
                  <a:lnTo>
                    <a:pt x="26910" y="26910"/>
                  </a:lnTo>
                  <a:lnTo>
                    <a:pt x="56115" y="7220"/>
                  </a:lnTo>
                  <a:lnTo>
                    <a:pt x="91878" y="0"/>
                  </a:lnTo>
                  <a:lnTo>
                    <a:pt x="785335" y="0"/>
                  </a:lnTo>
                  <a:lnTo>
                    <a:pt x="1121908" y="0"/>
                  </a:lnTo>
                  <a:lnTo>
                    <a:pt x="1254411" y="0"/>
                  </a:lnTo>
                  <a:lnTo>
                    <a:pt x="1290174" y="7220"/>
                  </a:lnTo>
                  <a:lnTo>
                    <a:pt x="1319379" y="26910"/>
                  </a:lnTo>
                  <a:lnTo>
                    <a:pt x="1339069" y="56115"/>
                  </a:lnTo>
                  <a:lnTo>
                    <a:pt x="1346290" y="91878"/>
                  </a:lnTo>
                  <a:lnTo>
                    <a:pt x="1346290" y="321566"/>
                  </a:lnTo>
                  <a:lnTo>
                    <a:pt x="1346290" y="459381"/>
                  </a:lnTo>
                  <a:lnTo>
                    <a:pt x="1339069" y="495142"/>
                  </a:lnTo>
                  <a:lnTo>
                    <a:pt x="1319379" y="524346"/>
                  </a:lnTo>
                  <a:lnTo>
                    <a:pt x="1290174" y="544037"/>
                  </a:lnTo>
                  <a:lnTo>
                    <a:pt x="1254411" y="551257"/>
                  </a:lnTo>
                  <a:lnTo>
                    <a:pt x="1121908" y="551257"/>
                  </a:lnTo>
                  <a:lnTo>
                    <a:pt x="1024889" y="551257"/>
                  </a:lnTo>
                  <a:lnTo>
                    <a:pt x="785335" y="551257"/>
                  </a:lnTo>
                  <a:lnTo>
                    <a:pt x="91878" y="551257"/>
                  </a:lnTo>
                  <a:lnTo>
                    <a:pt x="56115" y="544037"/>
                  </a:lnTo>
                  <a:lnTo>
                    <a:pt x="26910" y="524346"/>
                  </a:lnTo>
                  <a:lnTo>
                    <a:pt x="7220" y="495142"/>
                  </a:lnTo>
                  <a:lnTo>
                    <a:pt x="0" y="459378"/>
                  </a:lnTo>
                  <a:lnTo>
                    <a:pt x="0" y="321566"/>
                  </a:lnTo>
                  <a:lnTo>
                    <a:pt x="0" y="91878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538521" y="3885184"/>
            <a:ext cx="101091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19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9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?</a:t>
            </a:r>
            <a:endParaRPr sz="19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656" y="254740"/>
            <a:ext cx="74485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T</a:t>
            </a:r>
            <a:r>
              <a:rPr spc="-130" dirty="0"/>
              <a:t>h</a:t>
            </a:r>
            <a:r>
              <a:rPr spc="-125" dirty="0"/>
              <a:t>ir</a:t>
            </a:r>
            <a:r>
              <a:rPr dirty="0"/>
              <a:t>d</a:t>
            </a:r>
            <a:r>
              <a:rPr spc="-250" dirty="0"/>
              <a:t> </a:t>
            </a:r>
            <a:r>
              <a:rPr spc="-140" dirty="0"/>
              <a:t>N</a:t>
            </a:r>
            <a:r>
              <a:rPr spc="-130" dirty="0"/>
              <a:t>o</a:t>
            </a:r>
            <a:r>
              <a:rPr spc="-125" dirty="0"/>
              <a:t>r</a:t>
            </a:r>
            <a:r>
              <a:rPr spc="-140" dirty="0"/>
              <a:t>m</a:t>
            </a:r>
            <a:r>
              <a:rPr spc="-125" dirty="0"/>
              <a:t>a</a:t>
            </a:r>
            <a:r>
              <a:rPr dirty="0"/>
              <a:t>l</a:t>
            </a:r>
            <a:r>
              <a:rPr spc="-250" dirty="0"/>
              <a:t> </a:t>
            </a:r>
            <a:r>
              <a:rPr spc="-130" dirty="0"/>
              <a:t>Fo</a:t>
            </a:r>
            <a:r>
              <a:rPr spc="-125" dirty="0"/>
              <a:t>r</a:t>
            </a:r>
            <a:r>
              <a:rPr dirty="0"/>
              <a:t>m</a:t>
            </a:r>
            <a:r>
              <a:rPr spc="-265" dirty="0"/>
              <a:t> </a:t>
            </a:r>
            <a:r>
              <a:rPr spc="-125" dirty="0"/>
              <a:t>(3</a:t>
            </a:r>
            <a:r>
              <a:rPr spc="-140" dirty="0"/>
              <a:t>N</a:t>
            </a:r>
            <a:r>
              <a:rPr spc="-130" dirty="0"/>
              <a:t>F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235455"/>
            <a:ext cx="8449945" cy="6381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0"/>
              </a:spcBef>
            </a:pPr>
            <a:r>
              <a:rPr sz="2100" spc="-10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34"/>
                </a:solidFill>
                <a:latin typeface="Verdana"/>
                <a:cs typeface="Verdana"/>
              </a:rPr>
              <a:t>3NF,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decompose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remove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transitive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dependency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4375" y="3405116"/>
            <a:ext cx="42481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7683" y="3405116"/>
            <a:ext cx="11303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3401" y="3405116"/>
            <a:ext cx="31686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2631" y="3405116"/>
            <a:ext cx="144780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21285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	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bo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9680" y="3405116"/>
            <a:ext cx="211709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209040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ok1	Intro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2681" y="3737348"/>
            <a:ext cx="426084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7659" y="3737348"/>
            <a:ext cx="113664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3401" y="3737348"/>
            <a:ext cx="31686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2631" y="3737348"/>
            <a:ext cx="144780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21285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	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bo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69680" y="3737348"/>
            <a:ext cx="220726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327785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ok2	Intro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J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4375" y="4069580"/>
            <a:ext cx="42481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27683" y="4069580"/>
            <a:ext cx="11303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53401" y="4069580"/>
            <a:ext cx="31686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22631" y="4069580"/>
            <a:ext cx="144780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21285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	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bo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69680" y="4069580"/>
            <a:ext cx="2207260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327785" algn="l"/>
              </a:tabLst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ok2	Intro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J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429711"/>
              </p:ext>
            </p:extLst>
          </p:nvPr>
        </p:nvGraphicFramePr>
        <p:xfrm>
          <a:off x="398494" y="2048693"/>
          <a:ext cx="8866501" cy="3393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32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96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32086">
                <a:tc rowSpan="4"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03530" marR="11303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grade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91465" marR="31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textbook_id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0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marR="11303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B+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30225" marR="31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0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marR="11303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A-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30225" marR="31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marR="113030" algn="ctr">
                        <a:lnSpc>
                          <a:spcPts val="1570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  <a:spcBef>
                          <a:spcPts val="1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30225" marR="3175">
                        <a:lnSpc>
                          <a:spcPts val="1570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0215">
                        <a:lnSpc>
                          <a:spcPts val="1570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Java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06">
                <a:tc rowSpan="2">
                  <a:txBody>
                    <a:bodyPr/>
                    <a:lstStyle/>
                    <a:p>
                      <a:pPr marL="230504">
                        <a:lnSpc>
                          <a:spcPts val="17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26060">
                        <a:lnSpc>
                          <a:spcPts val="17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ou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97485">
                        <a:lnSpc>
                          <a:spcPts val="17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grade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EDEEF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D8DBD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01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EDEEF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10540">
                        <a:lnSpc>
                          <a:spcPts val="140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ts val="140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400"/>
                        </a:lnSpc>
                        <a:tabLst>
                          <a:tab pos="1238885" algn="l"/>
                        </a:tabLst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boo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k_</a:t>
                      </a: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	</a:t>
                      </a:r>
                      <a:r>
                        <a:rPr sz="2250" baseline="-22222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y</a:t>
                      </a:r>
                      <a:endParaRPr sz="2250" baseline="-22222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225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thon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510"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B+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EDEEF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ED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  <a:spcBef>
                          <a:spcPts val="71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635" marR="30480" algn="ctr">
                        <a:lnSpc>
                          <a:spcPts val="1645"/>
                        </a:lnSpc>
                        <a:spcBef>
                          <a:spcPts val="71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08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085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EDEEF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08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08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070"/>
                        </a:lnSpc>
                        <a:spcBef>
                          <a:spcPts val="175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ava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7407"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ts val="994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 dirty="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ts val="994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994"/>
                        </a:lnSpc>
                        <a:spcBef>
                          <a:spcPts val="175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A-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3823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1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635" marR="30480" algn="ctr">
                        <a:lnSpc>
                          <a:spcPts val="140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8890">
                        <a:lnSpc>
                          <a:spcPts val="1755"/>
                        </a:lnSpc>
                        <a:spcBef>
                          <a:spcPts val="175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ava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7128"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ts val="1135"/>
                        </a:lnSpc>
                        <a:spcBef>
                          <a:spcPts val="185"/>
                        </a:spcBef>
                      </a:pPr>
                      <a:r>
                        <a:rPr lang="en-US" sz="1500" spc="-5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lang="en-US"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185"/>
                        </a:spcBef>
                      </a:pPr>
                      <a:r>
                        <a:rPr lang="en-US"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lang="en-US" sz="1500" dirty="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185"/>
                        </a:spcBef>
                      </a:pPr>
                      <a:r>
                        <a:rPr lang="en-US"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lang="en-US" sz="1500" dirty="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3823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141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4"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236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7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236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7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236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1500" spc="-1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lang="en-US"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lang="en-US" sz="1500" dirty="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lang="en-US" sz="1500" dirty="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7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656" y="5849111"/>
            <a:ext cx="9500616" cy="14478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00368" y="5838490"/>
            <a:ext cx="8957310" cy="117094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327150" marR="1318895" algn="ctr">
              <a:lnSpc>
                <a:spcPts val="2300"/>
              </a:lnSpc>
              <a:spcBef>
                <a:spcPts val="545"/>
              </a:spcBef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Ensure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integrity;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transitive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dependency;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dependency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is in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20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Preserve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but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allow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anomalies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(may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redundancy)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5533" y="3244992"/>
            <a:ext cx="2713355" cy="2204085"/>
          </a:xfrm>
          <a:custGeom>
            <a:avLst/>
            <a:gdLst/>
            <a:ahLst/>
            <a:cxnLst/>
            <a:rect l="l" t="t" r="r" b="b"/>
            <a:pathLst>
              <a:path w="2713355" h="2204085">
                <a:moveTo>
                  <a:pt x="0" y="367271"/>
                </a:moveTo>
                <a:lnTo>
                  <a:pt x="2861" y="321201"/>
                </a:lnTo>
                <a:lnTo>
                  <a:pt x="11216" y="276839"/>
                </a:lnTo>
                <a:lnTo>
                  <a:pt x="24721" y="234529"/>
                </a:lnTo>
                <a:lnTo>
                  <a:pt x="43031" y="194615"/>
                </a:lnTo>
                <a:lnTo>
                  <a:pt x="65802" y="157441"/>
                </a:lnTo>
                <a:lnTo>
                  <a:pt x="92690" y="123351"/>
                </a:lnTo>
                <a:lnTo>
                  <a:pt x="123351" y="92690"/>
                </a:lnTo>
                <a:lnTo>
                  <a:pt x="157441" y="65802"/>
                </a:lnTo>
                <a:lnTo>
                  <a:pt x="194615" y="43031"/>
                </a:lnTo>
                <a:lnTo>
                  <a:pt x="234529" y="24721"/>
                </a:lnTo>
                <a:lnTo>
                  <a:pt x="276839" y="11216"/>
                </a:lnTo>
                <a:lnTo>
                  <a:pt x="321201" y="2861"/>
                </a:lnTo>
                <a:lnTo>
                  <a:pt x="367271" y="0"/>
                </a:lnTo>
                <a:lnTo>
                  <a:pt x="2345674" y="0"/>
                </a:lnTo>
                <a:lnTo>
                  <a:pt x="2391744" y="2861"/>
                </a:lnTo>
                <a:lnTo>
                  <a:pt x="2436106" y="11216"/>
                </a:lnTo>
                <a:lnTo>
                  <a:pt x="2478416" y="24721"/>
                </a:lnTo>
                <a:lnTo>
                  <a:pt x="2518330" y="43031"/>
                </a:lnTo>
                <a:lnTo>
                  <a:pt x="2555504" y="65802"/>
                </a:lnTo>
                <a:lnTo>
                  <a:pt x="2589594" y="92690"/>
                </a:lnTo>
                <a:lnTo>
                  <a:pt x="2620255" y="123351"/>
                </a:lnTo>
                <a:lnTo>
                  <a:pt x="2647143" y="157441"/>
                </a:lnTo>
                <a:lnTo>
                  <a:pt x="2669914" y="194615"/>
                </a:lnTo>
                <a:lnTo>
                  <a:pt x="2688224" y="234529"/>
                </a:lnTo>
                <a:lnTo>
                  <a:pt x="2701729" y="276839"/>
                </a:lnTo>
                <a:lnTo>
                  <a:pt x="2710084" y="321201"/>
                </a:lnTo>
                <a:lnTo>
                  <a:pt x="2712946" y="367271"/>
                </a:lnTo>
                <a:lnTo>
                  <a:pt x="2712946" y="1836321"/>
                </a:lnTo>
                <a:lnTo>
                  <a:pt x="2710084" y="1882390"/>
                </a:lnTo>
                <a:lnTo>
                  <a:pt x="2701729" y="1926752"/>
                </a:lnTo>
                <a:lnTo>
                  <a:pt x="2688224" y="1969063"/>
                </a:lnTo>
                <a:lnTo>
                  <a:pt x="2669914" y="2008977"/>
                </a:lnTo>
                <a:lnTo>
                  <a:pt x="2647143" y="2046151"/>
                </a:lnTo>
                <a:lnTo>
                  <a:pt x="2620255" y="2080240"/>
                </a:lnTo>
                <a:lnTo>
                  <a:pt x="2589594" y="2110901"/>
                </a:lnTo>
                <a:lnTo>
                  <a:pt x="2555504" y="2137789"/>
                </a:lnTo>
                <a:lnTo>
                  <a:pt x="2518330" y="2160560"/>
                </a:lnTo>
                <a:lnTo>
                  <a:pt x="2478416" y="2178870"/>
                </a:lnTo>
                <a:lnTo>
                  <a:pt x="2436106" y="2192375"/>
                </a:lnTo>
                <a:lnTo>
                  <a:pt x="2391744" y="2200730"/>
                </a:lnTo>
                <a:lnTo>
                  <a:pt x="2345674" y="2203592"/>
                </a:lnTo>
                <a:lnTo>
                  <a:pt x="367271" y="2203592"/>
                </a:lnTo>
                <a:lnTo>
                  <a:pt x="321201" y="2200730"/>
                </a:lnTo>
                <a:lnTo>
                  <a:pt x="276839" y="2192375"/>
                </a:lnTo>
                <a:lnTo>
                  <a:pt x="234529" y="2178870"/>
                </a:lnTo>
                <a:lnTo>
                  <a:pt x="194615" y="2160560"/>
                </a:lnTo>
                <a:lnTo>
                  <a:pt x="157441" y="2137789"/>
                </a:lnTo>
                <a:lnTo>
                  <a:pt x="123351" y="2110901"/>
                </a:lnTo>
                <a:lnTo>
                  <a:pt x="92690" y="2080240"/>
                </a:lnTo>
                <a:lnTo>
                  <a:pt x="65802" y="2046151"/>
                </a:lnTo>
                <a:lnTo>
                  <a:pt x="43031" y="2008977"/>
                </a:lnTo>
                <a:lnTo>
                  <a:pt x="24721" y="1969063"/>
                </a:lnTo>
                <a:lnTo>
                  <a:pt x="11216" y="1926752"/>
                </a:lnTo>
                <a:lnTo>
                  <a:pt x="2861" y="1882390"/>
                </a:lnTo>
                <a:lnTo>
                  <a:pt x="0" y="1836321"/>
                </a:lnTo>
                <a:lnTo>
                  <a:pt x="0" y="367271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70889" y="3295538"/>
            <a:ext cx="1723389" cy="1025525"/>
          </a:xfrm>
          <a:custGeom>
            <a:avLst/>
            <a:gdLst/>
            <a:ahLst/>
            <a:cxnLst/>
            <a:rect l="l" t="t" r="r" b="b"/>
            <a:pathLst>
              <a:path w="1723389" h="1025525">
                <a:moveTo>
                  <a:pt x="0" y="170862"/>
                </a:moveTo>
                <a:lnTo>
                  <a:pt x="6103" y="125440"/>
                </a:lnTo>
                <a:lnTo>
                  <a:pt x="23327" y="84625"/>
                </a:lnTo>
                <a:lnTo>
                  <a:pt x="50044" y="50044"/>
                </a:lnTo>
                <a:lnTo>
                  <a:pt x="84624" y="23327"/>
                </a:lnTo>
                <a:lnTo>
                  <a:pt x="125440" y="6103"/>
                </a:lnTo>
                <a:lnTo>
                  <a:pt x="170862" y="0"/>
                </a:lnTo>
                <a:lnTo>
                  <a:pt x="1552273" y="0"/>
                </a:lnTo>
                <a:lnTo>
                  <a:pt x="1597695" y="6103"/>
                </a:lnTo>
                <a:lnTo>
                  <a:pt x="1638510" y="23327"/>
                </a:lnTo>
                <a:lnTo>
                  <a:pt x="1673091" y="50044"/>
                </a:lnTo>
                <a:lnTo>
                  <a:pt x="1699808" y="84625"/>
                </a:lnTo>
                <a:lnTo>
                  <a:pt x="1717032" y="125440"/>
                </a:lnTo>
                <a:lnTo>
                  <a:pt x="1723135" y="170862"/>
                </a:lnTo>
                <a:lnTo>
                  <a:pt x="1723135" y="854296"/>
                </a:lnTo>
                <a:lnTo>
                  <a:pt x="1717032" y="899718"/>
                </a:lnTo>
                <a:lnTo>
                  <a:pt x="1699808" y="940534"/>
                </a:lnTo>
                <a:lnTo>
                  <a:pt x="1673091" y="975114"/>
                </a:lnTo>
                <a:lnTo>
                  <a:pt x="1638510" y="1001831"/>
                </a:lnTo>
                <a:lnTo>
                  <a:pt x="1597695" y="1019056"/>
                </a:lnTo>
                <a:lnTo>
                  <a:pt x="1552273" y="1025159"/>
                </a:lnTo>
                <a:lnTo>
                  <a:pt x="170862" y="1025159"/>
                </a:lnTo>
                <a:lnTo>
                  <a:pt x="125440" y="1019056"/>
                </a:lnTo>
                <a:lnTo>
                  <a:pt x="84624" y="1001831"/>
                </a:lnTo>
                <a:lnTo>
                  <a:pt x="50044" y="975114"/>
                </a:lnTo>
                <a:lnTo>
                  <a:pt x="23327" y="940534"/>
                </a:lnTo>
                <a:lnTo>
                  <a:pt x="6103" y="899718"/>
                </a:lnTo>
                <a:lnTo>
                  <a:pt x="0" y="854296"/>
                </a:lnTo>
                <a:lnTo>
                  <a:pt x="0" y="170862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811742" y="4436806"/>
          <a:ext cx="3755390" cy="9962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2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08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textbook_id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08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08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book2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Intro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Java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5776976" y="4429130"/>
            <a:ext cx="1723389" cy="1025525"/>
          </a:xfrm>
          <a:custGeom>
            <a:avLst/>
            <a:gdLst/>
            <a:ahLst/>
            <a:cxnLst/>
            <a:rect l="l" t="t" r="r" b="b"/>
            <a:pathLst>
              <a:path w="1723390" h="1025525">
                <a:moveTo>
                  <a:pt x="0" y="170862"/>
                </a:moveTo>
                <a:lnTo>
                  <a:pt x="6103" y="125440"/>
                </a:lnTo>
                <a:lnTo>
                  <a:pt x="23327" y="84625"/>
                </a:lnTo>
                <a:lnTo>
                  <a:pt x="50044" y="50044"/>
                </a:lnTo>
                <a:lnTo>
                  <a:pt x="84624" y="23327"/>
                </a:lnTo>
                <a:lnTo>
                  <a:pt x="125440" y="6103"/>
                </a:lnTo>
                <a:lnTo>
                  <a:pt x="170862" y="0"/>
                </a:lnTo>
                <a:lnTo>
                  <a:pt x="1552273" y="0"/>
                </a:lnTo>
                <a:lnTo>
                  <a:pt x="1597695" y="6103"/>
                </a:lnTo>
                <a:lnTo>
                  <a:pt x="1638510" y="23327"/>
                </a:lnTo>
                <a:lnTo>
                  <a:pt x="1673091" y="50044"/>
                </a:lnTo>
                <a:lnTo>
                  <a:pt x="1699808" y="84625"/>
                </a:lnTo>
                <a:lnTo>
                  <a:pt x="1717032" y="125440"/>
                </a:lnTo>
                <a:lnTo>
                  <a:pt x="1723135" y="170862"/>
                </a:lnTo>
                <a:lnTo>
                  <a:pt x="1723135" y="854296"/>
                </a:lnTo>
                <a:lnTo>
                  <a:pt x="1717032" y="899718"/>
                </a:lnTo>
                <a:lnTo>
                  <a:pt x="1699808" y="940534"/>
                </a:lnTo>
                <a:lnTo>
                  <a:pt x="1673091" y="975114"/>
                </a:lnTo>
                <a:lnTo>
                  <a:pt x="1638510" y="1001831"/>
                </a:lnTo>
                <a:lnTo>
                  <a:pt x="1597695" y="1019056"/>
                </a:lnTo>
                <a:lnTo>
                  <a:pt x="1552273" y="1025159"/>
                </a:lnTo>
                <a:lnTo>
                  <a:pt x="170862" y="1025159"/>
                </a:lnTo>
                <a:lnTo>
                  <a:pt x="125440" y="1019056"/>
                </a:lnTo>
                <a:lnTo>
                  <a:pt x="84624" y="1001831"/>
                </a:lnTo>
                <a:lnTo>
                  <a:pt x="50044" y="975114"/>
                </a:lnTo>
                <a:lnTo>
                  <a:pt x="23327" y="940534"/>
                </a:lnTo>
                <a:lnTo>
                  <a:pt x="6103" y="899718"/>
                </a:lnTo>
                <a:lnTo>
                  <a:pt x="0" y="854296"/>
                </a:lnTo>
                <a:lnTo>
                  <a:pt x="0" y="170862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0393" y="2776825"/>
            <a:ext cx="5821680" cy="2294890"/>
            <a:chOff x="730393" y="2776825"/>
            <a:chExt cx="5821680" cy="2294890"/>
          </a:xfrm>
        </p:grpSpPr>
        <p:sp>
          <p:nvSpPr>
            <p:cNvPr id="3" name="object 3"/>
            <p:cNvSpPr/>
            <p:nvPr/>
          </p:nvSpPr>
          <p:spPr>
            <a:xfrm>
              <a:off x="757478" y="2790596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478" y="3114420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478" y="3438245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37"/>
                  </a:lnTo>
                  <a:lnTo>
                    <a:pt x="1876666" y="323837"/>
                  </a:lnTo>
                  <a:lnTo>
                    <a:pt x="3095866" y="323837"/>
                  </a:lnTo>
                  <a:lnTo>
                    <a:pt x="5767451" y="323837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478" y="3762082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478" y="4085907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478" y="4409731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37"/>
                  </a:lnTo>
                  <a:lnTo>
                    <a:pt x="1876666" y="323837"/>
                  </a:lnTo>
                  <a:lnTo>
                    <a:pt x="3095866" y="323837"/>
                  </a:lnTo>
                  <a:lnTo>
                    <a:pt x="5767451" y="323837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7478" y="4733569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34153" y="2783810"/>
              <a:ext cx="1219200" cy="2280920"/>
            </a:xfrm>
            <a:custGeom>
              <a:avLst/>
              <a:gdLst/>
              <a:ahLst/>
              <a:cxnLst/>
              <a:rect l="l" t="t" r="r" b="b"/>
              <a:pathLst>
                <a:path w="1219200" h="2280920">
                  <a:moveTo>
                    <a:pt x="0" y="0"/>
                  </a:moveTo>
                  <a:lnTo>
                    <a:pt x="0" y="2280351"/>
                  </a:lnTo>
                </a:path>
                <a:path w="1219200" h="2280920">
                  <a:moveTo>
                    <a:pt x="1219199" y="0"/>
                  </a:moveTo>
                  <a:lnTo>
                    <a:pt x="1219199" y="2280351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0713" y="3114412"/>
              <a:ext cx="5781040" cy="0"/>
            </a:xfrm>
            <a:custGeom>
              <a:avLst/>
              <a:gdLst/>
              <a:ahLst/>
              <a:cxnLst/>
              <a:rect l="l" t="t" r="r" b="b"/>
              <a:pathLst>
                <a:path w="5781040">
                  <a:moveTo>
                    <a:pt x="0" y="0"/>
                  </a:moveTo>
                  <a:lnTo>
                    <a:pt x="5780994" y="0"/>
                  </a:lnTo>
                </a:path>
              </a:pathLst>
            </a:custGeom>
            <a:ln w="406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0713" y="2783810"/>
              <a:ext cx="5781040" cy="2280920"/>
            </a:xfrm>
            <a:custGeom>
              <a:avLst/>
              <a:gdLst/>
              <a:ahLst/>
              <a:cxnLst/>
              <a:rect l="l" t="t" r="r" b="b"/>
              <a:pathLst>
                <a:path w="5781040" h="2280920">
                  <a:moveTo>
                    <a:pt x="0" y="654431"/>
                  </a:moveTo>
                  <a:lnTo>
                    <a:pt x="5780994" y="654431"/>
                  </a:lnTo>
                </a:path>
                <a:path w="5781040" h="2280920">
                  <a:moveTo>
                    <a:pt x="0" y="978261"/>
                  </a:moveTo>
                  <a:lnTo>
                    <a:pt x="5780994" y="978261"/>
                  </a:lnTo>
                </a:path>
                <a:path w="5781040" h="2280920">
                  <a:moveTo>
                    <a:pt x="0" y="1302090"/>
                  </a:moveTo>
                  <a:lnTo>
                    <a:pt x="5780994" y="1302090"/>
                  </a:lnTo>
                </a:path>
                <a:path w="5781040" h="2280920">
                  <a:moveTo>
                    <a:pt x="0" y="1625919"/>
                  </a:moveTo>
                  <a:lnTo>
                    <a:pt x="5780994" y="1625919"/>
                  </a:lnTo>
                </a:path>
                <a:path w="5781040" h="2280920">
                  <a:moveTo>
                    <a:pt x="0" y="1949749"/>
                  </a:moveTo>
                  <a:lnTo>
                    <a:pt x="5780994" y="1949749"/>
                  </a:lnTo>
                </a:path>
                <a:path w="5781040" h="2280920">
                  <a:moveTo>
                    <a:pt x="6773" y="0"/>
                  </a:moveTo>
                  <a:lnTo>
                    <a:pt x="6773" y="2280351"/>
                  </a:lnTo>
                </a:path>
                <a:path w="5781040" h="2280920">
                  <a:moveTo>
                    <a:pt x="5774220" y="0"/>
                  </a:moveTo>
                  <a:lnTo>
                    <a:pt x="5774220" y="2280351"/>
                  </a:lnTo>
                </a:path>
                <a:path w="5781040" h="2280920">
                  <a:moveTo>
                    <a:pt x="0" y="6773"/>
                  </a:moveTo>
                  <a:lnTo>
                    <a:pt x="5780994" y="6773"/>
                  </a:lnTo>
                </a:path>
                <a:path w="5781040" h="2280920">
                  <a:moveTo>
                    <a:pt x="0" y="2273578"/>
                  </a:moveTo>
                  <a:lnTo>
                    <a:pt x="5780994" y="2273578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05693" y="2802128"/>
            <a:ext cx="11811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pu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1172" y="2802128"/>
            <a:ext cx="6451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35330" y="2802128"/>
            <a:ext cx="9074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instructor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9760" y="3125215"/>
            <a:ext cx="4533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ht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2726" y="3125215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86223" y="3125215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70606" y="3448303"/>
            <a:ext cx="45148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dt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72726" y="3448303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6223" y="3448303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70606" y="3771391"/>
            <a:ext cx="45148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dt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72726" y="3771391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86223" y="3771391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5573" y="4097528"/>
            <a:ext cx="5619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72726" y="4097528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86223" y="4097528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13879" y="4420616"/>
            <a:ext cx="563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72726" y="4420616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86223" y="4420616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15573" y="4743704"/>
            <a:ext cx="42779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9414" algn="l"/>
                <a:tab pos="328295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md3y	cs2	someone2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390313" y="390143"/>
            <a:ext cx="92944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40" dirty="0"/>
              <a:t>Boy</a:t>
            </a:r>
            <a:r>
              <a:rPr sz="4100" spc="-130" dirty="0"/>
              <a:t>c</a:t>
            </a:r>
            <a:r>
              <a:rPr sz="4100" spc="-140" dirty="0"/>
              <a:t>e</a:t>
            </a:r>
            <a:r>
              <a:rPr sz="4100" spc="-130" dirty="0"/>
              <a:t>-</a:t>
            </a:r>
            <a:r>
              <a:rPr sz="4100" spc="-145" dirty="0"/>
              <a:t>C</a:t>
            </a:r>
            <a:r>
              <a:rPr sz="4100" spc="-140" dirty="0"/>
              <a:t>o</a:t>
            </a:r>
            <a:r>
              <a:rPr sz="4100" spc="-135" dirty="0"/>
              <a:t>d</a:t>
            </a:r>
            <a:r>
              <a:rPr sz="4100" dirty="0"/>
              <a:t>d</a:t>
            </a:r>
            <a:r>
              <a:rPr sz="4100" spc="-254" dirty="0"/>
              <a:t> </a:t>
            </a:r>
            <a:r>
              <a:rPr sz="4100" spc="-155" dirty="0"/>
              <a:t>N</a:t>
            </a:r>
            <a:r>
              <a:rPr sz="4100" spc="-135" dirty="0"/>
              <a:t>or</a:t>
            </a:r>
            <a:r>
              <a:rPr sz="4100" spc="-155" dirty="0"/>
              <a:t>m</a:t>
            </a:r>
            <a:r>
              <a:rPr sz="4100" spc="-145" dirty="0"/>
              <a:t>a</a:t>
            </a:r>
            <a:r>
              <a:rPr sz="4100" dirty="0"/>
              <a:t>l</a:t>
            </a:r>
            <a:r>
              <a:rPr sz="4100" spc="-250" dirty="0"/>
              <a:t> </a:t>
            </a:r>
            <a:r>
              <a:rPr sz="4100" spc="-135" dirty="0"/>
              <a:t>For</a:t>
            </a:r>
            <a:r>
              <a:rPr sz="4100" dirty="0"/>
              <a:t>m</a:t>
            </a:r>
            <a:r>
              <a:rPr sz="4100" spc="-280" dirty="0"/>
              <a:t> </a:t>
            </a:r>
            <a:r>
              <a:rPr sz="4100" spc="-135" dirty="0"/>
              <a:t>(B</a:t>
            </a:r>
            <a:r>
              <a:rPr sz="4100" spc="-140" dirty="0"/>
              <a:t>C</a:t>
            </a:r>
            <a:r>
              <a:rPr sz="4100" spc="-155" dirty="0"/>
              <a:t>N</a:t>
            </a:r>
            <a:r>
              <a:rPr sz="4100" spc="-135" dirty="0"/>
              <a:t>F</a:t>
            </a:r>
            <a:r>
              <a:rPr sz="4100" dirty="0"/>
              <a:t>)</a:t>
            </a:r>
            <a:endParaRPr sz="4100"/>
          </a:p>
        </p:txBody>
      </p:sp>
      <p:sp>
        <p:nvSpPr>
          <p:cNvPr id="33" name="object 33"/>
          <p:cNvSpPr txBox="1"/>
          <p:nvPr/>
        </p:nvSpPr>
        <p:spPr>
          <a:xfrm>
            <a:off x="502839" y="1160203"/>
            <a:ext cx="8430895" cy="874394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755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1NF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lossless-join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redundant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free</a:t>
            </a:r>
            <a:endParaRPr sz="22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630"/>
              </a:spcBef>
              <a:buSzPct val="86363"/>
              <a:buFont typeface="Arial MT"/>
              <a:buChar char="•"/>
              <a:tabLst>
                <a:tab pos="208279" algn="l"/>
              </a:tabLst>
            </a:pPr>
            <a:r>
              <a:rPr sz="2200" spc="-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non-trivial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dependency,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Cambria Math"/>
                <a:cs typeface="Cambria Math"/>
              </a:rPr>
              <a:t>𝑋</a:t>
            </a:r>
            <a:r>
              <a:rPr sz="2200" spc="315" dirty="0">
                <a:solidFill>
                  <a:srgbClr val="292934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→</a:t>
            </a:r>
            <a:r>
              <a:rPr sz="2200" spc="2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Cambria Math"/>
                <a:cs typeface="Cambria Math"/>
              </a:rPr>
              <a:t>𝐴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Cambria Math"/>
                <a:cs typeface="Cambria Math"/>
              </a:rPr>
              <a:t>𝑋</a:t>
            </a:r>
            <a:r>
              <a:rPr sz="2200" spc="315" dirty="0">
                <a:solidFill>
                  <a:srgbClr val="292934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Verdana"/>
                <a:cs typeface="Verdana"/>
              </a:rPr>
              <a:t>superkey</a:t>
            </a:r>
            <a:r>
              <a:rPr sz="22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7427" y="5299455"/>
            <a:ext cx="8926195" cy="179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20214">
              <a:lnSpc>
                <a:spcPct val="1137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simplify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name: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(A,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C),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C,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non-key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implies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(part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of)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Verdana"/>
              <a:cs typeface="Verdana"/>
            </a:endParaRPr>
          </a:p>
          <a:p>
            <a:pPr marL="5767705">
              <a:lnSpc>
                <a:spcPct val="100000"/>
              </a:lnSpc>
              <a:spcBef>
                <a:spcPts val="5"/>
              </a:spcBef>
            </a:pP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Not satisfy 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BCNF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--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Fix it!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36170" y="2491322"/>
            <a:ext cx="5373370" cy="2596515"/>
            <a:chOff x="736170" y="2491322"/>
            <a:chExt cx="5373370" cy="2596515"/>
          </a:xfrm>
        </p:grpSpPr>
        <p:sp>
          <p:nvSpPr>
            <p:cNvPr id="36" name="object 36"/>
            <p:cNvSpPr/>
            <p:nvPr/>
          </p:nvSpPr>
          <p:spPr>
            <a:xfrm>
              <a:off x="750263" y="2773566"/>
              <a:ext cx="3124835" cy="2300605"/>
            </a:xfrm>
            <a:custGeom>
              <a:avLst/>
              <a:gdLst/>
              <a:ahLst/>
              <a:cxnLst/>
              <a:rect l="l" t="t" r="r" b="b"/>
              <a:pathLst>
                <a:path w="3124835" h="2300604">
                  <a:moveTo>
                    <a:pt x="0" y="383354"/>
                  </a:moveTo>
                  <a:lnTo>
                    <a:pt x="2986" y="335267"/>
                  </a:lnTo>
                  <a:lnTo>
                    <a:pt x="11708" y="288962"/>
                  </a:lnTo>
                  <a:lnTo>
                    <a:pt x="25804" y="244799"/>
                  </a:lnTo>
                  <a:lnTo>
                    <a:pt x="44915" y="203137"/>
                  </a:lnTo>
                  <a:lnTo>
                    <a:pt x="68684" y="164336"/>
                  </a:lnTo>
                  <a:lnTo>
                    <a:pt x="96749" y="128753"/>
                  </a:lnTo>
                  <a:lnTo>
                    <a:pt x="128753" y="96750"/>
                  </a:lnTo>
                  <a:lnTo>
                    <a:pt x="164335" y="68684"/>
                  </a:lnTo>
                  <a:lnTo>
                    <a:pt x="203137" y="44916"/>
                  </a:lnTo>
                  <a:lnTo>
                    <a:pt x="244799" y="25804"/>
                  </a:lnTo>
                  <a:lnTo>
                    <a:pt x="288962" y="11708"/>
                  </a:lnTo>
                  <a:lnTo>
                    <a:pt x="335267" y="2986"/>
                  </a:lnTo>
                  <a:lnTo>
                    <a:pt x="383354" y="0"/>
                  </a:lnTo>
                  <a:lnTo>
                    <a:pt x="2741411" y="0"/>
                  </a:lnTo>
                  <a:lnTo>
                    <a:pt x="2789498" y="2986"/>
                  </a:lnTo>
                  <a:lnTo>
                    <a:pt x="2835802" y="11708"/>
                  </a:lnTo>
                  <a:lnTo>
                    <a:pt x="2879965" y="25804"/>
                  </a:lnTo>
                  <a:lnTo>
                    <a:pt x="2921627" y="44916"/>
                  </a:lnTo>
                  <a:lnTo>
                    <a:pt x="2960429" y="68684"/>
                  </a:lnTo>
                  <a:lnTo>
                    <a:pt x="2996012" y="96750"/>
                  </a:lnTo>
                  <a:lnTo>
                    <a:pt x="3028015" y="128753"/>
                  </a:lnTo>
                  <a:lnTo>
                    <a:pt x="3056081" y="164336"/>
                  </a:lnTo>
                  <a:lnTo>
                    <a:pt x="3079849" y="203137"/>
                  </a:lnTo>
                  <a:lnTo>
                    <a:pt x="3098961" y="244799"/>
                  </a:lnTo>
                  <a:lnTo>
                    <a:pt x="3113057" y="288962"/>
                  </a:lnTo>
                  <a:lnTo>
                    <a:pt x="3121778" y="335267"/>
                  </a:lnTo>
                  <a:lnTo>
                    <a:pt x="3124765" y="383354"/>
                  </a:lnTo>
                  <a:lnTo>
                    <a:pt x="3124765" y="1916724"/>
                  </a:lnTo>
                  <a:lnTo>
                    <a:pt x="3121778" y="1964811"/>
                  </a:lnTo>
                  <a:lnTo>
                    <a:pt x="3113057" y="2011116"/>
                  </a:lnTo>
                  <a:lnTo>
                    <a:pt x="3098961" y="2055279"/>
                  </a:lnTo>
                  <a:lnTo>
                    <a:pt x="3079849" y="2096941"/>
                  </a:lnTo>
                  <a:lnTo>
                    <a:pt x="3056081" y="2135742"/>
                  </a:lnTo>
                  <a:lnTo>
                    <a:pt x="3028015" y="2171325"/>
                  </a:lnTo>
                  <a:lnTo>
                    <a:pt x="2996012" y="2203328"/>
                  </a:lnTo>
                  <a:lnTo>
                    <a:pt x="2960429" y="2231394"/>
                  </a:lnTo>
                  <a:lnTo>
                    <a:pt x="2921627" y="2255162"/>
                  </a:lnTo>
                  <a:lnTo>
                    <a:pt x="2879965" y="2274274"/>
                  </a:lnTo>
                  <a:lnTo>
                    <a:pt x="2835802" y="2288370"/>
                  </a:lnTo>
                  <a:lnTo>
                    <a:pt x="2789498" y="2297092"/>
                  </a:lnTo>
                  <a:lnTo>
                    <a:pt x="2741411" y="2300078"/>
                  </a:lnTo>
                  <a:lnTo>
                    <a:pt x="383354" y="2300078"/>
                  </a:lnTo>
                  <a:lnTo>
                    <a:pt x="335267" y="2297092"/>
                  </a:lnTo>
                  <a:lnTo>
                    <a:pt x="288962" y="2288370"/>
                  </a:lnTo>
                  <a:lnTo>
                    <a:pt x="244799" y="2274274"/>
                  </a:lnTo>
                  <a:lnTo>
                    <a:pt x="203137" y="2255162"/>
                  </a:lnTo>
                  <a:lnTo>
                    <a:pt x="164335" y="2231394"/>
                  </a:lnTo>
                  <a:lnTo>
                    <a:pt x="128753" y="2203328"/>
                  </a:lnTo>
                  <a:lnTo>
                    <a:pt x="96749" y="2171325"/>
                  </a:lnTo>
                  <a:lnTo>
                    <a:pt x="68684" y="2135742"/>
                  </a:lnTo>
                  <a:lnTo>
                    <a:pt x="44915" y="2096941"/>
                  </a:lnTo>
                  <a:lnTo>
                    <a:pt x="25804" y="2055279"/>
                  </a:lnTo>
                  <a:lnTo>
                    <a:pt x="11708" y="2011116"/>
                  </a:lnTo>
                  <a:lnTo>
                    <a:pt x="2986" y="1964811"/>
                  </a:lnTo>
                  <a:lnTo>
                    <a:pt x="0" y="1916724"/>
                  </a:lnTo>
                  <a:lnTo>
                    <a:pt x="0" y="383354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79616" y="2743629"/>
              <a:ext cx="1815464" cy="2330450"/>
            </a:xfrm>
            <a:custGeom>
              <a:avLst/>
              <a:gdLst/>
              <a:ahLst/>
              <a:cxnLst/>
              <a:rect l="l" t="t" r="r" b="b"/>
              <a:pathLst>
                <a:path w="1815464" h="2330450">
                  <a:moveTo>
                    <a:pt x="0" y="302548"/>
                  </a:moveTo>
                  <a:lnTo>
                    <a:pt x="3959" y="253473"/>
                  </a:lnTo>
                  <a:lnTo>
                    <a:pt x="15424" y="206919"/>
                  </a:lnTo>
                  <a:lnTo>
                    <a:pt x="33769" y="163509"/>
                  </a:lnTo>
                  <a:lnTo>
                    <a:pt x="58374" y="123867"/>
                  </a:lnTo>
                  <a:lnTo>
                    <a:pt x="88614" y="88614"/>
                  </a:lnTo>
                  <a:lnTo>
                    <a:pt x="123867" y="58374"/>
                  </a:lnTo>
                  <a:lnTo>
                    <a:pt x="163509" y="33769"/>
                  </a:lnTo>
                  <a:lnTo>
                    <a:pt x="206919" y="15424"/>
                  </a:lnTo>
                  <a:lnTo>
                    <a:pt x="253473" y="3959"/>
                  </a:lnTo>
                  <a:lnTo>
                    <a:pt x="302548" y="0"/>
                  </a:lnTo>
                  <a:lnTo>
                    <a:pt x="1512705" y="0"/>
                  </a:lnTo>
                  <a:lnTo>
                    <a:pt x="1561780" y="3959"/>
                  </a:lnTo>
                  <a:lnTo>
                    <a:pt x="1608333" y="15424"/>
                  </a:lnTo>
                  <a:lnTo>
                    <a:pt x="1651743" y="33769"/>
                  </a:lnTo>
                  <a:lnTo>
                    <a:pt x="1691386" y="58374"/>
                  </a:lnTo>
                  <a:lnTo>
                    <a:pt x="1726639" y="88614"/>
                  </a:lnTo>
                  <a:lnTo>
                    <a:pt x="1756879" y="123867"/>
                  </a:lnTo>
                  <a:lnTo>
                    <a:pt x="1781483" y="163509"/>
                  </a:lnTo>
                  <a:lnTo>
                    <a:pt x="1799829" y="206919"/>
                  </a:lnTo>
                  <a:lnTo>
                    <a:pt x="1811293" y="253473"/>
                  </a:lnTo>
                  <a:lnTo>
                    <a:pt x="1815253" y="302548"/>
                  </a:lnTo>
                  <a:lnTo>
                    <a:pt x="1815253" y="2027469"/>
                  </a:lnTo>
                  <a:lnTo>
                    <a:pt x="1811293" y="2076544"/>
                  </a:lnTo>
                  <a:lnTo>
                    <a:pt x="1799829" y="2123098"/>
                  </a:lnTo>
                  <a:lnTo>
                    <a:pt x="1781483" y="2166508"/>
                  </a:lnTo>
                  <a:lnTo>
                    <a:pt x="1756879" y="2206151"/>
                  </a:lnTo>
                  <a:lnTo>
                    <a:pt x="1726639" y="2241403"/>
                  </a:lnTo>
                  <a:lnTo>
                    <a:pt x="1691386" y="2271643"/>
                  </a:lnTo>
                  <a:lnTo>
                    <a:pt x="1651743" y="2296248"/>
                  </a:lnTo>
                  <a:lnTo>
                    <a:pt x="1608333" y="2314594"/>
                  </a:lnTo>
                  <a:lnTo>
                    <a:pt x="1561780" y="2326058"/>
                  </a:lnTo>
                  <a:lnTo>
                    <a:pt x="1512705" y="2330018"/>
                  </a:lnTo>
                  <a:lnTo>
                    <a:pt x="302548" y="2330018"/>
                  </a:lnTo>
                  <a:lnTo>
                    <a:pt x="253473" y="2326058"/>
                  </a:lnTo>
                  <a:lnTo>
                    <a:pt x="206919" y="2314594"/>
                  </a:lnTo>
                  <a:lnTo>
                    <a:pt x="163509" y="2296248"/>
                  </a:lnTo>
                  <a:lnTo>
                    <a:pt x="123867" y="2271643"/>
                  </a:lnTo>
                  <a:lnTo>
                    <a:pt x="88614" y="2241403"/>
                  </a:lnTo>
                  <a:lnTo>
                    <a:pt x="58374" y="2206151"/>
                  </a:lnTo>
                  <a:lnTo>
                    <a:pt x="33769" y="2166508"/>
                  </a:lnTo>
                  <a:lnTo>
                    <a:pt x="15424" y="2123098"/>
                  </a:lnTo>
                  <a:lnTo>
                    <a:pt x="3959" y="2076544"/>
                  </a:lnTo>
                  <a:lnTo>
                    <a:pt x="0" y="2027469"/>
                  </a:lnTo>
                  <a:lnTo>
                    <a:pt x="0" y="302548"/>
                  </a:lnTo>
                  <a:close/>
                </a:path>
              </a:pathLst>
            </a:custGeom>
            <a:ln w="28186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36900" y="2491322"/>
              <a:ext cx="1844675" cy="259079"/>
            </a:xfrm>
            <a:custGeom>
              <a:avLst/>
              <a:gdLst/>
              <a:ahLst/>
              <a:cxnLst/>
              <a:rect l="l" t="t" r="r" b="b"/>
              <a:pathLst>
                <a:path w="1844675" h="259080">
                  <a:moveTo>
                    <a:pt x="30480" y="167639"/>
                  </a:moveTo>
                  <a:lnTo>
                    <a:pt x="0" y="167639"/>
                  </a:lnTo>
                  <a:lnTo>
                    <a:pt x="45720" y="259079"/>
                  </a:lnTo>
                  <a:lnTo>
                    <a:pt x="83820" y="182879"/>
                  </a:lnTo>
                  <a:lnTo>
                    <a:pt x="30480" y="182879"/>
                  </a:lnTo>
                  <a:lnTo>
                    <a:pt x="30480" y="167639"/>
                  </a:lnTo>
                  <a:close/>
                </a:path>
                <a:path w="1844675" h="259080">
                  <a:moveTo>
                    <a:pt x="60960" y="91439"/>
                  </a:moveTo>
                  <a:lnTo>
                    <a:pt x="30480" y="91439"/>
                  </a:lnTo>
                  <a:lnTo>
                    <a:pt x="30480" y="182879"/>
                  </a:lnTo>
                  <a:lnTo>
                    <a:pt x="60960" y="182879"/>
                  </a:lnTo>
                  <a:lnTo>
                    <a:pt x="60960" y="91439"/>
                  </a:lnTo>
                  <a:close/>
                </a:path>
                <a:path w="1844675" h="259080">
                  <a:moveTo>
                    <a:pt x="91439" y="167639"/>
                  </a:moveTo>
                  <a:lnTo>
                    <a:pt x="60960" y="167639"/>
                  </a:lnTo>
                  <a:lnTo>
                    <a:pt x="60960" y="182879"/>
                  </a:lnTo>
                  <a:lnTo>
                    <a:pt x="83820" y="182879"/>
                  </a:lnTo>
                  <a:lnTo>
                    <a:pt x="91439" y="167639"/>
                  </a:lnTo>
                  <a:close/>
                </a:path>
                <a:path w="1844675" h="259080">
                  <a:moveTo>
                    <a:pt x="91439" y="0"/>
                  </a:moveTo>
                  <a:lnTo>
                    <a:pt x="37303" y="0"/>
                  </a:lnTo>
                  <a:lnTo>
                    <a:pt x="30480" y="6823"/>
                  </a:lnTo>
                  <a:lnTo>
                    <a:pt x="30480" y="60960"/>
                  </a:lnTo>
                  <a:lnTo>
                    <a:pt x="60960" y="60960"/>
                  </a:lnTo>
                  <a:lnTo>
                    <a:pt x="60960" y="30479"/>
                  </a:lnTo>
                  <a:lnTo>
                    <a:pt x="45720" y="30479"/>
                  </a:lnTo>
                  <a:lnTo>
                    <a:pt x="60960" y="15239"/>
                  </a:lnTo>
                  <a:lnTo>
                    <a:pt x="91439" y="15239"/>
                  </a:lnTo>
                  <a:lnTo>
                    <a:pt x="91439" y="0"/>
                  </a:lnTo>
                  <a:close/>
                </a:path>
                <a:path w="1844675" h="259080">
                  <a:moveTo>
                    <a:pt x="60960" y="15239"/>
                  </a:moveTo>
                  <a:lnTo>
                    <a:pt x="45720" y="30479"/>
                  </a:lnTo>
                  <a:lnTo>
                    <a:pt x="60960" y="30479"/>
                  </a:lnTo>
                  <a:lnTo>
                    <a:pt x="60960" y="15239"/>
                  </a:lnTo>
                  <a:close/>
                </a:path>
                <a:path w="1844675" h="259080">
                  <a:moveTo>
                    <a:pt x="91439" y="15239"/>
                  </a:moveTo>
                  <a:lnTo>
                    <a:pt x="60960" y="15239"/>
                  </a:lnTo>
                  <a:lnTo>
                    <a:pt x="60960" y="30479"/>
                  </a:lnTo>
                  <a:lnTo>
                    <a:pt x="91439" y="30479"/>
                  </a:lnTo>
                  <a:lnTo>
                    <a:pt x="91439" y="15239"/>
                  </a:lnTo>
                  <a:close/>
                </a:path>
                <a:path w="1844675" h="259080">
                  <a:moveTo>
                    <a:pt x="213360" y="0"/>
                  </a:moveTo>
                  <a:lnTo>
                    <a:pt x="121920" y="0"/>
                  </a:lnTo>
                  <a:lnTo>
                    <a:pt x="121920" y="30479"/>
                  </a:lnTo>
                  <a:lnTo>
                    <a:pt x="213360" y="30479"/>
                  </a:lnTo>
                  <a:lnTo>
                    <a:pt x="213360" y="0"/>
                  </a:lnTo>
                  <a:close/>
                </a:path>
                <a:path w="1844675" h="259080">
                  <a:moveTo>
                    <a:pt x="335280" y="0"/>
                  </a:moveTo>
                  <a:lnTo>
                    <a:pt x="243839" y="0"/>
                  </a:lnTo>
                  <a:lnTo>
                    <a:pt x="243839" y="30479"/>
                  </a:lnTo>
                  <a:lnTo>
                    <a:pt x="335280" y="30479"/>
                  </a:lnTo>
                  <a:lnTo>
                    <a:pt x="335280" y="0"/>
                  </a:lnTo>
                  <a:close/>
                </a:path>
                <a:path w="1844675" h="259080">
                  <a:moveTo>
                    <a:pt x="457200" y="0"/>
                  </a:moveTo>
                  <a:lnTo>
                    <a:pt x="365760" y="0"/>
                  </a:lnTo>
                  <a:lnTo>
                    <a:pt x="365760" y="30479"/>
                  </a:lnTo>
                  <a:lnTo>
                    <a:pt x="457200" y="30479"/>
                  </a:lnTo>
                  <a:lnTo>
                    <a:pt x="457200" y="0"/>
                  </a:lnTo>
                  <a:close/>
                </a:path>
                <a:path w="1844675" h="259080">
                  <a:moveTo>
                    <a:pt x="579120" y="0"/>
                  </a:moveTo>
                  <a:lnTo>
                    <a:pt x="487680" y="0"/>
                  </a:lnTo>
                  <a:lnTo>
                    <a:pt x="487680" y="30479"/>
                  </a:lnTo>
                  <a:lnTo>
                    <a:pt x="579120" y="30479"/>
                  </a:lnTo>
                  <a:lnTo>
                    <a:pt x="579120" y="0"/>
                  </a:lnTo>
                  <a:close/>
                </a:path>
                <a:path w="1844675" h="259080">
                  <a:moveTo>
                    <a:pt x="701039" y="0"/>
                  </a:moveTo>
                  <a:lnTo>
                    <a:pt x="609600" y="0"/>
                  </a:lnTo>
                  <a:lnTo>
                    <a:pt x="609600" y="30479"/>
                  </a:lnTo>
                  <a:lnTo>
                    <a:pt x="701039" y="30479"/>
                  </a:lnTo>
                  <a:lnTo>
                    <a:pt x="701039" y="0"/>
                  </a:lnTo>
                  <a:close/>
                </a:path>
                <a:path w="1844675" h="259080">
                  <a:moveTo>
                    <a:pt x="822960" y="0"/>
                  </a:moveTo>
                  <a:lnTo>
                    <a:pt x="731520" y="0"/>
                  </a:lnTo>
                  <a:lnTo>
                    <a:pt x="731520" y="30479"/>
                  </a:lnTo>
                  <a:lnTo>
                    <a:pt x="822960" y="30479"/>
                  </a:lnTo>
                  <a:lnTo>
                    <a:pt x="822960" y="0"/>
                  </a:lnTo>
                  <a:close/>
                </a:path>
                <a:path w="1844675" h="259080">
                  <a:moveTo>
                    <a:pt x="944880" y="0"/>
                  </a:moveTo>
                  <a:lnTo>
                    <a:pt x="853439" y="0"/>
                  </a:lnTo>
                  <a:lnTo>
                    <a:pt x="853439" y="30479"/>
                  </a:lnTo>
                  <a:lnTo>
                    <a:pt x="944880" y="30479"/>
                  </a:lnTo>
                  <a:lnTo>
                    <a:pt x="944880" y="0"/>
                  </a:lnTo>
                  <a:close/>
                </a:path>
                <a:path w="1844675" h="259080">
                  <a:moveTo>
                    <a:pt x="1066800" y="0"/>
                  </a:moveTo>
                  <a:lnTo>
                    <a:pt x="975360" y="0"/>
                  </a:lnTo>
                  <a:lnTo>
                    <a:pt x="975360" y="30479"/>
                  </a:lnTo>
                  <a:lnTo>
                    <a:pt x="1066800" y="30479"/>
                  </a:lnTo>
                  <a:lnTo>
                    <a:pt x="1066800" y="0"/>
                  </a:lnTo>
                  <a:close/>
                </a:path>
                <a:path w="1844675" h="259080">
                  <a:moveTo>
                    <a:pt x="1188720" y="0"/>
                  </a:moveTo>
                  <a:lnTo>
                    <a:pt x="1097280" y="0"/>
                  </a:lnTo>
                  <a:lnTo>
                    <a:pt x="1097280" y="30479"/>
                  </a:lnTo>
                  <a:lnTo>
                    <a:pt x="1188720" y="30479"/>
                  </a:lnTo>
                  <a:lnTo>
                    <a:pt x="1188720" y="0"/>
                  </a:lnTo>
                  <a:close/>
                </a:path>
                <a:path w="1844675" h="259080">
                  <a:moveTo>
                    <a:pt x="1310639" y="0"/>
                  </a:moveTo>
                  <a:lnTo>
                    <a:pt x="1219200" y="0"/>
                  </a:lnTo>
                  <a:lnTo>
                    <a:pt x="1219200" y="30479"/>
                  </a:lnTo>
                  <a:lnTo>
                    <a:pt x="1310639" y="30479"/>
                  </a:lnTo>
                  <a:lnTo>
                    <a:pt x="1310639" y="0"/>
                  </a:lnTo>
                  <a:close/>
                </a:path>
                <a:path w="1844675" h="259080">
                  <a:moveTo>
                    <a:pt x="1432560" y="0"/>
                  </a:moveTo>
                  <a:lnTo>
                    <a:pt x="1341120" y="0"/>
                  </a:lnTo>
                  <a:lnTo>
                    <a:pt x="1341120" y="30479"/>
                  </a:lnTo>
                  <a:lnTo>
                    <a:pt x="1432560" y="30479"/>
                  </a:lnTo>
                  <a:lnTo>
                    <a:pt x="1432560" y="0"/>
                  </a:lnTo>
                  <a:close/>
                </a:path>
                <a:path w="1844675" h="259080">
                  <a:moveTo>
                    <a:pt x="1554480" y="0"/>
                  </a:moveTo>
                  <a:lnTo>
                    <a:pt x="1463039" y="0"/>
                  </a:lnTo>
                  <a:lnTo>
                    <a:pt x="1463039" y="30479"/>
                  </a:lnTo>
                  <a:lnTo>
                    <a:pt x="1554480" y="30479"/>
                  </a:lnTo>
                  <a:lnTo>
                    <a:pt x="1554480" y="0"/>
                  </a:lnTo>
                  <a:close/>
                </a:path>
                <a:path w="1844675" h="259080">
                  <a:moveTo>
                    <a:pt x="1676400" y="0"/>
                  </a:moveTo>
                  <a:lnTo>
                    <a:pt x="1584960" y="0"/>
                  </a:lnTo>
                  <a:lnTo>
                    <a:pt x="1584960" y="30479"/>
                  </a:lnTo>
                  <a:lnTo>
                    <a:pt x="1676400" y="30479"/>
                  </a:lnTo>
                  <a:lnTo>
                    <a:pt x="1676400" y="0"/>
                  </a:lnTo>
                  <a:close/>
                </a:path>
                <a:path w="1844675" h="259080">
                  <a:moveTo>
                    <a:pt x="1798320" y="0"/>
                  </a:moveTo>
                  <a:lnTo>
                    <a:pt x="1706880" y="0"/>
                  </a:lnTo>
                  <a:lnTo>
                    <a:pt x="1706880" y="30479"/>
                  </a:lnTo>
                  <a:lnTo>
                    <a:pt x="1798320" y="30479"/>
                  </a:lnTo>
                  <a:lnTo>
                    <a:pt x="1798320" y="0"/>
                  </a:lnTo>
                  <a:close/>
                </a:path>
                <a:path w="1844675" h="259080">
                  <a:moveTo>
                    <a:pt x="1814122" y="15239"/>
                  </a:moveTo>
                  <a:lnTo>
                    <a:pt x="1814122" y="106117"/>
                  </a:lnTo>
                  <a:lnTo>
                    <a:pt x="1844602" y="106117"/>
                  </a:lnTo>
                  <a:lnTo>
                    <a:pt x="1844602" y="30479"/>
                  </a:lnTo>
                  <a:lnTo>
                    <a:pt x="1828800" y="30479"/>
                  </a:lnTo>
                  <a:lnTo>
                    <a:pt x="1828800" y="29917"/>
                  </a:lnTo>
                  <a:lnTo>
                    <a:pt x="1814122" y="15239"/>
                  </a:lnTo>
                  <a:close/>
                </a:path>
                <a:path w="1844675" h="259080">
                  <a:moveTo>
                    <a:pt x="1828800" y="29917"/>
                  </a:moveTo>
                  <a:lnTo>
                    <a:pt x="1828800" y="30479"/>
                  </a:lnTo>
                  <a:lnTo>
                    <a:pt x="1829362" y="30479"/>
                  </a:lnTo>
                  <a:lnTo>
                    <a:pt x="1828800" y="29917"/>
                  </a:lnTo>
                  <a:close/>
                </a:path>
                <a:path w="1844675" h="259080">
                  <a:moveTo>
                    <a:pt x="1837780" y="0"/>
                  </a:moveTo>
                  <a:lnTo>
                    <a:pt x="1828800" y="0"/>
                  </a:lnTo>
                  <a:lnTo>
                    <a:pt x="1828800" y="29917"/>
                  </a:lnTo>
                  <a:lnTo>
                    <a:pt x="1829362" y="30479"/>
                  </a:lnTo>
                  <a:lnTo>
                    <a:pt x="1844602" y="30479"/>
                  </a:lnTo>
                  <a:lnTo>
                    <a:pt x="1844602" y="6823"/>
                  </a:lnTo>
                  <a:lnTo>
                    <a:pt x="1837780" y="0"/>
                  </a:lnTo>
                  <a:close/>
                </a:path>
                <a:path w="1844675" h="259080">
                  <a:moveTo>
                    <a:pt x="1844602" y="136597"/>
                  </a:moveTo>
                  <a:lnTo>
                    <a:pt x="1814122" y="136597"/>
                  </a:lnTo>
                  <a:lnTo>
                    <a:pt x="1814122" y="228037"/>
                  </a:lnTo>
                  <a:lnTo>
                    <a:pt x="1844602" y="228037"/>
                  </a:lnTo>
                  <a:lnTo>
                    <a:pt x="1844602" y="136597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829949" y="3446272"/>
            <a:ext cx="2879725" cy="146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 marR="62230">
              <a:lnSpc>
                <a:spcPct val="1105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Suppose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 know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instructor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endParaRPr sz="1900">
              <a:latin typeface="Verdana"/>
              <a:cs typeface="Verdana"/>
            </a:endParaRPr>
          </a:p>
          <a:p>
            <a:pPr marL="12700" marR="5080">
              <a:lnSpc>
                <a:spcPts val="2180"/>
              </a:lnSpc>
              <a:spcBef>
                <a:spcPts val="1955"/>
              </a:spcBef>
            </a:pP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Cannot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C00000"/>
                </a:solidFill>
                <a:latin typeface="Verdana"/>
                <a:cs typeface="Verdana"/>
              </a:rPr>
              <a:t>have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a non-key </a:t>
            </a:r>
            <a:r>
              <a:rPr sz="1900" spc="-6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implies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600" y="2136648"/>
            <a:ext cx="2514600" cy="132587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7220228" y="2177831"/>
            <a:ext cx="2298700" cy="98996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120014" marR="113030" algn="ctr">
              <a:lnSpc>
                <a:spcPct val="90000"/>
              </a:lnSpc>
              <a:spcBef>
                <a:spcPts val="81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dependencies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900" spc="1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1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from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full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4393" y="3280148"/>
            <a:ext cx="175577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656714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19768" y="3280148"/>
            <a:ext cx="161353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51511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1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2699" y="3584948"/>
            <a:ext cx="1757680" cy="5334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65862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  <a:p>
            <a:pPr marL="1270">
              <a:lnSpc>
                <a:spcPct val="100000"/>
              </a:lnSpc>
              <a:spcBef>
                <a:spcPts val="580"/>
              </a:spcBef>
              <a:tabLst>
                <a:tab pos="165862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9768" y="3584948"/>
            <a:ext cx="1613535" cy="5334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51511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2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tabLst>
                <a:tab pos="151511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2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86834" y="2043273"/>
          <a:ext cx="8324848" cy="3884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7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2361">
                <a:tc gridSpan="2"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99085" marR="120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instructor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0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4607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Given</a:t>
                      </a:r>
                      <a:endParaRPr sz="1700">
                        <a:latin typeface="Verdana"/>
                        <a:cs typeface="Verdana"/>
                      </a:endParaRPr>
                    </a:p>
                    <a:p>
                      <a:pPr marL="29972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FDs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{</a:t>
                      </a:r>
                      <a:r>
                        <a:rPr sz="1700" u="heavy" spc="30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u="heavy" spc="5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Verdana"/>
                          <a:cs typeface="Verdana"/>
                        </a:rPr>
                        <a:t>AB</a:t>
                      </a:r>
                      <a:r>
                        <a:rPr sz="1700" u="heavy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u="heavy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700" u="heavy" spc="165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u="heavy" spc="-5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Verdana"/>
                          <a:cs typeface="Verdana"/>
                        </a:rPr>
                        <a:t>C,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  <a:p>
                      <a:pPr marL="32829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lost</a:t>
                      </a: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FD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0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361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451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361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451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361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451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45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9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7195">
                        <a:lnSpc>
                          <a:spcPts val="1340"/>
                        </a:lnSpc>
                        <a:spcBef>
                          <a:spcPts val="1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ts val="1340"/>
                        </a:lnSpc>
                        <a:spcBef>
                          <a:spcPts val="18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1340"/>
                        </a:lnSpc>
                        <a:spcBef>
                          <a:spcPts val="180"/>
                        </a:spcBef>
                        <a:tabLst>
                          <a:tab pos="943610" algn="l"/>
                        </a:tabLst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ucto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	</a:t>
                      </a:r>
                      <a:r>
                        <a:rPr sz="2250" spc="-15" baseline="27777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2250" baseline="27777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ts val="121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meone3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9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1180"/>
                        </a:lnSpc>
                        <a:spcBef>
                          <a:spcPts val="170"/>
                        </a:spcBef>
                        <a:tabLst>
                          <a:tab pos="1588135" algn="l"/>
                        </a:tabLst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eone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	</a:t>
                      </a:r>
                      <a:r>
                        <a:rPr sz="2250" spc="-15" baseline="33333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2250" baseline="33333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3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ts val="81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ts val="81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4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425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67385">
                        <a:lnSpc>
                          <a:spcPts val="93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instructor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0313" y="393192"/>
            <a:ext cx="92944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40" dirty="0"/>
              <a:t>Boy</a:t>
            </a:r>
            <a:r>
              <a:rPr sz="4100" spc="-130" dirty="0"/>
              <a:t>c</a:t>
            </a:r>
            <a:r>
              <a:rPr sz="4100" spc="-140" dirty="0"/>
              <a:t>e</a:t>
            </a:r>
            <a:r>
              <a:rPr sz="4100" spc="-130" dirty="0"/>
              <a:t>-</a:t>
            </a:r>
            <a:r>
              <a:rPr sz="4100" spc="-145" dirty="0"/>
              <a:t>C</a:t>
            </a:r>
            <a:r>
              <a:rPr sz="4100" spc="-140" dirty="0"/>
              <a:t>o</a:t>
            </a:r>
            <a:r>
              <a:rPr sz="4100" spc="-135" dirty="0"/>
              <a:t>d</a:t>
            </a:r>
            <a:r>
              <a:rPr sz="4100" dirty="0"/>
              <a:t>d</a:t>
            </a:r>
            <a:r>
              <a:rPr sz="4100" spc="-254" dirty="0"/>
              <a:t> </a:t>
            </a:r>
            <a:r>
              <a:rPr sz="4100" spc="-155" dirty="0"/>
              <a:t>N</a:t>
            </a:r>
            <a:r>
              <a:rPr sz="4100" spc="-135" dirty="0"/>
              <a:t>or</a:t>
            </a:r>
            <a:r>
              <a:rPr sz="4100" spc="-155" dirty="0"/>
              <a:t>m</a:t>
            </a:r>
            <a:r>
              <a:rPr sz="4100" spc="-145" dirty="0"/>
              <a:t>a</a:t>
            </a:r>
            <a:r>
              <a:rPr sz="4100" dirty="0"/>
              <a:t>l</a:t>
            </a:r>
            <a:r>
              <a:rPr sz="4100" spc="-250" dirty="0"/>
              <a:t> </a:t>
            </a:r>
            <a:r>
              <a:rPr sz="4100" spc="-135" dirty="0"/>
              <a:t>For</a:t>
            </a:r>
            <a:r>
              <a:rPr sz="4100" dirty="0"/>
              <a:t>m</a:t>
            </a:r>
            <a:r>
              <a:rPr sz="4100" spc="-280" dirty="0"/>
              <a:t> </a:t>
            </a:r>
            <a:r>
              <a:rPr sz="4100" spc="-135" dirty="0"/>
              <a:t>(B</a:t>
            </a:r>
            <a:r>
              <a:rPr sz="4100" spc="-140" dirty="0"/>
              <a:t>C</a:t>
            </a:r>
            <a:r>
              <a:rPr sz="4100" spc="-155" dirty="0"/>
              <a:t>N</a:t>
            </a:r>
            <a:r>
              <a:rPr sz="4100" spc="-135" dirty="0"/>
              <a:t>F</a:t>
            </a:r>
            <a:r>
              <a:rPr sz="4100" dirty="0"/>
              <a:t>)</a:t>
            </a:r>
            <a:endParaRPr sz="4100"/>
          </a:p>
        </p:txBody>
      </p:sp>
      <p:sp>
        <p:nvSpPr>
          <p:cNvPr id="8" name="object 8"/>
          <p:cNvSpPr/>
          <p:nvPr/>
        </p:nvSpPr>
        <p:spPr>
          <a:xfrm>
            <a:off x="1198201" y="3302791"/>
            <a:ext cx="3759200" cy="2366645"/>
          </a:xfrm>
          <a:custGeom>
            <a:avLst/>
            <a:gdLst/>
            <a:ahLst/>
            <a:cxnLst/>
            <a:rect l="l" t="t" r="r" b="b"/>
            <a:pathLst>
              <a:path w="3759200" h="2366645">
                <a:moveTo>
                  <a:pt x="0" y="394365"/>
                </a:moveTo>
                <a:lnTo>
                  <a:pt x="3072" y="344896"/>
                </a:lnTo>
                <a:lnTo>
                  <a:pt x="12044" y="297262"/>
                </a:lnTo>
                <a:lnTo>
                  <a:pt x="26545" y="251830"/>
                </a:lnTo>
                <a:lnTo>
                  <a:pt x="46205" y="208972"/>
                </a:lnTo>
                <a:lnTo>
                  <a:pt x="70656" y="169055"/>
                </a:lnTo>
                <a:lnTo>
                  <a:pt x="99528" y="132451"/>
                </a:lnTo>
                <a:lnTo>
                  <a:pt x="132451" y="99528"/>
                </a:lnTo>
                <a:lnTo>
                  <a:pt x="169055" y="70657"/>
                </a:lnTo>
                <a:lnTo>
                  <a:pt x="208971" y="46206"/>
                </a:lnTo>
                <a:lnTo>
                  <a:pt x="251830" y="26545"/>
                </a:lnTo>
                <a:lnTo>
                  <a:pt x="297261" y="12044"/>
                </a:lnTo>
                <a:lnTo>
                  <a:pt x="344896" y="3072"/>
                </a:lnTo>
                <a:lnTo>
                  <a:pt x="394364" y="0"/>
                </a:lnTo>
                <a:lnTo>
                  <a:pt x="3364383" y="0"/>
                </a:lnTo>
                <a:lnTo>
                  <a:pt x="3413852" y="3072"/>
                </a:lnTo>
                <a:lnTo>
                  <a:pt x="3461486" y="12044"/>
                </a:lnTo>
                <a:lnTo>
                  <a:pt x="3506918" y="26545"/>
                </a:lnTo>
                <a:lnTo>
                  <a:pt x="3549776" y="46206"/>
                </a:lnTo>
                <a:lnTo>
                  <a:pt x="3589693" y="70657"/>
                </a:lnTo>
                <a:lnTo>
                  <a:pt x="3626297" y="99528"/>
                </a:lnTo>
                <a:lnTo>
                  <a:pt x="3659220" y="132451"/>
                </a:lnTo>
                <a:lnTo>
                  <a:pt x="3688091" y="169055"/>
                </a:lnTo>
                <a:lnTo>
                  <a:pt x="3712542" y="208972"/>
                </a:lnTo>
                <a:lnTo>
                  <a:pt x="3732203" y="251830"/>
                </a:lnTo>
                <a:lnTo>
                  <a:pt x="3746704" y="297262"/>
                </a:lnTo>
                <a:lnTo>
                  <a:pt x="3755676" y="344896"/>
                </a:lnTo>
                <a:lnTo>
                  <a:pt x="3758748" y="394365"/>
                </a:lnTo>
                <a:lnTo>
                  <a:pt x="3758748" y="1971784"/>
                </a:lnTo>
                <a:lnTo>
                  <a:pt x="3755676" y="2021252"/>
                </a:lnTo>
                <a:lnTo>
                  <a:pt x="3746704" y="2068887"/>
                </a:lnTo>
                <a:lnTo>
                  <a:pt x="3732203" y="2114318"/>
                </a:lnTo>
                <a:lnTo>
                  <a:pt x="3712542" y="2157177"/>
                </a:lnTo>
                <a:lnTo>
                  <a:pt x="3688091" y="2197093"/>
                </a:lnTo>
                <a:lnTo>
                  <a:pt x="3659220" y="2233697"/>
                </a:lnTo>
                <a:lnTo>
                  <a:pt x="3626297" y="2266620"/>
                </a:lnTo>
                <a:lnTo>
                  <a:pt x="3589693" y="2295492"/>
                </a:lnTo>
                <a:lnTo>
                  <a:pt x="3549776" y="2319943"/>
                </a:lnTo>
                <a:lnTo>
                  <a:pt x="3506918" y="2339604"/>
                </a:lnTo>
                <a:lnTo>
                  <a:pt x="3461486" y="2354105"/>
                </a:lnTo>
                <a:lnTo>
                  <a:pt x="3413852" y="2363076"/>
                </a:lnTo>
                <a:lnTo>
                  <a:pt x="3364383" y="2366149"/>
                </a:lnTo>
                <a:lnTo>
                  <a:pt x="394364" y="2366149"/>
                </a:lnTo>
                <a:lnTo>
                  <a:pt x="344896" y="2363076"/>
                </a:lnTo>
                <a:lnTo>
                  <a:pt x="297261" y="2354105"/>
                </a:lnTo>
                <a:lnTo>
                  <a:pt x="251830" y="2339604"/>
                </a:lnTo>
                <a:lnTo>
                  <a:pt x="208971" y="2319943"/>
                </a:lnTo>
                <a:lnTo>
                  <a:pt x="169055" y="2295492"/>
                </a:lnTo>
                <a:lnTo>
                  <a:pt x="132451" y="2266620"/>
                </a:lnTo>
                <a:lnTo>
                  <a:pt x="99528" y="2233697"/>
                </a:lnTo>
                <a:lnTo>
                  <a:pt x="70656" y="2197093"/>
                </a:lnTo>
                <a:lnTo>
                  <a:pt x="46205" y="2157177"/>
                </a:lnTo>
                <a:lnTo>
                  <a:pt x="26545" y="2114318"/>
                </a:lnTo>
                <a:lnTo>
                  <a:pt x="12044" y="2068887"/>
                </a:lnTo>
                <a:lnTo>
                  <a:pt x="3072" y="2021252"/>
                </a:lnTo>
                <a:lnTo>
                  <a:pt x="0" y="1971784"/>
                </a:lnTo>
                <a:lnTo>
                  <a:pt x="0" y="394365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26565" y="4161518"/>
            <a:ext cx="2301240" cy="1361440"/>
          </a:xfrm>
          <a:custGeom>
            <a:avLst/>
            <a:gdLst/>
            <a:ahLst/>
            <a:cxnLst/>
            <a:rect l="l" t="t" r="r" b="b"/>
            <a:pathLst>
              <a:path w="2301240" h="1361439">
                <a:moveTo>
                  <a:pt x="0" y="226856"/>
                </a:moveTo>
                <a:lnTo>
                  <a:pt x="4608" y="181136"/>
                </a:lnTo>
                <a:lnTo>
                  <a:pt x="17827" y="138553"/>
                </a:lnTo>
                <a:lnTo>
                  <a:pt x="38743" y="100018"/>
                </a:lnTo>
                <a:lnTo>
                  <a:pt x="66444" y="66444"/>
                </a:lnTo>
                <a:lnTo>
                  <a:pt x="100018" y="38743"/>
                </a:lnTo>
                <a:lnTo>
                  <a:pt x="138553" y="17827"/>
                </a:lnTo>
                <a:lnTo>
                  <a:pt x="181136" y="4608"/>
                </a:lnTo>
                <a:lnTo>
                  <a:pt x="226856" y="0"/>
                </a:lnTo>
                <a:lnTo>
                  <a:pt x="2074270" y="0"/>
                </a:lnTo>
                <a:lnTo>
                  <a:pt x="2119990" y="4608"/>
                </a:lnTo>
                <a:lnTo>
                  <a:pt x="2162573" y="17827"/>
                </a:lnTo>
                <a:lnTo>
                  <a:pt x="2201108" y="38743"/>
                </a:lnTo>
                <a:lnTo>
                  <a:pt x="2234682" y="66444"/>
                </a:lnTo>
                <a:lnTo>
                  <a:pt x="2262383" y="100018"/>
                </a:lnTo>
                <a:lnTo>
                  <a:pt x="2283299" y="138553"/>
                </a:lnTo>
                <a:lnTo>
                  <a:pt x="2296518" y="181136"/>
                </a:lnTo>
                <a:lnTo>
                  <a:pt x="2301127" y="226856"/>
                </a:lnTo>
                <a:lnTo>
                  <a:pt x="2301127" y="1134259"/>
                </a:lnTo>
                <a:lnTo>
                  <a:pt x="2296518" y="1179978"/>
                </a:lnTo>
                <a:lnTo>
                  <a:pt x="2283299" y="1222562"/>
                </a:lnTo>
                <a:lnTo>
                  <a:pt x="2262383" y="1261096"/>
                </a:lnTo>
                <a:lnTo>
                  <a:pt x="2234682" y="1294671"/>
                </a:lnTo>
                <a:lnTo>
                  <a:pt x="2201108" y="1322372"/>
                </a:lnTo>
                <a:lnTo>
                  <a:pt x="2162573" y="1343288"/>
                </a:lnTo>
                <a:lnTo>
                  <a:pt x="2119990" y="1356506"/>
                </a:lnTo>
                <a:lnTo>
                  <a:pt x="2074270" y="1361115"/>
                </a:lnTo>
                <a:lnTo>
                  <a:pt x="226856" y="1361115"/>
                </a:lnTo>
                <a:lnTo>
                  <a:pt x="181136" y="1356506"/>
                </a:lnTo>
                <a:lnTo>
                  <a:pt x="138553" y="1343288"/>
                </a:lnTo>
                <a:lnTo>
                  <a:pt x="100018" y="1322372"/>
                </a:lnTo>
                <a:lnTo>
                  <a:pt x="66444" y="1294671"/>
                </a:lnTo>
                <a:lnTo>
                  <a:pt x="38743" y="1261096"/>
                </a:lnTo>
                <a:lnTo>
                  <a:pt x="17827" y="1222562"/>
                </a:lnTo>
                <a:lnTo>
                  <a:pt x="4608" y="1179978"/>
                </a:lnTo>
                <a:lnTo>
                  <a:pt x="0" y="1134259"/>
                </a:lnTo>
                <a:lnTo>
                  <a:pt x="0" y="226856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136" y="5919215"/>
            <a:ext cx="9378696" cy="142036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6609" y="5927199"/>
            <a:ext cx="8851900" cy="109664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245110" marR="240029" indent="-1905" algn="ctr">
              <a:lnSpc>
                <a:spcPts val="2020"/>
              </a:lnSpc>
              <a:spcBef>
                <a:spcPts val="650"/>
              </a:spcBef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Remove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redundant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data;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ensure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integrity;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may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have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across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(need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join to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check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dependency)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transitive</a:t>
            </a:r>
            <a:r>
              <a:rPr sz="20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non-key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dependencies, but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lose</a:t>
            </a:r>
            <a:r>
              <a:rPr sz="20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839" y="1235455"/>
            <a:ext cx="8975725" cy="6381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0"/>
              </a:spcBef>
            </a:pPr>
            <a:r>
              <a:rPr sz="2100" spc="-10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BCNF,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decompose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remove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non-keys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imply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dependencies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74291" y="3416808"/>
            <a:ext cx="3879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269" y="92669"/>
            <a:ext cx="63144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R</a:t>
            </a:r>
            <a:r>
              <a:rPr spc="-125" dirty="0"/>
              <a:t>e</a:t>
            </a:r>
            <a:r>
              <a:rPr spc="-130" dirty="0"/>
              <a:t>cap</a:t>
            </a:r>
            <a:r>
              <a:rPr dirty="0"/>
              <a:t>:</a:t>
            </a:r>
            <a:r>
              <a:rPr spc="-240" dirty="0"/>
              <a:t> </a:t>
            </a:r>
            <a:r>
              <a:rPr spc="-135" dirty="0"/>
              <a:t>N</a:t>
            </a:r>
            <a:r>
              <a:rPr spc="-130" dirty="0"/>
              <a:t>o</a:t>
            </a:r>
            <a:r>
              <a:rPr spc="-125" dirty="0"/>
              <a:t>r</a:t>
            </a:r>
            <a:r>
              <a:rPr spc="-140" dirty="0"/>
              <a:t>m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30" dirty="0"/>
              <a:t>Fo</a:t>
            </a:r>
            <a:r>
              <a:rPr spc="-125" dirty="0"/>
              <a:t>r</a:t>
            </a:r>
            <a:r>
              <a:rPr spc="-140" dirty="0"/>
              <a:t>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268476"/>
            <a:ext cx="51879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main</a:t>
            </a:r>
            <a:r>
              <a:rPr sz="22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aspect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1NF?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269" y="1727763"/>
            <a:ext cx="9248140" cy="72263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75260" rIns="0" bIns="0" rtlCol="0">
            <a:spAutoFit/>
          </a:bodyPr>
          <a:lstStyle/>
          <a:p>
            <a:pPr marL="2517775">
              <a:lnSpc>
                <a:spcPct val="100000"/>
              </a:lnSpc>
              <a:spcBef>
                <a:spcPts val="1380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Atomicity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839" y="2786379"/>
            <a:ext cx="89211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22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among</a:t>
            </a: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r>
              <a:rPr sz="22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r>
              <a:rPr sz="22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preserving?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269" y="3217898"/>
            <a:ext cx="9248140" cy="72263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517775">
              <a:lnSpc>
                <a:spcPct val="100000"/>
              </a:lnSpc>
              <a:spcBef>
                <a:spcPts val="1315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839" y="4276852"/>
            <a:ext cx="78066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22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among</a:t>
            </a: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redundancy free?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269" y="4726094"/>
            <a:ext cx="9248140" cy="72263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200660" rIns="0" bIns="0" rtlCol="0">
            <a:spAutoFit/>
          </a:bodyPr>
          <a:lstStyle/>
          <a:p>
            <a:pPr marL="2517775">
              <a:lnSpc>
                <a:spcPct val="100000"/>
              </a:lnSpc>
              <a:spcBef>
                <a:spcPts val="1580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839" y="5758179"/>
            <a:ext cx="669670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What </a:t>
            </a:r>
            <a:r>
              <a:rPr sz="2200" b="1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common</a:t>
            </a:r>
            <a:r>
              <a:rPr sz="22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between</a:t>
            </a:r>
            <a:r>
              <a:rPr sz="22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r>
              <a:rPr sz="22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2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b="1" spc="20" dirty="0">
                <a:solidFill>
                  <a:srgbClr val="292934"/>
                </a:solidFill>
                <a:latin typeface="Verdana"/>
                <a:cs typeface="Verdana"/>
              </a:rPr>
              <a:t>BCNF?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269" y="6207196"/>
            <a:ext cx="9248140" cy="72263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2517775">
              <a:lnSpc>
                <a:spcPct val="100000"/>
              </a:lnSpc>
              <a:spcBef>
                <a:spcPts val="144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Lossless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0393" y="2776825"/>
            <a:ext cx="5821680" cy="2294890"/>
            <a:chOff x="730393" y="2776825"/>
            <a:chExt cx="5821680" cy="2294890"/>
          </a:xfrm>
        </p:grpSpPr>
        <p:sp>
          <p:nvSpPr>
            <p:cNvPr id="3" name="object 3"/>
            <p:cNvSpPr/>
            <p:nvPr/>
          </p:nvSpPr>
          <p:spPr>
            <a:xfrm>
              <a:off x="757478" y="2790596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478" y="3114420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478" y="3438245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37"/>
                  </a:lnTo>
                  <a:lnTo>
                    <a:pt x="1876666" y="323837"/>
                  </a:lnTo>
                  <a:lnTo>
                    <a:pt x="3095866" y="323837"/>
                  </a:lnTo>
                  <a:lnTo>
                    <a:pt x="5767451" y="323837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478" y="3762082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478" y="4085907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478" y="4409731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37"/>
                  </a:lnTo>
                  <a:lnTo>
                    <a:pt x="1876666" y="323837"/>
                  </a:lnTo>
                  <a:lnTo>
                    <a:pt x="3095866" y="323837"/>
                  </a:lnTo>
                  <a:lnTo>
                    <a:pt x="5767451" y="323837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7478" y="4733569"/>
              <a:ext cx="5767705" cy="323850"/>
            </a:xfrm>
            <a:custGeom>
              <a:avLst/>
              <a:gdLst/>
              <a:ahLst/>
              <a:cxnLst/>
              <a:rect l="l" t="t" r="r" b="b"/>
              <a:pathLst>
                <a:path w="5767705" h="323850">
                  <a:moveTo>
                    <a:pt x="5767451" y="0"/>
                  </a:moveTo>
                  <a:lnTo>
                    <a:pt x="3095866" y="0"/>
                  </a:lnTo>
                  <a:lnTo>
                    <a:pt x="1876666" y="0"/>
                  </a:lnTo>
                  <a:lnTo>
                    <a:pt x="0" y="0"/>
                  </a:lnTo>
                  <a:lnTo>
                    <a:pt x="0" y="323824"/>
                  </a:lnTo>
                  <a:lnTo>
                    <a:pt x="1876666" y="323824"/>
                  </a:lnTo>
                  <a:lnTo>
                    <a:pt x="3095866" y="323824"/>
                  </a:lnTo>
                  <a:lnTo>
                    <a:pt x="5767451" y="323824"/>
                  </a:lnTo>
                  <a:lnTo>
                    <a:pt x="5767451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34153" y="2783810"/>
              <a:ext cx="1219200" cy="2280920"/>
            </a:xfrm>
            <a:custGeom>
              <a:avLst/>
              <a:gdLst/>
              <a:ahLst/>
              <a:cxnLst/>
              <a:rect l="l" t="t" r="r" b="b"/>
              <a:pathLst>
                <a:path w="1219200" h="2280920">
                  <a:moveTo>
                    <a:pt x="0" y="0"/>
                  </a:moveTo>
                  <a:lnTo>
                    <a:pt x="0" y="2280351"/>
                  </a:lnTo>
                </a:path>
                <a:path w="1219200" h="2280920">
                  <a:moveTo>
                    <a:pt x="1219199" y="0"/>
                  </a:moveTo>
                  <a:lnTo>
                    <a:pt x="1219199" y="2280351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0713" y="3114412"/>
              <a:ext cx="5781040" cy="0"/>
            </a:xfrm>
            <a:custGeom>
              <a:avLst/>
              <a:gdLst/>
              <a:ahLst/>
              <a:cxnLst/>
              <a:rect l="l" t="t" r="r" b="b"/>
              <a:pathLst>
                <a:path w="5781040">
                  <a:moveTo>
                    <a:pt x="0" y="0"/>
                  </a:moveTo>
                  <a:lnTo>
                    <a:pt x="5780994" y="0"/>
                  </a:lnTo>
                </a:path>
              </a:pathLst>
            </a:custGeom>
            <a:ln w="406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0713" y="2783810"/>
              <a:ext cx="5781040" cy="2280920"/>
            </a:xfrm>
            <a:custGeom>
              <a:avLst/>
              <a:gdLst/>
              <a:ahLst/>
              <a:cxnLst/>
              <a:rect l="l" t="t" r="r" b="b"/>
              <a:pathLst>
                <a:path w="5781040" h="2280920">
                  <a:moveTo>
                    <a:pt x="0" y="654431"/>
                  </a:moveTo>
                  <a:lnTo>
                    <a:pt x="5780994" y="654431"/>
                  </a:lnTo>
                </a:path>
                <a:path w="5781040" h="2280920">
                  <a:moveTo>
                    <a:pt x="0" y="978261"/>
                  </a:moveTo>
                  <a:lnTo>
                    <a:pt x="5780994" y="978261"/>
                  </a:lnTo>
                </a:path>
                <a:path w="5781040" h="2280920">
                  <a:moveTo>
                    <a:pt x="0" y="1302090"/>
                  </a:moveTo>
                  <a:lnTo>
                    <a:pt x="5780994" y="1302090"/>
                  </a:lnTo>
                </a:path>
                <a:path w="5781040" h="2280920">
                  <a:moveTo>
                    <a:pt x="0" y="1625919"/>
                  </a:moveTo>
                  <a:lnTo>
                    <a:pt x="5780994" y="1625919"/>
                  </a:lnTo>
                </a:path>
                <a:path w="5781040" h="2280920">
                  <a:moveTo>
                    <a:pt x="0" y="1949749"/>
                  </a:moveTo>
                  <a:lnTo>
                    <a:pt x="5780994" y="1949749"/>
                  </a:lnTo>
                </a:path>
                <a:path w="5781040" h="2280920">
                  <a:moveTo>
                    <a:pt x="6773" y="0"/>
                  </a:moveTo>
                  <a:lnTo>
                    <a:pt x="6773" y="2280351"/>
                  </a:lnTo>
                </a:path>
                <a:path w="5781040" h="2280920">
                  <a:moveTo>
                    <a:pt x="5774220" y="0"/>
                  </a:moveTo>
                  <a:lnTo>
                    <a:pt x="5774220" y="2280351"/>
                  </a:lnTo>
                </a:path>
                <a:path w="5781040" h="2280920">
                  <a:moveTo>
                    <a:pt x="0" y="6773"/>
                  </a:moveTo>
                  <a:lnTo>
                    <a:pt x="5780994" y="6773"/>
                  </a:lnTo>
                </a:path>
                <a:path w="5781040" h="2280920">
                  <a:moveTo>
                    <a:pt x="0" y="2273578"/>
                  </a:moveTo>
                  <a:lnTo>
                    <a:pt x="5780994" y="2273578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05693" y="2802128"/>
            <a:ext cx="11811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pu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1172" y="2802128"/>
            <a:ext cx="6451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ou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35330" y="2802128"/>
            <a:ext cx="9074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instructor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9760" y="3125215"/>
            <a:ext cx="4533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ht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2726" y="3125215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86223" y="3125215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70606" y="3448303"/>
            <a:ext cx="45148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dt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72726" y="3448303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6223" y="3448303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70606" y="3771391"/>
            <a:ext cx="45148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dt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72726" y="3771391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86223" y="3771391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5573" y="4097528"/>
            <a:ext cx="5619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72726" y="4097528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86223" y="4097528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13879" y="4420616"/>
            <a:ext cx="563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72726" y="4420616"/>
            <a:ext cx="3422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cs2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86223" y="4420616"/>
            <a:ext cx="1007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someone2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15573" y="4743704"/>
            <a:ext cx="42779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9414" algn="l"/>
                <a:tab pos="328295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md3y	cs2	someone2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390313" y="390143"/>
            <a:ext cx="92944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40" dirty="0"/>
              <a:t>Boy</a:t>
            </a:r>
            <a:r>
              <a:rPr sz="4100" spc="-130" dirty="0"/>
              <a:t>c</a:t>
            </a:r>
            <a:r>
              <a:rPr sz="4100" spc="-140" dirty="0"/>
              <a:t>e</a:t>
            </a:r>
            <a:r>
              <a:rPr sz="4100" spc="-130" dirty="0"/>
              <a:t>-</a:t>
            </a:r>
            <a:r>
              <a:rPr sz="4100" spc="-145" dirty="0"/>
              <a:t>C</a:t>
            </a:r>
            <a:r>
              <a:rPr sz="4100" spc="-140" dirty="0"/>
              <a:t>o</a:t>
            </a:r>
            <a:r>
              <a:rPr sz="4100" spc="-135" dirty="0"/>
              <a:t>d</a:t>
            </a:r>
            <a:r>
              <a:rPr sz="4100" dirty="0"/>
              <a:t>d</a:t>
            </a:r>
            <a:r>
              <a:rPr sz="4100" spc="-254" dirty="0"/>
              <a:t> </a:t>
            </a:r>
            <a:r>
              <a:rPr sz="4100" spc="-155" dirty="0"/>
              <a:t>N</a:t>
            </a:r>
            <a:r>
              <a:rPr sz="4100" spc="-135" dirty="0"/>
              <a:t>or</a:t>
            </a:r>
            <a:r>
              <a:rPr sz="4100" spc="-155" dirty="0"/>
              <a:t>m</a:t>
            </a:r>
            <a:r>
              <a:rPr sz="4100" spc="-145" dirty="0"/>
              <a:t>a</a:t>
            </a:r>
            <a:r>
              <a:rPr sz="4100" dirty="0"/>
              <a:t>l</a:t>
            </a:r>
            <a:r>
              <a:rPr sz="4100" spc="-250" dirty="0"/>
              <a:t> </a:t>
            </a:r>
            <a:r>
              <a:rPr sz="4100" spc="-135" dirty="0"/>
              <a:t>For</a:t>
            </a:r>
            <a:r>
              <a:rPr sz="4100" dirty="0"/>
              <a:t>m</a:t>
            </a:r>
            <a:r>
              <a:rPr sz="4100" spc="-280" dirty="0"/>
              <a:t> </a:t>
            </a:r>
            <a:r>
              <a:rPr sz="4100" spc="-135" dirty="0"/>
              <a:t>(B</a:t>
            </a:r>
            <a:r>
              <a:rPr sz="4100" spc="-140" dirty="0"/>
              <a:t>C</a:t>
            </a:r>
            <a:r>
              <a:rPr sz="4100" spc="-155" dirty="0"/>
              <a:t>N</a:t>
            </a:r>
            <a:r>
              <a:rPr sz="4100" spc="-135" dirty="0"/>
              <a:t>F</a:t>
            </a:r>
            <a:r>
              <a:rPr sz="4100" dirty="0"/>
              <a:t>)</a:t>
            </a:r>
            <a:endParaRPr sz="4100"/>
          </a:p>
        </p:txBody>
      </p:sp>
      <p:sp>
        <p:nvSpPr>
          <p:cNvPr id="33" name="object 33"/>
          <p:cNvSpPr txBox="1"/>
          <p:nvPr/>
        </p:nvSpPr>
        <p:spPr>
          <a:xfrm>
            <a:off x="502839" y="1160203"/>
            <a:ext cx="8430895" cy="874394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755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1NF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lossless-join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redundant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free</a:t>
            </a:r>
            <a:endParaRPr sz="22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630"/>
              </a:spcBef>
              <a:buSzPct val="86363"/>
              <a:buFont typeface="Arial MT"/>
              <a:buChar char="•"/>
              <a:tabLst>
                <a:tab pos="208279" algn="l"/>
              </a:tabLst>
            </a:pPr>
            <a:r>
              <a:rPr sz="2200" spc="-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non-trivial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dependency,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Cambria Math"/>
                <a:cs typeface="Cambria Math"/>
              </a:rPr>
              <a:t>𝑋</a:t>
            </a:r>
            <a:r>
              <a:rPr sz="2200" spc="315" dirty="0">
                <a:solidFill>
                  <a:srgbClr val="292934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→</a:t>
            </a:r>
            <a:r>
              <a:rPr sz="2200" spc="2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Cambria Math"/>
                <a:cs typeface="Cambria Math"/>
              </a:rPr>
              <a:t>𝐴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Cambria Math"/>
                <a:cs typeface="Cambria Math"/>
              </a:rPr>
              <a:t>𝑋</a:t>
            </a:r>
            <a:r>
              <a:rPr sz="2200" spc="315" dirty="0">
                <a:solidFill>
                  <a:srgbClr val="292934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Verdana"/>
                <a:cs typeface="Verdana"/>
              </a:rPr>
              <a:t>superkey</a:t>
            </a:r>
            <a:r>
              <a:rPr sz="22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7427" y="5299455"/>
            <a:ext cx="8926195" cy="179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20214">
              <a:lnSpc>
                <a:spcPct val="1137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simplify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name: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(A,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C),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C,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non-key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implies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(part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of)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Verdana"/>
              <a:cs typeface="Verdana"/>
            </a:endParaRPr>
          </a:p>
          <a:p>
            <a:pPr marL="5767705">
              <a:lnSpc>
                <a:spcPct val="100000"/>
              </a:lnSpc>
              <a:spcBef>
                <a:spcPts val="5"/>
              </a:spcBef>
            </a:pP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Not satisfy 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BCNF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--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Fix it!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36170" y="2491322"/>
            <a:ext cx="5373370" cy="2596515"/>
            <a:chOff x="736170" y="2491322"/>
            <a:chExt cx="5373370" cy="2596515"/>
          </a:xfrm>
        </p:grpSpPr>
        <p:sp>
          <p:nvSpPr>
            <p:cNvPr id="36" name="object 36"/>
            <p:cNvSpPr/>
            <p:nvPr/>
          </p:nvSpPr>
          <p:spPr>
            <a:xfrm>
              <a:off x="750263" y="2773566"/>
              <a:ext cx="3124835" cy="2300605"/>
            </a:xfrm>
            <a:custGeom>
              <a:avLst/>
              <a:gdLst/>
              <a:ahLst/>
              <a:cxnLst/>
              <a:rect l="l" t="t" r="r" b="b"/>
              <a:pathLst>
                <a:path w="3124835" h="2300604">
                  <a:moveTo>
                    <a:pt x="0" y="383354"/>
                  </a:moveTo>
                  <a:lnTo>
                    <a:pt x="2986" y="335267"/>
                  </a:lnTo>
                  <a:lnTo>
                    <a:pt x="11708" y="288962"/>
                  </a:lnTo>
                  <a:lnTo>
                    <a:pt x="25804" y="244799"/>
                  </a:lnTo>
                  <a:lnTo>
                    <a:pt x="44915" y="203137"/>
                  </a:lnTo>
                  <a:lnTo>
                    <a:pt x="68684" y="164336"/>
                  </a:lnTo>
                  <a:lnTo>
                    <a:pt x="96749" y="128753"/>
                  </a:lnTo>
                  <a:lnTo>
                    <a:pt x="128753" y="96750"/>
                  </a:lnTo>
                  <a:lnTo>
                    <a:pt x="164335" y="68684"/>
                  </a:lnTo>
                  <a:lnTo>
                    <a:pt x="203137" y="44916"/>
                  </a:lnTo>
                  <a:lnTo>
                    <a:pt x="244799" y="25804"/>
                  </a:lnTo>
                  <a:lnTo>
                    <a:pt x="288962" y="11708"/>
                  </a:lnTo>
                  <a:lnTo>
                    <a:pt x="335267" y="2986"/>
                  </a:lnTo>
                  <a:lnTo>
                    <a:pt x="383354" y="0"/>
                  </a:lnTo>
                  <a:lnTo>
                    <a:pt x="2741411" y="0"/>
                  </a:lnTo>
                  <a:lnTo>
                    <a:pt x="2789498" y="2986"/>
                  </a:lnTo>
                  <a:lnTo>
                    <a:pt x="2835802" y="11708"/>
                  </a:lnTo>
                  <a:lnTo>
                    <a:pt x="2879965" y="25804"/>
                  </a:lnTo>
                  <a:lnTo>
                    <a:pt x="2921627" y="44916"/>
                  </a:lnTo>
                  <a:lnTo>
                    <a:pt x="2960429" y="68684"/>
                  </a:lnTo>
                  <a:lnTo>
                    <a:pt x="2996012" y="96750"/>
                  </a:lnTo>
                  <a:lnTo>
                    <a:pt x="3028015" y="128753"/>
                  </a:lnTo>
                  <a:lnTo>
                    <a:pt x="3056081" y="164336"/>
                  </a:lnTo>
                  <a:lnTo>
                    <a:pt x="3079849" y="203137"/>
                  </a:lnTo>
                  <a:lnTo>
                    <a:pt x="3098961" y="244799"/>
                  </a:lnTo>
                  <a:lnTo>
                    <a:pt x="3113057" y="288962"/>
                  </a:lnTo>
                  <a:lnTo>
                    <a:pt x="3121778" y="335267"/>
                  </a:lnTo>
                  <a:lnTo>
                    <a:pt x="3124765" y="383354"/>
                  </a:lnTo>
                  <a:lnTo>
                    <a:pt x="3124765" y="1916724"/>
                  </a:lnTo>
                  <a:lnTo>
                    <a:pt x="3121778" y="1964811"/>
                  </a:lnTo>
                  <a:lnTo>
                    <a:pt x="3113057" y="2011116"/>
                  </a:lnTo>
                  <a:lnTo>
                    <a:pt x="3098961" y="2055279"/>
                  </a:lnTo>
                  <a:lnTo>
                    <a:pt x="3079849" y="2096941"/>
                  </a:lnTo>
                  <a:lnTo>
                    <a:pt x="3056081" y="2135742"/>
                  </a:lnTo>
                  <a:lnTo>
                    <a:pt x="3028015" y="2171325"/>
                  </a:lnTo>
                  <a:lnTo>
                    <a:pt x="2996012" y="2203328"/>
                  </a:lnTo>
                  <a:lnTo>
                    <a:pt x="2960429" y="2231394"/>
                  </a:lnTo>
                  <a:lnTo>
                    <a:pt x="2921627" y="2255162"/>
                  </a:lnTo>
                  <a:lnTo>
                    <a:pt x="2879965" y="2274274"/>
                  </a:lnTo>
                  <a:lnTo>
                    <a:pt x="2835802" y="2288370"/>
                  </a:lnTo>
                  <a:lnTo>
                    <a:pt x="2789498" y="2297092"/>
                  </a:lnTo>
                  <a:lnTo>
                    <a:pt x="2741411" y="2300078"/>
                  </a:lnTo>
                  <a:lnTo>
                    <a:pt x="383354" y="2300078"/>
                  </a:lnTo>
                  <a:lnTo>
                    <a:pt x="335267" y="2297092"/>
                  </a:lnTo>
                  <a:lnTo>
                    <a:pt x="288962" y="2288370"/>
                  </a:lnTo>
                  <a:lnTo>
                    <a:pt x="244799" y="2274274"/>
                  </a:lnTo>
                  <a:lnTo>
                    <a:pt x="203137" y="2255162"/>
                  </a:lnTo>
                  <a:lnTo>
                    <a:pt x="164335" y="2231394"/>
                  </a:lnTo>
                  <a:lnTo>
                    <a:pt x="128753" y="2203328"/>
                  </a:lnTo>
                  <a:lnTo>
                    <a:pt x="96749" y="2171325"/>
                  </a:lnTo>
                  <a:lnTo>
                    <a:pt x="68684" y="2135742"/>
                  </a:lnTo>
                  <a:lnTo>
                    <a:pt x="44915" y="2096941"/>
                  </a:lnTo>
                  <a:lnTo>
                    <a:pt x="25804" y="2055279"/>
                  </a:lnTo>
                  <a:lnTo>
                    <a:pt x="11708" y="2011116"/>
                  </a:lnTo>
                  <a:lnTo>
                    <a:pt x="2986" y="1964811"/>
                  </a:lnTo>
                  <a:lnTo>
                    <a:pt x="0" y="1916724"/>
                  </a:lnTo>
                  <a:lnTo>
                    <a:pt x="0" y="383354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79616" y="2743629"/>
              <a:ext cx="1815464" cy="2330450"/>
            </a:xfrm>
            <a:custGeom>
              <a:avLst/>
              <a:gdLst/>
              <a:ahLst/>
              <a:cxnLst/>
              <a:rect l="l" t="t" r="r" b="b"/>
              <a:pathLst>
                <a:path w="1815464" h="2330450">
                  <a:moveTo>
                    <a:pt x="0" y="302548"/>
                  </a:moveTo>
                  <a:lnTo>
                    <a:pt x="3959" y="253473"/>
                  </a:lnTo>
                  <a:lnTo>
                    <a:pt x="15424" y="206919"/>
                  </a:lnTo>
                  <a:lnTo>
                    <a:pt x="33769" y="163509"/>
                  </a:lnTo>
                  <a:lnTo>
                    <a:pt x="58374" y="123867"/>
                  </a:lnTo>
                  <a:lnTo>
                    <a:pt x="88614" y="88614"/>
                  </a:lnTo>
                  <a:lnTo>
                    <a:pt x="123867" y="58374"/>
                  </a:lnTo>
                  <a:lnTo>
                    <a:pt x="163509" y="33769"/>
                  </a:lnTo>
                  <a:lnTo>
                    <a:pt x="206919" y="15424"/>
                  </a:lnTo>
                  <a:lnTo>
                    <a:pt x="253473" y="3959"/>
                  </a:lnTo>
                  <a:lnTo>
                    <a:pt x="302548" y="0"/>
                  </a:lnTo>
                  <a:lnTo>
                    <a:pt x="1512705" y="0"/>
                  </a:lnTo>
                  <a:lnTo>
                    <a:pt x="1561780" y="3959"/>
                  </a:lnTo>
                  <a:lnTo>
                    <a:pt x="1608333" y="15424"/>
                  </a:lnTo>
                  <a:lnTo>
                    <a:pt x="1651743" y="33769"/>
                  </a:lnTo>
                  <a:lnTo>
                    <a:pt x="1691386" y="58374"/>
                  </a:lnTo>
                  <a:lnTo>
                    <a:pt x="1726639" y="88614"/>
                  </a:lnTo>
                  <a:lnTo>
                    <a:pt x="1756879" y="123867"/>
                  </a:lnTo>
                  <a:lnTo>
                    <a:pt x="1781483" y="163509"/>
                  </a:lnTo>
                  <a:lnTo>
                    <a:pt x="1799829" y="206919"/>
                  </a:lnTo>
                  <a:lnTo>
                    <a:pt x="1811293" y="253473"/>
                  </a:lnTo>
                  <a:lnTo>
                    <a:pt x="1815253" y="302548"/>
                  </a:lnTo>
                  <a:lnTo>
                    <a:pt x="1815253" y="2027469"/>
                  </a:lnTo>
                  <a:lnTo>
                    <a:pt x="1811293" y="2076544"/>
                  </a:lnTo>
                  <a:lnTo>
                    <a:pt x="1799829" y="2123098"/>
                  </a:lnTo>
                  <a:lnTo>
                    <a:pt x="1781483" y="2166508"/>
                  </a:lnTo>
                  <a:lnTo>
                    <a:pt x="1756879" y="2206151"/>
                  </a:lnTo>
                  <a:lnTo>
                    <a:pt x="1726639" y="2241403"/>
                  </a:lnTo>
                  <a:lnTo>
                    <a:pt x="1691386" y="2271643"/>
                  </a:lnTo>
                  <a:lnTo>
                    <a:pt x="1651743" y="2296248"/>
                  </a:lnTo>
                  <a:lnTo>
                    <a:pt x="1608333" y="2314594"/>
                  </a:lnTo>
                  <a:lnTo>
                    <a:pt x="1561780" y="2326058"/>
                  </a:lnTo>
                  <a:lnTo>
                    <a:pt x="1512705" y="2330018"/>
                  </a:lnTo>
                  <a:lnTo>
                    <a:pt x="302548" y="2330018"/>
                  </a:lnTo>
                  <a:lnTo>
                    <a:pt x="253473" y="2326058"/>
                  </a:lnTo>
                  <a:lnTo>
                    <a:pt x="206919" y="2314594"/>
                  </a:lnTo>
                  <a:lnTo>
                    <a:pt x="163509" y="2296248"/>
                  </a:lnTo>
                  <a:lnTo>
                    <a:pt x="123867" y="2271643"/>
                  </a:lnTo>
                  <a:lnTo>
                    <a:pt x="88614" y="2241403"/>
                  </a:lnTo>
                  <a:lnTo>
                    <a:pt x="58374" y="2206151"/>
                  </a:lnTo>
                  <a:lnTo>
                    <a:pt x="33769" y="2166508"/>
                  </a:lnTo>
                  <a:lnTo>
                    <a:pt x="15424" y="2123098"/>
                  </a:lnTo>
                  <a:lnTo>
                    <a:pt x="3959" y="2076544"/>
                  </a:lnTo>
                  <a:lnTo>
                    <a:pt x="0" y="2027469"/>
                  </a:lnTo>
                  <a:lnTo>
                    <a:pt x="0" y="302548"/>
                  </a:lnTo>
                  <a:close/>
                </a:path>
              </a:pathLst>
            </a:custGeom>
            <a:ln w="28186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36900" y="2491322"/>
              <a:ext cx="1844675" cy="259079"/>
            </a:xfrm>
            <a:custGeom>
              <a:avLst/>
              <a:gdLst/>
              <a:ahLst/>
              <a:cxnLst/>
              <a:rect l="l" t="t" r="r" b="b"/>
              <a:pathLst>
                <a:path w="1844675" h="259080">
                  <a:moveTo>
                    <a:pt x="30480" y="167639"/>
                  </a:moveTo>
                  <a:lnTo>
                    <a:pt x="0" y="167639"/>
                  </a:lnTo>
                  <a:lnTo>
                    <a:pt x="45720" y="259079"/>
                  </a:lnTo>
                  <a:lnTo>
                    <a:pt x="83820" y="182879"/>
                  </a:lnTo>
                  <a:lnTo>
                    <a:pt x="30480" y="182879"/>
                  </a:lnTo>
                  <a:lnTo>
                    <a:pt x="30480" y="167639"/>
                  </a:lnTo>
                  <a:close/>
                </a:path>
                <a:path w="1844675" h="259080">
                  <a:moveTo>
                    <a:pt x="60960" y="91439"/>
                  </a:moveTo>
                  <a:lnTo>
                    <a:pt x="30480" y="91439"/>
                  </a:lnTo>
                  <a:lnTo>
                    <a:pt x="30480" y="182879"/>
                  </a:lnTo>
                  <a:lnTo>
                    <a:pt x="60960" y="182879"/>
                  </a:lnTo>
                  <a:lnTo>
                    <a:pt x="60960" y="91439"/>
                  </a:lnTo>
                  <a:close/>
                </a:path>
                <a:path w="1844675" h="259080">
                  <a:moveTo>
                    <a:pt x="91439" y="167639"/>
                  </a:moveTo>
                  <a:lnTo>
                    <a:pt x="60960" y="167639"/>
                  </a:lnTo>
                  <a:lnTo>
                    <a:pt x="60960" y="182879"/>
                  </a:lnTo>
                  <a:lnTo>
                    <a:pt x="83820" y="182879"/>
                  </a:lnTo>
                  <a:lnTo>
                    <a:pt x="91439" y="167639"/>
                  </a:lnTo>
                  <a:close/>
                </a:path>
                <a:path w="1844675" h="259080">
                  <a:moveTo>
                    <a:pt x="91439" y="0"/>
                  </a:moveTo>
                  <a:lnTo>
                    <a:pt x="37303" y="0"/>
                  </a:lnTo>
                  <a:lnTo>
                    <a:pt x="30480" y="6823"/>
                  </a:lnTo>
                  <a:lnTo>
                    <a:pt x="30480" y="60960"/>
                  </a:lnTo>
                  <a:lnTo>
                    <a:pt x="60960" y="60960"/>
                  </a:lnTo>
                  <a:lnTo>
                    <a:pt x="60960" y="30479"/>
                  </a:lnTo>
                  <a:lnTo>
                    <a:pt x="45720" y="30479"/>
                  </a:lnTo>
                  <a:lnTo>
                    <a:pt x="60960" y="15239"/>
                  </a:lnTo>
                  <a:lnTo>
                    <a:pt x="91439" y="15239"/>
                  </a:lnTo>
                  <a:lnTo>
                    <a:pt x="91439" y="0"/>
                  </a:lnTo>
                  <a:close/>
                </a:path>
                <a:path w="1844675" h="259080">
                  <a:moveTo>
                    <a:pt x="60960" y="15239"/>
                  </a:moveTo>
                  <a:lnTo>
                    <a:pt x="45720" y="30479"/>
                  </a:lnTo>
                  <a:lnTo>
                    <a:pt x="60960" y="30479"/>
                  </a:lnTo>
                  <a:lnTo>
                    <a:pt x="60960" y="15239"/>
                  </a:lnTo>
                  <a:close/>
                </a:path>
                <a:path w="1844675" h="259080">
                  <a:moveTo>
                    <a:pt x="91439" y="15239"/>
                  </a:moveTo>
                  <a:lnTo>
                    <a:pt x="60960" y="15239"/>
                  </a:lnTo>
                  <a:lnTo>
                    <a:pt x="60960" y="30479"/>
                  </a:lnTo>
                  <a:lnTo>
                    <a:pt x="91439" y="30479"/>
                  </a:lnTo>
                  <a:lnTo>
                    <a:pt x="91439" y="15239"/>
                  </a:lnTo>
                  <a:close/>
                </a:path>
                <a:path w="1844675" h="259080">
                  <a:moveTo>
                    <a:pt x="213360" y="0"/>
                  </a:moveTo>
                  <a:lnTo>
                    <a:pt x="121920" y="0"/>
                  </a:lnTo>
                  <a:lnTo>
                    <a:pt x="121920" y="30479"/>
                  </a:lnTo>
                  <a:lnTo>
                    <a:pt x="213360" y="30479"/>
                  </a:lnTo>
                  <a:lnTo>
                    <a:pt x="213360" y="0"/>
                  </a:lnTo>
                  <a:close/>
                </a:path>
                <a:path w="1844675" h="259080">
                  <a:moveTo>
                    <a:pt x="335280" y="0"/>
                  </a:moveTo>
                  <a:lnTo>
                    <a:pt x="243839" y="0"/>
                  </a:lnTo>
                  <a:lnTo>
                    <a:pt x="243839" y="30479"/>
                  </a:lnTo>
                  <a:lnTo>
                    <a:pt x="335280" y="30479"/>
                  </a:lnTo>
                  <a:lnTo>
                    <a:pt x="335280" y="0"/>
                  </a:lnTo>
                  <a:close/>
                </a:path>
                <a:path w="1844675" h="259080">
                  <a:moveTo>
                    <a:pt x="457200" y="0"/>
                  </a:moveTo>
                  <a:lnTo>
                    <a:pt x="365760" y="0"/>
                  </a:lnTo>
                  <a:lnTo>
                    <a:pt x="365760" y="30479"/>
                  </a:lnTo>
                  <a:lnTo>
                    <a:pt x="457200" y="30479"/>
                  </a:lnTo>
                  <a:lnTo>
                    <a:pt x="457200" y="0"/>
                  </a:lnTo>
                  <a:close/>
                </a:path>
                <a:path w="1844675" h="259080">
                  <a:moveTo>
                    <a:pt x="579120" y="0"/>
                  </a:moveTo>
                  <a:lnTo>
                    <a:pt x="487680" y="0"/>
                  </a:lnTo>
                  <a:lnTo>
                    <a:pt x="487680" y="30479"/>
                  </a:lnTo>
                  <a:lnTo>
                    <a:pt x="579120" y="30479"/>
                  </a:lnTo>
                  <a:lnTo>
                    <a:pt x="579120" y="0"/>
                  </a:lnTo>
                  <a:close/>
                </a:path>
                <a:path w="1844675" h="259080">
                  <a:moveTo>
                    <a:pt x="701039" y="0"/>
                  </a:moveTo>
                  <a:lnTo>
                    <a:pt x="609600" y="0"/>
                  </a:lnTo>
                  <a:lnTo>
                    <a:pt x="609600" y="30479"/>
                  </a:lnTo>
                  <a:lnTo>
                    <a:pt x="701039" y="30479"/>
                  </a:lnTo>
                  <a:lnTo>
                    <a:pt x="701039" y="0"/>
                  </a:lnTo>
                  <a:close/>
                </a:path>
                <a:path w="1844675" h="259080">
                  <a:moveTo>
                    <a:pt x="822960" y="0"/>
                  </a:moveTo>
                  <a:lnTo>
                    <a:pt x="731520" y="0"/>
                  </a:lnTo>
                  <a:lnTo>
                    <a:pt x="731520" y="30479"/>
                  </a:lnTo>
                  <a:lnTo>
                    <a:pt x="822960" y="30479"/>
                  </a:lnTo>
                  <a:lnTo>
                    <a:pt x="822960" y="0"/>
                  </a:lnTo>
                  <a:close/>
                </a:path>
                <a:path w="1844675" h="259080">
                  <a:moveTo>
                    <a:pt x="944880" y="0"/>
                  </a:moveTo>
                  <a:lnTo>
                    <a:pt x="853439" y="0"/>
                  </a:lnTo>
                  <a:lnTo>
                    <a:pt x="853439" y="30479"/>
                  </a:lnTo>
                  <a:lnTo>
                    <a:pt x="944880" y="30479"/>
                  </a:lnTo>
                  <a:lnTo>
                    <a:pt x="944880" y="0"/>
                  </a:lnTo>
                  <a:close/>
                </a:path>
                <a:path w="1844675" h="259080">
                  <a:moveTo>
                    <a:pt x="1066800" y="0"/>
                  </a:moveTo>
                  <a:lnTo>
                    <a:pt x="975360" y="0"/>
                  </a:lnTo>
                  <a:lnTo>
                    <a:pt x="975360" y="30479"/>
                  </a:lnTo>
                  <a:lnTo>
                    <a:pt x="1066800" y="30479"/>
                  </a:lnTo>
                  <a:lnTo>
                    <a:pt x="1066800" y="0"/>
                  </a:lnTo>
                  <a:close/>
                </a:path>
                <a:path w="1844675" h="259080">
                  <a:moveTo>
                    <a:pt x="1188720" y="0"/>
                  </a:moveTo>
                  <a:lnTo>
                    <a:pt x="1097280" y="0"/>
                  </a:lnTo>
                  <a:lnTo>
                    <a:pt x="1097280" y="30479"/>
                  </a:lnTo>
                  <a:lnTo>
                    <a:pt x="1188720" y="30479"/>
                  </a:lnTo>
                  <a:lnTo>
                    <a:pt x="1188720" y="0"/>
                  </a:lnTo>
                  <a:close/>
                </a:path>
                <a:path w="1844675" h="259080">
                  <a:moveTo>
                    <a:pt x="1310639" y="0"/>
                  </a:moveTo>
                  <a:lnTo>
                    <a:pt x="1219200" y="0"/>
                  </a:lnTo>
                  <a:lnTo>
                    <a:pt x="1219200" y="30479"/>
                  </a:lnTo>
                  <a:lnTo>
                    <a:pt x="1310639" y="30479"/>
                  </a:lnTo>
                  <a:lnTo>
                    <a:pt x="1310639" y="0"/>
                  </a:lnTo>
                  <a:close/>
                </a:path>
                <a:path w="1844675" h="259080">
                  <a:moveTo>
                    <a:pt x="1432560" y="0"/>
                  </a:moveTo>
                  <a:lnTo>
                    <a:pt x="1341120" y="0"/>
                  </a:lnTo>
                  <a:lnTo>
                    <a:pt x="1341120" y="30479"/>
                  </a:lnTo>
                  <a:lnTo>
                    <a:pt x="1432560" y="30479"/>
                  </a:lnTo>
                  <a:lnTo>
                    <a:pt x="1432560" y="0"/>
                  </a:lnTo>
                  <a:close/>
                </a:path>
                <a:path w="1844675" h="259080">
                  <a:moveTo>
                    <a:pt x="1554480" y="0"/>
                  </a:moveTo>
                  <a:lnTo>
                    <a:pt x="1463039" y="0"/>
                  </a:lnTo>
                  <a:lnTo>
                    <a:pt x="1463039" y="30479"/>
                  </a:lnTo>
                  <a:lnTo>
                    <a:pt x="1554480" y="30479"/>
                  </a:lnTo>
                  <a:lnTo>
                    <a:pt x="1554480" y="0"/>
                  </a:lnTo>
                  <a:close/>
                </a:path>
                <a:path w="1844675" h="259080">
                  <a:moveTo>
                    <a:pt x="1676400" y="0"/>
                  </a:moveTo>
                  <a:lnTo>
                    <a:pt x="1584960" y="0"/>
                  </a:lnTo>
                  <a:lnTo>
                    <a:pt x="1584960" y="30479"/>
                  </a:lnTo>
                  <a:lnTo>
                    <a:pt x="1676400" y="30479"/>
                  </a:lnTo>
                  <a:lnTo>
                    <a:pt x="1676400" y="0"/>
                  </a:lnTo>
                  <a:close/>
                </a:path>
                <a:path w="1844675" h="259080">
                  <a:moveTo>
                    <a:pt x="1798320" y="0"/>
                  </a:moveTo>
                  <a:lnTo>
                    <a:pt x="1706880" y="0"/>
                  </a:lnTo>
                  <a:lnTo>
                    <a:pt x="1706880" y="30479"/>
                  </a:lnTo>
                  <a:lnTo>
                    <a:pt x="1798320" y="30479"/>
                  </a:lnTo>
                  <a:lnTo>
                    <a:pt x="1798320" y="0"/>
                  </a:lnTo>
                  <a:close/>
                </a:path>
                <a:path w="1844675" h="259080">
                  <a:moveTo>
                    <a:pt x="1814122" y="15239"/>
                  </a:moveTo>
                  <a:lnTo>
                    <a:pt x="1814122" y="106117"/>
                  </a:lnTo>
                  <a:lnTo>
                    <a:pt x="1844602" y="106117"/>
                  </a:lnTo>
                  <a:lnTo>
                    <a:pt x="1844602" y="30479"/>
                  </a:lnTo>
                  <a:lnTo>
                    <a:pt x="1828800" y="30479"/>
                  </a:lnTo>
                  <a:lnTo>
                    <a:pt x="1828800" y="29917"/>
                  </a:lnTo>
                  <a:lnTo>
                    <a:pt x="1814122" y="15239"/>
                  </a:lnTo>
                  <a:close/>
                </a:path>
                <a:path w="1844675" h="259080">
                  <a:moveTo>
                    <a:pt x="1828800" y="29917"/>
                  </a:moveTo>
                  <a:lnTo>
                    <a:pt x="1828800" y="30479"/>
                  </a:lnTo>
                  <a:lnTo>
                    <a:pt x="1829362" y="30479"/>
                  </a:lnTo>
                  <a:lnTo>
                    <a:pt x="1828800" y="29917"/>
                  </a:lnTo>
                  <a:close/>
                </a:path>
                <a:path w="1844675" h="259080">
                  <a:moveTo>
                    <a:pt x="1837780" y="0"/>
                  </a:moveTo>
                  <a:lnTo>
                    <a:pt x="1828800" y="0"/>
                  </a:lnTo>
                  <a:lnTo>
                    <a:pt x="1828800" y="29917"/>
                  </a:lnTo>
                  <a:lnTo>
                    <a:pt x="1829362" y="30479"/>
                  </a:lnTo>
                  <a:lnTo>
                    <a:pt x="1844602" y="30479"/>
                  </a:lnTo>
                  <a:lnTo>
                    <a:pt x="1844602" y="6823"/>
                  </a:lnTo>
                  <a:lnTo>
                    <a:pt x="1837780" y="0"/>
                  </a:lnTo>
                  <a:close/>
                </a:path>
                <a:path w="1844675" h="259080">
                  <a:moveTo>
                    <a:pt x="1844602" y="136597"/>
                  </a:moveTo>
                  <a:lnTo>
                    <a:pt x="1814122" y="136597"/>
                  </a:lnTo>
                  <a:lnTo>
                    <a:pt x="1814122" y="228037"/>
                  </a:lnTo>
                  <a:lnTo>
                    <a:pt x="1844602" y="228037"/>
                  </a:lnTo>
                  <a:lnTo>
                    <a:pt x="1844602" y="136597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829949" y="3446272"/>
            <a:ext cx="2879725" cy="146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 marR="62230">
              <a:lnSpc>
                <a:spcPct val="1105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Suppose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 know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instructor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endParaRPr sz="1900">
              <a:latin typeface="Verdana"/>
              <a:cs typeface="Verdana"/>
            </a:endParaRPr>
          </a:p>
          <a:p>
            <a:pPr marL="12700" marR="5080">
              <a:lnSpc>
                <a:spcPts val="2180"/>
              </a:lnSpc>
              <a:spcBef>
                <a:spcPts val="1955"/>
              </a:spcBef>
            </a:pP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Cannot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C00000"/>
                </a:solidFill>
                <a:latin typeface="Verdana"/>
                <a:cs typeface="Verdana"/>
              </a:rPr>
              <a:t>have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a non-key </a:t>
            </a:r>
            <a:r>
              <a:rPr sz="1900" spc="-6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implies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600" y="2136648"/>
            <a:ext cx="2514600" cy="132587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7220228" y="2177831"/>
            <a:ext cx="2298700" cy="98996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120014" marR="113030" algn="ctr">
              <a:lnSpc>
                <a:spcPct val="90000"/>
              </a:lnSpc>
              <a:spcBef>
                <a:spcPts val="81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dependencies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900" spc="1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1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from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full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4393" y="3280148"/>
            <a:ext cx="175577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656714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19768" y="3280148"/>
            <a:ext cx="1613535" cy="2317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51511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1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2699" y="3584948"/>
            <a:ext cx="1757680" cy="5334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65862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  <a:p>
            <a:pPr marL="1270">
              <a:lnSpc>
                <a:spcPct val="100000"/>
              </a:lnSpc>
              <a:spcBef>
                <a:spcPts val="580"/>
              </a:spcBef>
              <a:tabLst>
                <a:tab pos="165862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y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9768" y="3584948"/>
            <a:ext cx="1613535" cy="5334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51511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2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tabLst>
                <a:tab pos="1515110" algn="l"/>
              </a:tabLst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2	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86834" y="2043273"/>
          <a:ext cx="8324848" cy="3884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3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7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2361">
                <a:tc gridSpan="2"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99085" marR="120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instructor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0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4607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Given</a:t>
                      </a:r>
                      <a:endParaRPr sz="1700">
                        <a:latin typeface="Verdana"/>
                        <a:cs typeface="Verdana"/>
                      </a:endParaRPr>
                    </a:p>
                    <a:p>
                      <a:pPr marL="29972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FDs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{</a:t>
                      </a:r>
                      <a:r>
                        <a:rPr sz="1700" u="heavy" spc="30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u="heavy" spc="5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Verdana"/>
                          <a:cs typeface="Verdana"/>
                        </a:rPr>
                        <a:t>AB</a:t>
                      </a:r>
                      <a:r>
                        <a:rPr sz="1700" u="heavy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u="heavy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700" u="heavy" spc="165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u="heavy" spc="-5" dirty="0">
                          <a:solidFill>
                            <a:srgbClr val="292934"/>
                          </a:solidFill>
                          <a:uFill>
                            <a:solidFill>
                              <a:srgbClr val="C00000"/>
                            </a:solidFill>
                          </a:uFill>
                          <a:latin typeface="Verdana"/>
                          <a:cs typeface="Verdana"/>
                        </a:rPr>
                        <a:t>C,</a:t>
                      </a: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  <a:p>
                      <a:pPr marL="32829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lost</a:t>
                      </a: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FD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0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361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451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361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451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361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451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45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9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17195">
                        <a:lnSpc>
                          <a:spcPts val="1340"/>
                        </a:lnSpc>
                        <a:spcBef>
                          <a:spcPts val="1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ts val="1340"/>
                        </a:lnSpc>
                        <a:spcBef>
                          <a:spcPts val="18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1340"/>
                        </a:lnSpc>
                        <a:spcBef>
                          <a:spcPts val="180"/>
                        </a:spcBef>
                        <a:tabLst>
                          <a:tab pos="943610" algn="l"/>
                        </a:tabLst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ucto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	</a:t>
                      </a:r>
                      <a:r>
                        <a:rPr sz="2250" spc="-15" baseline="27777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2250" baseline="27777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ts val="121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meone3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9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4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  <a:spcBef>
                          <a:spcPts val="1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ts val="1180"/>
                        </a:lnSpc>
                        <a:spcBef>
                          <a:spcPts val="170"/>
                        </a:spcBef>
                        <a:tabLst>
                          <a:tab pos="1588135" algn="l"/>
                        </a:tabLst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eone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	</a:t>
                      </a:r>
                      <a:r>
                        <a:rPr sz="2250" spc="-15" baseline="33333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2250" baseline="33333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3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ts val="81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o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085">
                        <a:lnSpc>
                          <a:spcPts val="81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4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425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67385">
                        <a:lnSpc>
                          <a:spcPts val="93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instructor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cs1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38455" marR="393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someone2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4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0313" y="393192"/>
            <a:ext cx="929449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40" dirty="0"/>
              <a:t>Boy</a:t>
            </a:r>
            <a:r>
              <a:rPr sz="4100" spc="-130" dirty="0"/>
              <a:t>c</a:t>
            </a:r>
            <a:r>
              <a:rPr sz="4100" spc="-140" dirty="0"/>
              <a:t>e</a:t>
            </a:r>
            <a:r>
              <a:rPr sz="4100" spc="-130" dirty="0"/>
              <a:t>-</a:t>
            </a:r>
            <a:r>
              <a:rPr sz="4100" spc="-145" dirty="0"/>
              <a:t>C</a:t>
            </a:r>
            <a:r>
              <a:rPr sz="4100" spc="-140" dirty="0"/>
              <a:t>o</a:t>
            </a:r>
            <a:r>
              <a:rPr sz="4100" spc="-135" dirty="0"/>
              <a:t>d</a:t>
            </a:r>
            <a:r>
              <a:rPr sz="4100" dirty="0"/>
              <a:t>d</a:t>
            </a:r>
            <a:r>
              <a:rPr sz="4100" spc="-254" dirty="0"/>
              <a:t> </a:t>
            </a:r>
            <a:r>
              <a:rPr sz="4100" spc="-155" dirty="0"/>
              <a:t>N</a:t>
            </a:r>
            <a:r>
              <a:rPr sz="4100" spc="-135" dirty="0"/>
              <a:t>or</a:t>
            </a:r>
            <a:r>
              <a:rPr sz="4100" spc="-155" dirty="0"/>
              <a:t>m</a:t>
            </a:r>
            <a:r>
              <a:rPr sz="4100" spc="-145" dirty="0"/>
              <a:t>a</a:t>
            </a:r>
            <a:r>
              <a:rPr sz="4100" dirty="0"/>
              <a:t>l</a:t>
            </a:r>
            <a:r>
              <a:rPr sz="4100" spc="-250" dirty="0"/>
              <a:t> </a:t>
            </a:r>
            <a:r>
              <a:rPr sz="4100" spc="-135" dirty="0"/>
              <a:t>For</a:t>
            </a:r>
            <a:r>
              <a:rPr sz="4100" dirty="0"/>
              <a:t>m</a:t>
            </a:r>
            <a:r>
              <a:rPr sz="4100" spc="-280" dirty="0"/>
              <a:t> </a:t>
            </a:r>
            <a:r>
              <a:rPr sz="4100" spc="-135" dirty="0"/>
              <a:t>(B</a:t>
            </a:r>
            <a:r>
              <a:rPr sz="4100" spc="-140" dirty="0"/>
              <a:t>C</a:t>
            </a:r>
            <a:r>
              <a:rPr sz="4100" spc="-155" dirty="0"/>
              <a:t>N</a:t>
            </a:r>
            <a:r>
              <a:rPr sz="4100" spc="-135" dirty="0"/>
              <a:t>F</a:t>
            </a:r>
            <a:r>
              <a:rPr sz="4100" dirty="0"/>
              <a:t>)</a:t>
            </a:r>
            <a:endParaRPr sz="4100"/>
          </a:p>
        </p:txBody>
      </p:sp>
      <p:sp>
        <p:nvSpPr>
          <p:cNvPr id="8" name="object 8"/>
          <p:cNvSpPr/>
          <p:nvPr/>
        </p:nvSpPr>
        <p:spPr>
          <a:xfrm>
            <a:off x="1198201" y="3302791"/>
            <a:ext cx="3759200" cy="2366645"/>
          </a:xfrm>
          <a:custGeom>
            <a:avLst/>
            <a:gdLst/>
            <a:ahLst/>
            <a:cxnLst/>
            <a:rect l="l" t="t" r="r" b="b"/>
            <a:pathLst>
              <a:path w="3759200" h="2366645">
                <a:moveTo>
                  <a:pt x="0" y="394365"/>
                </a:moveTo>
                <a:lnTo>
                  <a:pt x="3072" y="344896"/>
                </a:lnTo>
                <a:lnTo>
                  <a:pt x="12044" y="297262"/>
                </a:lnTo>
                <a:lnTo>
                  <a:pt x="26545" y="251830"/>
                </a:lnTo>
                <a:lnTo>
                  <a:pt x="46205" y="208972"/>
                </a:lnTo>
                <a:lnTo>
                  <a:pt x="70656" y="169055"/>
                </a:lnTo>
                <a:lnTo>
                  <a:pt x="99528" y="132451"/>
                </a:lnTo>
                <a:lnTo>
                  <a:pt x="132451" y="99528"/>
                </a:lnTo>
                <a:lnTo>
                  <a:pt x="169055" y="70657"/>
                </a:lnTo>
                <a:lnTo>
                  <a:pt x="208971" y="46206"/>
                </a:lnTo>
                <a:lnTo>
                  <a:pt x="251830" y="26545"/>
                </a:lnTo>
                <a:lnTo>
                  <a:pt x="297261" y="12044"/>
                </a:lnTo>
                <a:lnTo>
                  <a:pt x="344896" y="3072"/>
                </a:lnTo>
                <a:lnTo>
                  <a:pt x="394364" y="0"/>
                </a:lnTo>
                <a:lnTo>
                  <a:pt x="3364383" y="0"/>
                </a:lnTo>
                <a:lnTo>
                  <a:pt x="3413852" y="3072"/>
                </a:lnTo>
                <a:lnTo>
                  <a:pt x="3461486" y="12044"/>
                </a:lnTo>
                <a:lnTo>
                  <a:pt x="3506918" y="26545"/>
                </a:lnTo>
                <a:lnTo>
                  <a:pt x="3549776" y="46206"/>
                </a:lnTo>
                <a:lnTo>
                  <a:pt x="3589693" y="70657"/>
                </a:lnTo>
                <a:lnTo>
                  <a:pt x="3626297" y="99528"/>
                </a:lnTo>
                <a:lnTo>
                  <a:pt x="3659220" y="132451"/>
                </a:lnTo>
                <a:lnTo>
                  <a:pt x="3688091" y="169055"/>
                </a:lnTo>
                <a:lnTo>
                  <a:pt x="3712542" y="208972"/>
                </a:lnTo>
                <a:lnTo>
                  <a:pt x="3732203" y="251830"/>
                </a:lnTo>
                <a:lnTo>
                  <a:pt x="3746704" y="297262"/>
                </a:lnTo>
                <a:lnTo>
                  <a:pt x="3755676" y="344896"/>
                </a:lnTo>
                <a:lnTo>
                  <a:pt x="3758748" y="394365"/>
                </a:lnTo>
                <a:lnTo>
                  <a:pt x="3758748" y="1971784"/>
                </a:lnTo>
                <a:lnTo>
                  <a:pt x="3755676" y="2021252"/>
                </a:lnTo>
                <a:lnTo>
                  <a:pt x="3746704" y="2068887"/>
                </a:lnTo>
                <a:lnTo>
                  <a:pt x="3732203" y="2114318"/>
                </a:lnTo>
                <a:lnTo>
                  <a:pt x="3712542" y="2157177"/>
                </a:lnTo>
                <a:lnTo>
                  <a:pt x="3688091" y="2197093"/>
                </a:lnTo>
                <a:lnTo>
                  <a:pt x="3659220" y="2233697"/>
                </a:lnTo>
                <a:lnTo>
                  <a:pt x="3626297" y="2266620"/>
                </a:lnTo>
                <a:lnTo>
                  <a:pt x="3589693" y="2295492"/>
                </a:lnTo>
                <a:lnTo>
                  <a:pt x="3549776" y="2319943"/>
                </a:lnTo>
                <a:lnTo>
                  <a:pt x="3506918" y="2339604"/>
                </a:lnTo>
                <a:lnTo>
                  <a:pt x="3461486" y="2354105"/>
                </a:lnTo>
                <a:lnTo>
                  <a:pt x="3413852" y="2363076"/>
                </a:lnTo>
                <a:lnTo>
                  <a:pt x="3364383" y="2366149"/>
                </a:lnTo>
                <a:lnTo>
                  <a:pt x="394364" y="2366149"/>
                </a:lnTo>
                <a:lnTo>
                  <a:pt x="344896" y="2363076"/>
                </a:lnTo>
                <a:lnTo>
                  <a:pt x="297261" y="2354105"/>
                </a:lnTo>
                <a:lnTo>
                  <a:pt x="251830" y="2339604"/>
                </a:lnTo>
                <a:lnTo>
                  <a:pt x="208971" y="2319943"/>
                </a:lnTo>
                <a:lnTo>
                  <a:pt x="169055" y="2295492"/>
                </a:lnTo>
                <a:lnTo>
                  <a:pt x="132451" y="2266620"/>
                </a:lnTo>
                <a:lnTo>
                  <a:pt x="99528" y="2233697"/>
                </a:lnTo>
                <a:lnTo>
                  <a:pt x="70656" y="2197093"/>
                </a:lnTo>
                <a:lnTo>
                  <a:pt x="46205" y="2157177"/>
                </a:lnTo>
                <a:lnTo>
                  <a:pt x="26545" y="2114318"/>
                </a:lnTo>
                <a:lnTo>
                  <a:pt x="12044" y="2068887"/>
                </a:lnTo>
                <a:lnTo>
                  <a:pt x="3072" y="2021252"/>
                </a:lnTo>
                <a:lnTo>
                  <a:pt x="0" y="1971784"/>
                </a:lnTo>
                <a:lnTo>
                  <a:pt x="0" y="394365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26565" y="4161518"/>
            <a:ext cx="2301240" cy="1361440"/>
          </a:xfrm>
          <a:custGeom>
            <a:avLst/>
            <a:gdLst/>
            <a:ahLst/>
            <a:cxnLst/>
            <a:rect l="l" t="t" r="r" b="b"/>
            <a:pathLst>
              <a:path w="2301240" h="1361439">
                <a:moveTo>
                  <a:pt x="0" y="226856"/>
                </a:moveTo>
                <a:lnTo>
                  <a:pt x="4608" y="181136"/>
                </a:lnTo>
                <a:lnTo>
                  <a:pt x="17827" y="138553"/>
                </a:lnTo>
                <a:lnTo>
                  <a:pt x="38743" y="100018"/>
                </a:lnTo>
                <a:lnTo>
                  <a:pt x="66444" y="66444"/>
                </a:lnTo>
                <a:lnTo>
                  <a:pt x="100018" y="38743"/>
                </a:lnTo>
                <a:lnTo>
                  <a:pt x="138553" y="17827"/>
                </a:lnTo>
                <a:lnTo>
                  <a:pt x="181136" y="4608"/>
                </a:lnTo>
                <a:lnTo>
                  <a:pt x="226856" y="0"/>
                </a:lnTo>
                <a:lnTo>
                  <a:pt x="2074270" y="0"/>
                </a:lnTo>
                <a:lnTo>
                  <a:pt x="2119990" y="4608"/>
                </a:lnTo>
                <a:lnTo>
                  <a:pt x="2162573" y="17827"/>
                </a:lnTo>
                <a:lnTo>
                  <a:pt x="2201108" y="38743"/>
                </a:lnTo>
                <a:lnTo>
                  <a:pt x="2234682" y="66444"/>
                </a:lnTo>
                <a:lnTo>
                  <a:pt x="2262383" y="100018"/>
                </a:lnTo>
                <a:lnTo>
                  <a:pt x="2283299" y="138553"/>
                </a:lnTo>
                <a:lnTo>
                  <a:pt x="2296518" y="181136"/>
                </a:lnTo>
                <a:lnTo>
                  <a:pt x="2301127" y="226856"/>
                </a:lnTo>
                <a:lnTo>
                  <a:pt x="2301127" y="1134259"/>
                </a:lnTo>
                <a:lnTo>
                  <a:pt x="2296518" y="1179978"/>
                </a:lnTo>
                <a:lnTo>
                  <a:pt x="2283299" y="1222562"/>
                </a:lnTo>
                <a:lnTo>
                  <a:pt x="2262383" y="1261096"/>
                </a:lnTo>
                <a:lnTo>
                  <a:pt x="2234682" y="1294671"/>
                </a:lnTo>
                <a:lnTo>
                  <a:pt x="2201108" y="1322372"/>
                </a:lnTo>
                <a:lnTo>
                  <a:pt x="2162573" y="1343288"/>
                </a:lnTo>
                <a:lnTo>
                  <a:pt x="2119990" y="1356506"/>
                </a:lnTo>
                <a:lnTo>
                  <a:pt x="2074270" y="1361115"/>
                </a:lnTo>
                <a:lnTo>
                  <a:pt x="226856" y="1361115"/>
                </a:lnTo>
                <a:lnTo>
                  <a:pt x="181136" y="1356506"/>
                </a:lnTo>
                <a:lnTo>
                  <a:pt x="138553" y="1343288"/>
                </a:lnTo>
                <a:lnTo>
                  <a:pt x="100018" y="1322372"/>
                </a:lnTo>
                <a:lnTo>
                  <a:pt x="66444" y="1294671"/>
                </a:lnTo>
                <a:lnTo>
                  <a:pt x="38743" y="1261096"/>
                </a:lnTo>
                <a:lnTo>
                  <a:pt x="17827" y="1222562"/>
                </a:lnTo>
                <a:lnTo>
                  <a:pt x="4608" y="1179978"/>
                </a:lnTo>
                <a:lnTo>
                  <a:pt x="0" y="1134259"/>
                </a:lnTo>
                <a:lnTo>
                  <a:pt x="0" y="226856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136" y="5919215"/>
            <a:ext cx="9378696" cy="142036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6609" y="5927199"/>
            <a:ext cx="8851900" cy="109664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245110" marR="240029" indent="-1905" algn="ctr">
              <a:lnSpc>
                <a:spcPts val="2020"/>
              </a:lnSpc>
              <a:spcBef>
                <a:spcPts val="650"/>
              </a:spcBef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Remove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redundant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data;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ensure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integrity;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may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have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across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(need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join to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check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dependency)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transitive</a:t>
            </a:r>
            <a:r>
              <a:rPr sz="20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non-key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dependencies, but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lose</a:t>
            </a:r>
            <a:r>
              <a:rPr sz="20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839" y="1235455"/>
            <a:ext cx="8975725" cy="6381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0"/>
              </a:spcBef>
            </a:pPr>
            <a:r>
              <a:rPr sz="2100" spc="-10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BCNF,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decompose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remove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non-keys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imply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dependencies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74291" y="3416808"/>
            <a:ext cx="3879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111C-29FF-A4AD-B143-EA6F3FBE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2NF and 3NF 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1820-6BED-A2C0-7E6B-E31118568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endParaRPr lang="en-US" b="0" i="0" u="none" strike="noStrike" dirty="0">
              <a:solidFill>
                <a:srgbClr val="1F1F1F"/>
              </a:solidFill>
              <a:effectLst/>
              <a:latin typeface="Google Sans"/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Check if determinant contains no candidate key?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           /         \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   yes/             \ no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       /                 \</a:t>
            </a:r>
          </a:p>
          <a:p>
            <a:pPr algn="l"/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not in 3NF     no problem for 2NF</a:t>
            </a:r>
          </a:p>
          <a:p>
            <a:pPr algn="l"/>
            <a:endParaRPr lang="en-US" b="0" i="0" u="none" strike="noStrike" dirty="0">
              <a:solidFill>
                <a:srgbClr val="1F1F1F"/>
              </a:solidFill>
              <a:effectLst/>
              <a:latin typeface="Google Sans"/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candidate key is partial/whole?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             /        \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partial /            \ whole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         /                 \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not in </a:t>
            </a:r>
            <a:r>
              <a:rPr lang="en-US" b="0" i="0" u="none" strike="noStrike">
                <a:solidFill>
                  <a:srgbClr val="1F1F1F"/>
                </a:solidFill>
                <a:effectLst/>
                <a:latin typeface="Google Sans"/>
              </a:rPr>
              <a:t>2NF         in </a:t>
            </a:r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2NF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553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26" y="336393"/>
            <a:ext cx="25273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E</a:t>
            </a:r>
            <a:r>
              <a:rPr sz="4300" spc="-135" dirty="0"/>
              <a:t>x</a:t>
            </a:r>
            <a:r>
              <a:rPr sz="4300" spc="-130" dirty="0"/>
              <a:t>a</a:t>
            </a:r>
            <a:r>
              <a:rPr sz="4300" spc="-140" dirty="0"/>
              <a:t>m</a:t>
            </a:r>
            <a:r>
              <a:rPr sz="4300" spc="-130" dirty="0"/>
              <a:t>p</a:t>
            </a:r>
            <a:r>
              <a:rPr sz="4300" spc="-125" dirty="0"/>
              <a:t>le</a:t>
            </a:r>
            <a:endParaRPr sz="43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526" y="3127514"/>
          <a:ext cx="9732004" cy="2084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2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26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7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empId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startDate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salary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empDept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rating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14629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Adams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E120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Tanaka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16850" y="2735071"/>
            <a:ext cx="1976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work_project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526" y="1154305"/>
            <a:ext cx="8836025" cy="82296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6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292934"/>
                </a:solidFill>
                <a:latin typeface="Courier New"/>
                <a:cs typeface="Courier New"/>
              </a:rPr>
              <a:t>work_project</a:t>
            </a:r>
            <a:r>
              <a:rPr sz="2600" spc="-8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stores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information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projects,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assignment,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budget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hour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allocation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077" y="5904991"/>
            <a:ext cx="8757285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Notice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consists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some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redundant.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534564"/>
            <a:ext cx="665607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40" dirty="0"/>
              <a:t>A</a:t>
            </a:r>
            <a:r>
              <a:rPr sz="4300" spc="-130" dirty="0"/>
              <a:t>s</a:t>
            </a:r>
            <a:r>
              <a:rPr sz="4300" spc="-125" dirty="0"/>
              <a:t>s</a:t>
            </a:r>
            <a:r>
              <a:rPr sz="4300" spc="-130" dirty="0"/>
              <a:t>u</a:t>
            </a:r>
            <a:r>
              <a:rPr sz="4300" spc="-140" dirty="0"/>
              <a:t>m</a:t>
            </a:r>
            <a:r>
              <a:rPr sz="4300" spc="-125" dirty="0"/>
              <a:t>p</a:t>
            </a:r>
            <a:r>
              <a:rPr sz="4300" spc="-120" dirty="0"/>
              <a:t>t</a:t>
            </a:r>
            <a:r>
              <a:rPr sz="4300" spc="-125" dirty="0"/>
              <a:t>i</a:t>
            </a:r>
            <a:r>
              <a:rPr sz="4300" spc="-130" dirty="0"/>
              <a:t>on</a:t>
            </a:r>
            <a:r>
              <a:rPr sz="4300" dirty="0"/>
              <a:t>s</a:t>
            </a:r>
            <a:r>
              <a:rPr sz="4300" spc="-250" dirty="0"/>
              <a:t> </a:t>
            </a:r>
            <a:r>
              <a:rPr sz="4300" spc="-150" dirty="0"/>
              <a:t>W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40" dirty="0"/>
              <a:t>M</a:t>
            </a:r>
            <a:r>
              <a:rPr sz="4300" spc="-125" dirty="0"/>
              <a:t>ad</a:t>
            </a:r>
            <a:r>
              <a:rPr sz="4300" dirty="0"/>
              <a:t>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91515" y="1600200"/>
            <a:ext cx="8675370" cy="4931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970" indent="-195580">
              <a:lnSpc>
                <a:spcPct val="100000"/>
              </a:lnSpc>
              <a:spcBef>
                <a:spcPts val="100"/>
              </a:spcBef>
              <a:buSzPct val="85714"/>
              <a:buFont typeface="Arial MT"/>
              <a:buChar char="•"/>
              <a:tabLst>
                <a:tab pos="269240" algn="l"/>
              </a:tabLst>
            </a:pPr>
            <a:r>
              <a:rPr spc="10" dirty="0"/>
              <a:t>Each project has </a:t>
            </a:r>
            <a:r>
              <a:rPr dirty="0"/>
              <a:t>a</a:t>
            </a:r>
            <a:r>
              <a:rPr spc="15" dirty="0"/>
              <a:t> </a:t>
            </a:r>
            <a:r>
              <a:rPr spc="10" dirty="0"/>
              <a:t>unique </a:t>
            </a:r>
            <a:r>
              <a:rPr spc="15" dirty="0"/>
              <a:t>name</a:t>
            </a:r>
          </a:p>
          <a:p>
            <a:pPr marL="267970" indent="-195580">
              <a:lnSpc>
                <a:spcPct val="100000"/>
              </a:lnSpc>
              <a:spcBef>
                <a:spcPts val="1964"/>
              </a:spcBef>
              <a:buSzPct val="85714"/>
              <a:buFont typeface="Arial MT"/>
              <a:buChar char="•"/>
              <a:tabLst>
                <a:tab pos="269240" algn="l"/>
              </a:tabLst>
            </a:pPr>
            <a:r>
              <a:rPr spc="15" dirty="0"/>
              <a:t>Names </a:t>
            </a:r>
            <a:r>
              <a:rPr spc="5" dirty="0"/>
              <a:t>of</a:t>
            </a:r>
            <a:r>
              <a:rPr spc="10" dirty="0"/>
              <a:t> employees</a:t>
            </a:r>
            <a:r>
              <a:rPr spc="15" dirty="0"/>
              <a:t> </a:t>
            </a:r>
            <a:r>
              <a:rPr spc="5" dirty="0"/>
              <a:t>are</a:t>
            </a:r>
            <a:r>
              <a:rPr spc="15" dirty="0"/>
              <a:t> managers</a:t>
            </a:r>
            <a:r>
              <a:rPr spc="20" dirty="0"/>
              <a:t> </a:t>
            </a:r>
            <a:r>
              <a:rPr spc="5" dirty="0"/>
              <a:t>are</a:t>
            </a:r>
            <a:r>
              <a:rPr spc="15" dirty="0"/>
              <a:t> </a:t>
            </a:r>
            <a:r>
              <a:rPr spc="10" dirty="0"/>
              <a:t>not</a:t>
            </a:r>
            <a:r>
              <a:rPr spc="15" dirty="0"/>
              <a:t> </a:t>
            </a:r>
            <a:r>
              <a:rPr spc="10" dirty="0"/>
              <a:t>unique</a:t>
            </a:r>
          </a:p>
          <a:p>
            <a:pPr marL="267970" indent="-195580">
              <a:lnSpc>
                <a:spcPct val="100000"/>
              </a:lnSpc>
              <a:spcBef>
                <a:spcPts val="1775"/>
              </a:spcBef>
              <a:buSzPct val="85714"/>
              <a:buFont typeface="Arial MT"/>
              <a:buChar char="•"/>
              <a:tabLst>
                <a:tab pos="269240" algn="l"/>
              </a:tabLst>
            </a:pPr>
            <a:r>
              <a:rPr spc="10" dirty="0"/>
              <a:t>Each</a:t>
            </a:r>
            <a:r>
              <a:rPr spc="20" dirty="0"/>
              <a:t> </a:t>
            </a:r>
            <a:r>
              <a:rPr spc="10" dirty="0"/>
              <a:t>project</a:t>
            </a:r>
            <a:r>
              <a:rPr spc="20" dirty="0"/>
              <a:t> </a:t>
            </a:r>
            <a:r>
              <a:rPr spc="10" dirty="0"/>
              <a:t>has</a:t>
            </a:r>
            <a:r>
              <a:rPr spc="15" dirty="0"/>
              <a:t> </a:t>
            </a:r>
            <a:r>
              <a:rPr spc="10" dirty="0"/>
              <a:t>one</a:t>
            </a:r>
            <a:r>
              <a:rPr spc="20" dirty="0"/>
              <a:t> </a:t>
            </a:r>
            <a:r>
              <a:rPr spc="-25" dirty="0"/>
              <a:t>manager,</a:t>
            </a:r>
            <a:r>
              <a:rPr spc="15" dirty="0"/>
              <a:t> </a:t>
            </a:r>
            <a:r>
              <a:rPr spc="10" dirty="0"/>
              <a:t>whose</a:t>
            </a:r>
            <a:r>
              <a:rPr spc="15" dirty="0"/>
              <a:t> name</a:t>
            </a:r>
            <a:r>
              <a:rPr spc="20" dirty="0"/>
              <a:t> </a:t>
            </a:r>
            <a:r>
              <a:rPr spc="5" dirty="0"/>
              <a:t>is</a:t>
            </a:r>
            <a:r>
              <a:rPr spc="20" dirty="0"/>
              <a:t> </a:t>
            </a:r>
            <a:r>
              <a:rPr spc="5" dirty="0"/>
              <a:t>stored</a:t>
            </a:r>
            <a:r>
              <a:rPr spc="25" dirty="0"/>
              <a:t> </a:t>
            </a:r>
            <a:r>
              <a:rPr spc="5" dirty="0"/>
              <a:t>in</a:t>
            </a:r>
            <a:r>
              <a:rPr spc="20" dirty="0"/>
              <a:t> </a:t>
            </a:r>
            <a:r>
              <a:rPr spc="15" dirty="0">
                <a:latin typeface="Courier New"/>
                <a:cs typeface="Courier New"/>
              </a:rPr>
              <a:t>prjMgr</a:t>
            </a:r>
          </a:p>
          <a:p>
            <a:pPr marL="267970" indent="-195580">
              <a:lnSpc>
                <a:spcPct val="100000"/>
              </a:lnSpc>
              <a:spcBef>
                <a:spcPts val="2090"/>
              </a:spcBef>
              <a:buSzPct val="85714"/>
              <a:buFont typeface="Arial MT"/>
              <a:buChar char="•"/>
              <a:tabLst>
                <a:tab pos="269240" algn="l"/>
              </a:tabLst>
            </a:pPr>
            <a:r>
              <a:rPr spc="10" dirty="0"/>
              <a:t>Many</a:t>
            </a:r>
            <a:r>
              <a:rPr spc="25" dirty="0"/>
              <a:t> </a:t>
            </a:r>
            <a:r>
              <a:rPr spc="10" dirty="0"/>
              <a:t>employees</a:t>
            </a:r>
            <a:r>
              <a:rPr spc="20" dirty="0"/>
              <a:t> </a:t>
            </a:r>
            <a:r>
              <a:rPr spc="5" dirty="0"/>
              <a:t>can</a:t>
            </a:r>
            <a:r>
              <a:rPr spc="15" dirty="0"/>
              <a:t> </a:t>
            </a:r>
            <a:r>
              <a:rPr spc="10" dirty="0"/>
              <a:t>be</a:t>
            </a:r>
            <a:r>
              <a:rPr spc="20" dirty="0"/>
              <a:t> </a:t>
            </a:r>
            <a:r>
              <a:rPr spc="10" dirty="0"/>
              <a:t>assigned</a:t>
            </a:r>
            <a:r>
              <a:rPr spc="25" dirty="0"/>
              <a:t> </a:t>
            </a:r>
            <a:r>
              <a:rPr spc="5" dirty="0"/>
              <a:t>to</a:t>
            </a:r>
            <a:r>
              <a:rPr spc="25" dirty="0"/>
              <a:t> </a:t>
            </a:r>
            <a:r>
              <a:rPr spc="10" dirty="0"/>
              <a:t>work</a:t>
            </a:r>
            <a:r>
              <a:rPr spc="30" dirty="0"/>
              <a:t> </a:t>
            </a:r>
            <a:r>
              <a:rPr spc="5" dirty="0"/>
              <a:t>on</a:t>
            </a:r>
            <a:r>
              <a:rPr spc="15" dirty="0"/>
              <a:t> </a:t>
            </a:r>
            <a:r>
              <a:rPr spc="10" dirty="0"/>
              <a:t>each</a:t>
            </a:r>
            <a:r>
              <a:rPr spc="20" dirty="0"/>
              <a:t> </a:t>
            </a:r>
            <a:r>
              <a:rPr spc="10" dirty="0"/>
              <a:t>project</a:t>
            </a:r>
          </a:p>
          <a:p>
            <a:pPr marL="267970" indent="-195580">
              <a:lnSpc>
                <a:spcPct val="100000"/>
              </a:lnSpc>
              <a:spcBef>
                <a:spcPts val="1970"/>
              </a:spcBef>
              <a:buSzPct val="85714"/>
              <a:buFont typeface="Arial MT"/>
              <a:buChar char="•"/>
              <a:tabLst>
                <a:tab pos="269240" algn="l"/>
              </a:tabLst>
            </a:pPr>
            <a:r>
              <a:rPr spc="5" dirty="0"/>
              <a:t>An</a:t>
            </a:r>
            <a:r>
              <a:rPr spc="20" dirty="0"/>
              <a:t> </a:t>
            </a:r>
            <a:r>
              <a:rPr spc="10" dirty="0"/>
              <a:t>employee</a:t>
            </a:r>
            <a:r>
              <a:rPr spc="15" dirty="0"/>
              <a:t> </a:t>
            </a:r>
            <a:r>
              <a:rPr spc="5" dirty="0"/>
              <a:t>can</a:t>
            </a:r>
            <a:r>
              <a:rPr spc="20" dirty="0"/>
              <a:t> </a:t>
            </a:r>
            <a:r>
              <a:rPr spc="10" dirty="0"/>
              <a:t>be</a:t>
            </a:r>
            <a:r>
              <a:rPr spc="20" dirty="0"/>
              <a:t> </a:t>
            </a:r>
            <a:r>
              <a:rPr spc="10" dirty="0"/>
              <a:t>assigned</a:t>
            </a:r>
            <a:r>
              <a:rPr spc="25" dirty="0"/>
              <a:t> </a:t>
            </a:r>
            <a:r>
              <a:rPr spc="5" dirty="0"/>
              <a:t>to</a:t>
            </a:r>
            <a:r>
              <a:rPr spc="20" dirty="0"/>
              <a:t> </a:t>
            </a:r>
            <a:r>
              <a:rPr spc="15" dirty="0"/>
              <a:t>more</a:t>
            </a:r>
            <a:r>
              <a:rPr spc="20" dirty="0"/>
              <a:t> </a:t>
            </a:r>
            <a:r>
              <a:rPr spc="10" dirty="0"/>
              <a:t>than</a:t>
            </a:r>
            <a:r>
              <a:rPr spc="20" dirty="0"/>
              <a:t> </a:t>
            </a:r>
            <a:r>
              <a:rPr spc="10" dirty="0"/>
              <a:t>one</a:t>
            </a:r>
            <a:r>
              <a:rPr spc="15" dirty="0"/>
              <a:t> </a:t>
            </a:r>
            <a:r>
              <a:rPr spc="10" dirty="0"/>
              <a:t>project</a:t>
            </a:r>
          </a:p>
          <a:p>
            <a:pPr marL="267970" marR="5080" indent="-195580">
              <a:lnSpc>
                <a:spcPct val="103800"/>
              </a:lnSpc>
              <a:spcBef>
                <a:spcPts val="1680"/>
              </a:spcBef>
              <a:buSzPct val="85714"/>
              <a:buFont typeface="Arial MT"/>
              <a:buChar char="•"/>
              <a:tabLst>
                <a:tab pos="269240" algn="l"/>
              </a:tabLst>
            </a:pPr>
            <a:r>
              <a:rPr spc="10" dirty="0"/>
              <a:t>The</a:t>
            </a:r>
            <a:r>
              <a:rPr spc="25" dirty="0"/>
              <a:t> </a:t>
            </a:r>
            <a:r>
              <a:rPr spc="10" dirty="0"/>
              <a:t>attribute</a:t>
            </a:r>
            <a:r>
              <a:rPr spc="25" dirty="0"/>
              <a:t> </a:t>
            </a:r>
            <a:r>
              <a:rPr spc="10" dirty="0">
                <a:latin typeface="Courier New"/>
                <a:cs typeface="Courier New"/>
              </a:rPr>
              <a:t>hours</a:t>
            </a:r>
            <a:r>
              <a:rPr spc="-495" dirty="0">
                <a:latin typeface="Courier New"/>
                <a:cs typeface="Courier New"/>
              </a:rPr>
              <a:t> </a:t>
            </a:r>
            <a:r>
              <a:rPr spc="5" dirty="0"/>
              <a:t>tell</a:t>
            </a:r>
            <a:r>
              <a:rPr spc="15" dirty="0"/>
              <a:t> </a:t>
            </a:r>
            <a:r>
              <a:rPr spc="5" dirty="0"/>
              <a:t>the</a:t>
            </a:r>
            <a:r>
              <a:rPr spc="20" dirty="0"/>
              <a:t> </a:t>
            </a:r>
            <a:r>
              <a:rPr spc="15" dirty="0"/>
              <a:t>number</a:t>
            </a:r>
            <a:r>
              <a:rPr spc="25" dirty="0"/>
              <a:t> </a:t>
            </a:r>
            <a:r>
              <a:rPr spc="5" dirty="0"/>
              <a:t>of</a:t>
            </a:r>
            <a:r>
              <a:rPr spc="15" dirty="0"/>
              <a:t> </a:t>
            </a:r>
            <a:r>
              <a:rPr spc="10" dirty="0"/>
              <a:t>hours</a:t>
            </a:r>
            <a:r>
              <a:rPr spc="20" dirty="0"/>
              <a:t> </a:t>
            </a:r>
            <a:r>
              <a:rPr spc="10" dirty="0"/>
              <a:t>per</a:t>
            </a:r>
            <a:r>
              <a:rPr spc="20" dirty="0"/>
              <a:t> </a:t>
            </a:r>
            <a:r>
              <a:rPr spc="10" dirty="0"/>
              <a:t>week</a:t>
            </a:r>
            <a:r>
              <a:rPr spc="3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10" dirty="0"/>
              <a:t>particular </a:t>
            </a:r>
            <a:r>
              <a:rPr spc="-720" dirty="0"/>
              <a:t> </a:t>
            </a:r>
            <a:r>
              <a:rPr spc="10" dirty="0"/>
              <a:t>employee</a:t>
            </a:r>
            <a:r>
              <a:rPr spc="15" dirty="0"/>
              <a:t> </a:t>
            </a:r>
            <a:r>
              <a:rPr spc="5" dirty="0"/>
              <a:t>is</a:t>
            </a:r>
            <a:r>
              <a:rPr spc="20" dirty="0"/>
              <a:t> </a:t>
            </a:r>
            <a:r>
              <a:rPr spc="10" dirty="0"/>
              <a:t>assigned</a:t>
            </a:r>
            <a:r>
              <a:rPr spc="30" dirty="0"/>
              <a:t> </a:t>
            </a:r>
            <a:r>
              <a:rPr spc="5" dirty="0"/>
              <a:t>to</a:t>
            </a:r>
            <a:r>
              <a:rPr spc="25" dirty="0"/>
              <a:t> </a:t>
            </a:r>
            <a:r>
              <a:rPr spc="10" dirty="0"/>
              <a:t>work</a:t>
            </a:r>
            <a:r>
              <a:rPr spc="30" dirty="0"/>
              <a:t> </a:t>
            </a:r>
            <a:r>
              <a:rPr spc="5" dirty="0"/>
              <a:t>on</a:t>
            </a:r>
            <a:r>
              <a:rPr spc="2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10" dirty="0"/>
              <a:t>particular project</a:t>
            </a:r>
          </a:p>
          <a:p>
            <a:pPr marL="267970" indent="-195580">
              <a:lnSpc>
                <a:spcPct val="100000"/>
              </a:lnSpc>
              <a:spcBef>
                <a:spcPts val="1775"/>
              </a:spcBef>
              <a:buSzPct val="85714"/>
              <a:buFont typeface="Arial MT"/>
              <a:buChar char="•"/>
              <a:tabLst>
                <a:tab pos="269240" algn="l"/>
              </a:tabLst>
            </a:pPr>
            <a:r>
              <a:rPr spc="15" dirty="0">
                <a:latin typeface="Courier New"/>
                <a:cs typeface="Courier New"/>
              </a:rPr>
              <a:t>budge</a:t>
            </a:r>
            <a:r>
              <a:rPr dirty="0">
                <a:latin typeface="Courier New"/>
                <a:cs typeface="Courier New"/>
              </a:rPr>
              <a:t>t</a:t>
            </a:r>
            <a:r>
              <a:rPr spc="-495" dirty="0">
                <a:latin typeface="Courier New"/>
                <a:cs typeface="Courier New"/>
              </a:rPr>
              <a:t> </a:t>
            </a:r>
            <a:r>
              <a:rPr spc="10" dirty="0"/>
              <a:t>st</a:t>
            </a:r>
            <a:r>
              <a:rPr spc="15" dirty="0"/>
              <a:t>o</a:t>
            </a:r>
            <a:r>
              <a:rPr spc="10" dirty="0"/>
              <a:t>r</a:t>
            </a:r>
            <a:r>
              <a:rPr spc="15" dirty="0"/>
              <a:t>e</a:t>
            </a:r>
            <a:r>
              <a:rPr dirty="0"/>
              <a:t>s</a:t>
            </a:r>
            <a:r>
              <a:rPr spc="20" dirty="0"/>
              <a:t> </a:t>
            </a:r>
            <a:r>
              <a:rPr spc="10" dirty="0"/>
              <a:t>t</a:t>
            </a:r>
            <a:r>
              <a:rPr spc="15" dirty="0"/>
              <a:t>h</a:t>
            </a:r>
            <a:r>
              <a:rPr dirty="0"/>
              <a:t>e</a:t>
            </a:r>
            <a:r>
              <a:rPr spc="20" dirty="0"/>
              <a:t> </a:t>
            </a:r>
            <a:r>
              <a:rPr spc="15" dirty="0"/>
              <a:t>a</a:t>
            </a:r>
            <a:r>
              <a:rPr spc="35" dirty="0"/>
              <a:t>m</a:t>
            </a:r>
            <a:r>
              <a:rPr spc="15" dirty="0"/>
              <a:t>oun</a:t>
            </a:r>
            <a:r>
              <a:rPr dirty="0"/>
              <a:t>t</a:t>
            </a:r>
            <a:r>
              <a:rPr spc="20" dirty="0"/>
              <a:t> </a:t>
            </a:r>
            <a:r>
              <a:rPr spc="25" dirty="0"/>
              <a:t>b</a:t>
            </a:r>
            <a:r>
              <a:rPr spc="15" dirty="0"/>
              <a:t>u</a:t>
            </a:r>
            <a:r>
              <a:rPr spc="25" dirty="0"/>
              <a:t>dg</a:t>
            </a:r>
            <a:r>
              <a:rPr spc="15" dirty="0"/>
              <a:t>e</a:t>
            </a:r>
            <a:r>
              <a:rPr spc="10" dirty="0"/>
              <a:t>te</a:t>
            </a:r>
            <a:r>
              <a:rPr dirty="0"/>
              <a:t>d</a:t>
            </a:r>
            <a:r>
              <a:rPr spc="30" dirty="0"/>
              <a:t> </a:t>
            </a:r>
            <a:r>
              <a:rPr spc="5" dirty="0"/>
              <a:t>f</a:t>
            </a:r>
            <a:r>
              <a:rPr spc="15" dirty="0"/>
              <a:t>o</a:t>
            </a:r>
            <a:r>
              <a:rPr dirty="0"/>
              <a:t>r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p</a:t>
            </a:r>
            <a:r>
              <a:rPr spc="10" dirty="0"/>
              <a:t>r</a:t>
            </a:r>
            <a:r>
              <a:rPr spc="15" dirty="0"/>
              <a:t>o</a:t>
            </a:r>
            <a:r>
              <a:rPr spc="10" dirty="0"/>
              <a:t>j</a:t>
            </a:r>
            <a:r>
              <a:rPr spc="15" dirty="0"/>
              <a:t>e</a:t>
            </a:r>
            <a:r>
              <a:rPr spc="10" dirty="0"/>
              <a:t>ct</a:t>
            </a:r>
          </a:p>
          <a:p>
            <a:pPr marL="267970" indent="-195580">
              <a:lnSpc>
                <a:spcPct val="100000"/>
              </a:lnSpc>
              <a:spcBef>
                <a:spcPts val="1970"/>
              </a:spcBef>
              <a:buSzPct val="85714"/>
              <a:buFont typeface="Arial MT"/>
              <a:buChar char="•"/>
              <a:tabLst>
                <a:tab pos="269240" algn="l"/>
              </a:tabLst>
            </a:pPr>
            <a:r>
              <a:rPr spc="10" dirty="0">
                <a:latin typeface="Courier New"/>
                <a:cs typeface="Courier New"/>
              </a:rPr>
              <a:t>startDate</a:t>
            </a:r>
            <a:r>
              <a:rPr spc="-495" dirty="0">
                <a:latin typeface="Courier New"/>
                <a:cs typeface="Courier New"/>
              </a:rPr>
              <a:t> </a:t>
            </a:r>
            <a:r>
              <a:rPr spc="5" dirty="0"/>
              <a:t>gives</a:t>
            </a:r>
            <a:r>
              <a:rPr spc="20" dirty="0"/>
              <a:t> </a:t>
            </a:r>
            <a:r>
              <a:rPr spc="5" dirty="0"/>
              <a:t>the</a:t>
            </a:r>
            <a:r>
              <a:rPr spc="20" dirty="0"/>
              <a:t> </a:t>
            </a:r>
            <a:r>
              <a:rPr spc="5" dirty="0"/>
              <a:t>starting</a:t>
            </a:r>
            <a:r>
              <a:rPr spc="35" dirty="0"/>
              <a:t> </a:t>
            </a:r>
            <a:r>
              <a:rPr spc="10" dirty="0"/>
              <a:t>date</a:t>
            </a:r>
            <a:r>
              <a:rPr spc="20" dirty="0"/>
              <a:t> </a:t>
            </a:r>
            <a:r>
              <a:rPr spc="5" dirty="0"/>
              <a:t>for</a:t>
            </a:r>
            <a:r>
              <a:rPr spc="15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spc="10" dirty="0"/>
              <a:t>project</a:t>
            </a:r>
          </a:p>
          <a:p>
            <a:pPr marL="267970" indent="-195580">
              <a:lnSpc>
                <a:spcPct val="100000"/>
              </a:lnSpc>
              <a:spcBef>
                <a:spcPts val="1989"/>
              </a:spcBef>
              <a:buSzPct val="85714"/>
              <a:buFont typeface="Arial MT"/>
              <a:buChar char="•"/>
              <a:tabLst>
                <a:tab pos="269240" algn="l"/>
              </a:tabLst>
            </a:pPr>
            <a:r>
              <a:rPr spc="10" dirty="0">
                <a:latin typeface="Courier New"/>
                <a:cs typeface="Courier New"/>
              </a:rPr>
              <a:t>salary</a:t>
            </a:r>
            <a:r>
              <a:rPr spc="-495" dirty="0">
                <a:latin typeface="Courier New"/>
                <a:cs typeface="Courier New"/>
              </a:rPr>
              <a:t> </a:t>
            </a:r>
            <a:r>
              <a:rPr spc="5" dirty="0"/>
              <a:t>gives</a:t>
            </a:r>
            <a:r>
              <a:rPr spc="20" dirty="0"/>
              <a:t> </a:t>
            </a:r>
            <a:r>
              <a:rPr spc="5" dirty="0"/>
              <a:t>the</a:t>
            </a:r>
            <a:r>
              <a:rPr spc="20" dirty="0"/>
              <a:t> </a:t>
            </a:r>
            <a:r>
              <a:rPr spc="10" dirty="0"/>
              <a:t>annual</a:t>
            </a:r>
            <a:r>
              <a:rPr spc="20" dirty="0"/>
              <a:t> </a:t>
            </a:r>
            <a:r>
              <a:rPr spc="5" dirty="0"/>
              <a:t>salary</a:t>
            </a:r>
            <a:r>
              <a:rPr spc="30" dirty="0"/>
              <a:t> </a:t>
            </a:r>
            <a:r>
              <a:rPr spc="5" dirty="0"/>
              <a:t>of</a:t>
            </a:r>
            <a:r>
              <a:rPr spc="15" dirty="0"/>
              <a:t> </a:t>
            </a:r>
            <a:r>
              <a:rPr spc="5" dirty="0"/>
              <a:t>an</a:t>
            </a:r>
            <a:r>
              <a:rPr spc="30" dirty="0"/>
              <a:t> </a:t>
            </a:r>
            <a:r>
              <a:rPr spc="10" dirty="0"/>
              <a:t>employee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8982" y="304800"/>
            <a:ext cx="77628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40" dirty="0"/>
              <a:t>A</a:t>
            </a:r>
            <a:r>
              <a:rPr sz="4300" spc="-130" dirty="0"/>
              <a:t>s</a:t>
            </a:r>
            <a:r>
              <a:rPr sz="4300" spc="-125" dirty="0"/>
              <a:t>s</a:t>
            </a:r>
            <a:r>
              <a:rPr sz="4300" spc="-130" dirty="0"/>
              <a:t>u</a:t>
            </a:r>
            <a:r>
              <a:rPr sz="4300" spc="-140" dirty="0"/>
              <a:t>m</a:t>
            </a:r>
            <a:r>
              <a:rPr sz="4300" spc="-125" dirty="0"/>
              <a:t>p</a:t>
            </a:r>
            <a:r>
              <a:rPr sz="4300" spc="-120" dirty="0"/>
              <a:t>t</a:t>
            </a:r>
            <a:r>
              <a:rPr sz="4300" spc="-125" dirty="0"/>
              <a:t>i</a:t>
            </a:r>
            <a:r>
              <a:rPr sz="4300" spc="-130" dirty="0"/>
              <a:t>on</a:t>
            </a:r>
            <a:r>
              <a:rPr sz="4300" dirty="0"/>
              <a:t>s</a:t>
            </a:r>
            <a:r>
              <a:rPr sz="4300" spc="-250" dirty="0"/>
              <a:t> </a:t>
            </a:r>
            <a:r>
              <a:rPr sz="4300" spc="-150" dirty="0"/>
              <a:t>W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40" dirty="0"/>
              <a:t>M</a:t>
            </a:r>
            <a:r>
              <a:rPr sz="4300" spc="-125" dirty="0"/>
              <a:t>ad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25" dirty="0"/>
              <a:t>(2</a:t>
            </a:r>
            <a:r>
              <a:rPr sz="4300" dirty="0"/>
              <a:t>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418982" y="1223264"/>
            <a:ext cx="8769985" cy="461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marR="5080" indent="-195580">
              <a:lnSpc>
                <a:spcPct val="100000"/>
              </a:lnSpc>
              <a:spcBef>
                <a:spcPts val="10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empMgr</a:t>
            </a:r>
            <a:r>
              <a:rPr sz="2100" spc="-4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gives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employee’s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manager,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might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project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manager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77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empDep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100" spc="-4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oy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ee</a:t>
            </a:r>
            <a:r>
              <a:rPr sz="2100" spc="-65" dirty="0">
                <a:solidFill>
                  <a:srgbClr val="292934"/>
                </a:solidFill>
                <a:latin typeface="Verdana"/>
                <a:cs typeface="Verdana"/>
              </a:rPr>
              <a:t>’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d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rt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964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Department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are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unique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78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department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has only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one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manager</a:t>
            </a:r>
            <a:endParaRPr sz="2100">
              <a:latin typeface="Verdana"/>
              <a:cs typeface="Verdana"/>
            </a:endParaRPr>
          </a:p>
          <a:p>
            <a:pPr marL="207645" marR="502284" indent="-195580">
              <a:lnSpc>
                <a:spcPts val="2400"/>
              </a:lnSpc>
              <a:spcBef>
                <a:spcPts val="207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employee’s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manager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manager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employee’s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department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62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rating</a:t>
            </a:r>
            <a:r>
              <a:rPr sz="2100" spc="-4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gives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employee’s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rating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particular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project</a:t>
            </a:r>
            <a:endParaRPr sz="2100">
              <a:latin typeface="Verdana"/>
              <a:cs typeface="Verdana"/>
            </a:endParaRPr>
          </a:p>
          <a:p>
            <a:pPr marL="207645" marR="814069" indent="-195580">
              <a:lnSpc>
                <a:spcPts val="2400"/>
              </a:lnSpc>
              <a:spcBef>
                <a:spcPts val="224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project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manager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assigns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rating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employee’s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project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8982" y="263144"/>
            <a:ext cx="30861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0" dirty="0"/>
              <a:t>Li</a:t>
            </a:r>
            <a:r>
              <a:rPr sz="4300" spc="-125" dirty="0"/>
              <a:t>s</a:t>
            </a:r>
            <a:r>
              <a:rPr sz="4300" dirty="0"/>
              <a:t>t</a:t>
            </a:r>
            <a:r>
              <a:rPr sz="4300" spc="-245" dirty="0"/>
              <a:t> </a:t>
            </a:r>
            <a:r>
              <a:rPr sz="4300" spc="-125" dirty="0"/>
              <a:t>o</a:t>
            </a:r>
            <a:r>
              <a:rPr sz="4300" dirty="0"/>
              <a:t>f</a:t>
            </a:r>
            <a:r>
              <a:rPr sz="4300" spc="-245" dirty="0"/>
              <a:t> </a:t>
            </a:r>
            <a:r>
              <a:rPr sz="4300" spc="-135" dirty="0"/>
              <a:t>FD</a:t>
            </a:r>
            <a:r>
              <a:rPr sz="430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982" y="1238503"/>
            <a:ext cx="76796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assumptions,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982" y="4971796"/>
            <a:ext cx="862330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15"/>
              </a:lnSpc>
              <a:spcBef>
                <a:spcPts val="100"/>
              </a:spcBef>
            </a:pP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assumed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people’s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were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unique,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empMgr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ts val="2615"/>
              </a:lnSpc>
            </a:pP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functionally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determine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prjMg</a:t>
            </a:r>
            <a:r>
              <a:rPr sz="2200" dirty="0">
                <a:solidFill>
                  <a:srgbClr val="292934"/>
                </a:solidFill>
                <a:latin typeface="Courier New"/>
                <a:cs typeface="Courier New"/>
              </a:rPr>
              <a:t>r</a:t>
            </a:r>
            <a:r>
              <a:rPr sz="2200" spc="-50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d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er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prjName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9926" y="2173732"/>
            <a:ext cx="12223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37152" y="2039620"/>
            <a:ext cx="2590800" cy="96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0815">
              <a:lnSpc>
                <a:spcPct val="140000"/>
              </a:lnSpc>
              <a:spcBef>
                <a:spcPts val="100"/>
              </a:spcBef>
            </a:pP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startDate </a:t>
            </a:r>
            <a:r>
              <a:rPr sz="22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22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900" y="2521203"/>
            <a:ext cx="22491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36400"/>
              </a:lnSpc>
              <a:spcBef>
                <a:spcPts val="100"/>
              </a:spcBef>
            </a:pP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salary, </a:t>
            </a:r>
            <a:r>
              <a:rPr sz="22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hours,</a:t>
            </a:r>
            <a:r>
              <a:rPr sz="22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rating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3112" y="2039620"/>
            <a:ext cx="3038475" cy="187896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37600"/>
              </a:lnSpc>
              <a:spcBef>
                <a:spcPts val="160"/>
              </a:spcBef>
              <a:tabLst>
                <a:tab pos="1489075" algn="l"/>
                <a:tab pos="1830705" algn="l"/>
              </a:tabLst>
            </a:pP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prjNam</a:t>
            </a:r>
            <a:r>
              <a:rPr sz="2200" dirty="0">
                <a:solidFill>
                  <a:srgbClr val="292934"/>
                </a:solidFill>
                <a:latin typeface="Courier New"/>
                <a:cs typeface="Courier New"/>
              </a:rPr>
              <a:t>e</a:t>
            </a:r>
            <a:r>
              <a:rPr sz="22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2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prjMrg</a:t>
            </a:r>
            <a:r>
              <a:rPr sz="2200" dirty="0">
                <a:solidFill>
                  <a:srgbClr val="292934"/>
                </a:solidFill>
                <a:latin typeface="Courier New"/>
                <a:cs typeface="Courier New"/>
              </a:rPr>
              <a:t>,  </a:t>
            </a: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22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2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empName, </a:t>
            </a:r>
            <a:r>
              <a:rPr sz="2200" spc="-13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prjName, empId </a:t>
            </a:r>
            <a:r>
              <a:rPr sz="22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200" spc="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r>
              <a:rPr sz="22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2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empMgr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26" y="-21706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I</a:t>
            </a:r>
            <a:r>
              <a:rPr dirty="0"/>
              <a:t>s</a:t>
            </a:r>
            <a:r>
              <a:rPr spc="-195" dirty="0"/>
              <a:t> </a:t>
            </a:r>
            <a:r>
              <a:rPr sz="4300" spc="-130" dirty="0">
                <a:latin typeface="Courier New"/>
                <a:cs typeface="Courier New"/>
              </a:rPr>
              <a:t>work_projec</a:t>
            </a:r>
            <a:r>
              <a:rPr sz="4300" dirty="0">
                <a:latin typeface="Courier New"/>
                <a:cs typeface="Courier New"/>
              </a:rPr>
              <a:t>t</a:t>
            </a:r>
            <a:r>
              <a:rPr sz="4300" spc="-1360" dirty="0">
                <a:latin typeface="Courier New"/>
                <a:cs typeface="Courier New"/>
              </a:rPr>
              <a:t> </a:t>
            </a:r>
            <a:r>
              <a:rPr spc="-145" dirty="0"/>
              <a:t>T</a:t>
            </a:r>
            <a:r>
              <a:rPr spc="-140" dirty="0"/>
              <a:t>a</a:t>
            </a:r>
            <a:r>
              <a:rPr spc="-135" dirty="0"/>
              <a:t>b</a:t>
            </a:r>
            <a:r>
              <a:rPr spc="-125" dirty="0"/>
              <a:t>l</a:t>
            </a:r>
            <a:r>
              <a:rPr dirty="0"/>
              <a:t>e</a:t>
            </a:r>
            <a:r>
              <a:rPr spc="-260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45" dirty="0"/>
              <a:t>1</a:t>
            </a:r>
            <a:r>
              <a:rPr spc="-155" dirty="0"/>
              <a:t>N</a:t>
            </a:r>
            <a:r>
              <a:rPr spc="-135" dirty="0"/>
              <a:t>F</a:t>
            </a:r>
            <a:r>
              <a:rPr dirty="0"/>
              <a:t>?</a:t>
            </a:r>
            <a:endParaRPr sz="43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8982" y="5258816"/>
            <a:ext cx="61607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Check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column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not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atomic.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803" y="5655155"/>
            <a:ext cx="9540875" cy="148971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562610" marR="619125">
              <a:lnSpc>
                <a:spcPct val="107600"/>
              </a:lnSpc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composite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prjName,</a:t>
            </a:r>
            <a:r>
              <a:rPr sz="21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),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would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valued.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work_project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1NF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5526" y="1531498"/>
          <a:ext cx="9732004" cy="2084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2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26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7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empId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startDate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salary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empDept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rating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1462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Adams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E120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Tanaka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16850" y="1137920"/>
            <a:ext cx="1976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work_project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99863" y="3694264"/>
            <a:ext cx="8444230" cy="1332865"/>
            <a:chOff x="1099863" y="3694264"/>
            <a:chExt cx="8444230" cy="1332865"/>
          </a:xfrm>
        </p:grpSpPr>
        <p:sp>
          <p:nvSpPr>
            <p:cNvPr id="8" name="object 8"/>
            <p:cNvSpPr/>
            <p:nvPr/>
          </p:nvSpPr>
          <p:spPr>
            <a:xfrm>
              <a:off x="1110023" y="3704424"/>
              <a:ext cx="8423910" cy="1312545"/>
            </a:xfrm>
            <a:custGeom>
              <a:avLst/>
              <a:gdLst/>
              <a:ahLst/>
              <a:cxnLst/>
              <a:rect l="l" t="t" r="r" b="b"/>
              <a:pathLst>
                <a:path w="8423910" h="1312545">
                  <a:moveTo>
                    <a:pt x="8423563" y="0"/>
                  </a:moveTo>
                  <a:lnTo>
                    <a:pt x="0" y="0"/>
                  </a:lnTo>
                  <a:lnTo>
                    <a:pt x="0" y="1312303"/>
                  </a:lnTo>
                  <a:lnTo>
                    <a:pt x="8423563" y="1312303"/>
                  </a:lnTo>
                  <a:lnTo>
                    <a:pt x="8423563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0023" y="3704424"/>
              <a:ext cx="8423910" cy="1312545"/>
            </a:xfrm>
            <a:custGeom>
              <a:avLst/>
              <a:gdLst/>
              <a:ahLst/>
              <a:cxnLst/>
              <a:rect l="l" t="t" r="r" b="b"/>
              <a:pathLst>
                <a:path w="8423910" h="1312545">
                  <a:moveTo>
                    <a:pt x="0" y="0"/>
                  </a:moveTo>
                  <a:lnTo>
                    <a:pt x="8423563" y="0"/>
                  </a:lnTo>
                  <a:lnTo>
                    <a:pt x="8423563" y="1312302"/>
                  </a:lnTo>
                  <a:lnTo>
                    <a:pt x="0" y="131230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16165" y="3769359"/>
            <a:ext cx="5943600" cy="110172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25"/>
              </a:spcBef>
              <a:tabLst>
                <a:tab pos="1270635" algn="l"/>
                <a:tab pos="1561465" algn="l"/>
                <a:tab pos="258127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prjName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prjMrg,</a:t>
            </a:r>
            <a:r>
              <a:rPr sz="1900" spc="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1900" spc="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startDate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empName,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empDept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prjName,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19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hours,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rating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090"/>
              </a:lnSpc>
              <a:tabLst>
                <a:tab pos="156146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empMgr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70642" y="3849623"/>
            <a:ext cx="11271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004479"/>
                </a:solidFill>
                <a:latin typeface="Verdana"/>
                <a:cs typeface="Verdana"/>
              </a:rPr>
              <a:t>Given</a:t>
            </a:r>
            <a:r>
              <a:rPr sz="1700" spc="-70" dirty="0">
                <a:solidFill>
                  <a:srgbClr val="004479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004479"/>
                </a:solidFill>
                <a:latin typeface="Verdana"/>
                <a:cs typeface="Verdana"/>
              </a:rPr>
              <a:t>FDs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803" y="5655155"/>
            <a:ext cx="9540875" cy="1489710"/>
          </a:xfrm>
          <a:custGeom>
            <a:avLst/>
            <a:gdLst/>
            <a:ahLst/>
            <a:cxnLst/>
            <a:rect l="l" t="t" r="r" b="b"/>
            <a:pathLst>
              <a:path w="9540875" h="1489709">
                <a:moveTo>
                  <a:pt x="0" y="0"/>
                </a:moveTo>
                <a:lnTo>
                  <a:pt x="9540792" y="0"/>
                </a:lnTo>
                <a:lnTo>
                  <a:pt x="9540792" y="1489634"/>
                </a:lnTo>
                <a:lnTo>
                  <a:pt x="0" y="1489634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435" y="25752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I</a:t>
            </a:r>
            <a:r>
              <a:rPr dirty="0"/>
              <a:t>s</a:t>
            </a:r>
            <a:r>
              <a:rPr spc="-195" dirty="0"/>
              <a:t> </a:t>
            </a:r>
            <a:r>
              <a:rPr sz="4300" spc="-130" dirty="0">
                <a:latin typeface="Courier New"/>
                <a:cs typeface="Courier New"/>
              </a:rPr>
              <a:t>work_projec</a:t>
            </a:r>
            <a:r>
              <a:rPr sz="4300" dirty="0">
                <a:latin typeface="Courier New"/>
                <a:cs typeface="Courier New"/>
              </a:rPr>
              <a:t>t</a:t>
            </a:r>
            <a:r>
              <a:rPr sz="4300" spc="-1360" dirty="0">
                <a:latin typeface="Courier New"/>
                <a:cs typeface="Courier New"/>
              </a:rPr>
              <a:t> </a:t>
            </a:r>
            <a:r>
              <a:rPr spc="-145" dirty="0"/>
              <a:t>T</a:t>
            </a:r>
            <a:r>
              <a:rPr spc="-140" dirty="0"/>
              <a:t>a</a:t>
            </a:r>
            <a:r>
              <a:rPr spc="-135" dirty="0"/>
              <a:t>b</a:t>
            </a:r>
            <a:r>
              <a:rPr spc="-125" dirty="0"/>
              <a:t>l</a:t>
            </a:r>
            <a:r>
              <a:rPr dirty="0"/>
              <a:t>e</a:t>
            </a:r>
            <a:r>
              <a:rPr spc="-260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45" dirty="0"/>
              <a:t>2</a:t>
            </a:r>
            <a:r>
              <a:rPr spc="-155" dirty="0"/>
              <a:t>N</a:t>
            </a:r>
            <a:r>
              <a:rPr spc="-135" dirty="0"/>
              <a:t>F</a:t>
            </a:r>
            <a:r>
              <a:rPr dirty="0"/>
              <a:t>?</a:t>
            </a:r>
            <a:endParaRPr sz="4300" dirty="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5526" y="1531498"/>
          <a:ext cx="9732004" cy="2084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2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26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7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empId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startDate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salary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empDept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rating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1462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Adams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E120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Tanaka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16850" y="1137920"/>
            <a:ext cx="1976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work_project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5812" y="6188963"/>
            <a:ext cx="272923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8000"/>
              </a:lnSpc>
              <a:spcBef>
                <a:spcPts val="100"/>
              </a:spcBef>
              <a:tabLst>
                <a:tab pos="1330325" algn="l"/>
                <a:tab pos="1638935" algn="l"/>
              </a:tabLst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prjNam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e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0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prjMrg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 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0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empName,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3604" y="6188963"/>
            <a:ext cx="355727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53670">
              <a:lnSpc>
                <a:spcPct val="108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startDate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8982" y="5249671"/>
            <a:ext cx="8144509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Check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partial </a:t>
            </a:r>
            <a:r>
              <a:rPr sz="2100" spc="-5" dirty="0">
                <a:solidFill>
                  <a:srgbClr val="C00000"/>
                </a:solidFill>
                <a:latin typeface="Verdana"/>
                <a:cs typeface="Verdana"/>
              </a:rPr>
              <a:t>dependency.</a:t>
            </a:r>
            <a:endParaRPr sz="2100">
              <a:latin typeface="Verdana"/>
              <a:cs typeface="Verdana"/>
            </a:endParaRPr>
          </a:p>
          <a:p>
            <a:pPr marL="136525">
              <a:lnSpc>
                <a:spcPct val="100000"/>
              </a:lnSpc>
              <a:spcBef>
                <a:spcPts val="1535"/>
              </a:spcBef>
            </a:pP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work_projec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100" spc="-4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ha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99863" y="3694271"/>
            <a:ext cx="8444230" cy="1332865"/>
            <a:chOff x="1099863" y="3694271"/>
            <a:chExt cx="8444230" cy="1332865"/>
          </a:xfrm>
        </p:grpSpPr>
        <p:sp>
          <p:nvSpPr>
            <p:cNvPr id="10" name="object 10"/>
            <p:cNvSpPr/>
            <p:nvPr/>
          </p:nvSpPr>
          <p:spPr>
            <a:xfrm>
              <a:off x="1110023" y="3704431"/>
              <a:ext cx="8423910" cy="1312545"/>
            </a:xfrm>
            <a:custGeom>
              <a:avLst/>
              <a:gdLst/>
              <a:ahLst/>
              <a:cxnLst/>
              <a:rect l="l" t="t" r="r" b="b"/>
              <a:pathLst>
                <a:path w="8423910" h="1312545">
                  <a:moveTo>
                    <a:pt x="8423563" y="0"/>
                  </a:moveTo>
                  <a:lnTo>
                    <a:pt x="0" y="0"/>
                  </a:lnTo>
                  <a:lnTo>
                    <a:pt x="0" y="1312303"/>
                  </a:lnTo>
                  <a:lnTo>
                    <a:pt x="8423563" y="1312303"/>
                  </a:lnTo>
                  <a:lnTo>
                    <a:pt x="8423563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0023" y="3704431"/>
              <a:ext cx="8423910" cy="1312545"/>
            </a:xfrm>
            <a:custGeom>
              <a:avLst/>
              <a:gdLst/>
              <a:ahLst/>
              <a:cxnLst/>
              <a:rect l="l" t="t" r="r" b="b"/>
              <a:pathLst>
                <a:path w="8423910" h="1312545">
                  <a:moveTo>
                    <a:pt x="0" y="0"/>
                  </a:moveTo>
                  <a:lnTo>
                    <a:pt x="8423563" y="0"/>
                  </a:lnTo>
                  <a:lnTo>
                    <a:pt x="8423563" y="1312302"/>
                  </a:lnTo>
                  <a:lnTo>
                    <a:pt x="0" y="1312302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16165" y="3769359"/>
            <a:ext cx="5943600" cy="110172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25"/>
              </a:spcBef>
              <a:tabLst>
                <a:tab pos="1270635" algn="l"/>
                <a:tab pos="1561465" algn="l"/>
                <a:tab pos="258127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prjName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prjMrg,</a:t>
            </a:r>
            <a:r>
              <a:rPr sz="1900" spc="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1900" spc="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startDate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empName,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empDept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prjName,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19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hours,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rating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090"/>
              </a:lnSpc>
              <a:tabLst>
                <a:tab pos="156146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empMgr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70642" y="3849623"/>
            <a:ext cx="11271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004479"/>
                </a:solidFill>
                <a:latin typeface="Verdana"/>
                <a:cs typeface="Verdana"/>
              </a:rPr>
              <a:t>Given</a:t>
            </a:r>
            <a:r>
              <a:rPr sz="1700" spc="-70" dirty="0">
                <a:solidFill>
                  <a:srgbClr val="004479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004479"/>
                </a:solidFill>
                <a:latin typeface="Verdana"/>
                <a:cs typeface="Verdana"/>
              </a:rPr>
              <a:t>FDs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803" y="5052198"/>
            <a:ext cx="9540875" cy="2092960"/>
          </a:xfrm>
          <a:custGeom>
            <a:avLst/>
            <a:gdLst/>
            <a:ahLst/>
            <a:cxnLst/>
            <a:rect l="l" t="t" r="r" b="b"/>
            <a:pathLst>
              <a:path w="9540875" h="2092959">
                <a:moveTo>
                  <a:pt x="0" y="0"/>
                </a:moveTo>
                <a:lnTo>
                  <a:pt x="9540792" y="0"/>
                </a:lnTo>
                <a:lnTo>
                  <a:pt x="9540792" y="2092589"/>
                </a:lnTo>
                <a:lnTo>
                  <a:pt x="0" y="2092589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229" y="247142"/>
            <a:ext cx="92659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60" dirty="0"/>
              <a:t>Use</a:t>
            </a:r>
            <a:r>
              <a:rPr sz="3700" spc="-200" dirty="0"/>
              <a:t> </a:t>
            </a:r>
            <a:r>
              <a:rPr sz="3700" spc="-65" dirty="0"/>
              <a:t>2NF,</a:t>
            </a:r>
            <a:r>
              <a:rPr sz="3700" spc="-210" dirty="0"/>
              <a:t> </a:t>
            </a:r>
            <a:r>
              <a:rPr sz="3700" spc="-80" dirty="0"/>
              <a:t>Decompose</a:t>
            </a:r>
            <a:r>
              <a:rPr sz="3700" spc="-170" dirty="0"/>
              <a:t> </a:t>
            </a:r>
            <a:r>
              <a:rPr sz="4300" spc="-130" dirty="0">
                <a:latin typeface="Courier New"/>
                <a:cs typeface="Courier New"/>
              </a:rPr>
              <a:t>work_project</a:t>
            </a:r>
            <a:endParaRPr sz="43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982" y="3630803"/>
            <a:ext cx="8020050" cy="10750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work_projec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100" spc="-4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ha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endParaRPr sz="2100">
              <a:latin typeface="Verdana"/>
              <a:cs typeface="Verdana"/>
            </a:endParaRPr>
          </a:p>
          <a:p>
            <a:pPr marL="1246505" marR="502920">
              <a:lnSpc>
                <a:spcPct val="100000"/>
              </a:lnSpc>
              <a:spcBef>
                <a:spcPts val="459"/>
              </a:spcBef>
              <a:tabLst>
                <a:tab pos="2577465" algn="l"/>
                <a:tab pos="2885440" algn="l"/>
              </a:tabLst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prjName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0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prjMrg,</a:t>
            </a:r>
            <a:r>
              <a:rPr sz="2000" spc="11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2000" spc="11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startDate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0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empName,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615" y="5136895"/>
            <a:ext cx="8930640" cy="145542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R="5080">
              <a:lnSpc>
                <a:spcPts val="2500"/>
              </a:lnSpc>
              <a:spcBef>
                <a:spcPts val="2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transform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work_project</a:t>
            </a:r>
            <a:r>
              <a:rPr sz="2100" spc="-4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equivalent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2NF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projection,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resulting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endParaRPr sz="2100">
              <a:latin typeface="Verdana"/>
              <a:cs typeface="Verdana"/>
            </a:endParaRPr>
          </a:p>
          <a:p>
            <a:pPr marL="1162685" marR="1134745">
              <a:lnSpc>
                <a:spcPct val="112000"/>
              </a:lnSpc>
              <a:spcBef>
                <a:spcPts val="785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Project(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prjMgr,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startDate)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empName,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5812" y="6591300"/>
            <a:ext cx="3093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Work(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7670" y="6237732"/>
            <a:ext cx="370967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54305">
              <a:lnSpc>
                <a:spcPct val="108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empDept)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hours,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rating)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65526" y="1531498"/>
          <a:ext cx="9732004" cy="2084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2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26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7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empId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startDate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salary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empDept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rating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1462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Adams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E120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Tanaka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16850" y="1137920"/>
            <a:ext cx="1976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work_project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459" y="-93021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I</a:t>
            </a:r>
            <a:r>
              <a:rPr dirty="0"/>
              <a:t>s</a:t>
            </a:r>
            <a:r>
              <a:rPr spc="-195" dirty="0"/>
              <a:t> </a:t>
            </a:r>
            <a:r>
              <a:rPr sz="4300" spc="-130" dirty="0">
                <a:latin typeface="Courier New"/>
                <a:cs typeface="Courier New"/>
              </a:rPr>
              <a:t>work_projec</a:t>
            </a:r>
            <a:r>
              <a:rPr sz="4300" dirty="0">
                <a:latin typeface="Courier New"/>
                <a:cs typeface="Courier New"/>
              </a:rPr>
              <a:t>t</a:t>
            </a:r>
            <a:r>
              <a:rPr sz="4300" spc="-1360" dirty="0">
                <a:latin typeface="Courier New"/>
                <a:cs typeface="Courier New"/>
              </a:rPr>
              <a:t> </a:t>
            </a:r>
            <a:r>
              <a:rPr spc="-145" dirty="0"/>
              <a:t>T</a:t>
            </a:r>
            <a:r>
              <a:rPr spc="-140" dirty="0"/>
              <a:t>a</a:t>
            </a:r>
            <a:r>
              <a:rPr spc="-135" dirty="0"/>
              <a:t>b</a:t>
            </a:r>
            <a:r>
              <a:rPr spc="-125" dirty="0"/>
              <a:t>l</a:t>
            </a:r>
            <a:r>
              <a:rPr dirty="0"/>
              <a:t>e</a:t>
            </a:r>
            <a:r>
              <a:rPr spc="-260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45" dirty="0"/>
              <a:t>3</a:t>
            </a:r>
            <a:r>
              <a:rPr spc="-155" dirty="0"/>
              <a:t>N</a:t>
            </a:r>
            <a:r>
              <a:rPr spc="-135" dirty="0"/>
              <a:t>F</a:t>
            </a:r>
            <a:r>
              <a:rPr dirty="0"/>
              <a:t>?</a:t>
            </a:r>
            <a:endParaRPr sz="4300" dirty="0">
              <a:latin typeface="Courier New"/>
              <a:cs typeface="Courier New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526" y="1531498"/>
          <a:ext cx="9732004" cy="2084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2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26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7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empId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startDate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salary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empDept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rating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1462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Adams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E120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Tanaka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16850" y="1137920"/>
            <a:ext cx="1976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work_project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67385" y="3680459"/>
            <a:ext cx="2489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Project(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6971" y="3680459"/>
            <a:ext cx="11029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prjMgr,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9710" y="3680459"/>
            <a:ext cx="11042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52465" y="3680459"/>
            <a:ext cx="1565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startDate)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67385" y="4000500"/>
            <a:ext cx="3105785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empName,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Work(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49244" y="4000500"/>
            <a:ext cx="3722370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 marR="5080" indent="-154305">
              <a:lnSpc>
                <a:spcPct val="112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empDept)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hours,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rating)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8982" y="5232375"/>
            <a:ext cx="8952230" cy="16033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27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Project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Courier New"/>
                <a:cs typeface="Courier New"/>
              </a:rPr>
              <a:t>Emp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Work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non-key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functionally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determines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non-key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attribute.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Check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transitive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C00000"/>
                </a:solidFill>
                <a:latin typeface="Verdana"/>
                <a:cs typeface="Verdana"/>
              </a:rPr>
              <a:t>dependency.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23840" y="3831057"/>
            <a:ext cx="740410" cy="704850"/>
            <a:chOff x="1023840" y="3831057"/>
            <a:chExt cx="740410" cy="704850"/>
          </a:xfrm>
        </p:grpSpPr>
        <p:sp>
          <p:nvSpPr>
            <p:cNvPr id="13" name="object 13"/>
            <p:cNvSpPr/>
            <p:nvPr/>
          </p:nvSpPr>
          <p:spPr>
            <a:xfrm>
              <a:off x="1039080" y="3846297"/>
              <a:ext cx="709930" cy="674370"/>
            </a:xfrm>
            <a:custGeom>
              <a:avLst/>
              <a:gdLst/>
              <a:ahLst/>
              <a:cxnLst/>
              <a:rect l="l" t="t" r="r" b="b"/>
              <a:pathLst>
                <a:path w="709930" h="674370">
                  <a:moveTo>
                    <a:pt x="115268" y="0"/>
                  </a:moveTo>
                  <a:lnTo>
                    <a:pt x="0" y="0"/>
                  </a:lnTo>
                  <a:lnTo>
                    <a:pt x="0" y="215019"/>
                  </a:lnTo>
                  <a:lnTo>
                    <a:pt x="3858" y="262842"/>
                  </a:lnTo>
                  <a:lnTo>
                    <a:pt x="15030" y="308207"/>
                  </a:lnTo>
                  <a:lnTo>
                    <a:pt x="32907" y="350509"/>
                  </a:lnTo>
                  <a:lnTo>
                    <a:pt x="56884" y="389140"/>
                  </a:lnTo>
                  <a:lnTo>
                    <a:pt x="86352" y="423493"/>
                  </a:lnTo>
                  <a:lnTo>
                    <a:pt x="120705" y="452961"/>
                  </a:lnTo>
                  <a:lnTo>
                    <a:pt x="159335" y="476937"/>
                  </a:lnTo>
                  <a:lnTo>
                    <a:pt x="201637" y="494814"/>
                  </a:lnTo>
                  <a:lnTo>
                    <a:pt x="247002" y="505986"/>
                  </a:lnTo>
                  <a:lnTo>
                    <a:pt x="294824" y="509845"/>
                  </a:lnTo>
                  <a:lnTo>
                    <a:pt x="505414" y="509845"/>
                  </a:lnTo>
                  <a:lnTo>
                    <a:pt x="505414" y="673884"/>
                  </a:lnTo>
                  <a:lnTo>
                    <a:pt x="709352" y="452211"/>
                  </a:lnTo>
                  <a:lnTo>
                    <a:pt x="505414" y="230535"/>
                  </a:lnTo>
                  <a:lnTo>
                    <a:pt x="505414" y="394576"/>
                  </a:lnTo>
                  <a:lnTo>
                    <a:pt x="294824" y="394576"/>
                  </a:lnTo>
                  <a:lnTo>
                    <a:pt x="247091" y="388162"/>
                  </a:lnTo>
                  <a:lnTo>
                    <a:pt x="204199" y="370061"/>
                  </a:lnTo>
                  <a:lnTo>
                    <a:pt x="167859" y="341985"/>
                  </a:lnTo>
                  <a:lnTo>
                    <a:pt x="139782" y="305645"/>
                  </a:lnTo>
                  <a:lnTo>
                    <a:pt x="121682" y="262753"/>
                  </a:lnTo>
                  <a:lnTo>
                    <a:pt x="115268" y="215019"/>
                  </a:lnTo>
                  <a:lnTo>
                    <a:pt x="115268" y="0"/>
                  </a:lnTo>
                  <a:close/>
                </a:path>
              </a:pathLst>
            </a:custGeom>
            <a:solidFill>
              <a:srgbClr val="78AA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9080" y="3846297"/>
              <a:ext cx="709930" cy="674370"/>
            </a:xfrm>
            <a:custGeom>
              <a:avLst/>
              <a:gdLst/>
              <a:ahLst/>
              <a:cxnLst/>
              <a:rect l="l" t="t" r="r" b="b"/>
              <a:pathLst>
                <a:path w="709930" h="674370">
                  <a:moveTo>
                    <a:pt x="0" y="0"/>
                  </a:moveTo>
                  <a:lnTo>
                    <a:pt x="0" y="215019"/>
                  </a:lnTo>
                  <a:lnTo>
                    <a:pt x="3858" y="262842"/>
                  </a:lnTo>
                  <a:lnTo>
                    <a:pt x="15030" y="308207"/>
                  </a:lnTo>
                  <a:lnTo>
                    <a:pt x="32907" y="350508"/>
                  </a:lnTo>
                  <a:lnTo>
                    <a:pt x="56884" y="389139"/>
                  </a:lnTo>
                  <a:lnTo>
                    <a:pt x="86352" y="423492"/>
                  </a:lnTo>
                  <a:lnTo>
                    <a:pt x="120705" y="452960"/>
                  </a:lnTo>
                  <a:lnTo>
                    <a:pt x="159335" y="476937"/>
                  </a:lnTo>
                  <a:lnTo>
                    <a:pt x="201637" y="494814"/>
                  </a:lnTo>
                  <a:lnTo>
                    <a:pt x="247002" y="505986"/>
                  </a:lnTo>
                  <a:lnTo>
                    <a:pt x="294825" y="509845"/>
                  </a:lnTo>
                  <a:lnTo>
                    <a:pt x="505414" y="509845"/>
                  </a:lnTo>
                  <a:lnTo>
                    <a:pt x="505414" y="673885"/>
                  </a:lnTo>
                  <a:lnTo>
                    <a:pt x="709352" y="452210"/>
                  </a:lnTo>
                  <a:lnTo>
                    <a:pt x="505414" y="230535"/>
                  </a:lnTo>
                  <a:lnTo>
                    <a:pt x="505414" y="394576"/>
                  </a:lnTo>
                  <a:lnTo>
                    <a:pt x="294825" y="394576"/>
                  </a:lnTo>
                  <a:lnTo>
                    <a:pt x="247091" y="388162"/>
                  </a:lnTo>
                  <a:lnTo>
                    <a:pt x="204199" y="370061"/>
                  </a:lnTo>
                  <a:lnTo>
                    <a:pt x="167859" y="341985"/>
                  </a:lnTo>
                  <a:lnTo>
                    <a:pt x="139783" y="305645"/>
                  </a:lnTo>
                  <a:lnTo>
                    <a:pt x="121682" y="262753"/>
                  </a:lnTo>
                  <a:lnTo>
                    <a:pt x="115268" y="215019"/>
                  </a:lnTo>
                  <a:lnTo>
                    <a:pt x="115268" y="0"/>
                  </a:lnTo>
                  <a:lnTo>
                    <a:pt x="0" y="0"/>
                  </a:lnTo>
                  <a:close/>
                </a:path>
              </a:pathLst>
            </a:custGeom>
            <a:ln w="30479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936414" y="3757627"/>
            <a:ext cx="137160" cy="1010919"/>
          </a:xfrm>
          <a:custGeom>
            <a:avLst/>
            <a:gdLst/>
            <a:ahLst/>
            <a:cxnLst/>
            <a:rect l="l" t="t" r="r" b="b"/>
            <a:pathLst>
              <a:path w="137160" h="1010920">
                <a:moveTo>
                  <a:pt x="136550" y="1010827"/>
                </a:moveTo>
                <a:lnTo>
                  <a:pt x="83398" y="1009933"/>
                </a:lnTo>
                <a:lnTo>
                  <a:pt x="39994" y="1007495"/>
                </a:lnTo>
                <a:lnTo>
                  <a:pt x="10730" y="1003878"/>
                </a:lnTo>
                <a:lnTo>
                  <a:pt x="0" y="999449"/>
                </a:lnTo>
                <a:lnTo>
                  <a:pt x="0" y="11378"/>
                </a:lnTo>
                <a:lnTo>
                  <a:pt x="10730" y="6949"/>
                </a:lnTo>
                <a:lnTo>
                  <a:pt x="39994" y="3332"/>
                </a:lnTo>
                <a:lnTo>
                  <a:pt x="83398" y="894"/>
                </a:lnTo>
                <a:lnTo>
                  <a:pt x="136550" y="0"/>
                </a:lnTo>
              </a:path>
            </a:pathLst>
          </a:custGeom>
          <a:ln w="3047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6836" y="4027423"/>
            <a:ext cx="5549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0" dirty="0">
                <a:solidFill>
                  <a:srgbClr val="0048AA"/>
                </a:solidFill>
                <a:latin typeface="Verdana"/>
                <a:cs typeface="Verdana"/>
              </a:rPr>
              <a:t>2</a:t>
            </a:r>
            <a:r>
              <a:rPr sz="2100" spc="25" dirty="0">
                <a:solidFill>
                  <a:srgbClr val="0048AA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0048AA"/>
                </a:solidFill>
                <a:latin typeface="Verdana"/>
                <a:cs typeface="Verdana"/>
              </a:rPr>
              <a:t>F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803" y="4342852"/>
            <a:ext cx="9540875" cy="2820035"/>
          </a:xfrm>
          <a:custGeom>
            <a:avLst/>
            <a:gdLst/>
            <a:ahLst/>
            <a:cxnLst/>
            <a:rect l="l" t="t" r="r" b="b"/>
            <a:pathLst>
              <a:path w="9540875" h="2820034">
                <a:moveTo>
                  <a:pt x="0" y="0"/>
                </a:moveTo>
                <a:lnTo>
                  <a:pt x="9540792" y="0"/>
                </a:lnTo>
                <a:lnTo>
                  <a:pt x="9540792" y="2819668"/>
                </a:lnTo>
                <a:lnTo>
                  <a:pt x="0" y="2819668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803" y="-93453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I</a:t>
            </a:r>
            <a:r>
              <a:rPr dirty="0"/>
              <a:t>s</a:t>
            </a:r>
            <a:r>
              <a:rPr spc="-195" dirty="0"/>
              <a:t> </a:t>
            </a:r>
            <a:r>
              <a:rPr sz="4300" spc="-130" dirty="0">
                <a:latin typeface="Courier New"/>
                <a:cs typeface="Courier New"/>
              </a:rPr>
              <a:t>work_projec</a:t>
            </a:r>
            <a:r>
              <a:rPr sz="4300" dirty="0">
                <a:latin typeface="Courier New"/>
                <a:cs typeface="Courier New"/>
              </a:rPr>
              <a:t>t</a:t>
            </a:r>
            <a:r>
              <a:rPr sz="4300" spc="-1360" dirty="0">
                <a:latin typeface="Courier New"/>
                <a:cs typeface="Courier New"/>
              </a:rPr>
              <a:t> </a:t>
            </a:r>
            <a:r>
              <a:rPr spc="-145" dirty="0"/>
              <a:t>T</a:t>
            </a:r>
            <a:r>
              <a:rPr spc="-140" dirty="0"/>
              <a:t>a</a:t>
            </a:r>
            <a:r>
              <a:rPr spc="-135" dirty="0"/>
              <a:t>b</a:t>
            </a:r>
            <a:r>
              <a:rPr spc="-125" dirty="0"/>
              <a:t>l</a:t>
            </a:r>
            <a:r>
              <a:rPr dirty="0"/>
              <a:t>e</a:t>
            </a:r>
            <a:r>
              <a:rPr spc="-260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45" dirty="0"/>
              <a:t>3</a:t>
            </a:r>
            <a:r>
              <a:rPr spc="-155" dirty="0"/>
              <a:t>N</a:t>
            </a:r>
            <a:r>
              <a:rPr spc="-135" dirty="0"/>
              <a:t>F</a:t>
            </a:r>
            <a:r>
              <a:rPr dirty="0"/>
              <a:t>?</a:t>
            </a:r>
            <a:endParaRPr sz="43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8329" y="1232915"/>
            <a:ext cx="66503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Project(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prjMgr,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startDate)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8329" y="1537715"/>
            <a:ext cx="3105785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5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empName,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Work(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0188" y="1537715"/>
            <a:ext cx="3722370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66370" marR="5080" indent="-154305">
              <a:lnSpc>
                <a:spcPts val="2300"/>
              </a:lnSpc>
              <a:spcBef>
                <a:spcPts val="25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empDept)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hours,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rating)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982" y="3871975"/>
            <a:ext cx="9112885" cy="32410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Check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there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transitive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C00000"/>
                </a:solidFill>
                <a:latin typeface="Verdana"/>
                <a:cs typeface="Verdana"/>
              </a:rPr>
              <a:t>dependency.</a:t>
            </a:r>
            <a:endParaRPr sz="2100">
              <a:latin typeface="Verdana"/>
              <a:cs typeface="Verdana"/>
            </a:endParaRPr>
          </a:p>
          <a:p>
            <a:pPr marL="118745">
              <a:lnSpc>
                <a:spcPct val="100000"/>
              </a:lnSpc>
              <a:spcBef>
                <a:spcPts val="65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Project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transitive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Project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34"/>
                </a:solidFill>
                <a:latin typeface="Verdana"/>
                <a:cs typeface="Verdana"/>
              </a:rPr>
              <a:t>3NF.</a:t>
            </a:r>
            <a:endParaRPr sz="2100">
              <a:latin typeface="Verdana"/>
              <a:cs typeface="Verdana"/>
            </a:endParaRPr>
          </a:p>
          <a:p>
            <a:pPr marL="118745">
              <a:lnSpc>
                <a:spcPct val="100000"/>
              </a:lnSpc>
              <a:spcBef>
                <a:spcPts val="127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Emp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transitive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r>
              <a:rPr sz="2100" spc="-4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empMgr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100">
              <a:latin typeface="Verdana"/>
              <a:cs typeface="Verdana"/>
            </a:endParaRPr>
          </a:p>
          <a:p>
            <a:pPr marL="486409" marR="5080">
              <a:lnSpc>
                <a:spcPts val="2280"/>
              </a:lnSpc>
              <a:spcBef>
                <a:spcPts val="1070"/>
              </a:spcBef>
            </a:pP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empDep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000" spc="-48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no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su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pe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000" spc="-175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no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empMg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r</a:t>
            </a:r>
            <a:r>
              <a:rPr sz="2000" spc="-48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ar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ca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e  </a:t>
            </a:r>
            <a:r>
              <a:rPr sz="2000" spc="-40" dirty="0">
                <a:solidFill>
                  <a:srgbClr val="292934"/>
                </a:solidFill>
                <a:latin typeface="Verdana"/>
                <a:cs typeface="Verdana"/>
              </a:rPr>
              <a:t>key,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violates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92934"/>
                </a:solidFill>
                <a:latin typeface="Verdana"/>
                <a:cs typeface="Verdana"/>
              </a:rPr>
              <a:t>3NF.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decompose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Emp</a:t>
            </a:r>
            <a:endParaRPr sz="2000">
              <a:latin typeface="Courier New"/>
              <a:cs typeface="Courier New"/>
            </a:endParaRPr>
          </a:p>
          <a:p>
            <a:pPr marL="1459230" marR="2099310">
              <a:lnSpc>
                <a:spcPct val="100000"/>
              </a:lnSpc>
              <a:spcBef>
                <a:spcPts val="33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empName,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empDept)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Department(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empDept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empMgr)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Work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transitive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Work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34"/>
                </a:solidFill>
                <a:latin typeface="Verdana"/>
                <a:cs typeface="Verdana"/>
              </a:rPr>
              <a:t>3NF.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9863" y="2381966"/>
            <a:ext cx="8444230" cy="1261745"/>
            <a:chOff x="1099863" y="2381966"/>
            <a:chExt cx="8444230" cy="1261745"/>
          </a:xfrm>
        </p:grpSpPr>
        <p:sp>
          <p:nvSpPr>
            <p:cNvPr id="9" name="object 9"/>
            <p:cNvSpPr/>
            <p:nvPr/>
          </p:nvSpPr>
          <p:spPr>
            <a:xfrm>
              <a:off x="1110023" y="2392126"/>
              <a:ext cx="8423910" cy="1241425"/>
            </a:xfrm>
            <a:custGeom>
              <a:avLst/>
              <a:gdLst/>
              <a:ahLst/>
              <a:cxnLst/>
              <a:rect l="l" t="t" r="r" b="b"/>
              <a:pathLst>
                <a:path w="8423910" h="1241425">
                  <a:moveTo>
                    <a:pt x="8423563" y="0"/>
                  </a:moveTo>
                  <a:lnTo>
                    <a:pt x="0" y="0"/>
                  </a:lnTo>
                  <a:lnTo>
                    <a:pt x="0" y="1241367"/>
                  </a:lnTo>
                  <a:lnTo>
                    <a:pt x="8423563" y="1241367"/>
                  </a:lnTo>
                  <a:lnTo>
                    <a:pt x="8423563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0023" y="2392126"/>
              <a:ext cx="8423910" cy="1241425"/>
            </a:xfrm>
            <a:custGeom>
              <a:avLst/>
              <a:gdLst/>
              <a:ahLst/>
              <a:cxnLst/>
              <a:rect l="l" t="t" r="r" b="b"/>
              <a:pathLst>
                <a:path w="8423910" h="1241425">
                  <a:moveTo>
                    <a:pt x="0" y="0"/>
                  </a:moveTo>
                  <a:lnTo>
                    <a:pt x="8423563" y="0"/>
                  </a:lnTo>
                  <a:lnTo>
                    <a:pt x="8423563" y="1241367"/>
                  </a:lnTo>
                  <a:lnTo>
                    <a:pt x="0" y="1241367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16165" y="2422144"/>
            <a:ext cx="5943600" cy="110172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25"/>
              </a:spcBef>
              <a:tabLst>
                <a:tab pos="1270635" algn="l"/>
                <a:tab pos="1561465" algn="l"/>
                <a:tab pos="258127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prjName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prjMrg,</a:t>
            </a:r>
            <a:r>
              <a:rPr sz="1900" spc="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1900" spc="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startDate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empName,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empDept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prjName,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19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hours,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rating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090"/>
              </a:lnSpc>
              <a:tabLst>
                <a:tab pos="156146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empMgr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70642" y="2502408"/>
            <a:ext cx="11271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004479"/>
                </a:solidFill>
                <a:latin typeface="Verdana"/>
                <a:cs typeface="Verdana"/>
              </a:rPr>
              <a:t>Given</a:t>
            </a:r>
            <a:r>
              <a:rPr sz="1700" spc="-70" dirty="0">
                <a:solidFill>
                  <a:srgbClr val="004479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004479"/>
                </a:solidFill>
                <a:latin typeface="Verdana"/>
                <a:cs typeface="Verdana"/>
              </a:rPr>
              <a:t>FDs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23840" y="1330590"/>
            <a:ext cx="740410" cy="704850"/>
            <a:chOff x="1023840" y="1330590"/>
            <a:chExt cx="740410" cy="704850"/>
          </a:xfrm>
        </p:grpSpPr>
        <p:sp>
          <p:nvSpPr>
            <p:cNvPr id="14" name="object 14"/>
            <p:cNvSpPr/>
            <p:nvPr/>
          </p:nvSpPr>
          <p:spPr>
            <a:xfrm>
              <a:off x="1039080" y="1345830"/>
              <a:ext cx="709930" cy="674370"/>
            </a:xfrm>
            <a:custGeom>
              <a:avLst/>
              <a:gdLst/>
              <a:ahLst/>
              <a:cxnLst/>
              <a:rect l="l" t="t" r="r" b="b"/>
              <a:pathLst>
                <a:path w="709930" h="674369">
                  <a:moveTo>
                    <a:pt x="115268" y="0"/>
                  </a:moveTo>
                  <a:lnTo>
                    <a:pt x="0" y="0"/>
                  </a:lnTo>
                  <a:lnTo>
                    <a:pt x="0" y="215019"/>
                  </a:lnTo>
                  <a:lnTo>
                    <a:pt x="3858" y="262842"/>
                  </a:lnTo>
                  <a:lnTo>
                    <a:pt x="15030" y="308207"/>
                  </a:lnTo>
                  <a:lnTo>
                    <a:pt x="32907" y="350509"/>
                  </a:lnTo>
                  <a:lnTo>
                    <a:pt x="56884" y="389140"/>
                  </a:lnTo>
                  <a:lnTo>
                    <a:pt x="86352" y="423493"/>
                  </a:lnTo>
                  <a:lnTo>
                    <a:pt x="120705" y="452961"/>
                  </a:lnTo>
                  <a:lnTo>
                    <a:pt x="159335" y="476937"/>
                  </a:lnTo>
                  <a:lnTo>
                    <a:pt x="201637" y="494814"/>
                  </a:lnTo>
                  <a:lnTo>
                    <a:pt x="247002" y="505986"/>
                  </a:lnTo>
                  <a:lnTo>
                    <a:pt x="294824" y="509845"/>
                  </a:lnTo>
                  <a:lnTo>
                    <a:pt x="505414" y="509845"/>
                  </a:lnTo>
                  <a:lnTo>
                    <a:pt x="505414" y="673884"/>
                  </a:lnTo>
                  <a:lnTo>
                    <a:pt x="709352" y="452211"/>
                  </a:lnTo>
                  <a:lnTo>
                    <a:pt x="505414" y="230536"/>
                  </a:lnTo>
                  <a:lnTo>
                    <a:pt x="505414" y="394577"/>
                  </a:lnTo>
                  <a:lnTo>
                    <a:pt x="294824" y="394577"/>
                  </a:lnTo>
                  <a:lnTo>
                    <a:pt x="247091" y="388163"/>
                  </a:lnTo>
                  <a:lnTo>
                    <a:pt x="204199" y="370062"/>
                  </a:lnTo>
                  <a:lnTo>
                    <a:pt x="167859" y="341986"/>
                  </a:lnTo>
                  <a:lnTo>
                    <a:pt x="139782" y="305645"/>
                  </a:lnTo>
                  <a:lnTo>
                    <a:pt x="121682" y="262753"/>
                  </a:lnTo>
                  <a:lnTo>
                    <a:pt x="115268" y="215019"/>
                  </a:lnTo>
                  <a:lnTo>
                    <a:pt x="115268" y="0"/>
                  </a:lnTo>
                  <a:close/>
                </a:path>
              </a:pathLst>
            </a:custGeom>
            <a:solidFill>
              <a:srgbClr val="78AA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39080" y="1345830"/>
              <a:ext cx="709930" cy="674370"/>
            </a:xfrm>
            <a:custGeom>
              <a:avLst/>
              <a:gdLst/>
              <a:ahLst/>
              <a:cxnLst/>
              <a:rect l="l" t="t" r="r" b="b"/>
              <a:pathLst>
                <a:path w="709930" h="674369">
                  <a:moveTo>
                    <a:pt x="0" y="0"/>
                  </a:moveTo>
                  <a:lnTo>
                    <a:pt x="0" y="215019"/>
                  </a:lnTo>
                  <a:lnTo>
                    <a:pt x="3858" y="262842"/>
                  </a:lnTo>
                  <a:lnTo>
                    <a:pt x="15030" y="308207"/>
                  </a:lnTo>
                  <a:lnTo>
                    <a:pt x="32907" y="350508"/>
                  </a:lnTo>
                  <a:lnTo>
                    <a:pt x="56884" y="389139"/>
                  </a:lnTo>
                  <a:lnTo>
                    <a:pt x="86352" y="423492"/>
                  </a:lnTo>
                  <a:lnTo>
                    <a:pt x="120705" y="452960"/>
                  </a:lnTo>
                  <a:lnTo>
                    <a:pt x="159335" y="476937"/>
                  </a:lnTo>
                  <a:lnTo>
                    <a:pt x="201637" y="494814"/>
                  </a:lnTo>
                  <a:lnTo>
                    <a:pt x="247002" y="505986"/>
                  </a:lnTo>
                  <a:lnTo>
                    <a:pt x="294825" y="509845"/>
                  </a:lnTo>
                  <a:lnTo>
                    <a:pt x="505414" y="509845"/>
                  </a:lnTo>
                  <a:lnTo>
                    <a:pt x="505414" y="673885"/>
                  </a:lnTo>
                  <a:lnTo>
                    <a:pt x="709352" y="452210"/>
                  </a:lnTo>
                  <a:lnTo>
                    <a:pt x="505414" y="230535"/>
                  </a:lnTo>
                  <a:lnTo>
                    <a:pt x="505414" y="394576"/>
                  </a:lnTo>
                  <a:lnTo>
                    <a:pt x="294825" y="394576"/>
                  </a:lnTo>
                  <a:lnTo>
                    <a:pt x="247091" y="388162"/>
                  </a:lnTo>
                  <a:lnTo>
                    <a:pt x="204199" y="370061"/>
                  </a:lnTo>
                  <a:lnTo>
                    <a:pt x="167859" y="341985"/>
                  </a:lnTo>
                  <a:lnTo>
                    <a:pt x="139783" y="305645"/>
                  </a:lnTo>
                  <a:lnTo>
                    <a:pt x="121682" y="262753"/>
                  </a:lnTo>
                  <a:lnTo>
                    <a:pt x="115268" y="215019"/>
                  </a:lnTo>
                  <a:lnTo>
                    <a:pt x="115268" y="0"/>
                  </a:lnTo>
                  <a:lnTo>
                    <a:pt x="0" y="0"/>
                  </a:lnTo>
                  <a:close/>
                </a:path>
              </a:pathLst>
            </a:custGeom>
            <a:ln w="30479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936414" y="1257161"/>
            <a:ext cx="137160" cy="1010919"/>
          </a:xfrm>
          <a:custGeom>
            <a:avLst/>
            <a:gdLst/>
            <a:ahLst/>
            <a:cxnLst/>
            <a:rect l="l" t="t" r="r" b="b"/>
            <a:pathLst>
              <a:path w="137160" h="1010919">
                <a:moveTo>
                  <a:pt x="136550" y="1010827"/>
                </a:moveTo>
                <a:lnTo>
                  <a:pt x="83398" y="1009933"/>
                </a:lnTo>
                <a:lnTo>
                  <a:pt x="39994" y="1007495"/>
                </a:lnTo>
                <a:lnTo>
                  <a:pt x="10730" y="1003878"/>
                </a:lnTo>
                <a:lnTo>
                  <a:pt x="0" y="999449"/>
                </a:lnTo>
                <a:lnTo>
                  <a:pt x="0" y="11378"/>
                </a:lnTo>
                <a:lnTo>
                  <a:pt x="10730" y="6949"/>
                </a:lnTo>
                <a:lnTo>
                  <a:pt x="39994" y="3332"/>
                </a:lnTo>
                <a:lnTo>
                  <a:pt x="83398" y="894"/>
                </a:lnTo>
                <a:lnTo>
                  <a:pt x="136550" y="0"/>
                </a:lnTo>
              </a:path>
            </a:pathLst>
          </a:custGeom>
          <a:ln w="3047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6836" y="1528064"/>
            <a:ext cx="5549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0" dirty="0">
                <a:solidFill>
                  <a:srgbClr val="0048AA"/>
                </a:solidFill>
                <a:latin typeface="Verdana"/>
                <a:cs typeface="Verdana"/>
              </a:rPr>
              <a:t>2</a:t>
            </a:r>
            <a:r>
              <a:rPr sz="2100" spc="25" dirty="0">
                <a:solidFill>
                  <a:srgbClr val="0048AA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0048AA"/>
                </a:solidFill>
                <a:latin typeface="Verdana"/>
                <a:cs typeface="Verdana"/>
              </a:rPr>
              <a:t>F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803" y="4431515"/>
            <a:ext cx="9540875" cy="2713355"/>
          </a:xfrm>
          <a:custGeom>
            <a:avLst/>
            <a:gdLst/>
            <a:ahLst/>
            <a:cxnLst/>
            <a:rect l="l" t="t" r="r" b="b"/>
            <a:pathLst>
              <a:path w="9540875" h="2713354">
                <a:moveTo>
                  <a:pt x="0" y="0"/>
                </a:moveTo>
                <a:lnTo>
                  <a:pt x="9540792" y="0"/>
                </a:lnTo>
                <a:lnTo>
                  <a:pt x="9540792" y="2713272"/>
                </a:lnTo>
                <a:lnTo>
                  <a:pt x="0" y="2713272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803" y="223161"/>
            <a:ext cx="903541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55" dirty="0"/>
              <a:t>Use</a:t>
            </a:r>
            <a:r>
              <a:rPr sz="3800" spc="-204" dirty="0"/>
              <a:t> </a:t>
            </a:r>
            <a:r>
              <a:rPr sz="3800" spc="-60" dirty="0"/>
              <a:t>3NF,</a:t>
            </a:r>
            <a:r>
              <a:rPr sz="3800" spc="-210" dirty="0"/>
              <a:t> </a:t>
            </a:r>
            <a:r>
              <a:rPr sz="3800" spc="-75" dirty="0"/>
              <a:t>Decompose</a:t>
            </a:r>
            <a:r>
              <a:rPr sz="3800" spc="-210" dirty="0"/>
              <a:t> </a:t>
            </a:r>
            <a:r>
              <a:rPr sz="3800" spc="-85" dirty="0">
                <a:latin typeface="Courier New"/>
                <a:cs typeface="Courier New"/>
              </a:rPr>
              <a:t>work_project</a:t>
            </a:r>
            <a:endParaRPr sz="38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616" y="4588255"/>
            <a:ext cx="7729855" cy="89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Therefore,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new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endParaRPr sz="2100">
              <a:latin typeface="Verdana"/>
              <a:cs typeface="Verdana"/>
            </a:endParaRPr>
          </a:p>
          <a:p>
            <a:pPr marL="1092200">
              <a:lnSpc>
                <a:spcPct val="100000"/>
              </a:lnSpc>
              <a:spcBef>
                <a:spcPts val="1945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Project(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prjMgr,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startDate)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4877" y="5500116"/>
            <a:ext cx="29394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empName,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9491" y="5500116"/>
            <a:ext cx="12439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empDept)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4877" y="5801867"/>
            <a:ext cx="3093085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9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Department(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empDept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Work(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6736" y="5475732"/>
            <a:ext cx="1091565" cy="10160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5080" indent="-635" algn="r">
              <a:lnSpc>
                <a:spcPct val="108500"/>
              </a:lnSpc>
              <a:spcBef>
                <a:spcPts val="85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salary,  empMgr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) 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hours,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09393" y="6161532"/>
            <a:ext cx="1091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rating)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8329" y="1232915"/>
            <a:ext cx="66503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Project(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prjMgr,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startDate)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329" y="1537715"/>
            <a:ext cx="3105785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5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empName,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Work(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0188" y="1537715"/>
            <a:ext cx="3722370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66370" marR="5080" indent="-154305">
              <a:lnSpc>
                <a:spcPts val="2300"/>
              </a:lnSpc>
              <a:spcBef>
                <a:spcPts val="25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empDept)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hours,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rating)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23840" y="1330590"/>
            <a:ext cx="740410" cy="704850"/>
            <a:chOff x="1023840" y="1330590"/>
            <a:chExt cx="740410" cy="704850"/>
          </a:xfrm>
        </p:grpSpPr>
        <p:sp>
          <p:nvSpPr>
            <p:cNvPr id="14" name="object 14"/>
            <p:cNvSpPr/>
            <p:nvPr/>
          </p:nvSpPr>
          <p:spPr>
            <a:xfrm>
              <a:off x="1039080" y="1345830"/>
              <a:ext cx="709930" cy="674370"/>
            </a:xfrm>
            <a:custGeom>
              <a:avLst/>
              <a:gdLst/>
              <a:ahLst/>
              <a:cxnLst/>
              <a:rect l="l" t="t" r="r" b="b"/>
              <a:pathLst>
                <a:path w="709930" h="674369">
                  <a:moveTo>
                    <a:pt x="115268" y="0"/>
                  </a:moveTo>
                  <a:lnTo>
                    <a:pt x="0" y="0"/>
                  </a:lnTo>
                  <a:lnTo>
                    <a:pt x="0" y="215019"/>
                  </a:lnTo>
                  <a:lnTo>
                    <a:pt x="3858" y="262842"/>
                  </a:lnTo>
                  <a:lnTo>
                    <a:pt x="15030" y="308207"/>
                  </a:lnTo>
                  <a:lnTo>
                    <a:pt x="32907" y="350509"/>
                  </a:lnTo>
                  <a:lnTo>
                    <a:pt x="56884" y="389140"/>
                  </a:lnTo>
                  <a:lnTo>
                    <a:pt x="86352" y="423493"/>
                  </a:lnTo>
                  <a:lnTo>
                    <a:pt x="120705" y="452961"/>
                  </a:lnTo>
                  <a:lnTo>
                    <a:pt x="159335" y="476937"/>
                  </a:lnTo>
                  <a:lnTo>
                    <a:pt x="201637" y="494814"/>
                  </a:lnTo>
                  <a:lnTo>
                    <a:pt x="247002" y="505986"/>
                  </a:lnTo>
                  <a:lnTo>
                    <a:pt x="294824" y="509845"/>
                  </a:lnTo>
                  <a:lnTo>
                    <a:pt x="505414" y="509845"/>
                  </a:lnTo>
                  <a:lnTo>
                    <a:pt x="505414" y="673884"/>
                  </a:lnTo>
                  <a:lnTo>
                    <a:pt x="709352" y="452211"/>
                  </a:lnTo>
                  <a:lnTo>
                    <a:pt x="505414" y="230536"/>
                  </a:lnTo>
                  <a:lnTo>
                    <a:pt x="505414" y="394577"/>
                  </a:lnTo>
                  <a:lnTo>
                    <a:pt x="294824" y="394577"/>
                  </a:lnTo>
                  <a:lnTo>
                    <a:pt x="247091" y="388163"/>
                  </a:lnTo>
                  <a:lnTo>
                    <a:pt x="204199" y="370062"/>
                  </a:lnTo>
                  <a:lnTo>
                    <a:pt x="167859" y="341986"/>
                  </a:lnTo>
                  <a:lnTo>
                    <a:pt x="139782" y="305645"/>
                  </a:lnTo>
                  <a:lnTo>
                    <a:pt x="121682" y="262753"/>
                  </a:lnTo>
                  <a:lnTo>
                    <a:pt x="115268" y="215019"/>
                  </a:lnTo>
                  <a:lnTo>
                    <a:pt x="115268" y="0"/>
                  </a:lnTo>
                  <a:close/>
                </a:path>
              </a:pathLst>
            </a:custGeom>
            <a:solidFill>
              <a:srgbClr val="78AA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39080" y="1345830"/>
              <a:ext cx="709930" cy="674370"/>
            </a:xfrm>
            <a:custGeom>
              <a:avLst/>
              <a:gdLst/>
              <a:ahLst/>
              <a:cxnLst/>
              <a:rect l="l" t="t" r="r" b="b"/>
              <a:pathLst>
                <a:path w="709930" h="674369">
                  <a:moveTo>
                    <a:pt x="0" y="0"/>
                  </a:moveTo>
                  <a:lnTo>
                    <a:pt x="0" y="215019"/>
                  </a:lnTo>
                  <a:lnTo>
                    <a:pt x="3858" y="262842"/>
                  </a:lnTo>
                  <a:lnTo>
                    <a:pt x="15030" y="308207"/>
                  </a:lnTo>
                  <a:lnTo>
                    <a:pt x="32907" y="350508"/>
                  </a:lnTo>
                  <a:lnTo>
                    <a:pt x="56884" y="389139"/>
                  </a:lnTo>
                  <a:lnTo>
                    <a:pt x="86352" y="423492"/>
                  </a:lnTo>
                  <a:lnTo>
                    <a:pt x="120705" y="452960"/>
                  </a:lnTo>
                  <a:lnTo>
                    <a:pt x="159335" y="476937"/>
                  </a:lnTo>
                  <a:lnTo>
                    <a:pt x="201637" y="494814"/>
                  </a:lnTo>
                  <a:lnTo>
                    <a:pt x="247002" y="505986"/>
                  </a:lnTo>
                  <a:lnTo>
                    <a:pt x="294825" y="509845"/>
                  </a:lnTo>
                  <a:lnTo>
                    <a:pt x="505414" y="509845"/>
                  </a:lnTo>
                  <a:lnTo>
                    <a:pt x="505414" y="673885"/>
                  </a:lnTo>
                  <a:lnTo>
                    <a:pt x="709352" y="452210"/>
                  </a:lnTo>
                  <a:lnTo>
                    <a:pt x="505414" y="230535"/>
                  </a:lnTo>
                  <a:lnTo>
                    <a:pt x="505414" y="394576"/>
                  </a:lnTo>
                  <a:lnTo>
                    <a:pt x="294825" y="394576"/>
                  </a:lnTo>
                  <a:lnTo>
                    <a:pt x="247091" y="388162"/>
                  </a:lnTo>
                  <a:lnTo>
                    <a:pt x="204199" y="370061"/>
                  </a:lnTo>
                  <a:lnTo>
                    <a:pt x="167859" y="341985"/>
                  </a:lnTo>
                  <a:lnTo>
                    <a:pt x="139783" y="305645"/>
                  </a:lnTo>
                  <a:lnTo>
                    <a:pt x="121682" y="262753"/>
                  </a:lnTo>
                  <a:lnTo>
                    <a:pt x="115268" y="215019"/>
                  </a:lnTo>
                  <a:lnTo>
                    <a:pt x="115268" y="0"/>
                  </a:lnTo>
                  <a:lnTo>
                    <a:pt x="0" y="0"/>
                  </a:lnTo>
                  <a:close/>
                </a:path>
              </a:pathLst>
            </a:custGeom>
            <a:ln w="30479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936414" y="1257161"/>
            <a:ext cx="137160" cy="1010919"/>
          </a:xfrm>
          <a:custGeom>
            <a:avLst/>
            <a:gdLst/>
            <a:ahLst/>
            <a:cxnLst/>
            <a:rect l="l" t="t" r="r" b="b"/>
            <a:pathLst>
              <a:path w="137160" h="1010919">
                <a:moveTo>
                  <a:pt x="136550" y="1010827"/>
                </a:moveTo>
                <a:lnTo>
                  <a:pt x="83398" y="1009933"/>
                </a:lnTo>
                <a:lnTo>
                  <a:pt x="39994" y="1007495"/>
                </a:lnTo>
                <a:lnTo>
                  <a:pt x="10730" y="1003878"/>
                </a:lnTo>
                <a:lnTo>
                  <a:pt x="0" y="999449"/>
                </a:lnTo>
                <a:lnTo>
                  <a:pt x="0" y="11378"/>
                </a:lnTo>
                <a:lnTo>
                  <a:pt x="10730" y="6949"/>
                </a:lnTo>
                <a:lnTo>
                  <a:pt x="39994" y="3332"/>
                </a:lnTo>
                <a:lnTo>
                  <a:pt x="83398" y="894"/>
                </a:lnTo>
                <a:lnTo>
                  <a:pt x="136550" y="0"/>
                </a:lnTo>
              </a:path>
            </a:pathLst>
          </a:custGeom>
          <a:ln w="3047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6836" y="1528064"/>
            <a:ext cx="5549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0" dirty="0">
                <a:solidFill>
                  <a:srgbClr val="0048AA"/>
                </a:solidFill>
                <a:latin typeface="Verdana"/>
                <a:cs typeface="Verdana"/>
              </a:rPr>
              <a:t>2</a:t>
            </a:r>
            <a:r>
              <a:rPr sz="2100" spc="25" dirty="0">
                <a:solidFill>
                  <a:srgbClr val="0048AA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0048AA"/>
                </a:solidFill>
                <a:latin typeface="Verdana"/>
                <a:cs typeface="Verdana"/>
              </a:rPr>
              <a:t>F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99863" y="2381966"/>
            <a:ext cx="8444230" cy="1261745"/>
            <a:chOff x="1099863" y="2381966"/>
            <a:chExt cx="8444230" cy="1261745"/>
          </a:xfrm>
        </p:grpSpPr>
        <p:sp>
          <p:nvSpPr>
            <p:cNvPr id="19" name="object 19"/>
            <p:cNvSpPr/>
            <p:nvPr/>
          </p:nvSpPr>
          <p:spPr>
            <a:xfrm>
              <a:off x="1110023" y="2392126"/>
              <a:ext cx="8423910" cy="1241425"/>
            </a:xfrm>
            <a:custGeom>
              <a:avLst/>
              <a:gdLst/>
              <a:ahLst/>
              <a:cxnLst/>
              <a:rect l="l" t="t" r="r" b="b"/>
              <a:pathLst>
                <a:path w="8423910" h="1241425">
                  <a:moveTo>
                    <a:pt x="8423563" y="0"/>
                  </a:moveTo>
                  <a:lnTo>
                    <a:pt x="0" y="0"/>
                  </a:lnTo>
                  <a:lnTo>
                    <a:pt x="0" y="1241367"/>
                  </a:lnTo>
                  <a:lnTo>
                    <a:pt x="8423563" y="1241367"/>
                  </a:lnTo>
                  <a:lnTo>
                    <a:pt x="8423563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10023" y="2392126"/>
              <a:ext cx="8423910" cy="1241425"/>
            </a:xfrm>
            <a:custGeom>
              <a:avLst/>
              <a:gdLst/>
              <a:ahLst/>
              <a:cxnLst/>
              <a:rect l="l" t="t" r="r" b="b"/>
              <a:pathLst>
                <a:path w="8423910" h="1241425">
                  <a:moveTo>
                    <a:pt x="0" y="0"/>
                  </a:moveTo>
                  <a:lnTo>
                    <a:pt x="8423563" y="0"/>
                  </a:lnTo>
                  <a:lnTo>
                    <a:pt x="8423563" y="1241367"/>
                  </a:lnTo>
                  <a:lnTo>
                    <a:pt x="0" y="1241367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16165" y="2422144"/>
            <a:ext cx="5943600" cy="110172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25"/>
              </a:spcBef>
              <a:tabLst>
                <a:tab pos="1270635" algn="l"/>
                <a:tab pos="1561465" algn="l"/>
                <a:tab pos="258127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prjName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prjMrg,</a:t>
            </a:r>
            <a:r>
              <a:rPr sz="1900" spc="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1900" spc="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startDate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empName,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salary,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empMgr,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empDept </a:t>
            </a:r>
            <a:r>
              <a:rPr sz="1900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prjName,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19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hours,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rating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090"/>
              </a:lnSpc>
              <a:tabLst>
                <a:tab pos="156146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empMgr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70642" y="2502408"/>
            <a:ext cx="11271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004479"/>
                </a:solidFill>
                <a:latin typeface="Verdana"/>
                <a:cs typeface="Verdana"/>
              </a:rPr>
              <a:t>Given</a:t>
            </a:r>
            <a:r>
              <a:rPr sz="1700" spc="-70" dirty="0">
                <a:solidFill>
                  <a:srgbClr val="004479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004479"/>
                </a:solidFill>
                <a:latin typeface="Verdana"/>
                <a:cs typeface="Verdana"/>
              </a:rPr>
              <a:t>FDs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3538854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Sa</a:t>
            </a:r>
            <a:r>
              <a:rPr spc="-155" dirty="0"/>
              <a:t>m</a:t>
            </a:r>
            <a:r>
              <a:rPr spc="-135" dirty="0"/>
              <a:t>p</a:t>
            </a:r>
            <a:r>
              <a:rPr spc="-125" dirty="0"/>
              <a:t>l</a:t>
            </a:r>
            <a:r>
              <a:rPr dirty="0"/>
              <a:t>e</a:t>
            </a:r>
            <a:r>
              <a:rPr spc="-254" dirty="0"/>
              <a:t> </a:t>
            </a:r>
            <a:r>
              <a:rPr spc="-155" dirty="0"/>
              <a:t>D</a:t>
            </a:r>
            <a:r>
              <a:rPr spc="-140" dirty="0"/>
              <a:t>ata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17854" y="2014538"/>
          <a:ext cx="3703953" cy="841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startDate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180512" y="1696720"/>
            <a:ext cx="10452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Project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88050" y="4042800"/>
          <a:ext cx="3120389" cy="1962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empId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rating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E120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50709" y="3723640"/>
            <a:ext cx="6083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Work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095414" y="4042800"/>
          <a:ext cx="2024380" cy="112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empDept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180512" y="3723640"/>
            <a:ext cx="14820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Department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88050" y="2014538"/>
          <a:ext cx="3614420" cy="148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2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empId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salary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empDept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Adams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E120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Tanaka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150709" y="1696720"/>
            <a:ext cx="4622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Emp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26" y="133364"/>
            <a:ext cx="88163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I</a:t>
            </a:r>
            <a:r>
              <a:rPr dirty="0"/>
              <a:t>s</a:t>
            </a:r>
            <a:r>
              <a:rPr spc="-195" dirty="0"/>
              <a:t> </a:t>
            </a:r>
            <a:r>
              <a:rPr sz="4300" spc="-130" dirty="0">
                <a:latin typeface="Courier New"/>
                <a:cs typeface="Courier New"/>
              </a:rPr>
              <a:t>work_projec</a:t>
            </a:r>
            <a:r>
              <a:rPr sz="4300" dirty="0">
                <a:latin typeface="Courier New"/>
                <a:cs typeface="Courier New"/>
              </a:rPr>
              <a:t>t</a:t>
            </a:r>
            <a:r>
              <a:rPr sz="4300" spc="-1360" dirty="0">
                <a:latin typeface="Courier New"/>
                <a:cs typeface="Courier New"/>
              </a:rPr>
              <a:t> </a:t>
            </a:r>
            <a:r>
              <a:rPr spc="-145" dirty="0"/>
              <a:t>T</a:t>
            </a:r>
            <a:r>
              <a:rPr spc="-140" dirty="0"/>
              <a:t>a</a:t>
            </a:r>
            <a:r>
              <a:rPr spc="-135" dirty="0"/>
              <a:t>b</a:t>
            </a:r>
            <a:r>
              <a:rPr spc="-125" dirty="0"/>
              <a:t>l</a:t>
            </a:r>
            <a:r>
              <a:rPr dirty="0"/>
              <a:t>e</a:t>
            </a:r>
            <a:r>
              <a:rPr spc="-260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40" dirty="0"/>
              <a:t>B</a:t>
            </a:r>
            <a:r>
              <a:rPr spc="-145" dirty="0"/>
              <a:t>C</a:t>
            </a:r>
            <a:r>
              <a:rPr spc="-150" dirty="0"/>
              <a:t>N</a:t>
            </a:r>
            <a:r>
              <a:rPr spc="-135" dirty="0"/>
              <a:t>F</a:t>
            </a:r>
            <a:r>
              <a:rPr dirty="0"/>
              <a:t>?</a:t>
            </a:r>
            <a:endParaRPr sz="43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09605" y="2924148"/>
            <a:ext cx="692785" cy="97790"/>
          </a:xfrm>
          <a:custGeom>
            <a:avLst/>
            <a:gdLst/>
            <a:ahLst/>
            <a:cxnLst/>
            <a:rect l="l" t="t" r="r" b="b"/>
            <a:pathLst>
              <a:path w="692784" h="97789">
                <a:moveTo>
                  <a:pt x="0" y="97483"/>
                </a:moveTo>
                <a:lnTo>
                  <a:pt x="692376" y="97483"/>
                </a:lnTo>
                <a:lnTo>
                  <a:pt x="692376" y="0"/>
                </a:lnTo>
                <a:lnTo>
                  <a:pt x="0" y="0"/>
                </a:lnTo>
                <a:lnTo>
                  <a:pt x="0" y="97483"/>
                </a:lnTo>
                <a:close/>
              </a:path>
            </a:pathLst>
          </a:custGeom>
          <a:solidFill>
            <a:srgbClr val="EDEE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05390" y="3067941"/>
            <a:ext cx="7611745" cy="5029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840740" algn="l"/>
                <a:tab pos="1694814" algn="l"/>
                <a:tab pos="2391410" algn="l"/>
                <a:tab pos="3301365" algn="l"/>
                <a:tab pos="4231640" algn="l"/>
                <a:tab pos="5277485" algn="l"/>
                <a:tab pos="6215380" algn="l"/>
                <a:tab pos="7394575" algn="l"/>
              </a:tabLst>
            </a:pPr>
            <a:r>
              <a:rPr sz="1300" spc="2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11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300" spc="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20000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03</a:t>
            </a:r>
            <a:r>
              <a:rPr sz="1300" spc="1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15</a:t>
            </a:r>
            <a:r>
              <a:rPr sz="1300" spc="1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8	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4800</a:t>
            </a:r>
            <a:r>
              <a:rPr sz="1300" dirty="0">
                <a:solidFill>
                  <a:srgbClr val="292934"/>
                </a:solidFill>
                <a:latin typeface="Arial MT"/>
                <a:cs typeface="Arial MT"/>
              </a:rPr>
              <a:t>0	</a:t>
            </a:r>
            <a:r>
              <a:rPr sz="1300" spc="2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10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tabLst>
                <a:tab pos="840740" algn="l"/>
                <a:tab pos="1694814" algn="l"/>
                <a:tab pos="2360930" algn="l"/>
                <a:tab pos="3301365" algn="l"/>
                <a:tab pos="4231640" algn="l"/>
                <a:tab pos="5277485" algn="l"/>
                <a:tab pos="6252845" algn="l"/>
                <a:tab pos="7394575" algn="l"/>
              </a:tabLst>
            </a:pPr>
            <a:r>
              <a:rPr sz="1300" spc="2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12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5	</a:t>
            </a:r>
            <a:r>
              <a:rPr sz="1300" spc="-13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anak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20000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03</a:t>
            </a:r>
            <a:r>
              <a:rPr sz="1300" spc="1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15</a:t>
            </a:r>
            <a:r>
              <a:rPr sz="1300" spc="1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8	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4500</a:t>
            </a:r>
            <a:r>
              <a:rPr sz="1300" dirty="0">
                <a:solidFill>
                  <a:srgbClr val="292934"/>
                </a:solidFill>
                <a:latin typeface="Arial MT"/>
                <a:cs typeface="Arial MT"/>
              </a:rPr>
              <a:t>0	</a:t>
            </a:r>
            <a:r>
              <a:rPr sz="1300" spc="5" dirty="0">
                <a:solidFill>
                  <a:srgbClr val="292934"/>
                </a:solidFill>
                <a:latin typeface="Verdana"/>
                <a:cs typeface="Verdana"/>
              </a:rPr>
              <a:t>J</a:t>
            </a:r>
            <a:r>
              <a:rPr sz="1300" spc="2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s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15</a:t>
            </a:r>
            <a:endParaRPr sz="13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5526" y="1531498"/>
          <a:ext cx="9733272" cy="2703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34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2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26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44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9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empId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startDate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salary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empDept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rating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1462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Adams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52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285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115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4" gridSpan="10">
                  <a:txBody>
                    <a:bodyPr/>
                    <a:lstStyle/>
                    <a:p>
                      <a:pPr marL="218440">
                        <a:lnSpc>
                          <a:spcPts val="2135"/>
                        </a:lnSpc>
                        <a:spcBef>
                          <a:spcPts val="610"/>
                        </a:spcBef>
                        <a:tabLst>
                          <a:tab pos="1767839" algn="l"/>
                          <a:tab pos="7172959" algn="l"/>
                        </a:tabLst>
                      </a:pP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prjName</a:t>
                      </a:r>
                      <a:r>
                        <a:rPr sz="1900" spc="2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prjMrg,</a:t>
                      </a:r>
                      <a:r>
                        <a:rPr sz="1900" spc="4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budget,</a:t>
                      </a:r>
                      <a:r>
                        <a:rPr sz="1900" spc="4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startDate	</a:t>
                      </a:r>
                      <a:r>
                        <a:rPr sz="2550" spc="-7" baseline="-14705" dirty="0">
                          <a:solidFill>
                            <a:srgbClr val="004479"/>
                          </a:solidFill>
                          <a:latin typeface="Verdana"/>
                          <a:cs typeface="Verdana"/>
                        </a:rPr>
                        <a:t>Given</a:t>
                      </a:r>
                      <a:r>
                        <a:rPr sz="2550" spc="-52" baseline="-14705" dirty="0">
                          <a:solidFill>
                            <a:srgbClr val="0044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550" spc="7" baseline="-14705" dirty="0">
                          <a:solidFill>
                            <a:srgbClr val="004479"/>
                          </a:solidFill>
                          <a:latin typeface="Verdana"/>
                          <a:cs typeface="Verdana"/>
                        </a:rPr>
                        <a:t>FDs</a:t>
                      </a:r>
                      <a:endParaRPr sz="2550" baseline="-14705">
                        <a:latin typeface="Verdana"/>
                        <a:cs typeface="Verdana"/>
                      </a:endParaRPr>
                    </a:p>
                    <a:p>
                      <a:pPr marL="218440" marR="2278380">
                        <a:lnSpc>
                          <a:spcPts val="2110"/>
                        </a:lnSpc>
                        <a:spcBef>
                          <a:spcPts val="70"/>
                        </a:spcBef>
                        <a:tabLst>
                          <a:tab pos="1476375" algn="l"/>
                          <a:tab pos="2787015" algn="l"/>
                        </a:tabLst>
                      </a:pP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empId</a:t>
                      </a:r>
                      <a:r>
                        <a:rPr sz="19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empName,</a:t>
                      </a:r>
                      <a:r>
                        <a:rPr sz="19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salary,</a:t>
                      </a:r>
                      <a:r>
                        <a:rPr sz="19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empMgr,</a:t>
                      </a:r>
                      <a:r>
                        <a:rPr sz="19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empDept </a:t>
                      </a:r>
                      <a:r>
                        <a:rPr sz="1900" spc="-113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prjName,</a:t>
                      </a:r>
                      <a:r>
                        <a:rPr sz="1900" spc="2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empId</a:t>
                      </a:r>
                      <a:r>
                        <a:rPr sz="1900" spc="3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hours, </a:t>
                      </a:r>
                      <a:r>
                        <a:rPr sz="19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rating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218440">
                        <a:lnSpc>
                          <a:spcPts val="2050"/>
                        </a:lnSpc>
                        <a:tabLst>
                          <a:tab pos="1767839" algn="l"/>
                        </a:tabLst>
                      </a:pP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empDept</a:t>
                      </a:r>
                      <a:r>
                        <a:rPr sz="1900" spc="2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empMgr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747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747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33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747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F7F7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16850" y="1137920"/>
            <a:ext cx="1976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work_project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982" y="5338064"/>
            <a:ext cx="73964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Check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there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determinant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not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C00000"/>
                </a:solidFill>
                <a:latin typeface="Verdana"/>
                <a:cs typeface="Verdana"/>
              </a:rPr>
              <a:t>superkey.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803" y="5743817"/>
            <a:ext cx="9540875" cy="141922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278130" rIns="0" bIns="0" rtlCol="0">
            <a:spAutoFit/>
          </a:bodyPr>
          <a:lstStyle/>
          <a:p>
            <a:pPr marL="438784" marR="580390">
              <a:lnSpc>
                <a:spcPts val="2500"/>
              </a:lnSpc>
              <a:spcBef>
                <a:spcPts val="219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empId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empDept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o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prjNam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e</a:t>
            </a:r>
            <a:r>
              <a:rPr sz="2300" spc="-60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icie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ho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 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ha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work_projec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300" spc="-60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BCN</a:t>
            </a:r>
            <a:r>
              <a:rPr sz="2100" spc="-295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hu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no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ze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803" y="4555651"/>
            <a:ext cx="9540875" cy="2589530"/>
          </a:xfrm>
          <a:custGeom>
            <a:avLst/>
            <a:gdLst/>
            <a:ahLst/>
            <a:cxnLst/>
            <a:rect l="l" t="t" r="r" b="b"/>
            <a:pathLst>
              <a:path w="9540875" h="2589529">
                <a:moveTo>
                  <a:pt x="0" y="0"/>
                </a:moveTo>
                <a:lnTo>
                  <a:pt x="9540792" y="0"/>
                </a:lnTo>
                <a:lnTo>
                  <a:pt x="9540792" y="2589135"/>
                </a:lnTo>
                <a:lnTo>
                  <a:pt x="0" y="2589135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526" y="239293"/>
            <a:ext cx="93980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55" dirty="0"/>
              <a:t>Use</a:t>
            </a:r>
            <a:r>
              <a:rPr sz="3800" spc="-200" dirty="0"/>
              <a:t> </a:t>
            </a:r>
            <a:r>
              <a:rPr sz="3800" spc="-70" dirty="0"/>
              <a:t>BCNF,</a:t>
            </a:r>
            <a:r>
              <a:rPr sz="3800" spc="-204" dirty="0"/>
              <a:t> </a:t>
            </a:r>
            <a:r>
              <a:rPr sz="3800" spc="-75" dirty="0"/>
              <a:t>Decompose</a:t>
            </a:r>
            <a:r>
              <a:rPr sz="3800" spc="-200" dirty="0"/>
              <a:t> </a:t>
            </a:r>
            <a:r>
              <a:rPr sz="3800" spc="-85" dirty="0">
                <a:latin typeface="Courier New"/>
                <a:cs typeface="Courier New"/>
              </a:rPr>
              <a:t>work_project</a:t>
            </a:r>
            <a:endParaRPr sz="38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582" y="6459728"/>
            <a:ext cx="8114030" cy="63817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59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table.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nontrivial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FD,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determinant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determines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everything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superkey.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8117" y="5295900"/>
            <a:ext cx="1256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empDept)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3503" y="5295900"/>
            <a:ext cx="31057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empName,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Department(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empDept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Work(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5362" y="5295900"/>
            <a:ext cx="11042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r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salary,  empMgr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) 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hours,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08020" y="5905500"/>
            <a:ext cx="11042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rating)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916" y="4514113"/>
            <a:ext cx="7653655" cy="7950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Therefore,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new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endParaRPr sz="2100">
              <a:latin typeface="Verdana"/>
              <a:cs typeface="Verdana"/>
            </a:endParaRPr>
          </a:p>
          <a:p>
            <a:pPr marL="1016000">
              <a:lnSpc>
                <a:spcPct val="100000"/>
              </a:lnSpc>
              <a:spcBef>
                <a:spcPts val="56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Project(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prjName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prjMgr,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budget,</a:t>
            </a:r>
            <a:r>
              <a:rPr sz="20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startDate)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09605" y="2924148"/>
            <a:ext cx="692785" cy="97790"/>
          </a:xfrm>
          <a:custGeom>
            <a:avLst/>
            <a:gdLst/>
            <a:ahLst/>
            <a:cxnLst/>
            <a:rect l="l" t="t" r="r" b="b"/>
            <a:pathLst>
              <a:path w="692784" h="97789">
                <a:moveTo>
                  <a:pt x="0" y="97483"/>
                </a:moveTo>
                <a:lnTo>
                  <a:pt x="692376" y="97483"/>
                </a:lnTo>
                <a:lnTo>
                  <a:pt x="692376" y="0"/>
                </a:lnTo>
                <a:lnTo>
                  <a:pt x="0" y="0"/>
                </a:lnTo>
                <a:lnTo>
                  <a:pt x="0" y="97483"/>
                </a:lnTo>
                <a:close/>
              </a:path>
            </a:pathLst>
          </a:custGeom>
          <a:solidFill>
            <a:srgbClr val="EDEE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5390" y="3067941"/>
            <a:ext cx="7611745" cy="5029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840740" algn="l"/>
                <a:tab pos="1694814" algn="l"/>
                <a:tab pos="2391410" algn="l"/>
                <a:tab pos="3301365" algn="l"/>
                <a:tab pos="4231640" algn="l"/>
                <a:tab pos="5277485" algn="l"/>
                <a:tab pos="6215380" algn="l"/>
                <a:tab pos="7394575" algn="l"/>
              </a:tabLst>
            </a:pPr>
            <a:r>
              <a:rPr sz="1300" spc="2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11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300" spc="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20000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03</a:t>
            </a:r>
            <a:r>
              <a:rPr sz="1300" spc="1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15</a:t>
            </a:r>
            <a:r>
              <a:rPr sz="1300" spc="1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8	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4800</a:t>
            </a:r>
            <a:r>
              <a:rPr sz="1300" dirty="0">
                <a:solidFill>
                  <a:srgbClr val="292934"/>
                </a:solidFill>
                <a:latin typeface="Arial MT"/>
                <a:cs typeface="Arial MT"/>
              </a:rPr>
              <a:t>0	</a:t>
            </a:r>
            <a:r>
              <a:rPr sz="1300" spc="2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10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tabLst>
                <a:tab pos="840740" algn="l"/>
                <a:tab pos="1694814" algn="l"/>
                <a:tab pos="2360930" algn="l"/>
                <a:tab pos="3301365" algn="l"/>
                <a:tab pos="4231640" algn="l"/>
                <a:tab pos="5277485" algn="l"/>
                <a:tab pos="6252845" algn="l"/>
                <a:tab pos="7394575" algn="l"/>
              </a:tabLst>
            </a:pPr>
            <a:r>
              <a:rPr sz="1300" spc="2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	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12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5	</a:t>
            </a:r>
            <a:r>
              <a:rPr sz="1300" spc="-13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anak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20000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0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03</a:t>
            </a:r>
            <a:r>
              <a:rPr sz="1300" spc="1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15</a:t>
            </a:r>
            <a:r>
              <a:rPr sz="1300" spc="1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8	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4500</a:t>
            </a:r>
            <a:r>
              <a:rPr sz="1300" dirty="0">
                <a:solidFill>
                  <a:srgbClr val="292934"/>
                </a:solidFill>
                <a:latin typeface="Arial MT"/>
                <a:cs typeface="Arial MT"/>
              </a:rPr>
              <a:t>0	</a:t>
            </a:r>
            <a:r>
              <a:rPr sz="1300" spc="5" dirty="0">
                <a:solidFill>
                  <a:srgbClr val="292934"/>
                </a:solidFill>
                <a:latin typeface="Verdana"/>
                <a:cs typeface="Verdana"/>
              </a:rPr>
              <a:t>J</a:t>
            </a:r>
            <a:r>
              <a:rPr sz="1300" spc="2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3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s	</a:t>
            </a:r>
            <a:r>
              <a:rPr sz="1300" spc="25" dirty="0">
                <a:solidFill>
                  <a:srgbClr val="292934"/>
                </a:solidFill>
                <a:latin typeface="Verdana"/>
                <a:cs typeface="Verdana"/>
              </a:rPr>
              <a:t>15</a:t>
            </a:r>
            <a:endParaRPr sz="1300">
              <a:latin typeface="Verdana"/>
              <a:cs typeface="Verdana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65526" y="1531498"/>
          <a:ext cx="9733272" cy="2703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34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29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26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44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9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8041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prjMgr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empId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eName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startDate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salary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empMgr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empDept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rating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1462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Adams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Jupiter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Smith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Rivera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01/15/19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48000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52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285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Jones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200000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03/15/18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115"/>
                        </a:lnSpc>
                        <a:spcBef>
                          <a:spcPts val="385"/>
                        </a:spcBef>
                      </a:pPr>
                      <a:r>
                        <a:rPr sz="1300" spc="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60000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Levine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  <a:spcBef>
                          <a:spcPts val="360"/>
                        </a:spcBef>
                      </a:pPr>
                      <a:r>
                        <a:rPr sz="1300" spc="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DEE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4" gridSpan="10">
                  <a:txBody>
                    <a:bodyPr/>
                    <a:lstStyle/>
                    <a:p>
                      <a:pPr marL="218440">
                        <a:lnSpc>
                          <a:spcPts val="2135"/>
                        </a:lnSpc>
                        <a:spcBef>
                          <a:spcPts val="610"/>
                        </a:spcBef>
                        <a:tabLst>
                          <a:tab pos="1767839" algn="l"/>
                          <a:tab pos="7172959" algn="l"/>
                        </a:tabLst>
                      </a:pP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prjName</a:t>
                      </a:r>
                      <a:r>
                        <a:rPr sz="1900" spc="2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prjMrg,</a:t>
                      </a:r>
                      <a:r>
                        <a:rPr sz="1900" spc="4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budget,</a:t>
                      </a:r>
                      <a:r>
                        <a:rPr sz="1900" spc="4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startDate	</a:t>
                      </a:r>
                      <a:r>
                        <a:rPr sz="2550" spc="-7" baseline="-14705" dirty="0">
                          <a:solidFill>
                            <a:srgbClr val="004479"/>
                          </a:solidFill>
                          <a:latin typeface="Verdana"/>
                          <a:cs typeface="Verdana"/>
                        </a:rPr>
                        <a:t>Given</a:t>
                      </a:r>
                      <a:r>
                        <a:rPr sz="2550" spc="-52" baseline="-14705" dirty="0">
                          <a:solidFill>
                            <a:srgbClr val="0044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550" spc="7" baseline="-14705" dirty="0">
                          <a:solidFill>
                            <a:srgbClr val="004479"/>
                          </a:solidFill>
                          <a:latin typeface="Verdana"/>
                          <a:cs typeface="Verdana"/>
                        </a:rPr>
                        <a:t>FDs</a:t>
                      </a:r>
                      <a:endParaRPr sz="2550" baseline="-14705">
                        <a:latin typeface="Verdana"/>
                        <a:cs typeface="Verdana"/>
                      </a:endParaRPr>
                    </a:p>
                    <a:p>
                      <a:pPr marL="218440" marR="2278380">
                        <a:lnSpc>
                          <a:spcPts val="2110"/>
                        </a:lnSpc>
                        <a:spcBef>
                          <a:spcPts val="70"/>
                        </a:spcBef>
                        <a:tabLst>
                          <a:tab pos="1476375" algn="l"/>
                          <a:tab pos="2787015" algn="l"/>
                        </a:tabLst>
                      </a:pP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empId</a:t>
                      </a:r>
                      <a:r>
                        <a:rPr sz="19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empName,</a:t>
                      </a:r>
                      <a:r>
                        <a:rPr sz="19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salary,</a:t>
                      </a:r>
                      <a:r>
                        <a:rPr sz="19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empMgr,</a:t>
                      </a:r>
                      <a:r>
                        <a:rPr sz="19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empDept </a:t>
                      </a:r>
                      <a:r>
                        <a:rPr sz="1900" spc="-113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prjName,</a:t>
                      </a:r>
                      <a:r>
                        <a:rPr sz="1900" spc="2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empId</a:t>
                      </a:r>
                      <a:r>
                        <a:rPr sz="1900" spc="3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hours, </a:t>
                      </a:r>
                      <a:r>
                        <a:rPr sz="19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rating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218440">
                        <a:lnSpc>
                          <a:spcPts val="2050"/>
                        </a:lnSpc>
                        <a:tabLst>
                          <a:tab pos="1767839" algn="l"/>
                        </a:tabLst>
                      </a:pPr>
                      <a:r>
                        <a:rPr sz="190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empDept</a:t>
                      </a:r>
                      <a:r>
                        <a:rPr sz="1900" spc="2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90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empMgr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747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73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3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Maxima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747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33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7F7F7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7470" marB="0">
                    <a:lnL w="28575">
                      <a:solidFill>
                        <a:srgbClr val="7F7F7F"/>
                      </a:solidFill>
                      <a:prstDash val="solid"/>
                    </a:lnL>
                    <a:lnR w="28575">
                      <a:solidFill>
                        <a:srgbClr val="7F7F7F"/>
                      </a:solidFill>
                      <a:prstDash val="solid"/>
                    </a:lnR>
                    <a:lnT w="28575">
                      <a:solidFill>
                        <a:srgbClr val="7F7F7F"/>
                      </a:solidFill>
                      <a:prstDash val="solid"/>
                    </a:lnT>
                    <a:lnB w="28575">
                      <a:solidFill>
                        <a:srgbClr val="7F7F7F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F7F7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316850" y="1137920"/>
            <a:ext cx="1976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work_project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4766" y="370840"/>
            <a:ext cx="32277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T</a:t>
            </a:r>
            <a:r>
              <a:rPr sz="4300" spc="-125" dirty="0"/>
              <a:t>ak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40" dirty="0"/>
              <a:t>A</a:t>
            </a:r>
            <a:r>
              <a:rPr sz="4300" spc="-145" dirty="0"/>
              <a:t>w</a:t>
            </a:r>
            <a:r>
              <a:rPr sz="4300" spc="-125" dirty="0"/>
              <a:t>a</a:t>
            </a:r>
            <a:r>
              <a:rPr sz="4300" dirty="0"/>
              <a:t>y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399077" y="1208023"/>
            <a:ext cx="9109710" cy="432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574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reasonable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applicable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endParaRPr sz="2100">
              <a:latin typeface="Verdana"/>
              <a:cs typeface="Verdana"/>
            </a:endParaRPr>
          </a:p>
          <a:p>
            <a:pPr marL="205740" indent="-19304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0574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Understand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characteristics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normal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form</a:t>
            </a:r>
            <a:endParaRPr sz="2100">
              <a:latin typeface="Verdana"/>
              <a:cs typeface="Verdana"/>
            </a:endParaRPr>
          </a:p>
          <a:p>
            <a:pPr marL="205740" marR="5080" indent="-193040">
              <a:lnSpc>
                <a:spcPct val="103800"/>
              </a:lnSpc>
              <a:spcBef>
                <a:spcPts val="2085"/>
              </a:spcBef>
              <a:buFont typeface="Arial MT"/>
              <a:buChar char="•"/>
              <a:tabLst>
                <a:tab pos="20574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tables,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you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analyze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determine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whether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certain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normal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form.</a:t>
            </a:r>
            <a:endParaRPr sz="2100">
              <a:latin typeface="Verdana"/>
              <a:cs typeface="Verdana"/>
            </a:endParaRPr>
          </a:p>
          <a:p>
            <a:pPr marL="205740" marR="293370" indent="-193040">
              <a:lnSpc>
                <a:spcPct val="101400"/>
              </a:lnSpc>
              <a:spcBef>
                <a:spcPts val="2125"/>
              </a:spcBef>
              <a:buFont typeface="Arial MT"/>
              <a:buChar char="•"/>
              <a:tabLst>
                <a:tab pos="20574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they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not,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(or part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violate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properties. 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You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fix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violations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such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desired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normal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form.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208279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you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34"/>
                </a:solidFill>
                <a:latin typeface="Verdana"/>
                <a:cs typeface="Verdana"/>
              </a:rPr>
              <a:t>3NF,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must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292934"/>
                </a:solidFill>
                <a:latin typeface="Verdana"/>
                <a:cs typeface="Verdana"/>
              </a:rPr>
              <a:t>3NF.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92934"/>
              </a:buClr>
              <a:buFont typeface="Arial MT"/>
              <a:buChar char="•"/>
            </a:pPr>
            <a:endParaRPr sz="185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buFont typeface="Arial MT"/>
              <a:buChar char="•"/>
              <a:tabLst>
                <a:tab pos="208279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you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BCNF,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must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BCNF.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639" y="304800"/>
            <a:ext cx="26365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Wrap-Up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639" y="1149579"/>
            <a:ext cx="4558030" cy="485330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45"/>
              </a:spcBef>
              <a:buSzPct val="95652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Properties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Decomposition</a:t>
            </a:r>
            <a:endParaRPr sz="2300">
              <a:latin typeface="Verdana"/>
              <a:cs typeface="Verdana"/>
            </a:endParaRPr>
          </a:p>
          <a:p>
            <a:pPr marL="818515" lvl="1" indent="-307340">
              <a:lnSpc>
                <a:spcPct val="100000"/>
              </a:lnSpc>
              <a:spcBef>
                <a:spcPts val="1135"/>
              </a:spcBef>
              <a:buSzPct val="95238"/>
              <a:buFont typeface="Arial MT"/>
              <a:buChar char="•"/>
              <a:tabLst>
                <a:tab pos="818515" algn="l"/>
                <a:tab pos="81915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Lossless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endParaRPr sz="2100">
              <a:latin typeface="Verdana"/>
              <a:cs typeface="Verdana"/>
            </a:endParaRPr>
          </a:p>
          <a:p>
            <a:pPr marL="818515" lvl="1" indent="-307340">
              <a:lnSpc>
                <a:spcPct val="100000"/>
              </a:lnSpc>
              <a:spcBef>
                <a:spcPts val="1200"/>
              </a:spcBef>
              <a:buSzPct val="95238"/>
              <a:buFont typeface="Arial MT"/>
              <a:buChar char="•"/>
              <a:tabLst>
                <a:tab pos="818515" algn="l"/>
                <a:tab pos="819150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preserving</a:t>
            </a:r>
            <a:endParaRPr sz="2100">
              <a:latin typeface="Verdana"/>
              <a:cs typeface="Verdana"/>
            </a:endParaRPr>
          </a:p>
          <a:p>
            <a:pPr marL="818515" lvl="1" indent="-307340">
              <a:lnSpc>
                <a:spcPct val="100000"/>
              </a:lnSpc>
              <a:spcBef>
                <a:spcPts val="1080"/>
              </a:spcBef>
              <a:buSzPct val="95238"/>
              <a:buFont typeface="Arial MT"/>
              <a:buChar char="•"/>
              <a:tabLst>
                <a:tab pos="818515" algn="l"/>
                <a:tab pos="81915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endParaRPr sz="21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2175"/>
              </a:spcBef>
              <a:buSzPct val="95652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Overview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normal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forms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292934"/>
              </a:buClr>
              <a:buFont typeface="Arial MT"/>
              <a:buChar char="•"/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What’s</a:t>
            </a:r>
            <a:r>
              <a:rPr sz="2300" b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next?</a:t>
            </a:r>
            <a:endParaRPr sz="2300">
              <a:latin typeface="Verdana"/>
              <a:cs typeface="Verdana"/>
            </a:endParaRPr>
          </a:p>
          <a:p>
            <a:pPr marL="813435" lvl="1" indent="-320675">
              <a:lnSpc>
                <a:spcPct val="100000"/>
              </a:lnSpc>
              <a:spcBef>
                <a:spcPts val="1730"/>
              </a:spcBef>
              <a:buSzPct val="95652"/>
              <a:buFont typeface="Arial MT"/>
              <a:buChar char="•"/>
              <a:tabLst>
                <a:tab pos="813435" algn="l"/>
                <a:tab pos="81406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endParaRPr sz="2300">
              <a:latin typeface="Verdana"/>
              <a:cs typeface="Verdana"/>
            </a:endParaRPr>
          </a:p>
          <a:p>
            <a:pPr marL="813435" lvl="1" indent="-320675">
              <a:lnSpc>
                <a:spcPct val="100000"/>
              </a:lnSpc>
              <a:spcBef>
                <a:spcPts val="1750"/>
              </a:spcBef>
              <a:buSzPct val="95652"/>
              <a:buFont typeface="Arial MT"/>
              <a:buChar char="•"/>
              <a:tabLst>
                <a:tab pos="813435" algn="l"/>
                <a:tab pos="814069" algn="l"/>
              </a:tabLst>
            </a:pP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decomposition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2423</TotalTime>
  <Words>4429</Words>
  <Application>Microsoft Macintosh PowerPoint</Application>
  <PresentationFormat>Custom</PresentationFormat>
  <Paragraphs>1529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Arial</vt:lpstr>
      <vt:lpstr>Arial MT</vt:lpstr>
      <vt:lpstr>Calibri</vt:lpstr>
      <vt:lpstr>Calibri Light</vt:lpstr>
      <vt:lpstr>Cambria Math</vt:lpstr>
      <vt:lpstr>Courier New</vt:lpstr>
      <vt:lpstr>Google Sans</vt:lpstr>
      <vt:lpstr>Times New Roman</vt:lpstr>
      <vt:lpstr>Verdana</vt:lpstr>
      <vt:lpstr>Wingdings</vt:lpstr>
      <vt:lpstr>Office Theme</vt:lpstr>
      <vt:lpstr>Normalization</vt:lpstr>
      <vt:lpstr>Functional Dependencies (FD)</vt:lpstr>
      <vt:lpstr>Recap: FD</vt:lpstr>
      <vt:lpstr>Recap: FD</vt:lpstr>
      <vt:lpstr>Recap: FD</vt:lpstr>
      <vt:lpstr>Recap: Attribute Closure</vt:lpstr>
      <vt:lpstr>General Design Guidelines</vt:lpstr>
      <vt:lpstr>Normalization</vt:lpstr>
      <vt:lpstr>Schema Refinement</vt:lpstr>
      <vt:lpstr>Decomposition</vt:lpstr>
      <vt:lpstr>Properties of Decomposition</vt:lpstr>
      <vt:lpstr>Lossless-Join Decomposition</vt:lpstr>
      <vt:lpstr>Lossless-Join Decomposition</vt:lpstr>
      <vt:lpstr>Let’s Try (1)</vt:lpstr>
      <vt:lpstr>Let’s Try (2)</vt:lpstr>
      <vt:lpstr>Normalization</vt:lpstr>
      <vt:lpstr>First Normal Form (1NF)</vt:lpstr>
      <vt:lpstr>Second Normal Form (2NF)</vt:lpstr>
      <vt:lpstr>Second Normal Form (2NF)</vt:lpstr>
      <vt:lpstr>Third Normal Form (3NF)</vt:lpstr>
      <vt:lpstr>Third Normal Form (3NF)</vt:lpstr>
      <vt:lpstr>Boyce-Codd Normal Form (BCNF)</vt:lpstr>
      <vt:lpstr>Boyce-Codd Normal Form (BCNF)</vt:lpstr>
      <vt:lpstr>Recap: Normal Forms</vt:lpstr>
      <vt:lpstr>Boyce-Codd Normal Form (BCNF)</vt:lpstr>
      <vt:lpstr>Boyce-Codd Normal Form (BCNF)</vt:lpstr>
      <vt:lpstr>2NF and 3NF flowchart</vt:lpstr>
      <vt:lpstr>Example</vt:lpstr>
      <vt:lpstr>Assumptions We Made</vt:lpstr>
      <vt:lpstr>Assumptions We Made (2)</vt:lpstr>
      <vt:lpstr>List of FDs</vt:lpstr>
      <vt:lpstr>Is work_project Table in 1NF?</vt:lpstr>
      <vt:lpstr>Is work_project Table in 2NF?</vt:lpstr>
      <vt:lpstr>Use 2NF, Decompose work_project</vt:lpstr>
      <vt:lpstr>Is work_project Table in 3NF?</vt:lpstr>
      <vt:lpstr>Is work_project Table in 3NF?</vt:lpstr>
      <vt:lpstr>Use 3NF, Decompose work_project</vt:lpstr>
      <vt:lpstr>Sample Data</vt:lpstr>
      <vt:lpstr>Is work_project Table in BCNF?</vt:lpstr>
      <vt:lpstr>Use BCNF, Decompose work_project</vt:lpstr>
      <vt:lpstr>Take Away</vt:lpstr>
      <vt:lpstr>Wrap-Up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4750meet09-normalization-present</dc:title>
  <dc:creator>upsorn</dc:creator>
  <cp:lastModifiedBy>Farhan Tanvir</cp:lastModifiedBy>
  <cp:revision>40</cp:revision>
  <dcterms:created xsi:type="dcterms:W3CDTF">2023-10-22T21:08:21Z</dcterms:created>
  <dcterms:modified xsi:type="dcterms:W3CDTF">2026-03-25T15:51:32Z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2023-09-14T00:00:00Z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2023-10-22T00:00:00Z</vt:filetime>
  </property>
</Properties>
</file>