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49"/>
  </p:notesMasterIdLst>
  <p:sldIdLst>
    <p:sldId id="256" r:id="rId2"/>
    <p:sldId id="312" r:id="rId3"/>
    <p:sldId id="257" r:id="rId4"/>
    <p:sldId id="258" r:id="rId5"/>
    <p:sldId id="306" r:id="rId6"/>
    <p:sldId id="307" r:id="rId7"/>
    <p:sldId id="308" r:id="rId8"/>
    <p:sldId id="309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10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9" r:id="rId34"/>
    <p:sldId id="291" r:id="rId35"/>
    <p:sldId id="313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4" r:id="rId47"/>
    <p:sldId id="305" r:id="rId48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558"/>
  </p:normalViewPr>
  <p:slideViewPr>
    <p:cSldViewPr>
      <p:cViewPr varScale="1">
        <p:scale>
          <a:sx n="107" d="100"/>
          <a:sy n="107" d="100"/>
        </p:scale>
        <p:origin x="1648" y="1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7B8CD7-39E7-3240-A3D3-A48E85D3A410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8E36C1-9EAD-8F49-B853-7270BB7AC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64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E36C1-9EAD-8F49-B853-7270BB7ACF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278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78ED-5B5E-2A80-322A-3072E853C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272011"/>
            <a:ext cx="7543800" cy="270594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299DA3-EF21-697D-7964-9A0786C81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ECE4F-2B4E-A964-5C7E-B2644FD8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4551A-5DF9-8B10-8593-8D6F1ABF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1BE17-508E-F434-9DE8-AFDE5342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020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294CA-CB16-3C7E-9840-6BCF92960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13F20-5A62-363C-2B6C-A234B4032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3CB13-AC1B-9DCA-457C-8506A49A8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0BF5F-0F40-041C-93CE-B337FD0A0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1A911-C236-66D0-6F7C-A7FB4F55C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750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C0C14-91BA-71B0-C56E-BE5F8F84D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60643-8F0B-7963-F440-2FDF710F6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16B4D-D317-4B2D-AEE1-8F253259F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F80F1-C5E3-36D6-5D40-1AAA07B82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8ECEB-EF5A-856C-EB68-A1C6A0514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73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0FD63-4A79-6C86-D61F-300A17721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35FD2-BE67-2305-C7C2-584CAA5568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4EF93-FF86-144E-3216-544CBFE5A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1D779-08A0-7101-D604-ED669E42C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C2356-D408-0003-E6A7-4E73D2D7D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44303-15C8-AB34-AB33-8BCD20A7E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823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EE3F-4F44-621C-6ED6-39A32068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413809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99A33-4CC9-6C70-5ADF-FADEDF29B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77660-76AA-981A-FC14-44BE7F62F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08377A-6257-49B5-325E-938067C215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92065" y="1905318"/>
            <a:ext cx="4276130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F8C72-7ED0-8EE3-8D48-75D59CBEBD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92065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674AFE-9B03-DF68-57D7-7E8B046F5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85DDA0-AE33-43C0-0A9A-91AAC6DE7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2C1770-2949-F543-31A0-4E6A9C1BF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172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B4293-6D86-7B81-F0BB-154FA2581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C052C4-CC7B-278A-D423-617FE08C3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F44DCB-D6FE-63F2-D848-59300C60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15942-6095-BACA-6BC1-37415011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003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2AE70A-95B7-BC39-D55C-7C0AD89DE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44D832-CFAB-5396-EB4E-6673F80CD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9FF9F-103A-D64F-FAD8-E8752F4A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06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87529-FDD5-5BD3-38A0-67593AAE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51DE8-D876-0D5F-8C99-9B04A40D4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02F08-EDAA-64F9-B64F-DC6720184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5F42C-0559-30AA-4CAD-F198F5575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DCFDD-53C1-988A-EC78-2A3C48A12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8DFB3-2EB3-EB34-E4AE-B8277F3C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002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A0D3A-C052-93B0-059E-B82DDF78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C9B2D6-00CC-5EA5-3A81-1E1A44C531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0288D-0D7B-D0AA-9389-A8DF80B44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1B457-7083-A2CC-8FE0-8D5B29146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D42AF-6EC5-4481-6DEC-D32D1BEF1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7D648-01B2-D1EB-93BC-321C14905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16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7B82D-88C5-D47B-A309-17BB83515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62AE0B-C103-B9A9-BA06-6F2615BFF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3FB59-C199-FFCD-3303-C20F3F3ED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3053C-3093-C496-50D7-B8B6C290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610A6-1F24-6803-5DD3-67E97A1E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783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997AE3-44F5-1BF2-DF4B-1C69905FE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98042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5C91F3-B9CD-5883-B4BA-2EB0720B0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13049-73E0-E86E-11EA-9281AA88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533D3-CF9D-FAB8-6954-13B3A11F4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A270B-5B2A-8A19-E794-795C95B99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473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7EDF21-BF6A-4387-A4C4-75B6E9F7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2BAC3-33F6-466C-2D29-189114038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9359B-A784-F11C-6B7D-6034816806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DB1BE-8C83-C07A-B49F-0E36A6DB4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4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FEB75-C1EA-D3A1-032F-7216BFF21A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216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86383" y="3642359"/>
            <a:ext cx="8453120" cy="0"/>
          </a:xfrm>
          <a:custGeom>
            <a:avLst/>
            <a:gdLst/>
            <a:ahLst/>
            <a:cxnLst/>
            <a:rect l="l" t="t" r="r" b="b"/>
            <a:pathLst>
              <a:path w="8453120">
                <a:moveTo>
                  <a:pt x="0" y="0"/>
                </a:moveTo>
                <a:lnTo>
                  <a:pt x="8453119" y="1"/>
                </a:lnTo>
              </a:path>
            </a:pathLst>
          </a:custGeom>
          <a:ln w="40639">
            <a:solidFill>
              <a:srgbClr val="431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82025" y="2375364"/>
            <a:ext cx="7045325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800" spc="-95" dirty="0"/>
              <a:t>SQL</a:t>
            </a:r>
            <a:r>
              <a:rPr sz="5800" spc="-300" dirty="0"/>
              <a:t> </a:t>
            </a:r>
            <a:r>
              <a:rPr sz="5800" dirty="0"/>
              <a:t>–</a:t>
            </a:r>
            <a:r>
              <a:rPr sz="5800" spc="-295" dirty="0"/>
              <a:t> </a:t>
            </a:r>
            <a:r>
              <a:rPr sz="5800" spc="-135" dirty="0"/>
              <a:t>Subqueries</a:t>
            </a:r>
            <a:endParaRPr sz="5800" dirty="0"/>
          </a:p>
        </p:txBody>
      </p:sp>
      <p:sp>
        <p:nvSpPr>
          <p:cNvPr id="5" name="object 5"/>
          <p:cNvSpPr txBox="1"/>
          <p:nvPr/>
        </p:nvSpPr>
        <p:spPr>
          <a:xfrm>
            <a:off x="2471420" y="3886200"/>
            <a:ext cx="5120640" cy="1211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670"/>
              </a:lnSpc>
              <a:spcBef>
                <a:spcPts val="100"/>
              </a:spcBef>
            </a:pPr>
            <a:r>
              <a:rPr sz="4100" b="1" spc="-14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4100" b="1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4100" b="1" spc="-2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100" b="1" spc="-145" dirty="0">
                <a:solidFill>
                  <a:srgbClr val="292934"/>
                </a:solidFill>
                <a:latin typeface="Verdana"/>
                <a:cs typeface="Verdana"/>
              </a:rPr>
              <a:t>47</a:t>
            </a:r>
            <a:r>
              <a:rPr lang="en-US" sz="4100" b="1" spc="-145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4100" b="1" spc="-145" dirty="0">
                <a:solidFill>
                  <a:srgbClr val="292934"/>
                </a:solidFill>
                <a:latin typeface="Verdana"/>
                <a:cs typeface="Verdana"/>
              </a:rPr>
              <a:t>0</a:t>
            </a:r>
            <a:endParaRPr sz="4100" dirty="0">
              <a:latin typeface="Verdana"/>
              <a:cs typeface="Verdana"/>
            </a:endParaRPr>
          </a:p>
          <a:p>
            <a:pPr algn="ctr">
              <a:lnSpc>
                <a:spcPts val="4670"/>
              </a:lnSpc>
            </a:pPr>
            <a:r>
              <a:rPr sz="4100" b="1" spc="-1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ata</a:t>
            </a:r>
            <a:r>
              <a:rPr sz="4100" b="1" spc="-13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4100" b="1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4100" b="1" spc="-2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Syste</a:t>
            </a:r>
            <a:r>
              <a:rPr sz="4100" b="1" spc="-155" dirty="0">
                <a:solidFill>
                  <a:srgbClr val="292934"/>
                </a:solidFill>
                <a:latin typeface="Verdana"/>
                <a:cs typeface="Verdana"/>
              </a:rPr>
              <a:t>ms</a:t>
            </a:r>
            <a:endParaRPr sz="4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493FA-C0E6-E1B1-EE55-9B93A544A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80D7E-FA48-9A25-DD1F-4981F18B5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Zybook</a:t>
            </a:r>
            <a:r>
              <a:rPr lang="en-US" dirty="0"/>
              <a:t> Assignment 2 due on 03/08</a:t>
            </a:r>
          </a:p>
          <a:p>
            <a:r>
              <a:rPr lang="en-US" dirty="0"/>
              <a:t>Project phase 3 due on 03/06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202122"/>
                </a:solidFill>
                <a:effectLst/>
                <a:latin typeface="Lato" panose="020F0502020204030203" pitchFamily="34" charset="0"/>
              </a:rPr>
              <a:t>Each group must submit a detailed and well thought-out development plan including the following: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202122"/>
                </a:solidFill>
                <a:effectLst/>
                <a:latin typeface="Lato" panose="020F0502020204030203" pitchFamily="34" charset="0"/>
              </a:rPr>
              <a:t>The relational schema of your database. Remember to include all keys. Convert the ER diagram from phase 2 to relational model.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202122"/>
                </a:solidFill>
                <a:effectLst/>
                <a:latin typeface="Lato" panose="020F0502020204030203" pitchFamily="34" charset="0"/>
              </a:rPr>
              <a:t>The final choice of databases and software platforms/languages that you will be using.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202122"/>
                </a:solidFill>
                <a:effectLst/>
                <a:latin typeface="Lato" panose="020F0502020204030203" pitchFamily="34" charset="0"/>
              </a:rPr>
              <a:t>Where and how you will get data for your application. Do you get it from the web, some other application, or do you make it up.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202122"/>
                </a:solidFill>
                <a:effectLst/>
                <a:latin typeface="Lato" panose="020F0502020204030203" pitchFamily="34" charset="0"/>
              </a:rPr>
              <a:t>Describe the labor division among group members.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202122"/>
                </a:solidFill>
                <a:effectLst/>
                <a:latin typeface="Lato" panose="020F0502020204030203" pitchFamily="34" charset="0"/>
              </a:rPr>
              <a:t>A project timeline with milestones. Provide a 4-6 weeks plan for your project's implementation.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843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7159" y="236651"/>
          <a:ext cx="9752964" cy="8799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0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33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7F7F7F"/>
                      </a:solidFill>
                      <a:prstDash val="solid"/>
                    </a:lnR>
                    <a:solidFill>
                      <a:srgbClr val="E6E6FA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ts val="1780"/>
                        </a:lnSpc>
                      </a:pPr>
                      <a:r>
                        <a:rPr sz="1500" spc="-10" dirty="0">
                          <a:solidFill>
                            <a:srgbClr val="7F7F7F"/>
                          </a:solidFill>
                          <a:latin typeface="Arial MT"/>
                          <a:cs typeface="Arial MT"/>
                        </a:rPr>
                        <a:t>revisit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7F7F7F"/>
                      </a:solidFill>
                      <a:prstDash val="solid"/>
                    </a:lnL>
                    <a:lnR w="12700">
                      <a:solidFill>
                        <a:srgbClr val="7F7F7F"/>
                      </a:solidFill>
                      <a:prstDash val="solid"/>
                    </a:lnR>
                    <a:lnT w="12700">
                      <a:solidFill>
                        <a:srgbClr val="7F7F7F"/>
                      </a:solidFill>
                      <a:prstDash val="solid"/>
                    </a:lnT>
                    <a:lnB w="12700">
                      <a:solidFill>
                        <a:srgbClr val="7F7F7F"/>
                      </a:solidFill>
                      <a:prstDash val="solid"/>
                    </a:lnB>
                    <a:solidFill>
                      <a:srgbClr val="E6E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F7F7F"/>
                      </a:solidFill>
                      <a:prstDash val="solid"/>
                    </a:lnL>
                    <a:solidFill>
                      <a:srgbClr val="E6E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653">
                <a:tc gridSpan="3">
                  <a:txBody>
                    <a:bodyPr/>
                    <a:lstStyle/>
                    <a:p>
                      <a:pPr marL="636270">
                        <a:lnSpc>
                          <a:spcPts val="3579"/>
                        </a:lnSpc>
                      </a:pPr>
                      <a:r>
                        <a:rPr sz="4200" b="1" spc="-14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4200" b="1" spc="-14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gg</a:t>
                      </a:r>
                      <a:r>
                        <a:rPr sz="4200" b="1" spc="-13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4200" b="1" spc="-14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ega</a:t>
                      </a:r>
                      <a:r>
                        <a:rPr sz="4200" b="1" spc="-13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4200" b="1" spc="-12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4200" b="1" spc="-14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4200" b="1" spc="-13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4200" b="1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4200" b="1" spc="-23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4200" b="1" spc="-14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4200" b="1" spc="-13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4200" b="1" spc="-14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4200" b="1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4200" b="1" spc="-24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4200" b="1" spc="-14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4200" b="1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f</a:t>
                      </a:r>
                      <a:r>
                        <a:rPr sz="4200" b="1" spc="-23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4200" b="1" spc="-14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4200" b="1" spc="-12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ct</a:t>
                      </a:r>
                      <a:r>
                        <a:rPr sz="4200" b="1" spc="-12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4200" b="1" spc="-14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4200" b="1" spc="-13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4200" b="1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s</a:t>
                      </a:r>
                      <a:endParaRPr sz="42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38100">
                      <a:solidFill>
                        <a:srgbClr val="431FAA"/>
                      </a:solidFill>
                      <a:prstDash val="solid"/>
                    </a:lnB>
                    <a:solidFill>
                      <a:srgbClr val="E6E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549967" y="3415791"/>
            <a:ext cx="9095105" cy="324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770" indent="-43370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45770" algn="l"/>
                <a:tab pos="446405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generates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1900">
              <a:latin typeface="Verdana"/>
              <a:cs typeface="Verdana"/>
            </a:endParaRPr>
          </a:p>
          <a:p>
            <a:pPr marL="445770" indent="-433705">
              <a:lnSpc>
                <a:spcPct val="100000"/>
              </a:lnSpc>
              <a:spcBef>
                <a:spcPts val="1510"/>
              </a:spcBef>
              <a:buAutoNum type="arabicPeriod"/>
              <a:tabLst>
                <a:tab pos="445770" algn="l"/>
                <a:tab pos="446405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WHERE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filters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generated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1900">
              <a:latin typeface="Verdana"/>
              <a:cs typeface="Verdana"/>
            </a:endParaRPr>
          </a:p>
          <a:p>
            <a:pPr marL="445770" marR="5080" indent="-433705">
              <a:lnSpc>
                <a:spcPts val="2020"/>
              </a:lnSpc>
              <a:spcBef>
                <a:spcPts val="1795"/>
              </a:spcBef>
              <a:buAutoNum type="arabicPeriod"/>
              <a:tabLst>
                <a:tab pos="445770" algn="l"/>
                <a:tab pos="446405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aggregates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was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filtered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WHERE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(note: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sort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result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set)</a:t>
            </a:r>
            <a:endParaRPr sz="1900">
              <a:latin typeface="Verdana"/>
              <a:cs typeface="Verdana"/>
            </a:endParaRPr>
          </a:p>
          <a:p>
            <a:pPr marL="445770" marR="447040" indent="-433705">
              <a:lnSpc>
                <a:spcPts val="2110"/>
              </a:lnSpc>
              <a:spcBef>
                <a:spcPts val="1700"/>
              </a:spcBef>
              <a:buAutoNum type="arabicPeriod"/>
              <a:tabLst>
                <a:tab pos="445770" algn="l"/>
                <a:tab pos="446405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HAVING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filters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was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aggregated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1900">
              <a:latin typeface="Verdana"/>
              <a:cs typeface="Verdana"/>
            </a:endParaRPr>
          </a:p>
          <a:p>
            <a:pPr marL="445770" indent="-433705">
              <a:lnSpc>
                <a:spcPct val="100000"/>
              </a:lnSpc>
              <a:spcBef>
                <a:spcPts val="1470"/>
              </a:spcBef>
              <a:buAutoNum type="arabicPeriod"/>
              <a:tabLst>
                <a:tab pos="445770" algn="l"/>
                <a:tab pos="446405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SELECT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transforms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filtered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aggregated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1900">
              <a:latin typeface="Verdana"/>
              <a:cs typeface="Verdana"/>
            </a:endParaRPr>
          </a:p>
          <a:p>
            <a:pPr marL="445770" indent="-433705">
              <a:lnSpc>
                <a:spcPct val="100000"/>
              </a:lnSpc>
              <a:spcBef>
                <a:spcPts val="1510"/>
              </a:spcBef>
              <a:buAutoNum type="arabicPeriod"/>
              <a:tabLst>
                <a:tab pos="445770" algn="l"/>
                <a:tab pos="446405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ORDER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sorts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transformed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1005" y="1238783"/>
            <a:ext cx="8064500" cy="179451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897890">
              <a:lnSpc>
                <a:spcPts val="2135"/>
              </a:lnSpc>
              <a:spcBef>
                <a:spcPts val="53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900" spc="-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i="1" spc="5" dirty="0">
                <a:solidFill>
                  <a:srgbClr val="292934"/>
                </a:solidFill>
                <a:latin typeface="Courier New"/>
                <a:cs typeface="Courier New"/>
              </a:rPr>
              <a:t>select_list</a:t>
            </a:r>
            <a:endParaRPr sz="1900">
              <a:latin typeface="Courier New"/>
              <a:cs typeface="Courier New"/>
            </a:endParaRPr>
          </a:p>
          <a:p>
            <a:pPr marL="897890">
              <a:lnSpc>
                <a:spcPts val="2050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900" spc="-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i="1" spc="5" dirty="0">
                <a:solidFill>
                  <a:srgbClr val="292934"/>
                </a:solidFill>
                <a:latin typeface="Courier New"/>
                <a:cs typeface="Courier New"/>
              </a:rPr>
              <a:t>table_source</a:t>
            </a:r>
            <a:endParaRPr sz="1900">
              <a:latin typeface="Courier New"/>
              <a:cs typeface="Courier New"/>
            </a:endParaRPr>
          </a:p>
          <a:p>
            <a:pPr marL="897890" marR="2790190">
              <a:lnSpc>
                <a:spcPct val="92100"/>
              </a:lnSpc>
              <a:spcBef>
                <a:spcPts val="9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[WHERE</a:t>
            </a:r>
            <a:r>
              <a:rPr sz="1900" spc="2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i="1" dirty="0">
                <a:solidFill>
                  <a:srgbClr val="292934"/>
                </a:solidFill>
                <a:latin typeface="Courier New"/>
                <a:cs typeface="Courier New"/>
              </a:rPr>
              <a:t>search_condition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]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[GROUP</a:t>
            </a:r>
            <a:r>
              <a:rPr sz="19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9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i="1" dirty="0">
                <a:solidFill>
                  <a:srgbClr val="292934"/>
                </a:solidFill>
                <a:latin typeface="Courier New"/>
                <a:cs typeface="Courier New"/>
              </a:rPr>
              <a:t>group_by_expression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]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[HAVING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i="1" dirty="0">
                <a:solidFill>
                  <a:srgbClr val="292934"/>
                </a:solidFill>
                <a:latin typeface="Courier New"/>
                <a:cs typeface="Courier New"/>
              </a:rPr>
              <a:t>search_condition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]</a:t>
            </a:r>
            <a:endParaRPr sz="1900">
              <a:latin typeface="Courier New"/>
              <a:cs typeface="Courier New"/>
            </a:endParaRPr>
          </a:p>
          <a:p>
            <a:pPr marL="897890">
              <a:lnSpc>
                <a:spcPts val="2090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[ORDER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i="1" dirty="0">
                <a:solidFill>
                  <a:srgbClr val="292934"/>
                </a:solidFill>
                <a:latin typeface="Courier New"/>
                <a:cs typeface="Courier New"/>
              </a:rPr>
              <a:t>order_expression</a:t>
            </a:r>
            <a:r>
              <a:rPr sz="1900" i="1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[ASC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|</a:t>
            </a:r>
            <a:r>
              <a:rPr sz="19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DESC]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]</a:t>
            </a:r>
            <a:endParaRPr sz="190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89064" y="3197351"/>
            <a:ext cx="2776728" cy="8412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220695" y="3213507"/>
            <a:ext cx="2395855" cy="47180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234950">
              <a:lnSpc>
                <a:spcPct val="100000"/>
              </a:lnSpc>
              <a:spcBef>
                <a:spcPts val="505"/>
              </a:spcBef>
            </a:pP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r>
              <a:rPr sz="2100" spc="-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matters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7159" y="236651"/>
          <a:ext cx="9752964" cy="8799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0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33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7F7F7F"/>
                      </a:solidFill>
                      <a:prstDash val="solid"/>
                    </a:lnR>
                    <a:solidFill>
                      <a:srgbClr val="E6E6FA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ts val="1780"/>
                        </a:lnSpc>
                      </a:pPr>
                      <a:r>
                        <a:rPr sz="1500" spc="-10" dirty="0">
                          <a:solidFill>
                            <a:srgbClr val="7F7F7F"/>
                          </a:solidFill>
                          <a:latin typeface="Arial MT"/>
                          <a:cs typeface="Arial MT"/>
                        </a:rPr>
                        <a:t>revisit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7F7F7F"/>
                      </a:solidFill>
                      <a:prstDash val="solid"/>
                    </a:lnL>
                    <a:lnR w="12700">
                      <a:solidFill>
                        <a:srgbClr val="7F7F7F"/>
                      </a:solidFill>
                      <a:prstDash val="solid"/>
                    </a:lnR>
                    <a:lnT w="12700">
                      <a:solidFill>
                        <a:srgbClr val="7F7F7F"/>
                      </a:solidFill>
                      <a:prstDash val="solid"/>
                    </a:lnT>
                    <a:lnB w="12700">
                      <a:solidFill>
                        <a:srgbClr val="7F7F7F"/>
                      </a:solidFill>
                      <a:prstDash val="solid"/>
                    </a:lnB>
                    <a:solidFill>
                      <a:srgbClr val="E6E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F7F7F"/>
                      </a:solidFill>
                      <a:prstDash val="solid"/>
                    </a:lnL>
                    <a:solidFill>
                      <a:srgbClr val="E6E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653">
                <a:tc gridSpan="3">
                  <a:txBody>
                    <a:bodyPr/>
                    <a:lstStyle/>
                    <a:p>
                      <a:pPr marL="14604" algn="ctr">
                        <a:lnSpc>
                          <a:spcPts val="3620"/>
                        </a:lnSpc>
                      </a:pPr>
                      <a:r>
                        <a:rPr sz="4300" b="1" spc="-10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Joins</a:t>
                      </a:r>
                      <a:endParaRPr sz="43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38100">
                      <a:solidFill>
                        <a:srgbClr val="431FAA"/>
                      </a:solidFill>
                      <a:prstDash val="solid"/>
                    </a:lnB>
                    <a:solidFill>
                      <a:srgbClr val="E6E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8169" y="1195832"/>
            <a:ext cx="45008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0" spc="10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2100" b="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0" spc="15" dirty="0">
                <a:solidFill>
                  <a:srgbClr val="292934"/>
                </a:solidFill>
                <a:latin typeface="Verdana"/>
                <a:cs typeface="Verdana"/>
              </a:rPr>
              <a:t>combines</a:t>
            </a:r>
            <a:r>
              <a:rPr sz="2100" b="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b="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0" spc="10" dirty="0">
                <a:solidFill>
                  <a:srgbClr val="292934"/>
                </a:solidFill>
                <a:latin typeface="Verdana"/>
                <a:cs typeface="Verdana"/>
              </a:rPr>
              <a:t>across</a:t>
            </a:r>
            <a:r>
              <a:rPr sz="2100" b="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5102" y="1574292"/>
            <a:ext cx="9197340" cy="23266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486409" indent="-246379">
              <a:lnSpc>
                <a:spcPct val="100000"/>
              </a:lnSpc>
              <a:spcBef>
                <a:spcPts val="505"/>
              </a:spcBef>
              <a:buSzPct val="95000"/>
              <a:buFont typeface="Arial MT"/>
              <a:buChar char="•"/>
              <a:tabLst>
                <a:tab pos="486409" algn="l"/>
                <a:tab pos="487045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Nested-loop</a:t>
            </a:r>
            <a:endParaRPr sz="2000">
              <a:latin typeface="Verdana"/>
              <a:cs typeface="Verdana"/>
            </a:endParaRPr>
          </a:p>
          <a:p>
            <a:pPr marL="486409" indent="-246379">
              <a:lnSpc>
                <a:spcPct val="100000"/>
              </a:lnSpc>
              <a:spcBef>
                <a:spcPts val="409"/>
              </a:spcBef>
              <a:buSzPct val="95000"/>
              <a:buFont typeface="Arial MT"/>
              <a:buChar char="•"/>
              <a:tabLst>
                <a:tab pos="486409" algn="l"/>
                <a:tab pos="487045" algn="l"/>
              </a:tabLst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Natural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(most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common)</a:t>
            </a:r>
            <a:endParaRPr sz="2000">
              <a:latin typeface="Verdana"/>
              <a:cs typeface="Verdana"/>
            </a:endParaRPr>
          </a:p>
          <a:p>
            <a:pPr marL="486409" indent="-246379">
              <a:lnSpc>
                <a:spcPct val="100000"/>
              </a:lnSpc>
              <a:spcBef>
                <a:spcPts val="384"/>
              </a:spcBef>
              <a:buSzPct val="95000"/>
              <a:buFont typeface="Arial MT"/>
              <a:buChar char="•"/>
              <a:tabLst>
                <a:tab pos="486409" algn="l"/>
                <a:tab pos="487045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Inner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join (filter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Cartesian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product)</a:t>
            </a:r>
            <a:endParaRPr sz="2000">
              <a:latin typeface="Verdana"/>
              <a:cs typeface="Verdana"/>
            </a:endParaRPr>
          </a:p>
          <a:p>
            <a:pPr marL="486409" indent="-246379">
              <a:lnSpc>
                <a:spcPct val="100000"/>
              </a:lnSpc>
              <a:spcBef>
                <a:spcPts val="500"/>
              </a:spcBef>
              <a:buSzPct val="95000"/>
              <a:buFont typeface="Arial MT"/>
              <a:buChar char="•"/>
              <a:tabLst>
                <a:tab pos="486409" algn="l"/>
                <a:tab pos="487045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Outer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joins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(preserve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non-matching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tuples)</a:t>
            </a:r>
            <a:endParaRPr sz="2000">
              <a:latin typeface="Verdana"/>
              <a:cs typeface="Verdana"/>
            </a:endParaRPr>
          </a:p>
          <a:p>
            <a:pPr marL="486409" indent="-246379">
              <a:lnSpc>
                <a:spcPct val="100000"/>
              </a:lnSpc>
              <a:spcBef>
                <a:spcPts val="409"/>
              </a:spcBef>
              <a:buSzPct val="95000"/>
              <a:buFont typeface="Arial MT"/>
              <a:buChar char="•"/>
              <a:tabLst>
                <a:tab pos="486409" algn="l"/>
                <a:tab pos="487045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Self</a:t>
            </a:r>
            <a:r>
              <a:rPr sz="20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pattern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Different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joining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techniques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achieve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particular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goals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262045" y="5282322"/>
            <a:ext cx="1143635" cy="1091565"/>
            <a:chOff x="5262045" y="5282322"/>
            <a:chExt cx="1143635" cy="1091565"/>
          </a:xfrm>
        </p:grpSpPr>
        <p:sp>
          <p:nvSpPr>
            <p:cNvPr id="7" name="object 7"/>
            <p:cNvSpPr/>
            <p:nvPr/>
          </p:nvSpPr>
          <p:spPr>
            <a:xfrm>
              <a:off x="5276332" y="5296610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60" h="1062989">
                  <a:moveTo>
                    <a:pt x="557348" y="0"/>
                  </a:moveTo>
                  <a:lnTo>
                    <a:pt x="509258" y="1949"/>
                  </a:lnTo>
                  <a:lnTo>
                    <a:pt x="462304" y="7693"/>
                  </a:lnTo>
                  <a:lnTo>
                    <a:pt x="416653" y="17070"/>
                  </a:lnTo>
                  <a:lnTo>
                    <a:pt x="372472" y="29922"/>
                  </a:lnTo>
                  <a:lnTo>
                    <a:pt x="329930" y="46089"/>
                  </a:lnTo>
                  <a:lnTo>
                    <a:pt x="289193" y="65412"/>
                  </a:lnTo>
                  <a:lnTo>
                    <a:pt x="250428" y="87731"/>
                  </a:lnTo>
                  <a:lnTo>
                    <a:pt x="213803" y="112887"/>
                  </a:lnTo>
                  <a:lnTo>
                    <a:pt x="179485" y="140720"/>
                  </a:lnTo>
                  <a:lnTo>
                    <a:pt x="147641" y="171071"/>
                  </a:lnTo>
                  <a:lnTo>
                    <a:pt x="118439" y="203781"/>
                  </a:lnTo>
                  <a:lnTo>
                    <a:pt x="92046" y="238689"/>
                  </a:lnTo>
                  <a:lnTo>
                    <a:pt x="68629" y="275636"/>
                  </a:lnTo>
                  <a:lnTo>
                    <a:pt x="48356" y="314464"/>
                  </a:lnTo>
                  <a:lnTo>
                    <a:pt x="31394" y="355012"/>
                  </a:lnTo>
                  <a:lnTo>
                    <a:pt x="17910" y="397122"/>
                  </a:lnTo>
                  <a:lnTo>
                    <a:pt x="8071" y="440633"/>
                  </a:lnTo>
                  <a:lnTo>
                    <a:pt x="2045" y="485386"/>
                  </a:lnTo>
                  <a:lnTo>
                    <a:pt x="0" y="531221"/>
                  </a:lnTo>
                  <a:lnTo>
                    <a:pt x="2045" y="577057"/>
                  </a:lnTo>
                  <a:lnTo>
                    <a:pt x="8071" y="621811"/>
                  </a:lnTo>
                  <a:lnTo>
                    <a:pt x="17910" y="665322"/>
                  </a:lnTo>
                  <a:lnTo>
                    <a:pt x="31394" y="707431"/>
                  </a:lnTo>
                  <a:lnTo>
                    <a:pt x="48356" y="747980"/>
                  </a:lnTo>
                  <a:lnTo>
                    <a:pt x="68629" y="786807"/>
                  </a:lnTo>
                  <a:lnTo>
                    <a:pt x="92046" y="823755"/>
                  </a:lnTo>
                  <a:lnTo>
                    <a:pt x="118439" y="858663"/>
                  </a:lnTo>
                  <a:lnTo>
                    <a:pt x="147641" y="891373"/>
                  </a:lnTo>
                  <a:lnTo>
                    <a:pt x="179485" y="921724"/>
                  </a:lnTo>
                  <a:lnTo>
                    <a:pt x="213803" y="949557"/>
                  </a:lnTo>
                  <a:lnTo>
                    <a:pt x="250428" y="974713"/>
                  </a:lnTo>
                  <a:lnTo>
                    <a:pt x="289193" y="997032"/>
                  </a:lnTo>
                  <a:lnTo>
                    <a:pt x="329930" y="1016355"/>
                  </a:lnTo>
                  <a:lnTo>
                    <a:pt x="372472" y="1032522"/>
                  </a:lnTo>
                  <a:lnTo>
                    <a:pt x="416653" y="1045374"/>
                  </a:lnTo>
                  <a:lnTo>
                    <a:pt x="462304" y="1054751"/>
                  </a:lnTo>
                  <a:lnTo>
                    <a:pt x="509258" y="1060495"/>
                  </a:lnTo>
                  <a:lnTo>
                    <a:pt x="557348" y="1062445"/>
                  </a:lnTo>
                  <a:lnTo>
                    <a:pt x="605438" y="1060495"/>
                  </a:lnTo>
                  <a:lnTo>
                    <a:pt x="652392" y="1054751"/>
                  </a:lnTo>
                  <a:lnTo>
                    <a:pt x="698043" y="1045374"/>
                  </a:lnTo>
                  <a:lnTo>
                    <a:pt x="742223" y="1032522"/>
                  </a:lnTo>
                  <a:lnTo>
                    <a:pt x="784766" y="1016355"/>
                  </a:lnTo>
                  <a:lnTo>
                    <a:pt x="825503" y="997032"/>
                  </a:lnTo>
                  <a:lnTo>
                    <a:pt x="864268" y="974713"/>
                  </a:lnTo>
                  <a:lnTo>
                    <a:pt x="900893" y="949557"/>
                  </a:lnTo>
                  <a:lnTo>
                    <a:pt x="935211" y="921724"/>
                  </a:lnTo>
                  <a:lnTo>
                    <a:pt x="967055" y="891373"/>
                  </a:lnTo>
                  <a:lnTo>
                    <a:pt x="996257" y="858663"/>
                  </a:lnTo>
                  <a:lnTo>
                    <a:pt x="1022650" y="823755"/>
                  </a:lnTo>
                  <a:lnTo>
                    <a:pt x="1046066" y="786807"/>
                  </a:lnTo>
                  <a:lnTo>
                    <a:pt x="1066340" y="747980"/>
                  </a:lnTo>
                  <a:lnTo>
                    <a:pt x="1083302" y="707431"/>
                  </a:lnTo>
                  <a:lnTo>
                    <a:pt x="1096786" y="665322"/>
                  </a:lnTo>
                  <a:lnTo>
                    <a:pt x="1106625" y="621811"/>
                  </a:lnTo>
                  <a:lnTo>
                    <a:pt x="1112650" y="577057"/>
                  </a:lnTo>
                  <a:lnTo>
                    <a:pt x="1114696" y="531221"/>
                  </a:lnTo>
                  <a:lnTo>
                    <a:pt x="1112650" y="485386"/>
                  </a:lnTo>
                  <a:lnTo>
                    <a:pt x="1106625" y="440633"/>
                  </a:lnTo>
                  <a:lnTo>
                    <a:pt x="1096786" y="397122"/>
                  </a:lnTo>
                  <a:lnTo>
                    <a:pt x="1083302" y="355012"/>
                  </a:lnTo>
                  <a:lnTo>
                    <a:pt x="1066340" y="314464"/>
                  </a:lnTo>
                  <a:lnTo>
                    <a:pt x="1046066" y="275636"/>
                  </a:lnTo>
                  <a:lnTo>
                    <a:pt x="1022650" y="238689"/>
                  </a:lnTo>
                  <a:lnTo>
                    <a:pt x="996257" y="203781"/>
                  </a:lnTo>
                  <a:lnTo>
                    <a:pt x="967055" y="171071"/>
                  </a:lnTo>
                  <a:lnTo>
                    <a:pt x="935211" y="140720"/>
                  </a:lnTo>
                  <a:lnTo>
                    <a:pt x="900893" y="112887"/>
                  </a:lnTo>
                  <a:lnTo>
                    <a:pt x="864268" y="87731"/>
                  </a:lnTo>
                  <a:lnTo>
                    <a:pt x="825503" y="65412"/>
                  </a:lnTo>
                  <a:lnTo>
                    <a:pt x="784766" y="46089"/>
                  </a:lnTo>
                  <a:lnTo>
                    <a:pt x="742223" y="29922"/>
                  </a:lnTo>
                  <a:lnTo>
                    <a:pt x="698043" y="17070"/>
                  </a:lnTo>
                  <a:lnTo>
                    <a:pt x="652392" y="7693"/>
                  </a:lnTo>
                  <a:lnTo>
                    <a:pt x="605438" y="1949"/>
                  </a:lnTo>
                  <a:lnTo>
                    <a:pt x="557348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76332" y="5296610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60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446732" y="5569204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67364" y="5569204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66899" y="4977892"/>
            <a:ext cx="10356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</a:t>
            </a:r>
            <a:r>
              <a:rPr sz="1600" spc="-10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JOIN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07853" y="5296610"/>
            <a:ext cx="1115060" cy="1062990"/>
          </a:xfrm>
          <a:custGeom>
            <a:avLst/>
            <a:gdLst/>
            <a:ahLst/>
            <a:cxnLst/>
            <a:rect l="l" t="t" r="r" b="b"/>
            <a:pathLst>
              <a:path w="1115059" h="1062989">
                <a:moveTo>
                  <a:pt x="0" y="531222"/>
                </a:moveTo>
                <a:lnTo>
                  <a:pt x="2045" y="485386"/>
                </a:lnTo>
                <a:lnTo>
                  <a:pt x="8071" y="440633"/>
                </a:lnTo>
                <a:lnTo>
                  <a:pt x="17910" y="397122"/>
                </a:lnTo>
                <a:lnTo>
                  <a:pt x="31394" y="355013"/>
                </a:lnTo>
                <a:lnTo>
                  <a:pt x="48356" y="314464"/>
                </a:lnTo>
                <a:lnTo>
                  <a:pt x="68629" y="275637"/>
                </a:lnTo>
                <a:lnTo>
                  <a:pt x="92046" y="238689"/>
                </a:lnTo>
                <a:lnTo>
                  <a:pt x="118439" y="203781"/>
                </a:lnTo>
                <a:lnTo>
                  <a:pt x="147641" y="171071"/>
                </a:lnTo>
                <a:lnTo>
                  <a:pt x="179485" y="140720"/>
                </a:lnTo>
                <a:lnTo>
                  <a:pt x="213803" y="112887"/>
                </a:lnTo>
                <a:lnTo>
                  <a:pt x="250428" y="87731"/>
                </a:lnTo>
                <a:lnTo>
                  <a:pt x="289193" y="65412"/>
                </a:lnTo>
                <a:lnTo>
                  <a:pt x="329930" y="46089"/>
                </a:lnTo>
                <a:lnTo>
                  <a:pt x="372473" y="29922"/>
                </a:lnTo>
                <a:lnTo>
                  <a:pt x="416653" y="17070"/>
                </a:lnTo>
                <a:lnTo>
                  <a:pt x="462304" y="7693"/>
                </a:lnTo>
                <a:lnTo>
                  <a:pt x="509258" y="1949"/>
                </a:lnTo>
                <a:lnTo>
                  <a:pt x="557348" y="0"/>
                </a:lnTo>
                <a:lnTo>
                  <a:pt x="605438" y="1949"/>
                </a:lnTo>
                <a:lnTo>
                  <a:pt x="652393" y="7693"/>
                </a:lnTo>
                <a:lnTo>
                  <a:pt x="698044" y="17070"/>
                </a:lnTo>
                <a:lnTo>
                  <a:pt x="742224" y="29922"/>
                </a:lnTo>
                <a:lnTo>
                  <a:pt x="784767" y="46089"/>
                </a:lnTo>
                <a:lnTo>
                  <a:pt x="825504" y="65412"/>
                </a:lnTo>
                <a:lnTo>
                  <a:pt x="864269" y="87731"/>
                </a:lnTo>
                <a:lnTo>
                  <a:pt x="900894" y="112887"/>
                </a:lnTo>
                <a:lnTo>
                  <a:pt x="935212" y="140720"/>
                </a:lnTo>
                <a:lnTo>
                  <a:pt x="967055" y="171071"/>
                </a:lnTo>
                <a:lnTo>
                  <a:pt x="996257" y="203781"/>
                </a:lnTo>
                <a:lnTo>
                  <a:pt x="1022650" y="238689"/>
                </a:lnTo>
                <a:lnTo>
                  <a:pt x="1046067" y="275637"/>
                </a:lnTo>
                <a:lnTo>
                  <a:pt x="1066340" y="314464"/>
                </a:lnTo>
                <a:lnTo>
                  <a:pt x="1083303" y="355013"/>
                </a:lnTo>
                <a:lnTo>
                  <a:pt x="1096787" y="397122"/>
                </a:lnTo>
                <a:lnTo>
                  <a:pt x="1106625" y="440633"/>
                </a:lnTo>
                <a:lnTo>
                  <a:pt x="1112651" y="485386"/>
                </a:lnTo>
                <a:lnTo>
                  <a:pt x="1114697" y="531222"/>
                </a:lnTo>
                <a:lnTo>
                  <a:pt x="1112651" y="577058"/>
                </a:lnTo>
                <a:lnTo>
                  <a:pt x="1106625" y="621812"/>
                </a:lnTo>
                <a:lnTo>
                  <a:pt x="1096787" y="665323"/>
                </a:lnTo>
                <a:lnTo>
                  <a:pt x="1083303" y="707432"/>
                </a:lnTo>
                <a:lnTo>
                  <a:pt x="1066340" y="747980"/>
                </a:lnTo>
                <a:lnTo>
                  <a:pt x="1046067" y="786808"/>
                </a:lnTo>
                <a:lnTo>
                  <a:pt x="1022650" y="823756"/>
                </a:lnTo>
                <a:lnTo>
                  <a:pt x="996257" y="858664"/>
                </a:lnTo>
                <a:lnTo>
                  <a:pt x="967055" y="891373"/>
                </a:lnTo>
                <a:lnTo>
                  <a:pt x="935212" y="921724"/>
                </a:lnTo>
                <a:lnTo>
                  <a:pt x="900894" y="949558"/>
                </a:lnTo>
                <a:lnTo>
                  <a:pt x="864269" y="974713"/>
                </a:lnTo>
                <a:lnTo>
                  <a:pt x="825504" y="997032"/>
                </a:lnTo>
                <a:lnTo>
                  <a:pt x="784767" y="1016355"/>
                </a:lnTo>
                <a:lnTo>
                  <a:pt x="742224" y="1032523"/>
                </a:lnTo>
                <a:lnTo>
                  <a:pt x="698044" y="1045375"/>
                </a:lnTo>
                <a:lnTo>
                  <a:pt x="652393" y="1054752"/>
                </a:lnTo>
                <a:lnTo>
                  <a:pt x="605438" y="1060495"/>
                </a:lnTo>
                <a:lnTo>
                  <a:pt x="557348" y="1062445"/>
                </a:lnTo>
                <a:lnTo>
                  <a:pt x="509258" y="1060495"/>
                </a:lnTo>
                <a:lnTo>
                  <a:pt x="462304" y="1054752"/>
                </a:lnTo>
                <a:lnTo>
                  <a:pt x="416653" y="1045375"/>
                </a:lnTo>
                <a:lnTo>
                  <a:pt x="372473" y="1032523"/>
                </a:lnTo>
                <a:lnTo>
                  <a:pt x="329930" y="1016355"/>
                </a:lnTo>
                <a:lnTo>
                  <a:pt x="289193" y="997032"/>
                </a:lnTo>
                <a:lnTo>
                  <a:pt x="250428" y="974713"/>
                </a:lnTo>
                <a:lnTo>
                  <a:pt x="213803" y="949558"/>
                </a:lnTo>
                <a:lnTo>
                  <a:pt x="179485" y="921724"/>
                </a:lnTo>
                <a:lnTo>
                  <a:pt x="147641" y="891373"/>
                </a:lnTo>
                <a:lnTo>
                  <a:pt x="118439" y="858664"/>
                </a:lnTo>
                <a:lnTo>
                  <a:pt x="92046" y="823756"/>
                </a:lnTo>
                <a:lnTo>
                  <a:pt x="68629" y="786808"/>
                </a:lnTo>
                <a:lnTo>
                  <a:pt x="48356" y="747980"/>
                </a:lnTo>
                <a:lnTo>
                  <a:pt x="31394" y="707432"/>
                </a:lnTo>
                <a:lnTo>
                  <a:pt x="17910" y="665323"/>
                </a:lnTo>
                <a:lnTo>
                  <a:pt x="8071" y="621812"/>
                </a:lnTo>
                <a:lnTo>
                  <a:pt x="2045" y="577058"/>
                </a:lnTo>
                <a:lnTo>
                  <a:pt x="0" y="531222"/>
                </a:lnTo>
                <a:close/>
              </a:path>
            </a:pathLst>
          </a:custGeom>
          <a:ln w="28186">
            <a:solidFill>
              <a:srgbClr val="6B766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8256520" y="5294462"/>
            <a:ext cx="1143635" cy="1091565"/>
            <a:chOff x="8256520" y="5294462"/>
            <a:chExt cx="1143635" cy="1091565"/>
          </a:xfrm>
        </p:grpSpPr>
        <p:sp>
          <p:nvSpPr>
            <p:cNvPr id="14" name="object 14"/>
            <p:cNvSpPr/>
            <p:nvPr/>
          </p:nvSpPr>
          <p:spPr>
            <a:xfrm>
              <a:off x="8270807" y="5308749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557348" y="0"/>
                  </a:moveTo>
                  <a:lnTo>
                    <a:pt x="509258" y="1949"/>
                  </a:lnTo>
                  <a:lnTo>
                    <a:pt x="462304" y="7693"/>
                  </a:lnTo>
                  <a:lnTo>
                    <a:pt x="416653" y="17070"/>
                  </a:lnTo>
                  <a:lnTo>
                    <a:pt x="372472" y="29922"/>
                  </a:lnTo>
                  <a:lnTo>
                    <a:pt x="329930" y="46089"/>
                  </a:lnTo>
                  <a:lnTo>
                    <a:pt x="289193" y="65412"/>
                  </a:lnTo>
                  <a:lnTo>
                    <a:pt x="250428" y="87731"/>
                  </a:lnTo>
                  <a:lnTo>
                    <a:pt x="213803" y="112887"/>
                  </a:lnTo>
                  <a:lnTo>
                    <a:pt x="179485" y="140720"/>
                  </a:lnTo>
                  <a:lnTo>
                    <a:pt x="147641" y="171071"/>
                  </a:lnTo>
                  <a:lnTo>
                    <a:pt x="118439" y="203781"/>
                  </a:lnTo>
                  <a:lnTo>
                    <a:pt x="92046" y="238689"/>
                  </a:lnTo>
                  <a:lnTo>
                    <a:pt x="68629" y="275636"/>
                  </a:lnTo>
                  <a:lnTo>
                    <a:pt x="48356" y="314464"/>
                  </a:lnTo>
                  <a:lnTo>
                    <a:pt x="31394" y="355012"/>
                  </a:lnTo>
                  <a:lnTo>
                    <a:pt x="17910" y="397122"/>
                  </a:lnTo>
                  <a:lnTo>
                    <a:pt x="8071" y="440633"/>
                  </a:lnTo>
                  <a:lnTo>
                    <a:pt x="2045" y="485386"/>
                  </a:lnTo>
                  <a:lnTo>
                    <a:pt x="0" y="531221"/>
                  </a:lnTo>
                  <a:lnTo>
                    <a:pt x="2045" y="577057"/>
                  </a:lnTo>
                  <a:lnTo>
                    <a:pt x="8071" y="621811"/>
                  </a:lnTo>
                  <a:lnTo>
                    <a:pt x="17910" y="665322"/>
                  </a:lnTo>
                  <a:lnTo>
                    <a:pt x="31394" y="707431"/>
                  </a:lnTo>
                  <a:lnTo>
                    <a:pt x="48356" y="747980"/>
                  </a:lnTo>
                  <a:lnTo>
                    <a:pt x="68629" y="786807"/>
                  </a:lnTo>
                  <a:lnTo>
                    <a:pt x="92046" y="823755"/>
                  </a:lnTo>
                  <a:lnTo>
                    <a:pt x="118439" y="858663"/>
                  </a:lnTo>
                  <a:lnTo>
                    <a:pt x="147641" y="891373"/>
                  </a:lnTo>
                  <a:lnTo>
                    <a:pt x="179485" y="921724"/>
                  </a:lnTo>
                  <a:lnTo>
                    <a:pt x="213803" y="949557"/>
                  </a:lnTo>
                  <a:lnTo>
                    <a:pt x="250428" y="974713"/>
                  </a:lnTo>
                  <a:lnTo>
                    <a:pt x="289193" y="997032"/>
                  </a:lnTo>
                  <a:lnTo>
                    <a:pt x="329930" y="1016355"/>
                  </a:lnTo>
                  <a:lnTo>
                    <a:pt x="372472" y="1032522"/>
                  </a:lnTo>
                  <a:lnTo>
                    <a:pt x="416653" y="1045374"/>
                  </a:lnTo>
                  <a:lnTo>
                    <a:pt x="462304" y="1054751"/>
                  </a:lnTo>
                  <a:lnTo>
                    <a:pt x="509258" y="1060495"/>
                  </a:lnTo>
                  <a:lnTo>
                    <a:pt x="557348" y="1062445"/>
                  </a:lnTo>
                  <a:lnTo>
                    <a:pt x="605438" y="1060495"/>
                  </a:lnTo>
                  <a:lnTo>
                    <a:pt x="652392" y="1054751"/>
                  </a:lnTo>
                  <a:lnTo>
                    <a:pt x="698043" y="1045374"/>
                  </a:lnTo>
                  <a:lnTo>
                    <a:pt x="742223" y="1032522"/>
                  </a:lnTo>
                  <a:lnTo>
                    <a:pt x="784766" y="1016355"/>
                  </a:lnTo>
                  <a:lnTo>
                    <a:pt x="825503" y="997032"/>
                  </a:lnTo>
                  <a:lnTo>
                    <a:pt x="864268" y="974713"/>
                  </a:lnTo>
                  <a:lnTo>
                    <a:pt x="900893" y="949557"/>
                  </a:lnTo>
                  <a:lnTo>
                    <a:pt x="935211" y="921724"/>
                  </a:lnTo>
                  <a:lnTo>
                    <a:pt x="967055" y="891373"/>
                  </a:lnTo>
                  <a:lnTo>
                    <a:pt x="996257" y="858663"/>
                  </a:lnTo>
                  <a:lnTo>
                    <a:pt x="1022650" y="823755"/>
                  </a:lnTo>
                  <a:lnTo>
                    <a:pt x="1046066" y="786807"/>
                  </a:lnTo>
                  <a:lnTo>
                    <a:pt x="1066340" y="747980"/>
                  </a:lnTo>
                  <a:lnTo>
                    <a:pt x="1083302" y="707431"/>
                  </a:lnTo>
                  <a:lnTo>
                    <a:pt x="1096786" y="665322"/>
                  </a:lnTo>
                  <a:lnTo>
                    <a:pt x="1106625" y="621811"/>
                  </a:lnTo>
                  <a:lnTo>
                    <a:pt x="1112650" y="577057"/>
                  </a:lnTo>
                  <a:lnTo>
                    <a:pt x="1114696" y="531221"/>
                  </a:lnTo>
                  <a:lnTo>
                    <a:pt x="1112650" y="485386"/>
                  </a:lnTo>
                  <a:lnTo>
                    <a:pt x="1106625" y="440633"/>
                  </a:lnTo>
                  <a:lnTo>
                    <a:pt x="1096786" y="397122"/>
                  </a:lnTo>
                  <a:lnTo>
                    <a:pt x="1083302" y="355012"/>
                  </a:lnTo>
                  <a:lnTo>
                    <a:pt x="1066340" y="314464"/>
                  </a:lnTo>
                  <a:lnTo>
                    <a:pt x="1046066" y="275636"/>
                  </a:lnTo>
                  <a:lnTo>
                    <a:pt x="1022650" y="238689"/>
                  </a:lnTo>
                  <a:lnTo>
                    <a:pt x="996257" y="203781"/>
                  </a:lnTo>
                  <a:lnTo>
                    <a:pt x="967055" y="171071"/>
                  </a:lnTo>
                  <a:lnTo>
                    <a:pt x="935211" y="140720"/>
                  </a:lnTo>
                  <a:lnTo>
                    <a:pt x="900893" y="112887"/>
                  </a:lnTo>
                  <a:lnTo>
                    <a:pt x="864268" y="87731"/>
                  </a:lnTo>
                  <a:lnTo>
                    <a:pt x="825503" y="65412"/>
                  </a:lnTo>
                  <a:lnTo>
                    <a:pt x="784766" y="46089"/>
                  </a:lnTo>
                  <a:lnTo>
                    <a:pt x="742223" y="29922"/>
                  </a:lnTo>
                  <a:lnTo>
                    <a:pt x="698043" y="17070"/>
                  </a:lnTo>
                  <a:lnTo>
                    <a:pt x="652392" y="7693"/>
                  </a:lnTo>
                  <a:lnTo>
                    <a:pt x="605438" y="1949"/>
                  </a:lnTo>
                  <a:lnTo>
                    <a:pt x="557348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70807" y="5308749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09687" y="5581396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30317" y="5581396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62121" y="4990084"/>
            <a:ext cx="11709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RIGHT</a:t>
            </a:r>
            <a:r>
              <a:rPr sz="1600" spc="-1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JOIN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539287" y="5308749"/>
            <a:ext cx="1115060" cy="1062990"/>
          </a:xfrm>
          <a:custGeom>
            <a:avLst/>
            <a:gdLst/>
            <a:ahLst/>
            <a:cxnLst/>
            <a:rect l="l" t="t" r="r" b="b"/>
            <a:pathLst>
              <a:path w="1115059" h="1062989">
                <a:moveTo>
                  <a:pt x="0" y="531222"/>
                </a:moveTo>
                <a:lnTo>
                  <a:pt x="2045" y="485386"/>
                </a:lnTo>
                <a:lnTo>
                  <a:pt x="8071" y="440633"/>
                </a:lnTo>
                <a:lnTo>
                  <a:pt x="17910" y="397122"/>
                </a:lnTo>
                <a:lnTo>
                  <a:pt x="31394" y="355013"/>
                </a:lnTo>
                <a:lnTo>
                  <a:pt x="48356" y="314464"/>
                </a:lnTo>
                <a:lnTo>
                  <a:pt x="68629" y="275637"/>
                </a:lnTo>
                <a:lnTo>
                  <a:pt x="92046" y="238689"/>
                </a:lnTo>
                <a:lnTo>
                  <a:pt x="118439" y="203781"/>
                </a:lnTo>
                <a:lnTo>
                  <a:pt x="147641" y="171071"/>
                </a:lnTo>
                <a:lnTo>
                  <a:pt x="179485" y="140720"/>
                </a:lnTo>
                <a:lnTo>
                  <a:pt x="213803" y="112887"/>
                </a:lnTo>
                <a:lnTo>
                  <a:pt x="250428" y="87731"/>
                </a:lnTo>
                <a:lnTo>
                  <a:pt x="289193" y="65412"/>
                </a:lnTo>
                <a:lnTo>
                  <a:pt x="329930" y="46089"/>
                </a:lnTo>
                <a:lnTo>
                  <a:pt x="372473" y="29922"/>
                </a:lnTo>
                <a:lnTo>
                  <a:pt x="416653" y="17070"/>
                </a:lnTo>
                <a:lnTo>
                  <a:pt x="462304" y="7693"/>
                </a:lnTo>
                <a:lnTo>
                  <a:pt x="509258" y="1949"/>
                </a:lnTo>
                <a:lnTo>
                  <a:pt x="557348" y="0"/>
                </a:lnTo>
                <a:lnTo>
                  <a:pt x="605438" y="1949"/>
                </a:lnTo>
                <a:lnTo>
                  <a:pt x="652393" y="7693"/>
                </a:lnTo>
                <a:lnTo>
                  <a:pt x="698044" y="17070"/>
                </a:lnTo>
                <a:lnTo>
                  <a:pt x="742224" y="29922"/>
                </a:lnTo>
                <a:lnTo>
                  <a:pt x="784767" y="46089"/>
                </a:lnTo>
                <a:lnTo>
                  <a:pt x="825504" y="65412"/>
                </a:lnTo>
                <a:lnTo>
                  <a:pt x="864269" y="87731"/>
                </a:lnTo>
                <a:lnTo>
                  <a:pt x="900894" y="112887"/>
                </a:lnTo>
                <a:lnTo>
                  <a:pt x="935212" y="140720"/>
                </a:lnTo>
                <a:lnTo>
                  <a:pt x="967055" y="171071"/>
                </a:lnTo>
                <a:lnTo>
                  <a:pt x="996257" y="203781"/>
                </a:lnTo>
                <a:lnTo>
                  <a:pt x="1022650" y="238689"/>
                </a:lnTo>
                <a:lnTo>
                  <a:pt x="1046067" y="275637"/>
                </a:lnTo>
                <a:lnTo>
                  <a:pt x="1066340" y="314464"/>
                </a:lnTo>
                <a:lnTo>
                  <a:pt x="1083303" y="355013"/>
                </a:lnTo>
                <a:lnTo>
                  <a:pt x="1096787" y="397122"/>
                </a:lnTo>
                <a:lnTo>
                  <a:pt x="1106625" y="440633"/>
                </a:lnTo>
                <a:lnTo>
                  <a:pt x="1112651" y="485386"/>
                </a:lnTo>
                <a:lnTo>
                  <a:pt x="1114697" y="531222"/>
                </a:lnTo>
                <a:lnTo>
                  <a:pt x="1112651" y="577058"/>
                </a:lnTo>
                <a:lnTo>
                  <a:pt x="1106625" y="621812"/>
                </a:lnTo>
                <a:lnTo>
                  <a:pt x="1096787" y="665323"/>
                </a:lnTo>
                <a:lnTo>
                  <a:pt x="1083303" y="707432"/>
                </a:lnTo>
                <a:lnTo>
                  <a:pt x="1066340" y="747980"/>
                </a:lnTo>
                <a:lnTo>
                  <a:pt x="1046067" y="786808"/>
                </a:lnTo>
                <a:lnTo>
                  <a:pt x="1022650" y="823756"/>
                </a:lnTo>
                <a:lnTo>
                  <a:pt x="996257" y="858664"/>
                </a:lnTo>
                <a:lnTo>
                  <a:pt x="967055" y="891373"/>
                </a:lnTo>
                <a:lnTo>
                  <a:pt x="935212" y="921724"/>
                </a:lnTo>
                <a:lnTo>
                  <a:pt x="900894" y="949558"/>
                </a:lnTo>
                <a:lnTo>
                  <a:pt x="864269" y="974713"/>
                </a:lnTo>
                <a:lnTo>
                  <a:pt x="825504" y="997032"/>
                </a:lnTo>
                <a:lnTo>
                  <a:pt x="784767" y="1016355"/>
                </a:lnTo>
                <a:lnTo>
                  <a:pt x="742224" y="1032523"/>
                </a:lnTo>
                <a:lnTo>
                  <a:pt x="698044" y="1045375"/>
                </a:lnTo>
                <a:lnTo>
                  <a:pt x="652393" y="1054752"/>
                </a:lnTo>
                <a:lnTo>
                  <a:pt x="605438" y="1060495"/>
                </a:lnTo>
                <a:lnTo>
                  <a:pt x="557348" y="1062445"/>
                </a:lnTo>
                <a:lnTo>
                  <a:pt x="509258" y="1060495"/>
                </a:lnTo>
                <a:lnTo>
                  <a:pt x="462304" y="1054752"/>
                </a:lnTo>
                <a:lnTo>
                  <a:pt x="416653" y="1045375"/>
                </a:lnTo>
                <a:lnTo>
                  <a:pt x="372473" y="1032523"/>
                </a:lnTo>
                <a:lnTo>
                  <a:pt x="329930" y="1016355"/>
                </a:lnTo>
                <a:lnTo>
                  <a:pt x="289193" y="997032"/>
                </a:lnTo>
                <a:lnTo>
                  <a:pt x="250428" y="974713"/>
                </a:lnTo>
                <a:lnTo>
                  <a:pt x="213803" y="949558"/>
                </a:lnTo>
                <a:lnTo>
                  <a:pt x="179485" y="921724"/>
                </a:lnTo>
                <a:lnTo>
                  <a:pt x="147641" y="891373"/>
                </a:lnTo>
                <a:lnTo>
                  <a:pt x="118439" y="858664"/>
                </a:lnTo>
                <a:lnTo>
                  <a:pt x="92046" y="823756"/>
                </a:lnTo>
                <a:lnTo>
                  <a:pt x="68629" y="786808"/>
                </a:lnTo>
                <a:lnTo>
                  <a:pt x="48356" y="747980"/>
                </a:lnTo>
                <a:lnTo>
                  <a:pt x="31394" y="707432"/>
                </a:lnTo>
                <a:lnTo>
                  <a:pt x="17910" y="665323"/>
                </a:lnTo>
                <a:lnTo>
                  <a:pt x="8071" y="621812"/>
                </a:lnTo>
                <a:lnTo>
                  <a:pt x="2045" y="577058"/>
                </a:lnTo>
                <a:lnTo>
                  <a:pt x="0" y="531222"/>
                </a:lnTo>
                <a:close/>
              </a:path>
            </a:pathLst>
          </a:custGeom>
          <a:ln w="28186">
            <a:solidFill>
              <a:srgbClr val="6B766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47292" y="5445493"/>
            <a:ext cx="398780" cy="777875"/>
          </a:xfrm>
          <a:custGeom>
            <a:avLst/>
            <a:gdLst/>
            <a:ahLst/>
            <a:cxnLst/>
            <a:rect l="l" t="t" r="r" b="b"/>
            <a:pathLst>
              <a:path w="398780" h="777875">
                <a:moveTo>
                  <a:pt x="398678" y="397116"/>
                </a:moveTo>
                <a:lnTo>
                  <a:pt x="395897" y="340906"/>
                </a:lnTo>
                <a:lnTo>
                  <a:pt x="387807" y="287248"/>
                </a:lnTo>
                <a:lnTo>
                  <a:pt x="374815" y="236753"/>
                </a:lnTo>
                <a:lnTo>
                  <a:pt x="357314" y="189992"/>
                </a:lnTo>
                <a:lnTo>
                  <a:pt x="335686" y="147548"/>
                </a:lnTo>
                <a:lnTo>
                  <a:pt x="310362" y="110020"/>
                </a:lnTo>
                <a:lnTo>
                  <a:pt x="281698" y="78003"/>
                </a:lnTo>
                <a:lnTo>
                  <a:pt x="250126" y="52082"/>
                </a:lnTo>
                <a:lnTo>
                  <a:pt x="236245" y="44246"/>
                </a:lnTo>
                <a:lnTo>
                  <a:pt x="248272" y="0"/>
                </a:lnTo>
                <a:lnTo>
                  <a:pt x="211582" y="4127"/>
                </a:lnTo>
                <a:lnTo>
                  <a:pt x="176568" y="16103"/>
                </a:lnTo>
                <a:lnTo>
                  <a:pt x="170218" y="19812"/>
                </a:lnTo>
                <a:lnTo>
                  <a:pt x="141859" y="16725"/>
                </a:lnTo>
                <a:lnTo>
                  <a:pt x="144729" y="34696"/>
                </a:lnTo>
                <a:lnTo>
                  <a:pt x="143598" y="35356"/>
                </a:lnTo>
                <a:lnTo>
                  <a:pt x="113080" y="61290"/>
                </a:lnTo>
                <a:lnTo>
                  <a:pt x="85382" y="93306"/>
                </a:lnTo>
                <a:lnTo>
                  <a:pt x="60896" y="130835"/>
                </a:lnTo>
                <a:lnTo>
                  <a:pt x="39992" y="173266"/>
                </a:lnTo>
                <a:lnTo>
                  <a:pt x="23075" y="220027"/>
                </a:lnTo>
                <a:lnTo>
                  <a:pt x="10502" y="270535"/>
                </a:lnTo>
                <a:lnTo>
                  <a:pt x="2692" y="324180"/>
                </a:lnTo>
                <a:lnTo>
                  <a:pt x="0" y="380390"/>
                </a:lnTo>
                <a:lnTo>
                  <a:pt x="2692" y="436600"/>
                </a:lnTo>
                <a:lnTo>
                  <a:pt x="10502" y="490258"/>
                </a:lnTo>
                <a:lnTo>
                  <a:pt x="23075" y="540753"/>
                </a:lnTo>
                <a:lnTo>
                  <a:pt x="39992" y="587514"/>
                </a:lnTo>
                <a:lnTo>
                  <a:pt x="60896" y="629958"/>
                </a:lnTo>
                <a:lnTo>
                  <a:pt x="85382" y="667486"/>
                </a:lnTo>
                <a:lnTo>
                  <a:pt x="113080" y="699503"/>
                </a:lnTo>
                <a:lnTo>
                  <a:pt x="143598" y="725424"/>
                </a:lnTo>
                <a:lnTo>
                  <a:pt x="149618" y="728941"/>
                </a:lnTo>
                <a:lnTo>
                  <a:pt x="141859" y="777506"/>
                </a:lnTo>
                <a:lnTo>
                  <a:pt x="179819" y="773379"/>
                </a:lnTo>
                <a:lnTo>
                  <a:pt x="216039" y="761403"/>
                </a:lnTo>
                <a:lnTo>
                  <a:pt x="222300" y="757872"/>
                </a:lnTo>
                <a:lnTo>
                  <a:pt x="248272" y="760780"/>
                </a:lnTo>
                <a:lnTo>
                  <a:pt x="244119" y="745540"/>
                </a:lnTo>
                <a:lnTo>
                  <a:pt x="250126" y="742149"/>
                </a:lnTo>
                <a:lnTo>
                  <a:pt x="281698" y="716216"/>
                </a:lnTo>
                <a:lnTo>
                  <a:pt x="310362" y="684199"/>
                </a:lnTo>
                <a:lnTo>
                  <a:pt x="335686" y="646671"/>
                </a:lnTo>
                <a:lnTo>
                  <a:pt x="357314" y="604240"/>
                </a:lnTo>
                <a:lnTo>
                  <a:pt x="374815" y="557479"/>
                </a:lnTo>
                <a:lnTo>
                  <a:pt x="387807" y="506971"/>
                </a:lnTo>
                <a:lnTo>
                  <a:pt x="395897" y="453326"/>
                </a:lnTo>
                <a:lnTo>
                  <a:pt x="398678" y="397116"/>
                </a:lnTo>
                <a:close/>
              </a:path>
            </a:pathLst>
          </a:custGeom>
          <a:solidFill>
            <a:srgbClr val="E8F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06869" y="5578348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27500" y="5578348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9613" y="4987035"/>
            <a:ext cx="14706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N</a:t>
            </a:r>
            <a:r>
              <a:rPr sz="1600" spc="-12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UR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600" spc="-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J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OI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N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22375" y="5291594"/>
            <a:ext cx="1874520" cy="1090930"/>
            <a:chOff x="722375" y="5291594"/>
            <a:chExt cx="1874520" cy="1090930"/>
          </a:xfrm>
        </p:grpSpPr>
        <p:sp>
          <p:nvSpPr>
            <p:cNvPr id="25" name="object 25"/>
            <p:cNvSpPr/>
            <p:nvPr/>
          </p:nvSpPr>
          <p:spPr>
            <a:xfrm>
              <a:off x="736469" y="5305687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60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67989" y="5305687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60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3727666" y="5445493"/>
            <a:ext cx="398780" cy="777875"/>
          </a:xfrm>
          <a:custGeom>
            <a:avLst/>
            <a:gdLst/>
            <a:ahLst/>
            <a:cxnLst/>
            <a:rect l="l" t="t" r="r" b="b"/>
            <a:pathLst>
              <a:path w="398779" h="777875">
                <a:moveTo>
                  <a:pt x="398678" y="397116"/>
                </a:moveTo>
                <a:lnTo>
                  <a:pt x="395897" y="340906"/>
                </a:lnTo>
                <a:lnTo>
                  <a:pt x="387807" y="287248"/>
                </a:lnTo>
                <a:lnTo>
                  <a:pt x="374815" y="236753"/>
                </a:lnTo>
                <a:lnTo>
                  <a:pt x="357314" y="189992"/>
                </a:lnTo>
                <a:lnTo>
                  <a:pt x="335686" y="147548"/>
                </a:lnTo>
                <a:lnTo>
                  <a:pt x="310362" y="110020"/>
                </a:lnTo>
                <a:lnTo>
                  <a:pt x="281698" y="78003"/>
                </a:lnTo>
                <a:lnTo>
                  <a:pt x="250126" y="52082"/>
                </a:lnTo>
                <a:lnTo>
                  <a:pt x="236245" y="44246"/>
                </a:lnTo>
                <a:lnTo>
                  <a:pt x="248272" y="0"/>
                </a:lnTo>
                <a:lnTo>
                  <a:pt x="211582" y="4127"/>
                </a:lnTo>
                <a:lnTo>
                  <a:pt x="176568" y="16103"/>
                </a:lnTo>
                <a:lnTo>
                  <a:pt x="170218" y="19812"/>
                </a:lnTo>
                <a:lnTo>
                  <a:pt x="141859" y="16725"/>
                </a:lnTo>
                <a:lnTo>
                  <a:pt x="144729" y="34696"/>
                </a:lnTo>
                <a:lnTo>
                  <a:pt x="143598" y="35356"/>
                </a:lnTo>
                <a:lnTo>
                  <a:pt x="113080" y="61290"/>
                </a:lnTo>
                <a:lnTo>
                  <a:pt x="85382" y="93306"/>
                </a:lnTo>
                <a:lnTo>
                  <a:pt x="60896" y="130835"/>
                </a:lnTo>
                <a:lnTo>
                  <a:pt x="39992" y="173266"/>
                </a:lnTo>
                <a:lnTo>
                  <a:pt x="23075" y="220027"/>
                </a:lnTo>
                <a:lnTo>
                  <a:pt x="10502" y="270535"/>
                </a:lnTo>
                <a:lnTo>
                  <a:pt x="2692" y="324180"/>
                </a:lnTo>
                <a:lnTo>
                  <a:pt x="0" y="380390"/>
                </a:lnTo>
                <a:lnTo>
                  <a:pt x="2692" y="436600"/>
                </a:lnTo>
                <a:lnTo>
                  <a:pt x="10502" y="490258"/>
                </a:lnTo>
                <a:lnTo>
                  <a:pt x="23075" y="540753"/>
                </a:lnTo>
                <a:lnTo>
                  <a:pt x="39992" y="587514"/>
                </a:lnTo>
                <a:lnTo>
                  <a:pt x="60896" y="629958"/>
                </a:lnTo>
                <a:lnTo>
                  <a:pt x="85382" y="667486"/>
                </a:lnTo>
                <a:lnTo>
                  <a:pt x="113080" y="699503"/>
                </a:lnTo>
                <a:lnTo>
                  <a:pt x="143598" y="725424"/>
                </a:lnTo>
                <a:lnTo>
                  <a:pt x="149618" y="728941"/>
                </a:lnTo>
                <a:lnTo>
                  <a:pt x="141859" y="777506"/>
                </a:lnTo>
                <a:lnTo>
                  <a:pt x="179819" y="773379"/>
                </a:lnTo>
                <a:lnTo>
                  <a:pt x="216039" y="761403"/>
                </a:lnTo>
                <a:lnTo>
                  <a:pt x="222300" y="757872"/>
                </a:lnTo>
                <a:lnTo>
                  <a:pt x="248272" y="760780"/>
                </a:lnTo>
                <a:lnTo>
                  <a:pt x="244119" y="745540"/>
                </a:lnTo>
                <a:lnTo>
                  <a:pt x="250126" y="742149"/>
                </a:lnTo>
                <a:lnTo>
                  <a:pt x="281698" y="716216"/>
                </a:lnTo>
                <a:lnTo>
                  <a:pt x="310362" y="684199"/>
                </a:lnTo>
                <a:lnTo>
                  <a:pt x="335686" y="646671"/>
                </a:lnTo>
                <a:lnTo>
                  <a:pt x="357314" y="604240"/>
                </a:lnTo>
                <a:lnTo>
                  <a:pt x="374815" y="557479"/>
                </a:lnTo>
                <a:lnTo>
                  <a:pt x="387807" y="506971"/>
                </a:lnTo>
                <a:lnTo>
                  <a:pt x="395897" y="453326"/>
                </a:lnTo>
                <a:lnTo>
                  <a:pt x="398678" y="397116"/>
                </a:lnTo>
                <a:close/>
              </a:path>
            </a:pathLst>
          </a:custGeom>
          <a:solidFill>
            <a:srgbClr val="E8F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187242" y="5578348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07874" y="5578348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69268" y="4987035"/>
            <a:ext cx="13119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(INNER)</a:t>
            </a:r>
            <a:r>
              <a:rPr sz="1600" spc="-6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JOIN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002749" y="5291594"/>
            <a:ext cx="1874520" cy="1090930"/>
            <a:chOff x="3002749" y="5291594"/>
            <a:chExt cx="1874520" cy="1090930"/>
          </a:xfrm>
        </p:grpSpPr>
        <p:sp>
          <p:nvSpPr>
            <p:cNvPr id="32" name="object 32"/>
            <p:cNvSpPr/>
            <p:nvPr/>
          </p:nvSpPr>
          <p:spPr>
            <a:xfrm>
              <a:off x="3016842" y="5305687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60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748363" y="5305687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60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2619" y="4376155"/>
            <a:ext cx="6696971" cy="1366852"/>
          </a:xfrm>
          <a:custGeom>
            <a:avLst/>
            <a:gdLst/>
            <a:ahLst/>
            <a:cxnLst/>
            <a:rect l="l" t="t" r="r" b="b"/>
            <a:pathLst>
              <a:path w="9199880" h="1877695">
                <a:moveTo>
                  <a:pt x="0" y="0"/>
                </a:moveTo>
                <a:lnTo>
                  <a:pt x="9199418" y="0"/>
                </a:lnTo>
                <a:lnTo>
                  <a:pt x="9199418" y="1877645"/>
                </a:lnTo>
                <a:lnTo>
                  <a:pt x="0" y="1877645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131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6987" y="323170"/>
            <a:ext cx="9324426" cy="671055"/>
          </a:xfrm>
          <a:prstGeom prst="rect">
            <a:avLst/>
          </a:prstGeom>
        </p:spPr>
        <p:txBody>
          <a:bodyPr vert="horz" wrap="square" lIns="0" tIns="9245" rIns="0" bIns="0" rtlCol="0" anchor="ctr">
            <a:spAutoFit/>
          </a:bodyPr>
          <a:lstStyle/>
          <a:p>
            <a:pPr marL="9245">
              <a:spcBef>
                <a:spcPts val="73"/>
              </a:spcBef>
            </a:pPr>
            <a:r>
              <a:rPr spc="-102" dirty="0"/>
              <a:t>R</a:t>
            </a:r>
            <a:r>
              <a:rPr spc="-91" dirty="0"/>
              <a:t>e</a:t>
            </a:r>
            <a:r>
              <a:rPr spc="-95" dirty="0"/>
              <a:t>ca</a:t>
            </a:r>
            <a:r>
              <a:rPr dirty="0"/>
              <a:t>p</a:t>
            </a:r>
            <a:r>
              <a:rPr spc="-185" dirty="0"/>
              <a:t> </a:t>
            </a:r>
            <a:r>
              <a:rPr spc="-91" dirty="0"/>
              <a:t>1</a:t>
            </a:r>
            <a:r>
              <a:rPr dirty="0"/>
              <a:t>:</a:t>
            </a:r>
            <a:r>
              <a:rPr spc="-175" dirty="0"/>
              <a:t> </a:t>
            </a:r>
            <a:r>
              <a:rPr spc="-87" dirty="0"/>
              <a:t>J</a:t>
            </a:r>
            <a:r>
              <a:rPr spc="-102" dirty="0"/>
              <a:t>O</a:t>
            </a:r>
            <a:r>
              <a:rPr spc="-91" dirty="0"/>
              <a:t>I</a:t>
            </a:r>
            <a:r>
              <a:rPr dirty="0"/>
              <a:t>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10"/>
          </p:nvPr>
        </p:nvSpPr>
        <p:spPr>
          <a:xfrm>
            <a:off x="3661536" y="8125059"/>
            <a:ext cx="977027" cy="139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754380" rtl="0" eaLnBrk="1" latinLnBrk="0" hangingPunct="1">
              <a:defRPr sz="907" b="0" i="0" kern="1200">
                <a:solidFill>
                  <a:srgbClr val="CCD1D9"/>
                </a:solidFill>
                <a:latin typeface="Trebuchet MS"/>
                <a:ea typeface="+mn-ea"/>
                <a:cs typeface="Trebuchet MS"/>
              </a:defRPr>
            </a:lvl1pPr>
            <a:lvl2pPr marL="37719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314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033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1752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45">
              <a:spcBef>
                <a:spcPts val="15"/>
              </a:spcBef>
            </a:pPr>
            <a:r>
              <a:rPr lang="en-US" spc="25"/>
              <a:t>©</a:t>
            </a:r>
            <a:r>
              <a:rPr lang="en-US" spc="-58"/>
              <a:t> </a:t>
            </a:r>
            <a:r>
              <a:rPr lang="en-US" spc="-37"/>
              <a:t>P</a:t>
            </a:r>
            <a:r>
              <a:rPr lang="en-US" spc="-25"/>
              <a:t>r</a:t>
            </a:r>
            <a:r>
              <a:rPr lang="en-US" spc="-107"/>
              <a:t>a</a:t>
            </a:r>
            <a:r>
              <a:rPr lang="en-US" spc="-70"/>
              <a:t>p</a:t>
            </a:r>
            <a:r>
              <a:rPr lang="en-US" spc="-62"/>
              <a:t>h</a:t>
            </a:r>
            <a:r>
              <a:rPr lang="en-US" spc="-107"/>
              <a:t>a</a:t>
            </a:r>
            <a:r>
              <a:rPr lang="en-US" spc="-74"/>
              <a:t>m</a:t>
            </a:r>
            <a:r>
              <a:rPr lang="en-US" spc="-8"/>
              <a:t>o</a:t>
            </a:r>
            <a:r>
              <a:rPr lang="en-US" spc="-62"/>
              <a:t>n</a:t>
            </a:r>
            <a:r>
              <a:rPr lang="en-US" spc="-66"/>
              <a:t>t</a:t>
            </a:r>
            <a:r>
              <a:rPr lang="en-US" spc="-4"/>
              <a:t>r</a:t>
            </a:r>
            <a:r>
              <a:rPr lang="en-US" spc="-66"/>
              <a:t>i</a:t>
            </a:r>
            <a:r>
              <a:rPr lang="en-US" spc="-70"/>
              <a:t>p</a:t>
            </a:r>
            <a:r>
              <a:rPr lang="en-US" spc="-8"/>
              <a:t>o</a:t>
            </a:r>
            <a:r>
              <a:rPr lang="en-US" spc="-62"/>
              <a:t>n</a:t>
            </a:r>
            <a:r>
              <a:rPr lang="en-US" spc="-70"/>
              <a:t>g</a:t>
            </a:r>
            <a:endParaRPr spc="-62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xfrm>
            <a:off x="262775" y="8127817"/>
            <a:ext cx="1619298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754380" rtl="0" eaLnBrk="1" latinLnBrk="0" hangingPunct="1">
              <a:defRPr sz="907" b="0" i="0" kern="1200">
                <a:solidFill>
                  <a:srgbClr val="CCD1D9"/>
                </a:solidFill>
                <a:latin typeface="Arial MT"/>
                <a:ea typeface="+mn-ea"/>
                <a:cs typeface="Arial MT"/>
              </a:defRPr>
            </a:lvl1pPr>
            <a:lvl2pPr marL="37719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314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033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1752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45">
              <a:lnSpc>
                <a:spcPts val="957"/>
              </a:lnSpc>
            </a:pPr>
            <a:r>
              <a:rPr lang="en-US" spc="-12"/>
              <a:t>Fall</a:t>
            </a:r>
            <a:r>
              <a:rPr lang="en-US" spc="-25"/>
              <a:t> </a:t>
            </a:r>
            <a:r>
              <a:rPr lang="en-US" spc="-21"/>
              <a:t>2023</a:t>
            </a:r>
            <a:r>
              <a:rPr lang="en-US" spc="-37"/>
              <a:t> </a:t>
            </a:r>
            <a:r>
              <a:rPr lang="en-US"/>
              <a:t>–</a:t>
            </a:r>
            <a:r>
              <a:rPr lang="en-US" spc="-37"/>
              <a:t> </a:t>
            </a:r>
            <a:r>
              <a:rPr lang="en-US" spc="-17"/>
              <a:t>University</a:t>
            </a:r>
            <a:r>
              <a:rPr lang="en-US" spc="-29"/>
              <a:t> </a:t>
            </a:r>
            <a:r>
              <a:rPr lang="en-US" spc="-12"/>
              <a:t>of</a:t>
            </a:r>
            <a:r>
              <a:rPr lang="en-US" spc="-25"/>
              <a:t> </a:t>
            </a:r>
            <a:r>
              <a:rPr lang="en-US" spc="-12"/>
              <a:t>Virginia</a:t>
            </a:r>
            <a:endParaRPr spc="-11" dirty="0"/>
          </a:p>
        </p:txBody>
      </p:sp>
      <p:sp>
        <p:nvSpPr>
          <p:cNvPr id="10" name="object 10"/>
          <p:cNvSpPr txBox="1"/>
          <p:nvPr/>
        </p:nvSpPr>
        <p:spPr>
          <a:xfrm>
            <a:off x="8346871" y="6385288"/>
            <a:ext cx="112325" cy="247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736">
              <a:lnSpc>
                <a:spcPts val="957"/>
              </a:lnSpc>
            </a:pPr>
            <a:fld id="{81D60167-4931-47E6-BA6A-407CBD079E47}" type="slidenum">
              <a:rPr sz="801" dirty="0">
                <a:solidFill>
                  <a:srgbClr val="CCD1D9"/>
                </a:solidFill>
                <a:latin typeface="Arial MT"/>
                <a:cs typeface="Arial MT"/>
              </a:rPr>
              <a:pPr marL="27736">
                <a:lnSpc>
                  <a:spcPts val="957"/>
                </a:lnSpc>
              </a:pPr>
              <a:t>5</a:t>
            </a:fld>
            <a:endParaRPr sz="801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0175" y="1946109"/>
            <a:ext cx="6608683" cy="1299381"/>
          </a:xfrm>
          <a:prstGeom prst="rect">
            <a:avLst/>
          </a:prstGeom>
        </p:spPr>
        <p:txBody>
          <a:bodyPr vert="horz" wrap="square" lIns="0" tIns="4622" rIns="0" bIns="0" rtlCol="0">
            <a:spAutoFit/>
          </a:bodyPr>
          <a:lstStyle/>
          <a:p>
            <a:pPr marL="9245" marR="3698">
              <a:lnSpc>
                <a:spcPct val="101800"/>
              </a:lnSpc>
              <a:spcBef>
                <a:spcPts val="36"/>
              </a:spcBef>
            </a:pP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601" spc="5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601" spc="5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total</a:t>
            </a:r>
            <a:r>
              <a:rPr sz="160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5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1601" spc="4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601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unique</a:t>
            </a:r>
            <a:r>
              <a:rPr sz="1601" spc="5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sailors</a:t>
            </a:r>
            <a:r>
              <a:rPr sz="1601" spc="5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1601" spc="5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3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601" spc="5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reserved </a:t>
            </a:r>
            <a:r>
              <a:rPr sz="160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boat</a:t>
            </a:r>
            <a:r>
              <a:rPr sz="1601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(ordered</a:t>
            </a:r>
            <a:r>
              <a:rPr sz="1601" spc="2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601" spc="2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60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sailors</a:t>
            </a:r>
            <a:r>
              <a:rPr sz="1601" spc="2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3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descending</a:t>
            </a:r>
            <a:r>
              <a:rPr sz="1601" spc="2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order).</a:t>
            </a:r>
            <a:endParaRPr sz="1601" dirty="0">
              <a:latin typeface="Verdana"/>
              <a:cs typeface="Verdana"/>
            </a:endParaRPr>
          </a:p>
          <a:p>
            <a:pPr marL="9245">
              <a:spcBef>
                <a:spcPts val="492"/>
              </a:spcBef>
            </a:pP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Display</a:t>
            </a:r>
            <a:r>
              <a:rPr sz="1601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count,</a:t>
            </a:r>
            <a:r>
              <a:rPr sz="1601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boat</a:t>
            </a:r>
            <a:r>
              <a:rPr sz="160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1601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boat</a:t>
            </a:r>
            <a:r>
              <a:rPr sz="1601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dirty="0">
                <a:solidFill>
                  <a:srgbClr val="292934"/>
                </a:solidFill>
                <a:latin typeface="Verdana"/>
                <a:cs typeface="Verdana"/>
              </a:rPr>
              <a:t>id</a:t>
            </a:r>
            <a:endParaRPr sz="1601" dirty="0">
              <a:latin typeface="Verdana"/>
              <a:cs typeface="Verdana"/>
            </a:endParaRPr>
          </a:p>
          <a:p>
            <a:pPr>
              <a:spcBef>
                <a:spcPts val="29"/>
              </a:spcBef>
            </a:pPr>
            <a:endParaRPr sz="1601" dirty="0">
              <a:latin typeface="Verdana"/>
              <a:cs typeface="Verdana"/>
            </a:endParaRPr>
          </a:p>
          <a:p>
            <a:pPr marL="873685"/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Boats</a:t>
            </a:r>
            <a:r>
              <a:rPr sz="1529" spc="1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529" u="sng" spc="7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bid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529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bname,</a:t>
            </a:r>
            <a:r>
              <a:rPr sz="1529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spc="11" dirty="0">
                <a:solidFill>
                  <a:srgbClr val="292934"/>
                </a:solidFill>
                <a:latin typeface="Courier New"/>
                <a:cs typeface="Courier New"/>
              </a:rPr>
              <a:t>color)</a:t>
            </a:r>
            <a:endParaRPr sz="1529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8640" y="3223529"/>
            <a:ext cx="1673781" cy="487082"/>
          </a:xfrm>
          <a:prstGeom prst="rect">
            <a:avLst/>
          </a:prstGeom>
        </p:spPr>
        <p:txBody>
          <a:bodyPr vert="horz" wrap="square" lIns="0" tIns="2311" rIns="0" bIns="0" rtlCol="0">
            <a:spAutoFit/>
          </a:bodyPr>
          <a:lstStyle/>
          <a:p>
            <a:pPr marL="9245" marR="3698">
              <a:lnSpc>
                <a:spcPct val="102899"/>
              </a:lnSpc>
              <a:spcBef>
                <a:spcPts val="18"/>
              </a:spcBef>
            </a:pP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Sailors (</a:t>
            </a:r>
            <a:r>
              <a:rPr sz="1529" u="sng" spc="7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sid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, </a:t>
            </a:r>
            <a:r>
              <a:rPr sz="1529" spc="1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Reserves</a:t>
            </a:r>
            <a:r>
              <a:rPr sz="1529" spc="-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529" u="sng" spc="7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sid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1529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13877" y="3234241"/>
            <a:ext cx="2266838" cy="487082"/>
          </a:xfrm>
          <a:prstGeom prst="rect">
            <a:avLst/>
          </a:prstGeom>
        </p:spPr>
        <p:txBody>
          <a:bodyPr vert="horz" wrap="square" lIns="0" tIns="2311" rIns="0" bIns="0" rtlCol="0">
            <a:spAutoFit/>
          </a:bodyPr>
          <a:lstStyle/>
          <a:p>
            <a:pPr marL="127585" marR="3698" indent="-118340">
              <a:lnSpc>
                <a:spcPct val="102899"/>
              </a:lnSpc>
              <a:spcBef>
                <a:spcPts val="18"/>
              </a:spcBef>
            </a:pP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sname, rating, </a:t>
            </a:r>
            <a:r>
              <a:rPr sz="1529" spc="11" dirty="0">
                <a:solidFill>
                  <a:srgbClr val="292934"/>
                </a:solidFill>
                <a:latin typeface="Courier New"/>
                <a:cs typeface="Courier New"/>
              </a:rPr>
              <a:t>age) </a:t>
            </a:r>
            <a:r>
              <a:rPr sz="1529" spc="-9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u="sng" spc="7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bid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529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spc="11" dirty="0">
                <a:solidFill>
                  <a:srgbClr val="292934"/>
                </a:solidFill>
                <a:latin typeface="Courier New"/>
                <a:cs typeface="Courier New"/>
              </a:rPr>
              <a:t>day)</a:t>
            </a:r>
            <a:endParaRPr sz="1529" dirty="0">
              <a:latin typeface="Courier New"/>
              <a:cs typeface="Courier New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4A90E9-43FC-AD54-CDE1-EE5185999BE5}"/>
              </a:ext>
            </a:extLst>
          </p:cNvPr>
          <p:cNvSpPr txBox="1"/>
          <p:nvPr/>
        </p:nvSpPr>
        <p:spPr>
          <a:xfrm>
            <a:off x="1908810" y="4566285"/>
            <a:ext cx="5015925" cy="1234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85" dirty="0"/>
              <a:t>SELECT </a:t>
            </a:r>
            <a:r>
              <a:rPr lang="en-US" sz="1485" dirty="0" err="1"/>
              <a:t>b.bid</a:t>
            </a:r>
            <a:r>
              <a:rPr lang="en-US" sz="1485" dirty="0"/>
              <a:t>, </a:t>
            </a:r>
            <a:r>
              <a:rPr lang="en-US" sz="1485" dirty="0" err="1"/>
              <a:t>b.bname</a:t>
            </a:r>
            <a:r>
              <a:rPr lang="en-US" sz="1485" dirty="0"/>
              <a:t>, COUNT(DISTINCT </a:t>
            </a:r>
            <a:r>
              <a:rPr lang="en-US" sz="1485" dirty="0" err="1"/>
              <a:t>r.sid</a:t>
            </a:r>
            <a:r>
              <a:rPr lang="en-US" sz="1485" dirty="0"/>
              <a:t>) AS </a:t>
            </a:r>
            <a:r>
              <a:rPr lang="en-US" sz="1485" dirty="0" err="1"/>
              <a:t>sailor_count</a:t>
            </a:r>
            <a:endParaRPr lang="en-US" sz="1485" dirty="0"/>
          </a:p>
          <a:p>
            <a:r>
              <a:rPr lang="en-US" sz="1485" dirty="0"/>
              <a:t>FROM Boats b</a:t>
            </a:r>
          </a:p>
          <a:p>
            <a:r>
              <a:rPr lang="en-US" sz="1485" dirty="0"/>
              <a:t>LEFT JOIN Reserves r ON </a:t>
            </a:r>
            <a:r>
              <a:rPr lang="en-US" sz="1485" dirty="0" err="1"/>
              <a:t>b.bid</a:t>
            </a:r>
            <a:r>
              <a:rPr lang="en-US" sz="1485" dirty="0"/>
              <a:t> = </a:t>
            </a:r>
            <a:r>
              <a:rPr lang="en-US" sz="1485" dirty="0" err="1"/>
              <a:t>r.bid</a:t>
            </a:r>
            <a:endParaRPr lang="en-US" sz="1485" dirty="0"/>
          </a:p>
          <a:p>
            <a:r>
              <a:rPr lang="en-US" sz="1485" dirty="0"/>
              <a:t>GROUP BY </a:t>
            </a:r>
            <a:r>
              <a:rPr lang="en-US" sz="1485" dirty="0" err="1"/>
              <a:t>b.bid</a:t>
            </a:r>
            <a:r>
              <a:rPr lang="en-US" sz="1485" dirty="0"/>
              <a:t>, </a:t>
            </a:r>
            <a:r>
              <a:rPr lang="en-US" sz="1485" dirty="0" err="1"/>
              <a:t>b.bname</a:t>
            </a:r>
            <a:r>
              <a:rPr lang="en-US" sz="1485" dirty="0"/>
              <a:t>;</a:t>
            </a:r>
          </a:p>
          <a:p>
            <a:endParaRPr lang="en-US" sz="14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5221" y="4303878"/>
            <a:ext cx="6696971" cy="1988337"/>
          </a:xfrm>
          <a:custGeom>
            <a:avLst/>
            <a:gdLst/>
            <a:ahLst/>
            <a:cxnLst/>
            <a:rect l="l" t="t" r="r" b="b"/>
            <a:pathLst>
              <a:path w="9199880" h="1877695">
                <a:moveTo>
                  <a:pt x="0" y="0"/>
                </a:moveTo>
                <a:lnTo>
                  <a:pt x="9199418" y="0"/>
                </a:lnTo>
                <a:lnTo>
                  <a:pt x="9199418" y="1877645"/>
                </a:lnTo>
                <a:lnTo>
                  <a:pt x="0" y="1877645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131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393" y="335514"/>
            <a:ext cx="7114626" cy="671055"/>
          </a:xfrm>
          <a:prstGeom prst="rect">
            <a:avLst/>
          </a:prstGeom>
        </p:spPr>
        <p:txBody>
          <a:bodyPr vert="horz" wrap="square" lIns="0" tIns="9245" rIns="0" bIns="0" rtlCol="0" anchor="ctr">
            <a:spAutoFit/>
          </a:bodyPr>
          <a:lstStyle/>
          <a:p>
            <a:pPr marL="9245">
              <a:spcBef>
                <a:spcPts val="73"/>
              </a:spcBef>
            </a:pPr>
            <a:r>
              <a:rPr spc="-102" dirty="0"/>
              <a:t>R</a:t>
            </a:r>
            <a:r>
              <a:rPr spc="-91" dirty="0"/>
              <a:t>e</a:t>
            </a:r>
            <a:r>
              <a:rPr spc="-95" dirty="0"/>
              <a:t>ca</a:t>
            </a:r>
            <a:r>
              <a:rPr dirty="0"/>
              <a:t>p</a:t>
            </a:r>
            <a:r>
              <a:rPr spc="-185" dirty="0"/>
              <a:t> </a:t>
            </a:r>
            <a:r>
              <a:rPr spc="-91" dirty="0"/>
              <a:t>2</a:t>
            </a:r>
            <a:r>
              <a:rPr dirty="0"/>
              <a:t>:</a:t>
            </a:r>
            <a:r>
              <a:rPr spc="-175" dirty="0"/>
              <a:t> </a:t>
            </a:r>
            <a:r>
              <a:rPr spc="-87" dirty="0"/>
              <a:t>J</a:t>
            </a:r>
            <a:r>
              <a:rPr spc="-102" dirty="0"/>
              <a:t>O</a:t>
            </a:r>
            <a:r>
              <a:rPr spc="-91" dirty="0"/>
              <a:t>I</a:t>
            </a:r>
            <a:r>
              <a:rPr dirty="0"/>
              <a:t>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10"/>
          </p:nvPr>
        </p:nvSpPr>
        <p:spPr>
          <a:xfrm>
            <a:off x="3661536" y="8125059"/>
            <a:ext cx="977027" cy="139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754380" rtl="0" eaLnBrk="1" latinLnBrk="0" hangingPunct="1">
              <a:defRPr sz="907" b="0" i="0" kern="1200">
                <a:solidFill>
                  <a:srgbClr val="CCD1D9"/>
                </a:solidFill>
                <a:latin typeface="Trebuchet MS"/>
                <a:ea typeface="+mn-ea"/>
                <a:cs typeface="Trebuchet MS"/>
              </a:defRPr>
            </a:lvl1pPr>
            <a:lvl2pPr marL="37719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314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033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1752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45">
              <a:spcBef>
                <a:spcPts val="15"/>
              </a:spcBef>
            </a:pPr>
            <a:r>
              <a:rPr lang="en-US" spc="25"/>
              <a:t>©</a:t>
            </a:r>
            <a:r>
              <a:rPr lang="en-US" spc="-58"/>
              <a:t> </a:t>
            </a:r>
            <a:r>
              <a:rPr lang="en-US" spc="-37"/>
              <a:t>P</a:t>
            </a:r>
            <a:r>
              <a:rPr lang="en-US" spc="-25"/>
              <a:t>r</a:t>
            </a:r>
            <a:r>
              <a:rPr lang="en-US" spc="-107"/>
              <a:t>a</a:t>
            </a:r>
            <a:r>
              <a:rPr lang="en-US" spc="-70"/>
              <a:t>p</a:t>
            </a:r>
            <a:r>
              <a:rPr lang="en-US" spc="-62"/>
              <a:t>h</a:t>
            </a:r>
            <a:r>
              <a:rPr lang="en-US" spc="-107"/>
              <a:t>a</a:t>
            </a:r>
            <a:r>
              <a:rPr lang="en-US" spc="-74"/>
              <a:t>m</a:t>
            </a:r>
            <a:r>
              <a:rPr lang="en-US" spc="-8"/>
              <a:t>o</a:t>
            </a:r>
            <a:r>
              <a:rPr lang="en-US" spc="-62"/>
              <a:t>n</a:t>
            </a:r>
            <a:r>
              <a:rPr lang="en-US" spc="-66"/>
              <a:t>t</a:t>
            </a:r>
            <a:r>
              <a:rPr lang="en-US" spc="-4"/>
              <a:t>r</a:t>
            </a:r>
            <a:r>
              <a:rPr lang="en-US" spc="-66"/>
              <a:t>i</a:t>
            </a:r>
            <a:r>
              <a:rPr lang="en-US" spc="-70"/>
              <a:t>p</a:t>
            </a:r>
            <a:r>
              <a:rPr lang="en-US" spc="-8"/>
              <a:t>o</a:t>
            </a:r>
            <a:r>
              <a:rPr lang="en-US" spc="-62"/>
              <a:t>n</a:t>
            </a:r>
            <a:r>
              <a:rPr lang="en-US" spc="-70"/>
              <a:t>g</a:t>
            </a:r>
            <a:endParaRPr spc="-62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xfrm>
            <a:off x="262775" y="8127817"/>
            <a:ext cx="1619298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754380" rtl="0" eaLnBrk="1" latinLnBrk="0" hangingPunct="1">
              <a:defRPr sz="907" b="0" i="0" kern="1200">
                <a:solidFill>
                  <a:srgbClr val="CCD1D9"/>
                </a:solidFill>
                <a:latin typeface="Arial MT"/>
                <a:ea typeface="+mn-ea"/>
                <a:cs typeface="Arial MT"/>
              </a:defRPr>
            </a:lvl1pPr>
            <a:lvl2pPr marL="37719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314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033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1752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45">
              <a:lnSpc>
                <a:spcPts val="957"/>
              </a:lnSpc>
            </a:pPr>
            <a:r>
              <a:rPr lang="en-US" spc="-12"/>
              <a:t>Fall</a:t>
            </a:r>
            <a:r>
              <a:rPr lang="en-US" spc="-25"/>
              <a:t> </a:t>
            </a:r>
            <a:r>
              <a:rPr lang="en-US" spc="-21"/>
              <a:t>2023</a:t>
            </a:r>
            <a:r>
              <a:rPr lang="en-US" spc="-37"/>
              <a:t> </a:t>
            </a:r>
            <a:r>
              <a:rPr lang="en-US"/>
              <a:t>–</a:t>
            </a:r>
            <a:r>
              <a:rPr lang="en-US" spc="-37"/>
              <a:t> </a:t>
            </a:r>
            <a:r>
              <a:rPr lang="en-US" spc="-17"/>
              <a:t>University</a:t>
            </a:r>
            <a:r>
              <a:rPr lang="en-US" spc="-29"/>
              <a:t> </a:t>
            </a:r>
            <a:r>
              <a:rPr lang="en-US" spc="-12"/>
              <a:t>of</a:t>
            </a:r>
            <a:r>
              <a:rPr lang="en-US" spc="-25"/>
              <a:t> </a:t>
            </a:r>
            <a:r>
              <a:rPr lang="en-US" spc="-12"/>
              <a:t>Virginia</a:t>
            </a:r>
            <a:endParaRPr spc="-11" dirty="0"/>
          </a:p>
        </p:txBody>
      </p:sp>
      <p:sp>
        <p:nvSpPr>
          <p:cNvPr id="10" name="object 10"/>
          <p:cNvSpPr txBox="1"/>
          <p:nvPr/>
        </p:nvSpPr>
        <p:spPr>
          <a:xfrm>
            <a:off x="8346871" y="6385288"/>
            <a:ext cx="112325" cy="247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736">
              <a:lnSpc>
                <a:spcPts val="957"/>
              </a:lnSpc>
            </a:pPr>
            <a:fld id="{81D60167-4931-47E6-BA6A-407CBD079E47}" type="slidenum">
              <a:rPr sz="801" dirty="0">
                <a:solidFill>
                  <a:srgbClr val="CCD1D9"/>
                </a:solidFill>
                <a:latin typeface="Arial MT"/>
                <a:cs typeface="Arial MT"/>
              </a:rPr>
              <a:pPr marL="27736">
                <a:lnSpc>
                  <a:spcPts val="957"/>
                </a:lnSpc>
              </a:pPr>
              <a:t>6</a:t>
            </a:fld>
            <a:endParaRPr sz="801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220" y="1886826"/>
            <a:ext cx="6439965" cy="1327593"/>
          </a:xfrm>
          <a:prstGeom prst="rect">
            <a:avLst/>
          </a:prstGeom>
        </p:spPr>
        <p:txBody>
          <a:bodyPr vert="horz" wrap="square" lIns="0" tIns="4622" rIns="0" bIns="0" rtlCol="0">
            <a:spAutoFit/>
          </a:bodyPr>
          <a:lstStyle/>
          <a:p>
            <a:pPr marL="9245" marR="3698">
              <a:lnSpc>
                <a:spcPct val="101800"/>
              </a:lnSpc>
              <a:spcBef>
                <a:spcPts val="36"/>
              </a:spcBef>
            </a:pP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3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age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601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sailors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3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reserved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boat. </a:t>
            </a:r>
            <a:r>
              <a:rPr sz="1601" spc="-55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boat</a:t>
            </a:r>
            <a:r>
              <a:rPr sz="1601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1601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boat</a:t>
            </a:r>
            <a:r>
              <a:rPr sz="1601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id,</a:t>
            </a:r>
            <a:r>
              <a:rPr sz="1601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3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age.</a:t>
            </a:r>
            <a:endParaRPr sz="1601" dirty="0">
              <a:latin typeface="Verdana"/>
              <a:cs typeface="Verdana"/>
            </a:endParaRPr>
          </a:p>
          <a:p>
            <a:pPr marL="9245">
              <a:spcBef>
                <a:spcPts val="474"/>
              </a:spcBef>
            </a:pP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Order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results</a:t>
            </a:r>
            <a:r>
              <a:rPr sz="1601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 boat</a:t>
            </a:r>
            <a:r>
              <a:rPr sz="1601" spc="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5" dirty="0">
                <a:solidFill>
                  <a:srgbClr val="292934"/>
                </a:solidFill>
                <a:latin typeface="Verdana"/>
                <a:cs typeface="Verdana"/>
              </a:rPr>
              <a:t>id.</a:t>
            </a:r>
            <a:endParaRPr sz="1601" dirty="0">
              <a:latin typeface="Verdana"/>
              <a:cs typeface="Verdana"/>
            </a:endParaRPr>
          </a:p>
          <a:p>
            <a:pPr>
              <a:spcBef>
                <a:spcPts val="36"/>
              </a:spcBef>
            </a:pPr>
            <a:endParaRPr sz="1784" dirty="0">
              <a:latin typeface="Verdana"/>
              <a:cs typeface="Verdana"/>
            </a:endParaRPr>
          </a:p>
          <a:p>
            <a:pPr marL="870911"/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Boats</a:t>
            </a:r>
            <a:r>
              <a:rPr sz="1529" spc="1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529" u="sng" spc="7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bid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529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bname,</a:t>
            </a:r>
            <a:r>
              <a:rPr sz="1529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spc="11" dirty="0">
                <a:solidFill>
                  <a:srgbClr val="292934"/>
                </a:solidFill>
                <a:latin typeface="Courier New"/>
                <a:cs typeface="Courier New"/>
              </a:rPr>
              <a:t>color)</a:t>
            </a:r>
            <a:endParaRPr sz="1529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4360" y="3286638"/>
            <a:ext cx="1673781" cy="487082"/>
          </a:xfrm>
          <a:prstGeom prst="rect">
            <a:avLst/>
          </a:prstGeom>
        </p:spPr>
        <p:txBody>
          <a:bodyPr vert="horz" wrap="square" lIns="0" tIns="2311" rIns="0" bIns="0" rtlCol="0">
            <a:spAutoFit/>
          </a:bodyPr>
          <a:lstStyle/>
          <a:p>
            <a:pPr marL="9245" marR="3698">
              <a:lnSpc>
                <a:spcPct val="102899"/>
              </a:lnSpc>
              <a:spcBef>
                <a:spcPts val="18"/>
              </a:spcBef>
            </a:pP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Sailors (</a:t>
            </a:r>
            <a:r>
              <a:rPr sz="1529" u="sng" spc="7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sid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, </a:t>
            </a:r>
            <a:r>
              <a:rPr sz="1529" spc="1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Reserves</a:t>
            </a:r>
            <a:r>
              <a:rPr sz="1529" spc="-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529" u="sng" spc="7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sid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1529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8973" y="3309380"/>
            <a:ext cx="2266838" cy="487082"/>
          </a:xfrm>
          <a:prstGeom prst="rect">
            <a:avLst/>
          </a:prstGeom>
        </p:spPr>
        <p:txBody>
          <a:bodyPr vert="horz" wrap="square" lIns="0" tIns="2311" rIns="0" bIns="0" rtlCol="0">
            <a:spAutoFit/>
          </a:bodyPr>
          <a:lstStyle/>
          <a:p>
            <a:pPr marL="127585" marR="3698" indent="-118340">
              <a:lnSpc>
                <a:spcPct val="102899"/>
              </a:lnSpc>
              <a:spcBef>
                <a:spcPts val="18"/>
              </a:spcBef>
            </a:pP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sname, rating, </a:t>
            </a:r>
            <a:r>
              <a:rPr sz="1529" spc="11" dirty="0">
                <a:solidFill>
                  <a:srgbClr val="292934"/>
                </a:solidFill>
                <a:latin typeface="Courier New"/>
                <a:cs typeface="Courier New"/>
              </a:rPr>
              <a:t>age) </a:t>
            </a:r>
            <a:r>
              <a:rPr sz="1529" spc="-9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u="sng" spc="7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bid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529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spc="11" dirty="0">
                <a:solidFill>
                  <a:srgbClr val="292934"/>
                </a:solidFill>
                <a:latin typeface="Courier New"/>
                <a:cs typeface="Courier New"/>
              </a:rPr>
              <a:t>day)</a:t>
            </a:r>
            <a:endParaRPr sz="1529" dirty="0">
              <a:latin typeface="Courier New"/>
              <a:cs typeface="Courier New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817E10-E719-C736-4FC8-513F566FF7D1}"/>
              </a:ext>
            </a:extLst>
          </p:cNvPr>
          <p:cNvSpPr txBox="1"/>
          <p:nvPr/>
        </p:nvSpPr>
        <p:spPr>
          <a:xfrm>
            <a:off x="754380" y="4463415"/>
            <a:ext cx="6240805" cy="169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85" dirty="0"/>
              <a:t>SELECT </a:t>
            </a:r>
            <a:r>
              <a:rPr lang="en-US" sz="1485" dirty="0" err="1"/>
              <a:t>b.bid</a:t>
            </a:r>
            <a:r>
              <a:rPr lang="en-US" sz="1485" dirty="0"/>
              <a:t>, </a:t>
            </a:r>
            <a:r>
              <a:rPr lang="en-US" sz="1485" dirty="0" err="1"/>
              <a:t>b.bname</a:t>
            </a:r>
            <a:r>
              <a:rPr lang="en-US" sz="1485" dirty="0"/>
              <a:t>, AVG(</a:t>
            </a:r>
            <a:r>
              <a:rPr lang="en-US" sz="1485" dirty="0" err="1"/>
              <a:t>s.age</a:t>
            </a:r>
            <a:r>
              <a:rPr lang="en-US" sz="1485" dirty="0"/>
              <a:t>) AS </a:t>
            </a:r>
            <a:r>
              <a:rPr lang="en-US" sz="1485" dirty="0" err="1"/>
              <a:t>average_age</a:t>
            </a:r>
            <a:endParaRPr lang="en-US" sz="1485" dirty="0"/>
          </a:p>
          <a:p>
            <a:r>
              <a:rPr lang="en-US" sz="1485" dirty="0"/>
              <a:t>FROM Boats b</a:t>
            </a:r>
          </a:p>
          <a:p>
            <a:r>
              <a:rPr lang="en-US" sz="1485" dirty="0"/>
              <a:t>LEFT JOIN Reserves r ON </a:t>
            </a:r>
            <a:r>
              <a:rPr lang="en-US" sz="1485" dirty="0" err="1"/>
              <a:t>b.bid</a:t>
            </a:r>
            <a:r>
              <a:rPr lang="en-US" sz="1485" dirty="0"/>
              <a:t> = </a:t>
            </a:r>
            <a:r>
              <a:rPr lang="en-US" sz="1485" dirty="0" err="1"/>
              <a:t>r.bid</a:t>
            </a:r>
            <a:endParaRPr lang="en-US" sz="1485" dirty="0"/>
          </a:p>
          <a:p>
            <a:r>
              <a:rPr lang="en-US" sz="1485" dirty="0"/>
              <a:t>LEFT JOIN Sailors s ON </a:t>
            </a:r>
            <a:r>
              <a:rPr lang="en-US" sz="1485" dirty="0" err="1"/>
              <a:t>r.sid</a:t>
            </a:r>
            <a:r>
              <a:rPr lang="en-US" sz="1485" dirty="0"/>
              <a:t> = </a:t>
            </a:r>
            <a:r>
              <a:rPr lang="en-US" sz="1485" dirty="0" err="1"/>
              <a:t>s.sid</a:t>
            </a:r>
            <a:endParaRPr lang="en-US" sz="1485" dirty="0"/>
          </a:p>
          <a:p>
            <a:r>
              <a:rPr lang="en-US" sz="1485" dirty="0"/>
              <a:t>GROUP BY </a:t>
            </a:r>
            <a:r>
              <a:rPr lang="en-US" sz="1485" dirty="0" err="1"/>
              <a:t>b.bid</a:t>
            </a:r>
            <a:r>
              <a:rPr lang="en-US" sz="1485" dirty="0"/>
              <a:t>, </a:t>
            </a:r>
            <a:r>
              <a:rPr lang="en-US" sz="1485" dirty="0" err="1"/>
              <a:t>b.bname</a:t>
            </a:r>
            <a:endParaRPr lang="en-US" sz="1485" dirty="0"/>
          </a:p>
          <a:p>
            <a:r>
              <a:rPr lang="en-US" sz="1485" dirty="0"/>
              <a:t>ORDER BY </a:t>
            </a:r>
            <a:r>
              <a:rPr lang="en-US" sz="1485" dirty="0" err="1"/>
              <a:t>b.bid</a:t>
            </a:r>
            <a:r>
              <a:rPr lang="en-US" sz="1485" dirty="0"/>
              <a:t>;</a:t>
            </a:r>
          </a:p>
          <a:p>
            <a:endParaRPr lang="en-US" sz="14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72424" y="4437146"/>
            <a:ext cx="6696971" cy="2066741"/>
          </a:xfrm>
          <a:custGeom>
            <a:avLst/>
            <a:gdLst/>
            <a:ahLst/>
            <a:cxnLst/>
            <a:rect l="l" t="t" r="r" b="b"/>
            <a:pathLst>
              <a:path w="9199880" h="1972945">
                <a:moveTo>
                  <a:pt x="0" y="0"/>
                </a:moveTo>
                <a:lnTo>
                  <a:pt x="9199418" y="0"/>
                </a:lnTo>
                <a:lnTo>
                  <a:pt x="9199418" y="1972891"/>
                </a:lnTo>
                <a:lnTo>
                  <a:pt x="0" y="1972891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131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382" y="329789"/>
            <a:ext cx="9403635" cy="671055"/>
          </a:xfrm>
          <a:prstGeom prst="rect">
            <a:avLst/>
          </a:prstGeom>
        </p:spPr>
        <p:txBody>
          <a:bodyPr vert="horz" wrap="square" lIns="0" tIns="9245" rIns="0" bIns="0" rtlCol="0" anchor="ctr">
            <a:spAutoFit/>
          </a:bodyPr>
          <a:lstStyle/>
          <a:p>
            <a:pPr marL="9245">
              <a:spcBef>
                <a:spcPts val="73"/>
              </a:spcBef>
            </a:pPr>
            <a:r>
              <a:rPr spc="-102" dirty="0"/>
              <a:t>R</a:t>
            </a:r>
            <a:r>
              <a:rPr spc="-91" dirty="0"/>
              <a:t>e</a:t>
            </a:r>
            <a:r>
              <a:rPr spc="-95" dirty="0"/>
              <a:t>ca</a:t>
            </a:r>
            <a:r>
              <a:rPr dirty="0"/>
              <a:t>p</a:t>
            </a:r>
            <a:r>
              <a:rPr spc="-185" dirty="0"/>
              <a:t> </a:t>
            </a:r>
            <a:r>
              <a:rPr spc="-91" dirty="0"/>
              <a:t>3</a:t>
            </a:r>
            <a:r>
              <a:rPr dirty="0"/>
              <a:t>:</a:t>
            </a:r>
            <a:r>
              <a:rPr spc="-175" dirty="0"/>
              <a:t> </a:t>
            </a:r>
            <a:r>
              <a:rPr spc="-87" dirty="0"/>
              <a:t>J</a:t>
            </a:r>
            <a:r>
              <a:rPr spc="-102" dirty="0"/>
              <a:t>O</a:t>
            </a:r>
            <a:r>
              <a:rPr spc="-91" dirty="0"/>
              <a:t>I</a:t>
            </a:r>
            <a:r>
              <a:rPr dirty="0"/>
              <a:t>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10"/>
          </p:nvPr>
        </p:nvSpPr>
        <p:spPr>
          <a:xfrm>
            <a:off x="3661536" y="8125059"/>
            <a:ext cx="977027" cy="139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754380" rtl="0" eaLnBrk="1" latinLnBrk="0" hangingPunct="1">
              <a:defRPr sz="907" b="0" i="0" kern="1200">
                <a:solidFill>
                  <a:srgbClr val="CCD1D9"/>
                </a:solidFill>
                <a:latin typeface="Trebuchet MS"/>
                <a:ea typeface="+mn-ea"/>
                <a:cs typeface="Trebuchet MS"/>
              </a:defRPr>
            </a:lvl1pPr>
            <a:lvl2pPr marL="37719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314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033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1752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45">
              <a:spcBef>
                <a:spcPts val="15"/>
              </a:spcBef>
            </a:pPr>
            <a:r>
              <a:rPr lang="en-US" spc="25"/>
              <a:t>©</a:t>
            </a:r>
            <a:r>
              <a:rPr lang="en-US" spc="-58"/>
              <a:t> </a:t>
            </a:r>
            <a:r>
              <a:rPr lang="en-US" spc="-37"/>
              <a:t>P</a:t>
            </a:r>
            <a:r>
              <a:rPr lang="en-US" spc="-25"/>
              <a:t>r</a:t>
            </a:r>
            <a:r>
              <a:rPr lang="en-US" spc="-107"/>
              <a:t>a</a:t>
            </a:r>
            <a:r>
              <a:rPr lang="en-US" spc="-70"/>
              <a:t>p</a:t>
            </a:r>
            <a:r>
              <a:rPr lang="en-US" spc="-62"/>
              <a:t>h</a:t>
            </a:r>
            <a:r>
              <a:rPr lang="en-US" spc="-107"/>
              <a:t>a</a:t>
            </a:r>
            <a:r>
              <a:rPr lang="en-US" spc="-74"/>
              <a:t>m</a:t>
            </a:r>
            <a:r>
              <a:rPr lang="en-US" spc="-8"/>
              <a:t>o</a:t>
            </a:r>
            <a:r>
              <a:rPr lang="en-US" spc="-62"/>
              <a:t>n</a:t>
            </a:r>
            <a:r>
              <a:rPr lang="en-US" spc="-66"/>
              <a:t>t</a:t>
            </a:r>
            <a:r>
              <a:rPr lang="en-US" spc="-4"/>
              <a:t>r</a:t>
            </a:r>
            <a:r>
              <a:rPr lang="en-US" spc="-66"/>
              <a:t>i</a:t>
            </a:r>
            <a:r>
              <a:rPr lang="en-US" spc="-70"/>
              <a:t>p</a:t>
            </a:r>
            <a:r>
              <a:rPr lang="en-US" spc="-8"/>
              <a:t>o</a:t>
            </a:r>
            <a:r>
              <a:rPr lang="en-US" spc="-62"/>
              <a:t>n</a:t>
            </a:r>
            <a:r>
              <a:rPr lang="en-US" spc="-70"/>
              <a:t>g</a:t>
            </a:r>
            <a:endParaRPr spc="-62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xfrm>
            <a:off x="262775" y="8127817"/>
            <a:ext cx="1619298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754380" rtl="0" eaLnBrk="1" latinLnBrk="0" hangingPunct="1">
              <a:defRPr sz="907" b="0" i="0" kern="1200">
                <a:solidFill>
                  <a:srgbClr val="CCD1D9"/>
                </a:solidFill>
                <a:latin typeface="Arial MT"/>
                <a:ea typeface="+mn-ea"/>
                <a:cs typeface="Arial MT"/>
              </a:defRPr>
            </a:lvl1pPr>
            <a:lvl2pPr marL="37719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314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033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1752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45">
              <a:lnSpc>
                <a:spcPts val="957"/>
              </a:lnSpc>
            </a:pPr>
            <a:r>
              <a:rPr lang="en-US" spc="-12"/>
              <a:t>Fall</a:t>
            </a:r>
            <a:r>
              <a:rPr lang="en-US" spc="-25"/>
              <a:t> </a:t>
            </a:r>
            <a:r>
              <a:rPr lang="en-US" spc="-21"/>
              <a:t>2023</a:t>
            </a:r>
            <a:r>
              <a:rPr lang="en-US" spc="-37"/>
              <a:t> </a:t>
            </a:r>
            <a:r>
              <a:rPr lang="en-US"/>
              <a:t>–</a:t>
            </a:r>
            <a:r>
              <a:rPr lang="en-US" spc="-37"/>
              <a:t> </a:t>
            </a:r>
            <a:r>
              <a:rPr lang="en-US" spc="-17"/>
              <a:t>University</a:t>
            </a:r>
            <a:r>
              <a:rPr lang="en-US" spc="-29"/>
              <a:t> </a:t>
            </a:r>
            <a:r>
              <a:rPr lang="en-US" spc="-12"/>
              <a:t>of</a:t>
            </a:r>
            <a:r>
              <a:rPr lang="en-US" spc="-25"/>
              <a:t> </a:t>
            </a:r>
            <a:r>
              <a:rPr lang="en-US" spc="-12"/>
              <a:t>Virginia</a:t>
            </a:r>
            <a:endParaRPr spc="-11" dirty="0"/>
          </a:p>
        </p:txBody>
      </p:sp>
      <p:sp>
        <p:nvSpPr>
          <p:cNvPr id="10" name="object 10"/>
          <p:cNvSpPr txBox="1"/>
          <p:nvPr/>
        </p:nvSpPr>
        <p:spPr>
          <a:xfrm>
            <a:off x="8346871" y="6385288"/>
            <a:ext cx="112325" cy="247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736">
              <a:lnSpc>
                <a:spcPts val="957"/>
              </a:lnSpc>
            </a:pPr>
            <a:fld id="{81D60167-4931-47E6-BA6A-407CBD079E47}" type="slidenum">
              <a:rPr sz="801" dirty="0">
                <a:solidFill>
                  <a:srgbClr val="CCD1D9"/>
                </a:solidFill>
                <a:latin typeface="Arial MT"/>
                <a:cs typeface="Arial MT"/>
              </a:rPr>
              <a:pPr marL="27736">
                <a:lnSpc>
                  <a:spcPts val="957"/>
                </a:lnSpc>
              </a:pPr>
              <a:t>7</a:t>
            </a:fld>
            <a:endParaRPr sz="801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4144" y="1918138"/>
            <a:ext cx="7799816" cy="1616548"/>
          </a:xfrm>
          <a:prstGeom prst="rect">
            <a:avLst/>
          </a:prstGeom>
        </p:spPr>
        <p:txBody>
          <a:bodyPr vert="horz" wrap="square" lIns="0" tIns="3698" rIns="0" bIns="0" rtlCol="0">
            <a:spAutoFit/>
          </a:bodyPr>
          <a:lstStyle/>
          <a:p>
            <a:pPr marL="9245" marR="3698">
              <a:lnSpc>
                <a:spcPct val="102299"/>
              </a:lnSpc>
              <a:spcBef>
                <a:spcPts val="29"/>
              </a:spcBef>
            </a:pP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3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age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601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sailors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3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reserved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boat? </a:t>
            </a:r>
            <a:r>
              <a:rPr sz="1601" spc="-55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boat</a:t>
            </a:r>
            <a:r>
              <a:rPr sz="160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1601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bid,</a:t>
            </a:r>
            <a:r>
              <a:rPr sz="160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601" spc="2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3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age.</a:t>
            </a:r>
            <a:r>
              <a:rPr sz="160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Order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results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by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bid.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1601" i="1" spc="7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601" i="1" spc="3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i="1" spc="15" dirty="0">
                <a:solidFill>
                  <a:srgbClr val="292934"/>
                </a:solidFill>
                <a:latin typeface="Verdana"/>
                <a:cs typeface="Verdana"/>
              </a:rPr>
              <a:t>Recap</a:t>
            </a:r>
            <a:r>
              <a:rPr sz="1601" i="1" spc="2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i="1" spc="7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1601" dirty="0">
              <a:latin typeface="Verdana"/>
              <a:cs typeface="Verdana"/>
            </a:endParaRPr>
          </a:p>
          <a:p>
            <a:pPr marL="9245" marR="10170">
              <a:lnSpc>
                <a:spcPct val="102699"/>
              </a:lnSpc>
              <a:spcBef>
                <a:spcPts val="925"/>
              </a:spcBef>
            </a:pP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601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addition,</a:t>
            </a:r>
            <a:r>
              <a:rPr sz="160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boat</a:t>
            </a:r>
            <a:r>
              <a:rPr sz="160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3" dirty="0">
                <a:solidFill>
                  <a:srgbClr val="292934"/>
                </a:solidFill>
                <a:latin typeface="Verdana"/>
                <a:cs typeface="Verdana"/>
              </a:rPr>
              <a:t>info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where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3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age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1601" spc="-55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sailors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3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reserved</a:t>
            </a:r>
            <a:r>
              <a:rPr sz="1601" spc="2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601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boat</a:t>
            </a:r>
            <a:r>
              <a:rPr sz="1601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dirty="0">
                <a:solidFill>
                  <a:srgbClr val="292934"/>
                </a:solidFill>
                <a:latin typeface="Verdana"/>
                <a:cs typeface="Verdana"/>
              </a:rPr>
              <a:t>&gt;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35</a:t>
            </a:r>
            <a:r>
              <a:rPr sz="1601" spc="2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years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old.</a:t>
            </a:r>
            <a:endParaRPr sz="1601" dirty="0">
              <a:latin typeface="Verdana"/>
              <a:cs typeface="Verdana"/>
            </a:endParaRPr>
          </a:p>
          <a:p>
            <a:pPr>
              <a:spcBef>
                <a:spcPts val="40"/>
              </a:spcBef>
            </a:pPr>
            <a:endParaRPr sz="1638" dirty="0">
              <a:latin typeface="Verdana"/>
              <a:cs typeface="Verdana"/>
            </a:endParaRPr>
          </a:p>
          <a:p>
            <a:pPr marL="885242"/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Boats</a:t>
            </a:r>
            <a:r>
              <a:rPr sz="1529" spc="1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529" u="sng" spc="7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bid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529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bname,</a:t>
            </a:r>
            <a:r>
              <a:rPr sz="1529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spc="11" dirty="0">
                <a:solidFill>
                  <a:srgbClr val="292934"/>
                </a:solidFill>
                <a:latin typeface="Courier New"/>
                <a:cs typeface="Courier New"/>
              </a:rPr>
              <a:t>color)</a:t>
            </a:r>
            <a:endParaRPr sz="1529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2073" y="3632937"/>
            <a:ext cx="1673781" cy="487082"/>
          </a:xfrm>
          <a:prstGeom prst="rect">
            <a:avLst/>
          </a:prstGeom>
        </p:spPr>
        <p:txBody>
          <a:bodyPr vert="horz" wrap="square" lIns="0" tIns="2311" rIns="0" bIns="0" rtlCol="0">
            <a:spAutoFit/>
          </a:bodyPr>
          <a:lstStyle/>
          <a:p>
            <a:pPr marL="9245" marR="3698">
              <a:lnSpc>
                <a:spcPct val="102899"/>
              </a:lnSpc>
              <a:spcBef>
                <a:spcPts val="18"/>
              </a:spcBef>
            </a:pP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Sailors (</a:t>
            </a:r>
            <a:r>
              <a:rPr sz="1529" u="sng" spc="7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sid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, </a:t>
            </a:r>
            <a:r>
              <a:rPr sz="1529" spc="1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Reserves</a:t>
            </a:r>
            <a:r>
              <a:rPr sz="1529" spc="-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529" u="sng" spc="7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sid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1529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05144" y="3642755"/>
            <a:ext cx="2266838" cy="487082"/>
          </a:xfrm>
          <a:prstGeom prst="rect">
            <a:avLst/>
          </a:prstGeom>
        </p:spPr>
        <p:txBody>
          <a:bodyPr vert="horz" wrap="square" lIns="0" tIns="2311" rIns="0" bIns="0" rtlCol="0">
            <a:spAutoFit/>
          </a:bodyPr>
          <a:lstStyle/>
          <a:p>
            <a:pPr marL="127585" marR="3698" indent="-118340">
              <a:lnSpc>
                <a:spcPct val="102899"/>
              </a:lnSpc>
              <a:spcBef>
                <a:spcPts val="18"/>
              </a:spcBef>
            </a:pP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sname, rating, </a:t>
            </a:r>
            <a:r>
              <a:rPr sz="1529" spc="11" dirty="0">
                <a:solidFill>
                  <a:srgbClr val="292934"/>
                </a:solidFill>
                <a:latin typeface="Courier New"/>
                <a:cs typeface="Courier New"/>
              </a:rPr>
              <a:t>age) </a:t>
            </a:r>
            <a:r>
              <a:rPr sz="1529" spc="-9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u="sng" spc="7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bid</a:t>
            </a:r>
            <a:r>
              <a:rPr sz="1529" spc="7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529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529" spc="11" dirty="0">
                <a:solidFill>
                  <a:srgbClr val="292934"/>
                </a:solidFill>
                <a:latin typeface="Courier New"/>
                <a:cs typeface="Courier New"/>
              </a:rPr>
              <a:t>day)</a:t>
            </a:r>
            <a:endParaRPr sz="1529" dirty="0">
              <a:latin typeface="Courier New"/>
              <a:cs typeface="Courier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0628C3-663C-2A6B-54A1-6A87C19DFCDD}"/>
              </a:ext>
            </a:extLst>
          </p:cNvPr>
          <p:cNvSpPr txBox="1"/>
          <p:nvPr/>
        </p:nvSpPr>
        <p:spPr>
          <a:xfrm>
            <a:off x="1325880" y="4540220"/>
            <a:ext cx="4128118" cy="1920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85" dirty="0"/>
              <a:t>SELECT </a:t>
            </a:r>
            <a:r>
              <a:rPr lang="en-US" sz="1485" dirty="0" err="1"/>
              <a:t>b.bid</a:t>
            </a:r>
            <a:r>
              <a:rPr lang="en-US" sz="1485" dirty="0"/>
              <a:t>, </a:t>
            </a:r>
            <a:r>
              <a:rPr lang="en-US" sz="1485" dirty="0" err="1"/>
              <a:t>b.bname</a:t>
            </a:r>
            <a:r>
              <a:rPr lang="en-US" sz="1485" dirty="0"/>
              <a:t>, AVG(</a:t>
            </a:r>
            <a:r>
              <a:rPr lang="en-US" sz="1485" dirty="0" err="1"/>
              <a:t>s.age</a:t>
            </a:r>
            <a:r>
              <a:rPr lang="en-US" sz="1485" dirty="0"/>
              <a:t>) AS </a:t>
            </a:r>
            <a:r>
              <a:rPr lang="en-US" sz="1485" dirty="0" err="1"/>
              <a:t>average_age</a:t>
            </a:r>
            <a:endParaRPr lang="en-US" sz="1485" dirty="0"/>
          </a:p>
          <a:p>
            <a:r>
              <a:rPr lang="en-US" sz="1485" dirty="0"/>
              <a:t>FROM Boats b</a:t>
            </a:r>
          </a:p>
          <a:p>
            <a:r>
              <a:rPr lang="en-US" sz="1485" dirty="0"/>
              <a:t>LEFT JOIN Reserves r ON </a:t>
            </a:r>
            <a:r>
              <a:rPr lang="en-US" sz="1485" dirty="0" err="1"/>
              <a:t>b.bid</a:t>
            </a:r>
            <a:r>
              <a:rPr lang="en-US" sz="1485" dirty="0"/>
              <a:t> = </a:t>
            </a:r>
            <a:r>
              <a:rPr lang="en-US" sz="1485" dirty="0" err="1"/>
              <a:t>r.bid</a:t>
            </a:r>
            <a:endParaRPr lang="en-US" sz="1485" dirty="0"/>
          </a:p>
          <a:p>
            <a:r>
              <a:rPr lang="en-US" sz="1485" dirty="0"/>
              <a:t>LEFT JOIN Sailors s ON </a:t>
            </a:r>
            <a:r>
              <a:rPr lang="en-US" sz="1485" dirty="0" err="1"/>
              <a:t>r.sid</a:t>
            </a:r>
            <a:r>
              <a:rPr lang="en-US" sz="1485" dirty="0"/>
              <a:t> = </a:t>
            </a:r>
            <a:r>
              <a:rPr lang="en-US" sz="1485" dirty="0" err="1"/>
              <a:t>s.sid</a:t>
            </a:r>
            <a:endParaRPr lang="en-US" sz="1485" dirty="0"/>
          </a:p>
          <a:p>
            <a:r>
              <a:rPr lang="en-US" sz="1485" dirty="0"/>
              <a:t>GROUP BY </a:t>
            </a:r>
            <a:r>
              <a:rPr lang="en-US" sz="1485" dirty="0" err="1"/>
              <a:t>b.bid</a:t>
            </a:r>
            <a:r>
              <a:rPr lang="en-US" sz="1485" dirty="0"/>
              <a:t>, </a:t>
            </a:r>
            <a:r>
              <a:rPr lang="en-US" sz="1485" dirty="0" err="1"/>
              <a:t>b.bname</a:t>
            </a:r>
            <a:endParaRPr lang="en-US" sz="1485" dirty="0"/>
          </a:p>
          <a:p>
            <a:r>
              <a:rPr lang="en-US" sz="1485" dirty="0"/>
              <a:t>HAVING AVG(</a:t>
            </a:r>
            <a:r>
              <a:rPr lang="en-US" sz="1485" dirty="0" err="1"/>
              <a:t>s.age</a:t>
            </a:r>
            <a:r>
              <a:rPr lang="en-US" sz="1485" dirty="0"/>
              <a:t>) &gt; 35</a:t>
            </a:r>
          </a:p>
          <a:p>
            <a:r>
              <a:rPr lang="en-US" sz="1485" dirty="0"/>
              <a:t>ORDER BY </a:t>
            </a:r>
            <a:r>
              <a:rPr lang="en-US" sz="1485" dirty="0" err="1"/>
              <a:t>b.bid</a:t>
            </a:r>
            <a:r>
              <a:rPr lang="en-US" sz="1485" dirty="0"/>
              <a:t>;</a:t>
            </a:r>
          </a:p>
          <a:p>
            <a:endParaRPr lang="en-US" sz="14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2814" y="4028785"/>
            <a:ext cx="6696971" cy="2377155"/>
          </a:xfrm>
          <a:custGeom>
            <a:avLst/>
            <a:gdLst/>
            <a:ahLst/>
            <a:cxnLst/>
            <a:rect l="l" t="t" r="r" b="b"/>
            <a:pathLst>
              <a:path w="9199880" h="2126615">
                <a:moveTo>
                  <a:pt x="0" y="0"/>
                </a:moveTo>
                <a:lnTo>
                  <a:pt x="9199418" y="0"/>
                </a:lnTo>
                <a:lnTo>
                  <a:pt x="9199418" y="2126600"/>
                </a:lnTo>
                <a:lnTo>
                  <a:pt x="0" y="2126600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131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9524" y="359258"/>
            <a:ext cx="9490825" cy="671055"/>
          </a:xfrm>
          <a:prstGeom prst="rect">
            <a:avLst/>
          </a:prstGeom>
        </p:spPr>
        <p:txBody>
          <a:bodyPr vert="horz" wrap="square" lIns="0" tIns="9245" rIns="0" bIns="0" rtlCol="0" anchor="ctr">
            <a:spAutoFit/>
          </a:bodyPr>
          <a:lstStyle/>
          <a:p>
            <a:pPr marL="9245">
              <a:spcBef>
                <a:spcPts val="73"/>
              </a:spcBef>
            </a:pPr>
            <a:r>
              <a:rPr spc="-102" dirty="0"/>
              <a:t>R</a:t>
            </a:r>
            <a:r>
              <a:rPr spc="-91" dirty="0"/>
              <a:t>e</a:t>
            </a:r>
            <a:r>
              <a:rPr spc="-95" dirty="0"/>
              <a:t>ca</a:t>
            </a:r>
            <a:r>
              <a:rPr dirty="0"/>
              <a:t>p</a:t>
            </a:r>
            <a:r>
              <a:rPr spc="-185" dirty="0"/>
              <a:t> </a:t>
            </a:r>
            <a:r>
              <a:rPr lang="en-US" spc="-91" dirty="0"/>
              <a:t>4</a:t>
            </a:r>
            <a:r>
              <a:rPr dirty="0"/>
              <a:t>:</a:t>
            </a:r>
            <a:r>
              <a:rPr spc="-175" dirty="0"/>
              <a:t> </a:t>
            </a:r>
            <a:r>
              <a:rPr spc="-98" dirty="0"/>
              <a:t>S</a:t>
            </a:r>
            <a:r>
              <a:rPr spc="-91" dirty="0"/>
              <a:t>el</a:t>
            </a:r>
            <a:r>
              <a:rPr dirty="0"/>
              <a:t>f</a:t>
            </a:r>
            <a:r>
              <a:rPr spc="-182" dirty="0"/>
              <a:t> </a:t>
            </a:r>
            <a:r>
              <a:rPr spc="-87" dirty="0"/>
              <a:t>J</a:t>
            </a:r>
            <a:r>
              <a:rPr spc="-95" dirty="0"/>
              <a:t>o</a:t>
            </a:r>
            <a:r>
              <a:rPr spc="-91" dirty="0"/>
              <a:t>i</a:t>
            </a:r>
            <a:r>
              <a:rPr dirty="0"/>
              <a:t>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10"/>
          </p:nvPr>
        </p:nvSpPr>
        <p:spPr>
          <a:xfrm>
            <a:off x="3661536" y="8125059"/>
            <a:ext cx="977027" cy="139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754380" rtl="0" eaLnBrk="1" latinLnBrk="0" hangingPunct="1">
              <a:defRPr sz="907" b="0" i="0" kern="1200">
                <a:solidFill>
                  <a:srgbClr val="CCD1D9"/>
                </a:solidFill>
                <a:latin typeface="Trebuchet MS"/>
                <a:ea typeface="+mn-ea"/>
                <a:cs typeface="Trebuchet MS"/>
              </a:defRPr>
            </a:lvl1pPr>
            <a:lvl2pPr marL="37719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314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033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1752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45">
              <a:spcBef>
                <a:spcPts val="15"/>
              </a:spcBef>
            </a:pPr>
            <a:r>
              <a:rPr lang="en-US" spc="25"/>
              <a:t>©</a:t>
            </a:r>
            <a:r>
              <a:rPr lang="en-US" spc="-58"/>
              <a:t> </a:t>
            </a:r>
            <a:r>
              <a:rPr lang="en-US" spc="-37"/>
              <a:t>P</a:t>
            </a:r>
            <a:r>
              <a:rPr lang="en-US" spc="-25"/>
              <a:t>r</a:t>
            </a:r>
            <a:r>
              <a:rPr lang="en-US" spc="-107"/>
              <a:t>a</a:t>
            </a:r>
            <a:r>
              <a:rPr lang="en-US" spc="-70"/>
              <a:t>p</a:t>
            </a:r>
            <a:r>
              <a:rPr lang="en-US" spc="-62"/>
              <a:t>h</a:t>
            </a:r>
            <a:r>
              <a:rPr lang="en-US" spc="-107"/>
              <a:t>a</a:t>
            </a:r>
            <a:r>
              <a:rPr lang="en-US" spc="-74"/>
              <a:t>m</a:t>
            </a:r>
            <a:r>
              <a:rPr lang="en-US" spc="-8"/>
              <a:t>o</a:t>
            </a:r>
            <a:r>
              <a:rPr lang="en-US" spc="-62"/>
              <a:t>n</a:t>
            </a:r>
            <a:r>
              <a:rPr lang="en-US" spc="-66"/>
              <a:t>t</a:t>
            </a:r>
            <a:r>
              <a:rPr lang="en-US" spc="-4"/>
              <a:t>r</a:t>
            </a:r>
            <a:r>
              <a:rPr lang="en-US" spc="-66"/>
              <a:t>i</a:t>
            </a:r>
            <a:r>
              <a:rPr lang="en-US" spc="-70"/>
              <a:t>p</a:t>
            </a:r>
            <a:r>
              <a:rPr lang="en-US" spc="-8"/>
              <a:t>o</a:t>
            </a:r>
            <a:r>
              <a:rPr lang="en-US" spc="-62"/>
              <a:t>n</a:t>
            </a:r>
            <a:r>
              <a:rPr lang="en-US" spc="-70"/>
              <a:t>g</a:t>
            </a:r>
            <a:endParaRPr spc="-62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xfrm>
            <a:off x="262775" y="8127817"/>
            <a:ext cx="1619298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754380" rtl="0" eaLnBrk="1" latinLnBrk="0" hangingPunct="1">
              <a:defRPr sz="907" b="0" i="0" kern="1200">
                <a:solidFill>
                  <a:srgbClr val="CCD1D9"/>
                </a:solidFill>
                <a:latin typeface="Arial MT"/>
                <a:ea typeface="+mn-ea"/>
                <a:cs typeface="Arial MT"/>
              </a:defRPr>
            </a:lvl1pPr>
            <a:lvl2pPr marL="37719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314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033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1752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45">
              <a:lnSpc>
                <a:spcPts val="957"/>
              </a:lnSpc>
            </a:pPr>
            <a:r>
              <a:rPr lang="en-US" spc="-12"/>
              <a:t>Fall</a:t>
            </a:r>
            <a:r>
              <a:rPr lang="en-US" spc="-25"/>
              <a:t> </a:t>
            </a:r>
            <a:r>
              <a:rPr lang="en-US" spc="-21"/>
              <a:t>2023</a:t>
            </a:r>
            <a:r>
              <a:rPr lang="en-US" spc="-37"/>
              <a:t> </a:t>
            </a:r>
            <a:r>
              <a:rPr lang="en-US"/>
              <a:t>–</a:t>
            </a:r>
            <a:r>
              <a:rPr lang="en-US" spc="-37"/>
              <a:t> </a:t>
            </a:r>
            <a:r>
              <a:rPr lang="en-US" spc="-17"/>
              <a:t>University</a:t>
            </a:r>
            <a:r>
              <a:rPr lang="en-US" spc="-29"/>
              <a:t> </a:t>
            </a:r>
            <a:r>
              <a:rPr lang="en-US" spc="-12"/>
              <a:t>of</a:t>
            </a:r>
            <a:r>
              <a:rPr lang="en-US" spc="-25"/>
              <a:t> </a:t>
            </a:r>
            <a:r>
              <a:rPr lang="en-US" spc="-12"/>
              <a:t>Virginia</a:t>
            </a:r>
            <a:endParaRPr spc="-11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7878381" y="8152963"/>
            <a:ext cx="185976" cy="13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754380" rtl="0" eaLnBrk="1" latinLnBrk="0" hangingPunct="1">
              <a:defRPr sz="907" b="0" i="0" kern="1200">
                <a:solidFill>
                  <a:srgbClr val="CCD1D9"/>
                </a:solidFill>
                <a:latin typeface="Arial MT"/>
                <a:ea typeface="+mn-ea"/>
                <a:cs typeface="Arial MT"/>
              </a:defRPr>
            </a:lvl1pPr>
            <a:lvl2pPr marL="37719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314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033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17520" algn="l" defTabSz="754380" rtl="0" eaLnBrk="1" latinLnBrk="0" hangingPunct="1"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433">
              <a:lnSpc>
                <a:spcPts val="1085"/>
              </a:lnSpc>
            </a:pPr>
            <a:fld id="{81D60167-4931-47E6-BA6A-407CBD079E47}" type="slidenum">
              <a:rPr lang="en-US" smtClean="0"/>
              <a:pPr marL="31433">
                <a:lnSpc>
                  <a:spcPts val="1085"/>
                </a:lnSpc>
              </a:pPr>
              <a:t>8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657326" y="1947369"/>
            <a:ext cx="6775553" cy="1102122"/>
          </a:xfrm>
          <a:prstGeom prst="rect">
            <a:avLst/>
          </a:prstGeom>
        </p:spPr>
        <p:txBody>
          <a:bodyPr vert="horz" wrap="square" lIns="0" tIns="2311" rIns="0" bIns="0" rtlCol="0">
            <a:spAutoFit/>
          </a:bodyPr>
          <a:lstStyle/>
          <a:p>
            <a:pPr marL="9245" marR="3698">
              <a:lnSpc>
                <a:spcPct val="102699"/>
              </a:lnSpc>
              <a:spcBef>
                <a:spcPts val="18"/>
              </a:spcBef>
            </a:pP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3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60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students</a:t>
            </a:r>
            <a:r>
              <a:rPr sz="1601" spc="2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(sid)</a:t>
            </a:r>
            <a:r>
              <a:rPr sz="160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dirty="0">
                <a:solidFill>
                  <a:srgbClr val="292934"/>
                </a:solidFill>
                <a:latin typeface="Verdana"/>
                <a:cs typeface="Verdana"/>
              </a:rPr>
              <a:t>live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601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5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3" dirty="0">
                <a:solidFill>
                  <a:srgbClr val="292934"/>
                </a:solidFill>
                <a:latin typeface="Verdana"/>
                <a:cs typeface="Verdana"/>
              </a:rPr>
              <a:t>city</a:t>
            </a:r>
            <a:r>
              <a:rPr sz="1601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601" spc="2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5" dirty="0">
                <a:solidFill>
                  <a:srgbClr val="292934"/>
                </a:solidFill>
                <a:latin typeface="Verdana"/>
                <a:cs typeface="Verdana"/>
              </a:rPr>
              <a:t>same </a:t>
            </a:r>
            <a:r>
              <a:rPr sz="1601" spc="-55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street</a:t>
            </a:r>
            <a:r>
              <a:rPr sz="160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60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7" dirty="0">
                <a:solidFill>
                  <a:srgbClr val="292934"/>
                </a:solidFill>
                <a:latin typeface="Verdana"/>
                <a:cs typeface="Verdana"/>
              </a:rPr>
              <a:t>their</a:t>
            </a:r>
            <a:r>
              <a:rPr sz="1601" spc="2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1" spc="11" dirty="0">
                <a:solidFill>
                  <a:srgbClr val="292934"/>
                </a:solidFill>
                <a:latin typeface="Verdana"/>
                <a:cs typeface="Verdana"/>
              </a:rPr>
              <a:t>mentor</a:t>
            </a:r>
            <a:endParaRPr sz="1601" dirty="0">
              <a:latin typeface="Verdana"/>
              <a:cs typeface="Verdana"/>
            </a:endParaRPr>
          </a:p>
          <a:p>
            <a:pPr marL="236219">
              <a:spcBef>
                <a:spcPts val="1247"/>
              </a:spcBef>
            </a:pPr>
            <a:r>
              <a:rPr sz="1456" spc="3" dirty="0">
                <a:solidFill>
                  <a:srgbClr val="292934"/>
                </a:solidFill>
                <a:latin typeface="Courier New"/>
                <a:cs typeface="Courier New"/>
              </a:rPr>
              <a:t>Mentorship</a:t>
            </a:r>
            <a:r>
              <a:rPr sz="1456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56" spc="3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456" u="sng" spc="3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mentee_sid</a:t>
            </a:r>
            <a:r>
              <a:rPr sz="1456" spc="3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456" spc="2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56" spc="3" dirty="0">
                <a:solidFill>
                  <a:srgbClr val="292934"/>
                </a:solidFill>
                <a:latin typeface="Courier New"/>
                <a:cs typeface="Courier New"/>
              </a:rPr>
              <a:t>mentor_sid)</a:t>
            </a:r>
            <a:endParaRPr sz="1456" dirty="0">
              <a:latin typeface="Courier New"/>
              <a:cs typeface="Courier New"/>
            </a:endParaRPr>
          </a:p>
          <a:p>
            <a:pPr marL="591240">
              <a:spcBef>
                <a:spcPts val="77"/>
              </a:spcBef>
            </a:pP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--</a:t>
            </a:r>
            <a:r>
              <a:rPr sz="1310" spc="1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mentor_sid</a:t>
            </a:r>
            <a:r>
              <a:rPr sz="1310" spc="1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is</a:t>
            </a:r>
            <a:r>
              <a:rPr sz="1310" spc="1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dirty="0">
                <a:solidFill>
                  <a:srgbClr val="7F7F7F"/>
                </a:solidFill>
                <a:latin typeface="Courier New"/>
                <a:cs typeface="Courier New"/>
              </a:rPr>
              <a:t>a</a:t>
            </a:r>
            <a:r>
              <a:rPr sz="1310" spc="1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mentor</a:t>
            </a:r>
            <a:r>
              <a:rPr sz="1310" spc="2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of</a:t>
            </a:r>
            <a:r>
              <a:rPr sz="1310" spc="1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another</a:t>
            </a:r>
            <a:r>
              <a:rPr sz="1310" spc="1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student</a:t>
            </a:r>
            <a:r>
              <a:rPr sz="1310" spc="2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7" dirty="0">
                <a:solidFill>
                  <a:srgbClr val="7F7F7F"/>
                </a:solidFill>
                <a:latin typeface="Courier New"/>
                <a:cs typeface="Courier New"/>
              </a:rPr>
              <a:t>mentee_sid</a:t>
            </a:r>
            <a:endParaRPr sz="131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0960" y="3053793"/>
            <a:ext cx="3252802" cy="210929"/>
          </a:xfrm>
          <a:prstGeom prst="rect">
            <a:avLst/>
          </a:prstGeom>
        </p:spPr>
        <p:txBody>
          <a:bodyPr vert="horz" wrap="square" lIns="0" tIns="9245" rIns="0" bIns="0" rtlCol="0">
            <a:spAutoFit/>
          </a:bodyPr>
          <a:lstStyle/>
          <a:p>
            <a:pPr marL="9245">
              <a:spcBef>
                <a:spcPts val="73"/>
              </a:spcBef>
            </a:pP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--</a:t>
            </a:r>
            <a:r>
              <a:rPr sz="1310" spc="1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credits</a:t>
            </a:r>
            <a:r>
              <a:rPr sz="1310" spc="1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the</a:t>
            </a:r>
            <a:r>
              <a:rPr sz="1310" spc="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student</a:t>
            </a:r>
            <a:r>
              <a:rPr sz="1310" spc="1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has</a:t>
            </a:r>
            <a:r>
              <a:rPr sz="1310" spc="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7" dirty="0">
                <a:solidFill>
                  <a:srgbClr val="7F7F7F"/>
                </a:solidFill>
                <a:latin typeface="Courier New"/>
                <a:cs typeface="Courier New"/>
              </a:rPr>
              <a:t>taken</a:t>
            </a:r>
            <a:endParaRPr sz="131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39884" y="3257180"/>
            <a:ext cx="4015964" cy="233371"/>
          </a:xfrm>
          <a:prstGeom prst="rect">
            <a:avLst/>
          </a:prstGeom>
        </p:spPr>
        <p:txBody>
          <a:bodyPr vert="horz" wrap="square" lIns="0" tIns="9245" rIns="0" bIns="0" rtlCol="0">
            <a:spAutoFit/>
          </a:bodyPr>
          <a:lstStyle/>
          <a:p>
            <a:pPr marL="9245">
              <a:spcBef>
                <a:spcPts val="73"/>
              </a:spcBef>
            </a:pPr>
            <a:r>
              <a:rPr sz="1456" u="sng" spc="3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sid</a:t>
            </a:r>
            <a:r>
              <a:rPr sz="1456" spc="3" dirty="0">
                <a:solidFill>
                  <a:srgbClr val="292934"/>
                </a:solidFill>
                <a:latin typeface="Courier New"/>
                <a:cs typeface="Courier New"/>
              </a:rPr>
              <a:t>)</a:t>
            </a:r>
            <a:r>
              <a:rPr sz="1456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--</a:t>
            </a:r>
            <a:r>
              <a:rPr sz="1310" spc="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dept</a:t>
            </a:r>
            <a:r>
              <a:rPr sz="1310" spc="1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the</a:t>
            </a:r>
            <a:r>
              <a:rPr sz="1310" spc="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student</a:t>
            </a:r>
            <a:r>
              <a:rPr sz="1310" spc="1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is</a:t>
            </a:r>
            <a:r>
              <a:rPr sz="1310" spc="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enrolled</a:t>
            </a:r>
            <a:r>
              <a:rPr sz="1310" spc="1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7" dirty="0">
                <a:solidFill>
                  <a:srgbClr val="7F7F7F"/>
                </a:solidFill>
                <a:latin typeface="Courier New"/>
                <a:cs typeface="Courier New"/>
              </a:rPr>
              <a:t>in</a:t>
            </a:r>
            <a:endParaRPr sz="131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4294" y="3035304"/>
            <a:ext cx="2374079" cy="681442"/>
          </a:xfrm>
          <a:prstGeom prst="rect">
            <a:avLst/>
          </a:prstGeom>
        </p:spPr>
        <p:txBody>
          <a:bodyPr vert="horz" wrap="square" lIns="0" tIns="9245" rIns="0" bIns="0" rtlCol="0">
            <a:spAutoFit/>
          </a:bodyPr>
          <a:lstStyle/>
          <a:p>
            <a:pPr marL="9245" marR="3698">
              <a:spcBef>
                <a:spcPts val="73"/>
              </a:spcBef>
            </a:pPr>
            <a:r>
              <a:rPr sz="1456" spc="3" dirty="0">
                <a:solidFill>
                  <a:srgbClr val="292934"/>
                </a:solidFill>
                <a:latin typeface="Courier New"/>
                <a:cs typeface="Courier New"/>
              </a:rPr>
              <a:t>Study (</a:t>
            </a:r>
            <a:r>
              <a:rPr sz="1456" u="sng" spc="3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sid</a:t>
            </a:r>
            <a:r>
              <a:rPr sz="1456" spc="3" dirty="0">
                <a:solidFill>
                  <a:srgbClr val="292934"/>
                </a:solidFill>
                <a:latin typeface="Courier New"/>
                <a:cs typeface="Courier New"/>
              </a:rPr>
              <a:t>, </a:t>
            </a:r>
            <a:r>
              <a:rPr sz="1456" spc="7" dirty="0">
                <a:solidFill>
                  <a:srgbClr val="292934"/>
                </a:solidFill>
                <a:latin typeface="Courier New"/>
                <a:cs typeface="Courier New"/>
              </a:rPr>
              <a:t>credits) </a:t>
            </a:r>
            <a:r>
              <a:rPr sz="1456" spc="1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56" spc="3" dirty="0">
                <a:solidFill>
                  <a:srgbClr val="292934"/>
                </a:solidFill>
                <a:latin typeface="Courier New"/>
                <a:cs typeface="Courier New"/>
              </a:rPr>
              <a:t>Enrollment</a:t>
            </a:r>
            <a:r>
              <a:rPr sz="1456" spc="7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56" spc="3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456" u="sng" spc="3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dept_id</a:t>
            </a:r>
            <a:r>
              <a:rPr sz="1456" spc="3" dirty="0">
                <a:solidFill>
                  <a:srgbClr val="292934"/>
                </a:solidFill>
                <a:latin typeface="Courier New"/>
                <a:cs typeface="Courier New"/>
              </a:rPr>
              <a:t>, </a:t>
            </a:r>
            <a:r>
              <a:rPr sz="1456" spc="7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56" spc="3" dirty="0">
                <a:solidFill>
                  <a:srgbClr val="292934"/>
                </a:solidFill>
                <a:latin typeface="Courier New"/>
                <a:cs typeface="Courier New"/>
              </a:rPr>
              <a:t>Student</a:t>
            </a:r>
            <a:r>
              <a:rPr sz="1456" spc="-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56" spc="3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456" u="sng" spc="3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sid</a:t>
            </a:r>
            <a:r>
              <a:rPr sz="1456" spc="3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456" spc="-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56" spc="7" dirty="0">
                <a:solidFill>
                  <a:srgbClr val="292934"/>
                </a:solidFill>
                <a:latin typeface="Courier New"/>
                <a:cs typeface="Courier New"/>
              </a:rPr>
              <a:t>street,</a:t>
            </a:r>
            <a:endParaRPr sz="1456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51972" y="3479056"/>
            <a:ext cx="4015964" cy="233371"/>
          </a:xfrm>
          <a:prstGeom prst="rect">
            <a:avLst/>
          </a:prstGeom>
        </p:spPr>
        <p:txBody>
          <a:bodyPr vert="horz" wrap="square" lIns="0" tIns="9245" rIns="0" bIns="0" rtlCol="0">
            <a:spAutoFit/>
          </a:bodyPr>
          <a:lstStyle/>
          <a:p>
            <a:pPr marL="9245">
              <a:spcBef>
                <a:spcPts val="73"/>
              </a:spcBef>
            </a:pPr>
            <a:r>
              <a:rPr sz="1456" spc="3" dirty="0">
                <a:solidFill>
                  <a:srgbClr val="292934"/>
                </a:solidFill>
                <a:latin typeface="Courier New"/>
                <a:cs typeface="Courier New"/>
              </a:rPr>
              <a:t>city)</a:t>
            </a:r>
            <a:r>
              <a:rPr sz="1456" spc="-7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--</a:t>
            </a:r>
            <a:r>
              <a:rPr sz="1310" spc="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street,</a:t>
            </a:r>
            <a:r>
              <a:rPr sz="1310" spc="1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city</a:t>
            </a:r>
            <a:r>
              <a:rPr sz="1310" spc="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the</a:t>
            </a:r>
            <a:r>
              <a:rPr sz="1310" spc="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3" dirty="0">
                <a:solidFill>
                  <a:srgbClr val="7F7F7F"/>
                </a:solidFill>
                <a:latin typeface="Courier New"/>
                <a:cs typeface="Courier New"/>
              </a:rPr>
              <a:t>student</a:t>
            </a:r>
            <a:r>
              <a:rPr sz="1310" spc="1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310" spc="7" dirty="0">
                <a:solidFill>
                  <a:srgbClr val="7F7F7F"/>
                </a:solidFill>
                <a:latin typeface="Courier New"/>
                <a:cs typeface="Courier New"/>
              </a:rPr>
              <a:t>lives</a:t>
            </a:r>
            <a:endParaRPr sz="1310" dirty="0">
              <a:latin typeface="Courier New"/>
              <a:cs typeface="Courier New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75A4C9-D81C-4240-93A0-EDB495037885}"/>
              </a:ext>
            </a:extLst>
          </p:cNvPr>
          <p:cNvSpPr txBox="1"/>
          <p:nvPr/>
        </p:nvSpPr>
        <p:spPr>
          <a:xfrm>
            <a:off x="1885950" y="4246245"/>
            <a:ext cx="4858702" cy="16920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85" dirty="0"/>
              <a:t>SELECT DISTINCT </a:t>
            </a:r>
            <a:r>
              <a:rPr lang="en-US" sz="1485" dirty="0" err="1"/>
              <a:t>m.mentor_sid</a:t>
            </a:r>
            <a:r>
              <a:rPr lang="en-US" sz="1485" dirty="0"/>
              <a:t> AS mentor, s1.sid AS student</a:t>
            </a:r>
          </a:p>
          <a:p>
            <a:r>
              <a:rPr lang="en-US" sz="1485" dirty="0"/>
              <a:t>FROM Mentorship m</a:t>
            </a:r>
          </a:p>
          <a:p>
            <a:r>
              <a:rPr lang="en-US" sz="1485" dirty="0"/>
              <a:t>JOIN Student s1 ON </a:t>
            </a:r>
            <a:r>
              <a:rPr lang="en-US" sz="1485" dirty="0" err="1"/>
              <a:t>m.mentee_sid</a:t>
            </a:r>
            <a:r>
              <a:rPr lang="en-US" sz="1485" dirty="0"/>
              <a:t> = s1.sid</a:t>
            </a:r>
          </a:p>
          <a:p>
            <a:r>
              <a:rPr lang="en-US" sz="1485" dirty="0"/>
              <a:t>JOIN Student s2 ON </a:t>
            </a:r>
            <a:r>
              <a:rPr lang="en-US" sz="1485" dirty="0" err="1"/>
              <a:t>m.mentor_sid</a:t>
            </a:r>
            <a:r>
              <a:rPr lang="en-US" sz="1485" dirty="0"/>
              <a:t> = s2.sid</a:t>
            </a:r>
          </a:p>
          <a:p>
            <a:r>
              <a:rPr lang="en-US" sz="1485" dirty="0"/>
              <a:t>WHERE s1.street = s2.street</a:t>
            </a:r>
          </a:p>
          <a:p>
            <a:r>
              <a:rPr lang="en-US" sz="1485" dirty="0"/>
              <a:t>  AND s1.city = s2.city;</a:t>
            </a:r>
          </a:p>
          <a:p>
            <a:endParaRPr lang="en-US" sz="148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1912" y="322071"/>
            <a:ext cx="655002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Su</a:t>
            </a:r>
            <a:r>
              <a:rPr spc="-130" dirty="0"/>
              <a:t>bq</a:t>
            </a:r>
            <a:r>
              <a:rPr spc="-135" dirty="0"/>
              <a:t>u</a:t>
            </a:r>
            <a:r>
              <a:rPr spc="-125" dirty="0"/>
              <a:t>erie</a:t>
            </a:r>
            <a:r>
              <a:rPr spc="-130" dirty="0"/>
              <a:t>s</a:t>
            </a:r>
            <a:r>
              <a:rPr dirty="0"/>
              <a:t>:</a:t>
            </a:r>
            <a:r>
              <a:rPr spc="-245" dirty="0"/>
              <a:t> </a:t>
            </a:r>
            <a:r>
              <a:rPr spc="-130" dirty="0"/>
              <a:t>Co</a:t>
            </a:r>
            <a:r>
              <a:rPr spc="-125" dirty="0"/>
              <a:t>r</a:t>
            </a:r>
            <a:r>
              <a:rPr dirty="0"/>
              <a:t>e</a:t>
            </a:r>
            <a:r>
              <a:rPr spc="-250" dirty="0"/>
              <a:t> </a:t>
            </a:r>
            <a:r>
              <a:rPr spc="-120" dirty="0"/>
              <a:t>I</a:t>
            </a:r>
            <a:r>
              <a:rPr spc="-125" dirty="0"/>
              <a:t>de</a:t>
            </a:r>
            <a:r>
              <a:rPr dirty="0"/>
              <a:t>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29" y="6017767"/>
            <a:ext cx="90811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smaller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problem,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simpler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solve,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easier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debug</a:t>
            </a:r>
            <a:endParaRPr sz="21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475232"/>
            <a:ext cx="9753600" cy="10088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8417" y="1447798"/>
            <a:ext cx="8522335" cy="68961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6510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300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Split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your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problem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sub-problems</a:t>
            </a:r>
            <a:endParaRPr sz="23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2886455"/>
            <a:ext cx="9753600" cy="100583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68417" y="2858242"/>
            <a:ext cx="8522335" cy="68961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657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5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Solve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them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separately</a:t>
            </a:r>
            <a:endParaRPr sz="23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00" y="4273296"/>
            <a:ext cx="9753600" cy="100583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68417" y="4244781"/>
            <a:ext cx="8522335" cy="68961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65735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1305"/>
              </a:spcBef>
            </a:pP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Compose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them</a:t>
            </a:r>
            <a:endParaRPr sz="23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862109" y="2241726"/>
            <a:ext cx="315595" cy="487680"/>
            <a:chOff x="4862109" y="2241726"/>
            <a:chExt cx="315595" cy="487680"/>
          </a:xfrm>
        </p:grpSpPr>
        <p:sp>
          <p:nvSpPr>
            <p:cNvPr id="11" name="object 11"/>
            <p:cNvSpPr/>
            <p:nvPr/>
          </p:nvSpPr>
          <p:spPr>
            <a:xfrm>
              <a:off x="4876203" y="2255819"/>
              <a:ext cx="287020" cy="459105"/>
            </a:xfrm>
            <a:custGeom>
              <a:avLst/>
              <a:gdLst/>
              <a:ahLst/>
              <a:cxnLst/>
              <a:rect l="l" t="t" r="r" b="b"/>
              <a:pathLst>
                <a:path w="287020" h="459105">
                  <a:moveTo>
                    <a:pt x="215151" y="0"/>
                  </a:moveTo>
                  <a:lnTo>
                    <a:pt x="71716" y="0"/>
                  </a:lnTo>
                  <a:lnTo>
                    <a:pt x="71716" y="315558"/>
                  </a:lnTo>
                  <a:lnTo>
                    <a:pt x="0" y="315558"/>
                  </a:lnTo>
                  <a:lnTo>
                    <a:pt x="143435" y="458991"/>
                  </a:lnTo>
                  <a:lnTo>
                    <a:pt x="286870" y="315558"/>
                  </a:lnTo>
                  <a:lnTo>
                    <a:pt x="215151" y="315558"/>
                  </a:lnTo>
                  <a:lnTo>
                    <a:pt x="215151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76203" y="2255819"/>
              <a:ext cx="287020" cy="459105"/>
            </a:xfrm>
            <a:custGeom>
              <a:avLst/>
              <a:gdLst/>
              <a:ahLst/>
              <a:cxnLst/>
              <a:rect l="l" t="t" r="r" b="b"/>
              <a:pathLst>
                <a:path w="287020" h="459105">
                  <a:moveTo>
                    <a:pt x="0" y="315558"/>
                  </a:moveTo>
                  <a:lnTo>
                    <a:pt x="71717" y="315558"/>
                  </a:lnTo>
                  <a:lnTo>
                    <a:pt x="71717" y="0"/>
                  </a:lnTo>
                  <a:lnTo>
                    <a:pt x="215152" y="0"/>
                  </a:lnTo>
                  <a:lnTo>
                    <a:pt x="215152" y="315558"/>
                  </a:lnTo>
                  <a:lnTo>
                    <a:pt x="286870" y="315558"/>
                  </a:lnTo>
                  <a:lnTo>
                    <a:pt x="143435" y="458993"/>
                  </a:lnTo>
                  <a:lnTo>
                    <a:pt x="0" y="315558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862109" y="3671298"/>
            <a:ext cx="315595" cy="487680"/>
            <a:chOff x="4862109" y="3671298"/>
            <a:chExt cx="315595" cy="487680"/>
          </a:xfrm>
        </p:grpSpPr>
        <p:sp>
          <p:nvSpPr>
            <p:cNvPr id="14" name="object 14"/>
            <p:cNvSpPr/>
            <p:nvPr/>
          </p:nvSpPr>
          <p:spPr>
            <a:xfrm>
              <a:off x="4876203" y="3685391"/>
              <a:ext cx="287020" cy="459105"/>
            </a:xfrm>
            <a:custGeom>
              <a:avLst/>
              <a:gdLst/>
              <a:ahLst/>
              <a:cxnLst/>
              <a:rect l="l" t="t" r="r" b="b"/>
              <a:pathLst>
                <a:path w="287020" h="459104">
                  <a:moveTo>
                    <a:pt x="215151" y="0"/>
                  </a:moveTo>
                  <a:lnTo>
                    <a:pt x="71716" y="0"/>
                  </a:lnTo>
                  <a:lnTo>
                    <a:pt x="71716" y="315558"/>
                  </a:lnTo>
                  <a:lnTo>
                    <a:pt x="0" y="315558"/>
                  </a:lnTo>
                  <a:lnTo>
                    <a:pt x="143435" y="458993"/>
                  </a:lnTo>
                  <a:lnTo>
                    <a:pt x="286870" y="315558"/>
                  </a:lnTo>
                  <a:lnTo>
                    <a:pt x="215151" y="315558"/>
                  </a:lnTo>
                  <a:lnTo>
                    <a:pt x="215151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76203" y="3685391"/>
              <a:ext cx="287020" cy="459105"/>
            </a:xfrm>
            <a:custGeom>
              <a:avLst/>
              <a:gdLst/>
              <a:ahLst/>
              <a:cxnLst/>
              <a:rect l="l" t="t" r="r" b="b"/>
              <a:pathLst>
                <a:path w="287020" h="459104">
                  <a:moveTo>
                    <a:pt x="0" y="315558"/>
                  </a:moveTo>
                  <a:lnTo>
                    <a:pt x="71717" y="315558"/>
                  </a:lnTo>
                  <a:lnTo>
                    <a:pt x="71717" y="0"/>
                  </a:lnTo>
                  <a:lnTo>
                    <a:pt x="215152" y="0"/>
                  </a:lnTo>
                  <a:lnTo>
                    <a:pt x="215152" y="315558"/>
                  </a:lnTo>
                  <a:lnTo>
                    <a:pt x="286870" y="315558"/>
                  </a:lnTo>
                  <a:lnTo>
                    <a:pt x="143435" y="458993"/>
                  </a:lnTo>
                  <a:lnTo>
                    <a:pt x="0" y="315558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8200" y="322071"/>
            <a:ext cx="331851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Subqueries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4591" y="1228852"/>
            <a:ext cx="9044305" cy="540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100"/>
              </a:spcBef>
              <a:buClr>
                <a:srgbClr val="292934"/>
              </a:buClr>
              <a:buSzPct val="86363"/>
              <a:buFont typeface="Arial MT"/>
              <a:buChar char="•"/>
              <a:tabLst>
                <a:tab pos="208279" algn="l"/>
              </a:tabLst>
            </a:pPr>
            <a:r>
              <a:rPr sz="2200" spc="15" dirty="0">
                <a:solidFill>
                  <a:srgbClr val="C00000"/>
                </a:solidFill>
                <a:latin typeface="Verdana"/>
                <a:cs typeface="Verdana"/>
              </a:rPr>
              <a:t>Subquery</a:t>
            </a:r>
            <a:r>
              <a:rPr sz="22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query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part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another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query</a:t>
            </a:r>
            <a:endParaRPr sz="22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560"/>
              </a:spcBef>
              <a:buSzPct val="86363"/>
              <a:buFont typeface="Arial MT"/>
              <a:buChar char="•"/>
              <a:tabLst>
                <a:tab pos="208279" algn="l"/>
              </a:tabLst>
            </a:pP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subquery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subqueries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har char="•"/>
            </a:pPr>
            <a:endParaRPr sz="2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sz="2200" b="1" spc="20" dirty="0">
                <a:solidFill>
                  <a:srgbClr val="292934"/>
                </a:solidFill>
                <a:latin typeface="Verdana"/>
                <a:cs typeface="Verdana"/>
              </a:rPr>
              <a:t>Usage:</a:t>
            </a:r>
            <a:endParaRPr sz="2200">
              <a:latin typeface="Verdana"/>
              <a:cs typeface="Verdana"/>
            </a:endParaRPr>
          </a:p>
          <a:p>
            <a:pPr marL="207645" marR="1084580" indent="-195580">
              <a:lnSpc>
                <a:spcPct val="82600"/>
              </a:lnSpc>
              <a:spcBef>
                <a:spcPts val="210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Return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single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constant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ci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30" dirty="0">
                <a:solidFill>
                  <a:srgbClr val="C00000"/>
                </a:solidFill>
                <a:latin typeface="Courier New"/>
                <a:cs typeface="Courier New"/>
              </a:rPr>
              <a:t>SELEC</a:t>
            </a:r>
            <a:r>
              <a:rPr sz="2600" dirty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sz="2600" spc="-68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au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</a:t>
            </a:r>
            <a:endParaRPr sz="2100">
              <a:latin typeface="Verdana"/>
              <a:cs typeface="Verdana"/>
            </a:endParaRPr>
          </a:p>
          <a:p>
            <a:pPr marL="207645" marR="114300" indent="-195580">
              <a:lnSpc>
                <a:spcPts val="2520"/>
              </a:lnSpc>
              <a:spcBef>
                <a:spcPts val="195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Return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single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constant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compared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another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value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30" dirty="0">
                <a:solidFill>
                  <a:srgbClr val="C00000"/>
                </a:solidFill>
                <a:latin typeface="Courier New"/>
                <a:cs typeface="Courier New"/>
              </a:rPr>
              <a:t>WHER</a:t>
            </a:r>
            <a:r>
              <a:rPr sz="2600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2600" spc="-68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au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ts val="3120"/>
              </a:lnSpc>
              <a:spcBef>
                <a:spcPts val="158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Return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relation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compared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evaluated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3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endParaRPr sz="2600">
              <a:latin typeface="Courier New"/>
              <a:cs typeface="Courier New"/>
            </a:endParaRPr>
          </a:p>
          <a:p>
            <a:pPr marL="207645">
              <a:lnSpc>
                <a:spcPts val="2520"/>
              </a:lnSpc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2100">
              <a:latin typeface="Verdana"/>
              <a:cs typeface="Verdana"/>
            </a:endParaRPr>
          </a:p>
          <a:p>
            <a:pPr marL="207645" marR="83820" indent="-195580">
              <a:lnSpc>
                <a:spcPts val="2590"/>
              </a:lnSpc>
              <a:spcBef>
                <a:spcPts val="1705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Return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relation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input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another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query,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30" dirty="0">
                <a:solidFill>
                  <a:srgbClr val="C00000"/>
                </a:solidFill>
                <a:latin typeface="Courier New"/>
                <a:cs typeface="Courier New"/>
              </a:rPr>
              <a:t>FOR</a:t>
            </a:r>
            <a:r>
              <a:rPr sz="2600" dirty="0">
                <a:solidFill>
                  <a:srgbClr val="C00000"/>
                </a:solidFill>
                <a:latin typeface="Courier New"/>
                <a:cs typeface="Courier New"/>
              </a:rPr>
              <a:t>M</a:t>
            </a:r>
            <a:r>
              <a:rPr sz="2600" spc="-68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au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20" y="315975"/>
            <a:ext cx="770890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E</a:t>
            </a:r>
            <a:r>
              <a:rPr spc="-130" dirty="0"/>
              <a:t>qu</a:t>
            </a:r>
            <a:r>
              <a:rPr spc="-125" dirty="0"/>
              <a:t>i</a:t>
            </a:r>
            <a:r>
              <a:rPr spc="-130" dirty="0"/>
              <a:t>va</a:t>
            </a:r>
            <a:r>
              <a:rPr spc="-125" dirty="0"/>
              <a:t>le</a:t>
            </a:r>
            <a:r>
              <a:rPr spc="-130" dirty="0"/>
              <a:t>n</a:t>
            </a:r>
            <a:r>
              <a:rPr dirty="0"/>
              <a:t>t</a:t>
            </a:r>
            <a:r>
              <a:rPr spc="-240" dirty="0"/>
              <a:t> </a:t>
            </a:r>
            <a:r>
              <a:rPr spc="-140" dirty="0"/>
              <a:t>Q</a:t>
            </a:r>
            <a:r>
              <a:rPr spc="-130" dirty="0"/>
              <a:t>u</a:t>
            </a:r>
            <a:r>
              <a:rPr spc="-125" dirty="0"/>
              <a:t>er</a:t>
            </a:r>
            <a:r>
              <a:rPr dirty="0"/>
              <a:t>y</a:t>
            </a:r>
            <a:r>
              <a:rPr spc="-254" dirty="0"/>
              <a:t> </a:t>
            </a:r>
            <a:r>
              <a:rPr spc="-125" dirty="0"/>
              <a:t>E</a:t>
            </a:r>
            <a:r>
              <a:rPr spc="-135" dirty="0"/>
              <a:t>x</a:t>
            </a:r>
            <a:r>
              <a:rPr spc="-130" dirty="0"/>
              <a:t>a</a:t>
            </a:r>
            <a:r>
              <a:rPr spc="-140" dirty="0"/>
              <a:t>m</a:t>
            </a:r>
            <a:r>
              <a:rPr spc="-130" dirty="0"/>
              <a:t>p</a:t>
            </a:r>
            <a:r>
              <a:rPr spc="-125" dirty="0"/>
              <a:t>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29490" y="1974900"/>
            <a:ext cx="3134995" cy="1052195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180975" marR="169545">
              <a:lnSpc>
                <a:spcPct val="101699"/>
              </a:lnSpc>
              <a:spcBef>
                <a:spcPts val="685"/>
              </a:spcBef>
            </a:pPr>
            <a:r>
              <a:rPr sz="1800" spc="5" dirty="0">
                <a:solidFill>
                  <a:srgbClr val="C00000"/>
                </a:solidFill>
                <a:latin typeface="Courier New"/>
                <a:cs typeface="Courier New"/>
              </a:rPr>
              <a:t>SELECT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job, AVG(sal) </a:t>
            </a:r>
            <a:r>
              <a:rPr sz="1800" spc="-10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practice_emp </a:t>
            </a:r>
            <a:r>
              <a:rPr sz="18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C00000"/>
                </a:solidFill>
                <a:latin typeface="Courier New"/>
                <a:cs typeface="Courier New"/>
              </a:rPr>
              <a:t>GROUP</a:t>
            </a:r>
            <a:r>
              <a:rPr sz="1800" spc="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C00000"/>
                </a:solidFill>
                <a:latin typeface="Courier New"/>
                <a:cs typeface="Courier New"/>
              </a:rPr>
              <a:t>BY</a:t>
            </a:r>
            <a:r>
              <a:rPr sz="1800" spc="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job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1121" y="2080558"/>
          <a:ext cx="3358513" cy="3646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00376" y="1216659"/>
            <a:ext cx="51898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endParaRPr sz="2200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33042" y="1950242"/>
          <a:ext cx="2601595" cy="15609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3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AvgSal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3500.0000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1437.5000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3158.3333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6500.0000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1800.0000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023696" y="3796284"/>
            <a:ext cx="5711190" cy="1257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0"/>
              </a:lnSpc>
              <a:spcBef>
                <a:spcPts val="100"/>
              </a:spcBef>
            </a:pPr>
            <a:r>
              <a:rPr sz="20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Idea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(self</a:t>
            </a:r>
            <a:r>
              <a:rPr sz="20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join):</a:t>
            </a:r>
            <a:endParaRPr sz="2000">
              <a:latin typeface="Verdana"/>
              <a:cs typeface="Verdana"/>
            </a:endParaRPr>
          </a:p>
          <a:p>
            <a:pPr marL="393700" indent="-381635">
              <a:lnSpc>
                <a:spcPts val="2420"/>
              </a:lnSpc>
              <a:buAutoNum type="arabicPeriod"/>
              <a:tabLst>
                <a:tab pos="394335" algn="l"/>
              </a:tabLst>
            </a:pP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Self-join</a:t>
            </a:r>
            <a:r>
              <a:rPr sz="20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practice_emp</a:t>
            </a:r>
            <a:endParaRPr sz="2100">
              <a:latin typeface="Courier New"/>
              <a:cs typeface="Courier New"/>
            </a:endParaRPr>
          </a:p>
          <a:p>
            <a:pPr marL="393700" indent="-381635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394335" algn="l"/>
              </a:tabLst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copy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aggregate,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group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endParaRPr sz="2000">
              <a:latin typeface="Verdana"/>
              <a:cs typeface="Verdana"/>
            </a:endParaRPr>
          </a:p>
          <a:p>
            <a:pPr marL="393700" indent="-381635">
              <a:lnSpc>
                <a:spcPct val="100000"/>
              </a:lnSpc>
              <a:buAutoNum type="arabicPeriod"/>
              <a:tabLst>
                <a:tab pos="394335" algn="l"/>
              </a:tabLst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copy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keep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original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93449" y="5165363"/>
            <a:ext cx="5916930" cy="130048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309245" marR="462280">
              <a:lnSpc>
                <a:spcPct val="102200"/>
              </a:lnSpc>
              <a:spcBef>
                <a:spcPts val="535"/>
              </a:spcBef>
            </a:pPr>
            <a:r>
              <a:rPr sz="1800" spc="5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1800" spc="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E1.job,</a:t>
            </a:r>
            <a:r>
              <a:rPr sz="18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AVG(E2.sal)</a:t>
            </a:r>
            <a:r>
              <a:rPr sz="18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r>
              <a:rPr sz="18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AvgSal </a:t>
            </a:r>
            <a:r>
              <a:rPr sz="18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1800" spc="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practice_emp</a:t>
            </a:r>
            <a:r>
              <a:rPr sz="18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E1,</a:t>
            </a:r>
            <a:r>
              <a:rPr sz="18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practice_emp</a:t>
            </a:r>
            <a:r>
              <a:rPr sz="18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E2 </a:t>
            </a:r>
            <a:r>
              <a:rPr sz="1800" spc="-10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1800" spc="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E1.job</a:t>
            </a:r>
            <a:r>
              <a:rPr sz="18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8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E2.job</a:t>
            </a:r>
            <a:endParaRPr sz="1800">
              <a:latin typeface="Courier New"/>
              <a:cs typeface="Courier New"/>
            </a:endParaRPr>
          </a:p>
          <a:p>
            <a:pPr marL="309245">
              <a:lnSpc>
                <a:spcPct val="100000"/>
              </a:lnSpc>
              <a:spcBef>
                <a:spcPts val="25"/>
              </a:spcBef>
            </a:pPr>
            <a:r>
              <a:rPr sz="1800" spc="5" dirty="0">
                <a:solidFill>
                  <a:srgbClr val="C00000"/>
                </a:solidFill>
                <a:latin typeface="Courier New"/>
                <a:cs typeface="Courier New"/>
              </a:rPr>
              <a:t>GROUP</a:t>
            </a:r>
            <a:r>
              <a:rPr sz="1800" spc="-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C00000"/>
                </a:solidFill>
                <a:latin typeface="Courier New"/>
                <a:cs typeface="Courier New"/>
              </a:rPr>
              <a:t>BY</a:t>
            </a:r>
            <a:r>
              <a:rPr sz="1800" spc="-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E1.job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6164" y="1811528"/>
            <a:ext cx="1309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35158" y="3172565"/>
            <a:ext cx="332105" cy="508000"/>
            <a:chOff x="4935158" y="3172565"/>
            <a:chExt cx="332105" cy="508000"/>
          </a:xfrm>
        </p:grpSpPr>
        <p:sp>
          <p:nvSpPr>
            <p:cNvPr id="11" name="object 11"/>
            <p:cNvSpPr/>
            <p:nvPr/>
          </p:nvSpPr>
          <p:spPr>
            <a:xfrm>
              <a:off x="4949252" y="3186658"/>
              <a:ext cx="304165" cy="480059"/>
            </a:xfrm>
            <a:custGeom>
              <a:avLst/>
              <a:gdLst/>
              <a:ahLst/>
              <a:cxnLst/>
              <a:rect l="l" t="t" r="r" b="b"/>
              <a:pathLst>
                <a:path w="304164" h="480060">
                  <a:moveTo>
                    <a:pt x="151900" y="0"/>
                  </a:moveTo>
                  <a:lnTo>
                    <a:pt x="0" y="151900"/>
                  </a:lnTo>
                  <a:lnTo>
                    <a:pt x="75949" y="151900"/>
                  </a:lnTo>
                  <a:lnTo>
                    <a:pt x="75949" y="327785"/>
                  </a:lnTo>
                  <a:lnTo>
                    <a:pt x="0" y="327785"/>
                  </a:lnTo>
                  <a:lnTo>
                    <a:pt x="151900" y="479685"/>
                  </a:lnTo>
                  <a:lnTo>
                    <a:pt x="303800" y="327785"/>
                  </a:lnTo>
                  <a:lnTo>
                    <a:pt x="227849" y="327785"/>
                  </a:lnTo>
                  <a:lnTo>
                    <a:pt x="227849" y="151900"/>
                  </a:lnTo>
                  <a:lnTo>
                    <a:pt x="303800" y="151900"/>
                  </a:lnTo>
                  <a:lnTo>
                    <a:pt x="151900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49252" y="3186658"/>
              <a:ext cx="304165" cy="480059"/>
            </a:xfrm>
            <a:custGeom>
              <a:avLst/>
              <a:gdLst/>
              <a:ahLst/>
              <a:cxnLst/>
              <a:rect l="l" t="t" r="r" b="b"/>
              <a:pathLst>
                <a:path w="304164" h="480060">
                  <a:moveTo>
                    <a:pt x="0" y="151900"/>
                  </a:moveTo>
                  <a:lnTo>
                    <a:pt x="151900" y="0"/>
                  </a:lnTo>
                  <a:lnTo>
                    <a:pt x="303800" y="151900"/>
                  </a:lnTo>
                  <a:lnTo>
                    <a:pt x="227850" y="151900"/>
                  </a:lnTo>
                  <a:lnTo>
                    <a:pt x="227850" y="327785"/>
                  </a:lnTo>
                  <a:lnTo>
                    <a:pt x="303800" y="327785"/>
                  </a:lnTo>
                  <a:lnTo>
                    <a:pt x="151900" y="479685"/>
                  </a:lnTo>
                  <a:lnTo>
                    <a:pt x="0" y="327785"/>
                  </a:lnTo>
                  <a:lnTo>
                    <a:pt x="75950" y="327785"/>
                  </a:lnTo>
                  <a:lnTo>
                    <a:pt x="75950" y="151900"/>
                  </a:lnTo>
                  <a:lnTo>
                    <a:pt x="0" y="151900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6182" y="341376"/>
            <a:ext cx="814387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0" spc="-100" dirty="0">
                <a:latin typeface="Verdana"/>
                <a:cs typeface="Verdana"/>
              </a:rPr>
              <a:t>(</a:t>
            </a:r>
            <a:r>
              <a:rPr sz="3500" b="0" spc="-95" dirty="0">
                <a:latin typeface="Verdana"/>
                <a:cs typeface="Verdana"/>
              </a:rPr>
              <a:t>E</a:t>
            </a:r>
            <a:r>
              <a:rPr sz="3500" b="0" spc="-100" dirty="0">
                <a:latin typeface="Verdana"/>
                <a:cs typeface="Verdana"/>
              </a:rPr>
              <a:t>q</a:t>
            </a:r>
            <a:r>
              <a:rPr sz="3500" b="0" spc="-95" dirty="0">
                <a:latin typeface="Verdana"/>
                <a:cs typeface="Verdana"/>
              </a:rPr>
              <a:t>u</a:t>
            </a:r>
            <a:r>
              <a:rPr sz="3500" b="0" spc="-110" dirty="0">
                <a:latin typeface="Verdana"/>
                <a:cs typeface="Verdana"/>
              </a:rPr>
              <a:t>i</a:t>
            </a:r>
            <a:r>
              <a:rPr sz="3500" b="0" spc="-165" dirty="0">
                <a:latin typeface="Verdana"/>
                <a:cs typeface="Verdana"/>
              </a:rPr>
              <a:t>v</a:t>
            </a:r>
            <a:r>
              <a:rPr sz="3500" b="0" spc="-90" dirty="0">
                <a:latin typeface="Verdana"/>
                <a:cs typeface="Verdana"/>
              </a:rPr>
              <a:t>a</a:t>
            </a:r>
            <a:r>
              <a:rPr sz="3500" b="0" spc="-110" dirty="0">
                <a:latin typeface="Verdana"/>
                <a:cs typeface="Verdana"/>
              </a:rPr>
              <a:t>l</a:t>
            </a:r>
            <a:r>
              <a:rPr sz="3500" b="0" spc="-100" dirty="0">
                <a:latin typeface="Verdana"/>
                <a:cs typeface="Verdana"/>
              </a:rPr>
              <a:t>e</a:t>
            </a:r>
            <a:r>
              <a:rPr sz="3500" b="0" spc="-95" dirty="0">
                <a:latin typeface="Verdana"/>
                <a:cs typeface="Verdana"/>
              </a:rPr>
              <a:t>n</a:t>
            </a:r>
            <a:r>
              <a:rPr sz="3500" b="0" spc="-100" dirty="0">
                <a:latin typeface="Verdana"/>
                <a:cs typeface="Verdana"/>
              </a:rPr>
              <a:t>t</a:t>
            </a:r>
            <a:r>
              <a:rPr sz="3500" b="0" dirty="0">
                <a:latin typeface="Verdana"/>
                <a:cs typeface="Verdana"/>
              </a:rPr>
              <a:t>)</a:t>
            </a:r>
            <a:r>
              <a:rPr sz="3500" b="0" spc="-245" dirty="0">
                <a:latin typeface="Verdana"/>
                <a:cs typeface="Verdana"/>
              </a:rPr>
              <a:t> </a:t>
            </a:r>
            <a:r>
              <a:rPr sz="4100" spc="-140" dirty="0"/>
              <a:t>Su</a:t>
            </a:r>
            <a:r>
              <a:rPr sz="4100" spc="-135" dirty="0"/>
              <a:t>bq</a:t>
            </a:r>
            <a:r>
              <a:rPr sz="4100" spc="-140" dirty="0"/>
              <a:t>u</a:t>
            </a:r>
            <a:r>
              <a:rPr sz="4100" spc="-135" dirty="0"/>
              <a:t>e</a:t>
            </a:r>
            <a:r>
              <a:rPr sz="4100" spc="-130" dirty="0"/>
              <a:t>r</a:t>
            </a:r>
            <a:r>
              <a:rPr sz="4100" dirty="0"/>
              <a:t>y</a:t>
            </a:r>
            <a:r>
              <a:rPr sz="4100" spc="-260" dirty="0"/>
              <a:t> </a:t>
            </a:r>
            <a:r>
              <a:rPr sz="4100" spc="-135" dirty="0"/>
              <a:t>(</a:t>
            </a:r>
            <a:r>
              <a:rPr sz="4100" spc="-140" dirty="0"/>
              <a:t>S</a:t>
            </a:r>
            <a:r>
              <a:rPr sz="4100" spc="-135" dirty="0"/>
              <a:t>ELE</a:t>
            </a:r>
            <a:r>
              <a:rPr sz="4100" spc="-145" dirty="0"/>
              <a:t>C</a:t>
            </a:r>
            <a:r>
              <a:rPr sz="4100" spc="-140" dirty="0"/>
              <a:t>T</a:t>
            </a:r>
            <a:r>
              <a:rPr sz="4100" dirty="0"/>
              <a:t>)</a:t>
            </a:r>
            <a:endParaRPr sz="4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85445" y="5234940"/>
            <a:ext cx="7181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</a:t>
            </a:r>
            <a:r>
              <a:rPr sz="2000" u="sng" spc="2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de</a:t>
            </a:r>
            <a:r>
              <a:rPr sz="20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a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85445" y="5539740"/>
            <a:ext cx="49491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63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94335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endParaRPr sz="2000">
              <a:latin typeface="Verdana"/>
              <a:cs typeface="Verdana"/>
            </a:endParaRPr>
          </a:p>
          <a:p>
            <a:pPr marL="393700" indent="-381635">
              <a:lnSpc>
                <a:spcPct val="100000"/>
              </a:lnSpc>
              <a:buAutoNum type="arabicPeriod"/>
              <a:tabLst>
                <a:tab pos="394335" algn="l"/>
              </a:tabLst>
            </a:pP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tuple,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aggregate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952826" y="4045726"/>
            <a:ext cx="2655570" cy="1588770"/>
            <a:chOff x="6952826" y="4045726"/>
            <a:chExt cx="2655570" cy="1588770"/>
          </a:xfrm>
        </p:grpSpPr>
        <p:sp>
          <p:nvSpPr>
            <p:cNvPr id="6" name="object 6"/>
            <p:cNvSpPr/>
            <p:nvPr/>
          </p:nvSpPr>
          <p:spPr>
            <a:xfrm>
              <a:off x="6979920" y="4059491"/>
              <a:ext cx="2600960" cy="260350"/>
            </a:xfrm>
            <a:custGeom>
              <a:avLst/>
              <a:gdLst/>
              <a:ahLst/>
              <a:cxnLst/>
              <a:rect l="l" t="t" r="r" b="b"/>
              <a:pathLst>
                <a:path w="2600959" h="260350">
                  <a:moveTo>
                    <a:pt x="2600960" y="0"/>
                  </a:moveTo>
                  <a:lnTo>
                    <a:pt x="1243101" y="0"/>
                  </a:lnTo>
                  <a:lnTo>
                    <a:pt x="0" y="0"/>
                  </a:lnTo>
                  <a:lnTo>
                    <a:pt x="0" y="260159"/>
                  </a:lnTo>
                  <a:lnTo>
                    <a:pt x="1243101" y="260159"/>
                  </a:lnTo>
                  <a:lnTo>
                    <a:pt x="2600960" y="260159"/>
                  </a:lnTo>
                  <a:lnTo>
                    <a:pt x="2600960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79920" y="4319650"/>
              <a:ext cx="2600960" cy="260350"/>
            </a:xfrm>
            <a:custGeom>
              <a:avLst/>
              <a:gdLst/>
              <a:ahLst/>
              <a:cxnLst/>
              <a:rect l="l" t="t" r="r" b="b"/>
              <a:pathLst>
                <a:path w="2600959" h="260350">
                  <a:moveTo>
                    <a:pt x="2600960" y="0"/>
                  </a:moveTo>
                  <a:lnTo>
                    <a:pt x="1243101" y="0"/>
                  </a:lnTo>
                  <a:lnTo>
                    <a:pt x="0" y="0"/>
                  </a:lnTo>
                  <a:lnTo>
                    <a:pt x="0" y="260172"/>
                  </a:lnTo>
                  <a:lnTo>
                    <a:pt x="1243101" y="260172"/>
                  </a:lnTo>
                  <a:lnTo>
                    <a:pt x="2600960" y="260172"/>
                  </a:lnTo>
                  <a:lnTo>
                    <a:pt x="2600960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979920" y="4579822"/>
              <a:ext cx="2600960" cy="260350"/>
            </a:xfrm>
            <a:custGeom>
              <a:avLst/>
              <a:gdLst/>
              <a:ahLst/>
              <a:cxnLst/>
              <a:rect l="l" t="t" r="r" b="b"/>
              <a:pathLst>
                <a:path w="2600959" h="260350">
                  <a:moveTo>
                    <a:pt x="2600960" y="0"/>
                  </a:moveTo>
                  <a:lnTo>
                    <a:pt x="1243101" y="0"/>
                  </a:lnTo>
                  <a:lnTo>
                    <a:pt x="0" y="0"/>
                  </a:lnTo>
                  <a:lnTo>
                    <a:pt x="0" y="260159"/>
                  </a:lnTo>
                  <a:lnTo>
                    <a:pt x="1243101" y="260159"/>
                  </a:lnTo>
                  <a:lnTo>
                    <a:pt x="2600960" y="260159"/>
                  </a:lnTo>
                  <a:lnTo>
                    <a:pt x="2600960" y="0"/>
                  </a:lnTo>
                  <a:close/>
                </a:path>
              </a:pathLst>
            </a:custGeom>
            <a:solidFill>
              <a:srgbClr val="EDE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79920" y="4839982"/>
              <a:ext cx="2600960" cy="260350"/>
            </a:xfrm>
            <a:custGeom>
              <a:avLst/>
              <a:gdLst/>
              <a:ahLst/>
              <a:cxnLst/>
              <a:rect l="l" t="t" r="r" b="b"/>
              <a:pathLst>
                <a:path w="2600959" h="260350">
                  <a:moveTo>
                    <a:pt x="2600960" y="0"/>
                  </a:moveTo>
                  <a:lnTo>
                    <a:pt x="1243101" y="0"/>
                  </a:lnTo>
                  <a:lnTo>
                    <a:pt x="0" y="0"/>
                  </a:lnTo>
                  <a:lnTo>
                    <a:pt x="0" y="260159"/>
                  </a:lnTo>
                  <a:lnTo>
                    <a:pt x="1243101" y="260159"/>
                  </a:lnTo>
                  <a:lnTo>
                    <a:pt x="2600960" y="260159"/>
                  </a:lnTo>
                  <a:lnTo>
                    <a:pt x="2600960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79920" y="5100154"/>
              <a:ext cx="2600960" cy="260350"/>
            </a:xfrm>
            <a:custGeom>
              <a:avLst/>
              <a:gdLst/>
              <a:ahLst/>
              <a:cxnLst/>
              <a:rect l="l" t="t" r="r" b="b"/>
              <a:pathLst>
                <a:path w="2600959" h="260350">
                  <a:moveTo>
                    <a:pt x="2600960" y="0"/>
                  </a:moveTo>
                  <a:lnTo>
                    <a:pt x="1243101" y="0"/>
                  </a:lnTo>
                  <a:lnTo>
                    <a:pt x="0" y="0"/>
                  </a:lnTo>
                  <a:lnTo>
                    <a:pt x="0" y="260159"/>
                  </a:lnTo>
                  <a:lnTo>
                    <a:pt x="1243101" y="260159"/>
                  </a:lnTo>
                  <a:lnTo>
                    <a:pt x="2600960" y="260159"/>
                  </a:lnTo>
                  <a:lnTo>
                    <a:pt x="2600960" y="0"/>
                  </a:lnTo>
                  <a:close/>
                </a:path>
              </a:pathLst>
            </a:custGeom>
            <a:solidFill>
              <a:srgbClr val="EDE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79920" y="5360314"/>
              <a:ext cx="2600960" cy="260350"/>
            </a:xfrm>
            <a:custGeom>
              <a:avLst/>
              <a:gdLst/>
              <a:ahLst/>
              <a:cxnLst/>
              <a:rect l="l" t="t" r="r" b="b"/>
              <a:pathLst>
                <a:path w="2600959" h="260350">
                  <a:moveTo>
                    <a:pt x="2600960" y="0"/>
                  </a:moveTo>
                  <a:lnTo>
                    <a:pt x="1243101" y="0"/>
                  </a:lnTo>
                  <a:lnTo>
                    <a:pt x="0" y="0"/>
                  </a:lnTo>
                  <a:lnTo>
                    <a:pt x="0" y="260159"/>
                  </a:lnTo>
                  <a:lnTo>
                    <a:pt x="1243101" y="260159"/>
                  </a:lnTo>
                  <a:lnTo>
                    <a:pt x="2600960" y="260159"/>
                  </a:lnTo>
                  <a:lnTo>
                    <a:pt x="2600960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23025" y="4052711"/>
              <a:ext cx="0" cy="1574800"/>
            </a:xfrm>
            <a:custGeom>
              <a:avLst/>
              <a:gdLst/>
              <a:ahLst/>
              <a:cxnLst/>
              <a:rect l="l" t="t" r="r" b="b"/>
              <a:pathLst>
                <a:path h="1574800">
                  <a:moveTo>
                    <a:pt x="0" y="0"/>
                  </a:moveTo>
                  <a:lnTo>
                    <a:pt x="0" y="1574532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73146" y="4319649"/>
              <a:ext cx="2614930" cy="0"/>
            </a:xfrm>
            <a:custGeom>
              <a:avLst/>
              <a:gdLst/>
              <a:ahLst/>
              <a:cxnLst/>
              <a:rect l="l" t="t" r="r" b="b"/>
              <a:pathLst>
                <a:path w="2614929">
                  <a:moveTo>
                    <a:pt x="0" y="0"/>
                  </a:moveTo>
                  <a:lnTo>
                    <a:pt x="2614506" y="0"/>
                  </a:lnTo>
                </a:path>
              </a:pathLst>
            </a:custGeom>
            <a:ln w="406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73146" y="4052711"/>
              <a:ext cx="2614930" cy="1574800"/>
            </a:xfrm>
            <a:custGeom>
              <a:avLst/>
              <a:gdLst/>
              <a:ahLst/>
              <a:cxnLst/>
              <a:rect l="l" t="t" r="r" b="b"/>
              <a:pathLst>
                <a:path w="2614929" h="1574800">
                  <a:moveTo>
                    <a:pt x="0" y="527101"/>
                  </a:moveTo>
                  <a:lnTo>
                    <a:pt x="2614506" y="527101"/>
                  </a:lnTo>
                </a:path>
                <a:path w="2614929" h="1574800">
                  <a:moveTo>
                    <a:pt x="0" y="787266"/>
                  </a:moveTo>
                  <a:lnTo>
                    <a:pt x="2614506" y="787266"/>
                  </a:lnTo>
                </a:path>
                <a:path w="2614929" h="1574800">
                  <a:moveTo>
                    <a:pt x="0" y="1047430"/>
                  </a:moveTo>
                  <a:lnTo>
                    <a:pt x="2614506" y="1047430"/>
                  </a:lnTo>
                </a:path>
                <a:path w="2614929" h="1574800">
                  <a:moveTo>
                    <a:pt x="0" y="1307594"/>
                  </a:moveTo>
                  <a:lnTo>
                    <a:pt x="2614506" y="1307594"/>
                  </a:lnTo>
                </a:path>
                <a:path w="2614929" h="1574800">
                  <a:moveTo>
                    <a:pt x="6773" y="0"/>
                  </a:moveTo>
                  <a:lnTo>
                    <a:pt x="6773" y="1574532"/>
                  </a:lnTo>
                </a:path>
                <a:path w="2614929" h="1574800">
                  <a:moveTo>
                    <a:pt x="2607733" y="0"/>
                  </a:moveTo>
                  <a:lnTo>
                    <a:pt x="2607733" y="1574532"/>
                  </a:lnTo>
                </a:path>
                <a:path w="2614929" h="1574800">
                  <a:moveTo>
                    <a:pt x="0" y="6773"/>
                  </a:moveTo>
                  <a:lnTo>
                    <a:pt x="2614506" y="6773"/>
                  </a:lnTo>
                </a:path>
                <a:path w="2614929" h="1574800">
                  <a:moveTo>
                    <a:pt x="0" y="1567758"/>
                  </a:moveTo>
                  <a:lnTo>
                    <a:pt x="2614506" y="1567758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064756" y="4018279"/>
            <a:ext cx="2787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j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71808" y="4018279"/>
            <a:ext cx="6235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500" spc="-5" dirty="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g</a:t>
            </a:r>
            <a:r>
              <a:rPr sz="1500" spc="-5" dirty="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64756" y="4280408"/>
            <a:ext cx="6477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na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ys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77101" y="4280408"/>
            <a:ext cx="9182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3500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0000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64756" y="4539488"/>
            <a:ext cx="4679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Cl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er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k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77101" y="4539488"/>
            <a:ext cx="9182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1437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5000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64756" y="4798567"/>
            <a:ext cx="7708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Manage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77101" y="4798567"/>
            <a:ext cx="9182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3158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3333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64756" y="5060695"/>
            <a:ext cx="8248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President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77101" y="5060695"/>
            <a:ext cx="9182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6500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0000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64756" y="5319776"/>
            <a:ext cx="24307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24635" algn="l"/>
              </a:tabLst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ma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n	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1800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0000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864165" y="2398656"/>
            <a:ext cx="5937250" cy="1894839"/>
            <a:chOff x="3864165" y="2398656"/>
            <a:chExt cx="5937250" cy="1894839"/>
          </a:xfrm>
        </p:grpSpPr>
        <p:sp>
          <p:nvSpPr>
            <p:cNvPr id="27" name="object 27"/>
            <p:cNvSpPr/>
            <p:nvPr/>
          </p:nvSpPr>
          <p:spPr>
            <a:xfrm>
              <a:off x="4704081" y="2753069"/>
              <a:ext cx="4953635" cy="878205"/>
            </a:xfrm>
            <a:custGeom>
              <a:avLst/>
              <a:gdLst/>
              <a:ahLst/>
              <a:cxnLst/>
              <a:rect l="l" t="t" r="r" b="b"/>
              <a:pathLst>
                <a:path w="4953634" h="878204">
                  <a:moveTo>
                    <a:pt x="4953295" y="0"/>
                  </a:moveTo>
                  <a:lnTo>
                    <a:pt x="0" y="0"/>
                  </a:lnTo>
                  <a:lnTo>
                    <a:pt x="0" y="877824"/>
                  </a:lnTo>
                  <a:lnTo>
                    <a:pt x="4953295" y="877824"/>
                  </a:lnTo>
                  <a:lnTo>
                    <a:pt x="4953295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04081" y="2753069"/>
              <a:ext cx="4953635" cy="878205"/>
            </a:xfrm>
            <a:custGeom>
              <a:avLst/>
              <a:gdLst/>
              <a:ahLst/>
              <a:cxnLst/>
              <a:rect l="l" t="t" r="r" b="b"/>
              <a:pathLst>
                <a:path w="4953634" h="878204">
                  <a:moveTo>
                    <a:pt x="0" y="0"/>
                  </a:moveTo>
                  <a:lnTo>
                    <a:pt x="4953294" y="0"/>
                  </a:lnTo>
                  <a:lnTo>
                    <a:pt x="4953294" y="877823"/>
                  </a:lnTo>
                  <a:lnTo>
                    <a:pt x="0" y="877823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74325" y="2408816"/>
              <a:ext cx="5916930" cy="1874520"/>
            </a:xfrm>
            <a:custGeom>
              <a:avLst/>
              <a:gdLst/>
              <a:ahLst/>
              <a:cxnLst/>
              <a:rect l="l" t="t" r="r" b="b"/>
              <a:pathLst>
                <a:path w="5916930" h="1874520">
                  <a:moveTo>
                    <a:pt x="0" y="0"/>
                  </a:moveTo>
                  <a:lnTo>
                    <a:pt x="5916923" y="0"/>
                  </a:lnTo>
                  <a:lnTo>
                    <a:pt x="5916923" y="1874217"/>
                  </a:lnTo>
                  <a:lnTo>
                    <a:pt x="0" y="1874217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004801" y="2406904"/>
            <a:ext cx="5581650" cy="122047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1900" spc="-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E1.job,</a:t>
            </a:r>
            <a:endParaRPr sz="1900">
              <a:latin typeface="Courier New"/>
              <a:cs typeface="Courier New"/>
            </a:endParaRPr>
          </a:p>
          <a:p>
            <a:pPr marL="793115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1900" spc="-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AVG(E2.sal)</a:t>
            </a:r>
            <a:endParaRPr sz="1900">
              <a:latin typeface="Courier New"/>
              <a:cs typeface="Courier New"/>
            </a:endParaRPr>
          </a:p>
          <a:p>
            <a:pPr marL="908685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practice_emp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AS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E2</a:t>
            </a:r>
            <a:endParaRPr sz="1900">
              <a:latin typeface="Courier New"/>
              <a:cs typeface="Courier New"/>
            </a:endParaRPr>
          </a:p>
          <a:p>
            <a:pPr marL="908685">
              <a:lnSpc>
                <a:spcPct val="100000"/>
              </a:lnSpc>
              <a:spcBef>
                <a:spcPts val="20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E1.job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E2.job)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AvgSal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04801" y="3604767"/>
            <a:ext cx="2938145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practice_emp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E1 </a:t>
            </a:r>
            <a:r>
              <a:rPr sz="1900" spc="-11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GROUP</a:t>
            </a:r>
            <a:r>
              <a:rPr sz="1900" spc="-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BY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E1.job</a:t>
            </a:r>
            <a:endParaRPr sz="1900">
              <a:latin typeface="Courier New"/>
              <a:cs typeface="Courier New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238892" y="1247056"/>
            <a:ext cx="3505200" cy="1480185"/>
            <a:chOff x="6238892" y="1247056"/>
            <a:chExt cx="3505200" cy="1480185"/>
          </a:xfrm>
        </p:grpSpPr>
        <p:sp>
          <p:nvSpPr>
            <p:cNvPr id="33" name="object 33"/>
            <p:cNvSpPr/>
            <p:nvPr/>
          </p:nvSpPr>
          <p:spPr>
            <a:xfrm>
              <a:off x="6253180" y="1261343"/>
              <a:ext cx="3476625" cy="1451610"/>
            </a:xfrm>
            <a:custGeom>
              <a:avLst/>
              <a:gdLst/>
              <a:ahLst/>
              <a:cxnLst/>
              <a:rect l="l" t="t" r="r" b="b"/>
              <a:pathLst>
                <a:path w="3476625" h="1451610">
                  <a:moveTo>
                    <a:pt x="2896955" y="1221812"/>
                  </a:moveTo>
                  <a:lnTo>
                    <a:pt x="2027868" y="1221812"/>
                  </a:lnTo>
                  <a:lnTo>
                    <a:pt x="1866172" y="1451010"/>
                  </a:lnTo>
                  <a:lnTo>
                    <a:pt x="2896955" y="1221812"/>
                  </a:lnTo>
                  <a:close/>
                </a:path>
                <a:path w="3476625" h="1451610">
                  <a:moveTo>
                    <a:pt x="3272708" y="0"/>
                  </a:moveTo>
                  <a:lnTo>
                    <a:pt x="203639" y="0"/>
                  </a:lnTo>
                  <a:lnTo>
                    <a:pt x="156946" y="5378"/>
                  </a:lnTo>
                  <a:lnTo>
                    <a:pt x="114083" y="20698"/>
                  </a:lnTo>
                  <a:lnTo>
                    <a:pt x="76273" y="44737"/>
                  </a:lnTo>
                  <a:lnTo>
                    <a:pt x="44737" y="76272"/>
                  </a:lnTo>
                  <a:lnTo>
                    <a:pt x="20698" y="114083"/>
                  </a:lnTo>
                  <a:lnTo>
                    <a:pt x="5378" y="156945"/>
                  </a:lnTo>
                  <a:lnTo>
                    <a:pt x="0" y="203638"/>
                  </a:lnTo>
                  <a:lnTo>
                    <a:pt x="0" y="1018176"/>
                  </a:lnTo>
                  <a:lnTo>
                    <a:pt x="5378" y="1064865"/>
                  </a:lnTo>
                  <a:lnTo>
                    <a:pt x="20698" y="1107728"/>
                  </a:lnTo>
                  <a:lnTo>
                    <a:pt x="44737" y="1145539"/>
                  </a:lnTo>
                  <a:lnTo>
                    <a:pt x="76273" y="1177075"/>
                  </a:lnTo>
                  <a:lnTo>
                    <a:pt x="114083" y="1201114"/>
                  </a:lnTo>
                  <a:lnTo>
                    <a:pt x="156946" y="1216434"/>
                  </a:lnTo>
                  <a:lnTo>
                    <a:pt x="203639" y="1221812"/>
                  </a:lnTo>
                  <a:lnTo>
                    <a:pt x="3272708" y="1221812"/>
                  </a:lnTo>
                  <a:lnTo>
                    <a:pt x="3319401" y="1216434"/>
                  </a:lnTo>
                  <a:lnTo>
                    <a:pt x="3362263" y="1201114"/>
                  </a:lnTo>
                  <a:lnTo>
                    <a:pt x="3400073" y="1177075"/>
                  </a:lnTo>
                  <a:lnTo>
                    <a:pt x="3431609" y="1145539"/>
                  </a:lnTo>
                  <a:lnTo>
                    <a:pt x="3455648" y="1107728"/>
                  </a:lnTo>
                  <a:lnTo>
                    <a:pt x="3470968" y="1064865"/>
                  </a:lnTo>
                  <a:lnTo>
                    <a:pt x="3476346" y="1018176"/>
                  </a:lnTo>
                  <a:lnTo>
                    <a:pt x="3476346" y="203638"/>
                  </a:lnTo>
                  <a:lnTo>
                    <a:pt x="3470968" y="156945"/>
                  </a:lnTo>
                  <a:lnTo>
                    <a:pt x="3455648" y="114083"/>
                  </a:lnTo>
                  <a:lnTo>
                    <a:pt x="3431609" y="76272"/>
                  </a:lnTo>
                  <a:lnTo>
                    <a:pt x="3400073" y="44737"/>
                  </a:lnTo>
                  <a:lnTo>
                    <a:pt x="3362263" y="20698"/>
                  </a:lnTo>
                  <a:lnTo>
                    <a:pt x="3319401" y="5378"/>
                  </a:lnTo>
                  <a:lnTo>
                    <a:pt x="3272708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253180" y="1261343"/>
              <a:ext cx="3476625" cy="1451610"/>
            </a:xfrm>
            <a:custGeom>
              <a:avLst/>
              <a:gdLst/>
              <a:ahLst/>
              <a:cxnLst/>
              <a:rect l="l" t="t" r="r" b="b"/>
              <a:pathLst>
                <a:path w="3476625" h="1451610">
                  <a:moveTo>
                    <a:pt x="0" y="203638"/>
                  </a:moveTo>
                  <a:lnTo>
                    <a:pt x="5378" y="156946"/>
                  </a:lnTo>
                  <a:lnTo>
                    <a:pt x="20698" y="114083"/>
                  </a:lnTo>
                  <a:lnTo>
                    <a:pt x="44737" y="76273"/>
                  </a:lnTo>
                  <a:lnTo>
                    <a:pt x="76273" y="44737"/>
                  </a:lnTo>
                  <a:lnTo>
                    <a:pt x="114083" y="20698"/>
                  </a:lnTo>
                  <a:lnTo>
                    <a:pt x="156946" y="5378"/>
                  </a:lnTo>
                  <a:lnTo>
                    <a:pt x="203638" y="0"/>
                  </a:lnTo>
                  <a:lnTo>
                    <a:pt x="2027868" y="0"/>
                  </a:lnTo>
                  <a:lnTo>
                    <a:pt x="2896955" y="0"/>
                  </a:lnTo>
                  <a:lnTo>
                    <a:pt x="3272708" y="0"/>
                  </a:lnTo>
                  <a:lnTo>
                    <a:pt x="3319400" y="5378"/>
                  </a:lnTo>
                  <a:lnTo>
                    <a:pt x="3362263" y="20698"/>
                  </a:lnTo>
                  <a:lnTo>
                    <a:pt x="3400073" y="44737"/>
                  </a:lnTo>
                  <a:lnTo>
                    <a:pt x="3431609" y="76273"/>
                  </a:lnTo>
                  <a:lnTo>
                    <a:pt x="3455648" y="114083"/>
                  </a:lnTo>
                  <a:lnTo>
                    <a:pt x="3470968" y="156946"/>
                  </a:lnTo>
                  <a:lnTo>
                    <a:pt x="3476346" y="203638"/>
                  </a:lnTo>
                  <a:lnTo>
                    <a:pt x="3476346" y="712723"/>
                  </a:lnTo>
                  <a:lnTo>
                    <a:pt x="3476346" y="1018177"/>
                  </a:lnTo>
                  <a:lnTo>
                    <a:pt x="3470968" y="1064866"/>
                  </a:lnTo>
                  <a:lnTo>
                    <a:pt x="3455648" y="1107728"/>
                  </a:lnTo>
                  <a:lnTo>
                    <a:pt x="3431609" y="1145539"/>
                  </a:lnTo>
                  <a:lnTo>
                    <a:pt x="3400073" y="1177075"/>
                  </a:lnTo>
                  <a:lnTo>
                    <a:pt x="3362263" y="1201114"/>
                  </a:lnTo>
                  <a:lnTo>
                    <a:pt x="3319400" y="1216434"/>
                  </a:lnTo>
                  <a:lnTo>
                    <a:pt x="3272708" y="1221812"/>
                  </a:lnTo>
                  <a:lnTo>
                    <a:pt x="2896955" y="1221812"/>
                  </a:lnTo>
                  <a:lnTo>
                    <a:pt x="1866171" y="1451010"/>
                  </a:lnTo>
                  <a:lnTo>
                    <a:pt x="2027868" y="1221812"/>
                  </a:lnTo>
                  <a:lnTo>
                    <a:pt x="203638" y="1221812"/>
                  </a:lnTo>
                  <a:lnTo>
                    <a:pt x="156946" y="1216434"/>
                  </a:lnTo>
                  <a:lnTo>
                    <a:pt x="114083" y="1201114"/>
                  </a:lnTo>
                  <a:lnTo>
                    <a:pt x="76273" y="1177075"/>
                  </a:lnTo>
                  <a:lnTo>
                    <a:pt x="44737" y="1145539"/>
                  </a:lnTo>
                  <a:lnTo>
                    <a:pt x="20698" y="1107728"/>
                  </a:lnTo>
                  <a:lnTo>
                    <a:pt x="5378" y="1064866"/>
                  </a:lnTo>
                  <a:lnTo>
                    <a:pt x="0" y="1018173"/>
                  </a:lnTo>
                  <a:lnTo>
                    <a:pt x="0" y="712723"/>
                  </a:lnTo>
                  <a:lnTo>
                    <a:pt x="0" y="203638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467759" y="1377696"/>
            <a:ext cx="3046730" cy="94615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635" algn="ctr">
              <a:lnSpc>
                <a:spcPct val="85100"/>
              </a:lnSpc>
              <a:spcBef>
                <a:spcPts val="400"/>
              </a:spcBef>
            </a:pPr>
            <a:r>
              <a:rPr sz="1700" b="1" dirty="0">
                <a:solidFill>
                  <a:srgbClr val="FFFFFF"/>
                </a:solidFill>
                <a:latin typeface="Verdana"/>
                <a:cs typeface="Verdana"/>
              </a:rPr>
              <a:t>“Correlated”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query 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Recomputed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for each tuple 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 (can’t</a:t>
            </a:r>
            <a:r>
              <a:rPr sz="17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be</a:t>
            </a:r>
            <a:r>
              <a:rPr sz="17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run</a:t>
            </a:r>
            <a:r>
              <a:rPr sz="17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independently </a:t>
            </a:r>
            <a:r>
              <a:rPr sz="1700" spc="-5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 the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outer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query)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682691" y="3307676"/>
            <a:ext cx="1071245" cy="335280"/>
          </a:xfrm>
          <a:custGeom>
            <a:avLst/>
            <a:gdLst/>
            <a:ahLst/>
            <a:cxnLst/>
            <a:rect l="l" t="t" r="r" b="b"/>
            <a:pathLst>
              <a:path w="1071245" h="335279">
                <a:moveTo>
                  <a:pt x="0" y="167341"/>
                </a:moveTo>
                <a:lnTo>
                  <a:pt x="16354" y="126137"/>
                </a:lnTo>
                <a:lnTo>
                  <a:pt x="62741" y="88673"/>
                </a:lnTo>
                <a:lnTo>
                  <a:pt x="135145" y="56203"/>
                </a:lnTo>
                <a:lnTo>
                  <a:pt x="179850" y="42233"/>
                </a:lnTo>
                <a:lnTo>
                  <a:pt x="229553" y="29981"/>
                </a:lnTo>
                <a:lnTo>
                  <a:pt x="283754" y="19606"/>
                </a:lnTo>
                <a:lnTo>
                  <a:pt x="341950" y="11263"/>
                </a:lnTo>
                <a:lnTo>
                  <a:pt x="403639" y="5110"/>
                </a:lnTo>
                <a:lnTo>
                  <a:pt x="468320" y="1303"/>
                </a:lnTo>
                <a:lnTo>
                  <a:pt x="535491" y="0"/>
                </a:lnTo>
                <a:lnTo>
                  <a:pt x="602662" y="1303"/>
                </a:lnTo>
                <a:lnTo>
                  <a:pt x="667343" y="5110"/>
                </a:lnTo>
                <a:lnTo>
                  <a:pt x="729033" y="11263"/>
                </a:lnTo>
                <a:lnTo>
                  <a:pt x="787229" y="19606"/>
                </a:lnTo>
                <a:lnTo>
                  <a:pt x="841429" y="29981"/>
                </a:lnTo>
                <a:lnTo>
                  <a:pt x="891133" y="42233"/>
                </a:lnTo>
                <a:lnTo>
                  <a:pt x="935837" y="56203"/>
                </a:lnTo>
                <a:lnTo>
                  <a:pt x="975041" y="71735"/>
                </a:lnTo>
                <a:lnTo>
                  <a:pt x="1034938" y="106859"/>
                </a:lnTo>
                <a:lnTo>
                  <a:pt x="1066811" y="146350"/>
                </a:lnTo>
                <a:lnTo>
                  <a:pt x="1070983" y="167341"/>
                </a:lnTo>
                <a:lnTo>
                  <a:pt x="1066811" y="188332"/>
                </a:lnTo>
                <a:lnTo>
                  <a:pt x="1034938" y="227823"/>
                </a:lnTo>
                <a:lnTo>
                  <a:pt x="975041" y="262947"/>
                </a:lnTo>
                <a:lnTo>
                  <a:pt x="935837" y="278479"/>
                </a:lnTo>
                <a:lnTo>
                  <a:pt x="891133" y="292449"/>
                </a:lnTo>
                <a:lnTo>
                  <a:pt x="841429" y="304700"/>
                </a:lnTo>
                <a:lnTo>
                  <a:pt x="787229" y="315075"/>
                </a:lnTo>
                <a:lnTo>
                  <a:pt x="729033" y="323418"/>
                </a:lnTo>
                <a:lnTo>
                  <a:pt x="667343" y="329571"/>
                </a:lnTo>
                <a:lnTo>
                  <a:pt x="602662" y="333378"/>
                </a:lnTo>
                <a:lnTo>
                  <a:pt x="535491" y="334682"/>
                </a:lnTo>
                <a:lnTo>
                  <a:pt x="468320" y="333378"/>
                </a:lnTo>
                <a:lnTo>
                  <a:pt x="403639" y="329571"/>
                </a:lnTo>
                <a:lnTo>
                  <a:pt x="341950" y="323418"/>
                </a:lnTo>
                <a:lnTo>
                  <a:pt x="283754" y="315075"/>
                </a:lnTo>
                <a:lnTo>
                  <a:pt x="229553" y="304700"/>
                </a:lnTo>
                <a:lnTo>
                  <a:pt x="179850" y="292449"/>
                </a:lnTo>
                <a:lnTo>
                  <a:pt x="135145" y="278479"/>
                </a:lnTo>
                <a:lnTo>
                  <a:pt x="95942" y="262947"/>
                </a:lnTo>
                <a:lnTo>
                  <a:pt x="36044" y="227823"/>
                </a:lnTo>
                <a:lnTo>
                  <a:pt x="4172" y="188332"/>
                </a:lnTo>
                <a:lnTo>
                  <a:pt x="0" y="167341"/>
                </a:lnTo>
                <a:close/>
              </a:path>
            </a:pathLst>
          </a:custGeom>
          <a:ln w="3047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46164" y="1216659"/>
            <a:ext cx="54438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4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321121" y="2080558"/>
          <a:ext cx="3358513" cy="3646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895" y="6336791"/>
            <a:ext cx="9354312" cy="966215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651510" y="6221856"/>
            <a:ext cx="8755380" cy="72453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2406015" marR="694055" indent="-1706880">
              <a:lnSpc>
                <a:spcPts val="2500"/>
              </a:lnSpc>
              <a:spcBef>
                <a:spcPts val="229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bq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SELEC</a:t>
            </a:r>
            <a:r>
              <a:rPr sz="2100" dirty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sz="2100" spc="-49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si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n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g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l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C00000"/>
                </a:solidFill>
                <a:latin typeface="Verdana"/>
                <a:cs typeface="Verdana"/>
              </a:rPr>
              <a:t>v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l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u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 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compute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associated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endParaRPr sz="2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2081" y="341376"/>
            <a:ext cx="771080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0" spc="-100" dirty="0">
                <a:latin typeface="Verdana"/>
                <a:cs typeface="Verdana"/>
              </a:rPr>
              <a:t>(</a:t>
            </a:r>
            <a:r>
              <a:rPr sz="3500" b="0" spc="-95" dirty="0">
                <a:latin typeface="Verdana"/>
                <a:cs typeface="Verdana"/>
              </a:rPr>
              <a:t>E</a:t>
            </a:r>
            <a:r>
              <a:rPr sz="3500" b="0" spc="-100" dirty="0">
                <a:latin typeface="Verdana"/>
                <a:cs typeface="Verdana"/>
              </a:rPr>
              <a:t>q</a:t>
            </a:r>
            <a:r>
              <a:rPr sz="3500" b="0" spc="-95" dirty="0">
                <a:latin typeface="Verdana"/>
                <a:cs typeface="Verdana"/>
              </a:rPr>
              <a:t>u</a:t>
            </a:r>
            <a:r>
              <a:rPr sz="3500" b="0" spc="-110" dirty="0">
                <a:latin typeface="Verdana"/>
                <a:cs typeface="Verdana"/>
              </a:rPr>
              <a:t>i</a:t>
            </a:r>
            <a:r>
              <a:rPr sz="3500" b="0" spc="-165" dirty="0">
                <a:latin typeface="Verdana"/>
                <a:cs typeface="Verdana"/>
              </a:rPr>
              <a:t>v</a:t>
            </a:r>
            <a:r>
              <a:rPr sz="3500" b="0" spc="-90" dirty="0">
                <a:latin typeface="Verdana"/>
                <a:cs typeface="Verdana"/>
              </a:rPr>
              <a:t>a</a:t>
            </a:r>
            <a:r>
              <a:rPr sz="3500" b="0" spc="-110" dirty="0">
                <a:latin typeface="Verdana"/>
                <a:cs typeface="Verdana"/>
              </a:rPr>
              <a:t>l</a:t>
            </a:r>
            <a:r>
              <a:rPr sz="3500" b="0" spc="-100" dirty="0">
                <a:latin typeface="Verdana"/>
                <a:cs typeface="Verdana"/>
              </a:rPr>
              <a:t>e</a:t>
            </a:r>
            <a:r>
              <a:rPr sz="3500" b="0" spc="-95" dirty="0">
                <a:latin typeface="Verdana"/>
                <a:cs typeface="Verdana"/>
              </a:rPr>
              <a:t>n</a:t>
            </a:r>
            <a:r>
              <a:rPr sz="3500" b="0" spc="-100" dirty="0">
                <a:latin typeface="Verdana"/>
                <a:cs typeface="Verdana"/>
              </a:rPr>
              <a:t>t</a:t>
            </a:r>
            <a:r>
              <a:rPr sz="3500" b="0" dirty="0">
                <a:latin typeface="Verdana"/>
                <a:cs typeface="Verdana"/>
              </a:rPr>
              <a:t>)</a:t>
            </a:r>
            <a:r>
              <a:rPr sz="3500" b="0" spc="-245" dirty="0">
                <a:latin typeface="Verdana"/>
                <a:cs typeface="Verdana"/>
              </a:rPr>
              <a:t> </a:t>
            </a:r>
            <a:r>
              <a:rPr sz="4100" spc="-140" dirty="0"/>
              <a:t>Su</a:t>
            </a:r>
            <a:r>
              <a:rPr sz="4100" spc="-135" dirty="0"/>
              <a:t>bq</a:t>
            </a:r>
            <a:r>
              <a:rPr sz="4100" spc="-140" dirty="0"/>
              <a:t>u</a:t>
            </a:r>
            <a:r>
              <a:rPr sz="4100" spc="-135" dirty="0"/>
              <a:t>e</a:t>
            </a:r>
            <a:r>
              <a:rPr sz="4100" spc="-130" dirty="0"/>
              <a:t>r</a:t>
            </a:r>
            <a:r>
              <a:rPr sz="4100" dirty="0"/>
              <a:t>y</a:t>
            </a:r>
            <a:r>
              <a:rPr sz="4100" spc="-260" dirty="0"/>
              <a:t> </a:t>
            </a:r>
            <a:r>
              <a:rPr sz="4100" spc="-135" dirty="0"/>
              <a:t>(F</a:t>
            </a:r>
            <a:r>
              <a:rPr sz="4100" spc="-145" dirty="0"/>
              <a:t>R</a:t>
            </a:r>
            <a:r>
              <a:rPr sz="4100" spc="-155" dirty="0"/>
              <a:t>OM</a:t>
            </a:r>
            <a:r>
              <a:rPr sz="4100" dirty="0"/>
              <a:t>)</a:t>
            </a:r>
            <a:endParaRPr sz="4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04801" y="1964944"/>
            <a:ext cx="30835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100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E1.job,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AvgSal </a:t>
            </a:r>
            <a:r>
              <a:rPr sz="1900" spc="-11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1900" spc="-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practice_emp</a:t>
            </a:r>
            <a:r>
              <a:rPr sz="19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E1,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0211" y="2653992"/>
            <a:ext cx="4953635" cy="956310"/>
          </a:xfrm>
          <a:prstGeom prst="rect">
            <a:avLst/>
          </a:prstGeom>
          <a:solidFill>
            <a:srgbClr val="ECF5FF"/>
          </a:solidFill>
          <a:ln w="20319">
            <a:solidFill>
              <a:srgbClr val="004479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285750" marR="316230" indent="-171450">
              <a:lnSpc>
                <a:spcPct val="101099"/>
              </a:lnSpc>
              <a:spcBef>
                <a:spcPts val="7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job,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AVG(sal)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AvgSal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practice_emp</a:t>
            </a:r>
            <a:endParaRPr sz="1900">
              <a:latin typeface="Courier New"/>
              <a:cs typeface="Courier New"/>
            </a:endParaRPr>
          </a:p>
          <a:p>
            <a:pPr marL="285750">
              <a:lnSpc>
                <a:spcPct val="100000"/>
              </a:lnSpc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GROUP</a:t>
            </a:r>
            <a:r>
              <a:rPr sz="1900" spc="-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BY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job)</a:t>
            </a:r>
            <a:r>
              <a:rPr sz="19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AS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E2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04801" y="3616959"/>
            <a:ext cx="30835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1900" spc="-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E1.job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9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E2.job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03609" y="3909567"/>
            <a:ext cx="31178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GROUP</a:t>
            </a:r>
            <a:r>
              <a:rPr sz="1900" spc="-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900" spc="-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E1.job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93449" y="1965500"/>
            <a:ext cx="5916930" cy="2371725"/>
          </a:xfrm>
          <a:custGeom>
            <a:avLst/>
            <a:gdLst/>
            <a:ahLst/>
            <a:cxnLst/>
            <a:rect l="l" t="t" r="r" b="b"/>
            <a:pathLst>
              <a:path w="5916930" h="2371725">
                <a:moveTo>
                  <a:pt x="0" y="0"/>
                </a:moveTo>
                <a:lnTo>
                  <a:pt x="5916923" y="0"/>
                </a:lnTo>
                <a:lnTo>
                  <a:pt x="5916923" y="2371463"/>
                </a:lnTo>
                <a:lnTo>
                  <a:pt x="0" y="2371463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47196" y="5256276"/>
            <a:ext cx="7200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de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47196" y="5561076"/>
            <a:ext cx="4605020" cy="62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635">
              <a:lnSpc>
                <a:spcPts val="2300"/>
              </a:lnSpc>
              <a:spcBef>
                <a:spcPts val="100"/>
              </a:spcBef>
              <a:buAutoNum type="arabicPeriod"/>
              <a:tabLst>
                <a:tab pos="394335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aggregate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each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endParaRPr sz="2000">
              <a:latin typeface="Verdana"/>
              <a:cs typeface="Verdana"/>
            </a:endParaRPr>
          </a:p>
          <a:p>
            <a:pPr marL="393700" indent="-381635">
              <a:lnSpc>
                <a:spcPts val="2420"/>
              </a:lnSpc>
              <a:buAutoNum type="arabicPeriod"/>
              <a:tabLst>
                <a:tab pos="394335" algn="l"/>
              </a:tabLst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original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practice_emp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0376" y="1216659"/>
            <a:ext cx="51898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endParaRPr sz="22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000794" y="3972041"/>
            <a:ext cx="2655570" cy="1588770"/>
            <a:chOff x="7000794" y="3972041"/>
            <a:chExt cx="2655570" cy="1588770"/>
          </a:xfrm>
        </p:grpSpPr>
        <p:sp>
          <p:nvSpPr>
            <p:cNvPr id="12" name="object 12"/>
            <p:cNvSpPr/>
            <p:nvPr/>
          </p:nvSpPr>
          <p:spPr>
            <a:xfrm>
              <a:off x="7027888" y="4245965"/>
              <a:ext cx="2600960" cy="260350"/>
            </a:xfrm>
            <a:custGeom>
              <a:avLst/>
              <a:gdLst/>
              <a:ahLst/>
              <a:cxnLst/>
              <a:rect l="l" t="t" r="r" b="b"/>
              <a:pathLst>
                <a:path w="2600959" h="260350">
                  <a:moveTo>
                    <a:pt x="2600960" y="0"/>
                  </a:moveTo>
                  <a:lnTo>
                    <a:pt x="1243101" y="0"/>
                  </a:lnTo>
                  <a:lnTo>
                    <a:pt x="0" y="0"/>
                  </a:lnTo>
                  <a:lnTo>
                    <a:pt x="0" y="260172"/>
                  </a:lnTo>
                  <a:lnTo>
                    <a:pt x="1243101" y="260172"/>
                  </a:lnTo>
                  <a:lnTo>
                    <a:pt x="2600960" y="260172"/>
                  </a:lnTo>
                  <a:lnTo>
                    <a:pt x="2600960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70992" y="3979026"/>
              <a:ext cx="0" cy="1574800"/>
            </a:xfrm>
            <a:custGeom>
              <a:avLst/>
              <a:gdLst/>
              <a:ahLst/>
              <a:cxnLst/>
              <a:rect l="l" t="t" r="r" b="b"/>
              <a:pathLst>
                <a:path h="1574800">
                  <a:moveTo>
                    <a:pt x="0" y="0"/>
                  </a:moveTo>
                  <a:lnTo>
                    <a:pt x="0" y="1574532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21114" y="4245963"/>
              <a:ext cx="2614930" cy="0"/>
            </a:xfrm>
            <a:custGeom>
              <a:avLst/>
              <a:gdLst/>
              <a:ahLst/>
              <a:cxnLst/>
              <a:rect l="l" t="t" r="r" b="b"/>
              <a:pathLst>
                <a:path w="2614929">
                  <a:moveTo>
                    <a:pt x="0" y="0"/>
                  </a:moveTo>
                  <a:lnTo>
                    <a:pt x="2614506" y="0"/>
                  </a:lnTo>
                </a:path>
              </a:pathLst>
            </a:custGeom>
            <a:ln w="406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21114" y="3979026"/>
              <a:ext cx="2614930" cy="1574800"/>
            </a:xfrm>
            <a:custGeom>
              <a:avLst/>
              <a:gdLst/>
              <a:ahLst/>
              <a:cxnLst/>
              <a:rect l="l" t="t" r="r" b="b"/>
              <a:pathLst>
                <a:path w="2614929" h="1574800">
                  <a:moveTo>
                    <a:pt x="6773" y="0"/>
                  </a:moveTo>
                  <a:lnTo>
                    <a:pt x="6773" y="1574532"/>
                  </a:lnTo>
                </a:path>
                <a:path w="2614929" h="1574800">
                  <a:moveTo>
                    <a:pt x="2607733" y="0"/>
                  </a:moveTo>
                  <a:lnTo>
                    <a:pt x="2607733" y="1574532"/>
                  </a:lnTo>
                </a:path>
                <a:path w="2614929" h="1574800">
                  <a:moveTo>
                    <a:pt x="0" y="6773"/>
                  </a:moveTo>
                  <a:lnTo>
                    <a:pt x="2614506" y="6773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034661" y="3992572"/>
            <a:ext cx="1229995" cy="233679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525"/>
              </a:lnSpc>
            </a:pPr>
            <a:r>
              <a:rPr sz="1500" spc="-5" dirty="0">
                <a:solidFill>
                  <a:srgbClr val="FFFFFF"/>
                </a:solidFill>
                <a:latin typeface="Arial MT"/>
                <a:cs typeface="Arial MT"/>
              </a:rPr>
              <a:t>job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77766" y="3992572"/>
            <a:ext cx="1344930" cy="233679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0" rIns="0" bIns="0" rtlCol="0">
            <a:spAutoFit/>
          </a:bodyPr>
          <a:lstStyle/>
          <a:p>
            <a:pPr marL="654685">
              <a:lnSpc>
                <a:spcPts val="1525"/>
              </a:lnSpc>
            </a:pP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AvgSal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12723" y="4204208"/>
            <a:ext cx="6477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na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ys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25068" y="4204208"/>
            <a:ext cx="9182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3500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0000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27888" y="4506128"/>
            <a:ext cx="1243330" cy="260350"/>
          </a:xfrm>
          <a:prstGeom prst="rect">
            <a:avLst/>
          </a:prstGeom>
          <a:solidFill>
            <a:srgbClr val="EDEEF0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85"/>
              </a:lnSpc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Clerk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70992" y="4506128"/>
            <a:ext cx="1358265" cy="260350"/>
          </a:xfrm>
          <a:prstGeom prst="rect">
            <a:avLst/>
          </a:prstGeom>
          <a:solidFill>
            <a:srgbClr val="EDEEF0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6395">
              <a:lnSpc>
                <a:spcPts val="1585"/>
              </a:lnSpc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1437.5000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27888" y="4766292"/>
            <a:ext cx="1243330" cy="260350"/>
          </a:xfrm>
          <a:prstGeom prst="rect">
            <a:avLst/>
          </a:prstGeom>
          <a:solidFill>
            <a:srgbClr val="D8DBDF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80"/>
              </a:lnSpc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Manager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70992" y="4766292"/>
            <a:ext cx="1358265" cy="260350"/>
          </a:xfrm>
          <a:prstGeom prst="rect">
            <a:avLst/>
          </a:prstGeom>
          <a:solidFill>
            <a:srgbClr val="D8DBDF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6395">
              <a:lnSpc>
                <a:spcPts val="1580"/>
              </a:lnSpc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3158.3333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27888" y="5026456"/>
            <a:ext cx="1243330" cy="260350"/>
          </a:xfrm>
          <a:prstGeom prst="rect">
            <a:avLst/>
          </a:prstGeom>
          <a:solidFill>
            <a:srgbClr val="EDEEF0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95"/>
              </a:lnSpc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President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70992" y="5026456"/>
            <a:ext cx="1358265" cy="260350"/>
          </a:xfrm>
          <a:prstGeom prst="rect">
            <a:avLst/>
          </a:prstGeom>
          <a:solidFill>
            <a:srgbClr val="EDEEF0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6395">
              <a:lnSpc>
                <a:spcPts val="1595"/>
              </a:lnSpc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6500.0000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27888" y="5286621"/>
            <a:ext cx="1243330" cy="260350"/>
          </a:xfrm>
          <a:prstGeom prst="rect">
            <a:avLst/>
          </a:prstGeom>
          <a:solidFill>
            <a:srgbClr val="D8DBDF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85"/>
              </a:lnSpc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Salesman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70992" y="5286621"/>
            <a:ext cx="1358265" cy="260350"/>
          </a:xfrm>
          <a:prstGeom prst="rect">
            <a:avLst/>
          </a:prstGeom>
          <a:solidFill>
            <a:srgbClr val="D8DBDF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6395">
              <a:lnSpc>
                <a:spcPts val="1585"/>
              </a:lnSpc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1800.0000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440054" y="1253825"/>
            <a:ext cx="3355975" cy="1371600"/>
            <a:chOff x="6440054" y="1253825"/>
            <a:chExt cx="3355975" cy="1371600"/>
          </a:xfrm>
        </p:grpSpPr>
        <p:sp>
          <p:nvSpPr>
            <p:cNvPr id="29" name="object 29"/>
            <p:cNvSpPr/>
            <p:nvPr/>
          </p:nvSpPr>
          <p:spPr>
            <a:xfrm>
              <a:off x="6454147" y="1267918"/>
              <a:ext cx="3328035" cy="1343660"/>
            </a:xfrm>
            <a:custGeom>
              <a:avLst/>
              <a:gdLst/>
              <a:ahLst/>
              <a:cxnLst/>
              <a:rect l="l" t="t" r="r" b="b"/>
              <a:pathLst>
                <a:path w="3328034" h="1343660">
                  <a:moveTo>
                    <a:pt x="2773084" y="720159"/>
                  </a:moveTo>
                  <a:lnTo>
                    <a:pt x="1941159" y="720159"/>
                  </a:lnTo>
                  <a:lnTo>
                    <a:pt x="1670838" y="1343301"/>
                  </a:lnTo>
                  <a:lnTo>
                    <a:pt x="2773084" y="720159"/>
                  </a:lnTo>
                  <a:close/>
                </a:path>
                <a:path w="3328034" h="1343660">
                  <a:moveTo>
                    <a:pt x="3207673" y="0"/>
                  </a:moveTo>
                  <a:lnTo>
                    <a:pt x="120028" y="0"/>
                  </a:lnTo>
                  <a:lnTo>
                    <a:pt x="73308" y="9432"/>
                  </a:lnTo>
                  <a:lnTo>
                    <a:pt x="35155" y="35155"/>
                  </a:lnTo>
                  <a:lnTo>
                    <a:pt x="9432" y="73308"/>
                  </a:lnTo>
                  <a:lnTo>
                    <a:pt x="0" y="120028"/>
                  </a:lnTo>
                  <a:lnTo>
                    <a:pt x="0" y="600134"/>
                  </a:lnTo>
                  <a:lnTo>
                    <a:pt x="9432" y="646851"/>
                  </a:lnTo>
                  <a:lnTo>
                    <a:pt x="35155" y="685004"/>
                  </a:lnTo>
                  <a:lnTo>
                    <a:pt x="73308" y="710727"/>
                  </a:lnTo>
                  <a:lnTo>
                    <a:pt x="120028" y="720159"/>
                  </a:lnTo>
                  <a:lnTo>
                    <a:pt x="3207673" y="720159"/>
                  </a:lnTo>
                  <a:lnTo>
                    <a:pt x="3254393" y="710727"/>
                  </a:lnTo>
                  <a:lnTo>
                    <a:pt x="3292546" y="685004"/>
                  </a:lnTo>
                  <a:lnTo>
                    <a:pt x="3318269" y="646851"/>
                  </a:lnTo>
                  <a:lnTo>
                    <a:pt x="3327701" y="600134"/>
                  </a:lnTo>
                  <a:lnTo>
                    <a:pt x="3327702" y="120028"/>
                  </a:lnTo>
                  <a:lnTo>
                    <a:pt x="3318269" y="73308"/>
                  </a:lnTo>
                  <a:lnTo>
                    <a:pt x="3292546" y="35155"/>
                  </a:lnTo>
                  <a:lnTo>
                    <a:pt x="3254393" y="9432"/>
                  </a:lnTo>
                  <a:lnTo>
                    <a:pt x="3207673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454147" y="1267918"/>
              <a:ext cx="3328035" cy="1343660"/>
            </a:xfrm>
            <a:custGeom>
              <a:avLst/>
              <a:gdLst/>
              <a:ahLst/>
              <a:cxnLst/>
              <a:rect l="l" t="t" r="r" b="b"/>
              <a:pathLst>
                <a:path w="3328034" h="1343660">
                  <a:moveTo>
                    <a:pt x="0" y="120029"/>
                  </a:moveTo>
                  <a:lnTo>
                    <a:pt x="9432" y="73308"/>
                  </a:lnTo>
                  <a:lnTo>
                    <a:pt x="35155" y="35155"/>
                  </a:lnTo>
                  <a:lnTo>
                    <a:pt x="73308" y="9432"/>
                  </a:lnTo>
                  <a:lnTo>
                    <a:pt x="120028" y="0"/>
                  </a:lnTo>
                  <a:lnTo>
                    <a:pt x="1941159" y="0"/>
                  </a:lnTo>
                  <a:lnTo>
                    <a:pt x="2773085" y="0"/>
                  </a:lnTo>
                  <a:lnTo>
                    <a:pt x="3207673" y="0"/>
                  </a:lnTo>
                  <a:lnTo>
                    <a:pt x="3254394" y="9432"/>
                  </a:lnTo>
                  <a:lnTo>
                    <a:pt x="3292546" y="35155"/>
                  </a:lnTo>
                  <a:lnTo>
                    <a:pt x="3318269" y="73308"/>
                  </a:lnTo>
                  <a:lnTo>
                    <a:pt x="3327702" y="120029"/>
                  </a:lnTo>
                  <a:lnTo>
                    <a:pt x="3327702" y="420094"/>
                  </a:lnTo>
                  <a:lnTo>
                    <a:pt x="3327702" y="600134"/>
                  </a:lnTo>
                  <a:lnTo>
                    <a:pt x="3318269" y="646851"/>
                  </a:lnTo>
                  <a:lnTo>
                    <a:pt x="3292546" y="685004"/>
                  </a:lnTo>
                  <a:lnTo>
                    <a:pt x="3254394" y="710727"/>
                  </a:lnTo>
                  <a:lnTo>
                    <a:pt x="3207673" y="720159"/>
                  </a:lnTo>
                  <a:lnTo>
                    <a:pt x="2773085" y="720159"/>
                  </a:lnTo>
                  <a:lnTo>
                    <a:pt x="1670838" y="1343301"/>
                  </a:lnTo>
                  <a:lnTo>
                    <a:pt x="1941159" y="720159"/>
                  </a:lnTo>
                  <a:lnTo>
                    <a:pt x="120028" y="720159"/>
                  </a:lnTo>
                  <a:lnTo>
                    <a:pt x="73308" y="710727"/>
                  </a:lnTo>
                  <a:lnTo>
                    <a:pt x="35155" y="685004"/>
                  </a:lnTo>
                  <a:lnTo>
                    <a:pt x="9432" y="646851"/>
                  </a:lnTo>
                  <a:lnTo>
                    <a:pt x="0" y="600130"/>
                  </a:lnTo>
                  <a:lnTo>
                    <a:pt x="0" y="420094"/>
                  </a:lnTo>
                  <a:lnTo>
                    <a:pt x="0" y="120029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597384" y="1356359"/>
            <a:ext cx="3041015" cy="501015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5080" indent="241300">
              <a:lnSpc>
                <a:spcPts val="1700"/>
              </a:lnSpc>
              <a:spcBef>
                <a:spcPts val="439"/>
              </a:spcBef>
            </a:pPr>
            <a:r>
              <a:rPr sz="1700" b="1" dirty="0">
                <a:solidFill>
                  <a:srgbClr val="FFFFFF"/>
                </a:solidFill>
                <a:latin typeface="Verdana"/>
                <a:cs typeface="Verdana"/>
              </a:rPr>
              <a:t>“Uncorrelated”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query 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Independent</a:t>
            </a:r>
            <a:r>
              <a:rPr sz="17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7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outer</a:t>
            </a:r>
            <a:r>
              <a:rPr sz="17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query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321121" y="2080558"/>
          <a:ext cx="3358513" cy="3646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346164" y="1811528"/>
            <a:ext cx="1309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895" y="6336791"/>
            <a:ext cx="9354312" cy="966215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632085" y="6336584"/>
            <a:ext cx="8755380" cy="72453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3415665" marR="501015" indent="-2907665">
              <a:lnSpc>
                <a:spcPts val="2500"/>
              </a:lnSpc>
              <a:spcBef>
                <a:spcPts val="229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bq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FRO</a:t>
            </a:r>
            <a:r>
              <a:rPr sz="2100" dirty="0">
                <a:solidFill>
                  <a:srgbClr val="C00000"/>
                </a:solidFill>
                <a:latin typeface="Courier New"/>
                <a:cs typeface="Courier New"/>
              </a:rPr>
              <a:t>M</a:t>
            </a:r>
            <a:r>
              <a:rPr sz="2100" spc="-49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r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l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ti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o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n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p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 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another query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4200" y="322071"/>
            <a:ext cx="636587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Su</a:t>
            </a:r>
            <a:r>
              <a:rPr spc="-130" dirty="0"/>
              <a:t>bq</a:t>
            </a:r>
            <a:r>
              <a:rPr spc="-135" dirty="0"/>
              <a:t>u</a:t>
            </a:r>
            <a:r>
              <a:rPr spc="-125" dirty="0"/>
              <a:t>erie</a:t>
            </a:r>
            <a:r>
              <a:rPr dirty="0"/>
              <a:t>s</a:t>
            </a:r>
            <a:r>
              <a:rPr spc="-254" dirty="0"/>
              <a:t> </a:t>
            </a:r>
            <a:r>
              <a:rPr spc="-125" dirty="0"/>
              <a:t>i</a:t>
            </a:r>
            <a:r>
              <a:rPr dirty="0"/>
              <a:t>n</a:t>
            </a:r>
            <a:r>
              <a:rPr spc="-254" dirty="0"/>
              <a:t> </a:t>
            </a:r>
            <a:r>
              <a:rPr spc="-150" dirty="0"/>
              <a:t>W</a:t>
            </a:r>
            <a:r>
              <a:rPr spc="-135" dirty="0"/>
              <a:t>H</a:t>
            </a:r>
            <a:r>
              <a:rPr spc="-125" dirty="0"/>
              <a:t>E</a:t>
            </a:r>
            <a:r>
              <a:rPr spc="-140" dirty="0"/>
              <a:t>R</a:t>
            </a:r>
            <a:r>
              <a:rPr dirty="0"/>
              <a:t>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5131" y="2354259"/>
          <a:ext cx="3358513" cy="3646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0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636549" y="3007212"/>
            <a:ext cx="3745229" cy="976630"/>
            <a:chOff x="4636549" y="3007212"/>
            <a:chExt cx="3745229" cy="976630"/>
          </a:xfrm>
        </p:grpSpPr>
        <p:sp>
          <p:nvSpPr>
            <p:cNvPr id="5" name="object 5"/>
            <p:cNvSpPr/>
            <p:nvPr/>
          </p:nvSpPr>
          <p:spPr>
            <a:xfrm>
              <a:off x="4646709" y="3017372"/>
              <a:ext cx="3724910" cy="956310"/>
            </a:xfrm>
            <a:custGeom>
              <a:avLst/>
              <a:gdLst/>
              <a:ahLst/>
              <a:cxnLst/>
              <a:rect l="l" t="t" r="r" b="b"/>
              <a:pathLst>
                <a:path w="3724909" h="956310">
                  <a:moveTo>
                    <a:pt x="3724297" y="0"/>
                  </a:moveTo>
                  <a:lnTo>
                    <a:pt x="0" y="0"/>
                  </a:lnTo>
                  <a:lnTo>
                    <a:pt x="0" y="955852"/>
                  </a:lnTo>
                  <a:lnTo>
                    <a:pt x="3724297" y="955852"/>
                  </a:lnTo>
                  <a:lnTo>
                    <a:pt x="3724297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46709" y="3017372"/>
              <a:ext cx="3724910" cy="956310"/>
            </a:xfrm>
            <a:custGeom>
              <a:avLst/>
              <a:gdLst/>
              <a:ahLst/>
              <a:cxnLst/>
              <a:rect l="l" t="t" r="r" b="b"/>
              <a:pathLst>
                <a:path w="3724909" h="956310">
                  <a:moveTo>
                    <a:pt x="0" y="0"/>
                  </a:moveTo>
                  <a:lnTo>
                    <a:pt x="3724297" y="0"/>
                  </a:lnTo>
                  <a:lnTo>
                    <a:pt x="3724297" y="955852"/>
                  </a:lnTo>
                  <a:lnTo>
                    <a:pt x="0" y="955852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884485" y="2117344"/>
            <a:ext cx="5896610" cy="92773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220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1900" spc="-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E1.ename</a:t>
            </a:r>
            <a:endParaRPr sz="1900">
              <a:latin typeface="Courier New"/>
              <a:cs typeface="Courier New"/>
            </a:endParaRPr>
          </a:p>
          <a:p>
            <a:pPr marL="132715" marR="2842895">
              <a:lnSpc>
                <a:spcPct val="101099"/>
              </a:lnSpc>
              <a:spcBef>
                <a:spcPts val="95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practice_emp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E1 </a:t>
            </a:r>
            <a:r>
              <a:rPr sz="1900" spc="-11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WHERE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E1.sal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85767" y="3022600"/>
            <a:ext cx="3489960" cy="89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1900" spc="-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MAX(E2.sal)</a:t>
            </a:r>
            <a:endParaRPr sz="1900">
              <a:latin typeface="Courier New"/>
              <a:cs typeface="Courier New"/>
            </a:endParaRPr>
          </a:p>
          <a:p>
            <a:pPr marL="127635" marR="5080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practice_emp AS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E2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1900" spc="-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E1.job</a:t>
            </a:r>
            <a:r>
              <a:rPr sz="19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9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E2.job)</a:t>
            </a:r>
            <a:endParaRPr sz="19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864165" y="2089216"/>
            <a:ext cx="5937250" cy="2814955"/>
            <a:chOff x="3864165" y="2089216"/>
            <a:chExt cx="5937250" cy="2814955"/>
          </a:xfrm>
        </p:grpSpPr>
        <p:sp>
          <p:nvSpPr>
            <p:cNvPr id="10" name="object 10"/>
            <p:cNvSpPr/>
            <p:nvPr/>
          </p:nvSpPr>
          <p:spPr>
            <a:xfrm>
              <a:off x="3874325" y="2099376"/>
              <a:ext cx="5916930" cy="1972310"/>
            </a:xfrm>
            <a:custGeom>
              <a:avLst/>
              <a:gdLst/>
              <a:ahLst/>
              <a:cxnLst/>
              <a:rect l="l" t="t" r="r" b="b"/>
              <a:pathLst>
                <a:path w="5916930" h="1972310">
                  <a:moveTo>
                    <a:pt x="0" y="0"/>
                  </a:moveTo>
                  <a:lnTo>
                    <a:pt x="5916923" y="0"/>
                  </a:lnTo>
                  <a:lnTo>
                    <a:pt x="5916923" y="1971982"/>
                  </a:lnTo>
                  <a:lnTo>
                    <a:pt x="0" y="1971982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02434" y="3991866"/>
              <a:ext cx="2405380" cy="897890"/>
            </a:xfrm>
            <a:custGeom>
              <a:avLst/>
              <a:gdLst/>
              <a:ahLst/>
              <a:cxnLst/>
              <a:rect l="l" t="t" r="r" b="b"/>
              <a:pathLst>
                <a:path w="2405379" h="897889">
                  <a:moveTo>
                    <a:pt x="2313289" y="345100"/>
                  </a:moveTo>
                  <a:lnTo>
                    <a:pt x="92077" y="345100"/>
                  </a:lnTo>
                  <a:lnTo>
                    <a:pt x="56236" y="352336"/>
                  </a:lnTo>
                  <a:lnTo>
                    <a:pt x="26968" y="372069"/>
                  </a:lnTo>
                  <a:lnTo>
                    <a:pt x="7235" y="401337"/>
                  </a:lnTo>
                  <a:lnTo>
                    <a:pt x="0" y="437174"/>
                  </a:lnTo>
                  <a:lnTo>
                    <a:pt x="0" y="805465"/>
                  </a:lnTo>
                  <a:lnTo>
                    <a:pt x="7235" y="841306"/>
                  </a:lnTo>
                  <a:lnTo>
                    <a:pt x="26968" y="870574"/>
                  </a:lnTo>
                  <a:lnTo>
                    <a:pt x="56236" y="890307"/>
                  </a:lnTo>
                  <a:lnTo>
                    <a:pt x="92077" y="897543"/>
                  </a:lnTo>
                  <a:lnTo>
                    <a:pt x="2313289" y="897543"/>
                  </a:lnTo>
                  <a:lnTo>
                    <a:pt x="2349130" y="890307"/>
                  </a:lnTo>
                  <a:lnTo>
                    <a:pt x="2378398" y="870574"/>
                  </a:lnTo>
                  <a:lnTo>
                    <a:pt x="2398131" y="841306"/>
                  </a:lnTo>
                  <a:lnTo>
                    <a:pt x="2405367" y="805465"/>
                  </a:lnTo>
                  <a:lnTo>
                    <a:pt x="2405366" y="437174"/>
                  </a:lnTo>
                  <a:lnTo>
                    <a:pt x="2398131" y="401337"/>
                  </a:lnTo>
                  <a:lnTo>
                    <a:pt x="2378398" y="372069"/>
                  </a:lnTo>
                  <a:lnTo>
                    <a:pt x="2349130" y="352336"/>
                  </a:lnTo>
                  <a:lnTo>
                    <a:pt x="2313289" y="345100"/>
                  </a:lnTo>
                  <a:close/>
                </a:path>
                <a:path w="2405379" h="897889">
                  <a:moveTo>
                    <a:pt x="2135941" y="0"/>
                  </a:moveTo>
                  <a:lnTo>
                    <a:pt x="1403130" y="345100"/>
                  </a:lnTo>
                  <a:lnTo>
                    <a:pt x="2004472" y="345100"/>
                  </a:lnTo>
                  <a:lnTo>
                    <a:pt x="2135941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02434" y="3991866"/>
              <a:ext cx="2405380" cy="897890"/>
            </a:xfrm>
            <a:custGeom>
              <a:avLst/>
              <a:gdLst/>
              <a:ahLst/>
              <a:cxnLst/>
              <a:rect l="l" t="t" r="r" b="b"/>
              <a:pathLst>
                <a:path w="2405379" h="897889">
                  <a:moveTo>
                    <a:pt x="0" y="437177"/>
                  </a:moveTo>
                  <a:lnTo>
                    <a:pt x="7235" y="401337"/>
                  </a:lnTo>
                  <a:lnTo>
                    <a:pt x="26968" y="372069"/>
                  </a:lnTo>
                  <a:lnTo>
                    <a:pt x="56236" y="352336"/>
                  </a:lnTo>
                  <a:lnTo>
                    <a:pt x="92076" y="345100"/>
                  </a:lnTo>
                  <a:lnTo>
                    <a:pt x="1403130" y="345100"/>
                  </a:lnTo>
                  <a:lnTo>
                    <a:pt x="2135941" y="0"/>
                  </a:lnTo>
                  <a:lnTo>
                    <a:pt x="2004472" y="345100"/>
                  </a:lnTo>
                  <a:lnTo>
                    <a:pt x="2313289" y="345100"/>
                  </a:lnTo>
                  <a:lnTo>
                    <a:pt x="2349129" y="352336"/>
                  </a:lnTo>
                  <a:lnTo>
                    <a:pt x="2378397" y="372069"/>
                  </a:lnTo>
                  <a:lnTo>
                    <a:pt x="2398130" y="401337"/>
                  </a:lnTo>
                  <a:lnTo>
                    <a:pt x="2405366" y="437177"/>
                  </a:lnTo>
                  <a:lnTo>
                    <a:pt x="2405366" y="575286"/>
                  </a:lnTo>
                  <a:lnTo>
                    <a:pt x="2405366" y="805466"/>
                  </a:lnTo>
                  <a:lnTo>
                    <a:pt x="2398130" y="841306"/>
                  </a:lnTo>
                  <a:lnTo>
                    <a:pt x="2378397" y="870574"/>
                  </a:lnTo>
                  <a:lnTo>
                    <a:pt x="2349129" y="890307"/>
                  </a:lnTo>
                  <a:lnTo>
                    <a:pt x="2313289" y="897543"/>
                  </a:lnTo>
                  <a:lnTo>
                    <a:pt x="2004472" y="897543"/>
                  </a:lnTo>
                  <a:lnTo>
                    <a:pt x="1403130" y="897543"/>
                  </a:lnTo>
                  <a:lnTo>
                    <a:pt x="92076" y="897543"/>
                  </a:lnTo>
                  <a:lnTo>
                    <a:pt x="56236" y="890307"/>
                  </a:lnTo>
                  <a:lnTo>
                    <a:pt x="26968" y="870574"/>
                  </a:lnTo>
                  <a:lnTo>
                    <a:pt x="7235" y="841306"/>
                  </a:lnTo>
                  <a:lnTo>
                    <a:pt x="0" y="805466"/>
                  </a:lnTo>
                  <a:lnTo>
                    <a:pt x="0" y="575286"/>
                  </a:lnTo>
                  <a:lnTo>
                    <a:pt x="0" y="437174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00376" y="1219708"/>
            <a:ext cx="8928100" cy="69024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225"/>
              </a:spcBef>
            </a:pP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employee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name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(or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names)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earns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highest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salary </a:t>
            </a:r>
            <a:r>
              <a:rPr sz="2200" spc="-7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22449" y="5993383"/>
            <a:ext cx="33020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[more</a:t>
            </a:r>
            <a:r>
              <a:rPr sz="15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subqueries</a:t>
            </a:r>
            <a:r>
              <a:rPr sz="15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5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WHERE</a:t>
            </a:r>
            <a:r>
              <a:rPr sz="15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later]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24491" y="4468367"/>
            <a:ext cx="15614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Verdana"/>
                <a:cs typeface="Verdana"/>
              </a:rPr>
              <a:t>“Correlated”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445748" y="3724133"/>
            <a:ext cx="1256665" cy="1835150"/>
            <a:chOff x="8445748" y="3724133"/>
            <a:chExt cx="1256665" cy="1835150"/>
          </a:xfrm>
        </p:grpSpPr>
        <p:sp>
          <p:nvSpPr>
            <p:cNvPr id="17" name="object 17"/>
            <p:cNvSpPr/>
            <p:nvPr/>
          </p:nvSpPr>
          <p:spPr>
            <a:xfrm>
              <a:off x="8452522" y="3991071"/>
              <a:ext cx="1243330" cy="260350"/>
            </a:xfrm>
            <a:custGeom>
              <a:avLst/>
              <a:gdLst/>
              <a:ahLst/>
              <a:cxnLst/>
              <a:rect l="l" t="t" r="r" b="b"/>
              <a:pathLst>
                <a:path w="1243329" h="260350">
                  <a:moveTo>
                    <a:pt x="1243104" y="0"/>
                  </a:moveTo>
                  <a:lnTo>
                    <a:pt x="0" y="0"/>
                  </a:lnTo>
                  <a:lnTo>
                    <a:pt x="0" y="260164"/>
                  </a:lnTo>
                  <a:lnTo>
                    <a:pt x="1243104" y="260164"/>
                  </a:lnTo>
                  <a:lnTo>
                    <a:pt x="1243104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445748" y="3970751"/>
              <a:ext cx="1256665" cy="40640"/>
            </a:xfrm>
            <a:custGeom>
              <a:avLst/>
              <a:gdLst/>
              <a:ahLst/>
              <a:cxnLst/>
              <a:rect l="l" t="t" r="r" b="b"/>
              <a:pathLst>
                <a:path w="1256665" h="40639">
                  <a:moveTo>
                    <a:pt x="0" y="0"/>
                  </a:moveTo>
                  <a:lnTo>
                    <a:pt x="1256651" y="0"/>
                  </a:lnTo>
                  <a:lnTo>
                    <a:pt x="1256651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445748" y="3724133"/>
              <a:ext cx="1256665" cy="1835150"/>
            </a:xfrm>
            <a:custGeom>
              <a:avLst/>
              <a:gdLst/>
              <a:ahLst/>
              <a:cxnLst/>
              <a:rect l="l" t="t" r="r" b="b"/>
              <a:pathLst>
                <a:path w="1256665" h="1835150">
                  <a:moveTo>
                    <a:pt x="6773" y="0"/>
                  </a:moveTo>
                  <a:lnTo>
                    <a:pt x="6773" y="1834696"/>
                  </a:lnTo>
                </a:path>
                <a:path w="1256665" h="1835150">
                  <a:moveTo>
                    <a:pt x="1249878" y="0"/>
                  </a:moveTo>
                  <a:lnTo>
                    <a:pt x="1249878" y="1834696"/>
                  </a:lnTo>
                </a:path>
                <a:path w="1256665" h="1835150">
                  <a:moveTo>
                    <a:pt x="0" y="6773"/>
                  </a:moveTo>
                  <a:lnTo>
                    <a:pt x="1256651" y="6773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459295" y="3737680"/>
            <a:ext cx="1229995" cy="215265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515"/>
              </a:lnSpc>
            </a:pP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ename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59295" y="4081519"/>
            <a:ext cx="1229995" cy="163195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875"/>
              </a:lnSpc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Allen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52522" y="4251235"/>
            <a:ext cx="1243330" cy="260350"/>
          </a:xfrm>
          <a:prstGeom prst="rect">
            <a:avLst/>
          </a:prstGeom>
          <a:solidFill>
            <a:srgbClr val="EDEEF0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80"/>
              </a:lnSpc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Jones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52522" y="4511399"/>
            <a:ext cx="1243330" cy="260350"/>
          </a:xfrm>
          <a:prstGeom prst="rect">
            <a:avLst/>
          </a:prstGeom>
          <a:solidFill>
            <a:srgbClr val="D8DBDF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95"/>
              </a:lnSpc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Scott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52522" y="4771564"/>
            <a:ext cx="1243330" cy="260350"/>
          </a:xfrm>
          <a:prstGeom prst="rect">
            <a:avLst/>
          </a:prstGeom>
          <a:solidFill>
            <a:srgbClr val="EDEEF0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85"/>
              </a:lnSpc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King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52522" y="5031728"/>
            <a:ext cx="1243330" cy="260350"/>
          </a:xfrm>
          <a:prstGeom prst="rect">
            <a:avLst/>
          </a:prstGeom>
          <a:solidFill>
            <a:srgbClr val="D8DBDF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75"/>
              </a:lnSpc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Ford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52522" y="5291892"/>
            <a:ext cx="1243330" cy="260350"/>
          </a:xfrm>
          <a:prstGeom prst="rect">
            <a:avLst/>
          </a:prstGeom>
          <a:solidFill>
            <a:srgbClr val="EDEEF0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90"/>
              </a:lnSpc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Miller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6164" y="2082800"/>
            <a:ext cx="1309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895" y="6336791"/>
            <a:ext cx="9354312" cy="966215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632085" y="6336584"/>
            <a:ext cx="8755380" cy="72453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2033905" marR="210820" indent="-1818005">
              <a:lnSpc>
                <a:spcPts val="2500"/>
              </a:lnSpc>
              <a:spcBef>
                <a:spcPts val="28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bq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WHER</a:t>
            </a:r>
            <a:r>
              <a:rPr sz="2100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2100" spc="-49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si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n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g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l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C00000"/>
                </a:solidFill>
                <a:latin typeface="Verdana"/>
                <a:cs typeface="Verdana"/>
              </a:rPr>
              <a:t>v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l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u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b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p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 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ano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WHER</a:t>
            </a:r>
            <a:r>
              <a:rPr sz="2100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2100" spc="-49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au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7192" y="322071"/>
            <a:ext cx="588200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Su</a:t>
            </a:r>
            <a:r>
              <a:rPr spc="-130" dirty="0"/>
              <a:t>bq</a:t>
            </a:r>
            <a:r>
              <a:rPr spc="-135" dirty="0"/>
              <a:t>u</a:t>
            </a:r>
            <a:r>
              <a:rPr spc="-125" dirty="0"/>
              <a:t>erie</a:t>
            </a:r>
            <a:r>
              <a:rPr dirty="0"/>
              <a:t>s</a:t>
            </a:r>
            <a:r>
              <a:rPr spc="-254" dirty="0"/>
              <a:t> </a:t>
            </a:r>
            <a:r>
              <a:rPr spc="-125" dirty="0"/>
              <a:t>i</a:t>
            </a:r>
            <a:r>
              <a:rPr dirty="0"/>
              <a:t>n</a:t>
            </a:r>
            <a:r>
              <a:rPr spc="-254" dirty="0"/>
              <a:t> </a:t>
            </a:r>
            <a:r>
              <a:rPr spc="-150" dirty="0"/>
              <a:t>W</a:t>
            </a:r>
            <a:r>
              <a:rPr spc="-120" dirty="0"/>
              <a:t>I</a:t>
            </a:r>
            <a:r>
              <a:rPr spc="-135" dirty="0"/>
              <a:t>T</a:t>
            </a:r>
            <a:r>
              <a:rPr dirty="0"/>
              <a:t>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2153" y="2082800"/>
            <a:ext cx="1309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5131" y="2354263"/>
          <a:ext cx="3358513" cy="3646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0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023926" y="2172208"/>
            <a:ext cx="177292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WITH</a:t>
            </a:r>
            <a:r>
              <a:rPr sz="1900" spc="-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temp</a:t>
            </a:r>
            <a:r>
              <a:rPr sz="1900" spc="-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31955" y="2481886"/>
            <a:ext cx="4724400" cy="899160"/>
          </a:xfrm>
          <a:prstGeom prst="rect">
            <a:avLst/>
          </a:prstGeom>
          <a:solidFill>
            <a:srgbClr val="ECF5FF"/>
          </a:solidFill>
          <a:ln w="20319">
            <a:solidFill>
              <a:srgbClr val="004479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229235" marR="105410" indent="-133985">
              <a:lnSpc>
                <a:spcPct val="100000"/>
              </a:lnSpc>
              <a:spcBef>
                <a:spcPts val="6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(SELECT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job,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MAX(sal)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maxSal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FROM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practice_emp</a:t>
            </a:r>
            <a:endParaRPr sz="1900">
              <a:latin typeface="Courier New"/>
              <a:cs typeface="Courier New"/>
            </a:endParaRPr>
          </a:p>
          <a:p>
            <a:pPr marL="229235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GROUP</a:t>
            </a:r>
            <a:r>
              <a:rPr sz="1900" spc="-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900" spc="-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job)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9286" y="3351784"/>
            <a:ext cx="4247515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E1.ename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practice_emp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E1,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temp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3926" y="3351784"/>
            <a:ext cx="899160" cy="9004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SELECT  FROM 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WHERE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99286" y="3937000"/>
            <a:ext cx="3083560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E1.sal = T.maxSal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AND </a:t>
            </a:r>
            <a:r>
              <a:rPr sz="1900" spc="-11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E1.job =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T.job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74325" y="2118502"/>
            <a:ext cx="5916930" cy="2539365"/>
          </a:xfrm>
          <a:custGeom>
            <a:avLst/>
            <a:gdLst/>
            <a:ahLst/>
            <a:cxnLst/>
            <a:rect l="l" t="t" r="r" b="b"/>
            <a:pathLst>
              <a:path w="5916930" h="2539365">
                <a:moveTo>
                  <a:pt x="0" y="0"/>
                </a:moveTo>
                <a:lnTo>
                  <a:pt x="5916923" y="0"/>
                </a:lnTo>
                <a:lnTo>
                  <a:pt x="5916923" y="2539190"/>
                </a:lnTo>
                <a:lnTo>
                  <a:pt x="0" y="2539190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00376" y="1219708"/>
            <a:ext cx="8928100" cy="69024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225"/>
              </a:spcBef>
            </a:pP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employee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name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(or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names)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earns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highest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salary </a:t>
            </a:r>
            <a:r>
              <a:rPr sz="2200" spc="-7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9214" y="6988047"/>
            <a:ext cx="88245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[WITH</a:t>
            </a:r>
            <a:r>
              <a:rPr sz="13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--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supported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by MySQL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5.6, 5.7;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work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on MySQL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8.0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 (GCP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CS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server)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XAMPP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MariaDB]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046482" y="1645223"/>
            <a:ext cx="2433955" cy="812165"/>
            <a:chOff x="7046482" y="1645223"/>
            <a:chExt cx="2433955" cy="812165"/>
          </a:xfrm>
        </p:grpSpPr>
        <p:sp>
          <p:nvSpPr>
            <p:cNvPr id="14" name="object 14"/>
            <p:cNvSpPr/>
            <p:nvPr/>
          </p:nvSpPr>
          <p:spPr>
            <a:xfrm>
              <a:off x="7060769" y="1659511"/>
              <a:ext cx="2405380" cy="783590"/>
            </a:xfrm>
            <a:custGeom>
              <a:avLst/>
              <a:gdLst/>
              <a:ahLst/>
              <a:cxnLst/>
              <a:rect l="l" t="t" r="r" b="b"/>
              <a:pathLst>
                <a:path w="2405379" h="783589">
                  <a:moveTo>
                    <a:pt x="1002235" y="552442"/>
                  </a:moveTo>
                  <a:lnTo>
                    <a:pt x="400894" y="552442"/>
                  </a:lnTo>
                  <a:lnTo>
                    <a:pt x="146968" y="783258"/>
                  </a:lnTo>
                  <a:lnTo>
                    <a:pt x="1002235" y="552442"/>
                  </a:lnTo>
                  <a:close/>
                </a:path>
                <a:path w="2405379" h="783589">
                  <a:moveTo>
                    <a:pt x="2313289" y="0"/>
                  </a:moveTo>
                  <a:lnTo>
                    <a:pt x="92076" y="0"/>
                  </a:lnTo>
                  <a:lnTo>
                    <a:pt x="56236" y="7235"/>
                  </a:lnTo>
                  <a:lnTo>
                    <a:pt x="26968" y="26968"/>
                  </a:lnTo>
                  <a:lnTo>
                    <a:pt x="7235" y="56236"/>
                  </a:lnTo>
                  <a:lnTo>
                    <a:pt x="0" y="92076"/>
                  </a:lnTo>
                  <a:lnTo>
                    <a:pt x="0" y="460367"/>
                  </a:lnTo>
                  <a:lnTo>
                    <a:pt x="7235" y="496205"/>
                  </a:lnTo>
                  <a:lnTo>
                    <a:pt x="26968" y="525473"/>
                  </a:lnTo>
                  <a:lnTo>
                    <a:pt x="56236" y="545206"/>
                  </a:lnTo>
                  <a:lnTo>
                    <a:pt x="92076" y="552442"/>
                  </a:lnTo>
                  <a:lnTo>
                    <a:pt x="2313289" y="552442"/>
                  </a:lnTo>
                  <a:lnTo>
                    <a:pt x="2378397" y="525473"/>
                  </a:lnTo>
                  <a:lnTo>
                    <a:pt x="2405365" y="460367"/>
                  </a:lnTo>
                  <a:lnTo>
                    <a:pt x="2405366" y="92076"/>
                  </a:lnTo>
                  <a:lnTo>
                    <a:pt x="2398130" y="56236"/>
                  </a:lnTo>
                  <a:lnTo>
                    <a:pt x="2378397" y="26968"/>
                  </a:lnTo>
                  <a:lnTo>
                    <a:pt x="2349129" y="7235"/>
                  </a:lnTo>
                  <a:lnTo>
                    <a:pt x="2313289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60769" y="1659511"/>
              <a:ext cx="2405380" cy="783590"/>
            </a:xfrm>
            <a:custGeom>
              <a:avLst/>
              <a:gdLst/>
              <a:ahLst/>
              <a:cxnLst/>
              <a:rect l="l" t="t" r="r" b="b"/>
              <a:pathLst>
                <a:path w="2405379" h="783589">
                  <a:moveTo>
                    <a:pt x="0" y="92076"/>
                  </a:moveTo>
                  <a:lnTo>
                    <a:pt x="7235" y="56236"/>
                  </a:lnTo>
                  <a:lnTo>
                    <a:pt x="26968" y="26968"/>
                  </a:lnTo>
                  <a:lnTo>
                    <a:pt x="56236" y="7235"/>
                  </a:lnTo>
                  <a:lnTo>
                    <a:pt x="92076" y="0"/>
                  </a:lnTo>
                  <a:lnTo>
                    <a:pt x="400894" y="0"/>
                  </a:lnTo>
                  <a:lnTo>
                    <a:pt x="1002236" y="0"/>
                  </a:lnTo>
                  <a:lnTo>
                    <a:pt x="2313289" y="0"/>
                  </a:lnTo>
                  <a:lnTo>
                    <a:pt x="2349129" y="7235"/>
                  </a:lnTo>
                  <a:lnTo>
                    <a:pt x="2378397" y="26968"/>
                  </a:lnTo>
                  <a:lnTo>
                    <a:pt x="2398130" y="56236"/>
                  </a:lnTo>
                  <a:lnTo>
                    <a:pt x="2405366" y="92076"/>
                  </a:lnTo>
                  <a:lnTo>
                    <a:pt x="2405366" y="322257"/>
                  </a:lnTo>
                  <a:lnTo>
                    <a:pt x="2405366" y="460368"/>
                  </a:lnTo>
                  <a:lnTo>
                    <a:pt x="2398130" y="496206"/>
                  </a:lnTo>
                  <a:lnTo>
                    <a:pt x="2378397" y="525473"/>
                  </a:lnTo>
                  <a:lnTo>
                    <a:pt x="2349129" y="545206"/>
                  </a:lnTo>
                  <a:lnTo>
                    <a:pt x="2313289" y="552442"/>
                  </a:lnTo>
                  <a:lnTo>
                    <a:pt x="1002236" y="552442"/>
                  </a:lnTo>
                  <a:lnTo>
                    <a:pt x="146968" y="783259"/>
                  </a:lnTo>
                  <a:lnTo>
                    <a:pt x="400894" y="552442"/>
                  </a:lnTo>
                  <a:lnTo>
                    <a:pt x="92076" y="552442"/>
                  </a:lnTo>
                  <a:lnTo>
                    <a:pt x="56236" y="545206"/>
                  </a:lnTo>
                  <a:lnTo>
                    <a:pt x="26968" y="525473"/>
                  </a:lnTo>
                  <a:lnTo>
                    <a:pt x="7235" y="496206"/>
                  </a:lnTo>
                  <a:lnTo>
                    <a:pt x="0" y="460365"/>
                  </a:lnTo>
                  <a:lnTo>
                    <a:pt x="0" y="322257"/>
                  </a:lnTo>
                  <a:lnTo>
                    <a:pt x="0" y="92076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332966" y="1792223"/>
            <a:ext cx="18618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Verdana"/>
                <a:cs typeface="Verdana"/>
              </a:rPr>
              <a:t>“Uncorrelated”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426623" y="4031069"/>
            <a:ext cx="1256665" cy="1835150"/>
            <a:chOff x="8426623" y="4031069"/>
            <a:chExt cx="1256665" cy="1835150"/>
          </a:xfrm>
        </p:grpSpPr>
        <p:sp>
          <p:nvSpPr>
            <p:cNvPr id="18" name="object 18"/>
            <p:cNvSpPr/>
            <p:nvPr/>
          </p:nvSpPr>
          <p:spPr>
            <a:xfrm>
              <a:off x="8433396" y="4558172"/>
              <a:ext cx="1243330" cy="260350"/>
            </a:xfrm>
            <a:custGeom>
              <a:avLst/>
              <a:gdLst/>
              <a:ahLst/>
              <a:cxnLst/>
              <a:rect l="l" t="t" r="r" b="b"/>
              <a:pathLst>
                <a:path w="1243329" h="260350">
                  <a:moveTo>
                    <a:pt x="1243104" y="0"/>
                  </a:moveTo>
                  <a:lnTo>
                    <a:pt x="0" y="0"/>
                  </a:lnTo>
                  <a:lnTo>
                    <a:pt x="0" y="260164"/>
                  </a:lnTo>
                  <a:lnTo>
                    <a:pt x="1243104" y="260164"/>
                  </a:lnTo>
                  <a:lnTo>
                    <a:pt x="1243104" y="0"/>
                  </a:lnTo>
                  <a:close/>
                </a:path>
              </a:pathLst>
            </a:custGeom>
            <a:solidFill>
              <a:srgbClr val="EDE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426615" y="4277690"/>
              <a:ext cx="1256665" cy="287655"/>
            </a:xfrm>
            <a:custGeom>
              <a:avLst/>
              <a:gdLst/>
              <a:ahLst/>
              <a:cxnLst/>
              <a:rect l="l" t="t" r="r" b="b"/>
              <a:pathLst>
                <a:path w="1256665" h="287654">
                  <a:moveTo>
                    <a:pt x="1256652" y="273710"/>
                  </a:moveTo>
                  <a:lnTo>
                    <a:pt x="0" y="273710"/>
                  </a:lnTo>
                  <a:lnTo>
                    <a:pt x="0" y="287261"/>
                  </a:lnTo>
                  <a:lnTo>
                    <a:pt x="1256652" y="287261"/>
                  </a:lnTo>
                  <a:lnTo>
                    <a:pt x="1256652" y="273710"/>
                  </a:lnTo>
                  <a:close/>
                </a:path>
                <a:path w="1256665" h="287654">
                  <a:moveTo>
                    <a:pt x="1256652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256652" y="40640"/>
                  </a:lnTo>
                  <a:lnTo>
                    <a:pt x="12566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426623" y="4031069"/>
              <a:ext cx="1256665" cy="1835150"/>
            </a:xfrm>
            <a:custGeom>
              <a:avLst/>
              <a:gdLst/>
              <a:ahLst/>
              <a:cxnLst/>
              <a:rect l="l" t="t" r="r" b="b"/>
              <a:pathLst>
                <a:path w="1256665" h="1835150">
                  <a:moveTo>
                    <a:pt x="6773" y="0"/>
                  </a:moveTo>
                  <a:lnTo>
                    <a:pt x="6773" y="1834696"/>
                  </a:lnTo>
                </a:path>
                <a:path w="1256665" h="1835150">
                  <a:moveTo>
                    <a:pt x="1249878" y="0"/>
                  </a:moveTo>
                  <a:lnTo>
                    <a:pt x="1249878" y="1834696"/>
                  </a:lnTo>
                </a:path>
                <a:path w="1256665" h="1835150">
                  <a:moveTo>
                    <a:pt x="0" y="6773"/>
                  </a:moveTo>
                  <a:lnTo>
                    <a:pt x="1256651" y="6773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440170" y="4044616"/>
            <a:ext cx="1229995" cy="233679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525"/>
              </a:lnSpc>
            </a:pP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ename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40170" y="4318327"/>
            <a:ext cx="1229995" cy="233679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435"/>
              </a:lnSpc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Allen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18232" y="4518152"/>
            <a:ext cx="5308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J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one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33396" y="4818335"/>
            <a:ext cx="1243330" cy="260350"/>
          </a:xfrm>
          <a:prstGeom prst="rect">
            <a:avLst/>
          </a:prstGeom>
          <a:solidFill>
            <a:srgbClr val="D8DBDF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75"/>
              </a:lnSpc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Scott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33396" y="5078500"/>
            <a:ext cx="1243330" cy="260350"/>
          </a:xfrm>
          <a:prstGeom prst="rect">
            <a:avLst/>
          </a:prstGeom>
          <a:solidFill>
            <a:srgbClr val="EDEEF0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90"/>
              </a:lnSpc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King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33396" y="5338664"/>
            <a:ext cx="1243330" cy="260350"/>
          </a:xfrm>
          <a:prstGeom prst="rect">
            <a:avLst/>
          </a:prstGeom>
          <a:solidFill>
            <a:srgbClr val="D8DBDF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85"/>
              </a:lnSpc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Ford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33396" y="5598828"/>
            <a:ext cx="1243330" cy="260350"/>
          </a:xfrm>
          <a:prstGeom prst="rect">
            <a:avLst/>
          </a:prstGeom>
          <a:solidFill>
            <a:srgbClr val="EDEEF0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75"/>
              </a:lnSpc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Miller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895" y="6096000"/>
            <a:ext cx="9354312" cy="969263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632085" y="6096745"/>
            <a:ext cx="8755380" cy="72453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97155" marR="475615">
              <a:lnSpc>
                <a:spcPts val="2710"/>
              </a:lnSpc>
              <a:spcBef>
                <a:spcPts val="10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bq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WIT</a:t>
            </a:r>
            <a:r>
              <a:rPr sz="2100" dirty="0">
                <a:solidFill>
                  <a:srgbClr val="C00000"/>
                </a:solidFill>
                <a:latin typeface="Courier New"/>
                <a:cs typeface="Courier New"/>
              </a:rPr>
              <a:t>H</a:t>
            </a:r>
            <a:r>
              <a:rPr sz="2100" spc="-49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au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te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p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r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l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ti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o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n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ha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 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associated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query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61717" y="2357319"/>
            <a:ext cx="5951855" cy="1504950"/>
          </a:xfrm>
          <a:custGeom>
            <a:avLst/>
            <a:gdLst/>
            <a:ahLst/>
            <a:cxnLst/>
            <a:rect l="l" t="t" r="r" b="b"/>
            <a:pathLst>
              <a:path w="5951855" h="1504950">
                <a:moveTo>
                  <a:pt x="0" y="0"/>
                </a:moveTo>
                <a:lnTo>
                  <a:pt x="5951352" y="0"/>
                </a:lnTo>
                <a:lnTo>
                  <a:pt x="5951352" y="1504369"/>
                </a:lnTo>
                <a:lnTo>
                  <a:pt x="0" y="1504369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70100" y="315975"/>
            <a:ext cx="592074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L</a:t>
            </a:r>
            <a:r>
              <a:rPr spc="-125" dirty="0"/>
              <a:t>e</a:t>
            </a:r>
            <a:r>
              <a:rPr spc="-120" dirty="0"/>
              <a:t>t</a:t>
            </a:r>
            <a:r>
              <a:rPr spc="-125" dirty="0"/>
              <a:t>’</a:t>
            </a:r>
            <a:r>
              <a:rPr dirty="0"/>
              <a:t>s</a:t>
            </a:r>
            <a:r>
              <a:rPr spc="-250" dirty="0"/>
              <a:t> </a:t>
            </a:r>
            <a:r>
              <a:rPr spc="-135" dirty="0"/>
              <a:t>T</a:t>
            </a:r>
            <a:r>
              <a:rPr spc="-130" dirty="0"/>
              <a:t>r</a:t>
            </a:r>
            <a:r>
              <a:rPr dirty="0"/>
              <a:t>y</a:t>
            </a:r>
            <a:r>
              <a:rPr spc="-260" dirty="0"/>
              <a:t> </a:t>
            </a:r>
            <a:r>
              <a:rPr spc="-130" dirty="0"/>
              <a:t>1</a:t>
            </a:r>
            <a:r>
              <a:rPr dirty="0"/>
              <a:t>:</a:t>
            </a:r>
            <a:r>
              <a:rPr spc="-245" dirty="0"/>
              <a:t> </a:t>
            </a:r>
            <a:r>
              <a:rPr spc="-140" dirty="0"/>
              <a:t>S</a:t>
            </a:r>
            <a:r>
              <a:rPr spc="-125" dirty="0"/>
              <a:t>el</a:t>
            </a:r>
            <a:r>
              <a:rPr dirty="0"/>
              <a:t>f</a:t>
            </a:r>
            <a:r>
              <a:rPr spc="-250" dirty="0"/>
              <a:t> </a:t>
            </a:r>
            <a:r>
              <a:rPr spc="-125" dirty="0"/>
              <a:t>Join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1121" y="2311995"/>
          <a:ext cx="3358513" cy="3646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6164" y="1208023"/>
            <a:ext cx="9065895" cy="110490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3540" marR="5080">
              <a:lnSpc>
                <a:spcPct val="103200"/>
              </a:lnSpc>
              <a:spcBef>
                <a:spcPts val="20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person,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their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(assume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we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will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display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empno,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ename,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person’s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job)</a:t>
            </a:r>
            <a:endParaRPr sz="19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BDB95-41FB-5767-6F62-63DF6813F560}"/>
              </a:ext>
            </a:extLst>
          </p:cNvPr>
          <p:cNvSpPr txBox="1"/>
          <p:nvPr/>
        </p:nvSpPr>
        <p:spPr>
          <a:xfrm>
            <a:off x="3761718" y="2320420"/>
            <a:ext cx="59518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e1.emp_no, e1.emp_name, AVG(e2.sal) AS </a:t>
            </a:r>
            <a:r>
              <a:rPr lang="en-US" dirty="0" err="1"/>
              <a:t>avg_job_salary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practice_emp</a:t>
            </a:r>
            <a:r>
              <a:rPr lang="en-US" dirty="0"/>
              <a:t> e1</a:t>
            </a:r>
          </a:p>
          <a:p>
            <a:r>
              <a:rPr lang="en-US" dirty="0"/>
              <a:t>JOIN </a:t>
            </a:r>
            <a:r>
              <a:rPr lang="en-US" dirty="0" err="1"/>
              <a:t>practice_emp</a:t>
            </a:r>
            <a:r>
              <a:rPr lang="en-US" dirty="0"/>
              <a:t> e2 ON e1.job = e2.job</a:t>
            </a:r>
          </a:p>
          <a:p>
            <a:r>
              <a:rPr lang="en-US" dirty="0"/>
              <a:t>GROUP BY e1.emp_no, e1.emp_name;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779" y="332231"/>
            <a:ext cx="927925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10" dirty="0"/>
              <a:t>Let’s</a:t>
            </a:r>
            <a:r>
              <a:rPr sz="4100" spc="-265" dirty="0"/>
              <a:t> </a:t>
            </a:r>
            <a:r>
              <a:rPr sz="4100" spc="-95" dirty="0"/>
              <a:t>Try</a:t>
            </a:r>
            <a:r>
              <a:rPr sz="4100" spc="-260" dirty="0"/>
              <a:t> </a:t>
            </a:r>
            <a:r>
              <a:rPr sz="4100" spc="-75" dirty="0"/>
              <a:t>1:</a:t>
            </a:r>
            <a:r>
              <a:rPr sz="4100" spc="-254" dirty="0"/>
              <a:t> </a:t>
            </a:r>
            <a:r>
              <a:rPr sz="4100" spc="-125" dirty="0"/>
              <a:t>Subqueries</a:t>
            </a:r>
            <a:r>
              <a:rPr sz="4100" spc="-265" dirty="0"/>
              <a:t> </a:t>
            </a:r>
            <a:r>
              <a:rPr sz="4100" spc="-65" dirty="0"/>
              <a:t>in</a:t>
            </a:r>
            <a:r>
              <a:rPr sz="4100" spc="-254" dirty="0"/>
              <a:t> </a:t>
            </a:r>
            <a:r>
              <a:rPr sz="4100" spc="-120" dirty="0"/>
              <a:t>SELECT</a:t>
            </a:r>
            <a:endParaRPr sz="4100" dirty="0"/>
          </a:p>
        </p:txBody>
      </p:sp>
      <p:sp>
        <p:nvSpPr>
          <p:cNvPr id="3" name="object 3"/>
          <p:cNvSpPr txBox="1"/>
          <p:nvPr/>
        </p:nvSpPr>
        <p:spPr>
          <a:xfrm>
            <a:off x="717638" y="1208023"/>
            <a:ext cx="8694420" cy="64516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20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person,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their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(assume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we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will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display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empno,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ename,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person’s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job)</a:t>
            </a:r>
            <a:endParaRPr sz="19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1121" y="2311995"/>
          <a:ext cx="3358513" cy="3646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6164" y="2058415"/>
            <a:ext cx="1309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15911" y="2535542"/>
            <a:ext cx="5153660" cy="919480"/>
          </a:xfrm>
          <a:custGeom>
            <a:avLst/>
            <a:gdLst/>
            <a:ahLst/>
            <a:cxnLst/>
            <a:rect l="l" t="t" r="r" b="b"/>
            <a:pathLst>
              <a:path w="5153659" h="919479">
                <a:moveTo>
                  <a:pt x="0" y="0"/>
                </a:moveTo>
                <a:lnTo>
                  <a:pt x="5153538" y="0"/>
                </a:lnTo>
                <a:lnTo>
                  <a:pt x="5153538" y="918874"/>
                </a:lnTo>
                <a:lnTo>
                  <a:pt x="0" y="918874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4615911" y="4446309"/>
            <a:ext cx="5153660" cy="1851660"/>
          </a:xfrm>
          <a:custGeom>
            <a:avLst/>
            <a:gdLst/>
            <a:ahLst/>
            <a:cxnLst/>
            <a:rect l="l" t="t" r="r" b="b"/>
            <a:pathLst>
              <a:path w="5153659" h="1851660">
                <a:moveTo>
                  <a:pt x="0" y="0"/>
                </a:moveTo>
                <a:lnTo>
                  <a:pt x="5153538" y="0"/>
                </a:lnTo>
                <a:lnTo>
                  <a:pt x="5153538" y="1851531"/>
                </a:lnTo>
                <a:lnTo>
                  <a:pt x="0" y="1851531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94770" y="2141728"/>
            <a:ext cx="567309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Step</a:t>
            </a:r>
            <a:r>
              <a:rPr sz="1900" u="sng" spc="2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 </a:t>
            </a:r>
            <a:r>
              <a:rPr sz="19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1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person’s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empno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ename</a:t>
            </a:r>
            <a:endParaRPr sz="19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94770" y="3815079"/>
            <a:ext cx="5511165" cy="58039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000125" marR="5080" indent="-988060">
              <a:lnSpc>
                <a:spcPts val="2090"/>
              </a:lnSpc>
              <a:spcBef>
                <a:spcPts val="325"/>
              </a:spcBef>
            </a:pPr>
            <a:r>
              <a:rPr sz="19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Step</a:t>
            </a:r>
            <a:r>
              <a:rPr sz="1900" u="sng" spc="2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 </a:t>
            </a:r>
            <a:r>
              <a:rPr sz="19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2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person,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endParaRPr sz="1900" dirty="0">
              <a:latin typeface="Verdana"/>
              <a:cs typeface="Verdan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FBBEE1-6CC7-DD2D-62C4-1D541B80D443}"/>
              </a:ext>
            </a:extLst>
          </p:cNvPr>
          <p:cNvSpPr txBox="1"/>
          <p:nvPr/>
        </p:nvSpPr>
        <p:spPr>
          <a:xfrm>
            <a:off x="4615911" y="2582532"/>
            <a:ext cx="28559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emp_no</a:t>
            </a:r>
            <a:r>
              <a:rPr lang="en-US" dirty="0"/>
              <a:t>, </a:t>
            </a:r>
            <a:r>
              <a:rPr lang="en-US" dirty="0" err="1"/>
              <a:t>emp_name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practice_emp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C82087-0FC5-F086-706C-57C79C08FE95}"/>
              </a:ext>
            </a:extLst>
          </p:cNvPr>
          <p:cNvSpPr txBox="1"/>
          <p:nvPr/>
        </p:nvSpPr>
        <p:spPr>
          <a:xfrm>
            <a:off x="4804756" y="4671753"/>
            <a:ext cx="416710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emp_no</a:t>
            </a:r>
            <a:r>
              <a:rPr lang="en-US" dirty="0"/>
              <a:t>, </a:t>
            </a:r>
            <a:r>
              <a:rPr lang="en-US" dirty="0" err="1"/>
              <a:t>emp_name</a:t>
            </a:r>
            <a:r>
              <a:rPr lang="en-US" dirty="0"/>
              <a:t>, job,</a:t>
            </a:r>
          </a:p>
          <a:p>
            <a:r>
              <a:rPr lang="en-US" dirty="0"/>
              <a:t>       (SELECT AVG(</a:t>
            </a:r>
            <a:r>
              <a:rPr lang="en-US" dirty="0" err="1"/>
              <a:t>sal</a:t>
            </a:r>
            <a:r>
              <a:rPr lang="en-US" dirty="0"/>
              <a:t>) </a:t>
            </a:r>
          </a:p>
          <a:p>
            <a:r>
              <a:rPr lang="en-US" dirty="0"/>
              <a:t>        FROM </a:t>
            </a:r>
            <a:r>
              <a:rPr lang="en-US" dirty="0" err="1"/>
              <a:t>practice_emp</a:t>
            </a:r>
            <a:r>
              <a:rPr lang="en-US" dirty="0"/>
              <a:t> </a:t>
            </a:r>
          </a:p>
          <a:p>
            <a:r>
              <a:rPr lang="en-US" dirty="0"/>
              <a:t>        WHERE job = </a:t>
            </a:r>
            <a:r>
              <a:rPr lang="en-US" dirty="0" err="1"/>
              <a:t>p.job</a:t>
            </a:r>
            <a:r>
              <a:rPr lang="en-US" dirty="0"/>
              <a:t>) AS </a:t>
            </a:r>
            <a:r>
              <a:rPr lang="en-US" dirty="0" err="1"/>
              <a:t>avg_job_salary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practice_emp</a:t>
            </a:r>
            <a:r>
              <a:rPr lang="en-US" dirty="0"/>
              <a:t> p;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4679" y="332231"/>
            <a:ext cx="884999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35" dirty="0"/>
              <a:t>L</a:t>
            </a:r>
            <a:r>
              <a:rPr sz="4100" spc="-140" dirty="0"/>
              <a:t>e</a:t>
            </a:r>
            <a:r>
              <a:rPr sz="4100" spc="-135" dirty="0"/>
              <a:t>t</a:t>
            </a:r>
            <a:r>
              <a:rPr sz="4100" spc="-120" dirty="0"/>
              <a:t>’</a:t>
            </a:r>
            <a:r>
              <a:rPr sz="4100" dirty="0"/>
              <a:t>s</a:t>
            </a:r>
            <a:r>
              <a:rPr sz="4100" spc="-265" dirty="0"/>
              <a:t> </a:t>
            </a:r>
            <a:r>
              <a:rPr sz="4100" spc="-145" dirty="0"/>
              <a:t>T</a:t>
            </a:r>
            <a:r>
              <a:rPr sz="4100" spc="-135" dirty="0"/>
              <a:t>r</a:t>
            </a:r>
            <a:r>
              <a:rPr sz="4100" dirty="0"/>
              <a:t>y</a:t>
            </a:r>
            <a:r>
              <a:rPr sz="4100" spc="-260" dirty="0"/>
              <a:t> </a:t>
            </a:r>
            <a:r>
              <a:rPr sz="4100" spc="-145" dirty="0"/>
              <a:t>1</a:t>
            </a:r>
            <a:r>
              <a:rPr sz="4100" dirty="0"/>
              <a:t>:</a:t>
            </a:r>
            <a:r>
              <a:rPr sz="4100" spc="-245" dirty="0"/>
              <a:t> </a:t>
            </a:r>
            <a:r>
              <a:rPr sz="4100" spc="-140" dirty="0"/>
              <a:t>Su</a:t>
            </a:r>
            <a:r>
              <a:rPr sz="4100" spc="-135" dirty="0"/>
              <a:t>bq</a:t>
            </a:r>
            <a:r>
              <a:rPr sz="4100" spc="-140" dirty="0"/>
              <a:t>u</a:t>
            </a:r>
            <a:r>
              <a:rPr sz="4100" spc="-135" dirty="0"/>
              <a:t>e</a:t>
            </a:r>
            <a:r>
              <a:rPr sz="4100" spc="-130" dirty="0"/>
              <a:t>r</a:t>
            </a:r>
            <a:r>
              <a:rPr sz="4100" spc="-125" dirty="0"/>
              <a:t>i</a:t>
            </a:r>
            <a:r>
              <a:rPr sz="4100" spc="-135" dirty="0"/>
              <a:t>e</a:t>
            </a:r>
            <a:r>
              <a:rPr sz="4100" dirty="0"/>
              <a:t>s</a:t>
            </a:r>
            <a:r>
              <a:rPr sz="4100" spc="-265" dirty="0"/>
              <a:t> </a:t>
            </a:r>
            <a:r>
              <a:rPr sz="4100" spc="-125" dirty="0"/>
              <a:t>i</a:t>
            </a:r>
            <a:r>
              <a:rPr sz="4100" dirty="0"/>
              <a:t>n</a:t>
            </a:r>
            <a:r>
              <a:rPr sz="4100" spc="-254" dirty="0"/>
              <a:t> </a:t>
            </a:r>
            <a:r>
              <a:rPr sz="4100" spc="-135" dirty="0"/>
              <a:t>F</a:t>
            </a:r>
            <a:r>
              <a:rPr sz="4100" spc="-140" dirty="0"/>
              <a:t>R</a:t>
            </a:r>
            <a:r>
              <a:rPr sz="4100" spc="-155" dirty="0"/>
              <a:t>O</a:t>
            </a:r>
            <a:r>
              <a:rPr sz="4100" dirty="0"/>
              <a:t>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7638" y="1208023"/>
            <a:ext cx="8694420" cy="64516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20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person,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their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(assume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we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will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display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empno,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ename,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person’s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job)</a:t>
            </a:r>
            <a:endParaRPr sz="19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1121" y="2311995"/>
          <a:ext cx="3358513" cy="3646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6164" y="2058415"/>
            <a:ext cx="1309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01807" y="2535542"/>
            <a:ext cx="5667375" cy="1014730"/>
          </a:xfrm>
          <a:custGeom>
            <a:avLst/>
            <a:gdLst/>
            <a:ahLst/>
            <a:cxnLst/>
            <a:rect l="l" t="t" r="r" b="b"/>
            <a:pathLst>
              <a:path w="5667375" h="1014729">
                <a:moveTo>
                  <a:pt x="0" y="0"/>
                </a:moveTo>
                <a:lnTo>
                  <a:pt x="5666841" y="0"/>
                </a:lnTo>
                <a:lnTo>
                  <a:pt x="5666841" y="1014374"/>
                </a:lnTo>
                <a:lnTo>
                  <a:pt x="0" y="1014374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01807" y="4446309"/>
            <a:ext cx="5668010" cy="2716491"/>
          </a:xfrm>
          <a:custGeom>
            <a:avLst/>
            <a:gdLst/>
            <a:ahLst/>
            <a:cxnLst/>
            <a:rect l="l" t="t" r="r" b="b"/>
            <a:pathLst>
              <a:path w="5668009" h="2002789">
                <a:moveTo>
                  <a:pt x="0" y="0"/>
                </a:moveTo>
                <a:lnTo>
                  <a:pt x="5667641" y="0"/>
                </a:lnTo>
                <a:lnTo>
                  <a:pt x="5667641" y="2002209"/>
                </a:lnTo>
                <a:lnTo>
                  <a:pt x="0" y="2002209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94770" y="2141728"/>
            <a:ext cx="486600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Step</a:t>
            </a:r>
            <a:r>
              <a:rPr sz="1900" u="sng" spc="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 </a:t>
            </a:r>
            <a:r>
              <a:rPr sz="19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1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: Find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endParaRPr sz="19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94770" y="3815079"/>
            <a:ext cx="5160010" cy="58039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000125" marR="5080" indent="-988060">
              <a:lnSpc>
                <a:spcPts val="2090"/>
              </a:lnSpc>
              <a:spcBef>
                <a:spcPts val="325"/>
              </a:spcBef>
            </a:pPr>
            <a:r>
              <a:rPr sz="19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Step</a:t>
            </a:r>
            <a:r>
              <a:rPr sz="1900" u="sng" spc="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 </a:t>
            </a:r>
            <a:r>
              <a:rPr sz="19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2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: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each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person,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average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person’s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endParaRPr sz="1900" dirty="0">
              <a:latin typeface="Verdana"/>
              <a:cs typeface="Verdan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54C16B-E62C-101E-4DDA-4B73D28C0351}"/>
              </a:ext>
            </a:extLst>
          </p:cNvPr>
          <p:cNvSpPr txBox="1"/>
          <p:nvPr/>
        </p:nvSpPr>
        <p:spPr>
          <a:xfrm>
            <a:off x="4101807" y="2614750"/>
            <a:ext cx="38401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job, AVG(</a:t>
            </a:r>
            <a:r>
              <a:rPr lang="en-US" dirty="0" err="1"/>
              <a:t>sal</a:t>
            </a:r>
            <a:r>
              <a:rPr lang="en-US" dirty="0"/>
              <a:t>) AS </a:t>
            </a:r>
            <a:r>
              <a:rPr lang="en-US" dirty="0" err="1"/>
              <a:t>avg_job_salary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practice_emp</a:t>
            </a:r>
            <a:endParaRPr lang="en-US" dirty="0"/>
          </a:p>
          <a:p>
            <a:r>
              <a:rPr lang="en-US" dirty="0"/>
              <a:t>GROUP BY job;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8DA9FB-9EBF-DAC1-24BC-79D72967901C}"/>
              </a:ext>
            </a:extLst>
          </p:cNvPr>
          <p:cNvSpPr txBox="1"/>
          <p:nvPr/>
        </p:nvSpPr>
        <p:spPr>
          <a:xfrm>
            <a:off x="4305993" y="4588625"/>
            <a:ext cx="542135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p.emp_no</a:t>
            </a:r>
            <a:r>
              <a:rPr lang="en-US" dirty="0"/>
              <a:t>, </a:t>
            </a:r>
            <a:r>
              <a:rPr lang="en-US" dirty="0" err="1"/>
              <a:t>p.emp_name</a:t>
            </a:r>
            <a:r>
              <a:rPr lang="en-US" dirty="0"/>
              <a:t>, </a:t>
            </a:r>
            <a:r>
              <a:rPr lang="en-US" dirty="0" err="1"/>
              <a:t>p.job</a:t>
            </a:r>
            <a:r>
              <a:rPr lang="en-US" dirty="0"/>
              <a:t>, </a:t>
            </a:r>
            <a:r>
              <a:rPr lang="en-US" dirty="0" err="1"/>
              <a:t>j.avg_job_salary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practice_emp</a:t>
            </a:r>
            <a:r>
              <a:rPr lang="en-US" dirty="0"/>
              <a:t> p</a:t>
            </a:r>
          </a:p>
          <a:p>
            <a:r>
              <a:rPr lang="en-US" dirty="0"/>
              <a:t>JOIN (</a:t>
            </a:r>
          </a:p>
          <a:p>
            <a:r>
              <a:rPr lang="en-US" dirty="0"/>
              <a:t>    SELECT job, AVG(</a:t>
            </a:r>
            <a:r>
              <a:rPr lang="en-US" dirty="0" err="1"/>
              <a:t>sal</a:t>
            </a:r>
            <a:r>
              <a:rPr lang="en-US" dirty="0"/>
              <a:t>) AS </a:t>
            </a:r>
            <a:r>
              <a:rPr lang="en-US" dirty="0" err="1"/>
              <a:t>avg_job_salary</a:t>
            </a:r>
            <a:endParaRPr lang="en-US" dirty="0"/>
          </a:p>
          <a:p>
            <a:r>
              <a:rPr lang="en-US" dirty="0"/>
              <a:t>    FROM </a:t>
            </a:r>
            <a:r>
              <a:rPr lang="en-US" dirty="0" err="1"/>
              <a:t>practice_emp</a:t>
            </a:r>
            <a:endParaRPr lang="en-US" dirty="0"/>
          </a:p>
          <a:p>
            <a:r>
              <a:rPr lang="en-US" dirty="0"/>
              <a:t>    GROUP BY job</a:t>
            </a:r>
          </a:p>
          <a:p>
            <a:r>
              <a:rPr lang="en-US" dirty="0"/>
              <a:t>) j ON </a:t>
            </a:r>
            <a:r>
              <a:rPr lang="en-US" dirty="0" err="1"/>
              <a:t>p.job</a:t>
            </a:r>
            <a:r>
              <a:rPr lang="en-US" dirty="0"/>
              <a:t> = </a:t>
            </a:r>
            <a:r>
              <a:rPr lang="en-US" dirty="0" err="1"/>
              <a:t>j.job</a:t>
            </a:r>
            <a:r>
              <a:rPr lang="en-US" dirty="0"/>
              <a:t>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3993" y="332231"/>
            <a:ext cx="8829040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35" dirty="0"/>
              <a:t>L</a:t>
            </a:r>
            <a:r>
              <a:rPr sz="4100" spc="-140" dirty="0"/>
              <a:t>e</a:t>
            </a:r>
            <a:r>
              <a:rPr sz="4100" spc="-135" dirty="0"/>
              <a:t>t</a:t>
            </a:r>
            <a:r>
              <a:rPr sz="4100" spc="-120" dirty="0"/>
              <a:t>’</a:t>
            </a:r>
            <a:r>
              <a:rPr sz="4100" dirty="0"/>
              <a:t>s</a:t>
            </a:r>
            <a:r>
              <a:rPr sz="4100" spc="-265" dirty="0"/>
              <a:t> </a:t>
            </a:r>
            <a:r>
              <a:rPr sz="4100" spc="-145" dirty="0"/>
              <a:t>T</a:t>
            </a:r>
            <a:r>
              <a:rPr sz="4100" spc="-135" dirty="0"/>
              <a:t>r</a:t>
            </a:r>
            <a:r>
              <a:rPr sz="4100" dirty="0"/>
              <a:t>y</a:t>
            </a:r>
            <a:r>
              <a:rPr sz="4100" spc="-260" dirty="0"/>
              <a:t> </a:t>
            </a:r>
            <a:r>
              <a:rPr sz="4100" spc="-145" dirty="0"/>
              <a:t>1</a:t>
            </a:r>
            <a:r>
              <a:rPr sz="4100" dirty="0"/>
              <a:t>:</a:t>
            </a:r>
            <a:r>
              <a:rPr sz="4100" spc="-245" dirty="0"/>
              <a:t> </a:t>
            </a:r>
            <a:r>
              <a:rPr sz="4100" spc="-140" dirty="0"/>
              <a:t>Su</a:t>
            </a:r>
            <a:r>
              <a:rPr sz="4100" spc="-135" dirty="0"/>
              <a:t>bq</a:t>
            </a:r>
            <a:r>
              <a:rPr sz="4100" spc="-140" dirty="0"/>
              <a:t>u</a:t>
            </a:r>
            <a:r>
              <a:rPr sz="4100" spc="-135" dirty="0"/>
              <a:t>e</a:t>
            </a:r>
            <a:r>
              <a:rPr sz="4100" spc="-130" dirty="0"/>
              <a:t>r</a:t>
            </a:r>
            <a:r>
              <a:rPr sz="4100" spc="-125" dirty="0"/>
              <a:t>i</a:t>
            </a:r>
            <a:r>
              <a:rPr sz="4100" spc="-135" dirty="0"/>
              <a:t>e</a:t>
            </a:r>
            <a:r>
              <a:rPr sz="4100" dirty="0"/>
              <a:t>s</a:t>
            </a:r>
            <a:r>
              <a:rPr sz="4100" spc="-265" dirty="0"/>
              <a:t> </a:t>
            </a:r>
            <a:r>
              <a:rPr sz="4100" spc="-125" dirty="0"/>
              <a:t>i</a:t>
            </a:r>
            <a:r>
              <a:rPr sz="4100" dirty="0"/>
              <a:t>n</a:t>
            </a:r>
            <a:r>
              <a:rPr sz="4100" spc="-254" dirty="0"/>
              <a:t> </a:t>
            </a:r>
            <a:r>
              <a:rPr sz="4100" spc="-165" dirty="0"/>
              <a:t>W</a:t>
            </a:r>
            <a:r>
              <a:rPr sz="4100" spc="-130" dirty="0"/>
              <a:t>I</a:t>
            </a:r>
            <a:r>
              <a:rPr sz="4100" spc="-145" dirty="0"/>
              <a:t>T</a:t>
            </a:r>
            <a:r>
              <a:rPr sz="4100" dirty="0"/>
              <a:t>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7638" y="1208023"/>
            <a:ext cx="8694420" cy="64516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20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person,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their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(assume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we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will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display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empno,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person’s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job)</a:t>
            </a:r>
            <a:endParaRPr sz="1900" dirty="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1121" y="2311995"/>
          <a:ext cx="3358513" cy="3646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6164" y="2058415"/>
            <a:ext cx="1309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21861" y="2519551"/>
            <a:ext cx="5699760" cy="4920617"/>
          </a:xfrm>
          <a:custGeom>
            <a:avLst/>
            <a:gdLst/>
            <a:ahLst/>
            <a:cxnLst/>
            <a:rect l="l" t="t" r="r" b="b"/>
            <a:pathLst>
              <a:path w="5699759" h="1003300">
                <a:moveTo>
                  <a:pt x="0" y="0"/>
                </a:moveTo>
                <a:lnTo>
                  <a:pt x="5699620" y="0"/>
                </a:lnTo>
                <a:lnTo>
                  <a:pt x="5699620" y="1002887"/>
                </a:lnTo>
                <a:lnTo>
                  <a:pt x="0" y="1002887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3994770" y="2141728"/>
            <a:ext cx="486600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Step</a:t>
            </a:r>
            <a:r>
              <a:rPr sz="1900" u="sng" spc="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 </a:t>
            </a:r>
            <a:r>
              <a:rPr sz="19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1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: Find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endParaRPr sz="1900" dirty="0">
              <a:latin typeface="Verdana"/>
              <a:cs typeface="Verdan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898B8B-7B60-FB87-D0DD-EDD15ED18413}"/>
              </a:ext>
            </a:extLst>
          </p:cNvPr>
          <p:cNvSpPr txBox="1"/>
          <p:nvPr/>
        </p:nvSpPr>
        <p:spPr>
          <a:xfrm>
            <a:off x="4305993" y="27598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A80C54-A948-F35C-2BAB-8859083AB0F8}"/>
              </a:ext>
            </a:extLst>
          </p:cNvPr>
          <p:cNvSpPr txBox="1"/>
          <p:nvPr/>
        </p:nvSpPr>
        <p:spPr>
          <a:xfrm>
            <a:off x="4156364" y="2660073"/>
            <a:ext cx="52966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</a:t>
            </a:r>
            <a:r>
              <a:rPr lang="en-US" dirty="0" err="1"/>
              <a:t>AvgJobSalaries</a:t>
            </a:r>
            <a:r>
              <a:rPr lang="en-US" dirty="0"/>
              <a:t> AS (</a:t>
            </a:r>
          </a:p>
          <a:p>
            <a:r>
              <a:rPr lang="en-US" dirty="0"/>
              <a:t>    SELECT job, AVG(</a:t>
            </a:r>
            <a:r>
              <a:rPr lang="en-US" dirty="0" err="1"/>
              <a:t>sal</a:t>
            </a:r>
            <a:r>
              <a:rPr lang="en-US" dirty="0"/>
              <a:t>) AS </a:t>
            </a:r>
            <a:r>
              <a:rPr lang="en-US" dirty="0" err="1"/>
              <a:t>avg_job_salary</a:t>
            </a:r>
            <a:endParaRPr lang="en-US" dirty="0"/>
          </a:p>
          <a:p>
            <a:r>
              <a:rPr lang="en-US" dirty="0"/>
              <a:t>    FROM </a:t>
            </a:r>
            <a:r>
              <a:rPr lang="en-US" dirty="0" err="1"/>
              <a:t>practice_emp</a:t>
            </a:r>
            <a:endParaRPr lang="en-US" dirty="0"/>
          </a:p>
          <a:p>
            <a:r>
              <a:rPr lang="en-US" dirty="0"/>
              <a:t>    GROUP BY job</a:t>
            </a:r>
          </a:p>
          <a:p>
            <a:r>
              <a:rPr lang="en-US" dirty="0"/>
              <a:t>)</a:t>
            </a:r>
          </a:p>
          <a:p>
            <a:r>
              <a:rPr lang="en-US" dirty="0"/>
              <a:t>SELECT </a:t>
            </a:r>
            <a:r>
              <a:rPr lang="en-US" dirty="0" err="1"/>
              <a:t>emp_no</a:t>
            </a:r>
            <a:r>
              <a:rPr lang="en-US" dirty="0"/>
              <a:t>, </a:t>
            </a:r>
            <a:r>
              <a:rPr lang="en-US" dirty="0" err="1"/>
              <a:t>emp_name</a:t>
            </a:r>
            <a:r>
              <a:rPr lang="en-US" dirty="0"/>
              <a:t>, job, </a:t>
            </a:r>
            <a:r>
              <a:rPr lang="en-US" dirty="0" err="1"/>
              <a:t>avg_job_salary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practice_emp</a:t>
            </a:r>
            <a:endParaRPr lang="en-US" dirty="0"/>
          </a:p>
          <a:p>
            <a:r>
              <a:rPr lang="en-US" dirty="0"/>
              <a:t>JOIN </a:t>
            </a:r>
            <a:r>
              <a:rPr lang="en-US" dirty="0" err="1"/>
              <a:t>AvgJobSalaries</a:t>
            </a:r>
            <a:r>
              <a:rPr lang="en-US" dirty="0"/>
              <a:t> ON </a:t>
            </a:r>
            <a:r>
              <a:rPr lang="en-US" dirty="0" err="1"/>
              <a:t>practice_emp.job</a:t>
            </a:r>
            <a:r>
              <a:rPr lang="en-US" dirty="0"/>
              <a:t> = </a:t>
            </a:r>
            <a:r>
              <a:rPr lang="en-US" dirty="0" err="1"/>
              <a:t>AvgJobSalaries.job</a:t>
            </a:r>
            <a:r>
              <a:rPr lang="en-US" dirty="0"/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48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3993" y="332231"/>
            <a:ext cx="8829040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35" dirty="0"/>
              <a:t>L</a:t>
            </a:r>
            <a:r>
              <a:rPr sz="4100" spc="-140" dirty="0"/>
              <a:t>e</a:t>
            </a:r>
            <a:r>
              <a:rPr sz="4100" spc="-135" dirty="0"/>
              <a:t>t</a:t>
            </a:r>
            <a:r>
              <a:rPr sz="4100" spc="-120" dirty="0"/>
              <a:t>’</a:t>
            </a:r>
            <a:r>
              <a:rPr sz="4100" dirty="0"/>
              <a:t>s</a:t>
            </a:r>
            <a:r>
              <a:rPr sz="4100" spc="-265" dirty="0"/>
              <a:t> </a:t>
            </a:r>
            <a:r>
              <a:rPr sz="4100" spc="-145" dirty="0"/>
              <a:t>T</a:t>
            </a:r>
            <a:r>
              <a:rPr sz="4100" spc="-135" dirty="0"/>
              <a:t>r</a:t>
            </a:r>
            <a:r>
              <a:rPr sz="4100" dirty="0"/>
              <a:t>y</a:t>
            </a:r>
            <a:r>
              <a:rPr sz="4100" spc="-260" dirty="0"/>
              <a:t> </a:t>
            </a:r>
            <a:r>
              <a:rPr sz="4100" spc="-145" dirty="0"/>
              <a:t>1</a:t>
            </a:r>
            <a:r>
              <a:rPr sz="4100" dirty="0"/>
              <a:t>:</a:t>
            </a:r>
            <a:r>
              <a:rPr sz="4100" spc="-245" dirty="0"/>
              <a:t> </a:t>
            </a:r>
            <a:r>
              <a:rPr sz="4100" spc="-140" dirty="0"/>
              <a:t>Su</a:t>
            </a:r>
            <a:r>
              <a:rPr sz="4100" spc="-135" dirty="0"/>
              <a:t>bq</a:t>
            </a:r>
            <a:r>
              <a:rPr sz="4100" spc="-140" dirty="0"/>
              <a:t>u</a:t>
            </a:r>
            <a:r>
              <a:rPr sz="4100" spc="-135" dirty="0"/>
              <a:t>e</a:t>
            </a:r>
            <a:r>
              <a:rPr sz="4100" spc="-130" dirty="0"/>
              <a:t>r</a:t>
            </a:r>
            <a:r>
              <a:rPr sz="4100" spc="-125" dirty="0"/>
              <a:t>i</a:t>
            </a:r>
            <a:r>
              <a:rPr sz="4100" spc="-135" dirty="0"/>
              <a:t>e</a:t>
            </a:r>
            <a:r>
              <a:rPr sz="4100" dirty="0"/>
              <a:t>s</a:t>
            </a:r>
            <a:r>
              <a:rPr sz="4100" spc="-265" dirty="0"/>
              <a:t> </a:t>
            </a:r>
            <a:r>
              <a:rPr sz="4100" spc="-125" dirty="0"/>
              <a:t>i</a:t>
            </a:r>
            <a:r>
              <a:rPr sz="4100" dirty="0"/>
              <a:t>n</a:t>
            </a:r>
            <a:r>
              <a:rPr sz="4100" spc="-254" dirty="0"/>
              <a:t> </a:t>
            </a:r>
            <a:r>
              <a:rPr sz="4100" spc="-165" dirty="0"/>
              <a:t>W</a:t>
            </a:r>
            <a:r>
              <a:rPr sz="4100" spc="-130" dirty="0"/>
              <a:t>I</a:t>
            </a:r>
            <a:r>
              <a:rPr sz="4100" spc="-145" dirty="0"/>
              <a:t>T</a:t>
            </a:r>
            <a:r>
              <a:rPr sz="4100" dirty="0"/>
              <a:t>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7638" y="1208023"/>
            <a:ext cx="8694420" cy="64516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20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person,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their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(assume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we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will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display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empno,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person’s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job)</a:t>
            </a:r>
            <a:endParaRPr sz="1900" dirty="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1121" y="2311995"/>
          <a:ext cx="3358513" cy="3646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6164" y="2058415"/>
            <a:ext cx="1309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1861" y="3129157"/>
            <a:ext cx="5699760" cy="2829263"/>
          </a:xfrm>
          <a:custGeom>
            <a:avLst/>
            <a:gdLst/>
            <a:ahLst/>
            <a:cxnLst/>
            <a:rect l="l" t="t" r="r" b="b"/>
            <a:pathLst>
              <a:path w="5699759" h="2210434">
                <a:moveTo>
                  <a:pt x="0" y="0"/>
                </a:moveTo>
                <a:lnTo>
                  <a:pt x="5699620" y="0"/>
                </a:lnTo>
                <a:lnTo>
                  <a:pt x="5699620" y="2210073"/>
                </a:lnTo>
                <a:lnTo>
                  <a:pt x="0" y="2210073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21861" y="2416200"/>
            <a:ext cx="5160010" cy="58039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000125" marR="5080" indent="-988060">
              <a:lnSpc>
                <a:spcPts val="2090"/>
              </a:lnSpc>
              <a:spcBef>
                <a:spcPts val="325"/>
              </a:spcBef>
            </a:pPr>
            <a:r>
              <a:rPr sz="19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Step</a:t>
            </a:r>
            <a:r>
              <a:rPr sz="1900" u="sng" spc="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 </a:t>
            </a:r>
            <a:r>
              <a:rPr sz="19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2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: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each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person,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average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person’s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endParaRPr sz="1900" dirty="0">
              <a:latin typeface="Verdana"/>
              <a:cs typeface="Verdan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898B8B-7B60-FB87-D0DD-EDD15ED18413}"/>
              </a:ext>
            </a:extLst>
          </p:cNvPr>
          <p:cNvSpPr txBox="1"/>
          <p:nvPr/>
        </p:nvSpPr>
        <p:spPr>
          <a:xfrm>
            <a:off x="4305993" y="27598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FA937C-4B35-6B58-F665-71DE0D293ADE}"/>
              </a:ext>
            </a:extLst>
          </p:cNvPr>
          <p:cNvSpPr txBox="1"/>
          <p:nvPr/>
        </p:nvSpPr>
        <p:spPr>
          <a:xfrm>
            <a:off x="4222865" y="3341716"/>
            <a:ext cx="53783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emp_no</a:t>
            </a:r>
            <a:r>
              <a:rPr lang="en-US" dirty="0"/>
              <a:t>, </a:t>
            </a:r>
            <a:r>
              <a:rPr lang="en-US" dirty="0" err="1"/>
              <a:t>emp_name</a:t>
            </a:r>
            <a:r>
              <a:rPr lang="en-US" dirty="0"/>
              <a:t>, job, </a:t>
            </a:r>
            <a:r>
              <a:rPr lang="en-US" dirty="0" err="1"/>
              <a:t>avg_job_salary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practice_emp</a:t>
            </a:r>
            <a:endParaRPr lang="en-US" dirty="0"/>
          </a:p>
          <a:p>
            <a:r>
              <a:rPr lang="en-US" dirty="0"/>
              <a:t>JOIN </a:t>
            </a:r>
            <a:r>
              <a:rPr lang="en-US" dirty="0" err="1"/>
              <a:t>AvgJobSalaries</a:t>
            </a:r>
            <a:r>
              <a:rPr lang="en-US" dirty="0"/>
              <a:t> ON </a:t>
            </a:r>
            <a:r>
              <a:rPr lang="en-US" dirty="0" err="1"/>
              <a:t>practice_emp.job</a:t>
            </a:r>
            <a:r>
              <a:rPr lang="en-US" dirty="0"/>
              <a:t> = </a:t>
            </a:r>
            <a:r>
              <a:rPr lang="en-US" dirty="0" err="1"/>
              <a:t>AvgJobSalaries.job</a:t>
            </a:r>
            <a:r>
              <a:rPr lang="en-US" dirty="0"/>
              <a:t>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941" y="4394543"/>
            <a:ext cx="6149975" cy="1488440"/>
          </a:xfrm>
          <a:custGeom>
            <a:avLst/>
            <a:gdLst/>
            <a:ahLst/>
            <a:cxnLst/>
            <a:rect l="l" t="t" r="r" b="b"/>
            <a:pathLst>
              <a:path w="6149975" h="1488439">
                <a:moveTo>
                  <a:pt x="0" y="0"/>
                </a:moveTo>
                <a:lnTo>
                  <a:pt x="6149728" y="0"/>
                </a:lnTo>
                <a:lnTo>
                  <a:pt x="6149728" y="1487839"/>
                </a:lnTo>
                <a:lnTo>
                  <a:pt x="0" y="1487839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54767" y="315975"/>
            <a:ext cx="575056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L</a:t>
            </a:r>
            <a:r>
              <a:rPr spc="-125" dirty="0"/>
              <a:t>e</a:t>
            </a:r>
            <a:r>
              <a:rPr spc="-120" dirty="0"/>
              <a:t>t</a:t>
            </a:r>
            <a:r>
              <a:rPr spc="-125" dirty="0"/>
              <a:t>’</a:t>
            </a:r>
            <a:r>
              <a:rPr dirty="0"/>
              <a:t>s</a:t>
            </a:r>
            <a:r>
              <a:rPr spc="-250" dirty="0"/>
              <a:t> </a:t>
            </a:r>
            <a:r>
              <a:rPr spc="-135" dirty="0"/>
              <a:t>T</a:t>
            </a:r>
            <a:r>
              <a:rPr spc="-130" dirty="0"/>
              <a:t>r</a:t>
            </a:r>
            <a:r>
              <a:rPr dirty="0"/>
              <a:t>y</a:t>
            </a:r>
            <a:r>
              <a:rPr spc="-260" dirty="0"/>
              <a:t> </a:t>
            </a:r>
            <a:r>
              <a:rPr spc="-130" dirty="0"/>
              <a:t>2</a:t>
            </a:r>
            <a:r>
              <a:rPr dirty="0"/>
              <a:t>:</a:t>
            </a:r>
            <a:r>
              <a:rPr spc="-245" dirty="0"/>
              <a:t> </a:t>
            </a:r>
            <a:r>
              <a:rPr spc="-125" dirty="0"/>
              <a:t>Joi</a:t>
            </a:r>
            <a:r>
              <a:rPr dirty="0"/>
              <a:t>n</a:t>
            </a:r>
            <a:r>
              <a:rPr spc="-254" dirty="0"/>
              <a:t> </a:t>
            </a:r>
            <a:r>
              <a:rPr spc="-125" dirty="0"/>
              <a:t>(</a:t>
            </a:r>
            <a:r>
              <a:rPr spc="-130" dirty="0"/>
              <a:t>2)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24086" y="2327129"/>
            <a:ext cx="1915795" cy="1846580"/>
            <a:chOff x="324086" y="2327129"/>
            <a:chExt cx="1915795" cy="18465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246" y="2337289"/>
              <a:ext cx="1895012" cy="18257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9166" y="2332209"/>
              <a:ext cx="1905635" cy="1836420"/>
            </a:xfrm>
            <a:custGeom>
              <a:avLst/>
              <a:gdLst/>
              <a:ahLst/>
              <a:cxnLst/>
              <a:rect l="l" t="t" r="r" b="b"/>
              <a:pathLst>
                <a:path w="1905635" h="1836420">
                  <a:moveTo>
                    <a:pt x="0" y="0"/>
                  </a:moveTo>
                  <a:lnTo>
                    <a:pt x="1905173" y="0"/>
                  </a:lnTo>
                  <a:lnTo>
                    <a:pt x="1905173" y="1835919"/>
                  </a:lnTo>
                  <a:lnTo>
                    <a:pt x="0" y="1835919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6165" y="1208023"/>
            <a:ext cx="8630920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354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each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292934"/>
                </a:solidFill>
                <a:latin typeface="Verdana"/>
                <a:cs typeface="Verdana"/>
              </a:rPr>
              <a:t>sailor,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number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boats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reserved</a:t>
            </a:r>
            <a:endParaRPr sz="2100" dirty="0">
              <a:latin typeface="Verdana"/>
              <a:cs typeface="Verdana"/>
            </a:endParaRPr>
          </a:p>
          <a:p>
            <a:pPr marL="383540">
              <a:lnSpc>
                <a:spcPct val="100000"/>
              </a:lnSpc>
              <a:spcBef>
                <a:spcPts val="8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(assume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will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display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sname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boats)</a:t>
            </a:r>
            <a:endParaRPr sz="19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2016760" algn="l"/>
              </a:tabLst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Sailors	</a:t>
            </a:r>
            <a:r>
              <a:rPr sz="1500" spc="-15" dirty="0">
                <a:solidFill>
                  <a:srgbClr val="292934"/>
                </a:solidFill>
                <a:latin typeface="Verdana"/>
                <a:cs typeface="Verdana"/>
              </a:rPr>
              <a:t>Reserves</a:t>
            </a:r>
            <a:endParaRPr sz="1500" dirty="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16643" y="2351004"/>
            <a:ext cx="1560830" cy="1492250"/>
            <a:chOff x="2316643" y="2351004"/>
            <a:chExt cx="1560830" cy="149225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6803" y="2361164"/>
              <a:ext cx="1539885" cy="14713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321723" y="2356084"/>
              <a:ext cx="1550670" cy="1482090"/>
            </a:xfrm>
            <a:custGeom>
              <a:avLst/>
              <a:gdLst/>
              <a:ahLst/>
              <a:cxnLst/>
              <a:rect l="l" t="t" r="r" b="b"/>
              <a:pathLst>
                <a:path w="1550670" h="1482089">
                  <a:moveTo>
                    <a:pt x="0" y="0"/>
                  </a:moveTo>
                  <a:lnTo>
                    <a:pt x="1550045" y="0"/>
                  </a:lnTo>
                  <a:lnTo>
                    <a:pt x="1550045" y="1481467"/>
                  </a:lnTo>
                  <a:lnTo>
                    <a:pt x="0" y="1481467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33973E8-4EBB-E74B-8002-FA2C21C22588}"/>
              </a:ext>
            </a:extLst>
          </p:cNvPr>
          <p:cNvSpPr txBox="1"/>
          <p:nvPr/>
        </p:nvSpPr>
        <p:spPr>
          <a:xfrm>
            <a:off x="697941" y="4538598"/>
            <a:ext cx="56637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s.sname</a:t>
            </a:r>
            <a:r>
              <a:rPr lang="en-US" dirty="0"/>
              <a:t>, COUNT(</a:t>
            </a:r>
            <a:r>
              <a:rPr lang="en-US" dirty="0" err="1"/>
              <a:t>r.bid</a:t>
            </a:r>
            <a:r>
              <a:rPr lang="en-US" dirty="0"/>
              <a:t>) AS </a:t>
            </a:r>
            <a:r>
              <a:rPr lang="en-US" dirty="0" err="1"/>
              <a:t>num_of_boats_reserved</a:t>
            </a:r>
            <a:endParaRPr lang="en-US" dirty="0"/>
          </a:p>
          <a:p>
            <a:r>
              <a:rPr lang="en-US" dirty="0"/>
              <a:t>FROM Sailors s</a:t>
            </a:r>
          </a:p>
          <a:p>
            <a:r>
              <a:rPr lang="en-US" dirty="0"/>
              <a:t>LEFT JOIN Reserves r ON </a:t>
            </a:r>
            <a:r>
              <a:rPr lang="en-US" dirty="0" err="1"/>
              <a:t>s.sid</a:t>
            </a:r>
            <a:r>
              <a:rPr lang="en-US" dirty="0"/>
              <a:t> = </a:t>
            </a:r>
            <a:r>
              <a:rPr lang="en-US" dirty="0" err="1"/>
              <a:t>r.sid</a:t>
            </a:r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s.sname</a:t>
            </a:r>
            <a:r>
              <a:rPr lang="en-US" dirty="0"/>
              <a:t>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222" y="4394543"/>
            <a:ext cx="9095812" cy="1703070"/>
          </a:xfrm>
          <a:custGeom>
            <a:avLst/>
            <a:gdLst/>
            <a:ahLst/>
            <a:cxnLst/>
            <a:rect l="l" t="t" r="r" b="b"/>
            <a:pathLst>
              <a:path w="6315075" h="1703070">
                <a:moveTo>
                  <a:pt x="0" y="0"/>
                </a:moveTo>
                <a:lnTo>
                  <a:pt x="6315042" y="0"/>
                </a:lnTo>
                <a:lnTo>
                  <a:pt x="6315042" y="1702748"/>
                </a:lnTo>
                <a:lnTo>
                  <a:pt x="0" y="1702748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8779" y="332231"/>
            <a:ext cx="927925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35" dirty="0"/>
              <a:t>L</a:t>
            </a:r>
            <a:r>
              <a:rPr sz="4100" spc="-140" dirty="0"/>
              <a:t>e</a:t>
            </a:r>
            <a:r>
              <a:rPr sz="4100" spc="-135" dirty="0"/>
              <a:t>t</a:t>
            </a:r>
            <a:r>
              <a:rPr sz="4100" spc="-120" dirty="0"/>
              <a:t>’</a:t>
            </a:r>
            <a:r>
              <a:rPr sz="4100" dirty="0"/>
              <a:t>s</a:t>
            </a:r>
            <a:r>
              <a:rPr sz="4100" spc="-265" dirty="0"/>
              <a:t> </a:t>
            </a:r>
            <a:r>
              <a:rPr sz="4100" spc="-145" dirty="0"/>
              <a:t>T</a:t>
            </a:r>
            <a:r>
              <a:rPr sz="4100" spc="-135" dirty="0"/>
              <a:t>r</a:t>
            </a:r>
            <a:r>
              <a:rPr sz="4100" dirty="0"/>
              <a:t>y:</a:t>
            </a:r>
            <a:r>
              <a:rPr sz="4100" spc="-245" dirty="0"/>
              <a:t> </a:t>
            </a:r>
            <a:r>
              <a:rPr sz="4100" spc="-140" dirty="0"/>
              <a:t>Su</a:t>
            </a:r>
            <a:r>
              <a:rPr sz="4100" spc="-135" dirty="0"/>
              <a:t>bq</a:t>
            </a:r>
            <a:r>
              <a:rPr sz="4100" spc="-140" dirty="0"/>
              <a:t>u</a:t>
            </a:r>
            <a:r>
              <a:rPr sz="4100" spc="-135" dirty="0"/>
              <a:t>e</a:t>
            </a:r>
            <a:r>
              <a:rPr sz="4100" spc="-130" dirty="0"/>
              <a:t>r</a:t>
            </a:r>
            <a:r>
              <a:rPr sz="4100" spc="-125" dirty="0"/>
              <a:t>i</a:t>
            </a:r>
            <a:r>
              <a:rPr sz="4100" spc="-135" dirty="0"/>
              <a:t>e</a:t>
            </a:r>
            <a:r>
              <a:rPr sz="4100" dirty="0"/>
              <a:t>s</a:t>
            </a:r>
            <a:r>
              <a:rPr sz="4100" spc="-265" dirty="0"/>
              <a:t> </a:t>
            </a:r>
            <a:r>
              <a:rPr sz="4100" spc="-125" dirty="0"/>
              <a:t>i</a:t>
            </a:r>
            <a:r>
              <a:rPr sz="4100" dirty="0"/>
              <a:t>n</a:t>
            </a:r>
            <a:r>
              <a:rPr sz="4100" spc="-254" dirty="0"/>
              <a:t> </a:t>
            </a:r>
            <a:r>
              <a:rPr sz="4100" spc="-145" dirty="0"/>
              <a:t>S</a:t>
            </a:r>
            <a:r>
              <a:rPr sz="4100" spc="-135" dirty="0"/>
              <a:t>ELE</a:t>
            </a:r>
            <a:r>
              <a:rPr sz="4100" spc="-145" dirty="0"/>
              <a:t>C</a:t>
            </a:r>
            <a:r>
              <a:rPr sz="4100" dirty="0"/>
              <a:t>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24086" y="2327129"/>
            <a:ext cx="1915795" cy="1846580"/>
            <a:chOff x="324086" y="2327129"/>
            <a:chExt cx="1915795" cy="18465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246" y="2337289"/>
              <a:ext cx="1895012" cy="18257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9166" y="2332209"/>
              <a:ext cx="1905635" cy="1836420"/>
            </a:xfrm>
            <a:custGeom>
              <a:avLst/>
              <a:gdLst/>
              <a:ahLst/>
              <a:cxnLst/>
              <a:rect l="l" t="t" r="r" b="b"/>
              <a:pathLst>
                <a:path w="1905635" h="1836420">
                  <a:moveTo>
                    <a:pt x="0" y="0"/>
                  </a:moveTo>
                  <a:lnTo>
                    <a:pt x="1905173" y="0"/>
                  </a:lnTo>
                  <a:lnTo>
                    <a:pt x="1905173" y="1835919"/>
                  </a:lnTo>
                  <a:lnTo>
                    <a:pt x="0" y="1835919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6165" y="1208023"/>
            <a:ext cx="8630920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354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each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292934"/>
                </a:solidFill>
                <a:latin typeface="Verdana"/>
                <a:cs typeface="Verdana"/>
              </a:rPr>
              <a:t>sailor,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number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boats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reserved</a:t>
            </a:r>
            <a:endParaRPr sz="2100">
              <a:latin typeface="Verdana"/>
              <a:cs typeface="Verdana"/>
            </a:endParaRPr>
          </a:p>
          <a:p>
            <a:pPr marL="383540">
              <a:lnSpc>
                <a:spcPct val="100000"/>
              </a:lnSpc>
              <a:spcBef>
                <a:spcPts val="8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(assume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will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display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sname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boats)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2016760" algn="l"/>
              </a:tabLst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Sailors	</a:t>
            </a:r>
            <a:r>
              <a:rPr sz="1500" spc="-15" dirty="0">
                <a:solidFill>
                  <a:srgbClr val="292934"/>
                </a:solidFill>
                <a:latin typeface="Verdana"/>
                <a:cs typeface="Verdana"/>
              </a:rPr>
              <a:t>Reserves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16643" y="2351004"/>
            <a:ext cx="1560830" cy="1492250"/>
            <a:chOff x="2316643" y="2351004"/>
            <a:chExt cx="1560830" cy="149225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6803" y="2361164"/>
              <a:ext cx="1539885" cy="14713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321723" y="2356084"/>
              <a:ext cx="1550670" cy="1482090"/>
            </a:xfrm>
            <a:custGeom>
              <a:avLst/>
              <a:gdLst/>
              <a:ahLst/>
              <a:cxnLst/>
              <a:rect l="l" t="t" r="r" b="b"/>
              <a:pathLst>
                <a:path w="1550670" h="1482089">
                  <a:moveTo>
                    <a:pt x="0" y="0"/>
                  </a:moveTo>
                  <a:lnTo>
                    <a:pt x="1550045" y="0"/>
                  </a:lnTo>
                  <a:lnTo>
                    <a:pt x="1550045" y="1481467"/>
                  </a:lnTo>
                  <a:lnTo>
                    <a:pt x="0" y="1481467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6EEA98E-8733-F46D-5886-0E2E108B55D7}"/>
              </a:ext>
            </a:extLst>
          </p:cNvPr>
          <p:cNvSpPr txBox="1"/>
          <p:nvPr/>
        </p:nvSpPr>
        <p:spPr>
          <a:xfrm>
            <a:off x="814647" y="4572000"/>
            <a:ext cx="81996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s.sname</a:t>
            </a:r>
            <a:r>
              <a:rPr lang="en-US" dirty="0"/>
              <a:t>,</a:t>
            </a:r>
          </a:p>
          <a:p>
            <a:r>
              <a:rPr lang="en-US" dirty="0"/>
              <a:t>  (SELECT COUNT(*) FROM Reserves r WHERE </a:t>
            </a:r>
            <a:r>
              <a:rPr lang="en-US" dirty="0" err="1"/>
              <a:t>r.sid</a:t>
            </a:r>
            <a:r>
              <a:rPr lang="en-US" dirty="0"/>
              <a:t> = </a:t>
            </a:r>
            <a:r>
              <a:rPr lang="en-US" dirty="0" err="1"/>
              <a:t>s.sid</a:t>
            </a:r>
            <a:r>
              <a:rPr lang="en-US" dirty="0"/>
              <a:t>) AS </a:t>
            </a:r>
            <a:r>
              <a:rPr lang="en-US" dirty="0" err="1"/>
              <a:t>num_of_boats_reserved</a:t>
            </a:r>
            <a:endParaRPr lang="en-US" dirty="0"/>
          </a:p>
          <a:p>
            <a:r>
              <a:rPr lang="en-US" dirty="0"/>
              <a:t>FROM Sailors s;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7839" y="315975"/>
            <a:ext cx="907796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Su</a:t>
            </a:r>
            <a:r>
              <a:rPr spc="-130" dirty="0"/>
              <a:t>bq</a:t>
            </a:r>
            <a:r>
              <a:rPr spc="-135" dirty="0"/>
              <a:t>u</a:t>
            </a:r>
            <a:r>
              <a:rPr spc="-125" dirty="0"/>
              <a:t>erie</a:t>
            </a:r>
            <a:r>
              <a:rPr dirty="0"/>
              <a:t>s</a:t>
            </a:r>
            <a:r>
              <a:rPr spc="-254" dirty="0"/>
              <a:t> </a:t>
            </a:r>
            <a:r>
              <a:rPr spc="-130" dirty="0"/>
              <a:t>an</a:t>
            </a:r>
            <a:r>
              <a:rPr dirty="0"/>
              <a:t>d</a:t>
            </a:r>
            <a:r>
              <a:rPr spc="-254" dirty="0"/>
              <a:t> </a:t>
            </a:r>
            <a:r>
              <a:rPr spc="-140" dirty="0"/>
              <a:t>S</a:t>
            </a:r>
            <a:r>
              <a:rPr spc="-125" dirty="0"/>
              <a:t>e</a:t>
            </a:r>
            <a:r>
              <a:rPr dirty="0"/>
              <a:t>t</a:t>
            </a:r>
            <a:r>
              <a:rPr spc="-245" dirty="0"/>
              <a:t> </a:t>
            </a:r>
            <a:r>
              <a:rPr spc="-135" dirty="0"/>
              <a:t>O</a:t>
            </a:r>
            <a:r>
              <a:rPr spc="-130" dirty="0"/>
              <a:t>p</a:t>
            </a:r>
            <a:r>
              <a:rPr spc="-125" dirty="0"/>
              <a:t>e</a:t>
            </a:r>
            <a:r>
              <a:rPr spc="-130" dirty="0"/>
              <a:t>ra</a:t>
            </a:r>
            <a:r>
              <a:rPr spc="-125" dirty="0"/>
              <a:t>tio</a:t>
            </a:r>
            <a:r>
              <a:rPr spc="-130" dirty="0"/>
              <a:t>n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946" y="1251203"/>
            <a:ext cx="99949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30" dirty="0">
                <a:solidFill>
                  <a:srgbClr val="C00000"/>
                </a:solidFill>
                <a:latin typeface="Courier New"/>
                <a:cs typeface="Courier New"/>
              </a:rPr>
              <a:t>UNION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8250" y="3180588"/>
            <a:ext cx="2138045" cy="1376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 algn="ctr">
              <a:lnSpc>
                <a:spcPts val="3050"/>
              </a:lnSpc>
              <a:spcBef>
                <a:spcPts val="100"/>
              </a:spcBef>
            </a:pPr>
            <a:r>
              <a:rPr sz="2600" b="1" spc="-30" dirty="0">
                <a:solidFill>
                  <a:srgbClr val="C00000"/>
                </a:solidFill>
                <a:latin typeface="Courier New"/>
                <a:cs typeface="Courier New"/>
              </a:rPr>
              <a:t>INTERSECT</a:t>
            </a:r>
            <a:endParaRPr sz="2600">
              <a:latin typeface="Courier New"/>
              <a:cs typeface="Courier New"/>
            </a:endParaRPr>
          </a:p>
          <a:p>
            <a:pPr marL="38735" marR="11430" indent="-19050">
              <a:lnSpc>
                <a:spcPts val="1490"/>
              </a:lnSpc>
              <a:spcBef>
                <a:spcPts val="35"/>
              </a:spcBef>
            </a:pP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[not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supported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by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MySQL </a:t>
            </a:r>
            <a:r>
              <a:rPr sz="1300" spc="-4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5.6,</a:t>
            </a:r>
            <a:r>
              <a:rPr sz="13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5.7;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work</a:t>
            </a:r>
            <a:r>
              <a:rPr sz="13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3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MySQL</a:t>
            </a:r>
            <a:endParaRPr sz="1300">
              <a:latin typeface="Verdana"/>
              <a:cs typeface="Verdana"/>
            </a:endParaRPr>
          </a:p>
          <a:p>
            <a:pPr marL="12700" marR="5080" indent="44450">
              <a:lnSpc>
                <a:spcPts val="1490"/>
              </a:lnSpc>
              <a:spcBef>
                <a:spcPts val="120"/>
              </a:spcBef>
            </a:pP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8.0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(GCP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and CS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server) </a:t>
            </a:r>
            <a:r>
              <a:rPr sz="1300" spc="-4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3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local</a:t>
            </a:r>
            <a:r>
              <a:rPr sz="13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XAMPP</a:t>
            </a:r>
            <a:r>
              <a:rPr sz="13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10.4.11-</a:t>
            </a:r>
            <a:endParaRPr sz="1300">
              <a:latin typeface="Verdana"/>
              <a:cs typeface="Verdana"/>
            </a:endParaRPr>
          </a:p>
          <a:p>
            <a:pPr algn="ctr">
              <a:lnSpc>
                <a:spcPts val="1470"/>
              </a:lnSpc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MariaDB]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946" y="5073396"/>
            <a:ext cx="11938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30" dirty="0">
                <a:solidFill>
                  <a:srgbClr val="C00000"/>
                </a:solidFill>
                <a:latin typeface="Courier New"/>
                <a:cs typeface="Courier New"/>
              </a:rPr>
              <a:t>EXCEPT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56813" y="1248293"/>
            <a:ext cx="2904490" cy="159639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marL="437515">
              <a:lnSpc>
                <a:spcPct val="100000"/>
              </a:lnSpc>
              <a:spcBef>
                <a:spcPts val="755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(sub-result1)</a:t>
            </a:r>
            <a:endParaRPr sz="2300">
              <a:latin typeface="Verdana"/>
              <a:cs typeface="Verdana"/>
            </a:endParaRPr>
          </a:p>
          <a:p>
            <a:pPr marL="462280">
              <a:lnSpc>
                <a:spcPct val="100000"/>
              </a:lnSpc>
              <a:spcBef>
                <a:spcPts val="1155"/>
              </a:spcBef>
            </a:pPr>
            <a:r>
              <a:rPr sz="2300" spc="30" dirty="0">
                <a:solidFill>
                  <a:srgbClr val="C00000"/>
                </a:solidFill>
                <a:latin typeface="Courier New"/>
                <a:cs typeface="Courier New"/>
              </a:rPr>
              <a:t>UNION</a:t>
            </a:r>
            <a:endParaRPr sz="2300">
              <a:latin typeface="Courier New"/>
              <a:cs typeface="Courier New"/>
            </a:endParaRPr>
          </a:p>
          <a:p>
            <a:pPr marL="437515">
              <a:lnSpc>
                <a:spcPct val="100000"/>
              </a:lnSpc>
              <a:spcBef>
                <a:spcPts val="1320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(sub-result2)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6813" y="3121836"/>
            <a:ext cx="2904490" cy="159639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437515">
              <a:lnSpc>
                <a:spcPct val="100000"/>
              </a:lnSpc>
              <a:spcBef>
                <a:spcPts val="740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(sub-result1)</a:t>
            </a:r>
            <a:endParaRPr sz="2300">
              <a:latin typeface="Verdana"/>
              <a:cs typeface="Verdana"/>
            </a:endParaRPr>
          </a:p>
          <a:p>
            <a:pPr marL="462280">
              <a:lnSpc>
                <a:spcPct val="100000"/>
              </a:lnSpc>
              <a:spcBef>
                <a:spcPts val="1155"/>
              </a:spcBef>
            </a:pPr>
            <a:r>
              <a:rPr sz="2300" spc="30" dirty="0">
                <a:solidFill>
                  <a:srgbClr val="C00000"/>
                </a:solidFill>
                <a:latin typeface="Courier New"/>
                <a:cs typeface="Courier New"/>
              </a:rPr>
              <a:t>INTERSECT</a:t>
            </a:r>
            <a:endParaRPr sz="2300">
              <a:latin typeface="Courier New"/>
              <a:cs typeface="Courier New"/>
            </a:endParaRPr>
          </a:p>
          <a:p>
            <a:pPr marL="437515">
              <a:lnSpc>
                <a:spcPct val="100000"/>
              </a:lnSpc>
              <a:spcBef>
                <a:spcPts val="1340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(sub-result2)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56813" y="5023874"/>
            <a:ext cx="2904490" cy="159639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marL="437515">
              <a:lnSpc>
                <a:spcPct val="100000"/>
              </a:lnSpc>
              <a:spcBef>
                <a:spcPts val="910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(sub-result1)</a:t>
            </a:r>
            <a:endParaRPr sz="2300">
              <a:latin typeface="Verdana"/>
              <a:cs typeface="Verdana"/>
            </a:endParaRPr>
          </a:p>
          <a:p>
            <a:pPr marL="462280">
              <a:lnSpc>
                <a:spcPct val="100000"/>
              </a:lnSpc>
              <a:spcBef>
                <a:spcPts val="1150"/>
              </a:spcBef>
            </a:pPr>
            <a:r>
              <a:rPr sz="2300" spc="30" dirty="0">
                <a:solidFill>
                  <a:srgbClr val="C00000"/>
                </a:solidFill>
                <a:latin typeface="Courier New"/>
                <a:cs typeface="Courier New"/>
              </a:rPr>
              <a:t>EXCEPT</a:t>
            </a:r>
            <a:endParaRPr sz="2300">
              <a:latin typeface="Courier New"/>
              <a:cs typeface="Courier New"/>
            </a:endParaRPr>
          </a:p>
          <a:p>
            <a:pPr marL="437515">
              <a:lnSpc>
                <a:spcPct val="100000"/>
              </a:lnSpc>
              <a:spcBef>
                <a:spcPts val="1320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(sub-result2)</a:t>
            </a:r>
            <a:endParaRPr sz="23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433819" y="1256368"/>
            <a:ext cx="3154045" cy="5415280"/>
            <a:chOff x="6433819" y="1256368"/>
            <a:chExt cx="3154045" cy="5415280"/>
          </a:xfrm>
        </p:grpSpPr>
        <p:sp>
          <p:nvSpPr>
            <p:cNvPr id="10" name="object 10"/>
            <p:cNvSpPr/>
            <p:nvPr/>
          </p:nvSpPr>
          <p:spPr>
            <a:xfrm>
              <a:off x="6447913" y="1270462"/>
              <a:ext cx="3126105" cy="5386705"/>
            </a:xfrm>
            <a:custGeom>
              <a:avLst/>
              <a:gdLst/>
              <a:ahLst/>
              <a:cxnLst/>
              <a:rect l="l" t="t" r="r" b="b"/>
              <a:pathLst>
                <a:path w="3126104" h="5386705">
                  <a:moveTo>
                    <a:pt x="2604640" y="0"/>
                  </a:moveTo>
                  <a:lnTo>
                    <a:pt x="520940" y="0"/>
                  </a:lnTo>
                  <a:lnTo>
                    <a:pt x="473523" y="2128"/>
                  </a:lnTo>
                  <a:lnTo>
                    <a:pt x="427300" y="8393"/>
                  </a:lnTo>
                  <a:lnTo>
                    <a:pt x="382453" y="18608"/>
                  </a:lnTo>
                  <a:lnTo>
                    <a:pt x="339167" y="32591"/>
                  </a:lnTo>
                  <a:lnTo>
                    <a:pt x="297625" y="50157"/>
                  </a:lnTo>
                  <a:lnTo>
                    <a:pt x="258011" y="71123"/>
                  </a:lnTo>
                  <a:lnTo>
                    <a:pt x="220510" y="95305"/>
                  </a:lnTo>
                  <a:lnTo>
                    <a:pt x="185305" y="122518"/>
                  </a:lnTo>
                  <a:lnTo>
                    <a:pt x="152579" y="152579"/>
                  </a:lnTo>
                  <a:lnTo>
                    <a:pt x="122518" y="185304"/>
                  </a:lnTo>
                  <a:lnTo>
                    <a:pt x="95305" y="220510"/>
                  </a:lnTo>
                  <a:lnTo>
                    <a:pt x="71123" y="258011"/>
                  </a:lnTo>
                  <a:lnTo>
                    <a:pt x="50157" y="297624"/>
                  </a:lnTo>
                  <a:lnTo>
                    <a:pt x="32591" y="339166"/>
                  </a:lnTo>
                  <a:lnTo>
                    <a:pt x="18608" y="382452"/>
                  </a:lnTo>
                  <a:lnTo>
                    <a:pt x="8393" y="427299"/>
                  </a:lnTo>
                  <a:lnTo>
                    <a:pt x="2128" y="473522"/>
                  </a:lnTo>
                  <a:lnTo>
                    <a:pt x="0" y="520938"/>
                  </a:lnTo>
                  <a:lnTo>
                    <a:pt x="0" y="4865707"/>
                  </a:lnTo>
                  <a:lnTo>
                    <a:pt x="2128" y="4913123"/>
                  </a:lnTo>
                  <a:lnTo>
                    <a:pt x="8393" y="4959347"/>
                  </a:lnTo>
                  <a:lnTo>
                    <a:pt x="18608" y="5004193"/>
                  </a:lnTo>
                  <a:lnTo>
                    <a:pt x="32591" y="5047479"/>
                  </a:lnTo>
                  <a:lnTo>
                    <a:pt x="50157" y="5089021"/>
                  </a:lnTo>
                  <a:lnTo>
                    <a:pt x="71123" y="5128635"/>
                  </a:lnTo>
                  <a:lnTo>
                    <a:pt x="95305" y="5166136"/>
                  </a:lnTo>
                  <a:lnTo>
                    <a:pt x="122518" y="5201341"/>
                  </a:lnTo>
                  <a:lnTo>
                    <a:pt x="152579" y="5234066"/>
                  </a:lnTo>
                  <a:lnTo>
                    <a:pt x="185305" y="5264127"/>
                  </a:lnTo>
                  <a:lnTo>
                    <a:pt x="220510" y="5291341"/>
                  </a:lnTo>
                  <a:lnTo>
                    <a:pt x="258011" y="5315522"/>
                  </a:lnTo>
                  <a:lnTo>
                    <a:pt x="297625" y="5336488"/>
                  </a:lnTo>
                  <a:lnTo>
                    <a:pt x="339167" y="5354055"/>
                  </a:lnTo>
                  <a:lnTo>
                    <a:pt x="382453" y="5368037"/>
                  </a:lnTo>
                  <a:lnTo>
                    <a:pt x="427300" y="5378253"/>
                  </a:lnTo>
                  <a:lnTo>
                    <a:pt x="473523" y="5384517"/>
                  </a:lnTo>
                  <a:lnTo>
                    <a:pt x="520940" y="5386646"/>
                  </a:lnTo>
                  <a:lnTo>
                    <a:pt x="2604640" y="5386646"/>
                  </a:lnTo>
                  <a:lnTo>
                    <a:pt x="2652056" y="5384517"/>
                  </a:lnTo>
                  <a:lnTo>
                    <a:pt x="2698280" y="5378253"/>
                  </a:lnTo>
                  <a:lnTo>
                    <a:pt x="2743126" y="5368037"/>
                  </a:lnTo>
                  <a:lnTo>
                    <a:pt x="2786413" y="5354055"/>
                  </a:lnTo>
                  <a:lnTo>
                    <a:pt x="2827955" y="5336488"/>
                  </a:lnTo>
                  <a:lnTo>
                    <a:pt x="2867568" y="5315522"/>
                  </a:lnTo>
                  <a:lnTo>
                    <a:pt x="2905070" y="5291341"/>
                  </a:lnTo>
                  <a:lnTo>
                    <a:pt x="2940275" y="5264127"/>
                  </a:lnTo>
                  <a:lnTo>
                    <a:pt x="2973000" y="5234066"/>
                  </a:lnTo>
                  <a:lnTo>
                    <a:pt x="3003061" y="5201341"/>
                  </a:lnTo>
                  <a:lnTo>
                    <a:pt x="3030275" y="5166136"/>
                  </a:lnTo>
                  <a:lnTo>
                    <a:pt x="3054456" y="5128635"/>
                  </a:lnTo>
                  <a:lnTo>
                    <a:pt x="3075422" y="5089021"/>
                  </a:lnTo>
                  <a:lnTo>
                    <a:pt x="3092989" y="5047479"/>
                  </a:lnTo>
                  <a:lnTo>
                    <a:pt x="3106971" y="5004193"/>
                  </a:lnTo>
                  <a:lnTo>
                    <a:pt x="3117187" y="4959347"/>
                  </a:lnTo>
                  <a:lnTo>
                    <a:pt x="3123451" y="4913123"/>
                  </a:lnTo>
                  <a:lnTo>
                    <a:pt x="3125580" y="4865707"/>
                  </a:lnTo>
                  <a:lnTo>
                    <a:pt x="3125580" y="520938"/>
                  </a:lnTo>
                  <a:lnTo>
                    <a:pt x="3123451" y="473522"/>
                  </a:lnTo>
                  <a:lnTo>
                    <a:pt x="3117187" y="427299"/>
                  </a:lnTo>
                  <a:lnTo>
                    <a:pt x="3106971" y="382452"/>
                  </a:lnTo>
                  <a:lnTo>
                    <a:pt x="3092989" y="339166"/>
                  </a:lnTo>
                  <a:lnTo>
                    <a:pt x="3075422" y="297624"/>
                  </a:lnTo>
                  <a:lnTo>
                    <a:pt x="3054456" y="258011"/>
                  </a:lnTo>
                  <a:lnTo>
                    <a:pt x="3030275" y="220510"/>
                  </a:lnTo>
                  <a:lnTo>
                    <a:pt x="3003061" y="185304"/>
                  </a:lnTo>
                  <a:lnTo>
                    <a:pt x="2973000" y="152579"/>
                  </a:lnTo>
                  <a:lnTo>
                    <a:pt x="2940275" y="122518"/>
                  </a:lnTo>
                  <a:lnTo>
                    <a:pt x="2905070" y="95305"/>
                  </a:lnTo>
                  <a:lnTo>
                    <a:pt x="2867568" y="71123"/>
                  </a:lnTo>
                  <a:lnTo>
                    <a:pt x="2827955" y="50157"/>
                  </a:lnTo>
                  <a:lnTo>
                    <a:pt x="2786413" y="32591"/>
                  </a:lnTo>
                  <a:lnTo>
                    <a:pt x="2743126" y="18608"/>
                  </a:lnTo>
                  <a:lnTo>
                    <a:pt x="2698280" y="8393"/>
                  </a:lnTo>
                  <a:lnTo>
                    <a:pt x="2652056" y="2128"/>
                  </a:lnTo>
                  <a:lnTo>
                    <a:pt x="2604640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47913" y="1270462"/>
              <a:ext cx="3126105" cy="5386705"/>
            </a:xfrm>
            <a:custGeom>
              <a:avLst/>
              <a:gdLst/>
              <a:ahLst/>
              <a:cxnLst/>
              <a:rect l="l" t="t" r="r" b="b"/>
              <a:pathLst>
                <a:path w="3126104" h="5386705">
                  <a:moveTo>
                    <a:pt x="0" y="520938"/>
                  </a:moveTo>
                  <a:lnTo>
                    <a:pt x="2128" y="473522"/>
                  </a:lnTo>
                  <a:lnTo>
                    <a:pt x="8393" y="427299"/>
                  </a:lnTo>
                  <a:lnTo>
                    <a:pt x="18608" y="382452"/>
                  </a:lnTo>
                  <a:lnTo>
                    <a:pt x="32591" y="339166"/>
                  </a:lnTo>
                  <a:lnTo>
                    <a:pt x="50157" y="297624"/>
                  </a:lnTo>
                  <a:lnTo>
                    <a:pt x="71123" y="258011"/>
                  </a:lnTo>
                  <a:lnTo>
                    <a:pt x="95305" y="220509"/>
                  </a:lnTo>
                  <a:lnTo>
                    <a:pt x="122518" y="185304"/>
                  </a:lnTo>
                  <a:lnTo>
                    <a:pt x="152579" y="152579"/>
                  </a:lnTo>
                  <a:lnTo>
                    <a:pt x="185304" y="122518"/>
                  </a:lnTo>
                  <a:lnTo>
                    <a:pt x="220510" y="95304"/>
                  </a:lnTo>
                  <a:lnTo>
                    <a:pt x="258011" y="71123"/>
                  </a:lnTo>
                  <a:lnTo>
                    <a:pt x="297625" y="50157"/>
                  </a:lnTo>
                  <a:lnTo>
                    <a:pt x="339166" y="32591"/>
                  </a:lnTo>
                  <a:lnTo>
                    <a:pt x="382453" y="18608"/>
                  </a:lnTo>
                  <a:lnTo>
                    <a:pt x="427300" y="8393"/>
                  </a:lnTo>
                  <a:lnTo>
                    <a:pt x="473523" y="2128"/>
                  </a:lnTo>
                  <a:lnTo>
                    <a:pt x="520939" y="0"/>
                  </a:lnTo>
                  <a:lnTo>
                    <a:pt x="1302323" y="0"/>
                  </a:lnTo>
                  <a:lnTo>
                    <a:pt x="2604639" y="0"/>
                  </a:lnTo>
                  <a:lnTo>
                    <a:pt x="2652056" y="2128"/>
                  </a:lnTo>
                  <a:lnTo>
                    <a:pt x="2698279" y="8393"/>
                  </a:lnTo>
                  <a:lnTo>
                    <a:pt x="2743126" y="18608"/>
                  </a:lnTo>
                  <a:lnTo>
                    <a:pt x="2786412" y="32591"/>
                  </a:lnTo>
                  <a:lnTo>
                    <a:pt x="2827954" y="50157"/>
                  </a:lnTo>
                  <a:lnTo>
                    <a:pt x="2867568" y="71123"/>
                  </a:lnTo>
                  <a:lnTo>
                    <a:pt x="2905069" y="95304"/>
                  </a:lnTo>
                  <a:lnTo>
                    <a:pt x="2940274" y="122518"/>
                  </a:lnTo>
                  <a:lnTo>
                    <a:pt x="2972999" y="152579"/>
                  </a:lnTo>
                  <a:lnTo>
                    <a:pt x="3003061" y="185304"/>
                  </a:lnTo>
                  <a:lnTo>
                    <a:pt x="3030274" y="220509"/>
                  </a:lnTo>
                  <a:lnTo>
                    <a:pt x="3054456" y="258011"/>
                  </a:lnTo>
                  <a:lnTo>
                    <a:pt x="3075421" y="297624"/>
                  </a:lnTo>
                  <a:lnTo>
                    <a:pt x="3092988" y="339166"/>
                  </a:lnTo>
                  <a:lnTo>
                    <a:pt x="3106971" y="382452"/>
                  </a:lnTo>
                  <a:lnTo>
                    <a:pt x="3117186" y="427299"/>
                  </a:lnTo>
                  <a:lnTo>
                    <a:pt x="3123450" y="473522"/>
                  </a:lnTo>
                  <a:lnTo>
                    <a:pt x="3125579" y="520938"/>
                  </a:lnTo>
                  <a:lnTo>
                    <a:pt x="3125579" y="897774"/>
                  </a:lnTo>
                  <a:lnTo>
                    <a:pt x="3125579" y="2244436"/>
                  </a:lnTo>
                  <a:lnTo>
                    <a:pt x="3125579" y="4865707"/>
                  </a:lnTo>
                  <a:lnTo>
                    <a:pt x="3123450" y="4913123"/>
                  </a:lnTo>
                  <a:lnTo>
                    <a:pt x="3117186" y="4959347"/>
                  </a:lnTo>
                  <a:lnTo>
                    <a:pt x="3106971" y="5004193"/>
                  </a:lnTo>
                  <a:lnTo>
                    <a:pt x="3092988" y="5047480"/>
                  </a:lnTo>
                  <a:lnTo>
                    <a:pt x="3075421" y="5089021"/>
                  </a:lnTo>
                  <a:lnTo>
                    <a:pt x="3054456" y="5128635"/>
                  </a:lnTo>
                  <a:lnTo>
                    <a:pt x="3030274" y="5166136"/>
                  </a:lnTo>
                  <a:lnTo>
                    <a:pt x="3003061" y="5201341"/>
                  </a:lnTo>
                  <a:lnTo>
                    <a:pt x="2972999" y="5234066"/>
                  </a:lnTo>
                  <a:lnTo>
                    <a:pt x="2940274" y="5264128"/>
                  </a:lnTo>
                  <a:lnTo>
                    <a:pt x="2905069" y="5291341"/>
                  </a:lnTo>
                  <a:lnTo>
                    <a:pt x="2867568" y="5315522"/>
                  </a:lnTo>
                  <a:lnTo>
                    <a:pt x="2827954" y="5336488"/>
                  </a:lnTo>
                  <a:lnTo>
                    <a:pt x="2786412" y="5354055"/>
                  </a:lnTo>
                  <a:lnTo>
                    <a:pt x="2743126" y="5368037"/>
                  </a:lnTo>
                  <a:lnTo>
                    <a:pt x="2698279" y="5378253"/>
                  </a:lnTo>
                  <a:lnTo>
                    <a:pt x="2652056" y="5384517"/>
                  </a:lnTo>
                  <a:lnTo>
                    <a:pt x="2604639" y="5386646"/>
                  </a:lnTo>
                  <a:lnTo>
                    <a:pt x="1302323" y="5386646"/>
                  </a:lnTo>
                  <a:lnTo>
                    <a:pt x="520927" y="5386646"/>
                  </a:lnTo>
                  <a:lnTo>
                    <a:pt x="473523" y="5384517"/>
                  </a:lnTo>
                  <a:lnTo>
                    <a:pt x="427300" y="5378253"/>
                  </a:lnTo>
                  <a:lnTo>
                    <a:pt x="382453" y="5368037"/>
                  </a:lnTo>
                  <a:lnTo>
                    <a:pt x="339166" y="5354055"/>
                  </a:lnTo>
                  <a:lnTo>
                    <a:pt x="297625" y="5336488"/>
                  </a:lnTo>
                  <a:lnTo>
                    <a:pt x="258011" y="5315522"/>
                  </a:lnTo>
                  <a:lnTo>
                    <a:pt x="220510" y="5291341"/>
                  </a:lnTo>
                  <a:lnTo>
                    <a:pt x="185304" y="5264128"/>
                  </a:lnTo>
                  <a:lnTo>
                    <a:pt x="152579" y="5234066"/>
                  </a:lnTo>
                  <a:lnTo>
                    <a:pt x="122518" y="5201341"/>
                  </a:lnTo>
                  <a:lnTo>
                    <a:pt x="95305" y="5166136"/>
                  </a:lnTo>
                  <a:lnTo>
                    <a:pt x="71123" y="5128635"/>
                  </a:lnTo>
                  <a:lnTo>
                    <a:pt x="50157" y="5089021"/>
                  </a:lnTo>
                  <a:lnTo>
                    <a:pt x="32591" y="5047480"/>
                  </a:lnTo>
                  <a:lnTo>
                    <a:pt x="18608" y="5004193"/>
                  </a:lnTo>
                  <a:lnTo>
                    <a:pt x="8393" y="4959347"/>
                  </a:lnTo>
                  <a:lnTo>
                    <a:pt x="2128" y="4913123"/>
                  </a:lnTo>
                  <a:lnTo>
                    <a:pt x="0" y="4865707"/>
                  </a:lnTo>
                  <a:lnTo>
                    <a:pt x="0" y="2244436"/>
                  </a:lnTo>
                  <a:lnTo>
                    <a:pt x="0" y="2156867"/>
                  </a:lnTo>
                  <a:lnTo>
                    <a:pt x="0" y="897774"/>
                  </a:lnTo>
                  <a:lnTo>
                    <a:pt x="0" y="520938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685326" y="2452115"/>
            <a:ext cx="2551430" cy="3021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Requirements:</a:t>
            </a:r>
            <a:endParaRPr sz="2000">
              <a:latin typeface="Verdana"/>
              <a:cs typeface="Verdana"/>
            </a:endParaRPr>
          </a:p>
          <a:p>
            <a:pPr marL="378460" marR="5080" indent="-365760">
              <a:lnSpc>
                <a:spcPct val="112999"/>
              </a:lnSpc>
              <a:spcBef>
                <a:spcPts val="1680"/>
              </a:spcBef>
              <a:buFont typeface="Arial MT"/>
              <a:buChar char="•"/>
              <a:tabLst>
                <a:tab pos="377825" algn="l"/>
                <a:tab pos="378460" algn="l"/>
              </a:tabLst>
            </a:pP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Same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FFFFFF"/>
                </a:solidFill>
                <a:latin typeface="Verdana"/>
                <a:cs typeface="Verdana"/>
              </a:rPr>
              <a:t>number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of </a:t>
            </a:r>
            <a:r>
              <a:rPr sz="2000" spc="-6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columns</a:t>
            </a:r>
            <a:endParaRPr sz="2000">
              <a:latin typeface="Verdana"/>
              <a:cs typeface="Verdana"/>
            </a:endParaRPr>
          </a:p>
          <a:p>
            <a:pPr marL="378460" marR="314960" indent="-365760">
              <a:lnSpc>
                <a:spcPct val="112999"/>
              </a:lnSpc>
              <a:spcBef>
                <a:spcPts val="1680"/>
              </a:spcBef>
              <a:buFont typeface="Arial MT"/>
              <a:buChar char="•"/>
              <a:tabLst>
                <a:tab pos="377825" algn="l"/>
                <a:tab pos="378460" algn="l"/>
              </a:tabLst>
            </a:pP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Same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order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of </a:t>
            </a:r>
            <a:r>
              <a:rPr sz="2000" spc="-6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columns</a:t>
            </a:r>
            <a:endParaRPr sz="2000">
              <a:latin typeface="Verdana"/>
              <a:cs typeface="Verdana"/>
            </a:endParaRPr>
          </a:p>
          <a:p>
            <a:pPr marL="378460" marR="405765" indent="-365760">
              <a:lnSpc>
                <a:spcPct val="108000"/>
              </a:lnSpc>
              <a:spcBef>
                <a:spcPts val="1800"/>
              </a:spcBef>
              <a:buFont typeface="Arial MT"/>
              <a:buChar char="•"/>
              <a:tabLst>
                <a:tab pos="377825" algn="l"/>
                <a:tab pos="378460" algn="l"/>
              </a:tabLst>
            </a:pP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Same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column </a:t>
            </a:r>
            <a:r>
              <a:rPr sz="2000" spc="-6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FFFFFF"/>
                </a:solidFill>
                <a:latin typeface="Verdana"/>
                <a:cs typeface="Verdana"/>
              </a:rPr>
              <a:t>types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0254" y="6807200"/>
            <a:ext cx="79165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talked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about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UNION</a:t>
            </a:r>
            <a:r>
              <a:rPr sz="2100" spc="-5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INTERSECT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.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Let’s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EXCEPT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2261" y="5421376"/>
            <a:ext cx="2138045" cy="99821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735" marR="11430" indent="-19050">
              <a:lnSpc>
                <a:spcPts val="1510"/>
              </a:lnSpc>
              <a:spcBef>
                <a:spcPts val="190"/>
              </a:spcBef>
            </a:pP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[not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supported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by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MySQL </a:t>
            </a:r>
            <a:r>
              <a:rPr sz="1300" spc="-4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5.6,</a:t>
            </a:r>
            <a:r>
              <a:rPr sz="13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5.7;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work</a:t>
            </a:r>
            <a:r>
              <a:rPr sz="13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3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MySQL</a:t>
            </a:r>
            <a:endParaRPr sz="1300">
              <a:latin typeface="Verdana"/>
              <a:cs typeface="Verdana"/>
            </a:endParaRPr>
          </a:p>
          <a:p>
            <a:pPr marL="12700" marR="5080" indent="44450">
              <a:lnSpc>
                <a:spcPts val="1510"/>
              </a:lnSpc>
              <a:spcBef>
                <a:spcPts val="75"/>
              </a:spcBef>
            </a:pP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8.0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(GCP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and CS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server) </a:t>
            </a:r>
            <a:r>
              <a:rPr sz="1300" spc="-4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3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local</a:t>
            </a:r>
            <a:r>
              <a:rPr sz="13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XAMPP</a:t>
            </a:r>
            <a:r>
              <a:rPr sz="13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10.4.11-</a:t>
            </a:r>
            <a:endParaRPr sz="1300">
              <a:latin typeface="Verdana"/>
              <a:cs typeface="Verdana"/>
            </a:endParaRPr>
          </a:p>
          <a:p>
            <a:pPr marL="688975">
              <a:lnSpc>
                <a:spcPts val="1450"/>
              </a:lnSpc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MariaDB]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39" y="341376"/>
            <a:ext cx="8778240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35" dirty="0"/>
              <a:t>E</a:t>
            </a:r>
            <a:r>
              <a:rPr sz="4100" spc="-145" dirty="0"/>
              <a:t>x</a:t>
            </a:r>
            <a:r>
              <a:rPr sz="4100" spc="-140" dirty="0"/>
              <a:t>a</a:t>
            </a:r>
            <a:r>
              <a:rPr sz="4100" spc="-155" dirty="0"/>
              <a:t>m</a:t>
            </a:r>
            <a:r>
              <a:rPr sz="4100" spc="-135" dirty="0"/>
              <a:t>p</a:t>
            </a:r>
            <a:r>
              <a:rPr sz="4100" spc="-125" dirty="0"/>
              <a:t>l</a:t>
            </a:r>
            <a:r>
              <a:rPr sz="4100" spc="-140" dirty="0"/>
              <a:t>e</a:t>
            </a:r>
            <a:r>
              <a:rPr sz="4100" dirty="0"/>
              <a:t>:</a:t>
            </a:r>
            <a:r>
              <a:rPr sz="4100" spc="-254" dirty="0"/>
              <a:t> </a:t>
            </a:r>
            <a:r>
              <a:rPr sz="4100" spc="-135" dirty="0"/>
              <a:t>L</a:t>
            </a:r>
            <a:r>
              <a:rPr sz="4100" spc="-140" dirty="0"/>
              <a:t>et</a:t>
            </a:r>
            <a:r>
              <a:rPr sz="4100" spc="-125" dirty="0"/>
              <a:t>’</a:t>
            </a:r>
            <a:r>
              <a:rPr sz="4100" dirty="0"/>
              <a:t>s</a:t>
            </a:r>
            <a:r>
              <a:rPr sz="4100" spc="-260" dirty="0"/>
              <a:t> </a:t>
            </a:r>
            <a:r>
              <a:rPr sz="4100" spc="-140" dirty="0"/>
              <a:t>So</a:t>
            </a:r>
            <a:r>
              <a:rPr sz="4100" spc="-125" dirty="0"/>
              <a:t>l</a:t>
            </a:r>
            <a:r>
              <a:rPr sz="4100" spc="-130" dirty="0"/>
              <a:t>v</a:t>
            </a:r>
            <a:r>
              <a:rPr sz="4100" dirty="0"/>
              <a:t>e</a:t>
            </a:r>
            <a:r>
              <a:rPr sz="4100" spc="-254" dirty="0"/>
              <a:t> </a:t>
            </a:r>
            <a:r>
              <a:rPr sz="4100" dirty="0"/>
              <a:t>A</a:t>
            </a:r>
            <a:r>
              <a:rPr sz="4100" spc="-265" dirty="0"/>
              <a:t> </a:t>
            </a:r>
            <a:r>
              <a:rPr sz="4100" spc="-140" dirty="0"/>
              <a:t>P</a:t>
            </a:r>
            <a:r>
              <a:rPr sz="4100" spc="-130" dirty="0"/>
              <a:t>r</a:t>
            </a:r>
            <a:r>
              <a:rPr sz="4100" spc="-140" dirty="0"/>
              <a:t>o</a:t>
            </a:r>
            <a:r>
              <a:rPr sz="4100" spc="-135" dirty="0"/>
              <a:t>b</a:t>
            </a:r>
            <a:r>
              <a:rPr sz="4100" spc="-125" dirty="0"/>
              <a:t>l</a:t>
            </a:r>
            <a:r>
              <a:rPr sz="4100" spc="-135" dirty="0"/>
              <a:t>e</a:t>
            </a:r>
            <a:r>
              <a:rPr sz="4100" dirty="0"/>
              <a:t>m</a:t>
            </a:r>
            <a:endParaRPr sz="4100"/>
          </a:p>
        </p:txBody>
      </p:sp>
      <p:sp>
        <p:nvSpPr>
          <p:cNvPr id="3" name="object 3"/>
          <p:cNvSpPr txBox="1"/>
          <p:nvPr/>
        </p:nvSpPr>
        <p:spPr>
          <a:xfrm>
            <a:off x="466757" y="1216659"/>
            <a:ext cx="9112885" cy="12750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380"/>
              </a:spcBef>
            </a:pP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22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schema.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2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IDs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2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names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customers </a:t>
            </a:r>
            <a:r>
              <a:rPr sz="2200" spc="-7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purchased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products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sold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7777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292934"/>
                </a:solidFill>
                <a:latin typeface="Verdana"/>
                <a:cs typeface="Verdana"/>
              </a:rPr>
              <a:t>only.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Do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 not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purchased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2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other 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companies.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11524" y="2853944"/>
            <a:ext cx="3799204" cy="633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">
              <a:lnSpc>
                <a:spcPts val="251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name,</a:t>
            </a:r>
            <a:r>
              <a:rPr sz="2100" spc="-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cid)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ts val="2270"/>
              </a:lnSpc>
            </a:pPr>
            <a:r>
              <a:rPr sz="1900" dirty="0">
                <a:solidFill>
                  <a:srgbClr val="7F7F7F"/>
                </a:solidFill>
                <a:latin typeface="Courier New"/>
                <a:cs typeface="Courier New"/>
              </a:rPr>
              <a:t>foreign</a:t>
            </a:r>
            <a:r>
              <a:rPr sz="1900" spc="-1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7F7F7F"/>
                </a:solidFill>
                <a:latin typeface="Courier New"/>
                <a:cs typeface="Courier New"/>
              </a:rPr>
              <a:t>key</a:t>
            </a:r>
            <a:r>
              <a:rPr sz="1900" spc="-1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7F7F7F"/>
                </a:solidFill>
                <a:latin typeface="Courier New"/>
                <a:cs typeface="Courier New"/>
              </a:rPr>
              <a:t>to </a:t>
            </a:r>
            <a:r>
              <a:rPr sz="1900" spc="5" dirty="0">
                <a:solidFill>
                  <a:srgbClr val="7F7F7F"/>
                </a:solidFill>
                <a:latin typeface="Courier New"/>
                <a:cs typeface="Courier New"/>
              </a:rPr>
              <a:t>Company.cid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070" y="2853944"/>
            <a:ext cx="1973580" cy="1019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7145" algn="r">
              <a:lnSpc>
                <a:spcPts val="251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Product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100" u="sng" spc="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pid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100">
              <a:latin typeface="Courier New"/>
              <a:cs typeface="Courier New"/>
            </a:endParaRPr>
          </a:p>
          <a:p>
            <a:pPr marR="5080" algn="r">
              <a:lnSpc>
                <a:spcPts val="2270"/>
              </a:lnSpc>
            </a:pPr>
            <a:r>
              <a:rPr sz="1900" dirty="0">
                <a:solidFill>
                  <a:srgbClr val="7F7F7F"/>
                </a:solidFill>
                <a:latin typeface="Courier New"/>
                <a:cs typeface="Courier New"/>
              </a:rPr>
              <a:t>--</a:t>
            </a:r>
            <a:r>
              <a:rPr sz="1900" spc="-3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7F7F7F"/>
                </a:solidFill>
                <a:latin typeface="Courier New"/>
                <a:cs typeface="Courier New"/>
              </a:rPr>
              <a:t>cid</a:t>
            </a:r>
            <a:r>
              <a:rPr sz="1900" spc="-3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7F7F7F"/>
                </a:solidFill>
                <a:latin typeface="Courier New"/>
                <a:cs typeface="Courier New"/>
              </a:rPr>
              <a:t>is</a:t>
            </a:r>
            <a:endParaRPr sz="1900">
              <a:latin typeface="Courier New"/>
              <a:cs typeface="Courier New"/>
            </a:endParaRPr>
          </a:p>
          <a:p>
            <a:pPr marR="17145" algn="r">
              <a:lnSpc>
                <a:spcPct val="100000"/>
              </a:lnSpc>
              <a:spcBef>
                <a:spcPts val="52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Company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100" u="sng" spc="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cid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18351" y="3527552"/>
            <a:ext cx="1963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cname,</a:t>
            </a:r>
            <a:r>
              <a:rPr sz="2100" spc="-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city)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1906" y="2854639"/>
            <a:ext cx="9332595" cy="2409825"/>
          </a:xfrm>
          <a:custGeom>
            <a:avLst/>
            <a:gdLst/>
            <a:ahLst/>
            <a:cxnLst/>
            <a:rect l="l" t="t" r="r" b="b"/>
            <a:pathLst>
              <a:path w="9332595" h="2409825">
                <a:moveTo>
                  <a:pt x="0" y="0"/>
                </a:moveTo>
                <a:lnTo>
                  <a:pt x="9332421" y="0"/>
                </a:lnTo>
                <a:lnTo>
                  <a:pt x="9332421" y="2409714"/>
                </a:lnTo>
                <a:lnTo>
                  <a:pt x="0" y="2409714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6757" y="3835399"/>
            <a:ext cx="9225915" cy="242951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58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Customer(</a:t>
            </a:r>
            <a:r>
              <a:rPr sz="21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custId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1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name,</a:t>
            </a:r>
            <a:r>
              <a:rPr sz="21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city)</a:t>
            </a:r>
            <a:endParaRPr sz="2100">
              <a:latin typeface="Courier New"/>
              <a:cs typeface="Courier New"/>
            </a:endParaRPr>
          </a:p>
          <a:p>
            <a:pPr marL="137795">
              <a:lnSpc>
                <a:spcPts val="2510"/>
              </a:lnSpc>
              <a:spcBef>
                <a:spcPts val="48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Purchase(</a:t>
            </a:r>
            <a:r>
              <a:rPr sz="21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purchase_date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100" spc="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pid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100" spc="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custId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100" spc="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quantity,</a:t>
            </a:r>
            <a:r>
              <a:rPr sz="2100" spc="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price)</a:t>
            </a:r>
            <a:endParaRPr sz="2100">
              <a:latin typeface="Courier New"/>
              <a:cs typeface="Courier New"/>
            </a:endParaRPr>
          </a:p>
          <a:p>
            <a:pPr marL="788035">
              <a:lnSpc>
                <a:spcPts val="2270"/>
              </a:lnSpc>
            </a:pPr>
            <a:r>
              <a:rPr sz="1900" dirty="0">
                <a:solidFill>
                  <a:srgbClr val="7F7F7F"/>
                </a:solidFill>
                <a:latin typeface="Courier New"/>
                <a:cs typeface="Courier New"/>
              </a:rPr>
              <a:t>--</a:t>
            </a:r>
            <a:r>
              <a:rPr sz="1900" spc="1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7F7F7F"/>
                </a:solidFill>
                <a:latin typeface="Courier New"/>
                <a:cs typeface="Courier New"/>
              </a:rPr>
              <a:t>pid</a:t>
            </a:r>
            <a:r>
              <a:rPr sz="1900" spc="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7F7F7F"/>
                </a:solidFill>
                <a:latin typeface="Courier New"/>
                <a:cs typeface="Courier New"/>
              </a:rPr>
              <a:t>is</a:t>
            </a:r>
            <a:r>
              <a:rPr sz="1900" spc="1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7F7F7F"/>
                </a:solidFill>
                <a:latin typeface="Courier New"/>
                <a:cs typeface="Courier New"/>
              </a:rPr>
              <a:t>foreign</a:t>
            </a:r>
            <a:r>
              <a:rPr sz="1900" spc="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7F7F7F"/>
                </a:solidFill>
                <a:latin typeface="Courier New"/>
                <a:cs typeface="Courier New"/>
              </a:rPr>
              <a:t>key</a:t>
            </a:r>
            <a:r>
              <a:rPr sz="1900" spc="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7F7F7F"/>
                </a:solidFill>
                <a:latin typeface="Courier New"/>
                <a:cs typeface="Courier New"/>
              </a:rPr>
              <a:t>to</a:t>
            </a:r>
            <a:r>
              <a:rPr sz="1900" spc="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7F7F7F"/>
                </a:solidFill>
                <a:latin typeface="Courier New"/>
                <a:cs typeface="Courier New"/>
              </a:rPr>
              <a:t>Product.pid,</a:t>
            </a:r>
            <a:endParaRPr sz="1900">
              <a:latin typeface="Courier New"/>
              <a:cs typeface="Courier New"/>
            </a:endParaRPr>
          </a:p>
          <a:p>
            <a:pPr marL="788035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solidFill>
                  <a:srgbClr val="7F7F7F"/>
                </a:solidFill>
                <a:latin typeface="Courier New"/>
                <a:cs typeface="Courier New"/>
              </a:rPr>
              <a:t>--</a:t>
            </a:r>
            <a:r>
              <a:rPr sz="1900" spc="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7F7F7F"/>
                </a:solidFill>
                <a:latin typeface="Courier New"/>
                <a:cs typeface="Courier New"/>
              </a:rPr>
              <a:t>custId</a:t>
            </a:r>
            <a:r>
              <a:rPr sz="1900" spc="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7F7F7F"/>
                </a:solidFill>
                <a:latin typeface="Courier New"/>
                <a:cs typeface="Courier New"/>
              </a:rPr>
              <a:t>is</a:t>
            </a:r>
            <a:r>
              <a:rPr sz="1900" spc="1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7F7F7F"/>
                </a:solidFill>
                <a:latin typeface="Courier New"/>
                <a:cs typeface="Courier New"/>
              </a:rPr>
              <a:t>foreign</a:t>
            </a:r>
            <a:r>
              <a:rPr sz="1900" spc="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7F7F7F"/>
                </a:solidFill>
                <a:latin typeface="Courier New"/>
                <a:cs typeface="Courier New"/>
              </a:rPr>
              <a:t>key</a:t>
            </a:r>
            <a:r>
              <a:rPr sz="1900" spc="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7F7F7F"/>
                </a:solidFill>
                <a:latin typeface="Courier New"/>
                <a:cs typeface="Courier New"/>
              </a:rPr>
              <a:t>to</a:t>
            </a:r>
            <a:r>
              <a:rPr sz="1900" spc="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7F7F7F"/>
                </a:solidFill>
                <a:latin typeface="Courier New"/>
                <a:cs typeface="Courier New"/>
              </a:rPr>
              <a:t>Customer.custId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Assume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customer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purchase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multiple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times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300" spc="15" dirty="0">
                <a:solidFill>
                  <a:srgbClr val="0048AA"/>
                </a:solidFill>
                <a:latin typeface="Verdana"/>
                <a:cs typeface="Verdana"/>
              </a:rPr>
              <a:t>How</a:t>
            </a:r>
            <a:r>
              <a:rPr sz="2300" spc="45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0048AA"/>
                </a:solidFill>
                <a:latin typeface="Verdana"/>
                <a:cs typeface="Verdana"/>
              </a:rPr>
              <a:t>should</a:t>
            </a:r>
            <a:r>
              <a:rPr sz="2300" spc="45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0048AA"/>
                </a:solidFill>
                <a:latin typeface="Verdana"/>
                <a:cs typeface="Verdana"/>
              </a:rPr>
              <a:t>we</a:t>
            </a:r>
            <a:r>
              <a:rPr sz="2300" spc="35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0048AA"/>
                </a:solidFill>
                <a:latin typeface="Verdana"/>
                <a:cs typeface="Verdana"/>
              </a:rPr>
              <a:t>solve</a:t>
            </a:r>
            <a:r>
              <a:rPr sz="2300" spc="45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0048AA"/>
                </a:solidFill>
                <a:latin typeface="Verdana"/>
                <a:cs typeface="Verdana"/>
              </a:rPr>
              <a:t>this</a:t>
            </a:r>
            <a:r>
              <a:rPr sz="2300" spc="35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0048AA"/>
                </a:solidFill>
                <a:latin typeface="Verdana"/>
                <a:cs typeface="Verdana"/>
              </a:rPr>
              <a:t>problem?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3247" y="2045207"/>
            <a:ext cx="4087367" cy="8412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54816" y="1385779"/>
            <a:ext cx="7277100" cy="150431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(sub-result1)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50">
              <a:latin typeface="Verdana"/>
              <a:cs typeface="Verdana"/>
            </a:endParaRPr>
          </a:p>
          <a:p>
            <a:pPr marL="33655">
              <a:lnSpc>
                <a:spcPct val="100000"/>
              </a:lnSpc>
              <a:tabLst>
                <a:tab pos="4726940" algn="l"/>
              </a:tabLst>
            </a:pPr>
            <a:r>
              <a:rPr sz="3450" spc="37" baseline="37439" dirty="0">
                <a:solidFill>
                  <a:srgbClr val="C00000"/>
                </a:solidFill>
                <a:latin typeface="Courier New"/>
                <a:cs typeface="Courier New"/>
              </a:rPr>
              <a:t>EXCEPT	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Set 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difference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(–)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(sub-result2)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920" y="1242211"/>
            <a:ext cx="9457690" cy="1931670"/>
          </a:xfrm>
          <a:custGeom>
            <a:avLst/>
            <a:gdLst/>
            <a:ahLst/>
            <a:cxnLst/>
            <a:rect l="l" t="t" r="r" b="b"/>
            <a:pathLst>
              <a:path w="9457690" h="1931670">
                <a:moveTo>
                  <a:pt x="9457575" y="0"/>
                </a:moveTo>
                <a:lnTo>
                  <a:pt x="0" y="0"/>
                </a:lnTo>
                <a:lnTo>
                  <a:pt x="0" y="1931593"/>
                </a:lnTo>
                <a:lnTo>
                  <a:pt x="9457575" y="1931593"/>
                </a:lnTo>
                <a:lnTo>
                  <a:pt x="94575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58576" y="2014728"/>
            <a:ext cx="530098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5" dirty="0">
                <a:solidFill>
                  <a:srgbClr val="0048AA"/>
                </a:solidFill>
                <a:latin typeface="Verdana"/>
                <a:cs typeface="Verdana"/>
              </a:rPr>
              <a:t>How</a:t>
            </a:r>
            <a:r>
              <a:rPr sz="2300" spc="45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0048AA"/>
                </a:solidFill>
                <a:latin typeface="Verdana"/>
                <a:cs typeface="Verdana"/>
              </a:rPr>
              <a:t>should</a:t>
            </a:r>
            <a:r>
              <a:rPr sz="2300" spc="45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0048AA"/>
                </a:solidFill>
                <a:latin typeface="Verdana"/>
                <a:cs typeface="Verdana"/>
              </a:rPr>
              <a:t>we</a:t>
            </a:r>
            <a:r>
              <a:rPr sz="2300" spc="40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0048AA"/>
                </a:solidFill>
                <a:latin typeface="Verdana"/>
                <a:cs typeface="Verdana"/>
              </a:rPr>
              <a:t>solve</a:t>
            </a:r>
            <a:r>
              <a:rPr sz="2300" spc="40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0048AA"/>
                </a:solidFill>
                <a:latin typeface="Verdana"/>
                <a:cs typeface="Verdana"/>
              </a:rPr>
              <a:t>this</a:t>
            </a:r>
            <a:r>
              <a:rPr sz="2300" spc="40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0048AA"/>
                </a:solidFill>
                <a:latin typeface="Verdana"/>
                <a:cs typeface="Verdana"/>
              </a:rPr>
              <a:t>problem?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2116" y="3977640"/>
            <a:ext cx="6210935" cy="1110615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(Find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purchased)</a:t>
            </a:r>
            <a:endParaRPr sz="2300">
              <a:latin typeface="Verdana"/>
              <a:cs typeface="Verdana"/>
            </a:endParaRPr>
          </a:p>
          <a:p>
            <a:pPr marL="71755">
              <a:lnSpc>
                <a:spcPct val="100000"/>
              </a:lnSpc>
              <a:spcBef>
                <a:spcPts val="1510"/>
              </a:spcBef>
            </a:pPr>
            <a:r>
              <a:rPr sz="2300" spc="30" dirty="0">
                <a:solidFill>
                  <a:srgbClr val="C00000"/>
                </a:solidFill>
                <a:latin typeface="Courier New"/>
                <a:cs typeface="Courier New"/>
              </a:rPr>
              <a:t>EXCEPT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5943" y="5349050"/>
            <a:ext cx="418465" cy="360045"/>
            <a:chOff x="775943" y="5349050"/>
            <a:chExt cx="418465" cy="360045"/>
          </a:xfrm>
        </p:grpSpPr>
        <p:sp>
          <p:nvSpPr>
            <p:cNvPr id="8" name="object 8"/>
            <p:cNvSpPr/>
            <p:nvPr/>
          </p:nvSpPr>
          <p:spPr>
            <a:xfrm>
              <a:off x="790037" y="5363143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247344" y="0"/>
                  </a:moveTo>
                  <a:lnTo>
                    <a:pt x="142799" y="0"/>
                  </a:lnTo>
                  <a:lnTo>
                    <a:pt x="52272" y="44430"/>
                  </a:lnTo>
                  <a:lnTo>
                    <a:pt x="0" y="121380"/>
                  </a:lnTo>
                  <a:lnTo>
                    <a:pt x="0" y="210242"/>
                  </a:lnTo>
                  <a:lnTo>
                    <a:pt x="52272" y="287191"/>
                  </a:lnTo>
                  <a:lnTo>
                    <a:pt x="142799" y="331622"/>
                  </a:lnTo>
                  <a:lnTo>
                    <a:pt x="247344" y="331622"/>
                  </a:lnTo>
                  <a:lnTo>
                    <a:pt x="337871" y="287191"/>
                  </a:lnTo>
                  <a:lnTo>
                    <a:pt x="390144" y="210242"/>
                  </a:lnTo>
                  <a:lnTo>
                    <a:pt x="390144" y="121380"/>
                  </a:lnTo>
                  <a:lnTo>
                    <a:pt x="337871" y="44430"/>
                  </a:lnTo>
                  <a:lnTo>
                    <a:pt x="24734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0037" y="5363143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12295" y="5300472"/>
            <a:ext cx="660400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2290" marR="5080" indent="-530225">
              <a:lnSpc>
                <a:spcPct val="105200"/>
              </a:lnSpc>
              <a:spcBef>
                <a:spcPts val="100"/>
              </a:spcBef>
              <a:tabLst>
                <a:tab pos="542290" algn="l"/>
              </a:tabLst>
            </a:pPr>
            <a:r>
              <a:rPr sz="2550" baseline="1633" dirty="0">
                <a:solidFill>
                  <a:srgbClr val="FFFFFF"/>
                </a:solidFill>
                <a:latin typeface="Arial MT"/>
                <a:cs typeface="Arial MT"/>
              </a:rPr>
              <a:t>2	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(Find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 customers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purchased </a:t>
            </a:r>
            <a:r>
              <a:rPr sz="2300" spc="-7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other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companies,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7777)</a:t>
            </a:r>
            <a:endParaRPr sz="23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62469" y="4164629"/>
            <a:ext cx="418465" cy="360045"/>
            <a:chOff x="762469" y="4164629"/>
            <a:chExt cx="418465" cy="360045"/>
          </a:xfrm>
        </p:grpSpPr>
        <p:sp>
          <p:nvSpPr>
            <p:cNvPr id="12" name="object 12"/>
            <p:cNvSpPr/>
            <p:nvPr/>
          </p:nvSpPr>
          <p:spPr>
            <a:xfrm>
              <a:off x="776563" y="4178722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247344" y="0"/>
                  </a:moveTo>
                  <a:lnTo>
                    <a:pt x="142799" y="0"/>
                  </a:lnTo>
                  <a:lnTo>
                    <a:pt x="52272" y="44430"/>
                  </a:lnTo>
                  <a:lnTo>
                    <a:pt x="0" y="121380"/>
                  </a:lnTo>
                  <a:lnTo>
                    <a:pt x="0" y="210242"/>
                  </a:lnTo>
                  <a:lnTo>
                    <a:pt x="52272" y="287191"/>
                  </a:lnTo>
                  <a:lnTo>
                    <a:pt x="142799" y="331622"/>
                  </a:lnTo>
                  <a:lnTo>
                    <a:pt x="247344" y="331622"/>
                  </a:lnTo>
                  <a:lnTo>
                    <a:pt x="337871" y="287191"/>
                  </a:lnTo>
                  <a:lnTo>
                    <a:pt x="390144" y="210242"/>
                  </a:lnTo>
                  <a:lnTo>
                    <a:pt x="390144" y="121380"/>
                  </a:lnTo>
                  <a:lnTo>
                    <a:pt x="337871" y="44430"/>
                  </a:lnTo>
                  <a:lnTo>
                    <a:pt x="24734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6563" y="4178722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98821" y="4200144"/>
            <a:ext cx="146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650239" y="341376"/>
            <a:ext cx="8778240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35" dirty="0"/>
              <a:t>E</a:t>
            </a:r>
            <a:r>
              <a:rPr sz="4100" spc="-145" dirty="0"/>
              <a:t>x</a:t>
            </a:r>
            <a:r>
              <a:rPr sz="4100" spc="-140" dirty="0"/>
              <a:t>a</a:t>
            </a:r>
            <a:r>
              <a:rPr sz="4100" spc="-155" dirty="0"/>
              <a:t>m</a:t>
            </a:r>
            <a:r>
              <a:rPr sz="4100" spc="-135" dirty="0"/>
              <a:t>p</a:t>
            </a:r>
            <a:r>
              <a:rPr sz="4100" spc="-125" dirty="0"/>
              <a:t>l</a:t>
            </a:r>
            <a:r>
              <a:rPr sz="4100" spc="-140" dirty="0"/>
              <a:t>e</a:t>
            </a:r>
            <a:r>
              <a:rPr sz="4100" dirty="0"/>
              <a:t>:</a:t>
            </a:r>
            <a:r>
              <a:rPr sz="4100" spc="-254" dirty="0"/>
              <a:t> </a:t>
            </a:r>
            <a:r>
              <a:rPr sz="4100" spc="-135" dirty="0"/>
              <a:t>L</a:t>
            </a:r>
            <a:r>
              <a:rPr sz="4100" spc="-140" dirty="0"/>
              <a:t>et</a:t>
            </a:r>
            <a:r>
              <a:rPr sz="4100" spc="-125" dirty="0"/>
              <a:t>’</a:t>
            </a:r>
            <a:r>
              <a:rPr sz="4100" dirty="0"/>
              <a:t>s</a:t>
            </a:r>
            <a:r>
              <a:rPr sz="4100" spc="-260" dirty="0"/>
              <a:t> </a:t>
            </a:r>
            <a:r>
              <a:rPr sz="4100" spc="-140" dirty="0"/>
              <a:t>So</a:t>
            </a:r>
            <a:r>
              <a:rPr sz="4100" spc="-125" dirty="0"/>
              <a:t>l</a:t>
            </a:r>
            <a:r>
              <a:rPr sz="4100" spc="-130" dirty="0"/>
              <a:t>v</a:t>
            </a:r>
            <a:r>
              <a:rPr sz="4100" dirty="0"/>
              <a:t>e</a:t>
            </a:r>
            <a:r>
              <a:rPr sz="4100" spc="-254" dirty="0"/>
              <a:t> </a:t>
            </a:r>
            <a:r>
              <a:rPr sz="4100" dirty="0"/>
              <a:t>A</a:t>
            </a:r>
            <a:r>
              <a:rPr sz="4100" spc="-265" dirty="0"/>
              <a:t> </a:t>
            </a:r>
            <a:r>
              <a:rPr sz="4100" spc="-140" dirty="0"/>
              <a:t>P</a:t>
            </a:r>
            <a:r>
              <a:rPr sz="4100" spc="-130" dirty="0"/>
              <a:t>r</a:t>
            </a:r>
            <a:r>
              <a:rPr sz="4100" spc="-140" dirty="0"/>
              <a:t>o</a:t>
            </a:r>
            <a:r>
              <a:rPr sz="4100" spc="-135" dirty="0"/>
              <a:t>b</a:t>
            </a:r>
            <a:r>
              <a:rPr sz="4100" spc="-125" dirty="0"/>
              <a:t>l</a:t>
            </a:r>
            <a:r>
              <a:rPr sz="4100" spc="-135" dirty="0"/>
              <a:t>e</a:t>
            </a:r>
            <a:r>
              <a:rPr sz="4100" dirty="0"/>
              <a:t>m</a:t>
            </a:r>
            <a:endParaRPr sz="4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2116" y="1051560"/>
            <a:ext cx="6210935" cy="1110615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(Find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purchased)</a:t>
            </a:r>
            <a:endParaRPr sz="2300">
              <a:latin typeface="Verdana"/>
              <a:cs typeface="Verdana"/>
            </a:endParaRPr>
          </a:p>
          <a:p>
            <a:pPr marL="71755">
              <a:lnSpc>
                <a:spcPct val="100000"/>
              </a:lnSpc>
              <a:spcBef>
                <a:spcPts val="1515"/>
              </a:spcBef>
            </a:pPr>
            <a:r>
              <a:rPr sz="2300" spc="30" dirty="0">
                <a:solidFill>
                  <a:srgbClr val="C00000"/>
                </a:solidFill>
                <a:latin typeface="Courier New"/>
                <a:cs typeface="Courier New"/>
              </a:rPr>
              <a:t>EXCEPT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5666" y="2374391"/>
            <a:ext cx="6310630" cy="1483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920" marR="5080">
              <a:lnSpc>
                <a:spcPct val="105200"/>
              </a:lnSpc>
              <a:spcBef>
                <a:spcPts val="100"/>
              </a:spcBef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(Find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 customers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purchased </a:t>
            </a:r>
            <a:r>
              <a:rPr sz="2300" spc="-7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other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companies,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7777)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2863850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(sub-result1)	(sub-result2)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70381" y="3916610"/>
            <a:ext cx="2243455" cy="2693035"/>
            <a:chOff x="1070381" y="3916610"/>
            <a:chExt cx="2243455" cy="26930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2410" y="3926770"/>
              <a:ext cx="1975672" cy="26724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27330" y="3921690"/>
              <a:ext cx="2018664" cy="2682875"/>
            </a:xfrm>
            <a:custGeom>
              <a:avLst/>
              <a:gdLst/>
              <a:ahLst/>
              <a:cxnLst/>
              <a:rect l="l" t="t" r="r" b="b"/>
              <a:pathLst>
                <a:path w="2018664" h="2682875">
                  <a:moveTo>
                    <a:pt x="0" y="0"/>
                  </a:moveTo>
                  <a:lnTo>
                    <a:pt x="2018623" y="0"/>
                  </a:lnTo>
                  <a:lnTo>
                    <a:pt x="2018623" y="2682646"/>
                  </a:lnTo>
                  <a:lnTo>
                    <a:pt x="0" y="2682646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70381" y="4680894"/>
              <a:ext cx="2243455" cy="0"/>
            </a:xfrm>
            <a:custGeom>
              <a:avLst/>
              <a:gdLst/>
              <a:ahLst/>
              <a:cxnLst/>
              <a:rect l="l" t="t" r="r" b="b"/>
              <a:pathLst>
                <a:path w="2243454">
                  <a:moveTo>
                    <a:pt x="0" y="0"/>
                  </a:moveTo>
                  <a:lnTo>
                    <a:pt x="2243327" y="1"/>
                  </a:lnTo>
                </a:path>
              </a:pathLst>
            </a:custGeom>
            <a:ln w="3047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70381" y="4991672"/>
              <a:ext cx="2243455" cy="0"/>
            </a:xfrm>
            <a:custGeom>
              <a:avLst/>
              <a:gdLst/>
              <a:ahLst/>
              <a:cxnLst/>
              <a:rect l="l" t="t" r="r" b="b"/>
              <a:pathLst>
                <a:path w="2243454">
                  <a:moveTo>
                    <a:pt x="0" y="0"/>
                  </a:moveTo>
                  <a:lnTo>
                    <a:pt x="2243327" y="1"/>
                  </a:lnTo>
                </a:path>
              </a:pathLst>
            </a:custGeom>
            <a:ln w="3047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70381" y="5254637"/>
              <a:ext cx="2243455" cy="0"/>
            </a:xfrm>
            <a:custGeom>
              <a:avLst/>
              <a:gdLst/>
              <a:ahLst/>
              <a:cxnLst/>
              <a:rect l="l" t="t" r="r" b="b"/>
              <a:pathLst>
                <a:path w="2243454">
                  <a:moveTo>
                    <a:pt x="0" y="0"/>
                  </a:moveTo>
                  <a:lnTo>
                    <a:pt x="2243327" y="1"/>
                  </a:lnTo>
                </a:path>
              </a:pathLst>
            </a:custGeom>
            <a:ln w="3047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70381" y="5574974"/>
              <a:ext cx="2243455" cy="0"/>
            </a:xfrm>
            <a:custGeom>
              <a:avLst/>
              <a:gdLst/>
              <a:ahLst/>
              <a:cxnLst/>
              <a:rect l="l" t="t" r="r" b="b"/>
              <a:pathLst>
                <a:path w="2243454">
                  <a:moveTo>
                    <a:pt x="0" y="0"/>
                  </a:moveTo>
                  <a:lnTo>
                    <a:pt x="2243327" y="1"/>
                  </a:lnTo>
                </a:path>
              </a:pathLst>
            </a:custGeom>
            <a:ln w="3047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70381" y="5857063"/>
              <a:ext cx="2243455" cy="0"/>
            </a:xfrm>
            <a:custGeom>
              <a:avLst/>
              <a:gdLst/>
              <a:ahLst/>
              <a:cxnLst/>
              <a:rect l="l" t="t" r="r" b="b"/>
              <a:pathLst>
                <a:path w="2243454">
                  <a:moveTo>
                    <a:pt x="0" y="0"/>
                  </a:moveTo>
                  <a:lnTo>
                    <a:pt x="2243327" y="1"/>
                  </a:lnTo>
                </a:path>
              </a:pathLst>
            </a:custGeom>
            <a:ln w="3047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70381" y="6430806"/>
              <a:ext cx="2243455" cy="0"/>
            </a:xfrm>
            <a:custGeom>
              <a:avLst/>
              <a:gdLst/>
              <a:ahLst/>
              <a:cxnLst/>
              <a:rect l="l" t="t" r="r" b="b"/>
              <a:pathLst>
                <a:path w="2243454">
                  <a:moveTo>
                    <a:pt x="0" y="0"/>
                  </a:moveTo>
                  <a:lnTo>
                    <a:pt x="2243327" y="1"/>
                  </a:lnTo>
                </a:path>
              </a:pathLst>
            </a:custGeom>
            <a:ln w="3047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963966" y="4249116"/>
            <a:ext cx="2019300" cy="937260"/>
            <a:chOff x="6963966" y="4249116"/>
            <a:chExt cx="2019300" cy="93726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4126" y="4259276"/>
              <a:ext cx="1998874" cy="91683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969046" y="4254196"/>
              <a:ext cx="2009139" cy="927100"/>
            </a:xfrm>
            <a:custGeom>
              <a:avLst/>
              <a:gdLst/>
              <a:ahLst/>
              <a:cxnLst/>
              <a:rect l="l" t="t" r="r" b="b"/>
              <a:pathLst>
                <a:path w="2009140" h="927100">
                  <a:moveTo>
                    <a:pt x="0" y="0"/>
                  </a:moveTo>
                  <a:lnTo>
                    <a:pt x="2009034" y="0"/>
                  </a:lnTo>
                  <a:lnTo>
                    <a:pt x="2009034" y="926998"/>
                  </a:lnTo>
                  <a:lnTo>
                    <a:pt x="0" y="926998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511064" y="4504435"/>
            <a:ext cx="31889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63850" algn="l"/>
              </a:tabLst>
            </a:pPr>
            <a:r>
              <a:rPr sz="3000" dirty="0">
                <a:solidFill>
                  <a:srgbClr val="292934"/>
                </a:solidFill>
                <a:latin typeface="Verdana"/>
                <a:cs typeface="Verdana"/>
              </a:rPr>
              <a:t>–	=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048692" y="3916610"/>
            <a:ext cx="2053589" cy="1507490"/>
            <a:chOff x="4048692" y="3916610"/>
            <a:chExt cx="2053589" cy="150749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58852" y="3926770"/>
              <a:ext cx="2033145" cy="148705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053772" y="3921690"/>
              <a:ext cx="2043430" cy="1497330"/>
            </a:xfrm>
            <a:custGeom>
              <a:avLst/>
              <a:gdLst/>
              <a:ahLst/>
              <a:cxnLst/>
              <a:rect l="l" t="t" r="r" b="b"/>
              <a:pathLst>
                <a:path w="2043429" h="1497329">
                  <a:moveTo>
                    <a:pt x="0" y="0"/>
                  </a:moveTo>
                  <a:lnTo>
                    <a:pt x="2043305" y="0"/>
                  </a:lnTo>
                  <a:lnTo>
                    <a:pt x="2043305" y="1497212"/>
                  </a:lnTo>
                  <a:lnTo>
                    <a:pt x="0" y="1497212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397086" y="332231"/>
            <a:ext cx="9271000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45" dirty="0"/>
              <a:t>U</a:t>
            </a:r>
            <a:r>
              <a:rPr sz="4100" spc="-140" dirty="0"/>
              <a:t>s</a:t>
            </a:r>
            <a:r>
              <a:rPr sz="4100" dirty="0"/>
              <a:t>e</a:t>
            </a:r>
            <a:r>
              <a:rPr sz="4100" spc="-260" dirty="0"/>
              <a:t> </a:t>
            </a:r>
            <a:r>
              <a:rPr sz="4100" spc="-135" dirty="0"/>
              <a:t>E</a:t>
            </a:r>
            <a:r>
              <a:rPr sz="4100" spc="-150" dirty="0"/>
              <a:t>X</a:t>
            </a:r>
            <a:r>
              <a:rPr sz="4100" spc="-145" dirty="0"/>
              <a:t>C</a:t>
            </a:r>
            <a:r>
              <a:rPr sz="4100" spc="-135" dirty="0"/>
              <a:t>E</a:t>
            </a:r>
            <a:r>
              <a:rPr sz="4100" spc="-140" dirty="0"/>
              <a:t>P</a:t>
            </a:r>
            <a:r>
              <a:rPr sz="4100" dirty="0"/>
              <a:t>T</a:t>
            </a:r>
            <a:r>
              <a:rPr sz="4100" spc="-265" dirty="0"/>
              <a:t> </a:t>
            </a:r>
            <a:r>
              <a:rPr sz="4100" spc="-135" dirty="0"/>
              <a:t>t</a:t>
            </a:r>
            <a:r>
              <a:rPr sz="4100" dirty="0"/>
              <a:t>o</a:t>
            </a:r>
            <a:r>
              <a:rPr sz="4100" spc="-254" dirty="0"/>
              <a:t> </a:t>
            </a:r>
            <a:r>
              <a:rPr sz="4100" spc="-145" dirty="0"/>
              <a:t>S</a:t>
            </a:r>
            <a:r>
              <a:rPr sz="4100" spc="-135" dirty="0"/>
              <a:t>o</a:t>
            </a:r>
            <a:r>
              <a:rPr sz="4100" spc="-125" dirty="0"/>
              <a:t>l</a:t>
            </a:r>
            <a:r>
              <a:rPr sz="4100" spc="-130" dirty="0"/>
              <a:t>v</a:t>
            </a:r>
            <a:r>
              <a:rPr sz="4100" dirty="0"/>
              <a:t>e</a:t>
            </a:r>
            <a:r>
              <a:rPr sz="4100" spc="-270" dirty="0"/>
              <a:t> </a:t>
            </a:r>
            <a:r>
              <a:rPr sz="4100" spc="-135" dirty="0"/>
              <a:t>th</a:t>
            </a:r>
            <a:r>
              <a:rPr sz="4100" dirty="0"/>
              <a:t>e</a:t>
            </a:r>
            <a:r>
              <a:rPr sz="4100" spc="-260" dirty="0"/>
              <a:t> </a:t>
            </a:r>
            <a:r>
              <a:rPr sz="4100" spc="-140" dirty="0"/>
              <a:t>P</a:t>
            </a:r>
            <a:r>
              <a:rPr sz="4100" spc="-135" dirty="0"/>
              <a:t>rob</a:t>
            </a:r>
            <a:r>
              <a:rPr sz="4100" spc="-125" dirty="0"/>
              <a:t>l</a:t>
            </a:r>
            <a:r>
              <a:rPr sz="4100" spc="-140" dirty="0"/>
              <a:t>em</a:t>
            </a:r>
            <a:endParaRPr sz="4100"/>
          </a:p>
        </p:txBody>
      </p:sp>
      <p:sp>
        <p:nvSpPr>
          <p:cNvPr id="21" name="object 21"/>
          <p:cNvSpPr txBox="1"/>
          <p:nvPr/>
        </p:nvSpPr>
        <p:spPr>
          <a:xfrm>
            <a:off x="6983476" y="3860291"/>
            <a:ext cx="15379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ff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nc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75943" y="2422971"/>
            <a:ext cx="418465" cy="360045"/>
            <a:chOff x="775943" y="2422971"/>
            <a:chExt cx="418465" cy="360045"/>
          </a:xfrm>
        </p:grpSpPr>
        <p:sp>
          <p:nvSpPr>
            <p:cNvPr id="23" name="object 23"/>
            <p:cNvSpPr/>
            <p:nvPr/>
          </p:nvSpPr>
          <p:spPr>
            <a:xfrm>
              <a:off x="790037" y="2437065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5">
                  <a:moveTo>
                    <a:pt x="247344" y="0"/>
                  </a:moveTo>
                  <a:lnTo>
                    <a:pt x="142799" y="0"/>
                  </a:lnTo>
                  <a:lnTo>
                    <a:pt x="52272" y="44430"/>
                  </a:lnTo>
                  <a:lnTo>
                    <a:pt x="0" y="121380"/>
                  </a:lnTo>
                  <a:lnTo>
                    <a:pt x="0" y="210242"/>
                  </a:lnTo>
                  <a:lnTo>
                    <a:pt x="52272" y="287191"/>
                  </a:lnTo>
                  <a:lnTo>
                    <a:pt x="142799" y="331622"/>
                  </a:lnTo>
                  <a:lnTo>
                    <a:pt x="247344" y="331622"/>
                  </a:lnTo>
                  <a:lnTo>
                    <a:pt x="337871" y="287191"/>
                  </a:lnTo>
                  <a:lnTo>
                    <a:pt x="390144" y="210242"/>
                  </a:lnTo>
                  <a:lnTo>
                    <a:pt x="390144" y="121380"/>
                  </a:lnTo>
                  <a:lnTo>
                    <a:pt x="337871" y="44430"/>
                  </a:lnTo>
                  <a:lnTo>
                    <a:pt x="24734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90037" y="2437065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5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12295" y="2459735"/>
            <a:ext cx="146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62469" y="1295923"/>
            <a:ext cx="418465" cy="360045"/>
            <a:chOff x="762469" y="1295923"/>
            <a:chExt cx="418465" cy="360045"/>
          </a:xfrm>
        </p:grpSpPr>
        <p:sp>
          <p:nvSpPr>
            <p:cNvPr id="27" name="object 27"/>
            <p:cNvSpPr/>
            <p:nvPr/>
          </p:nvSpPr>
          <p:spPr>
            <a:xfrm>
              <a:off x="776563" y="1310016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5">
                  <a:moveTo>
                    <a:pt x="247344" y="0"/>
                  </a:moveTo>
                  <a:lnTo>
                    <a:pt x="142799" y="0"/>
                  </a:lnTo>
                  <a:lnTo>
                    <a:pt x="52272" y="44432"/>
                  </a:lnTo>
                  <a:lnTo>
                    <a:pt x="0" y="121380"/>
                  </a:lnTo>
                  <a:lnTo>
                    <a:pt x="0" y="210243"/>
                  </a:lnTo>
                  <a:lnTo>
                    <a:pt x="52272" y="287191"/>
                  </a:lnTo>
                  <a:lnTo>
                    <a:pt x="142799" y="331622"/>
                  </a:lnTo>
                  <a:lnTo>
                    <a:pt x="247344" y="331622"/>
                  </a:lnTo>
                  <a:lnTo>
                    <a:pt x="337871" y="287191"/>
                  </a:lnTo>
                  <a:lnTo>
                    <a:pt x="390144" y="210243"/>
                  </a:lnTo>
                  <a:lnTo>
                    <a:pt x="390144" y="121380"/>
                  </a:lnTo>
                  <a:lnTo>
                    <a:pt x="337871" y="44432"/>
                  </a:lnTo>
                  <a:lnTo>
                    <a:pt x="24734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76563" y="1310016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5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98821" y="1331976"/>
            <a:ext cx="146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91005" y="1630490"/>
            <a:ext cx="8319134" cy="1383665"/>
            <a:chOff x="1291005" y="1630490"/>
            <a:chExt cx="8319134" cy="1383665"/>
          </a:xfrm>
        </p:grpSpPr>
        <p:sp>
          <p:nvSpPr>
            <p:cNvPr id="3" name="object 3"/>
            <p:cNvSpPr/>
            <p:nvPr/>
          </p:nvSpPr>
          <p:spPr>
            <a:xfrm>
              <a:off x="1305099" y="1644584"/>
              <a:ext cx="8290559" cy="1355090"/>
            </a:xfrm>
            <a:custGeom>
              <a:avLst/>
              <a:gdLst/>
              <a:ahLst/>
              <a:cxnLst/>
              <a:rect l="l" t="t" r="r" b="b"/>
              <a:pathLst>
                <a:path w="8290559" h="1355089">
                  <a:moveTo>
                    <a:pt x="8120604" y="335231"/>
                  </a:moveTo>
                  <a:lnTo>
                    <a:pt x="169953" y="335231"/>
                  </a:lnTo>
                  <a:lnTo>
                    <a:pt x="124773" y="341302"/>
                  </a:lnTo>
                  <a:lnTo>
                    <a:pt x="84174" y="358435"/>
                  </a:lnTo>
                  <a:lnTo>
                    <a:pt x="49778" y="385010"/>
                  </a:lnTo>
                  <a:lnTo>
                    <a:pt x="23203" y="419407"/>
                  </a:lnTo>
                  <a:lnTo>
                    <a:pt x="6070" y="460006"/>
                  </a:lnTo>
                  <a:lnTo>
                    <a:pt x="1" y="505178"/>
                  </a:lnTo>
                  <a:lnTo>
                    <a:pt x="0" y="1184970"/>
                  </a:lnTo>
                  <a:lnTo>
                    <a:pt x="6070" y="1230151"/>
                  </a:lnTo>
                  <a:lnTo>
                    <a:pt x="23203" y="1270750"/>
                  </a:lnTo>
                  <a:lnTo>
                    <a:pt x="49778" y="1305147"/>
                  </a:lnTo>
                  <a:lnTo>
                    <a:pt x="84174" y="1331722"/>
                  </a:lnTo>
                  <a:lnTo>
                    <a:pt x="124773" y="1348855"/>
                  </a:lnTo>
                  <a:lnTo>
                    <a:pt x="169953" y="1354926"/>
                  </a:lnTo>
                  <a:lnTo>
                    <a:pt x="8120604" y="1354926"/>
                  </a:lnTo>
                  <a:lnTo>
                    <a:pt x="8165785" y="1348855"/>
                  </a:lnTo>
                  <a:lnTo>
                    <a:pt x="8206383" y="1331722"/>
                  </a:lnTo>
                  <a:lnTo>
                    <a:pt x="8240780" y="1305147"/>
                  </a:lnTo>
                  <a:lnTo>
                    <a:pt x="8267355" y="1270750"/>
                  </a:lnTo>
                  <a:lnTo>
                    <a:pt x="8284487" y="1230151"/>
                  </a:lnTo>
                  <a:lnTo>
                    <a:pt x="8290558" y="1184970"/>
                  </a:lnTo>
                  <a:lnTo>
                    <a:pt x="8290557" y="505178"/>
                  </a:lnTo>
                  <a:lnTo>
                    <a:pt x="8284487" y="460006"/>
                  </a:lnTo>
                  <a:lnTo>
                    <a:pt x="8267355" y="419407"/>
                  </a:lnTo>
                  <a:lnTo>
                    <a:pt x="8240780" y="385010"/>
                  </a:lnTo>
                  <a:lnTo>
                    <a:pt x="8206383" y="358435"/>
                  </a:lnTo>
                  <a:lnTo>
                    <a:pt x="8165785" y="341302"/>
                  </a:lnTo>
                  <a:lnTo>
                    <a:pt x="8120604" y="335231"/>
                  </a:lnTo>
                  <a:close/>
                </a:path>
                <a:path w="8290559" h="1355089">
                  <a:moveTo>
                    <a:pt x="1111346" y="0"/>
                  </a:moveTo>
                  <a:lnTo>
                    <a:pt x="1381760" y="335231"/>
                  </a:lnTo>
                  <a:lnTo>
                    <a:pt x="3454400" y="335231"/>
                  </a:lnTo>
                  <a:lnTo>
                    <a:pt x="1111346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05099" y="1644584"/>
              <a:ext cx="8290559" cy="1355090"/>
            </a:xfrm>
            <a:custGeom>
              <a:avLst/>
              <a:gdLst/>
              <a:ahLst/>
              <a:cxnLst/>
              <a:rect l="l" t="t" r="r" b="b"/>
              <a:pathLst>
                <a:path w="8290559" h="1355089">
                  <a:moveTo>
                    <a:pt x="0" y="505186"/>
                  </a:moveTo>
                  <a:lnTo>
                    <a:pt x="6070" y="460005"/>
                  </a:lnTo>
                  <a:lnTo>
                    <a:pt x="23203" y="419407"/>
                  </a:lnTo>
                  <a:lnTo>
                    <a:pt x="49778" y="385010"/>
                  </a:lnTo>
                  <a:lnTo>
                    <a:pt x="84175" y="358435"/>
                  </a:lnTo>
                  <a:lnTo>
                    <a:pt x="124773" y="341302"/>
                  </a:lnTo>
                  <a:lnTo>
                    <a:pt x="169954" y="335231"/>
                  </a:lnTo>
                  <a:lnTo>
                    <a:pt x="1381759" y="335231"/>
                  </a:lnTo>
                  <a:lnTo>
                    <a:pt x="1111347" y="0"/>
                  </a:lnTo>
                  <a:lnTo>
                    <a:pt x="3454399" y="335231"/>
                  </a:lnTo>
                  <a:lnTo>
                    <a:pt x="8120605" y="335231"/>
                  </a:lnTo>
                  <a:lnTo>
                    <a:pt x="8165786" y="341302"/>
                  </a:lnTo>
                  <a:lnTo>
                    <a:pt x="8206384" y="358435"/>
                  </a:lnTo>
                  <a:lnTo>
                    <a:pt x="8240781" y="385010"/>
                  </a:lnTo>
                  <a:lnTo>
                    <a:pt x="8267356" y="419407"/>
                  </a:lnTo>
                  <a:lnTo>
                    <a:pt x="8284488" y="460005"/>
                  </a:lnTo>
                  <a:lnTo>
                    <a:pt x="8290559" y="505186"/>
                  </a:lnTo>
                  <a:lnTo>
                    <a:pt x="8290559" y="760105"/>
                  </a:lnTo>
                  <a:lnTo>
                    <a:pt x="8290559" y="1184970"/>
                  </a:lnTo>
                  <a:lnTo>
                    <a:pt x="8284488" y="1230151"/>
                  </a:lnTo>
                  <a:lnTo>
                    <a:pt x="8267356" y="1270750"/>
                  </a:lnTo>
                  <a:lnTo>
                    <a:pt x="8240781" y="1305146"/>
                  </a:lnTo>
                  <a:lnTo>
                    <a:pt x="8206384" y="1331721"/>
                  </a:lnTo>
                  <a:lnTo>
                    <a:pt x="8165786" y="1348854"/>
                  </a:lnTo>
                  <a:lnTo>
                    <a:pt x="8120605" y="1354925"/>
                  </a:lnTo>
                  <a:lnTo>
                    <a:pt x="3454399" y="1354925"/>
                  </a:lnTo>
                  <a:lnTo>
                    <a:pt x="1381759" y="1354925"/>
                  </a:lnTo>
                  <a:lnTo>
                    <a:pt x="169954" y="1354925"/>
                  </a:lnTo>
                  <a:lnTo>
                    <a:pt x="124773" y="1348854"/>
                  </a:lnTo>
                  <a:lnTo>
                    <a:pt x="84175" y="1331721"/>
                  </a:lnTo>
                  <a:lnTo>
                    <a:pt x="49778" y="1305146"/>
                  </a:lnTo>
                  <a:lnTo>
                    <a:pt x="23203" y="1270750"/>
                  </a:lnTo>
                  <a:lnTo>
                    <a:pt x="6070" y="1230151"/>
                  </a:lnTo>
                  <a:lnTo>
                    <a:pt x="0" y="1184970"/>
                  </a:lnTo>
                  <a:lnTo>
                    <a:pt x="0" y="760105"/>
                  </a:lnTo>
                  <a:lnTo>
                    <a:pt x="0" y="505177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758607" y="2064511"/>
            <a:ext cx="7381875" cy="7874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which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FFFFFF"/>
                </a:solidFill>
                <a:latin typeface="Verdana"/>
                <a:cs typeface="Verdana"/>
              </a:rPr>
              <a:t>companies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customers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have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purchased.</a:t>
            </a:r>
            <a:endParaRPr sz="2100">
              <a:latin typeface="Verdana"/>
              <a:cs typeface="Verdana"/>
            </a:endParaRPr>
          </a:p>
          <a:p>
            <a:pPr marL="635" algn="ctr">
              <a:lnSpc>
                <a:spcPct val="100000"/>
              </a:lnSpc>
              <a:spcBef>
                <a:spcPts val="480"/>
              </a:spcBef>
            </a:pP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Then,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FFFFFF"/>
                </a:solidFill>
                <a:latin typeface="Verdana"/>
                <a:cs typeface="Verdana"/>
              </a:rPr>
              <a:t>names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customers</a:t>
            </a:r>
            <a:endParaRPr sz="2100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41746" y="3277523"/>
          <a:ext cx="9333228" cy="35631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0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6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57">
                <a:tc gridSpan="3"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2100" spc="10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SELECT</a:t>
                      </a:r>
                      <a:r>
                        <a:rPr sz="2100" spc="15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1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T1.custId,</a:t>
                      </a:r>
                      <a:r>
                        <a:rPr sz="2100" spc="1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T2.cid</a:t>
                      </a:r>
                      <a:endParaRPr sz="2100">
                        <a:latin typeface="Courier New"/>
                        <a:cs typeface="Courier New"/>
                      </a:endParaRPr>
                    </a:p>
                    <a:p>
                      <a:pPr marL="252729">
                        <a:lnSpc>
                          <a:spcPts val="2425"/>
                        </a:lnSpc>
                        <a:spcBef>
                          <a:spcPts val="480"/>
                        </a:spcBef>
                      </a:pPr>
                      <a:r>
                        <a:rPr sz="2100" spc="10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sz="2100" spc="30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1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Purchase</a:t>
                      </a:r>
                      <a:r>
                        <a:rPr sz="2100" spc="3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100" spc="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T1</a:t>
                      </a:r>
                      <a:r>
                        <a:rPr sz="2100" spc="4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100" spc="10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NATURAL</a:t>
                      </a:r>
                      <a:r>
                        <a:rPr sz="2100" spc="30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100" spc="10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JOIN</a:t>
                      </a:r>
                      <a:r>
                        <a:rPr sz="2100" spc="35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1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Product</a:t>
                      </a:r>
                      <a:r>
                        <a:rPr sz="2100" spc="3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100" spc="1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T2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121285" marB="0">
                    <a:lnL w="28575">
                      <a:solidFill>
                        <a:srgbClr val="7F7F7F"/>
                      </a:solidFill>
                      <a:prstDash val="solid"/>
                    </a:lnL>
                    <a:lnR w="28575">
                      <a:solidFill>
                        <a:srgbClr val="7F7F7F"/>
                      </a:solidFill>
                      <a:prstDash val="solid"/>
                    </a:lnR>
                    <a:lnT w="28575">
                      <a:solidFill>
                        <a:srgbClr val="7F7F7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580"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100" spc="10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GROUP</a:t>
                      </a:r>
                      <a:r>
                        <a:rPr sz="2100" spc="20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100" spc="5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BY</a:t>
                      </a:r>
                      <a:r>
                        <a:rPr sz="2100" spc="25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1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T1.custId,</a:t>
                      </a:r>
                      <a:r>
                        <a:rPr sz="2100" spc="2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100" spc="1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T2.cid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48260" marB="0">
                    <a:lnL w="28575">
                      <a:solidFill>
                        <a:srgbClr val="7F7F7F"/>
                      </a:solidFill>
                      <a:prstDash val="solid"/>
                    </a:lnL>
                    <a:lnR w="12700">
                      <a:solidFill>
                        <a:srgbClr val="7F7F7F"/>
                      </a:solidFill>
                      <a:prstDash val="solid"/>
                    </a:lnR>
                    <a:lnB w="2857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F7F7F"/>
                      </a:solidFill>
                      <a:prstDash val="solid"/>
                    </a:lnL>
                    <a:lnR w="12700">
                      <a:solidFill>
                        <a:srgbClr val="7F7F7F"/>
                      </a:solidFill>
                      <a:prstDash val="solid"/>
                    </a:lnR>
                    <a:lnT w="12700">
                      <a:solidFill>
                        <a:srgbClr val="7F7F7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F7F7F"/>
                      </a:solidFill>
                      <a:prstDash val="solid"/>
                    </a:lnL>
                    <a:lnR w="28575">
                      <a:solidFill>
                        <a:srgbClr val="7F7F7F"/>
                      </a:solidFill>
                      <a:prstDash val="solid"/>
                    </a:lnR>
                    <a:lnB w="28575">
                      <a:solidFill>
                        <a:srgbClr val="7F7F7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66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3087370" marR="1276985" algn="ctr">
                        <a:lnSpc>
                          <a:spcPct val="101099"/>
                        </a:lnSpc>
                      </a:pPr>
                      <a:r>
                        <a:rPr sz="1900" spc="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Got </a:t>
                      </a:r>
                      <a:r>
                        <a:rPr sz="190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all </a:t>
                      </a:r>
                      <a:r>
                        <a:rPr sz="1900" spc="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customers who </a:t>
                      </a:r>
                      <a:r>
                        <a:rPr sz="1900" spc="-65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900" spc="-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have</a:t>
                      </a:r>
                      <a:r>
                        <a:rPr sz="19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900" spc="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purchased.</a:t>
                      </a:r>
                      <a:endParaRPr sz="1900">
                        <a:latin typeface="Verdana"/>
                        <a:cs typeface="Verdana"/>
                      </a:endParaRPr>
                    </a:p>
                    <a:p>
                      <a:pPr marL="2975610" marR="1165225" indent="-635" algn="ctr">
                        <a:lnSpc>
                          <a:spcPct val="101099"/>
                        </a:lnSpc>
                        <a:spcBef>
                          <a:spcPts val="480"/>
                        </a:spcBef>
                      </a:pPr>
                      <a:r>
                        <a:rPr sz="1900" spc="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Still</a:t>
                      </a:r>
                      <a:r>
                        <a:rPr sz="19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need</a:t>
                      </a:r>
                      <a:r>
                        <a:rPr sz="19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900" spc="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9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900" spc="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find</a:t>
                      </a:r>
                      <a:r>
                        <a:rPr sz="19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900" spc="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the </a:t>
                      </a:r>
                      <a:r>
                        <a:rPr sz="19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900" spc="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names </a:t>
                      </a:r>
                      <a:r>
                        <a:rPr sz="190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sz="1900" spc="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the</a:t>
                      </a:r>
                      <a:r>
                        <a:rPr sz="19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900" spc="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customers</a:t>
                      </a:r>
                      <a:endParaRPr sz="19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12700">
                      <a:solidFill>
                        <a:srgbClr val="7F7F7F"/>
                      </a:solidFill>
                      <a:prstDash val="solid"/>
                    </a:lnR>
                    <a:lnT w="28575">
                      <a:solidFill>
                        <a:srgbClr val="7F7F7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F7F7F"/>
                      </a:solidFill>
                      <a:prstDash val="solid"/>
                    </a:lnL>
                    <a:lnR w="12700">
                      <a:solidFill>
                        <a:srgbClr val="7F7F7F"/>
                      </a:solidFill>
                      <a:prstDash val="solid"/>
                    </a:lnR>
                    <a:lnT w="28575">
                      <a:solidFill>
                        <a:srgbClr val="7F7F7F"/>
                      </a:solidFill>
                      <a:prstDash val="solid"/>
                    </a:lnT>
                    <a:lnB w="12700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F7F7F"/>
                      </a:solidFill>
                      <a:prstDash val="solid"/>
                    </a:lnL>
                    <a:lnT w="28575">
                      <a:solidFill>
                        <a:srgbClr val="7F7F7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7598" y="4115721"/>
            <a:ext cx="1916106" cy="273002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58139" y="376935"/>
            <a:ext cx="935418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60" dirty="0"/>
              <a:t>Use</a:t>
            </a:r>
            <a:r>
              <a:rPr sz="3700" spc="-185" dirty="0"/>
              <a:t> </a:t>
            </a:r>
            <a:r>
              <a:rPr sz="3700" spc="-75" dirty="0"/>
              <a:t>EXCEPT</a:t>
            </a:r>
            <a:r>
              <a:rPr sz="3700" spc="-175" dirty="0"/>
              <a:t> </a:t>
            </a:r>
            <a:r>
              <a:rPr sz="3700" spc="-45" dirty="0"/>
              <a:t>to</a:t>
            </a:r>
            <a:r>
              <a:rPr sz="3700" spc="-185" dirty="0"/>
              <a:t> </a:t>
            </a:r>
            <a:r>
              <a:rPr sz="3700" spc="-75" dirty="0"/>
              <a:t>Solve</a:t>
            </a:r>
            <a:r>
              <a:rPr sz="3700" spc="-175" dirty="0"/>
              <a:t> </a:t>
            </a:r>
            <a:r>
              <a:rPr sz="3700" spc="-60" dirty="0"/>
              <a:t>the</a:t>
            </a:r>
            <a:r>
              <a:rPr sz="3700" spc="-185" dirty="0"/>
              <a:t> </a:t>
            </a:r>
            <a:r>
              <a:rPr sz="3700" spc="-80" dirty="0"/>
              <a:t>Problem</a:t>
            </a:r>
            <a:r>
              <a:rPr sz="3700" spc="-140" dirty="0"/>
              <a:t> </a:t>
            </a:r>
            <a:r>
              <a:rPr sz="3700" b="0" spc="-65" dirty="0">
                <a:latin typeface="Verdana"/>
                <a:cs typeface="Verdana"/>
              </a:rPr>
              <a:t>(2)</a:t>
            </a:r>
            <a:endParaRPr sz="37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987887" y="5167806"/>
            <a:ext cx="4152265" cy="1539240"/>
            <a:chOff x="2987887" y="5167806"/>
            <a:chExt cx="4152265" cy="1539240"/>
          </a:xfrm>
        </p:grpSpPr>
        <p:sp>
          <p:nvSpPr>
            <p:cNvPr id="10" name="object 10"/>
            <p:cNvSpPr/>
            <p:nvPr/>
          </p:nvSpPr>
          <p:spPr>
            <a:xfrm>
              <a:off x="3001980" y="5181899"/>
              <a:ext cx="4124325" cy="1511300"/>
            </a:xfrm>
            <a:custGeom>
              <a:avLst/>
              <a:gdLst/>
              <a:ahLst/>
              <a:cxnLst/>
              <a:rect l="l" t="t" r="r" b="b"/>
              <a:pathLst>
                <a:path w="4124325" h="1511300">
                  <a:moveTo>
                    <a:pt x="3362754" y="0"/>
                  </a:moveTo>
                  <a:lnTo>
                    <a:pt x="251814" y="0"/>
                  </a:lnTo>
                  <a:lnTo>
                    <a:pt x="206550" y="4057"/>
                  </a:lnTo>
                  <a:lnTo>
                    <a:pt x="163948" y="15754"/>
                  </a:lnTo>
                  <a:lnTo>
                    <a:pt x="124719" y="34379"/>
                  </a:lnTo>
                  <a:lnTo>
                    <a:pt x="89573" y="59223"/>
                  </a:lnTo>
                  <a:lnTo>
                    <a:pt x="59223" y="89573"/>
                  </a:lnTo>
                  <a:lnTo>
                    <a:pt x="34380" y="124718"/>
                  </a:lnTo>
                  <a:lnTo>
                    <a:pt x="15754" y="163947"/>
                  </a:lnTo>
                  <a:lnTo>
                    <a:pt x="4057" y="206550"/>
                  </a:lnTo>
                  <a:lnTo>
                    <a:pt x="0" y="251810"/>
                  </a:lnTo>
                  <a:lnTo>
                    <a:pt x="0" y="1259037"/>
                  </a:lnTo>
                  <a:lnTo>
                    <a:pt x="4057" y="1304301"/>
                  </a:lnTo>
                  <a:lnTo>
                    <a:pt x="15754" y="1346903"/>
                  </a:lnTo>
                  <a:lnTo>
                    <a:pt x="34380" y="1386132"/>
                  </a:lnTo>
                  <a:lnTo>
                    <a:pt x="59223" y="1421278"/>
                  </a:lnTo>
                  <a:lnTo>
                    <a:pt x="89573" y="1451628"/>
                  </a:lnTo>
                  <a:lnTo>
                    <a:pt x="124719" y="1476471"/>
                  </a:lnTo>
                  <a:lnTo>
                    <a:pt x="163948" y="1495097"/>
                  </a:lnTo>
                  <a:lnTo>
                    <a:pt x="206550" y="1506794"/>
                  </a:lnTo>
                  <a:lnTo>
                    <a:pt x="251814" y="1510851"/>
                  </a:lnTo>
                  <a:lnTo>
                    <a:pt x="3362754" y="1510851"/>
                  </a:lnTo>
                  <a:lnTo>
                    <a:pt x="3408018" y="1506794"/>
                  </a:lnTo>
                  <a:lnTo>
                    <a:pt x="3450620" y="1495097"/>
                  </a:lnTo>
                  <a:lnTo>
                    <a:pt x="3489850" y="1476471"/>
                  </a:lnTo>
                  <a:lnTo>
                    <a:pt x="3524995" y="1451628"/>
                  </a:lnTo>
                  <a:lnTo>
                    <a:pt x="3555345" y="1421278"/>
                  </a:lnTo>
                  <a:lnTo>
                    <a:pt x="3580188" y="1386132"/>
                  </a:lnTo>
                  <a:lnTo>
                    <a:pt x="3598814" y="1346903"/>
                  </a:lnTo>
                  <a:lnTo>
                    <a:pt x="3610511" y="1304301"/>
                  </a:lnTo>
                  <a:lnTo>
                    <a:pt x="3614568" y="1259037"/>
                  </a:lnTo>
                  <a:lnTo>
                    <a:pt x="3614568" y="629522"/>
                  </a:lnTo>
                  <a:lnTo>
                    <a:pt x="3987938" y="251814"/>
                  </a:lnTo>
                  <a:lnTo>
                    <a:pt x="3614568" y="251810"/>
                  </a:lnTo>
                  <a:lnTo>
                    <a:pt x="3610511" y="206550"/>
                  </a:lnTo>
                  <a:lnTo>
                    <a:pt x="3598814" y="163947"/>
                  </a:lnTo>
                  <a:lnTo>
                    <a:pt x="3580188" y="124718"/>
                  </a:lnTo>
                  <a:lnTo>
                    <a:pt x="3555345" y="89573"/>
                  </a:lnTo>
                  <a:lnTo>
                    <a:pt x="3524995" y="59223"/>
                  </a:lnTo>
                  <a:lnTo>
                    <a:pt x="3489850" y="34379"/>
                  </a:lnTo>
                  <a:lnTo>
                    <a:pt x="3450620" y="15754"/>
                  </a:lnTo>
                  <a:lnTo>
                    <a:pt x="3408018" y="4057"/>
                  </a:lnTo>
                  <a:lnTo>
                    <a:pt x="3362754" y="0"/>
                  </a:lnTo>
                  <a:close/>
                </a:path>
                <a:path w="4124325" h="1511300">
                  <a:moveTo>
                    <a:pt x="4123968" y="114203"/>
                  </a:moveTo>
                  <a:lnTo>
                    <a:pt x="3614568" y="251814"/>
                  </a:lnTo>
                  <a:lnTo>
                    <a:pt x="3987941" y="251810"/>
                  </a:lnTo>
                  <a:lnTo>
                    <a:pt x="4123968" y="11420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01980" y="5181899"/>
              <a:ext cx="4124325" cy="1511300"/>
            </a:xfrm>
            <a:custGeom>
              <a:avLst/>
              <a:gdLst/>
              <a:ahLst/>
              <a:cxnLst/>
              <a:rect l="l" t="t" r="r" b="b"/>
              <a:pathLst>
                <a:path w="4124325" h="1511300">
                  <a:moveTo>
                    <a:pt x="0" y="251814"/>
                  </a:moveTo>
                  <a:lnTo>
                    <a:pt x="4057" y="206550"/>
                  </a:lnTo>
                  <a:lnTo>
                    <a:pt x="15754" y="163948"/>
                  </a:lnTo>
                  <a:lnTo>
                    <a:pt x="34380" y="124718"/>
                  </a:lnTo>
                  <a:lnTo>
                    <a:pt x="59223" y="89573"/>
                  </a:lnTo>
                  <a:lnTo>
                    <a:pt x="89573" y="59223"/>
                  </a:lnTo>
                  <a:lnTo>
                    <a:pt x="124718" y="34380"/>
                  </a:lnTo>
                  <a:lnTo>
                    <a:pt x="163948" y="15754"/>
                  </a:lnTo>
                  <a:lnTo>
                    <a:pt x="206550" y="4057"/>
                  </a:lnTo>
                  <a:lnTo>
                    <a:pt x="251814" y="0"/>
                  </a:lnTo>
                  <a:lnTo>
                    <a:pt x="2108498" y="0"/>
                  </a:lnTo>
                  <a:lnTo>
                    <a:pt x="3012140" y="0"/>
                  </a:lnTo>
                  <a:lnTo>
                    <a:pt x="3362754" y="0"/>
                  </a:lnTo>
                  <a:lnTo>
                    <a:pt x="3408017" y="4057"/>
                  </a:lnTo>
                  <a:lnTo>
                    <a:pt x="3450620" y="15754"/>
                  </a:lnTo>
                  <a:lnTo>
                    <a:pt x="3489849" y="34380"/>
                  </a:lnTo>
                  <a:lnTo>
                    <a:pt x="3524994" y="59223"/>
                  </a:lnTo>
                  <a:lnTo>
                    <a:pt x="3555344" y="89573"/>
                  </a:lnTo>
                  <a:lnTo>
                    <a:pt x="3580188" y="124718"/>
                  </a:lnTo>
                  <a:lnTo>
                    <a:pt x="3598814" y="163948"/>
                  </a:lnTo>
                  <a:lnTo>
                    <a:pt x="3610511" y="206550"/>
                  </a:lnTo>
                  <a:lnTo>
                    <a:pt x="3614568" y="251814"/>
                  </a:lnTo>
                  <a:lnTo>
                    <a:pt x="4123967" y="114204"/>
                  </a:lnTo>
                  <a:lnTo>
                    <a:pt x="3614568" y="629522"/>
                  </a:lnTo>
                  <a:lnTo>
                    <a:pt x="3614568" y="1259037"/>
                  </a:lnTo>
                  <a:lnTo>
                    <a:pt x="3610511" y="1304301"/>
                  </a:lnTo>
                  <a:lnTo>
                    <a:pt x="3598814" y="1346903"/>
                  </a:lnTo>
                  <a:lnTo>
                    <a:pt x="3580188" y="1386133"/>
                  </a:lnTo>
                  <a:lnTo>
                    <a:pt x="3555344" y="1421278"/>
                  </a:lnTo>
                  <a:lnTo>
                    <a:pt x="3524994" y="1451628"/>
                  </a:lnTo>
                  <a:lnTo>
                    <a:pt x="3489849" y="1476472"/>
                  </a:lnTo>
                  <a:lnTo>
                    <a:pt x="3450620" y="1495098"/>
                  </a:lnTo>
                  <a:lnTo>
                    <a:pt x="3408017" y="1506795"/>
                  </a:lnTo>
                  <a:lnTo>
                    <a:pt x="3362754" y="1510852"/>
                  </a:lnTo>
                  <a:lnTo>
                    <a:pt x="3012140" y="1510852"/>
                  </a:lnTo>
                  <a:lnTo>
                    <a:pt x="2108498" y="1510852"/>
                  </a:lnTo>
                  <a:lnTo>
                    <a:pt x="251814" y="1510852"/>
                  </a:lnTo>
                  <a:lnTo>
                    <a:pt x="206550" y="1506795"/>
                  </a:lnTo>
                  <a:lnTo>
                    <a:pt x="163948" y="1495098"/>
                  </a:lnTo>
                  <a:lnTo>
                    <a:pt x="124718" y="1476472"/>
                  </a:lnTo>
                  <a:lnTo>
                    <a:pt x="89573" y="1451628"/>
                  </a:lnTo>
                  <a:lnTo>
                    <a:pt x="59223" y="1421278"/>
                  </a:lnTo>
                  <a:lnTo>
                    <a:pt x="34380" y="1386133"/>
                  </a:lnTo>
                  <a:lnTo>
                    <a:pt x="15754" y="1346903"/>
                  </a:lnTo>
                  <a:lnTo>
                    <a:pt x="4057" y="1304301"/>
                  </a:lnTo>
                  <a:lnTo>
                    <a:pt x="0" y="1259037"/>
                  </a:lnTo>
                  <a:lnTo>
                    <a:pt x="0" y="629522"/>
                  </a:lnTo>
                  <a:lnTo>
                    <a:pt x="0" y="251810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62469" y="1276799"/>
            <a:ext cx="418465" cy="360045"/>
            <a:chOff x="762469" y="1276799"/>
            <a:chExt cx="418465" cy="360045"/>
          </a:xfrm>
        </p:grpSpPr>
        <p:sp>
          <p:nvSpPr>
            <p:cNvPr id="13" name="object 13"/>
            <p:cNvSpPr/>
            <p:nvPr/>
          </p:nvSpPr>
          <p:spPr>
            <a:xfrm>
              <a:off x="776563" y="1290892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5">
                  <a:moveTo>
                    <a:pt x="247344" y="0"/>
                  </a:moveTo>
                  <a:lnTo>
                    <a:pt x="142799" y="0"/>
                  </a:lnTo>
                  <a:lnTo>
                    <a:pt x="52272" y="44430"/>
                  </a:lnTo>
                  <a:lnTo>
                    <a:pt x="0" y="121378"/>
                  </a:lnTo>
                  <a:lnTo>
                    <a:pt x="0" y="210242"/>
                  </a:lnTo>
                  <a:lnTo>
                    <a:pt x="52272" y="287190"/>
                  </a:lnTo>
                  <a:lnTo>
                    <a:pt x="142799" y="331622"/>
                  </a:lnTo>
                  <a:lnTo>
                    <a:pt x="247344" y="331622"/>
                  </a:lnTo>
                  <a:lnTo>
                    <a:pt x="337871" y="287190"/>
                  </a:lnTo>
                  <a:lnTo>
                    <a:pt x="390144" y="210242"/>
                  </a:lnTo>
                  <a:lnTo>
                    <a:pt x="390144" y="121378"/>
                  </a:lnTo>
                  <a:lnTo>
                    <a:pt x="337871" y="44430"/>
                  </a:lnTo>
                  <a:lnTo>
                    <a:pt x="24734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6563" y="1290892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5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98821" y="1243584"/>
            <a:ext cx="675449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5625" algn="l"/>
              </a:tabLst>
            </a:pPr>
            <a:r>
              <a:rPr sz="2550" baseline="1633" dirty="0">
                <a:solidFill>
                  <a:srgbClr val="FFFFFF"/>
                </a:solidFill>
                <a:latin typeface="Arial MT"/>
                <a:cs typeface="Arial MT"/>
              </a:rPr>
              <a:t>1	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(Find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purchased)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19219" y="3813883"/>
            <a:ext cx="6656705" cy="1091565"/>
            <a:chOff x="1519219" y="3813883"/>
            <a:chExt cx="6656705" cy="1091565"/>
          </a:xfrm>
        </p:grpSpPr>
        <p:sp>
          <p:nvSpPr>
            <p:cNvPr id="3" name="object 3"/>
            <p:cNvSpPr/>
            <p:nvPr/>
          </p:nvSpPr>
          <p:spPr>
            <a:xfrm>
              <a:off x="1529379" y="3824043"/>
              <a:ext cx="6636384" cy="1071245"/>
            </a:xfrm>
            <a:custGeom>
              <a:avLst/>
              <a:gdLst/>
              <a:ahLst/>
              <a:cxnLst/>
              <a:rect l="l" t="t" r="r" b="b"/>
              <a:pathLst>
                <a:path w="6636384" h="1071245">
                  <a:moveTo>
                    <a:pt x="6636271" y="0"/>
                  </a:moveTo>
                  <a:lnTo>
                    <a:pt x="0" y="0"/>
                  </a:lnTo>
                  <a:lnTo>
                    <a:pt x="0" y="1070983"/>
                  </a:lnTo>
                  <a:lnTo>
                    <a:pt x="6636271" y="1070983"/>
                  </a:lnTo>
                  <a:lnTo>
                    <a:pt x="6636271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379" y="3824043"/>
              <a:ext cx="6636384" cy="1071245"/>
            </a:xfrm>
            <a:custGeom>
              <a:avLst/>
              <a:gdLst/>
              <a:ahLst/>
              <a:cxnLst/>
              <a:rect l="l" t="t" r="r" b="b"/>
              <a:pathLst>
                <a:path w="6636384" h="1071245">
                  <a:moveTo>
                    <a:pt x="0" y="0"/>
                  </a:moveTo>
                  <a:lnTo>
                    <a:pt x="6636272" y="0"/>
                  </a:lnTo>
                  <a:lnTo>
                    <a:pt x="6636272" y="1070983"/>
                  </a:lnTo>
                  <a:lnTo>
                    <a:pt x="0" y="1070983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291005" y="1630490"/>
            <a:ext cx="8319134" cy="1383665"/>
            <a:chOff x="1291005" y="1630490"/>
            <a:chExt cx="8319134" cy="1383665"/>
          </a:xfrm>
        </p:grpSpPr>
        <p:sp>
          <p:nvSpPr>
            <p:cNvPr id="6" name="object 6"/>
            <p:cNvSpPr/>
            <p:nvPr/>
          </p:nvSpPr>
          <p:spPr>
            <a:xfrm>
              <a:off x="1305099" y="1644584"/>
              <a:ext cx="8290559" cy="1355090"/>
            </a:xfrm>
            <a:custGeom>
              <a:avLst/>
              <a:gdLst/>
              <a:ahLst/>
              <a:cxnLst/>
              <a:rect l="l" t="t" r="r" b="b"/>
              <a:pathLst>
                <a:path w="8290559" h="1355089">
                  <a:moveTo>
                    <a:pt x="8120604" y="335231"/>
                  </a:moveTo>
                  <a:lnTo>
                    <a:pt x="169953" y="335231"/>
                  </a:lnTo>
                  <a:lnTo>
                    <a:pt x="124773" y="341302"/>
                  </a:lnTo>
                  <a:lnTo>
                    <a:pt x="84174" y="358435"/>
                  </a:lnTo>
                  <a:lnTo>
                    <a:pt x="49778" y="385010"/>
                  </a:lnTo>
                  <a:lnTo>
                    <a:pt x="23203" y="419407"/>
                  </a:lnTo>
                  <a:lnTo>
                    <a:pt x="6070" y="460006"/>
                  </a:lnTo>
                  <a:lnTo>
                    <a:pt x="1" y="505178"/>
                  </a:lnTo>
                  <a:lnTo>
                    <a:pt x="0" y="1184970"/>
                  </a:lnTo>
                  <a:lnTo>
                    <a:pt x="6070" y="1230151"/>
                  </a:lnTo>
                  <a:lnTo>
                    <a:pt x="23203" y="1270750"/>
                  </a:lnTo>
                  <a:lnTo>
                    <a:pt x="49778" y="1305147"/>
                  </a:lnTo>
                  <a:lnTo>
                    <a:pt x="84174" y="1331722"/>
                  </a:lnTo>
                  <a:lnTo>
                    <a:pt x="124773" y="1348855"/>
                  </a:lnTo>
                  <a:lnTo>
                    <a:pt x="169953" y="1354926"/>
                  </a:lnTo>
                  <a:lnTo>
                    <a:pt x="8120604" y="1354926"/>
                  </a:lnTo>
                  <a:lnTo>
                    <a:pt x="8165785" y="1348855"/>
                  </a:lnTo>
                  <a:lnTo>
                    <a:pt x="8206383" y="1331722"/>
                  </a:lnTo>
                  <a:lnTo>
                    <a:pt x="8240780" y="1305147"/>
                  </a:lnTo>
                  <a:lnTo>
                    <a:pt x="8267355" y="1270750"/>
                  </a:lnTo>
                  <a:lnTo>
                    <a:pt x="8284487" y="1230151"/>
                  </a:lnTo>
                  <a:lnTo>
                    <a:pt x="8290558" y="1184970"/>
                  </a:lnTo>
                  <a:lnTo>
                    <a:pt x="8290557" y="505178"/>
                  </a:lnTo>
                  <a:lnTo>
                    <a:pt x="8284487" y="460006"/>
                  </a:lnTo>
                  <a:lnTo>
                    <a:pt x="8267355" y="419407"/>
                  </a:lnTo>
                  <a:lnTo>
                    <a:pt x="8240780" y="385010"/>
                  </a:lnTo>
                  <a:lnTo>
                    <a:pt x="8206383" y="358435"/>
                  </a:lnTo>
                  <a:lnTo>
                    <a:pt x="8165785" y="341302"/>
                  </a:lnTo>
                  <a:lnTo>
                    <a:pt x="8120604" y="335231"/>
                  </a:lnTo>
                  <a:close/>
                </a:path>
                <a:path w="8290559" h="1355089">
                  <a:moveTo>
                    <a:pt x="1111346" y="0"/>
                  </a:moveTo>
                  <a:lnTo>
                    <a:pt x="1381760" y="335231"/>
                  </a:lnTo>
                  <a:lnTo>
                    <a:pt x="3454400" y="335231"/>
                  </a:lnTo>
                  <a:lnTo>
                    <a:pt x="1111346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05099" y="1644584"/>
              <a:ext cx="8290559" cy="1355090"/>
            </a:xfrm>
            <a:custGeom>
              <a:avLst/>
              <a:gdLst/>
              <a:ahLst/>
              <a:cxnLst/>
              <a:rect l="l" t="t" r="r" b="b"/>
              <a:pathLst>
                <a:path w="8290559" h="1355089">
                  <a:moveTo>
                    <a:pt x="0" y="505186"/>
                  </a:moveTo>
                  <a:lnTo>
                    <a:pt x="6070" y="460005"/>
                  </a:lnTo>
                  <a:lnTo>
                    <a:pt x="23203" y="419407"/>
                  </a:lnTo>
                  <a:lnTo>
                    <a:pt x="49778" y="385010"/>
                  </a:lnTo>
                  <a:lnTo>
                    <a:pt x="84175" y="358435"/>
                  </a:lnTo>
                  <a:lnTo>
                    <a:pt x="124773" y="341302"/>
                  </a:lnTo>
                  <a:lnTo>
                    <a:pt x="169954" y="335231"/>
                  </a:lnTo>
                  <a:lnTo>
                    <a:pt x="1381759" y="335231"/>
                  </a:lnTo>
                  <a:lnTo>
                    <a:pt x="1111347" y="0"/>
                  </a:lnTo>
                  <a:lnTo>
                    <a:pt x="3454399" y="335231"/>
                  </a:lnTo>
                  <a:lnTo>
                    <a:pt x="8120605" y="335231"/>
                  </a:lnTo>
                  <a:lnTo>
                    <a:pt x="8165786" y="341302"/>
                  </a:lnTo>
                  <a:lnTo>
                    <a:pt x="8206384" y="358435"/>
                  </a:lnTo>
                  <a:lnTo>
                    <a:pt x="8240781" y="385010"/>
                  </a:lnTo>
                  <a:lnTo>
                    <a:pt x="8267356" y="419407"/>
                  </a:lnTo>
                  <a:lnTo>
                    <a:pt x="8284488" y="460005"/>
                  </a:lnTo>
                  <a:lnTo>
                    <a:pt x="8290559" y="505186"/>
                  </a:lnTo>
                  <a:lnTo>
                    <a:pt x="8290559" y="760105"/>
                  </a:lnTo>
                  <a:lnTo>
                    <a:pt x="8290559" y="1184970"/>
                  </a:lnTo>
                  <a:lnTo>
                    <a:pt x="8284488" y="1230151"/>
                  </a:lnTo>
                  <a:lnTo>
                    <a:pt x="8267356" y="1270750"/>
                  </a:lnTo>
                  <a:lnTo>
                    <a:pt x="8240781" y="1305146"/>
                  </a:lnTo>
                  <a:lnTo>
                    <a:pt x="8206384" y="1331721"/>
                  </a:lnTo>
                  <a:lnTo>
                    <a:pt x="8165786" y="1348854"/>
                  </a:lnTo>
                  <a:lnTo>
                    <a:pt x="8120605" y="1354925"/>
                  </a:lnTo>
                  <a:lnTo>
                    <a:pt x="3454399" y="1354925"/>
                  </a:lnTo>
                  <a:lnTo>
                    <a:pt x="1381759" y="1354925"/>
                  </a:lnTo>
                  <a:lnTo>
                    <a:pt x="169954" y="1354925"/>
                  </a:lnTo>
                  <a:lnTo>
                    <a:pt x="124773" y="1348854"/>
                  </a:lnTo>
                  <a:lnTo>
                    <a:pt x="84175" y="1331721"/>
                  </a:lnTo>
                  <a:lnTo>
                    <a:pt x="49778" y="1305146"/>
                  </a:lnTo>
                  <a:lnTo>
                    <a:pt x="23203" y="1270750"/>
                  </a:lnTo>
                  <a:lnTo>
                    <a:pt x="6070" y="1230151"/>
                  </a:lnTo>
                  <a:lnTo>
                    <a:pt x="0" y="1184970"/>
                  </a:lnTo>
                  <a:lnTo>
                    <a:pt x="0" y="760105"/>
                  </a:lnTo>
                  <a:lnTo>
                    <a:pt x="0" y="505177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07712" y="2064511"/>
            <a:ext cx="72815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8855" marR="5080" indent="-986790">
              <a:lnSpc>
                <a:spcPct val="119000"/>
              </a:lnSpc>
              <a:spcBef>
                <a:spcPts val="100"/>
              </a:spcBef>
            </a:pP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Find</a:t>
            </a:r>
            <a:r>
              <a:rPr sz="21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which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FFFFFF"/>
                </a:solidFill>
                <a:latin typeface="Verdana"/>
                <a:cs typeface="Verdana"/>
              </a:rPr>
              <a:t>companies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customers</a:t>
            </a:r>
            <a:r>
              <a:rPr sz="21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have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purchased </a:t>
            </a:r>
            <a:r>
              <a:rPr sz="2100" spc="-7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Then,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FFFFFF"/>
                </a:solidFill>
                <a:latin typeface="Verdana"/>
                <a:cs typeface="Verdana"/>
              </a:rPr>
              <a:t>names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customers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906" y="3287681"/>
            <a:ext cx="9332595" cy="536575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252729">
              <a:lnSpc>
                <a:spcPct val="100000"/>
              </a:lnSpc>
              <a:spcBef>
                <a:spcPts val="955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T3.custId,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 T3.name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2066" y="3728720"/>
            <a:ext cx="7733665" cy="15100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484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2100" spc="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spc="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T1.custId,</a:t>
            </a:r>
            <a:r>
              <a:rPr sz="21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T2.cid</a:t>
            </a:r>
            <a:endParaRPr sz="2100" dirty="0">
              <a:latin typeface="Courier New"/>
              <a:cs typeface="Courier New"/>
            </a:endParaRPr>
          </a:p>
          <a:p>
            <a:pPr marL="1217930" marR="5080">
              <a:lnSpc>
                <a:spcPts val="3000"/>
              </a:lnSpc>
              <a:spcBef>
                <a:spcPts val="8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2100" spc="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Purchase</a:t>
            </a:r>
            <a:r>
              <a:rPr sz="21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T1</a:t>
            </a:r>
            <a:r>
              <a:rPr sz="2100" spc="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NATURAL</a:t>
            </a:r>
            <a:r>
              <a:rPr sz="2100" spc="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JOIN</a:t>
            </a:r>
            <a:r>
              <a:rPr sz="2100" spc="3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Product</a:t>
            </a:r>
            <a:r>
              <a:rPr sz="21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T2 </a:t>
            </a:r>
            <a:r>
              <a:rPr sz="2100" spc="-12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GROUP</a:t>
            </a:r>
            <a:r>
              <a:rPr sz="2100" spc="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Courier New"/>
                <a:cs typeface="Courier New"/>
              </a:rPr>
              <a:t>BY</a:t>
            </a:r>
            <a:r>
              <a:rPr sz="2100" spc="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T1.custId,</a:t>
            </a:r>
            <a:r>
              <a:rPr sz="21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T2.cid)</a:t>
            </a:r>
            <a:r>
              <a:rPr sz="21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endParaRPr sz="2100" dirty="0">
              <a:latin typeface="Courier New"/>
              <a:cs typeface="Courier New"/>
            </a:endParaRPr>
          </a:p>
          <a:p>
            <a:pPr marL="242570">
              <a:lnSpc>
                <a:spcPct val="100000"/>
              </a:lnSpc>
              <a:spcBef>
                <a:spcPts val="18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NATURAL</a:t>
            </a:r>
            <a:r>
              <a:rPr sz="2100" spc="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JOIN</a:t>
            </a:r>
            <a:r>
              <a:rPr sz="2100" spc="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Customer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T3</a:t>
            </a:r>
            <a:endParaRPr sz="2100" dirty="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1746" y="3277522"/>
            <a:ext cx="9352915" cy="3885278"/>
            <a:chOff x="341746" y="3277522"/>
            <a:chExt cx="9352915" cy="3862704"/>
          </a:xfrm>
        </p:grpSpPr>
        <p:sp>
          <p:nvSpPr>
            <p:cNvPr id="12" name="object 12"/>
            <p:cNvSpPr/>
            <p:nvPr/>
          </p:nvSpPr>
          <p:spPr>
            <a:xfrm>
              <a:off x="351906" y="3287682"/>
              <a:ext cx="9332595" cy="2194560"/>
            </a:xfrm>
            <a:custGeom>
              <a:avLst/>
              <a:gdLst/>
              <a:ahLst/>
              <a:cxnLst/>
              <a:rect l="l" t="t" r="r" b="b"/>
              <a:pathLst>
                <a:path w="9332595" h="2194560">
                  <a:moveTo>
                    <a:pt x="0" y="0"/>
                  </a:moveTo>
                  <a:lnTo>
                    <a:pt x="9332421" y="0"/>
                  </a:lnTo>
                  <a:lnTo>
                    <a:pt x="9332421" y="2194558"/>
                  </a:lnTo>
                  <a:lnTo>
                    <a:pt x="0" y="2194558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58035" y="4497669"/>
              <a:ext cx="2046338" cy="263218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452955" y="4492589"/>
              <a:ext cx="2056764" cy="2642870"/>
            </a:xfrm>
            <a:custGeom>
              <a:avLst/>
              <a:gdLst/>
              <a:ahLst/>
              <a:cxnLst/>
              <a:rect l="l" t="t" r="r" b="b"/>
              <a:pathLst>
                <a:path w="2056765" h="2642870">
                  <a:moveTo>
                    <a:pt x="0" y="0"/>
                  </a:moveTo>
                  <a:lnTo>
                    <a:pt x="2056498" y="0"/>
                  </a:lnTo>
                  <a:lnTo>
                    <a:pt x="2056498" y="2642343"/>
                  </a:lnTo>
                  <a:lnTo>
                    <a:pt x="0" y="2642343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59833" y="376935"/>
            <a:ext cx="9351010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60" dirty="0"/>
              <a:t>Use</a:t>
            </a:r>
            <a:r>
              <a:rPr sz="3700" spc="-185" dirty="0"/>
              <a:t> </a:t>
            </a:r>
            <a:r>
              <a:rPr sz="3700" spc="-75" dirty="0"/>
              <a:t>EXCEPT</a:t>
            </a:r>
            <a:r>
              <a:rPr sz="3700" spc="-175" dirty="0"/>
              <a:t> </a:t>
            </a:r>
            <a:r>
              <a:rPr sz="3700" spc="-45" dirty="0"/>
              <a:t>to</a:t>
            </a:r>
            <a:r>
              <a:rPr sz="3700" spc="-185" dirty="0"/>
              <a:t> </a:t>
            </a:r>
            <a:r>
              <a:rPr sz="3700" spc="-75" dirty="0"/>
              <a:t>Solve</a:t>
            </a:r>
            <a:r>
              <a:rPr sz="3700" spc="-175" dirty="0"/>
              <a:t> </a:t>
            </a:r>
            <a:r>
              <a:rPr sz="3700" spc="-60" dirty="0"/>
              <a:t>the</a:t>
            </a:r>
            <a:r>
              <a:rPr sz="3700" spc="-185" dirty="0"/>
              <a:t> </a:t>
            </a:r>
            <a:r>
              <a:rPr sz="3700" spc="-80" dirty="0"/>
              <a:t>Problem</a:t>
            </a:r>
            <a:r>
              <a:rPr sz="3700" spc="-170" dirty="0"/>
              <a:t> </a:t>
            </a:r>
            <a:r>
              <a:rPr sz="3700" b="0" spc="-65" dirty="0">
                <a:latin typeface="Verdana"/>
                <a:cs typeface="Verdana"/>
              </a:rPr>
              <a:t>(3)</a:t>
            </a:r>
            <a:endParaRPr sz="37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62469" y="1276799"/>
            <a:ext cx="418465" cy="360045"/>
            <a:chOff x="762469" y="1276799"/>
            <a:chExt cx="418465" cy="360045"/>
          </a:xfrm>
        </p:grpSpPr>
        <p:sp>
          <p:nvSpPr>
            <p:cNvPr id="17" name="object 17"/>
            <p:cNvSpPr/>
            <p:nvPr/>
          </p:nvSpPr>
          <p:spPr>
            <a:xfrm>
              <a:off x="776563" y="1290892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5">
                  <a:moveTo>
                    <a:pt x="247344" y="0"/>
                  </a:moveTo>
                  <a:lnTo>
                    <a:pt x="142799" y="0"/>
                  </a:lnTo>
                  <a:lnTo>
                    <a:pt x="52272" y="44430"/>
                  </a:lnTo>
                  <a:lnTo>
                    <a:pt x="0" y="121378"/>
                  </a:lnTo>
                  <a:lnTo>
                    <a:pt x="0" y="210242"/>
                  </a:lnTo>
                  <a:lnTo>
                    <a:pt x="52272" y="287190"/>
                  </a:lnTo>
                  <a:lnTo>
                    <a:pt x="142799" y="331622"/>
                  </a:lnTo>
                  <a:lnTo>
                    <a:pt x="247344" y="331622"/>
                  </a:lnTo>
                  <a:lnTo>
                    <a:pt x="337871" y="287190"/>
                  </a:lnTo>
                  <a:lnTo>
                    <a:pt x="390144" y="210242"/>
                  </a:lnTo>
                  <a:lnTo>
                    <a:pt x="390144" y="121378"/>
                  </a:lnTo>
                  <a:lnTo>
                    <a:pt x="337871" y="44430"/>
                  </a:lnTo>
                  <a:lnTo>
                    <a:pt x="24734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6563" y="1290892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5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98821" y="1243584"/>
            <a:ext cx="675449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5625" algn="l"/>
              </a:tabLst>
            </a:pPr>
            <a:r>
              <a:rPr sz="2550" baseline="1633" dirty="0">
                <a:solidFill>
                  <a:srgbClr val="FFFFFF"/>
                </a:solidFill>
                <a:latin typeface="Arial MT"/>
                <a:cs typeface="Arial MT"/>
              </a:rPr>
              <a:t>1	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(Find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purchased)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8154" y="2007329"/>
            <a:ext cx="8961755" cy="1427480"/>
            <a:chOff x="648154" y="2007329"/>
            <a:chExt cx="8961755" cy="1427480"/>
          </a:xfrm>
        </p:grpSpPr>
        <p:sp>
          <p:nvSpPr>
            <p:cNvPr id="3" name="object 3"/>
            <p:cNvSpPr/>
            <p:nvPr/>
          </p:nvSpPr>
          <p:spPr>
            <a:xfrm>
              <a:off x="662247" y="2021423"/>
              <a:ext cx="8933815" cy="1399540"/>
            </a:xfrm>
            <a:custGeom>
              <a:avLst/>
              <a:gdLst/>
              <a:ahLst/>
              <a:cxnLst/>
              <a:rect l="l" t="t" r="r" b="b"/>
              <a:pathLst>
                <a:path w="8933815" h="1399539">
                  <a:moveTo>
                    <a:pt x="8763456" y="379572"/>
                  </a:moveTo>
                  <a:lnTo>
                    <a:pt x="169953" y="379572"/>
                  </a:lnTo>
                  <a:lnTo>
                    <a:pt x="124773" y="385643"/>
                  </a:lnTo>
                  <a:lnTo>
                    <a:pt x="84174" y="402776"/>
                  </a:lnTo>
                  <a:lnTo>
                    <a:pt x="49778" y="429350"/>
                  </a:lnTo>
                  <a:lnTo>
                    <a:pt x="23203" y="463747"/>
                  </a:lnTo>
                  <a:lnTo>
                    <a:pt x="6070" y="504345"/>
                  </a:lnTo>
                  <a:lnTo>
                    <a:pt x="0" y="549526"/>
                  </a:lnTo>
                  <a:lnTo>
                    <a:pt x="0" y="1229313"/>
                  </a:lnTo>
                  <a:lnTo>
                    <a:pt x="6070" y="1274493"/>
                  </a:lnTo>
                  <a:lnTo>
                    <a:pt x="23203" y="1315091"/>
                  </a:lnTo>
                  <a:lnTo>
                    <a:pt x="49778" y="1349487"/>
                  </a:lnTo>
                  <a:lnTo>
                    <a:pt x="84174" y="1376062"/>
                  </a:lnTo>
                  <a:lnTo>
                    <a:pt x="124773" y="1393194"/>
                  </a:lnTo>
                  <a:lnTo>
                    <a:pt x="169953" y="1399265"/>
                  </a:lnTo>
                  <a:lnTo>
                    <a:pt x="8763456" y="1399265"/>
                  </a:lnTo>
                  <a:lnTo>
                    <a:pt x="8808636" y="1393194"/>
                  </a:lnTo>
                  <a:lnTo>
                    <a:pt x="8849235" y="1376062"/>
                  </a:lnTo>
                  <a:lnTo>
                    <a:pt x="8883631" y="1349487"/>
                  </a:lnTo>
                  <a:lnTo>
                    <a:pt x="8910206" y="1315091"/>
                  </a:lnTo>
                  <a:lnTo>
                    <a:pt x="8927339" y="1274493"/>
                  </a:lnTo>
                  <a:lnTo>
                    <a:pt x="8933410" y="1229313"/>
                  </a:lnTo>
                  <a:lnTo>
                    <a:pt x="8933410" y="549526"/>
                  </a:lnTo>
                  <a:lnTo>
                    <a:pt x="8927339" y="504345"/>
                  </a:lnTo>
                  <a:lnTo>
                    <a:pt x="8910206" y="463747"/>
                  </a:lnTo>
                  <a:lnTo>
                    <a:pt x="8883631" y="429350"/>
                  </a:lnTo>
                  <a:lnTo>
                    <a:pt x="8849235" y="402776"/>
                  </a:lnTo>
                  <a:lnTo>
                    <a:pt x="8808636" y="385643"/>
                  </a:lnTo>
                  <a:lnTo>
                    <a:pt x="8763456" y="379572"/>
                  </a:lnTo>
                  <a:close/>
                </a:path>
                <a:path w="8933815" h="1399539">
                  <a:moveTo>
                    <a:pt x="1283640" y="0"/>
                  </a:moveTo>
                  <a:lnTo>
                    <a:pt x="1488901" y="379572"/>
                  </a:lnTo>
                  <a:lnTo>
                    <a:pt x="3722254" y="379572"/>
                  </a:lnTo>
                  <a:lnTo>
                    <a:pt x="1283640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2247" y="2021423"/>
              <a:ext cx="8933815" cy="1399540"/>
            </a:xfrm>
            <a:custGeom>
              <a:avLst/>
              <a:gdLst/>
              <a:ahLst/>
              <a:cxnLst/>
              <a:rect l="l" t="t" r="r" b="b"/>
              <a:pathLst>
                <a:path w="8933815" h="1399539">
                  <a:moveTo>
                    <a:pt x="0" y="549526"/>
                  </a:moveTo>
                  <a:lnTo>
                    <a:pt x="6070" y="504346"/>
                  </a:lnTo>
                  <a:lnTo>
                    <a:pt x="23203" y="463747"/>
                  </a:lnTo>
                  <a:lnTo>
                    <a:pt x="49778" y="429351"/>
                  </a:lnTo>
                  <a:lnTo>
                    <a:pt x="84174" y="402776"/>
                  </a:lnTo>
                  <a:lnTo>
                    <a:pt x="124773" y="385643"/>
                  </a:lnTo>
                  <a:lnTo>
                    <a:pt x="169953" y="379572"/>
                  </a:lnTo>
                  <a:lnTo>
                    <a:pt x="1488901" y="379572"/>
                  </a:lnTo>
                  <a:lnTo>
                    <a:pt x="1283640" y="0"/>
                  </a:lnTo>
                  <a:lnTo>
                    <a:pt x="3722254" y="379572"/>
                  </a:lnTo>
                  <a:lnTo>
                    <a:pt x="8763456" y="379572"/>
                  </a:lnTo>
                  <a:lnTo>
                    <a:pt x="8808637" y="385643"/>
                  </a:lnTo>
                  <a:lnTo>
                    <a:pt x="8849236" y="402776"/>
                  </a:lnTo>
                  <a:lnTo>
                    <a:pt x="8883632" y="429351"/>
                  </a:lnTo>
                  <a:lnTo>
                    <a:pt x="8910207" y="463747"/>
                  </a:lnTo>
                  <a:lnTo>
                    <a:pt x="8927340" y="504346"/>
                  </a:lnTo>
                  <a:lnTo>
                    <a:pt x="8933411" y="549526"/>
                  </a:lnTo>
                  <a:lnTo>
                    <a:pt x="8933411" y="804447"/>
                  </a:lnTo>
                  <a:lnTo>
                    <a:pt x="8933411" y="1229312"/>
                  </a:lnTo>
                  <a:lnTo>
                    <a:pt x="8927340" y="1274493"/>
                  </a:lnTo>
                  <a:lnTo>
                    <a:pt x="8910207" y="1315091"/>
                  </a:lnTo>
                  <a:lnTo>
                    <a:pt x="8883632" y="1349488"/>
                  </a:lnTo>
                  <a:lnTo>
                    <a:pt x="8849236" y="1376062"/>
                  </a:lnTo>
                  <a:lnTo>
                    <a:pt x="8808637" y="1393195"/>
                  </a:lnTo>
                  <a:lnTo>
                    <a:pt x="8763456" y="1399266"/>
                  </a:lnTo>
                  <a:lnTo>
                    <a:pt x="3722254" y="1399266"/>
                  </a:lnTo>
                  <a:lnTo>
                    <a:pt x="1488901" y="1399266"/>
                  </a:lnTo>
                  <a:lnTo>
                    <a:pt x="169953" y="1399266"/>
                  </a:lnTo>
                  <a:lnTo>
                    <a:pt x="124773" y="1393195"/>
                  </a:lnTo>
                  <a:lnTo>
                    <a:pt x="84174" y="1376062"/>
                  </a:lnTo>
                  <a:lnTo>
                    <a:pt x="49778" y="1349488"/>
                  </a:lnTo>
                  <a:lnTo>
                    <a:pt x="23203" y="1315091"/>
                  </a:lnTo>
                  <a:lnTo>
                    <a:pt x="6070" y="1274493"/>
                  </a:lnTo>
                  <a:lnTo>
                    <a:pt x="0" y="1229312"/>
                  </a:lnTo>
                  <a:lnTo>
                    <a:pt x="0" y="804447"/>
                  </a:lnTo>
                  <a:lnTo>
                    <a:pt x="0" y="549526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87694" y="2485136"/>
            <a:ext cx="84810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7660" marR="5080" indent="-1585595">
              <a:lnSpc>
                <a:spcPct val="119000"/>
              </a:lnSpc>
              <a:spcBef>
                <a:spcPts val="100"/>
              </a:spcBef>
            </a:pP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all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customers</a:t>
            </a:r>
            <a:r>
              <a:rPr sz="21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who</a:t>
            </a:r>
            <a:r>
              <a:rPr sz="21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have</a:t>
            </a:r>
            <a:r>
              <a:rPr sz="21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purchased</a:t>
            </a:r>
            <a:r>
              <a:rPr sz="210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sz="21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other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companies </a:t>
            </a:r>
            <a:r>
              <a:rPr sz="2100" spc="-7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Then,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FFFFFF"/>
                </a:solidFill>
                <a:latin typeface="Verdana"/>
                <a:cs typeface="Verdana"/>
              </a:rPr>
              <a:t>names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customers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2370" y="3917696"/>
            <a:ext cx="10007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30291" y="3917696"/>
            <a:ext cx="14884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T1.custId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2370" y="4310888"/>
            <a:ext cx="21386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2100" spc="-5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Purchase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67945" y="4310888"/>
            <a:ext cx="42525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T1</a:t>
            </a:r>
            <a:r>
              <a:rPr sz="21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NATURAL</a:t>
            </a:r>
            <a:r>
              <a:rPr sz="2100" spc="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JOIN</a:t>
            </a:r>
            <a:r>
              <a:rPr sz="2100" spc="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Product</a:t>
            </a:r>
            <a:r>
              <a:rPr sz="21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T2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2370" y="4627879"/>
            <a:ext cx="327660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800"/>
              </a:lnSpc>
              <a:spcBef>
                <a:spcPts val="10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WHERE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T2.cid 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&lt;&gt;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 7777 </a:t>
            </a:r>
            <a:r>
              <a:rPr sz="2100" spc="-12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GROUP</a:t>
            </a:r>
            <a:r>
              <a:rPr sz="2100" spc="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BY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5411" y="5100320"/>
            <a:ext cx="14884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T1.custId</a:t>
            </a:r>
            <a:endParaRPr sz="21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41746" y="3787369"/>
            <a:ext cx="9352915" cy="3225800"/>
            <a:chOff x="341746" y="3787369"/>
            <a:chExt cx="9352915" cy="3225800"/>
          </a:xfrm>
        </p:grpSpPr>
        <p:sp>
          <p:nvSpPr>
            <p:cNvPr id="13" name="object 13"/>
            <p:cNvSpPr/>
            <p:nvPr/>
          </p:nvSpPr>
          <p:spPr>
            <a:xfrm>
              <a:off x="351906" y="3797529"/>
              <a:ext cx="9332595" cy="1773555"/>
            </a:xfrm>
            <a:custGeom>
              <a:avLst/>
              <a:gdLst/>
              <a:ahLst/>
              <a:cxnLst/>
              <a:rect l="l" t="t" r="r" b="b"/>
              <a:pathLst>
                <a:path w="9332595" h="1773554">
                  <a:moveTo>
                    <a:pt x="0" y="0"/>
                  </a:moveTo>
                  <a:lnTo>
                    <a:pt x="9332421" y="0"/>
                  </a:lnTo>
                  <a:lnTo>
                    <a:pt x="9332421" y="1773382"/>
                  </a:lnTo>
                  <a:lnTo>
                    <a:pt x="0" y="1773382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0737" y="4639889"/>
              <a:ext cx="1067688" cy="15584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115658" y="4634809"/>
              <a:ext cx="1078230" cy="1569085"/>
            </a:xfrm>
            <a:custGeom>
              <a:avLst/>
              <a:gdLst/>
              <a:ahLst/>
              <a:cxnLst/>
              <a:rect l="l" t="t" r="r" b="b"/>
              <a:pathLst>
                <a:path w="1078229" h="1569085">
                  <a:moveTo>
                    <a:pt x="0" y="0"/>
                  </a:moveTo>
                  <a:lnTo>
                    <a:pt x="1077848" y="0"/>
                  </a:lnTo>
                  <a:lnTo>
                    <a:pt x="1077848" y="1568641"/>
                  </a:lnTo>
                  <a:lnTo>
                    <a:pt x="0" y="1568641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80098" y="5487893"/>
              <a:ext cx="4527550" cy="1511300"/>
            </a:xfrm>
            <a:custGeom>
              <a:avLst/>
              <a:gdLst/>
              <a:ahLst/>
              <a:cxnLst/>
              <a:rect l="l" t="t" r="r" b="b"/>
              <a:pathLst>
                <a:path w="4527550" h="1511300">
                  <a:moveTo>
                    <a:pt x="3783497" y="0"/>
                  </a:moveTo>
                  <a:lnTo>
                    <a:pt x="251814" y="0"/>
                  </a:lnTo>
                  <a:lnTo>
                    <a:pt x="206550" y="4057"/>
                  </a:lnTo>
                  <a:lnTo>
                    <a:pt x="163948" y="15754"/>
                  </a:lnTo>
                  <a:lnTo>
                    <a:pt x="124719" y="34380"/>
                  </a:lnTo>
                  <a:lnTo>
                    <a:pt x="89573" y="59223"/>
                  </a:lnTo>
                  <a:lnTo>
                    <a:pt x="59223" y="89574"/>
                  </a:lnTo>
                  <a:lnTo>
                    <a:pt x="34380" y="124719"/>
                  </a:lnTo>
                  <a:lnTo>
                    <a:pt x="15754" y="163948"/>
                  </a:lnTo>
                  <a:lnTo>
                    <a:pt x="4057" y="206551"/>
                  </a:lnTo>
                  <a:lnTo>
                    <a:pt x="0" y="251810"/>
                  </a:lnTo>
                  <a:lnTo>
                    <a:pt x="0" y="1259037"/>
                  </a:lnTo>
                  <a:lnTo>
                    <a:pt x="4057" y="1304301"/>
                  </a:lnTo>
                  <a:lnTo>
                    <a:pt x="15754" y="1346904"/>
                  </a:lnTo>
                  <a:lnTo>
                    <a:pt x="34380" y="1386133"/>
                  </a:lnTo>
                  <a:lnTo>
                    <a:pt x="59223" y="1421278"/>
                  </a:lnTo>
                  <a:lnTo>
                    <a:pt x="89573" y="1451628"/>
                  </a:lnTo>
                  <a:lnTo>
                    <a:pt x="124719" y="1476472"/>
                  </a:lnTo>
                  <a:lnTo>
                    <a:pt x="163948" y="1495098"/>
                  </a:lnTo>
                  <a:lnTo>
                    <a:pt x="206550" y="1506795"/>
                  </a:lnTo>
                  <a:lnTo>
                    <a:pt x="251814" y="1510852"/>
                  </a:lnTo>
                  <a:lnTo>
                    <a:pt x="3783497" y="1510852"/>
                  </a:lnTo>
                  <a:lnTo>
                    <a:pt x="3828761" y="1506795"/>
                  </a:lnTo>
                  <a:lnTo>
                    <a:pt x="3871363" y="1495098"/>
                  </a:lnTo>
                  <a:lnTo>
                    <a:pt x="3910592" y="1476472"/>
                  </a:lnTo>
                  <a:lnTo>
                    <a:pt x="3945737" y="1451628"/>
                  </a:lnTo>
                  <a:lnTo>
                    <a:pt x="3976087" y="1421278"/>
                  </a:lnTo>
                  <a:lnTo>
                    <a:pt x="4000930" y="1386133"/>
                  </a:lnTo>
                  <a:lnTo>
                    <a:pt x="4019556" y="1346904"/>
                  </a:lnTo>
                  <a:lnTo>
                    <a:pt x="4031253" y="1304301"/>
                  </a:lnTo>
                  <a:lnTo>
                    <a:pt x="4035310" y="1259037"/>
                  </a:lnTo>
                  <a:lnTo>
                    <a:pt x="4035310" y="629521"/>
                  </a:lnTo>
                  <a:lnTo>
                    <a:pt x="4441253" y="251815"/>
                  </a:lnTo>
                  <a:lnTo>
                    <a:pt x="4035310" y="251810"/>
                  </a:lnTo>
                  <a:lnTo>
                    <a:pt x="4031253" y="206551"/>
                  </a:lnTo>
                  <a:lnTo>
                    <a:pt x="4019556" y="163948"/>
                  </a:lnTo>
                  <a:lnTo>
                    <a:pt x="4000930" y="124719"/>
                  </a:lnTo>
                  <a:lnTo>
                    <a:pt x="3976087" y="89574"/>
                  </a:lnTo>
                  <a:lnTo>
                    <a:pt x="3945737" y="59223"/>
                  </a:lnTo>
                  <a:lnTo>
                    <a:pt x="3910592" y="34380"/>
                  </a:lnTo>
                  <a:lnTo>
                    <a:pt x="3871363" y="15754"/>
                  </a:lnTo>
                  <a:lnTo>
                    <a:pt x="3828761" y="4057"/>
                  </a:lnTo>
                  <a:lnTo>
                    <a:pt x="3783497" y="0"/>
                  </a:lnTo>
                  <a:close/>
                </a:path>
                <a:path w="4527550" h="1511300">
                  <a:moveTo>
                    <a:pt x="4527496" y="171571"/>
                  </a:moveTo>
                  <a:lnTo>
                    <a:pt x="4035310" y="251815"/>
                  </a:lnTo>
                  <a:lnTo>
                    <a:pt x="4441259" y="251810"/>
                  </a:lnTo>
                  <a:lnTo>
                    <a:pt x="4527496" y="17157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80098" y="5487893"/>
              <a:ext cx="4527550" cy="1511300"/>
            </a:xfrm>
            <a:custGeom>
              <a:avLst/>
              <a:gdLst/>
              <a:ahLst/>
              <a:cxnLst/>
              <a:rect l="l" t="t" r="r" b="b"/>
              <a:pathLst>
                <a:path w="4527550" h="1511300">
                  <a:moveTo>
                    <a:pt x="0" y="251814"/>
                  </a:moveTo>
                  <a:lnTo>
                    <a:pt x="4057" y="206550"/>
                  </a:lnTo>
                  <a:lnTo>
                    <a:pt x="15754" y="163948"/>
                  </a:lnTo>
                  <a:lnTo>
                    <a:pt x="34380" y="124718"/>
                  </a:lnTo>
                  <a:lnTo>
                    <a:pt x="59223" y="89573"/>
                  </a:lnTo>
                  <a:lnTo>
                    <a:pt x="89573" y="59223"/>
                  </a:lnTo>
                  <a:lnTo>
                    <a:pt x="124718" y="34380"/>
                  </a:lnTo>
                  <a:lnTo>
                    <a:pt x="163948" y="15754"/>
                  </a:lnTo>
                  <a:lnTo>
                    <a:pt x="206550" y="4057"/>
                  </a:lnTo>
                  <a:lnTo>
                    <a:pt x="251814" y="0"/>
                  </a:lnTo>
                  <a:lnTo>
                    <a:pt x="2353931" y="0"/>
                  </a:lnTo>
                  <a:lnTo>
                    <a:pt x="3362759" y="0"/>
                  </a:lnTo>
                  <a:lnTo>
                    <a:pt x="3783496" y="0"/>
                  </a:lnTo>
                  <a:lnTo>
                    <a:pt x="3828760" y="4057"/>
                  </a:lnTo>
                  <a:lnTo>
                    <a:pt x="3871362" y="15754"/>
                  </a:lnTo>
                  <a:lnTo>
                    <a:pt x="3910591" y="34380"/>
                  </a:lnTo>
                  <a:lnTo>
                    <a:pt x="3945737" y="59223"/>
                  </a:lnTo>
                  <a:lnTo>
                    <a:pt x="3976087" y="89573"/>
                  </a:lnTo>
                  <a:lnTo>
                    <a:pt x="4000930" y="124718"/>
                  </a:lnTo>
                  <a:lnTo>
                    <a:pt x="4019556" y="163948"/>
                  </a:lnTo>
                  <a:lnTo>
                    <a:pt x="4031253" y="206550"/>
                  </a:lnTo>
                  <a:lnTo>
                    <a:pt x="4035310" y="251814"/>
                  </a:lnTo>
                  <a:lnTo>
                    <a:pt x="4527496" y="171571"/>
                  </a:lnTo>
                  <a:lnTo>
                    <a:pt x="4035310" y="629521"/>
                  </a:lnTo>
                  <a:lnTo>
                    <a:pt x="4035310" y="1259037"/>
                  </a:lnTo>
                  <a:lnTo>
                    <a:pt x="4031253" y="1304301"/>
                  </a:lnTo>
                  <a:lnTo>
                    <a:pt x="4019556" y="1346903"/>
                  </a:lnTo>
                  <a:lnTo>
                    <a:pt x="4000930" y="1386133"/>
                  </a:lnTo>
                  <a:lnTo>
                    <a:pt x="3976087" y="1421278"/>
                  </a:lnTo>
                  <a:lnTo>
                    <a:pt x="3945737" y="1451628"/>
                  </a:lnTo>
                  <a:lnTo>
                    <a:pt x="3910591" y="1476472"/>
                  </a:lnTo>
                  <a:lnTo>
                    <a:pt x="3871362" y="1495098"/>
                  </a:lnTo>
                  <a:lnTo>
                    <a:pt x="3828760" y="1506795"/>
                  </a:lnTo>
                  <a:lnTo>
                    <a:pt x="3783496" y="1510852"/>
                  </a:lnTo>
                  <a:lnTo>
                    <a:pt x="3362759" y="1510852"/>
                  </a:lnTo>
                  <a:lnTo>
                    <a:pt x="2353931" y="1510852"/>
                  </a:lnTo>
                  <a:lnTo>
                    <a:pt x="251814" y="1510852"/>
                  </a:lnTo>
                  <a:lnTo>
                    <a:pt x="206550" y="1506795"/>
                  </a:lnTo>
                  <a:lnTo>
                    <a:pt x="163948" y="1495098"/>
                  </a:lnTo>
                  <a:lnTo>
                    <a:pt x="124718" y="1476472"/>
                  </a:lnTo>
                  <a:lnTo>
                    <a:pt x="89573" y="1451628"/>
                  </a:lnTo>
                  <a:lnTo>
                    <a:pt x="59223" y="1421278"/>
                  </a:lnTo>
                  <a:lnTo>
                    <a:pt x="34380" y="1386133"/>
                  </a:lnTo>
                  <a:lnTo>
                    <a:pt x="15754" y="1346903"/>
                  </a:lnTo>
                  <a:lnTo>
                    <a:pt x="4057" y="1304301"/>
                  </a:lnTo>
                  <a:lnTo>
                    <a:pt x="0" y="1259037"/>
                  </a:lnTo>
                  <a:lnTo>
                    <a:pt x="0" y="629521"/>
                  </a:lnTo>
                  <a:lnTo>
                    <a:pt x="0" y="251810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59833" y="370840"/>
            <a:ext cx="9351010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60" dirty="0"/>
              <a:t>Use</a:t>
            </a:r>
            <a:r>
              <a:rPr sz="3700" spc="-185" dirty="0"/>
              <a:t> </a:t>
            </a:r>
            <a:r>
              <a:rPr sz="3700" spc="-75" dirty="0"/>
              <a:t>EXCEPT</a:t>
            </a:r>
            <a:r>
              <a:rPr sz="3700" spc="-175" dirty="0"/>
              <a:t> </a:t>
            </a:r>
            <a:r>
              <a:rPr sz="3700" spc="-45" dirty="0"/>
              <a:t>to</a:t>
            </a:r>
            <a:r>
              <a:rPr sz="3700" spc="-185" dirty="0"/>
              <a:t> </a:t>
            </a:r>
            <a:r>
              <a:rPr sz="3700" spc="-75" dirty="0"/>
              <a:t>Solve</a:t>
            </a:r>
            <a:r>
              <a:rPr sz="3700" spc="-175" dirty="0"/>
              <a:t> </a:t>
            </a:r>
            <a:r>
              <a:rPr sz="3700" spc="-60" dirty="0"/>
              <a:t>the</a:t>
            </a:r>
            <a:r>
              <a:rPr sz="3700" spc="-185" dirty="0"/>
              <a:t> </a:t>
            </a:r>
            <a:r>
              <a:rPr sz="3700" spc="-80" dirty="0"/>
              <a:t>Problem</a:t>
            </a:r>
            <a:r>
              <a:rPr sz="3700" spc="-170" dirty="0"/>
              <a:t> </a:t>
            </a:r>
            <a:r>
              <a:rPr sz="3700" b="0" spc="-65" dirty="0">
                <a:latin typeface="Verdana"/>
                <a:cs typeface="Verdana"/>
              </a:rPr>
              <a:t>(4)</a:t>
            </a:r>
            <a:endParaRPr sz="37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75943" y="1275495"/>
            <a:ext cx="418465" cy="360045"/>
            <a:chOff x="775943" y="1275495"/>
            <a:chExt cx="418465" cy="360045"/>
          </a:xfrm>
        </p:grpSpPr>
        <p:sp>
          <p:nvSpPr>
            <p:cNvPr id="20" name="object 20"/>
            <p:cNvSpPr/>
            <p:nvPr/>
          </p:nvSpPr>
          <p:spPr>
            <a:xfrm>
              <a:off x="790037" y="1289588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5">
                  <a:moveTo>
                    <a:pt x="247344" y="0"/>
                  </a:moveTo>
                  <a:lnTo>
                    <a:pt x="142799" y="0"/>
                  </a:lnTo>
                  <a:lnTo>
                    <a:pt x="52272" y="44430"/>
                  </a:lnTo>
                  <a:lnTo>
                    <a:pt x="0" y="121378"/>
                  </a:lnTo>
                  <a:lnTo>
                    <a:pt x="0" y="210242"/>
                  </a:lnTo>
                  <a:lnTo>
                    <a:pt x="52272" y="287190"/>
                  </a:lnTo>
                  <a:lnTo>
                    <a:pt x="142799" y="331621"/>
                  </a:lnTo>
                  <a:lnTo>
                    <a:pt x="247344" y="331621"/>
                  </a:lnTo>
                  <a:lnTo>
                    <a:pt x="337871" y="287190"/>
                  </a:lnTo>
                  <a:lnTo>
                    <a:pt x="390144" y="210242"/>
                  </a:lnTo>
                  <a:lnTo>
                    <a:pt x="390144" y="121378"/>
                  </a:lnTo>
                  <a:lnTo>
                    <a:pt x="337871" y="44430"/>
                  </a:lnTo>
                  <a:lnTo>
                    <a:pt x="24734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0037" y="1289588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5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12295" y="1240535"/>
            <a:ext cx="6604000" cy="7416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542290" marR="5080" indent="-530225">
              <a:lnSpc>
                <a:spcPts val="2880"/>
              </a:lnSpc>
              <a:spcBef>
                <a:spcPts val="80"/>
              </a:spcBef>
              <a:tabLst>
                <a:tab pos="542290" algn="l"/>
              </a:tabLst>
            </a:pPr>
            <a:r>
              <a:rPr sz="2550" baseline="1633" dirty="0">
                <a:solidFill>
                  <a:srgbClr val="FFFFFF"/>
                </a:solidFill>
                <a:latin typeface="Arial MT"/>
                <a:cs typeface="Arial MT"/>
              </a:rPr>
              <a:t>2	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(Find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 customers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purchased </a:t>
            </a:r>
            <a:r>
              <a:rPr sz="2300" spc="-7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other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companies,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7777)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79360" y="5616448"/>
            <a:ext cx="3435350" cy="12573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ctr">
              <a:lnSpc>
                <a:spcPct val="101099"/>
              </a:lnSpc>
              <a:spcBef>
                <a:spcPts val="75"/>
              </a:spcBef>
            </a:pP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Got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all</a:t>
            </a:r>
            <a:r>
              <a:rPr sz="19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customers</a:t>
            </a:r>
            <a:r>
              <a:rPr sz="19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who</a:t>
            </a:r>
            <a:r>
              <a:rPr sz="19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Verdana"/>
                <a:cs typeface="Verdana"/>
              </a:rPr>
              <a:t>have </a:t>
            </a:r>
            <a:r>
              <a:rPr sz="1900" spc="-6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not purchased</a:t>
            </a:r>
            <a:r>
              <a:rPr sz="19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sz="19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FFFFFF"/>
                </a:solidFill>
                <a:latin typeface="Verdana"/>
                <a:cs typeface="Verdana"/>
              </a:rPr>
              <a:t>7777.</a:t>
            </a:r>
            <a:endParaRPr sz="1900">
              <a:latin typeface="Verdana"/>
              <a:cs typeface="Verdana"/>
            </a:endParaRPr>
          </a:p>
          <a:p>
            <a:pPr marL="15240" marR="6985" algn="ctr">
              <a:lnSpc>
                <a:spcPct val="101099"/>
              </a:lnSpc>
              <a:spcBef>
                <a:spcPts val="500"/>
              </a:spcBef>
            </a:pP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Still </a:t>
            </a:r>
            <a:r>
              <a:rPr sz="1900" spc="10" dirty="0">
                <a:solidFill>
                  <a:srgbClr val="FFFFFF"/>
                </a:solidFill>
                <a:latin typeface="Verdana"/>
                <a:cs typeface="Verdana"/>
              </a:rPr>
              <a:t>need</a:t>
            </a:r>
            <a:r>
              <a:rPr sz="19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to find</a:t>
            </a:r>
            <a:r>
              <a:rPr sz="19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9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names </a:t>
            </a:r>
            <a:r>
              <a:rPr sz="1900" spc="-6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9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customers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04475" y="4330251"/>
            <a:ext cx="6731000" cy="1550670"/>
            <a:chOff x="1404475" y="4330251"/>
            <a:chExt cx="6731000" cy="1550670"/>
          </a:xfrm>
        </p:grpSpPr>
        <p:sp>
          <p:nvSpPr>
            <p:cNvPr id="3" name="object 3"/>
            <p:cNvSpPr/>
            <p:nvPr/>
          </p:nvSpPr>
          <p:spPr>
            <a:xfrm>
              <a:off x="1414635" y="4340411"/>
              <a:ext cx="6710680" cy="1530350"/>
            </a:xfrm>
            <a:custGeom>
              <a:avLst/>
              <a:gdLst/>
              <a:ahLst/>
              <a:cxnLst/>
              <a:rect l="l" t="t" r="r" b="b"/>
              <a:pathLst>
                <a:path w="6710680" h="1530350">
                  <a:moveTo>
                    <a:pt x="6710475" y="0"/>
                  </a:moveTo>
                  <a:lnTo>
                    <a:pt x="0" y="0"/>
                  </a:lnTo>
                  <a:lnTo>
                    <a:pt x="0" y="1529976"/>
                  </a:lnTo>
                  <a:lnTo>
                    <a:pt x="6710475" y="1529976"/>
                  </a:lnTo>
                  <a:lnTo>
                    <a:pt x="6710475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14635" y="4340411"/>
              <a:ext cx="6710680" cy="1530350"/>
            </a:xfrm>
            <a:custGeom>
              <a:avLst/>
              <a:gdLst/>
              <a:ahLst/>
              <a:cxnLst/>
              <a:rect l="l" t="t" r="r" b="b"/>
              <a:pathLst>
                <a:path w="6710680" h="1530350">
                  <a:moveTo>
                    <a:pt x="0" y="0"/>
                  </a:moveTo>
                  <a:lnTo>
                    <a:pt x="6710476" y="0"/>
                  </a:lnTo>
                  <a:lnTo>
                    <a:pt x="6710476" y="1529976"/>
                  </a:lnTo>
                  <a:lnTo>
                    <a:pt x="0" y="1529976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92370" y="3917696"/>
            <a:ext cx="10007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30291" y="3917696"/>
            <a:ext cx="16510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T3.custId,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18120" y="3917696"/>
            <a:ext cx="11633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T3.name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2370" y="4237736"/>
            <a:ext cx="7503159" cy="19824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21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T1.custId</a:t>
            </a:r>
            <a:endParaRPr sz="2100">
              <a:latin typeface="Courier New"/>
              <a:cs typeface="Courier New"/>
            </a:endParaRPr>
          </a:p>
          <a:p>
            <a:pPr marL="988060" marR="5080">
              <a:lnSpc>
                <a:spcPts val="3120"/>
              </a:lnSpc>
              <a:spcBef>
                <a:spcPts val="18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2100" spc="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Purchase</a:t>
            </a:r>
            <a:r>
              <a:rPr sz="21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T1</a:t>
            </a:r>
            <a:r>
              <a:rPr sz="2100" spc="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NATURAL</a:t>
            </a:r>
            <a:r>
              <a:rPr sz="2100" spc="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JOIN</a:t>
            </a:r>
            <a:r>
              <a:rPr sz="2100" spc="3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Product</a:t>
            </a:r>
            <a:r>
              <a:rPr sz="21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T2 </a:t>
            </a:r>
            <a:r>
              <a:rPr sz="2100" spc="-12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2100" spc="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T2.cid</a:t>
            </a:r>
            <a:r>
              <a:rPr sz="21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&lt;&gt;</a:t>
            </a:r>
            <a:r>
              <a:rPr sz="21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7777</a:t>
            </a:r>
            <a:endParaRPr sz="2100">
              <a:latin typeface="Courier New"/>
              <a:cs typeface="Courier New"/>
            </a:endParaRPr>
          </a:p>
          <a:p>
            <a:pPr marL="988060">
              <a:lnSpc>
                <a:spcPct val="100000"/>
              </a:lnSpc>
              <a:spcBef>
                <a:spcPts val="37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GROUP</a:t>
            </a:r>
            <a:r>
              <a:rPr sz="2100" spc="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Courier New"/>
                <a:cs typeface="Courier New"/>
              </a:rPr>
              <a:t>BY</a:t>
            </a:r>
            <a:r>
              <a:rPr sz="2100" spc="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T1.custId)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endParaRPr sz="2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NATURAL</a:t>
            </a:r>
            <a:r>
              <a:rPr sz="2100" spc="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JOIN</a:t>
            </a:r>
            <a:r>
              <a:rPr sz="2100" spc="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Customer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T3</a:t>
            </a:r>
            <a:endParaRPr sz="21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1746" y="3787369"/>
            <a:ext cx="9352915" cy="2882265"/>
            <a:chOff x="341746" y="3787369"/>
            <a:chExt cx="9352915" cy="2882265"/>
          </a:xfrm>
        </p:grpSpPr>
        <p:sp>
          <p:nvSpPr>
            <p:cNvPr id="10" name="object 10"/>
            <p:cNvSpPr/>
            <p:nvPr/>
          </p:nvSpPr>
          <p:spPr>
            <a:xfrm>
              <a:off x="351906" y="3797529"/>
              <a:ext cx="9332595" cy="2549525"/>
            </a:xfrm>
            <a:custGeom>
              <a:avLst/>
              <a:gdLst/>
              <a:ahLst/>
              <a:cxnLst/>
              <a:rect l="l" t="t" r="r" b="b"/>
              <a:pathLst>
                <a:path w="9332595" h="2549525">
                  <a:moveTo>
                    <a:pt x="0" y="0"/>
                  </a:moveTo>
                  <a:lnTo>
                    <a:pt x="9332421" y="0"/>
                  </a:lnTo>
                  <a:lnTo>
                    <a:pt x="9332421" y="2549237"/>
                  </a:lnTo>
                  <a:lnTo>
                    <a:pt x="0" y="2549237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50443" y="5171901"/>
              <a:ext cx="2033145" cy="148705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445363" y="5166821"/>
              <a:ext cx="2043430" cy="1497330"/>
            </a:xfrm>
            <a:custGeom>
              <a:avLst/>
              <a:gdLst/>
              <a:ahLst/>
              <a:cxnLst/>
              <a:rect l="l" t="t" r="r" b="b"/>
              <a:pathLst>
                <a:path w="2043429" h="1497329">
                  <a:moveTo>
                    <a:pt x="0" y="0"/>
                  </a:moveTo>
                  <a:lnTo>
                    <a:pt x="2043305" y="0"/>
                  </a:lnTo>
                  <a:lnTo>
                    <a:pt x="2043305" y="1497212"/>
                  </a:lnTo>
                  <a:lnTo>
                    <a:pt x="0" y="1497212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58139" y="370840"/>
            <a:ext cx="935418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60" dirty="0"/>
              <a:t>Use</a:t>
            </a:r>
            <a:r>
              <a:rPr sz="3700" spc="-185" dirty="0"/>
              <a:t> </a:t>
            </a:r>
            <a:r>
              <a:rPr sz="3700" spc="-75" dirty="0"/>
              <a:t>EXCEPT</a:t>
            </a:r>
            <a:r>
              <a:rPr sz="3700" spc="-175" dirty="0"/>
              <a:t> </a:t>
            </a:r>
            <a:r>
              <a:rPr sz="3700" spc="-45" dirty="0"/>
              <a:t>to</a:t>
            </a:r>
            <a:r>
              <a:rPr sz="3700" spc="-185" dirty="0"/>
              <a:t> </a:t>
            </a:r>
            <a:r>
              <a:rPr sz="3700" spc="-75" dirty="0"/>
              <a:t>Solve</a:t>
            </a:r>
            <a:r>
              <a:rPr sz="3700" spc="-175" dirty="0"/>
              <a:t> </a:t>
            </a:r>
            <a:r>
              <a:rPr sz="3700" spc="-60" dirty="0"/>
              <a:t>the</a:t>
            </a:r>
            <a:r>
              <a:rPr sz="3700" spc="-185" dirty="0"/>
              <a:t> </a:t>
            </a:r>
            <a:r>
              <a:rPr sz="3700" spc="-80" dirty="0"/>
              <a:t>Problem</a:t>
            </a:r>
            <a:r>
              <a:rPr sz="3700" spc="-140" dirty="0"/>
              <a:t> </a:t>
            </a:r>
            <a:r>
              <a:rPr sz="3700" b="0" spc="-65" dirty="0">
                <a:latin typeface="Verdana"/>
                <a:cs typeface="Verdana"/>
              </a:rPr>
              <a:t>(5)</a:t>
            </a:r>
            <a:endParaRPr sz="37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48154" y="2007329"/>
            <a:ext cx="8961755" cy="1427480"/>
            <a:chOff x="648154" y="2007329"/>
            <a:chExt cx="8961755" cy="1427480"/>
          </a:xfrm>
        </p:grpSpPr>
        <p:sp>
          <p:nvSpPr>
            <p:cNvPr id="15" name="object 15"/>
            <p:cNvSpPr/>
            <p:nvPr/>
          </p:nvSpPr>
          <p:spPr>
            <a:xfrm>
              <a:off x="662247" y="2021423"/>
              <a:ext cx="8933815" cy="1399540"/>
            </a:xfrm>
            <a:custGeom>
              <a:avLst/>
              <a:gdLst/>
              <a:ahLst/>
              <a:cxnLst/>
              <a:rect l="l" t="t" r="r" b="b"/>
              <a:pathLst>
                <a:path w="8933815" h="1399539">
                  <a:moveTo>
                    <a:pt x="8763456" y="379572"/>
                  </a:moveTo>
                  <a:lnTo>
                    <a:pt x="169953" y="379572"/>
                  </a:lnTo>
                  <a:lnTo>
                    <a:pt x="124773" y="385643"/>
                  </a:lnTo>
                  <a:lnTo>
                    <a:pt x="84174" y="402776"/>
                  </a:lnTo>
                  <a:lnTo>
                    <a:pt x="49778" y="429350"/>
                  </a:lnTo>
                  <a:lnTo>
                    <a:pt x="23203" y="463747"/>
                  </a:lnTo>
                  <a:lnTo>
                    <a:pt x="6070" y="504345"/>
                  </a:lnTo>
                  <a:lnTo>
                    <a:pt x="0" y="549526"/>
                  </a:lnTo>
                  <a:lnTo>
                    <a:pt x="0" y="1229313"/>
                  </a:lnTo>
                  <a:lnTo>
                    <a:pt x="6070" y="1274493"/>
                  </a:lnTo>
                  <a:lnTo>
                    <a:pt x="23203" y="1315091"/>
                  </a:lnTo>
                  <a:lnTo>
                    <a:pt x="49778" y="1349487"/>
                  </a:lnTo>
                  <a:lnTo>
                    <a:pt x="84174" y="1376062"/>
                  </a:lnTo>
                  <a:lnTo>
                    <a:pt x="124773" y="1393194"/>
                  </a:lnTo>
                  <a:lnTo>
                    <a:pt x="169953" y="1399265"/>
                  </a:lnTo>
                  <a:lnTo>
                    <a:pt x="8763456" y="1399265"/>
                  </a:lnTo>
                  <a:lnTo>
                    <a:pt x="8808636" y="1393194"/>
                  </a:lnTo>
                  <a:lnTo>
                    <a:pt x="8849235" y="1376062"/>
                  </a:lnTo>
                  <a:lnTo>
                    <a:pt x="8883631" y="1349487"/>
                  </a:lnTo>
                  <a:lnTo>
                    <a:pt x="8910206" y="1315091"/>
                  </a:lnTo>
                  <a:lnTo>
                    <a:pt x="8927339" y="1274493"/>
                  </a:lnTo>
                  <a:lnTo>
                    <a:pt x="8933410" y="1229313"/>
                  </a:lnTo>
                  <a:lnTo>
                    <a:pt x="8933410" y="549526"/>
                  </a:lnTo>
                  <a:lnTo>
                    <a:pt x="8927339" y="504345"/>
                  </a:lnTo>
                  <a:lnTo>
                    <a:pt x="8910206" y="463747"/>
                  </a:lnTo>
                  <a:lnTo>
                    <a:pt x="8883631" y="429350"/>
                  </a:lnTo>
                  <a:lnTo>
                    <a:pt x="8849235" y="402776"/>
                  </a:lnTo>
                  <a:lnTo>
                    <a:pt x="8808636" y="385643"/>
                  </a:lnTo>
                  <a:lnTo>
                    <a:pt x="8763456" y="379572"/>
                  </a:lnTo>
                  <a:close/>
                </a:path>
                <a:path w="8933815" h="1399539">
                  <a:moveTo>
                    <a:pt x="1283640" y="0"/>
                  </a:moveTo>
                  <a:lnTo>
                    <a:pt x="1488901" y="379572"/>
                  </a:lnTo>
                  <a:lnTo>
                    <a:pt x="3722254" y="379572"/>
                  </a:lnTo>
                  <a:lnTo>
                    <a:pt x="1283640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2247" y="2021423"/>
              <a:ext cx="8933815" cy="1399540"/>
            </a:xfrm>
            <a:custGeom>
              <a:avLst/>
              <a:gdLst/>
              <a:ahLst/>
              <a:cxnLst/>
              <a:rect l="l" t="t" r="r" b="b"/>
              <a:pathLst>
                <a:path w="8933815" h="1399539">
                  <a:moveTo>
                    <a:pt x="0" y="549526"/>
                  </a:moveTo>
                  <a:lnTo>
                    <a:pt x="6070" y="504346"/>
                  </a:lnTo>
                  <a:lnTo>
                    <a:pt x="23203" y="463747"/>
                  </a:lnTo>
                  <a:lnTo>
                    <a:pt x="49778" y="429351"/>
                  </a:lnTo>
                  <a:lnTo>
                    <a:pt x="84174" y="402776"/>
                  </a:lnTo>
                  <a:lnTo>
                    <a:pt x="124773" y="385643"/>
                  </a:lnTo>
                  <a:lnTo>
                    <a:pt x="169953" y="379572"/>
                  </a:lnTo>
                  <a:lnTo>
                    <a:pt x="1488901" y="379572"/>
                  </a:lnTo>
                  <a:lnTo>
                    <a:pt x="1283640" y="0"/>
                  </a:lnTo>
                  <a:lnTo>
                    <a:pt x="3722254" y="379572"/>
                  </a:lnTo>
                  <a:lnTo>
                    <a:pt x="8763456" y="379572"/>
                  </a:lnTo>
                  <a:lnTo>
                    <a:pt x="8808637" y="385643"/>
                  </a:lnTo>
                  <a:lnTo>
                    <a:pt x="8849236" y="402776"/>
                  </a:lnTo>
                  <a:lnTo>
                    <a:pt x="8883632" y="429351"/>
                  </a:lnTo>
                  <a:lnTo>
                    <a:pt x="8910207" y="463747"/>
                  </a:lnTo>
                  <a:lnTo>
                    <a:pt x="8927340" y="504346"/>
                  </a:lnTo>
                  <a:lnTo>
                    <a:pt x="8933411" y="549526"/>
                  </a:lnTo>
                  <a:lnTo>
                    <a:pt x="8933411" y="804447"/>
                  </a:lnTo>
                  <a:lnTo>
                    <a:pt x="8933411" y="1229312"/>
                  </a:lnTo>
                  <a:lnTo>
                    <a:pt x="8927340" y="1274493"/>
                  </a:lnTo>
                  <a:lnTo>
                    <a:pt x="8910207" y="1315091"/>
                  </a:lnTo>
                  <a:lnTo>
                    <a:pt x="8883632" y="1349488"/>
                  </a:lnTo>
                  <a:lnTo>
                    <a:pt x="8849236" y="1376062"/>
                  </a:lnTo>
                  <a:lnTo>
                    <a:pt x="8808637" y="1393195"/>
                  </a:lnTo>
                  <a:lnTo>
                    <a:pt x="8763456" y="1399266"/>
                  </a:lnTo>
                  <a:lnTo>
                    <a:pt x="3722254" y="1399266"/>
                  </a:lnTo>
                  <a:lnTo>
                    <a:pt x="1488901" y="1399266"/>
                  </a:lnTo>
                  <a:lnTo>
                    <a:pt x="169953" y="1399266"/>
                  </a:lnTo>
                  <a:lnTo>
                    <a:pt x="124773" y="1393195"/>
                  </a:lnTo>
                  <a:lnTo>
                    <a:pt x="84174" y="1376062"/>
                  </a:lnTo>
                  <a:lnTo>
                    <a:pt x="49778" y="1349488"/>
                  </a:lnTo>
                  <a:lnTo>
                    <a:pt x="23203" y="1315091"/>
                  </a:lnTo>
                  <a:lnTo>
                    <a:pt x="6070" y="1274493"/>
                  </a:lnTo>
                  <a:lnTo>
                    <a:pt x="0" y="1229312"/>
                  </a:lnTo>
                  <a:lnTo>
                    <a:pt x="0" y="804447"/>
                  </a:lnTo>
                  <a:lnTo>
                    <a:pt x="0" y="549526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7694" y="2485136"/>
            <a:ext cx="84810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7660" marR="5080" indent="-1585595">
              <a:lnSpc>
                <a:spcPct val="119000"/>
              </a:lnSpc>
              <a:spcBef>
                <a:spcPts val="100"/>
              </a:spcBef>
            </a:pP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all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customers</a:t>
            </a:r>
            <a:r>
              <a:rPr sz="21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who</a:t>
            </a:r>
            <a:r>
              <a:rPr sz="21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have</a:t>
            </a:r>
            <a:r>
              <a:rPr sz="21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purchased</a:t>
            </a:r>
            <a:r>
              <a:rPr sz="210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sz="21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other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companies </a:t>
            </a:r>
            <a:r>
              <a:rPr sz="2100" spc="-7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Then,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FFFFFF"/>
                </a:solidFill>
                <a:latin typeface="Verdana"/>
                <a:cs typeface="Verdana"/>
              </a:rPr>
              <a:t>names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customers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75943" y="1275495"/>
            <a:ext cx="418465" cy="360045"/>
            <a:chOff x="775943" y="1275495"/>
            <a:chExt cx="418465" cy="360045"/>
          </a:xfrm>
        </p:grpSpPr>
        <p:sp>
          <p:nvSpPr>
            <p:cNvPr id="19" name="object 19"/>
            <p:cNvSpPr/>
            <p:nvPr/>
          </p:nvSpPr>
          <p:spPr>
            <a:xfrm>
              <a:off x="790037" y="1289588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5">
                  <a:moveTo>
                    <a:pt x="247344" y="0"/>
                  </a:moveTo>
                  <a:lnTo>
                    <a:pt x="142799" y="0"/>
                  </a:lnTo>
                  <a:lnTo>
                    <a:pt x="52272" y="44430"/>
                  </a:lnTo>
                  <a:lnTo>
                    <a:pt x="0" y="121378"/>
                  </a:lnTo>
                  <a:lnTo>
                    <a:pt x="0" y="210242"/>
                  </a:lnTo>
                  <a:lnTo>
                    <a:pt x="52272" y="287190"/>
                  </a:lnTo>
                  <a:lnTo>
                    <a:pt x="142799" y="331621"/>
                  </a:lnTo>
                  <a:lnTo>
                    <a:pt x="247344" y="331621"/>
                  </a:lnTo>
                  <a:lnTo>
                    <a:pt x="337871" y="287190"/>
                  </a:lnTo>
                  <a:lnTo>
                    <a:pt x="390144" y="210242"/>
                  </a:lnTo>
                  <a:lnTo>
                    <a:pt x="390144" y="121378"/>
                  </a:lnTo>
                  <a:lnTo>
                    <a:pt x="337871" y="44430"/>
                  </a:lnTo>
                  <a:lnTo>
                    <a:pt x="24734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0037" y="1289588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5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12295" y="1240535"/>
            <a:ext cx="6604000" cy="7416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542290" marR="5080" indent="-530225">
              <a:lnSpc>
                <a:spcPts val="2880"/>
              </a:lnSpc>
              <a:spcBef>
                <a:spcPts val="80"/>
              </a:spcBef>
              <a:tabLst>
                <a:tab pos="542290" algn="l"/>
              </a:tabLst>
            </a:pPr>
            <a:r>
              <a:rPr sz="2550" baseline="1633" dirty="0">
                <a:solidFill>
                  <a:srgbClr val="FFFFFF"/>
                </a:solidFill>
                <a:latin typeface="Arial MT"/>
                <a:cs typeface="Arial MT"/>
              </a:rPr>
              <a:t>2	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(Find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 customers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purchased </a:t>
            </a:r>
            <a:r>
              <a:rPr sz="2300" spc="-7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other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companies,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7777)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37160" y="1106478"/>
            <a:ext cx="9784080" cy="6142355"/>
            <a:chOff x="137160" y="1106478"/>
            <a:chExt cx="9784080" cy="6142355"/>
          </a:xfrm>
        </p:grpSpPr>
        <p:sp>
          <p:nvSpPr>
            <p:cNvPr id="4" name="object 4"/>
            <p:cNvSpPr/>
            <p:nvPr/>
          </p:nvSpPr>
          <p:spPr>
            <a:xfrm>
              <a:off x="152400" y="1121718"/>
              <a:ext cx="9753600" cy="0"/>
            </a:xfrm>
            <a:custGeom>
              <a:avLst/>
              <a:gdLst/>
              <a:ahLst/>
              <a:cxnLst/>
              <a:rect l="l" t="t" r="r" b="b"/>
              <a:pathLst>
                <a:path w="9753600">
                  <a:moveTo>
                    <a:pt x="0" y="0"/>
                  </a:moveTo>
                  <a:lnTo>
                    <a:pt x="9753599" y="1"/>
                  </a:lnTo>
                </a:path>
              </a:pathLst>
            </a:custGeom>
            <a:ln w="30479">
              <a:solidFill>
                <a:srgbClr val="431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11438" y="1137458"/>
              <a:ext cx="2194560" cy="6096000"/>
            </a:xfrm>
            <a:custGeom>
              <a:avLst/>
              <a:gdLst/>
              <a:ahLst/>
              <a:cxnLst/>
              <a:rect l="l" t="t" r="r" b="b"/>
              <a:pathLst>
                <a:path w="2194559" h="6096000">
                  <a:moveTo>
                    <a:pt x="2194561" y="0"/>
                  </a:moveTo>
                  <a:lnTo>
                    <a:pt x="0" y="0"/>
                  </a:lnTo>
                  <a:lnTo>
                    <a:pt x="0" y="6095999"/>
                  </a:lnTo>
                  <a:lnTo>
                    <a:pt x="2194561" y="6095999"/>
                  </a:lnTo>
                  <a:lnTo>
                    <a:pt x="2194561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11438" y="1137458"/>
              <a:ext cx="2194560" cy="6096000"/>
            </a:xfrm>
            <a:custGeom>
              <a:avLst/>
              <a:gdLst/>
              <a:ahLst/>
              <a:cxnLst/>
              <a:rect l="l" t="t" r="r" b="b"/>
              <a:pathLst>
                <a:path w="2194559" h="6096000">
                  <a:moveTo>
                    <a:pt x="0" y="0"/>
                  </a:moveTo>
                  <a:lnTo>
                    <a:pt x="2194561" y="0"/>
                  </a:lnTo>
                  <a:lnTo>
                    <a:pt x="2194561" y="6095999"/>
                  </a:lnTo>
                  <a:lnTo>
                    <a:pt x="0" y="6095999"/>
                  </a:lnTo>
                  <a:lnTo>
                    <a:pt x="0" y="0"/>
                  </a:lnTo>
                  <a:close/>
                </a:path>
              </a:pathLst>
            </a:custGeom>
            <a:ln w="304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8900" y="3952702"/>
              <a:ext cx="7093584" cy="2327910"/>
            </a:xfrm>
            <a:custGeom>
              <a:avLst/>
              <a:gdLst/>
              <a:ahLst/>
              <a:cxnLst/>
              <a:rect l="l" t="t" r="r" b="b"/>
              <a:pathLst>
                <a:path w="7093584" h="2327910">
                  <a:moveTo>
                    <a:pt x="0" y="0"/>
                  </a:moveTo>
                  <a:lnTo>
                    <a:pt x="7093527" y="0"/>
                  </a:lnTo>
                  <a:lnTo>
                    <a:pt x="7093527" y="2327562"/>
                  </a:lnTo>
                  <a:lnTo>
                    <a:pt x="0" y="2327562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94726" y="4010151"/>
            <a:ext cx="3799204" cy="732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 marR="5080" indent="-146050">
              <a:lnSpc>
                <a:spcPct val="1221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T3.custId,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T3.name </a:t>
            </a:r>
            <a:r>
              <a:rPr sz="1900" spc="-11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1900" spc="-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T1.custId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0353" y="4717288"/>
            <a:ext cx="6711950" cy="1437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3760" marR="5080">
              <a:lnSpc>
                <a:spcPct val="123200"/>
              </a:lnSpc>
              <a:spcBef>
                <a:spcPts val="100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Purchase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T1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NATURAL</a:t>
            </a:r>
            <a:r>
              <a:rPr sz="1900" spc="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JOIN</a:t>
            </a:r>
            <a:r>
              <a:rPr sz="1900" spc="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Product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T2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T2.cid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&lt;&gt;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7777</a:t>
            </a:r>
            <a:endParaRPr sz="1900">
              <a:latin typeface="Courier New"/>
              <a:cs typeface="Courier New"/>
            </a:endParaRPr>
          </a:p>
          <a:p>
            <a:pPr marL="873760">
              <a:lnSpc>
                <a:spcPct val="100000"/>
              </a:lnSpc>
              <a:spcBef>
                <a:spcPts val="405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GROUP BY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T1.custId) T</a:t>
            </a:r>
            <a:endParaRPr sz="1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NATURAL JOIN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Customer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T3)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4726" y="1300480"/>
            <a:ext cx="4526915" cy="7143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T3.custId,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T3.name</a:t>
            </a:r>
            <a:endParaRPr sz="1900">
              <a:latin typeface="Courier New"/>
              <a:cs typeface="Courier New"/>
            </a:endParaRPr>
          </a:p>
          <a:p>
            <a:pPr marL="145415">
              <a:lnSpc>
                <a:spcPct val="100000"/>
              </a:lnSpc>
              <a:spcBef>
                <a:spcPts val="430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T1.custId,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T2.cid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8533" y="1998472"/>
            <a:ext cx="6803390" cy="170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0" marR="5080">
              <a:lnSpc>
                <a:spcPct val="114700"/>
              </a:lnSpc>
              <a:spcBef>
                <a:spcPts val="100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Purchase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T1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NATURAL</a:t>
            </a:r>
            <a:r>
              <a:rPr sz="1900" spc="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JOIN</a:t>
            </a:r>
            <a:r>
              <a:rPr sz="1900" spc="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Product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T2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GROUP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BY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T1.custId,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T2.cid)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endParaRPr sz="19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405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NATURAL JOIN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Customer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T3)</a:t>
            </a:r>
            <a:endParaRPr sz="1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00" spc="30" dirty="0">
                <a:solidFill>
                  <a:srgbClr val="C00000"/>
                </a:solidFill>
                <a:latin typeface="Courier New"/>
                <a:cs typeface="Courier New"/>
              </a:rPr>
              <a:t>EXCEPT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08741" y="1193800"/>
            <a:ext cx="9618980" cy="6005830"/>
            <a:chOff x="208741" y="1193800"/>
            <a:chExt cx="9618980" cy="6005830"/>
          </a:xfrm>
        </p:grpSpPr>
        <p:sp>
          <p:nvSpPr>
            <p:cNvPr id="13" name="object 13"/>
            <p:cNvSpPr/>
            <p:nvPr/>
          </p:nvSpPr>
          <p:spPr>
            <a:xfrm>
              <a:off x="218901" y="1248291"/>
              <a:ext cx="7093584" cy="1884680"/>
            </a:xfrm>
            <a:custGeom>
              <a:avLst/>
              <a:gdLst/>
              <a:ahLst/>
              <a:cxnLst/>
              <a:rect l="l" t="t" r="r" b="b"/>
              <a:pathLst>
                <a:path w="7093584" h="1884680">
                  <a:moveTo>
                    <a:pt x="0" y="0"/>
                  </a:moveTo>
                  <a:lnTo>
                    <a:pt x="7093527" y="0"/>
                  </a:lnTo>
                  <a:lnTo>
                    <a:pt x="7093527" y="1884220"/>
                  </a:lnTo>
                  <a:lnTo>
                    <a:pt x="0" y="1884220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08865" y="1203960"/>
              <a:ext cx="2008464" cy="267248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803785" y="1198880"/>
              <a:ext cx="2018664" cy="2682875"/>
            </a:xfrm>
            <a:custGeom>
              <a:avLst/>
              <a:gdLst/>
              <a:ahLst/>
              <a:cxnLst/>
              <a:rect l="l" t="t" r="r" b="b"/>
              <a:pathLst>
                <a:path w="2018665" h="2682875">
                  <a:moveTo>
                    <a:pt x="0" y="0"/>
                  </a:moveTo>
                  <a:lnTo>
                    <a:pt x="2018623" y="0"/>
                  </a:lnTo>
                  <a:lnTo>
                    <a:pt x="2018623" y="2682646"/>
                  </a:lnTo>
                  <a:lnTo>
                    <a:pt x="0" y="2682646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6484" y="6272285"/>
              <a:ext cx="1998874" cy="91683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811404" y="6267204"/>
              <a:ext cx="2009139" cy="927100"/>
            </a:xfrm>
            <a:custGeom>
              <a:avLst/>
              <a:gdLst/>
              <a:ahLst/>
              <a:cxnLst/>
              <a:rect l="l" t="t" r="r" b="b"/>
              <a:pathLst>
                <a:path w="2009140" h="927100">
                  <a:moveTo>
                    <a:pt x="0" y="0"/>
                  </a:moveTo>
                  <a:lnTo>
                    <a:pt x="2009034" y="0"/>
                  </a:lnTo>
                  <a:lnTo>
                    <a:pt x="2009034" y="926998"/>
                  </a:lnTo>
                  <a:lnTo>
                    <a:pt x="0" y="926998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84184" y="4373880"/>
              <a:ext cx="2033145" cy="148705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779104" y="4368800"/>
              <a:ext cx="2043430" cy="1497330"/>
            </a:xfrm>
            <a:custGeom>
              <a:avLst/>
              <a:gdLst/>
              <a:ahLst/>
              <a:cxnLst/>
              <a:rect l="l" t="t" r="r" b="b"/>
              <a:pathLst>
                <a:path w="2043429" h="1497329">
                  <a:moveTo>
                    <a:pt x="0" y="0"/>
                  </a:moveTo>
                  <a:lnTo>
                    <a:pt x="2043305" y="0"/>
                  </a:lnTo>
                  <a:lnTo>
                    <a:pt x="2043305" y="1497212"/>
                  </a:lnTo>
                  <a:lnTo>
                    <a:pt x="0" y="1497212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710907" y="3843020"/>
            <a:ext cx="2552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80889" y="5772403"/>
            <a:ext cx="325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9753600" cy="870585"/>
          </a:xfrm>
          <a:prstGeom prst="rect">
            <a:avLst/>
          </a:prstGeom>
          <a:solidFill>
            <a:srgbClr val="E6E6FA"/>
          </a:solidFill>
        </p:spPr>
        <p:txBody>
          <a:bodyPr vert="horz" wrap="square" lIns="0" tIns="15494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220"/>
              </a:spcBef>
            </a:pPr>
            <a:r>
              <a:rPr sz="3700" spc="-60" dirty="0"/>
              <a:t>Use</a:t>
            </a:r>
            <a:r>
              <a:rPr sz="3700" spc="-185" dirty="0"/>
              <a:t> </a:t>
            </a:r>
            <a:r>
              <a:rPr sz="3700" spc="-75" dirty="0"/>
              <a:t>EXCEPT</a:t>
            </a:r>
            <a:r>
              <a:rPr sz="3700" spc="-175" dirty="0"/>
              <a:t> </a:t>
            </a:r>
            <a:r>
              <a:rPr sz="3700" spc="-45" dirty="0"/>
              <a:t>to</a:t>
            </a:r>
            <a:r>
              <a:rPr sz="3700" spc="-185" dirty="0"/>
              <a:t> </a:t>
            </a:r>
            <a:r>
              <a:rPr sz="3700" spc="-75" dirty="0"/>
              <a:t>Solve</a:t>
            </a:r>
            <a:r>
              <a:rPr sz="3700" spc="-175" dirty="0"/>
              <a:t> </a:t>
            </a:r>
            <a:r>
              <a:rPr sz="3700" spc="-60" dirty="0"/>
              <a:t>the</a:t>
            </a:r>
            <a:r>
              <a:rPr sz="3700" spc="-185" dirty="0"/>
              <a:t> </a:t>
            </a:r>
            <a:r>
              <a:rPr sz="3700" spc="-80" dirty="0"/>
              <a:t>Problem</a:t>
            </a:r>
            <a:r>
              <a:rPr sz="3700" spc="-170" dirty="0"/>
              <a:t> </a:t>
            </a:r>
            <a:r>
              <a:rPr sz="3700" b="0" spc="-65" dirty="0">
                <a:latin typeface="Verdana"/>
                <a:cs typeface="Verdana"/>
              </a:rPr>
              <a:t>(6)</a:t>
            </a:r>
            <a:endParaRPr sz="3700">
              <a:latin typeface="Verdana"/>
              <a:cs typeface="Verdan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grpSp>
        <p:nvGrpSpPr>
          <p:cNvPr id="23" name="object 23"/>
          <p:cNvGrpSpPr/>
          <p:nvPr/>
        </p:nvGrpSpPr>
        <p:grpSpPr>
          <a:xfrm>
            <a:off x="6819157" y="4029252"/>
            <a:ext cx="419100" cy="360680"/>
            <a:chOff x="6819157" y="4029252"/>
            <a:chExt cx="419100" cy="360680"/>
          </a:xfrm>
        </p:grpSpPr>
        <p:sp>
          <p:nvSpPr>
            <p:cNvPr id="24" name="object 24"/>
            <p:cNvSpPr/>
            <p:nvPr/>
          </p:nvSpPr>
          <p:spPr>
            <a:xfrm>
              <a:off x="6833444" y="4043540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247343" y="0"/>
                  </a:moveTo>
                  <a:lnTo>
                    <a:pt x="142798" y="0"/>
                  </a:lnTo>
                  <a:lnTo>
                    <a:pt x="52271" y="44432"/>
                  </a:lnTo>
                  <a:lnTo>
                    <a:pt x="0" y="121380"/>
                  </a:lnTo>
                  <a:lnTo>
                    <a:pt x="0" y="210243"/>
                  </a:lnTo>
                  <a:lnTo>
                    <a:pt x="52271" y="287191"/>
                  </a:lnTo>
                  <a:lnTo>
                    <a:pt x="142798" y="331622"/>
                  </a:lnTo>
                  <a:lnTo>
                    <a:pt x="247343" y="331622"/>
                  </a:lnTo>
                  <a:lnTo>
                    <a:pt x="337870" y="287191"/>
                  </a:lnTo>
                  <a:lnTo>
                    <a:pt x="390144" y="210243"/>
                  </a:lnTo>
                  <a:lnTo>
                    <a:pt x="390144" y="121380"/>
                  </a:lnTo>
                  <a:lnTo>
                    <a:pt x="337870" y="44432"/>
                  </a:lnTo>
                  <a:lnTo>
                    <a:pt x="247343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833444" y="4043540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968402" y="4066032"/>
            <a:ext cx="1333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805876" y="1295923"/>
            <a:ext cx="418465" cy="360045"/>
            <a:chOff x="6805876" y="1295923"/>
            <a:chExt cx="418465" cy="360045"/>
          </a:xfrm>
        </p:grpSpPr>
        <p:sp>
          <p:nvSpPr>
            <p:cNvPr id="28" name="object 28"/>
            <p:cNvSpPr/>
            <p:nvPr/>
          </p:nvSpPr>
          <p:spPr>
            <a:xfrm>
              <a:off x="6819970" y="1310016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5">
                  <a:moveTo>
                    <a:pt x="247343" y="0"/>
                  </a:moveTo>
                  <a:lnTo>
                    <a:pt x="142800" y="0"/>
                  </a:lnTo>
                  <a:lnTo>
                    <a:pt x="52271" y="44432"/>
                  </a:lnTo>
                  <a:lnTo>
                    <a:pt x="0" y="121380"/>
                  </a:lnTo>
                  <a:lnTo>
                    <a:pt x="0" y="210243"/>
                  </a:lnTo>
                  <a:lnTo>
                    <a:pt x="52271" y="287191"/>
                  </a:lnTo>
                  <a:lnTo>
                    <a:pt x="142800" y="331622"/>
                  </a:lnTo>
                  <a:lnTo>
                    <a:pt x="247343" y="331622"/>
                  </a:lnTo>
                  <a:lnTo>
                    <a:pt x="337872" y="287191"/>
                  </a:lnTo>
                  <a:lnTo>
                    <a:pt x="390144" y="210243"/>
                  </a:lnTo>
                  <a:lnTo>
                    <a:pt x="390144" y="121380"/>
                  </a:lnTo>
                  <a:lnTo>
                    <a:pt x="337872" y="44432"/>
                  </a:lnTo>
                  <a:lnTo>
                    <a:pt x="247343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19970" y="1310016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5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954928" y="1331976"/>
            <a:ext cx="1333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37160" y="1106478"/>
            <a:ext cx="9784080" cy="6142355"/>
            <a:chOff x="137160" y="1106478"/>
            <a:chExt cx="9784080" cy="6142355"/>
          </a:xfrm>
        </p:grpSpPr>
        <p:sp>
          <p:nvSpPr>
            <p:cNvPr id="4" name="object 4"/>
            <p:cNvSpPr/>
            <p:nvPr/>
          </p:nvSpPr>
          <p:spPr>
            <a:xfrm>
              <a:off x="152400" y="1121718"/>
              <a:ext cx="9753600" cy="0"/>
            </a:xfrm>
            <a:custGeom>
              <a:avLst/>
              <a:gdLst/>
              <a:ahLst/>
              <a:cxnLst/>
              <a:rect l="l" t="t" r="r" b="b"/>
              <a:pathLst>
                <a:path w="9753600">
                  <a:moveTo>
                    <a:pt x="0" y="0"/>
                  </a:moveTo>
                  <a:lnTo>
                    <a:pt x="9753599" y="1"/>
                  </a:lnTo>
                </a:path>
              </a:pathLst>
            </a:custGeom>
            <a:ln w="30479">
              <a:solidFill>
                <a:srgbClr val="431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11438" y="1137458"/>
              <a:ext cx="2194560" cy="6096000"/>
            </a:xfrm>
            <a:custGeom>
              <a:avLst/>
              <a:gdLst/>
              <a:ahLst/>
              <a:cxnLst/>
              <a:rect l="l" t="t" r="r" b="b"/>
              <a:pathLst>
                <a:path w="2194559" h="6096000">
                  <a:moveTo>
                    <a:pt x="2194561" y="0"/>
                  </a:moveTo>
                  <a:lnTo>
                    <a:pt x="0" y="0"/>
                  </a:lnTo>
                  <a:lnTo>
                    <a:pt x="0" y="6095999"/>
                  </a:lnTo>
                  <a:lnTo>
                    <a:pt x="2194561" y="6095999"/>
                  </a:lnTo>
                  <a:lnTo>
                    <a:pt x="2194561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11438" y="1137458"/>
              <a:ext cx="2194560" cy="6096000"/>
            </a:xfrm>
            <a:custGeom>
              <a:avLst/>
              <a:gdLst/>
              <a:ahLst/>
              <a:cxnLst/>
              <a:rect l="l" t="t" r="r" b="b"/>
              <a:pathLst>
                <a:path w="2194559" h="6096000">
                  <a:moveTo>
                    <a:pt x="0" y="0"/>
                  </a:moveTo>
                  <a:lnTo>
                    <a:pt x="2194561" y="0"/>
                  </a:lnTo>
                  <a:lnTo>
                    <a:pt x="2194561" y="6095999"/>
                  </a:lnTo>
                  <a:lnTo>
                    <a:pt x="0" y="6095999"/>
                  </a:lnTo>
                  <a:lnTo>
                    <a:pt x="0" y="0"/>
                  </a:lnTo>
                  <a:close/>
                </a:path>
              </a:pathLst>
            </a:custGeom>
            <a:ln w="304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52709" y="1181792"/>
              <a:ext cx="1587282" cy="211205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047629" y="1176712"/>
              <a:ext cx="1597660" cy="2122805"/>
            </a:xfrm>
            <a:custGeom>
              <a:avLst/>
              <a:gdLst/>
              <a:ahLst/>
              <a:cxnLst/>
              <a:rect l="l" t="t" r="r" b="b"/>
              <a:pathLst>
                <a:path w="1597659" h="2122804">
                  <a:moveTo>
                    <a:pt x="0" y="0"/>
                  </a:moveTo>
                  <a:lnTo>
                    <a:pt x="1597443" y="0"/>
                  </a:lnTo>
                  <a:lnTo>
                    <a:pt x="1597443" y="2122218"/>
                  </a:lnTo>
                  <a:lnTo>
                    <a:pt x="0" y="2122218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28027" y="3664523"/>
              <a:ext cx="1606788" cy="117521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022946" y="3659442"/>
              <a:ext cx="1617345" cy="1185545"/>
            </a:xfrm>
            <a:custGeom>
              <a:avLst/>
              <a:gdLst/>
              <a:ahLst/>
              <a:cxnLst/>
              <a:rect l="l" t="t" r="r" b="b"/>
              <a:pathLst>
                <a:path w="1617345" h="1185545">
                  <a:moveTo>
                    <a:pt x="0" y="0"/>
                  </a:moveTo>
                  <a:lnTo>
                    <a:pt x="1616949" y="0"/>
                  </a:lnTo>
                  <a:lnTo>
                    <a:pt x="1616949" y="1185373"/>
                  </a:lnTo>
                  <a:lnTo>
                    <a:pt x="0" y="1185373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9753600" cy="870585"/>
          </a:xfrm>
          <a:prstGeom prst="rect">
            <a:avLst/>
          </a:prstGeom>
          <a:solidFill>
            <a:srgbClr val="E6E6FA"/>
          </a:solidFill>
        </p:spPr>
        <p:txBody>
          <a:bodyPr vert="horz" wrap="square" lIns="0" tIns="99695" rIns="0" bIns="0" rtlCol="0">
            <a:spAutoFit/>
          </a:bodyPr>
          <a:lstStyle/>
          <a:p>
            <a:pPr marL="16510" algn="ctr">
              <a:lnSpc>
                <a:spcPct val="100000"/>
              </a:lnSpc>
              <a:spcBef>
                <a:spcPts val="785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30" dirty="0"/>
              <a:t>a</a:t>
            </a:r>
            <a:r>
              <a:rPr spc="-140" dirty="0"/>
              <a:t>m</a:t>
            </a:r>
            <a:r>
              <a:rPr spc="-130" dirty="0"/>
              <a:t>p</a:t>
            </a:r>
            <a:r>
              <a:rPr spc="-125" dirty="0"/>
              <a:t>le</a:t>
            </a:r>
            <a:r>
              <a:rPr dirty="0"/>
              <a:t>:</a:t>
            </a:r>
            <a:r>
              <a:rPr spc="-240" dirty="0"/>
              <a:t> </a:t>
            </a:r>
            <a:r>
              <a:rPr spc="-135" dirty="0"/>
              <a:t>UN</a:t>
            </a:r>
            <a:r>
              <a:rPr spc="-120" dirty="0"/>
              <a:t>I</a:t>
            </a:r>
            <a:r>
              <a:rPr spc="-140" dirty="0"/>
              <a:t>O</a:t>
            </a:r>
            <a:r>
              <a:rPr dirty="0"/>
              <a:t>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348533" y="3316223"/>
            <a:ext cx="92329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30" dirty="0">
                <a:solidFill>
                  <a:srgbClr val="C00000"/>
                </a:solidFill>
                <a:latin typeface="Courier New"/>
                <a:cs typeface="Courier New"/>
              </a:rPr>
              <a:t>UNION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8900" y="3952702"/>
            <a:ext cx="7093584" cy="232791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220979" marR="3223895" indent="-146050">
              <a:lnSpc>
                <a:spcPct val="122100"/>
              </a:lnSpc>
              <a:spcBef>
                <a:spcPts val="55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T3.custId,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T3.name </a:t>
            </a:r>
            <a:r>
              <a:rPr sz="1900" spc="-11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1900" spc="-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T1.custId</a:t>
            </a:r>
            <a:endParaRPr sz="1900">
              <a:latin typeface="Courier New"/>
              <a:cs typeface="Courier New"/>
            </a:endParaRPr>
          </a:p>
          <a:p>
            <a:pPr marL="1094740" marR="165735">
              <a:lnSpc>
                <a:spcPct val="123200"/>
              </a:lnSpc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Purchase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T1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NATURAL</a:t>
            </a:r>
            <a:r>
              <a:rPr sz="1900" spc="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JOIN</a:t>
            </a:r>
            <a:r>
              <a:rPr sz="1900" spc="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Product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T2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T2.cid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&lt;&gt;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7777</a:t>
            </a:r>
            <a:endParaRPr sz="1900">
              <a:latin typeface="Courier New"/>
              <a:cs typeface="Courier New"/>
            </a:endParaRPr>
          </a:p>
          <a:p>
            <a:pPr marL="1094740">
              <a:lnSpc>
                <a:spcPct val="100000"/>
              </a:lnSpc>
              <a:spcBef>
                <a:spcPts val="409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GROUP BY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T1.custId) T</a:t>
            </a:r>
            <a:endParaRPr sz="1900">
              <a:latin typeface="Courier New"/>
              <a:cs typeface="Courier New"/>
            </a:endParaRPr>
          </a:p>
          <a:p>
            <a:pPr marL="220979">
              <a:lnSpc>
                <a:spcPct val="100000"/>
              </a:lnSpc>
              <a:spcBef>
                <a:spcPts val="525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NATURAL JOIN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Customer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T3)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8901" y="1248291"/>
            <a:ext cx="7093584" cy="188468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94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T3.custId,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T3.name</a:t>
            </a:r>
            <a:endParaRPr sz="1900">
              <a:latin typeface="Courier New"/>
              <a:cs typeface="Courier New"/>
            </a:endParaRPr>
          </a:p>
          <a:p>
            <a:pPr marL="220979">
              <a:lnSpc>
                <a:spcPct val="100000"/>
              </a:lnSpc>
              <a:spcBef>
                <a:spcPts val="434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T1.custId,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T2.cid</a:t>
            </a:r>
            <a:endParaRPr sz="1900">
              <a:latin typeface="Courier New"/>
              <a:cs typeface="Courier New"/>
            </a:endParaRPr>
          </a:p>
          <a:p>
            <a:pPr marL="1094740" marR="165735">
              <a:lnSpc>
                <a:spcPct val="114700"/>
              </a:lnSpc>
              <a:spcBef>
                <a:spcPts val="70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Purchase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T1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NATURAL</a:t>
            </a:r>
            <a:r>
              <a:rPr sz="1900" spc="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JOIN</a:t>
            </a:r>
            <a:r>
              <a:rPr sz="1900" spc="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Product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T2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GROUP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BY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T1.custId,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T2.cid)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endParaRPr sz="1900">
              <a:latin typeface="Courier New"/>
              <a:cs typeface="Courier New"/>
            </a:endParaRPr>
          </a:p>
          <a:p>
            <a:pPr marL="220979">
              <a:lnSpc>
                <a:spcPct val="100000"/>
              </a:lnSpc>
              <a:spcBef>
                <a:spcPts val="409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NATURAL JOIN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Customer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T3)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98207" y="3231387"/>
            <a:ext cx="277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65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68189" y="4731003"/>
            <a:ext cx="3168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042549" y="5117406"/>
            <a:ext cx="1607820" cy="2132965"/>
            <a:chOff x="8042549" y="5117406"/>
            <a:chExt cx="1607820" cy="213296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52709" y="5127566"/>
              <a:ext cx="1587282" cy="211205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047629" y="5122486"/>
              <a:ext cx="1597660" cy="2122805"/>
            </a:xfrm>
            <a:custGeom>
              <a:avLst/>
              <a:gdLst/>
              <a:ahLst/>
              <a:cxnLst/>
              <a:rect l="l" t="t" r="r" b="b"/>
              <a:pathLst>
                <a:path w="1597659" h="2122804">
                  <a:moveTo>
                    <a:pt x="0" y="0"/>
                  </a:moveTo>
                  <a:lnTo>
                    <a:pt x="1597443" y="0"/>
                  </a:lnTo>
                  <a:lnTo>
                    <a:pt x="1597443" y="2122218"/>
                  </a:lnTo>
                  <a:lnTo>
                    <a:pt x="0" y="2122218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37160" y="1106478"/>
            <a:ext cx="9784080" cy="6142355"/>
            <a:chOff x="137160" y="1106478"/>
            <a:chExt cx="9784080" cy="6142355"/>
          </a:xfrm>
        </p:grpSpPr>
        <p:sp>
          <p:nvSpPr>
            <p:cNvPr id="4" name="object 4"/>
            <p:cNvSpPr/>
            <p:nvPr/>
          </p:nvSpPr>
          <p:spPr>
            <a:xfrm>
              <a:off x="152400" y="1121718"/>
              <a:ext cx="9753600" cy="0"/>
            </a:xfrm>
            <a:custGeom>
              <a:avLst/>
              <a:gdLst/>
              <a:ahLst/>
              <a:cxnLst/>
              <a:rect l="l" t="t" r="r" b="b"/>
              <a:pathLst>
                <a:path w="9753600">
                  <a:moveTo>
                    <a:pt x="0" y="0"/>
                  </a:moveTo>
                  <a:lnTo>
                    <a:pt x="9753599" y="1"/>
                  </a:lnTo>
                </a:path>
              </a:pathLst>
            </a:custGeom>
            <a:ln w="30479">
              <a:solidFill>
                <a:srgbClr val="431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11438" y="1137458"/>
              <a:ext cx="2194560" cy="6096000"/>
            </a:xfrm>
            <a:custGeom>
              <a:avLst/>
              <a:gdLst/>
              <a:ahLst/>
              <a:cxnLst/>
              <a:rect l="l" t="t" r="r" b="b"/>
              <a:pathLst>
                <a:path w="2194559" h="6096000">
                  <a:moveTo>
                    <a:pt x="2194561" y="0"/>
                  </a:moveTo>
                  <a:lnTo>
                    <a:pt x="0" y="0"/>
                  </a:lnTo>
                  <a:lnTo>
                    <a:pt x="0" y="6095999"/>
                  </a:lnTo>
                  <a:lnTo>
                    <a:pt x="2194561" y="6095999"/>
                  </a:lnTo>
                  <a:lnTo>
                    <a:pt x="2194561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11438" y="1137458"/>
              <a:ext cx="2194560" cy="6096000"/>
            </a:xfrm>
            <a:custGeom>
              <a:avLst/>
              <a:gdLst/>
              <a:ahLst/>
              <a:cxnLst/>
              <a:rect l="l" t="t" r="r" b="b"/>
              <a:pathLst>
                <a:path w="2194559" h="6096000">
                  <a:moveTo>
                    <a:pt x="0" y="0"/>
                  </a:moveTo>
                  <a:lnTo>
                    <a:pt x="2194561" y="0"/>
                  </a:lnTo>
                  <a:lnTo>
                    <a:pt x="2194561" y="6095999"/>
                  </a:lnTo>
                  <a:lnTo>
                    <a:pt x="0" y="6095999"/>
                  </a:lnTo>
                  <a:lnTo>
                    <a:pt x="0" y="0"/>
                  </a:lnTo>
                  <a:close/>
                </a:path>
              </a:pathLst>
            </a:custGeom>
            <a:ln w="304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52709" y="1181792"/>
              <a:ext cx="1587282" cy="211205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047629" y="1176712"/>
              <a:ext cx="1597660" cy="2122805"/>
            </a:xfrm>
            <a:custGeom>
              <a:avLst/>
              <a:gdLst/>
              <a:ahLst/>
              <a:cxnLst/>
              <a:rect l="l" t="t" r="r" b="b"/>
              <a:pathLst>
                <a:path w="1597659" h="2122804">
                  <a:moveTo>
                    <a:pt x="0" y="0"/>
                  </a:moveTo>
                  <a:lnTo>
                    <a:pt x="1597443" y="0"/>
                  </a:lnTo>
                  <a:lnTo>
                    <a:pt x="1597443" y="2122218"/>
                  </a:lnTo>
                  <a:lnTo>
                    <a:pt x="0" y="2122218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28027" y="3753192"/>
              <a:ext cx="1606788" cy="117521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022946" y="3748112"/>
              <a:ext cx="1617345" cy="1185545"/>
            </a:xfrm>
            <a:custGeom>
              <a:avLst/>
              <a:gdLst/>
              <a:ahLst/>
              <a:cxnLst/>
              <a:rect l="l" t="t" r="r" b="b"/>
              <a:pathLst>
                <a:path w="1617345" h="1185545">
                  <a:moveTo>
                    <a:pt x="0" y="0"/>
                  </a:moveTo>
                  <a:lnTo>
                    <a:pt x="1616949" y="0"/>
                  </a:lnTo>
                  <a:lnTo>
                    <a:pt x="1616949" y="1185373"/>
                  </a:lnTo>
                  <a:lnTo>
                    <a:pt x="0" y="1185373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9753600" cy="870585"/>
          </a:xfrm>
          <a:prstGeom prst="rect">
            <a:avLst/>
          </a:prstGeom>
          <a:solidFill>
            <a:srgbClr val="E6E6FA"/>
          </a:solidFill>
        </p:spPr>
        <p:txBody>
          <a:bodyPr vert="horz" wrap="square" lIns="0" tIns="109220" rIns="0" bIns="0" rtlCol="0">
            <a:spAutoFit/>
          </a:bodyPr>
          <a:lstStyle/>
          <a:p>
            <a:pPr marL="15875" algn="ctr">
              <a:lnSpc>
                <a:spcPct val="100000"/>
              </a:lnSpc>
              <a:spcBef>
                <a:spcPts val="860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30" dirty="0"/>
              <a:t>a</a:t>
            </a:r>
            <a:r>
              <a:rPr spc="-140" dirty="0"/>
              <a:t>m</a:t>
            </a:r>
            <a:r>
              <a:rPr spc="-130" dirty="0"/>
              <a:t>p</a:t>
            </a:r>
            <a:r>
              <a:rPr spc="-125" dirty="0"/>
              <a:t>le</a:t>
            </a:r>
            <a:r>
              <a:rPr dirty="0"/>
              <a:t>:</a:t>
            </a:r>
            <a:r>
              <a:rPr spc="-240" dirty="0"/>
              <a:t> </a:t>
            </a:r>
            <a:r>
              <a:rPr spc="-120" dirty="0"/>
              <a:t>I</a:t>
            </a:r>
            <a:r>
              <a:rPr spc="-135" dirty="0"/>
              <a:t>NT</a:t>
            </a:r>
            <a:r>
              <a:rPr spc="-125" dirty="0"/>
              <a:t>E</a:t>
            </a:r>
            <a:r>
              <a:rPr spc="-140" dirty="0"/>
              <a:t>R</a:t>
            </a:r>
            <a:r>
              <a:rPr spc="-135" dirty="0"/>
              <a:t>S</a:t>
            </a:r>
            <a:r>
              <a:rPr spc="-125" dirty="0"/>
              <a:t>E</a:t>
            </a:r>
            <a:r>
              <a:rPr spc="-130" dirty="0"/>
              <a:t>C</a:t>
            </a:r>
            <a:r>
              <a:rPr dirty="0"/>
              <a:t>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48533" y="3316223"/>
            <a:ext cx="164147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30" dirty="0">
                <a:solidFill>
                  <a:srgbClr val="C00000"/>
                </a:solidFill>
                <a:latin typeface="Courier New"/>
                <a:cs typeface="Courier New"/>
              </a:rPr>
              <a:t>INTERSECT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8900" y="3952702"/>
            <a:ext cx="7093584" cy="232791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220979" marR="3223895" indent="-146050">
              <a:lnSpc>
                <a:spcPct val="122100"/>
              </a:lnSpc>
              <a:spcBef>
                <a:spcPts val="55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T3.custId,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T3.name </a:t>
            </a:r>
            <a:r>
              <a:rPr sz="1900" spc="-11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1900" spc="-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T1.custId</a:t>
            </a:r>
            <a:endParaRPr sz="1900">
              <a:latin typeface="Courier New"/>
              <a:cs typeface="Courier New"/>
            </a:endParaRPr>
          </a:p>
          <a:p>
            <a:pPr marL="1094740" marR="165735">
              <a:lnSpc>
                <a:spcPct val="123200"/>
              </a:lnSpc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Purchase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T1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NATURAL</a:t>
            </a:r>
            <a:r>
              <a:rPr sz="1900" spc="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JO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IN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Product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T2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T2.cid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&lt;&gt;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7777</a:t>
            </a:r>
            <a:endParaRPr sz="1900">
              <a:latin typeface="Courier New"/>
              <a:cs typeface="Courier New"/>
            </a:endParaRPr>
          </a:p>
          <a:p>
            <a:pPr marL="1094740">
              <a:lnSpc>
                <a:spcPct val="100000"/>
              </a:lnSpc>
              <a:spcBef>
                <a:spcPts val="409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GROUP BY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T1.custId) T</a:t>
            </a:r>
            <a:endParaRPr sz="1900">
              <a:latin typeface="Courier New"/>
              <a:cs typeface="Courier New"/>
            </a:endParaRPr>
          </a:p>
          <a:p>
            <a:pPr marL="220979">
              <a:lnSpc>
                <a:spcPct val="100000"/>
              </a:lnSpc>
              <a:spcBef>
                <a:spcPts val="525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NATURAL JOIN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Customer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T3)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8901" y="1248291"/>
            <a:ext cx="7093584" cy="188468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94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T3.custId,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T3.name</a:t>
            </a:r>
            <a:endParaRPr sz="1900">
              <a:latin typeface="Courier New"/>
              <a:cs typeface="Courier New"/>
            </a:endParaRPr>
          </a:p>
          <a:p>
            <a:pPr marL="220979">
              <a:lnSpc>
                <a:spcPct val="100000"/>
              </a:lnSpc>
              <a:spcBef>
                <a:spcPts val="434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T1.custId,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T2.cid</a:t>
            </a:r>
            <a:endParaRPr sz="1900">
              <a:latin typeface="Courier New"/>
              <a:cs typeface="Courier New"/>
            </a:endParaRPr>
          </a:p>
          <a:p>
            <a:pPr marL="1094740" marR="165735">
              <a:lnSpc>
                <a:spcPct val="114700"/>
              </a:lnSpc>
              <a:spcBef>
                <a:spcPts val="70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Purchase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T1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NATURAL</a:t>
            </a:r>
            <a:r>
              <a:rPr sz="1900" spc="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JOIN</a:t>
            </a:r>
            <a:r>
              <a:rPr sz="1900" spc="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Product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T2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GROUP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BY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T1.custId,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T2.cid)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endParaRPr sz="1900">
              <a:latin typeface="Courier New"/>
              <a:cs typeface="Courier New"/>
            </a:endParaRPr>
          </a:p>
          <a:p>
            <a:pPr marL="220979">
              <a:lnSpc>
                <a:spcPct val="100000"/>
              </a:lnSpc>
              <a:spcBef>
                <a:spcPts val="409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NATURAL JOIN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Customer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T3)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10908" y="3154171"/>
            <a:ext cx="3244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Cambria Math"/>
                <a:cs typeface="Cambria Math"/>
              </a:rPr>
              <a:t>∩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80889" y="4886451"/>
            <a:ext cx="304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017867" y="5361245"/>
            <a:ext cx="1627505" cy="1195705"/>
            <a:chOff x="8017867" y="5361245"/>
            <a:chExt cx="1627505" cy="119570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28027" y="5371405"/>
              <a:ext cx="1606788" cy="117521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022947" y="5366325"/>
              <a:ext cx="1617345" cy="1185545"/>
            </a:xfrm>
            <a:custGeom>
              <a:avLst/>
              <a:gdLst/>
              <a:ahLst/>
              <a:cxnLst/>
              <a:rect l="l" t="t" r="r" b="b"/>
              <a:pathLst>
                <a:path w="1617345" h="1185545">
                  <a:moveTo>
                    <a:pt x="0" y="0"/>
                  </a:moveTo>
                  <a:lnTo>
                    <a:pt x="1616949" y="0"/>
                  </a:lnTo>
                  <a:lnTo>
                    <a:pt x="1616949" y="1185373"/>
                  </a:lnTo>
                  <a:lnTo>
                    <a:pt x="0" y="1185373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2633" y="315975"/>
            <a:ext cx="26365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Wrap-Up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169" y="1174495"/>
            <a:ext cx="6256655" cy="546925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265"/>
              </a:spcBef>
              <a:buSzPct val="95238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Subqueries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SELECT,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70"/>
              </a:spcBef>
              <a:buSzPct val="95238"/>
              <a:buFont typeface="Arial MT"/>
              <a:buChar char="•"/>
              <a:tabLst>
                <a:tab pos="208279" algn="l"/>
              </a:tabLst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Abstract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immediate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result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using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70"/>
              </a:spcBef>
              <a:buSzPct val="95238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Equivalent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queries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285"/>
              </a:spcBef>
              <a:buSzPct val="95238"/>
              <a:buFont typeface="Arial MT"/>
              <a:buChar char="•"/>
              <a:tabLst>
                <a:tab pos="208279" algn="l"/>
              </a:tabLst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Intro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subqueries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WHERE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90"/>
              </a:spcBef>
              <a:buSzPct val="95238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Subqueries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operations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292934"/>
              </a:buClr>
              <a:buFont typeface="Arial MT"/>
              <a:buChar char="•"/>
            </a:pPr>
            <a:endParaRPr sz="2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endParaRPr sz="2300">
              <a:latin typeface="Verdana"/>
              <a:cs typeface="Verdana"/>
            </a:endParaRPr>
          </a:p>
          <a:p>
            <a:pPr marL="503555" lvl="1" indent="-246379">
              <a:lnSpc>
                <a:spcPct val="100000"/>
              </a:lnSpc>
              <a:spcBef>
                <a:spcPts val="345"/>
              </a:spcBef>
              <a:buSzPct val="95238"/>
              <a:buFont typeface="Arial MT"/>
              <a:buChar char="•"/>
              <a:tabLst>
                <a:tab pos="503555" algn="l"/>
                <a:tab pos="504190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Avoid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nested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queries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aiming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speed</a:t>
            </a:r>
            <a:endParaRPr sz="2100">
              <a:latin typeface="Verdana"/>
              <a:cs typeface="Verdana"/>
            </a:endParaRPr>
          </a:p>
          <a:p>
            <a:pPr marL="503555" lvl="1" indent="-246379">
              <a:lnSpc>
                <a:spcPct val="100000"/>
              </a:lnSpc>
              <a:spcBef>
                <a:spcPts val="480"/>
              </a:spcBef>
              <a:buSzPct val="95238"/>
              <a:buFont typeface="Arial MT"/>
              <a:buChar char="•"/>
              <a:tabLst>
                <a:tab pos="503555" algn="l"/>
                <a:tab pos="50419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careful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semantics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nested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queries</a:t>
            </a:r>
            <a:endParaRPr sz="2100">
              <a:latin typeface="Verdana"/>
              <a:cs typeface="Verdana"/>
            </a:endParaRPr>
          </a:p>
          <a:p>
            <a:pPr marL="1003300" lvl="2" indent="-247650">
              <a:lnSpc>
                <a:spcPct val="100000"/>
              </a:lnSpc>
              <a:spcBef>
                <a:spcPts val="170"/>
              </a:spcBef>
              <a:buSzPct val="95000"/>
              <a:buFont typeface="Arial MT"/>
              <a:buChar char="•"/>
              <a:tabLst>
                <a:tab pos="1003300" algn="l"/>
                <a:tab pos="1003935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Correlated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vs.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Uncorrelated</a:t>
            </a:r>
            <a:endParaRPr sz="20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spcBef>
                <a:spcPts val="30"/>
              </a:spcBef>
              <a:buClr>
                <a:srgbClr val="292934"/>
              </a:buClr>
              <a:buFont typeface="Arial MT"/>
              <a:buChar char="•"/>
            </a:pPr>
            <a:endParaRPr sz="2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What’s</a:t>
            </a:r>
            <a:r>
              <a:rPr sz="2300" b="1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next?</a:t>
            </a:r>
            <a:endParaRPr sz="2300">
              <a:latin typeface="Verdana"/>
              <a:cs typeface="Verdana"/>
            </a:endParaRPr>
          </a:p>
          <a:p>
            <a:pPr marL="503555" lvl="1" indent="-246379">
              <a:lnSpc>
                <a:spcPct val="100000"/>
              </a:lnSpc>
              <a:spcBef>
                <a:spcPts val="345"/>
              </a:spcBef>
              <a:buSzPct val="95238"/>
              <a:buFont typeface="Arial MT"/>
              <a:buChar char="•"/>
              <a:tabLst>
                <a:tab pos="503555" algn="l"/>
                <a:tab pos="50419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Subqueries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WHERE</a:t>
            </a:r>
            <a:endParaRPr sz="2100">
              <a:latin typeface="Verdana"/>
              <a:cs typeface="Verdana"/>
            </a:endParaRPr>
          </a:p>
          <a:p>
            <a:pPr marL="503555" lvl="1" indent="-246379">
              <a:lnSpc>
                <a:spcPct val="100000"/>
              </a:lnSpc>
              <a:spcBef>
                <a:spcPts val="285"/>
              </a:spcBef>
              <a:buSzPct val="95238"/>
              <a:buFont typeface="Arial MT"/>
              <a:buChar char="•"/>
              <a:tabLst>
                <a:tab pos="503555" algn="l"/>
                <a:tab pos="50419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Existential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universal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quantifiers</a:t>
            </a:r>
            <a:endParaRPr sz="2100">
              <a:latin typeface="Verdana"/>
              <a:cs typeface="Verdana"/>
            </a:endParaRPr>
          </a:p>
          <a:p>
            <a:pPr marL="503555" lvl="1" indent="-246379">
              <a:lnSpc>
                <a:spcPct val="100000"/>
              </a:lnSpc>
              <a:spcBef>
                <a:spcPts val="170"/>
              </a:spcBef>
              <a:buSzPct val="95238"/>
              <a:buFont typeface="Arial MT"/>
              <a:buChar char="•"/>
              <a:tabLst>
                <a:tab pos="503555" algn="l"/>
                <a:tab pos="504190" algn="l"/>
              </a:tabLst>
            </a:pP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Triggers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constraints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DAE27-7198-2380-9E75-71CAB478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Zybook</a:t>
            </a:r>
            <a:r>
              <a:rPr lang="en-US" dirty="0"/>
              <a:t>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93FA3-AE24-2944-F039-DF81F09B4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do 3.11-3.14</a:t>
            </a:r>
          </a:p>
        </p:txBody>
      </p:sp>
    </p:spTree>
    <p:extLst>
      <p:ext uri="{BB962C8B-B14F-4D97-AF65-F5344CB8AC3E}">
        <p14:creationId xmlns:p14="http://schemas.microsoft.com/office/powerpoint/2010/main" val="39650046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0743" y="3279140"/>
            <a:ext cx="63957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0" dirty="0">
                <a:solidFill>
                  <a:srgbClr val="292934"/>
                </a:solidFill>
              </a:rPr>
              <a:t>More</a:t>
            </a:r>
            <a:r>
              <a:rPr sz="3600" dirty="0">
                <a:solidFill>
                  <a:srgbClr val="292934"/>
                </a:solidFill>
              </a:rPr>
              <a:t> </a:t>
            </a:r>
            <a:r>
              <a:rPr sz="3600" spc="10" dirty="0">
                <a:solidFill>
                  <a:srgbClr val="292934"/>
                </a:solidFill>
              </a:rPr>
              <a:t>Practice</a:t>
            </a:r>
            <a:r>
              <a:rPr sz="3600" spc="5" dirty="0">
                <a:solidFill>
                  <a:srgbClr val="292934"/>
                </a:solidFill>
              </a:rPr>
              <a:t> </a:t>
            </a:r>
            <a:r>
              <a:rPr sz="3600" dirty="0">
                <a:solidFill>
                  <a:srgbClr val="292934"/>
                </a:solidFill>
              </a:rPr>
              <a:t>/ </a:t>
            </a:r>
            <a:r>
              <a:rPr sz="3600" spc="15" dirty="0">
                <a:solidFill>
                  <a:srgbClr val="292934"/>
                </a:solidFill>
              </a:rPr>
              <a:t>Example</a:t>
            </a:r>
            <a:endParaRPr sz="3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895" y="6336791"/>
            <a:ext cx="9354312" cy="966215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7159" y="240056"/>
          <a:ext cx="9745344" cy="8765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2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4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A6A6A6"/>
                      </a:solidFill>
                      <a:prstDash val="solid"/>
                    </a:lnR>
                    <a:solidFill>
                      <a:srgbClr val="E6E6F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500" spc="-10" dirty="0">
                          <a:solidFill>
                            <a:srgbClr val="57576E"/>
                          </a:solidFill>
                          <a:latin typeface="Arial MT"/>
                          <a:cs typeface="Arial MT"/>
                        </a:rPr>
                        <a:t>revisit,</a:t>
                      </a:r>
                      <a:r>
                        <a:rPr sz="1500" spc="-35" dirty="0">
                          <a:solidFill>
                            <a:srgbClr val="57576E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5" dirty="0">
                          <a:solidFill>
                            <a:srgbClr val="57576E"/>
                          </a:solidFill>
                          <a:latin typeface="Arial MT"/>
                          <a:cs typeface="Arial MT"/>
                        </a:rPr>
                        <a:t>slide</a:t>
                      </a:r>
                      <a:r>
                        <a:rPr sz="1500" spc="-35" dirty="0">
                          <a:solidFill>
                            <a:srgbClr val="57576E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5" dirty="0">
                          <a:solidFill>
                            <a:srgbClr val="57576E"/>
                          </a:solidFill>
                          <a:latin typeface="Arial MT"/>
                          <a:cs typeface="Arial MT"/>
                        </a:rPr>
                        <a:t>14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E6E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974">
                <a:tc gridSpan="2">
                  <a:txBody>
                    <a:bodyPr/>
                    <a:lstStyle/>
                    <a:p>
                      <a:pPr marL="22860" algn="ctr">
                        <a:lnSpc>
                          <a:spcPts val="3560"/>
                        </a:lnSpc>
                      </a:pPr>
                      <a:r>
                        <a:rPr sz="4300" b="1" spc="-12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Pre</a:t>
                      </a:r>
                      <a:r>
                        <a:rPr sz="4300" b="1" spc="-13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4300" b="1" spc="-12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4300" b="1" spc="-13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4300" b="1" spc="-13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4300" b="1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4300" b="1" spc="-254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4300" b="1" spc="-14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4300" b="1" spc="-13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4300" b="1" spc="-12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sz="4300" b="1" spc="-13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4300" b="1" spc="-12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4300" b="1" spc="-12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4300" b="1" spc="-13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4300" b="1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n</a:t>
                      </a:r>
                      <a:endParaRPr sz="43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38100">
                      <a:solidFill>
                        <a:srgbClr val="431FAA"/>
                      </a:solidFill>
                      <a:prstDash val="solid"/>
                    </a:lnB>
                    <a:solidFill>
                      <a:srgbClr val="E6E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05131" y="2354259"/>
          <a:ext cx="3358513" cy="3646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0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095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4636549" y="3007212"/>
            <a:ext cx="3745229" cy="976630"/>
            <a:chOff x="4636549" y="3007212"/>
            <a:chExt cx="3745229" cy="976630"/>
          </a:xfrm>
        </p:grpSpPr>
        <p:sp>
          <p:nvSpPr>
            <p:cNvPr id="8" name="object 8"/>
            <p:cNvSpPr/>
            <p:nvPr/>
          </p:nvSpPr>
          <p:spPr>
            <a:xfrm>
              <a:off x="4646709" y="3017372"/>
              <a:ext cx="3724910" cy="956310"/>
            </a:xfrm>
            <a:custGeom>
              <a:avLst/>
              <a:gdLst/>
              <a:ahLst/>
              <a:cxnLst/>
              <a:rect l="l" t="t" r="r" b="b"/>
              <a:pathLst>
                <a:path w="3724909" h="956310">
                  <a:moveTo>
                    <a:pt x="3724297" y="0"/>
                  </a:moveTo>
                  <a:lnTo>
                    <a:pt x="0" y="0"/>
                  </a:lnTo>
                  <a:lnTo>
                    <a:pt x="0" y="955852"/>
                  </a:lnTo>
                  <a:lnTo>
                    <a:pt x="3724297" y="955852"/>
                  </a:lnTo>
                  <a:lnTo>
                    <a:pt x="3724297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46709" y="3017372"/>
              <a:ext cx="3724910" cy="956310"/>
            </a:xfrm>
            <a:custGeom>
              <a:avLst/>
              <a:gdLst/>
              <a:ahLst/>
              <a:cxnLst/>
              <a:rect l="l" t="t" r="r" b="b"/>
              <a:pathLst>
                <a:path w="3724909" h="956310">
                  <a:moveTo>
                    <a:pt x="0" y="0"/>
                  </a:moveTo>
                  <a:lnTo>
                    <a:pt x="3724297" y="0"/>
                  </a:lnTo>
                  <a:lnTo>
                    <a:pt x="3724297" y="955852"/>
                  </a:lnTo>
                  <a:lnTo>
                    <a:pt x="0" y="955852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884485" y="2117344"/>
            <a:ext cx="5896610" cy="92773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220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1900" spc="-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E1.ename</a:t>
            </a:r>
            <a:endParaRPr sz="1900">
              <a:latin typeface="Courier New"/>
              <a:cs typeface="Courier New"/>
            </a:endParaRPr>
          </a:p>
          <a:p>
            <a:pPr marL="132715" marR="2842895">
              <a:lnSpc>
                <a:spcPct val="101099"/>
              </a:lnSpc>
              <a:spcBef>
                <a:spcPts val="95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practice_emp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E1 </a:t>
            </a:r>
            <a:r>
              <a:rPr sz="1900" spc="-11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WHERE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E1.sal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85767" y="3022600"/>
            <a:ext cx="3489960" cy="89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1900" spc="-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MAX(E2.sal)</a:t>
            </a:r>
            <a:endParaRPr sz="1900">
              <a:latin typeface="Courier New"/>
              <a:cs typeface="Courier New"/>
            </a:endParaRPr>
          </a:p>
          <a:p>
            <a:pPr marL="127635" marR="5080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practice_emp AS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E2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1900" spc="-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E1.job</a:t>
            </a:r>
            <a:r>
              <a:rPr sz="19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9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E2.job)</a:t>
            </a:r>
            <a:endParaRPr sz="19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64165" y="2089216"/>
            <a:ext cx="5937250" cy="2814955"/>
            <a:chOff x="3864165" y="2089216"/>
            <a:chExt cx="5937250" cy="2814955"/>
          </a:xfrm>
        </p:grpSpPr>
        <p:sp>
          <p:nvSpPr>
            <p:cNvPr id="13" name="object 13"/>
            <p:cNvSpPr/>
            <p:nvPr/>
          </p:nvSpPr>
          <p:spPr>
            <a:xfrm>
              <a:off x="3874325" y="2099376"/>
              <a:ext cx="5916930" cy="1972310"/>
            </a:xfrm>
            <a:custGeom>
              <a:avLst/>
              <a:gdLst/>
              <a:ahLst/>
              <a:cxnLst/>
              <a:rect l="l" t="t" r="r" b="b"/>
              <a:pathLst>
                <a:path w="5916930" h="1972310">
                  <a:moveTo>
                    <a:pt x="0" y="0"/>
                  </a:moveTo>
                  <a:lnTo>
                    <a:pt x="5916923" y="0"/>
                  </a:lnTo>
                  <a:lnTo>
                    <a:pt x="5916923" y="1971982"/>
                  </a:lnTo>
                  <a:lnTo>
                    <a:pt x="0" y="1971982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02434" y="3991866"/>
              <a:ext cx="2405380" cy="897890"/>
            </a:xfrm>
            <a:custGeom>
              <a:avLst/>
              <a:gdLst/>
              <a:ahLst/>
              <a:cxnLst/>
              <a:rect l="l" t="t" r="r" b="b"/>
              <a:pathLst>
                <a:path w="2405379" h="897889">
                  <a:moveTo>
                    <a:pt x="2313289" y="345100"/>
                  </a:moveTo>
                  <a:lnTo>
                    <a:pt x="92077" y="345100"/>
                  </a:lnTo>
                  <a:lnTo>
                    <a:pt x="56236" y="352336"/>
                  </a:lnTo>
                  <a:lnTo>
                    <a:pt x="26968" y="372069"/>
                  </a:lnTo>
                  <a:lnTo>
                    <a:pt x="7235" y="401337"/>
                  </a:lnTo>
                  <a:lnTo>
                    <a:pt x="0" y="437174"/>
                  </a:lnTo>
                  <a:lnTo>
                    <a:pt x="0" y="805465"/>
                  </a:lnTo>
                  <a:lnTo>
                    <a:pt x="7235" y="841306"/>
                  </a:lnTo>
                  <a:lnTo>
                    <a:pt x="26968" y="870574"/>
                  </a:lnTo>
                  <a:lnTo>
                    <a:pt x="56236" y="890307"/>
                  </a:lnTo>
                  <a:lnTo>
                    <a:pt x="92077" y="897543"/>
                  </a:lnTo>
                  <a:lnTo>
                    <a:pt x="2313289" y="897543"/>
                  </a:lnTo>
                  <a:lnTo>
                    <a:pt x="2349130" y="890307"/>
                  </a:lnTo>
                  <a:lnTo>
                    <a:pt x="2378398" y="870574"/>
                  </a:lnTo>
                  <a:lnTo>
                    <a:pt x="2398131" y="841306"/>
                  </a:lnTo>
                  <a:lnTo>
                    <a:pt x="2405367" y="805465"/>
                  </a:lnTo>
                  <a:lnTo>
                    <a:pt x="2405366" y="437174"/>
                  </a:lnTo>
                  <a:lnTo>
                    <a:pt x="2398131" y="401337"/>
                  </a:lnTo>
                  <a:lnTo>
                    <a:pt x="2378398" y="372069"/>
                  </a:lnTo>
                  <a:lnTo>
                    <a:pt x="2349130" y="352336"/>
                  </a:lnTo>
                  <a:lnTo>
                    <a:pt x="2313289" y="345100"/>
                  </a:lnTo>
                  <a:close/>
                </a:path>
                <a:path w="2405379" h="897889">
                  <a:moveTo>
                    <a:pt x="2135941" y="0"/>
                  </a:moveTo>
                  <a:lnTo>
                    <a:pt x="1403130" y="345100"/>
                  </a:lnTo>
                  <a:lnTo>
                    <a:pt x="2004472" y="345100"/>
                  </a:lnTo>
                  <a:lnTo>
                    <a:pt x="2135941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02434" y="3991866"/>
              <a:ext cx="2405380" cy="897890"/>
            </a:xfrm>
            <a:custGeom>
              <a:avLst/>
              <a:gdLst/>
              <a:ahLst/>
              <a:cxnLst/>
              <a:rect l="l" t="t" r="r" b="b"/>
              <a:pathLst>
                <a:path w="2405379" h="897889">
                  <a:moveTo>
                    <a:pt x="0" y="437177"/>
                  </a:moveTo>
                  <a:lnTo>
                    <a:pt x="7235" y="401337"/>
                  </a:lnTo>
                  <a:lnTo>
                    <a:pt x="26968" y="372069"/>
                  </a:lnTo>
                  <a:lnTo>
                    <a:pt x="56236" y="352336"/>
                  </a:lnTo>
                  <a:lnTo>
                    <a:pt x="92076" y="345100"/>
                  </a:lnTo>
                  <a:lnTo>
                    <a:pt x="1403130" y="345100"/>
                  </a:lnTo>
                  <a:lnTo>
                    <a:pt x="2135941" y="0"/>
                  </a:lnTo>
                  <a:lnTo>
                    <a:pt x="2004472" y="345100"/>
                  </a:lnTo>
                  <a:lnTo>
                    <a:pt x="2313289" y="345100"/>
                  </a:lnTo>
                  <a:lnTo>
                    <a:pt x="2349129" y="352336"/>
                  </a:lnTo>
                  <a:lnTo>
                    <a:pt x="2378397" y="372069"/>
                  </a:lnTo>
                  <a:lnTo>
                    <a:pt x="2398130" y="401337"/>
                  </a:lnTo>
                  <a:lnTo>
                    <a:pt x="2405366" y="437177"/>
                  </a:lnTo>
                  <a:lnTo>
                    <a:pt x="2405366" y="575286"/>
                  </a:lnTo>
                  <a:lnTo>
                    <a:pt x="2405366" y="805466"/>
                  </a:lnTo>
                  <a:lnTo>
                    <a:pt x="2398130" y="841306"/>
                  </a:lnTo>
                  <a:lnTo>
                    <a:pt x="2378397" y="870574"/>
                  </a:lnTo>
                  <a:lnTo>
                    <a:pt x="2349129" y="890307"/>
                  </a:lnTo>
                  <a:lnTo>
                    <a:pt x="2313289" y="897543"/>
                  </a:lnTo>
                  <a:lnTo>
                    <a:pt x="2004472" y="897543"/>
                  </a:lnTo>
                  <a:lnTo>
                    <a:pt x="1403130" y="897543"/>
                  </a:lnTo>
                  <a:lnTo>
                    <a:pt x="92076" y="897543"/>
                  </a:lnTo>
                  <a:lnTo>
                    <a:pt x="56236" y="890307"/>
                  </a:lnTo>
                  <a:lnTo>
                    <a:pt x="26968" y="870574"/>
                  </a:lnTo>
                  <a:lnTo>
                    <a:pt x="7235" y="841306"/>
                  </a:lnTo>
                  <a:lnTo>
                    <a:pt x="0" y="805466"/>
                  </a:lnTo>
                  <a:lnTo>
                    <a:pt x="0" y="575286"/>
                  </a:lnTo>
                  <a:lnTo>
                    <a:pt x="0" y="437174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600376" y="1219708"/>
            <a:ext cx="8928100" cy="69024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225"/>
              </a:spcBef>
            </a:pPr>
            <a:r>
              <a:rPr sz="2200" b="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200" b="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0" spc="10" dirty="0">
                <a:solidFill>
                  <a:srgbClr val="292934"/>
                </a:solidFill>
                <a:latin typeface="Verdana"/>
                <a:cs typeface="Verdana"/>
              </a:rPr>
              <a:t>employee</a:t>
            </a:r>
            <a:r>
              <a:rPr sz="2200" b="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0" spc="15" dirty="0">
                <a:solidFill>
                  <a:srgbClr val="292934"/>
                </a:solidFill>
                <a:latin typeface="Verdana"/>
                <a:cs typeface="Verdana"/>
              </a:rPr>
              <a:t>name</a:t>
            </a:r>
            <a:r>
              <a:rPr sz="2200" b="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0" spc="10" dirty="0">
                <a:solidFill>
                  <a:srgbClr val="292934"/>
                </a:solidFill>
                <a:latin typeface="Verdana"/>
                <a:cs typeface="Verdana"/>
              </a:rPr>
              <a:t>(or</a:t>
            </a:r>
            <a:r>
              <a:rPr sz="2200" b="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0" spc="15" dirty="0">
                <a:solidFill>
                  <a:srgbClr val="292934"/>
                </a:solidFill>
                <a:latin typeface="Verdana"/>
                <a:cs typeface="Verdana"/>
              </a:rPr>
              <a:t>names)</a:t>
            </a:r>
            <a:r>
              <a:rPr sz="2200" b="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0" spc="15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200" b="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0" spc="15" dirty="0">
                <a:solidFill>
                  <a:srgbClr val="292934"/>
                </a:solidFill>
                <a:latin typeface="Verdana"/>
                <a:cs typeface="Verdana"/>
              </a:rPr>
              <a:t>earns</a:t>
            </a:r>
            <a:r>
              <a:rPr sz="2200" b="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200" b="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0" spc="15" dirty="0">
                <a:solidFill>
                  <a:srgbClr val="292934"/>
                </a:solidFill>
                <a:latin typeface="Verdana"/>
                <a:cs typeface="Verdana"/>
              </a:rPr>
              <a:t>highest</a:t>
            </a:r>
            <a:r>
              <a:rPr sz="2200" b="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0" spc="15" dirty="0">
                <a:solidFill>
                  <a:srgbClr val="292934"/>
                </a:solidFill>
                <a:latin typeface="Verdana"/>
                <a:cs typeface="Verdana"/>
              </a:rPr>
              <a:t>salary </a:t>
            </a:r>
            <a:r>
              <a:rPr sz="2200" b="0" spc="-7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0" spc="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200" b="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0" spc="15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200" b="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0" spc="10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55089" y="5815584"/>
            <a:ext cx="37693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[more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subqueries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WHERE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later]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24491" y="4468367"/>
            <a:ext cx="15614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Verdana"/>
                <a:cs typeface="Verdana"/>
              </a:rPr>
              <a:t>“Correlated”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445748" y="3724133"/>
            <a:ext cx="1256665" cy="1835150"/>
            <a:chOff x="8445748" y="3724133"/>
            <a:chExt cx="1256665" cy="1835150"/>
          </a:xfrm>
        </p:grpSpPr>
        <p:sp>
          <p:nvSpPr>
            <p:cNvPr id="20" name="object 20"/>
            <p:cNvSpPr/>
            <p:nvPr/>
          </p:nvSpPr>
          <p:spPr>
            <a:xfrm>
              <a:off x="8452522" y="3991071"/>
              <a:ext cx="1243330" cy="260350"/>
            </a:xfrm>
            <a:custGeom>
              <a:avLst/>
              <a:gdLst/>
              <a:ahLst/>
              <a:cxnLst/>
              <a:rect l="l" t="t" r="r" b="b"/>
              <a:pathLst>
                <a:path w="1243329" h="260350">
                  <a:moveTo>
                    <a:pt x="1243104" y="0"/>
                  </a:moveTo>
                  <a:lnTo>
                    <a:pt x="0" y="0"/>
                  </a:lnTo>
                  <a:lnTo>
                    <a:pt x="0" y="260164"/>
                  </a:lnTo>
                  <a:lnTo>
                    <a:pt x="1243104" y="260164"/>
                  </a:lnTo>
                  <a:lnTo>
                    <a:pt x="1243104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445748" y="3970751"/>
              <a:ext cx="1256665" cy="40640"/>
            </a:xfrm>
            <a:custGeom>
              <a:avLst/>
              <a:gdLst/>
              <a:ahLst/>
              <a:cxnLst/>
              <a:rect l="l" t="t" r="r" b="b"/>
              <a:pathLst>
                <a:path w="1256665" h="40639">
                  <a:moveTo>
                    <a:pt x="0" y="0"/>
                  </a:moveTo>
                  <a:lnTo>
                    <a:pt x="1256651" y="0"/>
                  </a:lnTo>
                  <a:lnTo>
                    <a:pt x="1256651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445748" y="3724133"/>
              <a:ext cx="1256665" cy="1835150"/>
            </a:xfrm>
            <a:custGeom>
              <a:avLst/>
              <a:gdLst/>
              <a:ahLst/>
              <a:cxnLst/>
              <a:rect l="l" t="t" r="r" b="b"/>
              <a:pathLst>
                <a:path w="1256665" h="1835150">
                  <a:moveTo>
                    <a:pt x="6773" y="0"/>
                  </a:moveTo>
                  <a:lnTo>
                    <a:pt x="6773" y="1834696"/>
                  </a:lnTo>
                </a:path>
                <a:path w="1256665" h="1835150">
                  <a:moveTo>
                    <a:pt x="1249878" y="0"/>
                  </a:moveTo>
                  <a:lnTo>
                    <a:pt x="1249878" y="1834696"/>
                  </a:lnTo>
                </a:path>
                <a:path w="1256665" h="1835150">
                  <a:moveTo>
                    <a:pt x="0" y="6773"/>
                  </a:moveTo>
                  <a:lnTo>
                    <a:pt x="1256651" y="6773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459295" y="3737680"/>
            <a:ext cx="1229995" cy="215265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515"/>
              </a:lnSpc>
            </a:pP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ename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59295" y="4081519"/>
            <a:ext cx="1229995" cy="163195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875"/>
              </a:lnSpc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Allen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52522" y="4251235"/>
            <a:ext cx="1243330" cy="260350"/>
          </a:xfrm>
          <a:prstGeom prst="rect">
            <a:avLst/>
          </a:prstGeom>
          <a:solidFill>
            <a:srgbClr val="EDEEF0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80"/>
              </a:lnSpc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Jones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52522" y="4511399"/>
            <a:ext cx="1243330" cy="260350"/>
          </a:xfrm>
          <a:prstGeom prst="rect">
            <a:avLst/>
          </a:prstGeom>
          <a:solidFill>
            <a:srgbClr val="D8DBDF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95"/>
              </a:lnSpc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Scott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52522" y="4771564"/>
            <a:ext cx="1243330" cy="260350"/>
          </a:xfrm>
          <a:prstGeom prst="rect">
            <a:avLst/>
          </a:prstGeom>
          <a:solidFill>
            <a:srgbClr val="EDEEF0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85"/>
              </a:lnSpc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King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52522" y="5031728"/>
            <a:ext cx="1243330" cy="260350"/>
          </a:xfrm>
          <a:prstGeom prst="rect">
            <a:avLst/>
          </a:prstGeom>
          <a:solidFill>
            <a:srgbClr val="D8DBDF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75"/>
              </a:lnSpc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Ford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452522" y="5291892"/>
            <a:ext cx="1243330" cy="260350"/>
          </a:xfrm>
          <a:prstGeom prst="rect">
            <a:avLst/>
          </a:prstGeom>
          <a:solidFill>
            <a:srgbClr val="EDEEF0"/>
          </a:solidFill>
          <a:ln w="1354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90"/>
              </a:lnSpc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Miller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6164" y="2082800"/>
            <a:ext cx="1309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32085" y="6336584"/>
            <a:ext cx="8755380" cy="72453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2033905" marR="210820" indent="-1818005">
              <a:lnSpc>
                <a:spcPts val="2500"/>
              </a:lnSpc>
              <a:spcBef>
                <a:spcPts val="28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bq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WHER</a:t>
            </a:r>
            <a:r>
              <a:rPr sz="2100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2100" spc="-49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si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n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g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l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C00000"/>
                </a:solidFill>
                <a:latin typeface="Verdana"/>
                <a:cs typeface="Verdana"/>
              </a:rPr>
              <a:t>v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l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u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b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p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 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ano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WHER</a:t>
            </a:r>
            <a:r>
              <a:rPr sz="2100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2100" spc="-49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au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</a:t>
            </a:r>
            <a:endParaRPr sz="2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898" y="294838"/>
            <a:ext cx="7553959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A</a:t>
            </a:r>
            <a:r>
              <a:rPr spc="-130" dirty="0"/>
              <a:t>l</a:t>
            </a:r>
            <a:r>
              <a:rPr spc="-120" dirty="0"/>
              <a:t>te</a:t>
            </a:r>
            <a:r>
              <a:rPr spc="-125" dirty="0"/>
              <a:t>r</a:t>
            </a:r>
            <a:r>
              <a:rPr spc="-130" dirty="0"/>
              <a:t>n</a:t>
            </a:r>
            <a:r>
              <a:rPr spc="-125" dirty="0"/>
              <a:t>a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0" dirty="0"/>
              <a:t>v</a:t>
            </a:r>
            <a:r>
              <a:rPr dirty="0"/>
              <a:t>e</a:t>
            </a:r>
            <a:r>
              <a:rPr spc="-245" dirty="0"/>
              <a:t> </a:t>
            </a:r>
            <a:r>
              <a:rPr spc="-150" dirty="0"/>
              <a:t>W</a:t>
            </a:r>
            <a:r>
              <a:rPr spc="-125" dirty="0"/>
              <a:t>a</a:t>
            </a:r>
            <a:r>
              <a:rPr spc="-135" dirty="0"/>
              <a:t>y</a:t>
            </a:r>
            <a:r>
              <a:rPr dirty="0"/>
              <a:t>s</a:t>
            </a:r>
            <a:r>
              <a:rPr spc="-250" dirty="0"/>
              <a:t> </a:t>
            </a:r>
            <a:r>
              <a:rPr spc="-120" dirty="0"/>
              <a:t>t</a:t>
            </a:r>
            <a:r>
              <a:rPr dirty="0"/>
              <a:t>o</a:t>
            </a:r>
            <a:r>
              <a:rPr spc="-250" dirty="0"/>
              <a:t> </a:t>
            </a:r>
            <a:r>
              <a:rPr spc="-135" dirty="0"/>
              <a:t>S</a:t>
            </a:r>
            <a:r>
              <a:rPr spc="-130" dirty="0"/>
              <a:t>o</a:t>
            </a:r>
            <a:r>
              <a:rPr spc="-125" dirty="0"/>
              <a:t>l</a:t>
            </a:r>
            <a:r>
              <a:rPr spc="-130" dirty="0"/>
              <a:t>v</a:t>
            </a:r>
            <a:r>
              <a:rPr dirty="0"/>
              <a:t>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77250" y="2284956"/>
          <a:ext cx="4389120" cy="4194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9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1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2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9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789"/>
                        </a:lnSpc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7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7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5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7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7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7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7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7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5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7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7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7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7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7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76898" y="1210055"/>
            <a:ext cx="8757920" cy="108458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35890" marR="5080">
              <a:lnSpc>
                <a:spcPts val="2500"/>
              </a:lnSpc>
              <a:spcBef>
                <a:spcPts val="400"/>
              </a:spcBef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employee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name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(or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employees)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highest </a:t>
            </a:r>
            <a:r>
              <a:rPr sz="2300" spc="-7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title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26142" y="3334511"/>
            <a:ext cx="400685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How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should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write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SQL?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0375" y="259865"/>
            <a:ext cx="545211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O</a:t>
            </a:r>
            <a:r>
              <a:rPr spc="-130" dirty="0"/>
              <a:t>p</a:t>
            </a:r>
            <a:r>
              <a:rPr spc="-125" dirty="0"/>
              <a:t>tio</a:t>
            </a:r>
            <a:r>
              <a:rPr dirty="0"/>
              <a:t>n</a:t>
            </a:r>
            <a:r>
              <a:rPr spc="-250" dirty="0"/>
              <a:t> </a:t>
            </a:r>
            <a:r>
              <a:rPr spc="-125" dirty="0"/>
              <a:t>1</a:t>
            </a:r>
            <a:r>
              <a:rPr dirty="0"/>
              <a:t>:</a:t>
            </a:r>
            <a:r>
              <a:rPr spc="-240" dirty="0"/>
              <a:t> </a:t>
            </a:r>
            <a:r>
              <a:rPr spc="-135" dirty="0"/>
              <a:t>S</a:t>
            </a:r>
            <a:r>
              <a:rPr spc="-125" dirty="0"/>
              <a:t>el</a:t>
            </a:r>
            <a:r>
              <a:rPr spc="-140" dirty="0"/>
              <a:t>f</a:t>
            </a:r>
            <a:r>
              <a:rPr spc="-120" dirty="0"/>
              <a:t>-</a:t>
            </a:r>
            <a:r>
              <a:rPr spc="-125" dirty="0"/>
              <a:t>J</a:t>
            </a:r>
            <a:r>
              <a:rPr spc="-130" dirty="0"/>
              <a:t>o</a:t>
            </a:r>
            <a:r>
              <a:rPr spc="-125" dirty="0"/>
              <a:t>i</a:t>
            </a:r>
            <a:r>
              <a:rPr dirty="0"/>
              <a:t>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37007" y="5013419"/>
          <a:ext cx="3413760" cy="20482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7"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977640" y="2406396"/>
            <a:ext cx="556006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lnSpc>
                <a:spcPct val="104000"/>
              </a:lnSpc>
            </a:pP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000" spc="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E1.ename,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E2.job,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MAX(E2.sal)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61372" y="2723388"/>
            <a:ext cx="29406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practice_emp AS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E1,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practice_emp AS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E2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77640" y="3345179"/>
            <a:ext cx="12458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C00000"/>
                </a:solidFill>
                <a:latin typeface="Courier New"/>
                <a:cs typeface="Courier New"/>
              </a:rPr>
              <a:t>WHERE </a:t>
            </a:r>
            <a:r>
              <a:rPr sz="2000" spc="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GROUP</a:t>
            </a:r>
            <a:r>
              <a:rPr sz="2000" spc="-6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C00000"/>
                </a:solidFill>
                <a:latin typeface="Courier New"/>
                <a:cs typeface="Courier New"/>
              </a:rPr>
              <a:t>BY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64479" y="3649979"/>
            <a:ext cx="10915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E2.job,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61372" y="3345179"/>
            <a:ext cx="4014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E1.job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20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E2.job</a:t>
            </a:r>
            <a:endParaRPr sz="2000">
              <a:latin typeface="Courier New"/>
              <a:cs typeface="Courier New"/>
            </a:endParaRPr>
          </a:p>
          <a:p>
            <a:pPr marL="1535430">
              <a:lnSpc>
                <a:spcPct val="100000"/>
              </a:lnSpc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E1.sal,</a:t>
            </a:r>
            <a:r>
              <a:rPr sz="2000" spc="-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E1.ename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77640" y="3954779"/>
            <a:ext cx="43275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HAVING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E1.sal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MAX(E2.sal);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02709" y="2308212"/>
            <a:ext cx="5969635" cy="2125980"/>
          </a:xfrm>
          <a:custGeom>
            <a:avLst/>
            <a:gdLst/>
            <a:ahLst/>
            <a:cxnLst/>
            <a:rect l="l" t="t" r="r" b="b"/>
            <a:pathLst>
              <a:path w="5969634" h="2125979">
                <a:moveTo>
                  <a:pt x="0" y="0"/>
                </a:moveTo>
                <a:lnTo>
                  <a:pt x="5969202" y="0"/>
                </a:lnTo>
                <a:lnTo>
                  <a:pt x="5969202" y="2125627"/>
                </a:lnTo>
                <a:lnTo>
                  <a:pt x="0" y="2125627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477250" y="2428861"/>
          <a:ext cx="2964814" cy="3179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220"/>
                        </a:lnSpc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600375" y="1210055"/>
            <a:ext cx="8634095" cy="69342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2500"/>
              </a:lnSpc>
              <a:spcBef>
                <a:spcPts val="400"/>
              </a:spcBef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employee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name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(or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employees)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highest </a:t>
            </a:r>
            <a:r>
              <a:rPr sz="2300" spc="-7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title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6898" y="2168144"/>
            <a:ext cx="1309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9100" y="-98154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O</a:t>
            </a:r>
            <a:r>
              <a:rPr spc="-130" dirty="0"/>
              <a:t>p</a:t>
            </a:r>
            <a:r>
              <a:rPr spc="-125" dirty="0"/>
              <a:t>tio</a:t>
            </a:r>
            <a:r>
              <a:rPr dirty="0"/>
              <a:t>n</a:t>
            </a:r>
            <a:r>
              <a:rPr spc="-250" dirty="0"/>
              <a:t> </a:t>
            </a:r>
            <a:r>
              <a:rPr spc="-125" dirty="0"/>
              <a:t>2</a:t>
            </a:r>
            <a:r>
              <a:rPr dirty="0"/>
              <a:t>:</a:t>
            </a:r>
            <a:r>
              <a:rPr spc="-250" dirty="0"/>
              <a:t> </a:t>
            </a:r>
            <a:r>
              <a:rPr spc="-135" dirty="0"/>
              <a:t>Su</a:t>
            </a:r>
            <a:r>
              <a:rPr spc="-130" dirty="0"/>
              <a:t>bq</a:t>
            </a:r>
            <a:r>
              <a:rPr spc="-135" dirty="0"/>
              <a:t>u</a:t>
            </a:r>
            <a:r>
              <a:rPr spc="-125" dirty="0"/>
              <a:t>erie</a:t>
            </a:r>
            <a:r>
              <a:rPr dirty="0"/>
              <a:t>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77250" y="2428861"/>
          <a:ext cx="2964814" cy="3179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220"/>
                        </a:lnSpc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76898" y="2183384"/>
            <a:ext cx="1309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0375" y="1210055"/>
            <a:ext cx="8634095" cy="69342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2500"/>
              </a:lnSpc>
              <a:spcBef>
                <a:spcPts val="400"/>
              </a:spcBef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employee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name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(or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employees)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highest </a:t>
            </a:r>
            <a:r>
              <a:rPr sz="2300" spc="-7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title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98077" y="2450591"/>
            <a:ext cx="4721860" cy="1899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max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Verdana"/>
              <a:cs typeface="Verdana"/>
            </a:endParaRPr>
          </a:p>
          <a:p>
            <a:pPr marL="12700" marR="5080" algn="ctr">
              <a:lnSpc>
                <a:spcPct val="105200"/>
              </a:lnSpc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Then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employee(s)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with </a:t>
            </a:r>
            <a:r>
              <a:rPr sz="2300" spc="-7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max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endParaRPr sz="23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51247" y="2945514"/>
            <a:ext cx="399415" cy="574675"/>
            <a:chOff x="6751247" y="2945514"/>
            <a:chExt cx="399415" cy="574675"/>
          </a:xfrm>
        </p:grpSpPr>
        <p:sp>
          <p:nvSpPr>
            <p:cNvPr id="8" name="object 8"/>
            <p:cNvSpPr/>
            <p:nvPr/>
          </p:nvSpPr>
          <p:spPr>
            <a:xfrm>
              <a:off x="6765340" y="2959607"/>
              <a:ext cx="370840" cy="546735"/>
            </a:xfrm>
            <a:custGeom>
              <a:avLst/>
              <a:gdLst/>
              <a:ahLst/>
              <a:cxnLst/>
              <a:rect l="l" t="t" r="r" b="b"/>
              <a:pathLst>
                <a:path w="370840" h="546735">
                  <a:moveTo>
                    <a:pt x="277977" y="0"/>
                  </a:moveTo>
                  <a:lnTo>
                    <a:pt x="92659" y="0"/>
                  </a:lnTo>
                  <a:lnTo>
                    <a:pt x="92659" y="360883"/>
                  </a:lnTo>
                  <a:lnTo>
                    <a:pt x="0" y="360883"/>
                  </a:lnTo>
                  <a:lnTo>
                    <a:pt x="185318" y="546201"/>
                  </a:lnTo>
                  <a:lnTo>
                    <a:pt x="370636" y="360883"/>
                  </a:lnTo>
                  <a:lnTo>
                    <a:pt x="277977" y="360883"/>
                  </a:lnTo>
                  <a:lnTo>
                    <a:pt x="277977" y="0"/>
                  </a:lnTo>
                  <a:close/>
                </a:path>
              </a:pathLst>
            </a:custGeom>
            <a:solidFill>
              <a:srgbClr val="407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65340" y="2959607"/>
              <a:ext cx="370840" cy="546735"/>
            </a:xfrm>
            <a:custGeom>
              <a:avLst/>
              <a:gdLst/>
              <a:ahLst/>
              <a:cxnLst/>
              <a:rect l="l" t="t" r="r" b="b"/>
              <a:pathLst>
                <a:path w="370840" h="546735">
                  <a:moveTo>
                    <a:pt x="0" y="360883"/>
                  </a:moveTo>
                  <a:lnTo>
                    <a:pt x="92659" y="360883"/>
                  </a:lnTo>
                  <a:lnTo>
                    <a:pt x="92659" y="0"/>
                  </a:lnTo>
                  <a:lnTo>
                    <a:pt x="277977" y="0"/>
                  </a:lnTo>
                  <a:lnTo>
                    <a:pt x="277977" y="360883"/>
                  </a:lnTo>
                  <a:lnTo>
                    <a:pt x="370636" y="360883"/>
                  </a:lnTo>
                  <a:lnTo>
                    <a:pt x="185318" y="546201"/>
                  </a:lnTo>
                  <a:lnTo>
                    <a:pt x="0" y="360883"/>
                  </a:lnTo>
                  <a:close/>
                </a:path>
              </a:pathLst>
            </a:custGeom>
            <a:ln w="28186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99911" y="1365716"/>
          <a:ext cx="2860674" cy="3179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5"/>
                        </a:lnSpc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99559" y="1119632"/>
            <a:ext cx="1309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3257" y="5487054"/>
          <a:ext cx="1885950" cy="1491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2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65"/>
                        </a:lnSpc>
                      </a:pPr>
                      <a:r>
                        <a:rPr sz="14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565"/>
                        </a:lnSpc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maxSal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5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5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6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6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50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60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60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7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311980" y="3439999"/>
            <a:ext cx="788035" cy="347980"/>
          </a:xfrm>
          <a:custGeom>
            <a:avLst/>
            <a:gdLst/>
            <a:ahLst/>
            <a:cxnLst/>
            <a:rect l="l" t="t" r="r" b="b"/>
            <a:pathLst>
              <a:path w="788035" h="347979">
                <a:moveTo>
                  <a:pt x="667407" y="310039"/>
                </a:moveTo>
                <a:lnTo>
                  <a:pt x="652049" y="347665"/>
                </a:lnTo>
                <a:lnTo>
                  <a:pt x="787965" y="337299"/>
                </a:lnTo>
                <a:lnTo>
                  <a:pt x="770804" y="317718"/>
                </a:lnTo>
                <a:lnTo>
                  <a:pt x="686220" y="317718"/>
                </a:lnTo>
                <a:lnTo>
                  <a:pt x="667407" y="310039"/>
                </a:lnTo>
                <a:close/>
              </a:path>
              <a:path w="788035" h="347979">
                <a:moveTo>
                  <a:pt x="682765" y="272412"/>
                </a:moveTo>
                <a:lnTo>
                  <a:pt x="667407" y="310039"/>
                </a:lnTo>
                <a:lnTo>
                  <a:pt x="686220" y="317718"/>
                </a:lnTo>
                <a:lnTo>
                  <a:pt x="701578" y="280090"/>
                </a:lnTo>
                <a:lnTo>
                  <a:pt x="682765" y="272412"/>
                </a:lnTo>
                <a:close/>
              </a:path>
              <a:path w="788035" h="347979">
                <a:moveTo>
                  <a:pt x="698122" y="234786"/>
                </a:moveTo>
                <a:lnTo>
                  <a:pt x="682765" y="272412"/>
                </a:lnTo>
                <a:lnTo>
                  <a:pt x="701578" y="280090"/>
                </a:lnTo>
                <a:lnTo>
                  <a:pt x="686220" y="317718"/>
                </a:lnTo>
                <a:lnTo>
                  <a:pt x="770804" y="317718"/>
                </a:lnTo>
                <a:lnTo>
                  <a:pt x="698122" y="234786"/>
                </a:lnTo>
                <a:close/>
              </a:path>
              <a:path w="788035" h="347979">
                <a:moveTo>
                  <a:pt x="15358" y="0"/>
                </a:moveTo>
                <a:lnTo>
                  <a:pt x="0" y="37626"/>
                </a:lnTo>
                <a:lnTo>
                  <a:pt x="667407" y="310039"/>
                </a:lnTo>
                <a:lnTo>
                  <a:pt x="682765" y="272412"/>
                </a:lnTo>
                <a:lnTo>
                  <a:pt x="15358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70932" y="3428466"/>
            <a:ext cx="5560695" cy="14636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R="5080" indent="490855">
              <a:lnSpc>
                <a:spcPct val="112700"/>
              </a:lnSpc>
              <a:spcBef>
                <a:spcPts val="425"/>
              </a:spcBef>
              <a:tabLst>
                <a:tab pos="1083310" algn="l"/>
              </a:tabLst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max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job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000" spc="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E1.job,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MAX(E1.sal)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maxSal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FROM	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practice_emp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E1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GROUP</a:t>
            </a:r>
            <a:r>
              <a:rPr sz="2000" spc="-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BY</a:t>
            </a:r>
            <a:r>
              <a:rPr sz="2000" spc="-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E1.job;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89316" y="5109597"/>
            <a:ext cx="807720" cy="439420"/>
          </a:xfrm>
          <a:custGeom>
            <a:avLst/>
            <a:gdLst/>
            <a:ahLst/>
            <a:cxnLst/>
            <a:rect l="l" t="t" r="r" b="b"/>
            <a:pathLst>
              <a:path w="807720" h="439420">
                <a:moveTo>
                  <a:pt x="79369" y="328329"/>
                </a:moveTo>
                <a:lnTo>
                  <a:pt x="0" y="439148"/>
                </a:lnTo>
                <a:lnTo>
                  <a:pt x="136277" y="436152"/>
                </a:lnTo>
                <a:lnTo>
                  <a:pt x="122313" y="409695"/>
                </a:lnTo>
                <a:lnTo>
                  <a:pt x="99336" y="409695"/>
                </a:lnTo>
                <a:lnTo>
                  <a:pt x="80368" y="373754"/>
                </a:lnTo>
                <a:lnTo>
                  <a:pt x="98338" y="364270"/>
                </a:lnTo>
                <a:lnTo>
                  <a:pt x="79369" y="328329"/>
                </a:lnTo>
                <a:close/>
              </a:path>
              <a:path w="807720" h="439420">
                <a:moveTo>
                  <a:pt x="98338" y="364270"/>
                </a:moveTo>
                <a:lnTo>
                  <a:pt x="80368" y="373754"/>
                </a:lnTo>
                <a:lnTo>
                  <a:pt x="99336" y="409695"/>
                </a:lnTo>
                <a:lnTo>
                  <a:pt x="117308" y="400210"/>
                </a:lnTo>
                <a:lnTo>
                  <a:pt x="98338" y="364270"/>
                </a:lnTo>
                <a:close/>
              </a:path>
              <a:path w="807720" h="439420">
                <a:moveTo>
                  <a:pt x="117308" y="400210"/>
                </a:moveTo>
                <a:lnTo>
                  <a:pt x="99336" y="409695"/>
                </a:lnTo>
                <a:lnTo>
                  <a:pt x="122313" y="409695"/>
                </a:lnTo>
                <a:lnTo>
                  <a:pt x="117308" y="400210"/>
                </a:lnTo>
                <a:close/>
              </a:path>
              <a:path w="807720" h="439420">
                <a:moveTo>
                  <a:pt x="788537" y="0"/>
                </a:moveTo>
                <a:lnTo>
                  <a:pt x="98338" y="364270"/>
                </a:lnTo>
                <a:lnTo>
                  <a:pt x="117308" y="400210"/>
                </a:lnTo>
                <a:lnTo>
                  <a:pt x="807506" y="35940"/>
                </a:lnTo>
                <a:lnTo>
                  <a:pt x="788537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78705" y="3919894"/>
            <a:ext cx="5913755" cy="1073150"/>
          </a:xfrm>
          <a:custGeom>
            <a:avLst/>
            <a:gdLst/>
            <a:ahLst/>
            <a:cxnLst/>
            <a:rect l="l" t="t" r="r" b="b"/>
            <a:pathLst>
              <a:path w="5913755" h="1073150">
                <a:moveTo>
                  <a:pt x="0" y="0"/>
                </a:moveTo>
                <a:lnTo>
                  <a:pt x="5913725" y="0"/>
                </a:lnTo>
                <a:lnTo>
                  <a:pt x="5913725" y="1072895"/>
                </a:lnTo>
                <a:lnTo>
                  <a:pt x="0" y="1072895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99559" y="24938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O</a:t>
            </a:r>
            <a:r>
              <a:rPr spc="-130" dirty="0"/>
              <a:t>p</a:t>
            </a:r>
            <a:r>
              <a:rPr spc="-125" dirty="0"/>
              <a:t>tio</a:t>
            </a:r>
            <a:r>
              <a:rPr dirty="0"/>
              <a:t>n</a:t>
            </a:r>
            <a:r>
              <a:rPr spc="-250" dirty="0"/>
              <a:t> </a:t>
            </a:r>
            <a:r>
              <a:rPr spc="-125" dirty="0"/>
              <a:t>2</a:t>
            </a:r>
            <a:r>
              <a:rPr dirty="0"/>
              <a:t>:</a:t>
            </a:r>
            <a:r>
              <a:rPr spc="-250" dirty="0"/>
              <a:t> </a:t>
            </a:r>
            <a:r>
              <a:rPr spc="-135" dirty="0"/>
              <a:t>Su</a:t>
            </a:r>
            <a:r>
              <a:rPr spc="-130" dirty="0"/>
              <a:t>bq</a:t>
            </a:r>
            <a:r>
              <a:rPr spc="-135" dirty="0"/>
              <a:t>u</a:t>
            </a:r>
            <a:r>
              <a:rPr spc="-125" dirty="0"/>
              <a:t>erie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99911" y="1365716"/>
          <a:ext cx="2860674" cy="3179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5"/>
                        </a:lnSpc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99559" y="1119632"/>
            <a:ext cx="1309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3257" y="5487054"/>
          <a:ext cx="1885950" cy="1491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2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65"/>
                        </a:lnSpc>
                      </a:pPr>
                      <a:r>
                        <a:rPr sz="14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565"/>
                        </a:lnSpc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maxSal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5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5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6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6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50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60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60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7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267646" y="2996650"/>
            <a:ext cx="788035" cy="347980"/>
          </a:xfrm>
          <a:custGeom>
            <a:avLst/>
            <a:gdLst/>
            <a:ahLst/>
            <a:cxnLst/>
            <a:rect l="l" t="t" r="r" b="b"/>
            <a:pathLst>
              <a:path w="788035" h="347979">
                <a:moveTo>
                  <a:pt x="667407" y="310039"/>
                </a:moveTo>
                <a:lnTo>
                  <a:pt x="652049" y="347665"/>
                </a:lnTo>
                <a:lnTo>
                  <a:pt x="787965" y="337299"/>
                </a:lnTo>
                <a:lnTo>
                  <a:pt x="770804" y="317718"/>
                </a:lnTo>
                <a:lnTo>
                  <a:pt x="686220" y="317718"/>
                </a:lnTo>
                <a:lnTo>
                  <a:pt x="667407" y="310039"/>
                </a:lnTo>
                <a:close/>
              </a:path>
              <a:path w="788035" h="347979">
                <a:moveTo>
                  <a:pt x="682764" y="272413"/>
                </a:moveTo>
                <a:lnTo>
                  <a:pt x="667407" y="310039"/>
                </a:lnTo>
                <a:lnTo>
                  <a:pt x="686220" y="317718"/>
                </a:lnTo>
                <a:lnTo>
                  <a:pt x="701578" y="280092"/>
                </a:lnTo>
                <a:lnTo>
                  <a:pt x="682764" y="272413"/>
                </a:lnTo>
                <a:close/>
              </a:path>
              <a:path w="788035" h="347979">
                <a:moveTo>
                  <a:pt x="698122" y="234786"/>
                </a:moveTo>
                <a:lnTo>
                  <a:pt x="682764" y="272413"/>
                </a:lnTo>
                <a:lnTo>
                  <a:pt x="701578" y="280092"/>
                </a:lnTo>
                <a:lnTo>
                  <a:pt x="686220" y="317718"/>
                </a:lnTo>
                <a:lnTo>
                  <a:pt x="770804" y="317718"/>
                </a:lnTo>
                <a:lnTo>
                  <a:pt x="698122" y="234786"/>
                </a:lnTo>
                <a:close/>
              </a:path>
              <a:path w="788035" h="347979">
                <a:moveTo>
                  <a:pt x="15356" y="0"/>
                </a:moveTo>
                <a:lnTo>
                  <a:pt x="0" y="37626"/>
                </a:lnTo>
                <a:lnTo>
                  <a:pt x="667407" y="310039"/>
                </a:lnTo>
                <a:lnTo>
                  <a:pt x="682764" y="272413"/>
                </a:lnTo>
                <a:lnTo>
                  <a:pt x="15356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55478" y="3390391"/>
            <a:ext cx="1976120" cy="942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41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JOIN</a:t>
            </a:r>
            <a:endParaRPr sz="2100">
              <a:latin typeface="Courier New"/>
              <a:cs typeface="Courier New"/>
            </a:endParaRPr>
          </a:p>
          <a:p>
            <a:pPr marL="12065" marR="5080" algn="ctr">
              <a:lnSpc>
                <a:spcPts val="2400"/>
              </a:lnSpc>
              <a:spcBef>
                <a:spcPts val="7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(on</a:t>
            </a:r>
            <a:r>
              <a:rPr sz="2100" spc="-6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matching </a:t>
            </a:r>
            <a:r>
              <a:rPr sz="2100" spc="-12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attributes)</a:t>
            </a:r>
            <a:endParaRPr sz="2100">
              <a:latin typeface="Courier New"/>
              <a:cs typeface="Courier New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256709" y="3046880"/>
          <a:ext cx="3413760" cy="20482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7"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90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90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5561215" y="3559230"/>
            <a:ext cx="576580" cy="121920"/>
          </a:xfrm>
          <a:custGeom>
            <a:avLst/>
            <a:gdLst/>
            <a:ahLst/>
            <a:cxnLst/>
            <a:rect l="l" t="t" r="r" b="b"/>
            <a:pathLst>
              <a:path w="576579" h="121920">
                <a:moveTo>
                  <a:pt x="454427" y="0"/>
                </a:moveTo>
                <a:lnTo>
                  <a:pt x="454427" y="121920"/>
                </a:lnTo>
                <a:lnTo>
                  <a:pt x="535707" y="81280"/>
                </a:lnTo>
                <a:lnTo>
                  <a:pt x="474747" y="81280"/>
                </a:lnTo>
                <a:lnTo>
                  <a:pt x="474747" y="40640"/>
                </a:lnTo>
                <a:lnTo>
                  <a:pt x="535707" y="40640"/>
                </a:lnTo>
                <a:lnTo>
                  <a:pt x="454427" y="0"/>
                </a:lnTo>
                <a:close/>
              </a:path>
              <a:path w="576579" h="121920">
                <a:moveTo>
                  <a:pt x="454427" y="40640"/>
                </a:moveTo>
                <a:lnTo>
                  <a:pt x="0" y="40640"/>
                </a:lnTo>
                <a:lnTo>
                  <a:pt x="0" y="81280"/>
                </a:lnTo>
                <a:lnTo>
                  <a:pt x="454427" y="81280"/>
                </a:lnTo>
                <a:lnTo>
                  <a:pt x="454427" y="40640"/>
                </a:lnTo>
                <a:close/>
              </a:path>
              <a:path w="576579" h="121920">
                <a:moveTo>
                  <a:pt x="535707" y="40640"/>
                </a:moveTo>
                <a:lnTo>
                  <a:pt x="474747" y="40640"/>
                </a:lnTo>
                <a:lnTo>
                  <a:pt x="474747" y="81280"/>
                </a:lnTo>
                <a:lnTo>
                  <a:pt x="535707" y="81280"/>
                </a:lnTo>
                <a:lnTo>
                  <a:pt x="576347" y="60960"/>
                </a:lnTo>
                <a:lnTo>
                  <a:pt x="535707" y="4064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4487453" y="1471866"/>
            <a:ext cx="5161280" cy="689610"/>
            <a:chOff x="4487453" y="1471866"/>
            <a:chExt cx="5161280" cy="689610"/>
          </a:xfrm>
        </p:grpSpPr>
        <p:sp>
          <p:nvSpPr>
            <p:cNvPr id="10" name="object 10"/>
            <p:cNvSpPr/>
            <p:nvPr/>
          </p:nvSpPr>
          <p:spPr>
            <a:xfrm>
              <a:off x="4501546" y="1485959"/>
              <a:ext cx="5132705" cy="661670"/>
            </a:xfrm>
            <a:custGeom>
              <a:avLst/>
              <a:gdLst/>
              <a:ahLst/>
              <a:cxnLst/>
              <a:rect l="l" t="t" r="r" b="b"/>
              <a:pathLst>
                <a:path w="5132705" h="661669">
                  <a:moveTo>
                    <a:pt x="5022400" y="0"/>
                  </a:moveTo>
                  <a:lnTo>
                    <a:pt x="110229" y="0"/>
                  </a:lnTo>
                  <a:lnTo>
                    <a:pt x="67323" y="8662"/>
                  </a:lnTo>
                  <a:lnTo>
                    <a:pt x="32285" y="32285"/>
                  </a:lnTo>
                  <a:lnTo>
                    <a:pt x="8662" y="67323"/>
                  </a:lnTo>
                  <a:lnTo>
                    <a:pt x="0" y="110229"/>
                  </a:lnTo>
                  <a:lnTo>
                    <a:pt x="0" y="551150"/>
                  </a:lnTo>
                  <a:lnTo>
                    <a:pt x="8662" y="594057"/>
                  </a:lnTo>
                  <a:lnTo>
                    <a:pt x="32285" y="629095"/>
                  </a:lnTo>
                  <a:lnTo>
                    <a:pt x="67323" y="652719"/>
                  </a:lnTo>
                  <a:lnTo>
                    <a:pt x="110229" y="661381"/>
                  </a:lnTo>
                  <a:lnTo>
                    <a:pt x="5022400" y="661381"/>
                  </a:lnTo>
                  <a:lnTo>
                    <a:pt x="5065307" y="652719"/>
                  </a:lnTo>
                  <a:lnTo>
                    <a:pt x="5100345" y="629095"/>
                  </a:lnTo>
                  <a:lnTo>
                    <a:pt x="5123968" y="594057"/>
                  </a:lnTo>
                  <a:lnTo>
                    <a:pt x="5132631" y="551150"/>
                  </a:lnTo>
                  <a:lnTo>
                    <a:pt x="5132631" y="110229"/>
                  </a:lnTo>
                  <a:lnTo>
                    <a:pt x="5123968" y="67323"/>
                  </a:lnTo>
                  <a:lnTo>
                    <a:pt x="5100345" y="32285"/>
                  </a:lnTo>
                  <a:lnTo>
                    <a:pt x="5065307" y="8662"/>
                  </a:lnTo>
                  <a:lnTo>
                    <a:pt x="5022400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01546" y="1485959"/>
              <a:ext cx="5132705" cy="661670"/>
            </a:xfrm>
            <a:custGeom>
              <a:avLst/>
              <a:gdLst/>
              <a:ahLst/>
              <a:cxnLst/>
              <a:rect l="l" t="t" r="r" b="b"/>
              <a:pathLst>
                <a:path w="5132705" h="661669">
                  <a:moveTo>
                    <a:pt x="0" y="110230"/>
                  </a:moveTo>
                  <a:lnTo>
                    <a:pt x="8662" y="67323"/>
                  </a:lnTo>
                  <a:lnTo>
                    <a:pt x="32285" y="32285"/>
                  </a:lnTo>
                  <a:lnTo>
                    <a:pt x="67323" y="8662"/>
                  </a:lnTo>
                  <a:lnTo>
                    <a:pt x="110230" y="0"/>
                  </a:lnTo>
                  <a:lnTo>
                    <a:pt x="2994035" y="0"/>
                  </a:lnTo>
                  <a:lnTo>
                    <a:pt x="4277192" y="0"/>
                  </a:lnTo>
                  <a:lnTo>
                    <a:pt x="5022400" y="0"/>
                  </a:lnTo>
                  <a:lnTo>
                    <a:pt x="5065307" y="8662"/>
                  </a:lnTo>
                  <a:lnTo>
                    <a:pt x="5100345" y="32285"/>
                  </a:lnTo>
                  <a:lnTo>
                    <a:pt x="5123968" y="67323"/>
                  </a:lnTo>
                  <a:lnTo>
                    <a:pt x="5132631" y="110230"/>
                  </a:lnTo>
                  <a:lnTo>
                    <a:pt x="5132631" y="385806"/>
                  </a:lnTo>
                  <a:lnTo>
                    <a:pt x="5132631" y="551151"/>
                  </a:lnTo>
                  <a:lnTo>
                    <a:pt x="5123968" y="594058"/>
                  </a:lnTo>
                  <a:lnTo>
                    <a:pt x="5100345" y="629096"/>
                  </a:lnTo>
                  <a:lnTo>
                    <a:pt x="5065307" y="652719"/>
                  </a:lnTo>
                  <a:lnTo>
                    <a:pt x="5022400" y="661382"/>
                  </a:lnTo>
                  <a:lnTo>
                    <a:pt x="4277192" y="661382"/>
                  </a:lnTo>
                  <a:lnTo>
                    <a:pt x="2658909" y="661382"/>
                  </a:lnTo>
                  <a:lnTo>
                    <a:pt x="2994035" y="661382"/>
                  </a:lnTo>
                  <a:lnTo>
                    <a:pt x="110230" y="661382"/>
                  </a:lnTo>
                  <a:lnTo>
                    <a:pt x="67323" y="652719"/>
                  </a:lnTo>
                  <a:lnTo>
                    <a:pt x="32285" y="629096"/>
                  </a:lnTo>
                  <a:lnTo>
                    <a:pt x="8662" y="594058"/>
                  </a:lnTo>
                  <a:lnTo>
                    <a:pt x="0" y="551151"/>
                  </a:lnTo>
                  <a:lnTo>
                    <a:pt x="0" y="385806"/>
                  </a:lnTo>
                  <a:lnTo>
                    <a:pt x="0" y="110230"/>
                  </a:lnTo>
                  <a:close/>
                </a:path>
              </a:pathLst>
            </a:custGeom>
            <a:ln w="28186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718362" y="1640840"/>
            <a:ext cx="46970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How</a:t>
            </a:r>
            <a:r>
              <a:rPr sz="21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should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Verdana"/>
                <a:cs typeface="Verdana"/>
              </a:rPr>
              <a:t>we write SQL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for this?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755050" y="4373878"/>
            <a:ext cx="1276985" cy="1080135"/>
          </a:xfrm>
          <a:custGeom>
            <a:avLst/>
            <a:gdLst/>
            <a:ahLst/>
            <a:cxnLst/>
            <a:rect l="l" t="t" r="r" b="b"/>
            <a:pathLst>
              <a:path w="1276985" h="1080135">
                <a:moveTo>
                  <a:pt x="1170275" y="62990"/>
                </a:moveTo>
                <a:lnTo>
                  <a:pt x="0" y="1048486"/>
                </a:lnTo>
                <a:lnTo>
                  <a:pt x="26177" y="1079573"/>
                </a:lnTo>
                <a:lnTo>
                  <a:pt x="1196452" y="94076"/>
                </a:lnTo>
                <a:lnTo>
                  <a:pt x="1170275" y="62990"/>
                </a:lnTo>
                <a:close/>
              </a:path>
              <a:path w="1276985" h="1080135">
                <a:moveTo>
                  <a:pt x="1255095" y="49900"/>
                </a:moveTo>
                <a:lnTo>
                  <a:pt x="1185819" y="49900"/>
                </a:lnTo>
                <a:lnTo>
                  <a:pt x="1211996" y="80986"/>
                </a:lnTo>
                <a:lnTo>
                  <a:pt x="1196452" y="94076"/>
                </a:lnTo>
                <a:lnTo>
                  <a:pt x="1222630" y="125162"/>
                </a:lnTo>
                <a:lnTo>
                  <a:pt x="1255095" y="49900"/>
                </a:lnTo>
                <a:close/>
              </a:path>
              <a:path w="1276985" h="1080135">
                <a:moveTo>
                  <a:pt x="1185819" y="49900"/>
                </a:moveTo>
                <a:lnTo>
                  <a:pt x="1170275" y="62990"/>
                </a:lnTo>
                <a:lnTo>
                  <a:pt x="1196452" y="94076"/>
                </a:lnTo>
                <a:lnTo>
                  <a:pt x="1211996" y="80986"/>
                </a:lnTo>
                <a:lnTo>
                  <a:pt x="1185819" y="49900"/>
                </a:lnTo>
                <a:close/>
              </a:path>
              <a:path w="1276985" h="1080135">
                <a:moveTo>
                  <a:pt x="1276621" y="0"/>
                </a:moveTo>
                <a:lnTo>
                  <a:pt x="1144097" y="31904"/>
                </a:lnTo>
                <a:lnTo>
                  <a:pt x="1170275" y="62990"/>
                </a:lnTo>
                <a:lnTo>
                  <a:pt x="1185819" y="49900"/>
                </a:lnTo>
                <a:lnTo>
                  <a:pt x="1255095" y="49900"/>
                </a:lnTo>
                <a:lnTo>
                  <a:pt x="1276621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938501" y="5890260"/>
            <a:ext cx="5560695" cy="952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lnSpc>
                <a:spcPct val="104000"/>
              </a:lnSpc>
              <a:tabLst>
                <a:tab pos="1083310" algn="l"/>
              </a:tabLst>
            </a:pP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000" spc="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E1.job,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MAX(E1.sal)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maxSal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FROM	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practice_emp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E1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GROUP</a:t>
            </a:r>
            <a:r>
              <a:rPr sz="2000" spc="-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BY</a:t>
            </a:r>
            <a:r>
              <a:rPr sz="2000" spc="-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E1.job;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45969" y="5870612"/>
            <a:ext cx="5933440" cy="1073150"/>
          </a:xfrm>
          <a:custGeom>
            <a:avLst/>
            <a:gdLst/>
            <a:ahLst/>
            <a:cxnLst/>
            <a:rect l="l" t="t" r="r" b="b"/>
            <a:pathLst>
              <a:path w="5933440" h="1073150">
                <a:moveTo>
                  <a:pt x="0" y="0"/>
                </a:moveTo>
                <a:lnTo>
                  <a:pt x="5932841" y="0"/>
                </a:lnTo>
                <a:lnTo>
                  <a:pt x="5932841" y="1072895"/>
                </a:lnTo>
                <a:lnTo>
                  <a:pt x="0" y="1072895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99559" y="-34636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O</a:t>
            </a:r>
            <a:r>
              <a:rPr spc="-130" dirty="0"/>
              <a:t>p</a:t>
            </a:r>
            <a:r>
              <a:rPr spc="-125" dirty="0"/>
              <a:t>tio</a:t>
            </a:r>
            <a:r>
              <a:rPr dirty="0"/>
              <a:t>n</a:t>
            </a:r>
            <a:r>
              <a:rPr spc="-250" dirty="0"/>
              <a:t> </a:t>
            </a:r>
            <a:r>
              <a:rPr spc="-125" dirty="0"/>
              <a:t>2</a:t>
            </a:r>
            <a:r>
              <a:rPr dirty="0"/>
              <a:t>:</a:t>
            </a:r>
            <a:r>
              <a:rPr spc="-250" dirty="0"/>
              <a:t> </a:t>
            </a:r>
            <a:r>
              <a:rPr spc="-135" dirty="0"/>
              <a:t>Su</a:t>
            </a:r>
            <a:r>
              <a:rPr spc="-130" dirty="0"/>
              <a:t>bq</a:t>
            </a:r>
            <a:r>
              <a:rPr spc="-135" dirty="0"/>
              <a:t>u</a:t>
            </a:r>
            <a:r>
              <a:rPr spc="-125" dirty="0"/>
              <a:t>erie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5191" y="5929884"/>
            <a:ext cx="5573395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000"/>
              </a:lnSpc>
            </a:pP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000" spc="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E2.job,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MAX(E2.sal)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maxSal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08925" y="6246876"/>
            <a:ext cx="23374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practice_emp</a:t>
            </a:r>
            <a:r>
              <a:rPr sz="2000" spc="-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E2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25191" y="6551676"/>
            <a:ext cx="24911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GROUP</a:t>
            </a:r>
            <a:r>
              <a:rPr sz="2000" spc="-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BY</a:t>
            </a:r>
            <a:r>
              <a:rPr sz="2000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E2.job;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45969" y="5870612"/>
            <a:ext cx="5894705" cy="1073150"/>
          </a:xfrm>
          <a:custGeom>
            <a:avLst/>
            <a:gdLst/>
            <a:ahLst/>
            <a:cxnLst/>
            <a:rect l="l" t="t" r="r" b="b"/>
            <a:pathLst>
              <a:path w="5894705" h="1073150">
                <a:moveTo>
                  <a:pt x="0" y="0"/>
                </a:moveTo>
                <a:lnTo>
                  <a:pt x="5894612" y="0"/>
                </a:lnTo>
                <a:lnTo>
                  <a:pt x="5894612" y="1072895"/>
                </a:lnTo>
                <a:lnTo>
                  <a:pt x="0" y="1072895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99911" y="1365716"/>
          <a:ext cx="2860674" cy="3179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5"/>
                        </a:lnSpc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99559" y="1119632"/>
            <a:ext cx="1309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43257" y="5487054"/>
          <a:ext cx="1885950" cy="1491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2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65"/>
                        </a:lnSpc>
                      </a:pPr>
                      <a:r>
                        <a:rPr sz="14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565"/>
                        </a:lnSpc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maxSal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5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5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6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6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50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60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60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7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568018" y="2955035"/>
            <a:ext cx="1231265" cy="1056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12500"/>
              </a:lnSpc>
              <a:spcBef>
                <a:spcPts val="110"/>
              </a:spcBef>
            </a:pP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000" spc="-5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*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2000" spc="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54019" y="2878505"/>
            <a:ext cx="4232275" cy="1306195"/>
            <a:chOff x="4354019" y="2878505"/>
            <a:chExt cx="4232275" cy="1306195"/>
          </a:xfrm>
        </p:grpSpPr>
        <p:sp>
          <p:nvSpPr>
            <p:cNvPr id="11" name="object 11"/>
            <p:cNvSpPr/>
            <p:nvPr/>
          </p:nvSpPr>
          <p:spPr>
            <a:xfrm>
              <a:off x="4364179" y="2888665"/>
              <a:ext cx="4211955" cy="1285875"/>
            </a:xfrm>
            <a:custGeom>
              <a:avLst/>
              <a:gdLst/>
              <a:ahLst/>
              <a:cxnLst/>
              <a:rect l="l" t="t" r="r" b="b"/>
              <a:pathLst>
                <a:path w="4211955" h="1285875">
                  <a:moveTo>
                    <a:pt x="0" y="0"/>
                  </a:moveTo>
                  <a:lnTo>
                    <a:pt x="4211781" y="0"/>
                  </a:lnTo>
                  <a:lnTo>
                    <a:pt x="4211781" y="1285702"/>
                  </a:lnTo>
                  <a:lnTo>
                    <a:pt x="0" y="1285702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85841" y="3339402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247343" y="0"/>
                  </a:moveTo>
                  <a:lnTo>
                    <a:pt x="142798" y="0"/>
                  </a:lnTo>
                  <a:lnTo>
                    <a:pt x="52271" y="44430"/>
                  </a:lnTo>
                  <a:lnTo>
                    <a:pt x="0" y="121378"/>
                  </a:lnTo>
                  <a:lnTo>
                    <a:pt x="0" y="210242"/>
                  </a:lnTo>
                  <a:lnTo>
                    <a:pt x="52271" y="287190"/>
                  </a:lnTo>
                  <a:lnTo>
                    <a:pt x="142798" y="331622"/>
                  </a:lnTo>
                  <a:lnTo>
                    <a:pt x="247343" y="331622"/>
                  </a:lnTo>
                  <a:lnTo>
                    <a:pt x="337870" y="287190"/>
                  </a:lnTo>
                  <a:lnTo>
                    <a:pt x="390143" y="210242"/>
                  </a:lnTo>
                  <a:lnTo>
                    <a:pt x="390143" y="121378"/>
                  </a:lnTo>
                  <a:lnTo>
                    <a:pt x="337870" y="44430"/>
                  </a:lnTo>
                  <a:lnTo>
                    <a:pt x="247343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85841" y="3339402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13433" y="3332012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247343" y="0"/>
                  </a:moveTo>
                  <a:lnTo>
                    <a:pt x="142800" y="0"/>
                  </a:lnTo>
                  <a:lnTo>
                    <a:pt x="52271" y="44430"/>
                  </a:lnTo>
                  <a:lnTo>
                    <a:pt x="0" y="121378"/>
                  </a:lnTo>
                  <a:lnTo>
                    <a:pt x="0" y="210242"/>
                  </a:lnTo>
                  <a:lnTo>
                    <a:pt x="52271" y="287190"/>
                  </a:lnTo>
                  <a:lnTo>
                    <a:pt x="142800" y="331622"/>
                  </a:lnTo>
                  <a:lnTo>
                    <a:pt x="247343" y="331622"/>
                  </a:lnTo>
                  <a:lnTo>
                    <a:pt x="337872" y="287190"/>
                  </a:lnTo>
                  <a:lnTo>
                    <a:pt x="390144" y="210242"/>
                  </a:lnTo>
                  <a:lnTo>
                    <a:pt x="390144" y="121378"/>
                  </a:lnTo>
                  <a:lnTo>
                    <a:pt x="337872" y="44430"/>
                  </a:lnTo>
                  <a:lnTo>
                    <a:pt x="247343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13433" y="3332012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548392" y="3355847"/>
            <a:ext cx="1206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224250" y="3665013"/>
            <a:ext cx="419100" cy="360680"/>
            <a:chOff x="7224250" y="3665013"/>
            <a:chExt cx="419100" cy="360680"/>
          </a:xfrm>
        </p:grpSpPr>
        <p:sp>
          <p:nvSpPr>
            <p:cNvPr id="18" name="object 18"/>
            <p:cNvSpPr/>
            <p:nvPr/>
          </p:nvSpPr>
          <p:spPr>
            <a:xfrm>
              <a:off x="7238538" y="3679300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247343" y="0"/>
                  </a:moveTo>
                  <a:lnTo>
                    <a:pt x="142800" y="0"/>
                  </a:lnTo>
                  <a:lnTo>
                    <a:pt x="52271" y="44430"/>
                  </a:lnTo>
                  <a:lnTo>
                    <a:pt x="0" y="121378"/>
                  </a:lnTo>
                  <a:lnTo>
                    <a:pt x="0" y="210242"/>
                  </a:lnTo>
                  <a:lnTo>
                    <a:pt x="52271" y="287190"/>
                  </a:lnTo>
                  <a:lnTo>
                    <a:pt x="142800" y="331622"/>
                  </a:lnTo>
                  <a:lnTo>
                    <a:pt x="247343" y="331622"/>
                  </a:lnTo>
                  <a:lnTo>
                    <a:pt x="337872" y="287190"/>
                  </a:lnTo>
                  <a:lnTo>
                    <a:pt x="390143" y="210242"/>
                  </a:lnTo>
                  <a:lnTo>
                    <a:pt x="390143" y="121378"/>
                  </a:lnTo>
                  <a:lnTo>
                    <a:pt x="337872" y="44430"/>
                  </a:lnTo>
                  <a:lnTo>
                    <a:pt x="247343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38538" y="3679300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108951" y="3311423"/>
            <a:ext cx="2324100" cy="69977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495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0"/>
              </a:spcBef>
              <a:tabLst>
                <a:tab pos="1264285" algn="l"/>
                <a:tab pos="1540510" algn="l"/>
              </a:tabLst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.jo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b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=	</a:t>
            </a:r>
            <a:r>
              <a:rPr sz="2550" baseline="4901" dirty="0">
                <a:solidFill>
                  <a:srgbClr val="FFFFFF"/>
                </a:solidFill>
                <a:latin typeface="Arial MT"/>
                <a:cs typeface="Arial MT"/>
              </a:rPr>
              <a:t>2	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.job;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687517" y="3657817"/>
            <a:ext cx="418465" cy="360045"/>
            <a:chOff x="5687517" y="3657817"/>
            <a:chExt cx="418465" cy="360045"/>
          </a:xfrm>
        </p:grpSpPr>
        <p:sp>
          <p:nvSpPr>
            <p:cNvPr id="22" name="object 22"/>
            <p:cNvSpPr/>
            <p:nvPr/>
          </p:nvSpPr>
          <p:spPr>
            <a:xfrm>
              <a:off x="5701610" y="3671910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247343" y="0"/>
                  </a:moveTo>
                  <a:lnTo>
                    <a:pt x="142800" y="0"/>
                  </a:lnTo>
                  <a:lnTo>
                    <a:pt x="52271" y="44430"/>
                  </a:lnTo>
                  <a:lnTo>
                    <a:pt x="0" y="121378"/>
                  </a:lnTo>
                  <a:lnTo>
                    <a:pt x="0" y="210242"/>
                  </a:lnTo>
                  <a:lnTo>
                    <a:pt x="52271" y="287190"/>
                  </a:lnTo>
                  <a:lnTo>
                    <a:pt x="142800" y="331622"/>
                  </a:lnTo>
                  <a:lnTo>
                    <a:pt x="247343" y="331622"/>
                  </a:lnTo>
                  <a:lnTo>
                    <a:pt x="337872" y="287190"/>
                  </a:lnTo>
                  <a:lnTo>
                    <a:pt x="390144" y="210242"/>
                  </a:lnTo>
                  <a:lnTo>
                    <a:pt x="390144" y="121378"/>
                  </a:lnTo>
                  <a:lnTo>
                    <a:pt x="337872" y="44430"/>
                  </a:lnTo>
                  <a:lnTo>
                    <a:pt x="247343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01610" y="3671910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836569" y="3279917"/>
            <a:ext cx="200660" cy="69913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565"/>
              </a:spcBef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270611" y="2995697"/>
            <a:ext cx="960755" cy="278765"/>
          </a:xfrm>
          <a:custGeom>
            <a:avLst/>
            <a:gdLst/>
            <a:ahLst/>
            <a:cxnLst/>
            <a:rect l="l" t="t" r="r" b="b"/>
            <a:pathLst>
              <a:path w="960754" h="278764">
                <a:moveTo>
                  <a:pt x="837258" y="239142"/>
                </a:moveTo>
                <a:lnTo>
                  <a:pt x="827832" y="278674"/>
                </a:lnTo>
                <a:lnTo>
                  <a:pt x="960567" y="247651"/>
                </a:lnTo>
                <a:lnTo>
                  <a:pt x="956039" y="243855"/>
                </a:lnTo>
                <a:lnTo>
                  <a:pt x="857023" y="243855"/>
                </a:lnTo>
                <a:lnTo>
                  <a:pt x="837258" y="239142"/>
                </a:lnTo>
                <a:close/>
              </a:path>
              <a:path w="960754" h="278764">
                <a:moveTo>
                  <a:pt x="846683" y="199610"/>
                </a:moveTo>
                <a:lnTo>
                  <a:pt x="837258" y="239142"/>
                </a:lnTo>
                <a:lnTo>
                  <a:pt x="857023" y="243855"/>
                </a:lnTo>
                <a:lnTo>
                  <a:pt x="866448" y="204322"/>
                </a:lnTo>
                <a:lnTo>
                  <a:pt x="846683" y="199610"/>
                </a:lnTo>
                <a:close/>
              </a:path>
              <a:path w="960754" h="278764">
                <a:moveTo>
                  <a:pt x="856108" y="160078"/>
                </a:moveTo>
                <a:lnTo>
                  <a:pt x="846683" y="199610"/>
                </a:lnTo>
                <a:lnTo>
                  <a:pt x="866448" y="204322"/>
                </a:lnTo>
                <a:lnTo>
                  <a:pt x="857023" y="243855"/>
                </a:lnTo>
                <a:lnTo>
                  <a:pt x="956039" y="243855"/>
                </a:lnTo>
                <a:lnTo>
                  <a:pt x="856108" y="160078"/>
                </a:lnTo>
                <a:close/>
              </a:path>
              <a:path w="960754" h="278764">
                <a:moveTo>
                  <a:pt x="9425" y="0"/>
                </a:moveTo>
                <a:lnTo>
                  <a:pt x="0" y="39531"/>
                </a:lnTo>
                <a:lnTo>
                  <a:pt x="837258" y="239142"/>
                </a:lnTo>
                <a:lnTo>
                  <a:pt x="846683" y="199610"/>
                </a:lnTo>
                <a:lnTo>
                  <a:pt x="9425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53348" y="3908368"/>
            <a:ext cx="1456055" cy="1543685"/>
          </a:xfrm>
          <a:custGeom>
            <a:avLst/>
            <a:gdLst/>
            <a:ahLst/>
            <a:cxnLst/>
            <a:rect l="l" t="t" r="r" b="b"/>
            <a:pathLst>
              <a:path w="1456054" h="1543685">
                <a:moveTo>
                  <a:pt x="1357271" y="74810"/>
                </a:moveTo>
                <a:lnTo>
                  <a:pt x="0" y="1515607"/>
                </a:lnTo>
                <a:lnTo>
                  <a:pt x="29580" y="1543474"/>
                </a:lnTo>
                <a:lnTo>
                  <a:pt x="1386853" y="102677"/>
                </a:lnTo>
                <a:lnTo>
                  <a:pt x="1357271" y="74810"/>
                </a:lnTo>
                <a:close/>
              </a:path>
              <a:path w="1456054" h="1543685">
                <a:moveTo>
                  <a:pt x="1437627" y="60018"/>
                </a:moveTo>
                <a:lnTo>
                  <a:pt x="1371206" y="60018"/>
                </a:lnTo>
                <a:lnTo>
                  <a:pt x="1400787" y="87886"/>
                </a:lnTo>
                <a:lnTo>
                  <a:pt x="1386853" y="102677"/>
                </a:lnTo>
                <a:lnTo>
                  <a:pt x="1416434" y="130544"/>
                </a:lnTo>
                <a:lnTo>
                  <a:pt x="1437627" y="60018"/>
                </a:lnTo>
                <a:close/>
              </a:path>
              <a:path w="1456054" h="1543685">
                <a:moveTo>
                  <a:pt x="1371206" y="60018"/>
                </a:moveTo>
                <a:lnTo>
                  <a:pt x="1357271" y="74810"/>
                </a:lnTo>
                <a:lnTo>
                  <a:pt x="1386853" y="102677"/>
                </a:lnTo>
                <a:lnTo>
                  <a:pt x="1400787" y="87886"/>
                </a:lnTo>
                <a:lnTo>
                  <a:pt x="1371206" y="60018"/>
                </a:lnTo>
                <a:close/>
              </a:path>
              <a:path w="1456054" h="1543685">
                <a:moveTo>
                  <a:pt x="1455662" y="0"/>
                </a:moveTo>
                <a:lnTo>
                  <a:pt x="1327691" y="46944"/>
                </a:lnTo>
                <a:lnTo>
                  <a:pt x="1357271" y="74810"/>
                </a:lnTo>
                <a:lnTo>
                  <a:pt x="1371206" y="60018"/>
                </a:lnTo>
                <a:lnTo>
                  <a:pt x="1437627" y="60018"/>
                </a:lnTo>
                <a:lnTo>
                  <a:pt x="1455662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277984" y="1211350"/>
            <a:ext cx="3305810" cy="680085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25"/>
              </a:spcBef>
            </a:pP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000" spc="-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*</a:t>
            </a:r>
            <a:endParaRPr sz="2000">
              <a:latin typeface="Courier New"/>
              <a:cs typeface="Courier New"/>
            </a:endParaRPr>
          </a:p>
          <a:p>
            <a:pPr marL="146050">
              <a:lnSpc>
                <a:spcPct val="100000"/>
              </a:lnSpc>
              <a:spcBef>
                <a:spcPts val="120"/>
              </a:spcBef>
              <a:tabLst>
                <a:tab pos="1229360" algn="l"/>
              </a:tabLst>
            </a:pP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FROM	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practice_emp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61493" y="4577079"/>
            <a:ext cx="1772920" cy="78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39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JOIN</a:t>
            </a:r>
            <a:endParaRPr sz="1900">
              <a:latin typeface="Courier New"/>
              <a:cs typeface="Courier New"/>
            </a:endParaRPr>
          </a:p>
          <a:p>
            <a:pPr marL="12700" marR="5080" algn="ctr">
              <a:lnSpc>
                <a:spcPts val="1900"/>
              </a:lnSpc>
              <a:spcBef>
                <a:spcPts val="14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(on</a:t>
            </a:r>
            <a:r>
              <a:rPr sz="1900" spc="-8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matching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attributes)</a:t>
            </a:r>
            <a:endParaRPr sz="1900">
              <a:latin typeface="Courier New"/>
              <a:cs typeface="Courier New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78699" y="5482927"/>
            <a:ext cx="418465" cy="360045"/>
            <a:chOff x="278699" y="5482927"/>
            <a:chExt cx="418465" cy="360045"/>
          </a:xfrm>
        </p:grpSpPr>
        <p:sp>
          <p:nvSpPr>
            <p:cNvPr id="30" name="object 30"/>
            <p:cNvSpPr/>
            <p:nvPr/>
          </p:nvSpPr>
          <p:spPr>
            <a:xfrm>
              <a:off x="292792" y="5497021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247344" y="0"/>
                  </a:moveTo>
                  <a:lnTo>
                    <a:pt x="142799" y="0"/>
                  </a:lnTo>
                  <a:lnTo>
                    <a:pt x="52272" y="44432"/>
                  </a:lnTo>
                  <a:lnTo>
                    <a:pt x="0" y="121380"/>
                  </a:lnTo>
                  <a:lnTo>
                    <a:pt x="0" y="210243"/>
                  </a:lnTo>
                  <a:lnTo>
                    <a:pt x="52272" y="287191"/>
                  </a:lnTo>
                  <a:lnTo>
                    <a:pt x="142799" y="331622"/>
                  </a:lnTo>
                  <a:lnTo>
                    <a:pt x="247344" y="331622"/>
                  </a:lnTo>
                  <a:lnTo>
                    <a:pt x="337871" y="287191"/>
                  </a:lnTo>
                  <a:lnTo>
                    <a:pt x="390144" y="210243"/>
                  </a:lnTo>
                  <a:lnTo>
                    <a:pt x="390144" y="121380"/>
                  </a:lnTo>
                  <a:lnTo>
                    <a:pt x="337871" y="44432"/>
                  </a:lnTo>
                  <a:lnTo>
                    <a:pt x="24734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2792" y="5497021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15050" y="5519928"/>
            <a:ext cx="146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26976" y="4470624"/>
            <a:ext cx="418465" cy="360045"/>
            <a:chOff x="226976" y="4470624"/>
            <a:chExt cx="418465" cy="360045"/>
          </a:xfrm>
        </p:grpSpPr>
        <p:sp>
          <p:nvSpPr>
            <p:cNvPr id="34" name="object 34"/>
            <p:cNvSpPr/>
            <p:nvPr/>
          </p:nvSpPr>
          <p:spPr>
            <a:xfrm>
              <a:off x="241069" y="4484718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247344" y="0"/>
                  </a:moveTo>
                  <a:lnTo>
                    <a:pt x="142799" y="0"/>
                  </a:lnTo>
                  <a:lnTo>
                    <a:pt x="52272" y="44432"/>
                  </a:lnTo>
                  <a:lnTo>
                    <a:pt x="0" y="121380"/>
                  </a:lnTo>
                  <a:lnTo>
                    <a:pt x="0" y="210243"/>
                  </a:lnTo>
                  <a:lnTo>
                    <a:pt x="52272" y="287191"/>
                  </a:lnTo>
                  <a:lnTo>
                    <a:pt x="142799" y="331622"/>
                  </a:lnTo>
                  <a:lnTo>
                    <a:pt x="247344" y="331622"/>
                  </a:lnTo>
                  <a:lnTo>
                    <a:pt x="337871" y="287191"/>
                  </a:lnTo>
                  <a:lnTo>
                    <a:pt x="390144" y="210243"/>
                  </a:lnTo>
                  <a:lnTo>
                    <a:pt x="390144" y="121380"/>
                  </a:lnTo>
                  <a:lnTo>
                    <a:pt x="337871" y="44432"/>
                  </a:lnTo>
                  <a:lnTo>
                    <a:pt x="24734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41069" y="4484718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63328" y="4507992"/>
            <a:ext cx="146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241069" y="-48476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O</a:t>
            </a:r>
            <a:r>
              <a:rPr spc="-130" dirty="0"/>
              <a:t>p</a:t>
            </a:r>
            <a:r>
              <a:rPr spc="-125" dirty="0"/>
              <a:t>tio</a:t>
            </a:r>
            <a:r>
              <a:rPr dirty="0"/>
              <a:t>n</a:t>
            </a:r>
            <a:r>
              <a:rPr spc="-250" dirty="0"/>
              <a:t> </a:t>
            </a:r>
            <a:r>
              <a:rPr spc="-125" dirty="0"/>
              <a:t>2</a:t>
            </a:r>
            <a:r>
              <a:rPr dirty="0"/>
              <a:t>:</a:t>
            </a:r>
            <a:r>
              <a:rPr spc="-250" dirty="0"/>
              <a:t> </a:t>
            </a:r>
            <a:r>
              <a:rPr spc="-135" dirty="0"/>
              <a:t>Su</a:t>
            </a:r>
            <a:r>
              <a:rPr spc="-130" dirty="0"/>
              <a:t>bq</a:t>
            </a:r>
            <a:r>
              <a:rPr spc="-135" dirty="0"/>
              <a:t>u</a:t>
            </a:r>
            <a:r>
              <a:rPr spc="-125" dirty="0"/>
              <a:t>erie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68018" y="2317011"/>
            <a:ext cx="3852545" cy="93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0"/>
              </a:lnSpc>
            </a:pP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000" spc="-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*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85"/>
              </a:spcBef>
              <a:tabLst>
                <a:tab pos="979805" algn="l"/>
                <a:tab pos="1303655" algn="l"/>
              </a:tabLst>
            </a:pP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FROM	</a:t>
            </a:r>
            <a:r>
              <a:rPr sz="2550" baseline="4901" dirty="0">
                <a:solidFill>
                  <a:srgbClr val="FFFFFF"/>
                </a:solidFill>
                <a:latin typeface="Arial MT"/>
                <a:cs typeface="Arial MT"/>
              </a:rPr>
              <a:t>1	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27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550" baseline="3267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2550" baseline="3267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15"/>
              </a:spcBef>
              <a:tabLst>
                <a:tab pos="1268095" algn="l"/>
                <a:tab pos="1540510" algn="l"/>
                <a:tab pos="2804795" algn="l"/>
                <a:tab pos="3081655" algn="l"/>
              </a:tabLst>
            </a:pPr>
            <a:r>
              <a:rPr sz="2000" spc="10" dirty="0">
                <a:solidFill>
                  <a:srgbClr val="C00000"/>
                </a:solidFill>
                <a:latin typeface="Courier New"/>
                <a:cs typeface="Courier New"/>
              </a:rPr>
              <a:t>WHER</a:t>
            </a:r>
            <a:r>
              <a:rPr sz="2000" dirty="0">
                <a:solidFill>
                  <a:srgbClr val="C00000"/>
                </a:solidFill>
                <a:latin typeface="Courier New"/>
                <a:cs typeface="Courier New"/>
              </a:rPr>
              <a:t>E	</a:t>
            </a:r>
            <a:r>
              <a:rPr sz="2550" baseline="6535" dirty="0">
                <a:solidFill>
                  <a:srgbClr val="FFFFFF"/>
                </a:solidFill>
                <a:latin typeface="Arial MT"/>
                <a:cs typeface="Arial MT"/>
              </a:rPr>
              <a:t>1	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.jo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b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=	</a:t>
            </a:r>
            <a:r>
              <a:rPr sz="2550" baseline="4901" dirty="0">
                <a:solidFill>
                  <a:srgbClr val="FFFFFF"/>
                </a:solidFill>
                <a:latin typeface="Arial MT"/>
                <a:cs typeface="Arial MT"/>
              </a:rPr>
              <a:t>2	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.job;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9911" y="1365716"/>
          <a:ext cx="2860674" cy="3179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5"/>
                        </a:lnSpc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99559" y="1119632"/>
            <a:ext cx="1309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43257" y="5487054"/>
          <a:ext cx="1885950" cy="1491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2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65"/>
                        </a:lnSpc>
                      </a:pPr>
                      <a:r>
                        <a:rPr sz="14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565"/>
                        </a:lnSpc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maxSal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5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5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6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6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50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60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60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7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061493" y="4577079"/>
            <a:ext cx="1772920" cy="78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39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JOIN</a:t>
            </a:r>
            <a:endParaRPr sz="1900">
              <a:latin typeface="Courier New"/>
              <a:cs typeface="Courier New"/>
            </a:endParaRPr>
          </a:p>
          <a:p>
            <a:pPr marL="12700" marR="5080" algn="ctr">
              <a:lnSpc>
                <a:spcPts val="1900"/>
              </a:lnSpc>
              <a:spcBef>
                <a:spcPts val="14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(on</a:t>
            </a:r>
            <a:r>
              <a:rPr sz="1900" spc="-8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matching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attributes)</a:t>
            </a:r>
            <a:endParaRPr sz="19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78699" y="5482927"/>
            <a:ext cx="418465" cy="360045"/>
            <a:chOff x="278699" y="5482927"/>
            <a:chExt cx="418465" cy="360045"/>
          </a:xfrm>
        </p:grpSpPr>
        <p:sp>
          <p:nvSpPr>
            <p:cNvPr id="8" name="object 8"/>
            <p:cNvSpPr/>
            <p:nvPr/>
          </p:nvSpPr>
          <p:spPr>
            <a:xfrm>
              <a:off x="292792" y="5497021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247344" y="0"/>
                  </a:moveTo>
                  <a:lnTo>
                    <a:pt x="142799" y="0"/>
                  </a:lnTo>
                  <a:lnTo>
                    <a:pt x="52272" y="44432"/>
                  </a:lnTo>
                  <a:lnTo>
                    <a:pt x="0" y="121380"/>
                  </a:lnTo>
                  <a:lnTo>
                    <a:pt x="0" y="210243"/>
                  </a:lnTo>
                  <a:lnTo>
                    <a:pt x="52272" y="287191"/>
                  </a:lnTo>
                  <a:lnTo>
                    <a:pt x="142799" y="331622"/>
                  </a:lnTo>
                  <a:lnTo>
                    <a:pt x="247344" y="331622"/>
                  </a:lnTo>
                  <a:lnTo>
                    <a:pt x="337871" y="287191"/>
                  </a:lnTo>
                  <a:lnTo>
                    <a:pt x="390144" y="210243"/>
                  </a:lnTo>
                  <a:lnTo>
                    <a:pt x="390144" y="121380"/>
                  </a:lnTo>
                  <a:lnTo>
                    <a:pt x="337871" y="44432"/>
                  </a:lnTo>
                  <a:lnTo>
                    <a:pt x="24734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2792" y="5497021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15050" y="5519928"/>
            <a:ext cx="146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6976" y="4470624"/>
            <a:ext cx="418465" cy="360045"/>
            <a:chOff x="226976" y="4470624"/>
            <a:chExt cx="418465" cy="360045"/>
          </a:xfrm>
        </p:grpSpPr>
        <p:sp>
          <p:nvSpPr>
            <p:cNvPr id="12" name="object 12"/>
            <p:cNvSpPr/>
            <p:nvPr/>
          </p:nvSpPr>
          <p:spPr>
            <a:xfrm>
              <a:off x="241069" y="4484718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247344" y="0"/>
                  </a:moveTo>
                  <a:lnTo>
                    <a:pt x="142799" y="0"/>
                  </a:lnTo>
                  <a:lnTo>
                    <a:pt x="52272" y="44432"/>
                  </a:lnTo>
                  <a:lnTo>
                    <a:pt x="0" y="121380"/>
                  </a:lnTo>
                  <a:lnTo>
                    <a:pt x="0" y="210243"/>
                  </a:lnTo>
                  <a:lnTo>
                    <a:pt x="52272" y="287191"/>
                  </a:lnTo>
                  <a:lnTo>
                    <a:pt x="142799" y="331622"/>
                  </a:lnTo>
                  <a:lnTo>
                    <a:pt x="247344" y="331622"/>
                  </a:lnTo>
                  <a:lnTo>
                    <a:pt x="337871" y="287191"/>
                  </a:lnTo>
                  <a:lnTo>
                    <a:pt x="390144" y="210243"/>
                  </a:lnTo>
                  <a:lnTo>
                    <a:pt x="390144" y="121380"/>
                  </a:lnTo>
                  <a:lnTo>
                    <a:pt x="337871" y="44432"/>
                  </a:lnTo>
                  <a:lnTo>
                    <a:pt x="24734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1069" y="4484718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63328" y="4507992"/>
            <a:ext cx="146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232435" y="3809536"/>
            <a:ext cx="6639559" cy="2853055"/>
            <a:chOff x="3232435" y="3809536"/>
            <a:chExt cx="6639559" cy="285305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2595" y="3819696"/>
              <a:ext cx="6599191" cy="283248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237515" y="3814616"/>
              <a:ext cx="6629400" cy="2842895"/>
            </a:xfrm>
            <a:custGeom>
              <a:avLst/>
              <a:gdLst/>
              <a:ahLst/>
              <a:cxnLst/>
              <a:rect l="l" t="t" r="r" b="b"/>
              <a:pathLst>
                <a:path w="6629400" h="2842895">
                  <a:moveTo>
                    <a:pt x="0" y="0"/>
                  </a:moveTo>
                  <a:lnTo>
                    <a:pt x="6629228" y="0"/>
                  </a:lnTo>
                  <a:lnTo>
                    <a:pt x="6629228" y="2842644"/>
                  </a:lnTo>
                  <a:lnTo>
                    <a:pt x="0" y="284264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292792" y="33448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O</a:t>
            </a:r>
            <a:r>
              <a:rPr spc="-130" dirty="0"/>
              <a:t>p</a:t>
            </a:r>
            <a:r>
              <a:rPr spc="-125" dirty="0"/>
              <a:t>tio</a:t>
            </a:r>
            <a:r>
              <a:rPr dirty="0"/>
              <a:t>n</a:t>
            </a:r>
            <a:r>
              <a:rPr spc="-250" dirty="0"/>
              <a:t> </a:t>
            </a:r>
            <a:r>
              <a:rPr spc="-125" dirty="0"/>
              <a:t>2</a:t>
            </a:r>
            <a:r>
              <a:rPr dirty="0"/>
              <a:t>:</a:t>
            </a:r>
            <a:r>
              <a:rPr spc="-250" dirty="0"/>
              <a:t> </a:t>
            </a:r>
            <a:r>
              <a:rPr spc="-135" dirty="0"/>
              <a:t>Su</a:t>
            </a:r>
            <a:r>
              <a:rPr spc="-130" dirty="0"/>
              <a:t>bq</a:t>
            </a:r>
            <a:r>
              <a:rPr spc="-135" dirty="0"/>
              <a:t>u</a:t>
            </a:r>
            <a:r>
              <a:rPr spc="-125" dirty="0"/>
              <a:t>erie</a:t>
            </a:r>
            <a:r>
              <a:rPr dirty="0"/>
              <a:t>s</a:t>
            </a:r>
          </a:p>
        </p:txBody>
      </p:sp>
      <p:grpSp>
        <p:nvGrpSpPr>
          <p:cNvPr id="19" name="object 19"/>
          <p:cNvGrpSpPr/>
          <p:nvPr/>
        </p:nvGrpSpPr>
        <p:grpSpPr>
          <a:xfrm>
            <a:off x="3606419" y="1726676"/>
            <a:ext cx="6176010" cy="1782445"/>
            <a:chOff x="3606419" y="1726676"/>
            <a:chExt cx="6176010" cy="1782445"/>
          </a:xfrm>
        </p:grpSpPr>
        <p:sp>
          <p:nvSpPr>
            <p:cNvPr id="20" name="object 20"/>
            <p:cNvSpPr/>
            <p:nvPr/>
          </p:nvSpPr>
          <p:spPr>
            <a:xfrm>
              <a:off x="3616579" y="1736836"/>
              <a:ext cx="6155690" cy="1762125"/>
            </a:xfrm>
            <a:custGeom>
              <a:avLst/>
              <a:gdLst/>
              <a:ahLst/>
              <a:cxnLst/>
              <a:rect l="l" t="t" r="r" b="b"/>
              <a:pathLst>
                <a:path w="6155690" h="1762125">
                  <a:moveTo>
                    <a:pt x="6155546" y="0"/>
                  </a:moveTo>
                  <a:lnTo>
                    <a:pt x="0" y="0"/>
                  </a:lnTo>
                  <a:lnTo>
                    <a:pt x="0" y="1762086"/>
                  </a:lnTo>
                  <a:lnTo>
                    <a:pt x="6155546" y="1762086"/>
                  </a:lnTo>
                  <a:lnTo>
                    <a:pt x="61555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16579" y="1736836"/>
              <a:ext cx="6155690" cy="1762125"/>
            </a:xfrm>
            <a:custGeom>
              <a:avLst/>
              <a:gdLst/>
              <a:ahLst/>
              <a:cxnLst/>
              <a:rect l="l" t="t" r="r" b="b"/>
              <a:pathLst>
                <a:path w="6155690" h="1762125">
                  <a:moveTo>
                    <a:pt x="0" y="0"/>
                  </a:moveTo>
                  <a:lnTo>
                    <a:pt x="6155546" y="0"/>
                  </a:lnTo>
                  <a:lnTo>
                    <a:pt x="6155546" y="1762086"/>
                  </a:lnTo>
                  <a:lnTo>
                    <a:pt x="0" y="1762086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717931" y="1800859"/>
            <a:ext cx="1134745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989"/>
              </a:lnSpc>
              <a:spcBef>
                <a:spcPts val="305"/>
              </a:spcBef>
            </a:pPr>
            <a:r>
              <a:rPr sz="1800" spc="5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1800" spc="-5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92934"/>
                </a:solidFill>
                <a:latin typeface="Courier New"/>
                <a:cs typeface="Courier New"/>
              </a:rPr>
              <a:t>* </a:t>
            </a:r>
            <a:r>
              <a:rPr sz="1800" spc="-10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1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4355795" y="2087879"/>
          <a:ext cx="5344795" cy="10566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0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859">
                <a:tc gridSpan="2">
                  <a:txBody>
                    <a:bodyPr/>
                    <a:lstStyle/>
                    <a:p>
                      <a:pPr marL="58419">
                        <a:lnSpc>
                          <a:spcPts val="1910"/>
                        </a:lnSpc>
                      </a:pP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practice_emp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4479"/>
                      </a:solidFill>
                      <a:prstDash val="solid"/>
                    </a:lnL>
                    <a:lnR w="28575">
                      <a:solidFill>
                        <a:srgbClr val="004479"/>
                      </a:solidFill>
                      <a:prstDash val="solid"/>
                    </a:lnR>
                    <a:lnT w="28575">
                      <a:solidFill>
                        <a:srgbClr val="004479"/>
                      </a:solidFill>
                      <a:prstDash val="solid"/>
                    </a:lnT>
                    <a:lnB w="28575">
                      <a:solidFill>
                        <a:srgbClr val="004479"/>
                      </a:solidFill>
                      <a:prstDash val="solid"/>
                    </a:lnB>
                    <a:solidFill>
                      <a:srgbClr val="ECF5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910"/>
                        </a:lnSpc>
                      </a:pP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E1,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4479"/>
                      </a:solidFill>
                      <a:prstDash val="solid"/>
                    </a:lnL>
                    <a:lnB w="28575">
                      <a:solidFill>
                        <a:srgbClr val="0044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4479"/>
                      </a:solidFill>
                      <a:prstDash val="solid"/>
                    </a:lnR>
                    <a:lnT w="28575">
                      <a:solidFill>
                        <a:srgbClr val="004479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71755">
                        <a:lnSpc>
                          <a:spcPts val="1660"/>
                        </a:lnSpc>
                      </a:pPr>
                      <a:r>
                        <a:rPr sz="1800" spc="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5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SELECT</a:t>
                      </a:r>
                      <a:r>
                        <a:rPr sz="1800" spc="20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E2.job,</a:t>
                      </a:r>
                      <a:r>
                        <a:rPr sz="1800" spc="2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MAX(E2.sal)</a:t>
                      </a:r>
                      <a:r>
                        <a:rPr sz="1800" spc="2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sz="1800" spc="2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maxSal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247015" marR="2234565">
                        <a:lnSpc>
                          <a:spcPts val="2020"/>
                        </a:lnSpc>
                        <a:spcBef>
                          <a:spcPts val="145"/>
                        </a:spcBef>
                      </a:pPr>
                      <a:r>
                        <a:rPr sz="1800" spc="5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FROM </a:t>
                      </a:r>
                      <a:r>
                        <a:rPr sz="1800" spc="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practice_emp </a:t>
                      </a: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E2 </a:t>
                      </a:r>
                      <a:r>
                        <a:rPr sz="1800" spc="-106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5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GROUP</a:t>
                      </a:r>
                      <a:r>
                        <a:rPr sz="1800" spc="10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5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BY</a:t>
                      </a:r>
                      <a:r>
                        <a:rPr sz="1800" spc="10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E2.job)</a:t>
                      </a: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T1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4479"/>
                      </a:solidFill>
                      <a:prstDash val="solid"/>
                    </a:lnL>
                    <a:lnR w="28575">
                      <a:solidFill>
                        <a:srgbClr val="004479"/>
                      </a:solidFill>
                      <a:prstDash val="solid"/>
                    </a:lnR>
                    <a:lnT w="28575">
                      <a:solidFill>
                        <a:srgbClr val="004479"/>
                      </a:solidFill>
                      <a:prstDash val="solid"/>
                    </a:lnT>
                    <a:lnB w="28575">
                      <a:solidFill>
                        <a:srgbClr val="004479"/>
                      </a:solidFill>
                      <a:prstDash val="solid"/>
                    </a:lnB>
                    <a:solidFill>
                      <a:srgbClr val="ECF5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3717931" y="3108452"/>
            <a:ext cx="2941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180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E1.job </a:t>
            </a:r>
            <a:r>
              <a:rPr sz="18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T1.job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99911" y="1365716"/>
          <a:ext cx="2860674" cy="3179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5"/>
                        </a:lnSpc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99558" y="1119632"/>
            <a:ext cx="1309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3257" y="5487054"/>
          <a:ext cx="1885950" cy="1491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2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65"/>
                        </a:lnSpc>
                      </a:pPr>
                      <a:r>
                        <a:rPr sz="14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565"/>
                        </a:lnSpc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maxSal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5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5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6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6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50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60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60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7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61493" y="4577079"/>
            <a:ext cx="1772920" cy="78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39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JOIN</a:t>
            </a:r>
            <a:endParaRPr sz="1900">
              <a:latin typeface="Courier New"/>
              <a:cs typeface="Courier New"/>
            </a:endParaRPr>
          </a:p>
          <a:p>
            <a:pPr marL="12700" marR="5080" algn="ctr">
              <a:lnSpc>
                <a:spcPts val="1900"/>
              </a:lnSpc>
              <a:spcBef>
                <a:spcPts val="14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(on</a:t>
            </a:r>
            <a:r>
              <a:rPr sz="1900" spc="-8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matching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attributes)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16580" y="1736836"/>
            <a:ext cx="6117590" cy="1762125"/>
          </a:xfrm>
          <a:custGeom>
            <a:avLst/>
            <a:gdLst/>
            <a:ahLst/>
            <a:cxnLst/>
            <a:rect l="l" t="t" r="r" b="b"/>
            <a:pathLst>
              <a:path w="6117590" h="1762125">
                <a:moveTo>
                  <a:pt x="0" y="0"/>
                </a:moveTo>
                <a:lnTo>
                  <a:pt x="6117294" y="0"/>
                </a:lnTo>
                <a:lnTo>
                  <a:pt x="6117294" y="1762086"/>
                </a:lnTo>
                <a:lnTo>
                  <a:pt x="0" y="1762086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78699" y="5482927"/>
            <a:ext cx="418465" cy="360045"/>
            <a:chOff x="278699" y="5482927"/>
            <a:chExt cx="418465" cy="360045"/>
          </a:xfrm>
        </p:grpSpPr>
        <p:sp>
          <p:nvSpPr>
            <p:cNvPr id="8" name="object 8"/>
            <p:cNvSpPr/>
            <p:nvPr/>
          </p:nvSpPr>
          <p:spPr>
            <a:xfrm>
              <a:off x="292792" y="5497021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247344" y="0"/>
                  </a:moveTo>
                  <a:lnTo>
                    <a:pt x="142799" y="0"/>
                  </a:lnTo>
                  <a:lnTo>
                    <a:pt x="52272" y="44432"/>
                  </a:lnTo>
                  <a:lnTo>
                    <a:pt x="0" y="121380"/>
                  </a:lnTo>
                  <a:lnTo>
                    <a:pt x="0" y="210243"/>
                  </a:lnTo>
                  <a:lnTo>
                    <a:pt x="52272" y="287191"/>
                  </a:lnTo>
                  <a:lnTo>
                    <a:pt x="142799" y="331622"/>
                  </a:lnTo>
                  <a:lnTo>
                    <a:pt x="247344" y="331622"/>
                  </a:lnTo>
                  <a:lnTo>
                    <a:pt x="337871" y="287191"/>
                  </a:lnTo>
                  <a:lnTo>
                    <a:pt x="390144" y="210243"/>
                  </a:lnTo>
                  <a:lnTo>
                    <a:pt x="390144" y="121380"/>
                  </a:lnTo>
                  <a:lnTo>
                    <a:pt x="337871" y="44432"/>
                  </a:lnTo>
                  <a:lnTo>
                    <a:pt x="24734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2792" y="5497021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15050" y="5519928"/>
            <a:ext cx="146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6976" y="4470624"/>
            <a:ext cx="418465" cy="360045"/>
            <a:chOff x="226976" y="4470624"/>
            <a:chExt cx="418465" cy="360045"/>
          </a:xfrm>
        </p:grpSpPr>
        <p:sp>
          <p:nvSpPr>
            <p:cNvPr id="12" name="object 12"/>
            <p:cNvSpPr/>
            <p:nvPr/>
          </p:nvSpPr>
          <p:spPr>
            <a:xfrm>
              <a:off x="241069" y="4484718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247344" y="0"/>
                  </a:moveTo>
                  <a:lnTo>
                    <a:pt x="142799" y="0"/>
                  </a:lnTo>
                  <a:lnTo>
                    <a:pt x="52272" y="44432"/>
                  </a:lnTo>
                  <a:lnTo>
                    <a:pt x="0" y="121380"/>
                  </a:lnTo>
                  <a:lnTo>
                    <a:pt x="0" y="210243"/>
                  </a:lnTo>
                  <a:lnTo>
                    <a:pt x="52272" y="287191"/>
                  </a:lnTo>
                  <a:lnTo>
                    <a:pt x="142799" y="331622"/>
                  </a:lnTo>
                  <a:lnTo>
                    <a:pt x="247344" y="331622"/>
                  </a:lnTo>
                  <a:lnTo>
                    <a:pt x="337871" y="287191"/>
                  </a:lnTo>
                  <a:lnTo>
                    <a:pt x="390144" y="210243"/>
                  </a:lnTo>
                  <a:lnTo>
                    <a:pt x="390144" y="121380"/>
                  </a:lnTo>
                  <a:lnTo>
                    <a:pt x="337871" y="44432"/>
                  </a:lnTo>
                  <a:lnTo>
                    <a:pt x="24734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1069" y="4484718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63328" y="4507992"/>
            <a:ext cx="146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942541" y="3623607"/>
            <a:ext cx="3742690" cy="3392170"/>
            <a:chOff x="4942541" y="3623607"/>
            <a:chExt cx="3742690" cy="339217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701" y="3633767"/>
              <a:ext cx="3289448" cy="337136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947621" y="3628687"/>
              <a:ext cx="3300095" cy="3382010"/>
            </a:xfrm>
            <a:custGeom>
              <a:avLst/>
              <a:gdLst/>
              <a:ahLst/>
              <a:cxnLst/>
              <a:rect l="l" t="t" r="r" b="b"/>
              <a:pathLst>
                <a:path w="3300095" h="3382009">
                  <a:moveTo>
                    <a:pt x="0" y="0"/>
                  </a:moveTo>
                  <a:lnTo>
                    <a:pt x="3299608" y="0"/>
                  </a:lnTo>
                  <a:lnTo>
                    <a:pt x="3299608" y="3381529"/>
                  </a:lnTo>
                  <a:lnTo>
                    <a:pt x="0" y="3381529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280400" y="3656698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247343" y="0"/>
                  </a:moveTo>
                  <a:lnTo>
                    <a:pt x="142800" y="0"/>
                  </a:lnTo>
                  <a:lnTo>
                    <a:pt x="52271" y="44430"/>
                  </a:lnTo>
                  <a:lnTo>
                    <a:pt x="0" y="121380"/>
                  </a:lnTo>
                  <a:lnTo>
                    <a:pt x="0" y="210242"/>
                  </a:lnTo>
                  <a:lnTo>
                    <a:pt x="52271" y="287191"/>
                  </a:lnTo>
                  <a:lnTo>
                    <a:pt x="142800" y="331622"/>
                  </a:lnTo>
                  <a:lnTo>
                    <a:pt x="247343" y="331622"/>
                  </a:lnTo>
                  <a:lnTo>
                    <a:pt x="337872" y="287191"/>
                  </a:lnTo>
                  <a:lnTo>
                    <a:pt x="390144" y="210242"/>
                  </a:lnTo>
                  <a:lnTo>
                    <a:pt x="390144" y="121380"/>
                  </a:lnTo>
                  <a:lnTo>
                    <a:pt x="337872" y="44430"/>
                  </a:lnTo>
                  <a:lnTo>
                    <a:pt x="247343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80400" y="3656698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717931" y="1816100"/>
            <a:ext cx="5948680" cy="214757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96520">
              <a:lnSpc>
                <a:spcPts val="2020"/>
              </a:lnSpc>
              <a:spcBef>
                <a:spcPts val="280"/>
              </a:spcBef>
            </a:pPr>
            <a:r>
              <a:rPr sz="1800" spc="5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1800" spc="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E1.ename,</a:t>
            </a:r>
            <a:r>
              <a:rPr sz="18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E1.job,</a:t>
            </a:r>
            <a:r>
              <a:rPr sz="18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E1.sal,</a:t>
            </a:r>
            <a:r>
              <a:rPr sz="18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T1.maxSal </a:t>
            </a:r>
            <a:r>
              <a:rPr sz="1800" spc="-10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1800" spc="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practice_emp</a:t>
            </a:r>
            <a:r>
              <a:rPr sz="18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E1,</a:t>
            </a:r>
            <a:endParaRPr sz="1800">
              <a:latin typeface="Courier New"/>
              <a:cs typeface="Courier New"/>
            </a:endParaRPr>
          </a:p>
          <a:p>
            <a:pPr marL="798195">
              <a:lnSpc>
                <a:spcPts val="2014"/>
              </a:lnSpc>
            </a:pP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800" spc="5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1800" spc="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E2.job,</a:t>
            </a:r>
            <a:r>
              <a:rPr sz="18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MAX(E2.sal)</a:t>
            </a:r>
            <a:r>
              <a:rPr sz="18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r>
              <a:rPr sz="18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maxSal</a:t>
            </a:r>
            <a:endParaRPr sz="1800">
              <a:latin typeface="Courier New"/>
              <a:cs typeface="Courier New"/>
            </a:endParaRPr>
          </a:p>
          <a:p>
            <a:pPr marL="972819" marR="2190750">
              <a:lnSpc>
                <a:spcPts val="1989"/>
              </a:lnSpc>
              <a:spcBef>
                <a:spcPts val="185"/>
              </a:spcBef>
            </a:pPr>
            <a:r>
              <a:rPr sz="1800" spc="5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practice_emp </a:t>
            </a: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E2 </a:t>
            </a:r>
            <a:r>
              <a:rPr sz="1800" spc="-10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C00000"/>
                </a:solidFill>
                <a:latin typeface="Courier New"/>
                <a:cs typeface="Courier New"/>
              </a:rPr>
              <a:t>GROUP</a:t>
            </a:r>
            <a:r>
              <a:rPr sz="18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C00000"/>
                </a:solidFill>
                <a:latin typeface="Courier New"/>
                <a:cs typeface="Courier New"/>
              </a:rPr>
              <a:t>BY</a:t>
            </a:r>
            <a:r>
              <a:rPr sz="18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E2.job)</a:t>
            </a: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 T1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50"/>
              </a:lnSpc>
            </a:pPr>
            <a:r>
              <a:rPr sz="1800" spc="5" dirty="0">
                <a:solidFill>
                  <a:srgbClr val="C00000"/>
                </a:solidFill>
                <a:latin typeface="Courier New"/>
                <a:cs typeface="Courier New"/>
              </a:rPr>
              <a:t>WHERE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E1.job </a:t>
            </a:r>
            <a:r>
              <a:rPr sz="18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 T1.job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>
              <a:latin typeface="Courier New"/>
              <a:cs typeface="Courier New"/>
            </a:endParaRPr>
          </a:p>
          <a:p>
            <a:pPr marR="1123315" algn="r">
              <a:lnSpc>
                <a:spcPct val="100000"/>
              </a:lnSpc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92792" y="-48788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O</a:t>
            </a:r>
            <a:r>
              <a:rPr spc="-130" dirty="0"/>
              <a:t>p</a:t>
            </a:r>
            <a:r>
              <a:rPr spc="-125" dirty="0"/>
              <a:t>tio</a:t>
            </a:r>
            <a:r>
              <a:rPr dirty="0"/>
              <a:t>n</a:t>
            </a:r>
            <a:r>
              <a:rPr spc="-250" dirty="0"/>
              <a:t> </a:t>
            </a:r>
            <a:r>
              <a:rPr spc="-125" dirty="0"/>
              <a:t>2</a:t>
            </a:r>
            <a:r>
              <a:rPr dirty="0"/>
              <a:t>:</a:t>
            </a:r>
            <a:r>
              <a:rPr spc="-250" dirty="0"/>
              <a:t> </a:t>
            </a:r>
            <a:r>
              <a:rPr spc="-135" dirty="0"/>
              <a:t>Su</a:t>
            </a:r>
            <a:r>
              <a:rPr spc="-130" dirty="0"/>
              <a:t>bq</a:t>
            </a:r>
            <a:r>
              <a:rPr spc="-135" dirty="0"/>
              <a:t>u</a:t>
            </a:r>
            <a:r>
              <a:rPr spc="-125" dirty="0"/>
              <a:t>erie</a:t>
            </a:r>
            <a:r>
              <a:rPr dirty="0"/>
              <a:t>s</a:t>
            </a:r>
          </a:p>
        </p:txBody>
      </p:sp>
      <p:sp>
        <p:nvSpPr>
          <p:cNvPr id="22" name="object 22"/>
          <p:cNvSpPr/>
          <p:nvPr/>
        </p:nvSpPr>
        <p:spPr>
          <a:xfrm>
            <a:off x="4551083" y="1701203"/>
            <a:ext cx="5144770" cy="593090"/>
          </a:xfrm>
          <a:custGeom>
            <a:avLst/>
            <a:gdLst/>
            <a:ahLst/>
            <a:cxnLst/>
            <a:rect l="l" t="t" r="r" b="b"/>
            <a:pathLst>
              <a:path w="5144770" h="593089">
                <a:moveTo>
                  <a:pt x="0" y="296433"/>
                </a:moveTo>
                <a:lnTo>
                  <a:pt x="18598" y="260603"/>
                </a:lnTo>
                <a:lnTo>
                  <a:pt x="56133" y="234550"/>
                </a:lnTo>
                <a:lnTo>
                  <a:pt x="91884" y="217629"/>
                </a:lnTo>
                <a:lnTo>
                  <a:pt x="135902" y="201103"/>
                </a:lnTo>
                <a:lnTo>
                  <a:pt x="187919" y="185002"/>
                </a:lnTo>
                <a:lnTo>
                  <a:pt x="247666" y="169359"/>
                </a:lnTo>
                <a:lnTo>
                  <a:pt x="314873" y="154203"/>
                </a:lnTo>
                <a:lnTo>
                  <a:pt x="389272" y="139565"/>
                </a:lnTo>
                <a:lnTo>
                  <a:pt x="429084" y="132451"/>
                </a:lnTo>
                <a:lnTo>
                  <a:pt x="470593" y="125478"/>
                </a:lnTo>
                <a:lnTo>
                  <a:pt x="513765" y="118650"/>
                </a:lnTo>
                <a:lnTo>
                  <a:pt x="558568" y="111971"/>
                </a:lnTo>
                <a:lnTo>
                  <a:pt x="604966" y="105445"/>
                </a:lnTo>
                <a:lnTo>
                  <a:pt x="652927" y="99075"/>
                </a:lnTo>
                <a:lnTo>
                  <a:pt x="702416" y="92867"/>
                </a:lnTo>
                <a:lnTo>
                  <a:pt x="753401" y="86823"/>
                </a:lnTo>
                <a:lnTo>
                  <a:pt x="805847" y="80947"/>
                </a:lnTo>
                <a:lnTo>
                  <a:pt x="859721" y="75244"/>
                </a:lnTo>
                <a:lnTo>
                  <a:pt x="914990" y="69717"/>
                </a:lnTo>
                <a:lnTo>
                  <a:pt x="971619" y="64370"/>
                </a:lnTo>
                <a:lnTo>
                  <a:pt x="1029575" y="59207"/>
                </a:lnTo>
                <a:lnTo>
                  <a:pt x="1088825" y="54231"/>
                </a:lnTo>
                <a:lnTo>
                  <a:pt x="1149334" y="49448"/>
                </a:lnTo>
                <a:lnTo>
                  <a:pt x="1211069" y="44860"/>
                </a:lnTo>
                <a:lnTo>
                  <a:pt x="1273997" y="40471"/>
                </a:lnTo>
                <a:lnTo>
                  <a:pt x="1338084" y="36286"/>
                </a:lnTo>
                <a:lnTo>
                  <a:pt x="1403296" y="32308"/>
                </a:lnTo>
                <a:lnTo>
                  <a:pt x="1469599" y="28541"/>
                </a:lnTo>
                <a:lnTo>
                  <a:pt x="1536961" y="24989"/>
                </a:lnTo>
                <a:lnTo>
                  <a:pt x="1605347" y="21656"/>
                </a:lnTo>
                <a:lnTo>
                  <a:pt x="1674723" y="18545"/>
                </a:lnTo>
                <a:lnTo>
                  <a:pt x="1745057" y="15661"/>
                </a:lnTo>
                <a:lnTo>
                  <a:pt x="1816314" y="13008"/>
                </a:lnTo>
                <a:lnTo>
                  <a:pt x="1888460" y="10588"/>
                </a:lnTo>
                <a:lnTo>
                  <a:pt x="1961463" y="8407"/>
                </a:lnTo>
                <a:lnTo>
                  <a:pt x="2035289" y="6468"/>
                </a:lnTo>
                <a:lnTo>
                  <a:pt x="2109903" y="4775"/>
                </a:lnTo>
                <a:lnTo>
                  <a:pt x="2185273" y="3332"/>
                </a:lnTo>
                <a:lnTo>
                  <a:pt x="2261364" y="2143"/>
                </a:lnTo>
                <a:lnTo>
                  <a:pt x="2338143" y="1211"/>
                </a:lnTo>
                <a:lnTo>
                  <a:pt x="2415577" y="540"/>
                </a:lnTo>
                <a:lnTo>
                  <a:pt x="2493631" y="135"/>
                </a:lnTo>
                <a:lnTo>
                  <a:pt x="2572273" y="0"/>
                </a:lnTo>
                <a:lnTo>
                  <a:pt x="2650914" y="135"/>
                </a:lnTo>
                <a:lnTo>
                  <a:pt x="2728968" y="540"/>
                </a:lnTo>
                <a:lnTo>
                  <a:pt x="2806402" y="1211"/>
                </a:lnTo>
                <a:lnTo>
                  <a:pt x="2883181" y="2143"/>
                </a:lnTo>
                <a:lnTo>
                  <a:pt x="2959272" y="3332"/>
                </a:lnTo>
                <a:lnTo>
                  <a:pt x="3034642" y="4775"/>
                </a:lnTo>
                <a:lnTo>
                  <a:pt x="3109256" y="6468"/>
                </a:lnTo>
                <a:lnTo>
                  <a:pt x="3183082" y="8407"/>
                </a:lnTo>
                <a:lnTo>
                  <a:pt x="3256085" y="10588"/>
                </a:lnTo>
                <a:lnTo>
                  <a:pt x="3328231" y="13008"/>
                </a:lnTo>
                <a:lnTo>
                  <a:pt x="3399488" y="15661"/>
                </a:lnTo>
                <a:lnTo>
                  <a:pt x="3469822" y="18545"/>
                </a:lnTo>
                <a:lnTo>
                  <a:pt x="3539198" y="21656"/>
                </a:lnTo>
                <a:lnTo>
                  <a:pt x="3607584" y="24989"/>
                </a:lnTo>
                <a:lnTo>
                  <a:pt x="3674946" y="28541"/>
                </a:lnTo>
                <a:lnTo>
                  <a:pt x="3741249" y="32308"/>
                </a:lnTo>
                <a:lnTo>
                  <a:pt x="3806461" y="36286"/>
                </a:lnTo>
                <a:lnTo>
                  <a:pt x="3870548" y="40471"/>
                </a:lnTo>
                <a:lnTo>
                  <a:pt x="3933476" y="44860"/>
                </a:lnTo>
                <a:lnTo>
                  <a:pt x="3995211" y="49448"/>
                </a:lnTo>
                <a:lnTo>
                  <a:pt x="4055721" y="54231"/>
                </a:lnTo>
                <a:lnTo>
                  <a:pt x="4114970" y="59207"/>
                </a:lnTo>
                <a:lnTo>
                  <a:pt x="4172926" y="64370"/>
                </a:lnTo>
                <a:lnTo>
                  <a:pt x="4229555" y="69717"/>
                </a:lnTo>
                <a:lnTo>
                  <a:pt x="4284824" y="75244"/>
                </a:lnTo>
                <a:lnTo>
                  <a:pt x="4338698" y="80947"/>
                </a:lnTo>
                <a:lnTo>
                  <a:pt x="4391144" y="86823"/>
                </a:lnTo>
                <a:lnTo>
                  <a:pt x="4442129" y="92867"/>
                </a:lnTo>
                <a:lnTo>
                  <a:pt x="4491618" y="99075"/>
                </a:lnTo>
                <a:lnTo>
                  <a:pt x="4539579" y="105445"/>
                </a:lnTo>
                <a:lnTo>
                  <a:pt x="4585977" y="111971"/>
                </a:lnTo>
                <a:lnTo>
                  <a:pt x="4630780" y="118650"/>
                </a:lnTo>
                <a:lnTo>
                  <a:pt x="4673952" y="125478"/>
                </a:lnTo>
                <a:lnTo>
                  <a:pt x="4715461" y="132451"/>
                </a:lnTo>
                <a:lnTo>
                  <a:pt x="4755273" y="139565"/>
                </a:lnTo>
                <a:lnTo>
                  <a:pt x="4793355" y="146817"/>
                </a:lnTo>
                <a:lnTo>
                  <a:pt x="4864192" y="161718"/>
                </a:lnTo>
                <a:lnTo>
                  <a:pt x="4927702" y="177122"/>
                </a:lnTo>
                <a:lnTo>
                  <a:pt x="4983618" y="192997"/>
                </a:lnTo>
                <a:lnTo>
                  <a:pt x="5031669" y="209315"/>
                </a:lnTo>
                <a:lnTo>
                  <a:pt x="5071587" y="226042"/>
                </a:lnTo>
                <a:lnTo>
                  <a:pt x="5115626" y="251834"/>
                </a:lnTo>
                <a:lnTo>
                  <a:pt x="5143366" y="287370"/>
                </a:lnTo>
                <a:lnTo>
                  <a:pt x="5144546" y="296433"/>
                </a:lnTo>
                <a:lnTo>
                  <a:pt x="5143366" y="305495"/>
                </a:lnTo>
                <a:lnTo>
                  <a:pt x="5115626" y="341031"/>
                </a:lnTo>
                <a:lnTo>
                  <a:pt x="5071587" y="366823"/>
                </a:lnTo>
                <a:lnTo>
                  <a:pt x="5031669" y="383551"/>
                </a:lnTo>
                <a:lnTo>
                  <a:pt x="4983618" y="399868"/>
                </a:lnTo>
                <a:lnTo>
                  <a:pt x="4927702" y="415744"/>
                </a:lnTo>
                <a:lnTo>
                  <a:pt x="4864192" y="431147"/>
                </a:lnTo>
                <a:lnTo>
                  <a:pt x="4793355" y="446048"/>
                </a:lnTo>
                <a:lnTo>
                  <a:pt x="4755273" y="453300"/>
                </a:lnTo>
                <a:lnTo>
                  <a:pt x="4715461" y="460414"/>
                </a:lnTo>
                <a:lnTo>
                  <a:pt x="4673952" y="467388"/>
                </a:lnTo>
                <a:lnTo>
                  <a:pt x="4630780" y="474216"/>
                </a:lnTo>
                <a:lnTo>
                  <a:pt x="4585977" y="480895"/>
                </a:lnTo>
                <a:lnTo>
                  <a:pt x="4539579" y="487421"/>
                </a:lnTo>
                <a:lnTo>
                  <a:pt x="4491618" y="493790"/>
                </a:lnTo>
                <a:lnTo>
                  <a:pt x="4442129" y="499998"/>
                </a:lnTo>
                <a:lnTo>
                  <a:pt x="4391144" y="506042"/>
                </a:lnTo>
                <a:lnTo>
                  <a:pt x="4338698" y="511918"/>
                </a:lnTo>
                <a:lnTo>
                  <a:pt x="4284824" y="517621"/>
                </a:lnTo>
                <a:lnTo>
                  <a:pt x="4229555" y="523148"/>
                </a:lnTo>
                <a:lnTo>
                  <a:pt x="4172926" y="528495"/>
                </a:lnTo>
                <a:lnTo>
                  <a:pt x="4114970" y="533658"/>
                </a:lnTo>
                <a:lnTo>
                  <a:pt x="4055721" y="538634"/>
                </a:lnTo>
                <a:lnTo>
                  <a:pt x="3995211" y="543417"/>
                </a:lnTo>
                <a:lnTo>
                  <a:pt x="3933476" y="548005"/>
                </a:lnTo>
                <a:lnTo>
                  <a:pt x="3870548" y="552394"/>
                </a:lnTo>
                <a:lnTo>
                  <a:pt x="3806461" y="556579"/>
                </a:lnTo>
                <a:lnTo>
                  <a:pt x="3741249" y="560557"/>
                </a:lnTo>
                <a:lnTo>
                  <a:pt x="3674946" y="564324"/>
                </a:lnTo>
                <a:lnTo>
                  <a:pt x="3607584" y="567876"/>
                </a:lnTo>
                <a:lnTo>
                  <a:pt x="3539198" y="571209"/>
                </a:lnTo>
                <a:lnTo>
                  <a:pt x="3469822" y="574320"/>
                </a:lnTo>
                <a:lnTo>
                  <a:pt x="3399488" y="577204"/>
                </a:lnTo>
                <a:lnTo>
                  <a:pt x="3328231" y="579858"/>
                </a:lnTo>
                <a:lnTo>
                  <a:pt x="3256085" y="582277"/>
                </a:lnTo>
                <a:lnTo>
                  <a:pt x="3183082" y="584458"/>
                </a:lnTo>
                <a:lnTo>
                  <a:pt x="3109256" y="586397"/>
                </a:lnTo>
                <a:lnTo>
                  <a:pt x="3034642" y="588090"/>
                </a:lnTo>
                <a:lnTo>
                  <a:pt x="2959272" y="589533"/>
                </a:lnTo>
                <a:lnTo>
                  <a:pt x="2883181" y="590722"/>
                </a:lnTo>
                <a:lnTo>
                  <a:pt x="2806402" y="591654"/>
                </a:lnTo>
                <a:lnTo>
                  <a:pt x="2728968" y="592325"/>
                </a:lnTo>
                <a:lnTo>
                  <a:pt x="2650914" y="592730"/>
                </a:lnTo>
                <a:lnTo>
                  <a:pt x="2572273" y="592866"/>
                </a:lnTo>
                <a:lnTo>
                  <a:pt x="2493631" y="592730"/>
                </a:lnTo>
                <a:lnTo>
                  <a:pt x="2415577" y="592325"/>
                </a:lnTo>
                <a:lnTo>
                  <a:pt x="2338143" y="591654"/>
                </a:lnTo>
                <a:lnTo>
                  <a:pt x="2261364" y="590722"/>
                </a:lnTo>
                <a:lnTo>
                  <a:pt x="2185273" y="589533"/>
                </a:lnTo>
                <a:lnTo>
                  <a:pt x="2109903" y="588090"/>
                </a:lnTo>
                <a:lnTo>
                  <a:pt x="2035289" y="586397"/>
                </a:lnTo>
                <a:lnTo>
                  <a:pt x="1961463" y="584458"/>
                </a:lnTo>
                <a:lnTo>
                  <a:pt x="1888460" y="582277"/>
                </a:lnTo>
                <a:lnTo>
                  <a:pt x="1816314" y="579858"/>
                </a:lnTo>
                <a:lnTo>
                  <a:pt x="1745057" y="577204"/>
                </a:lnTo>
                <a:lnTo>
                  <a:pt x="1674723" y="574320"/>
                </a:lnTo>
                <a:lnTo>
                  <a:pt x="1605347" y="571209"/>
                </a:lnTo>
                <a:lnTo>
                  <a:pt x="1536961" y="567876"/>
                </a:lnTo>
                <a:lnTo>
                  <a:pt x="1469599" y="564324"/>
                </a:lnTo>
                <a:lnTo>
                  <a:pt x="1403296" y="560557"/>
                </a:lnTo>
                <a:lnTo>
                  <a:pt x="1338084" y="556579"/>
                </a:lnTo>
                <a:lnTo>
                  <a:pt x="1273997" y="552394"/>
                </a:lnTo>
                <a:lnTo>
                  <a:pt x="1211069" y="548005"/>
                </a:lnTo>
                <a:lnTo>
                  <a:pt x="1149334" y="543417"/>
                </a:lnTo>
                <a:lnTo>
                  <a:pt x="1088825" y="538634"/>
                </a:lnTo>
                <a:lnTo>
                  <a:pt x="1029575" y="533658"/>
                </a:lnTo>
                <a:lnTo>
                  <a:pt x="971619" y="528495"/>
                </a:lnTo>
                <a:lnTo>
                  <a:pt x="914990" y="523148"/>
                </a:lnTo>
                <a:lnTo>
                  <a:pt x="859721" y="517621"/>
                </a:lnTo>
                <a:lnTo>
                  <a:pt x="805847" y="511918"/>
                </a:lnTo>
                <a:lnTo>
                  <a:pt x="753401" y="506042"/>
                </a:lnTo>
                <a:lnTo>
                  <a:pt x="702416" y="499998"/>
                </a:lnTo>
                <a:lnTo>
                  <a:pt x="652927" y="493790"/>
                </a:lnTo>
                <a:lnTo>
                  <a:pt x="604966" y="487421"/>
                </a:lnTo>
                <a:lnTo>
                  <a:pt x="558568" y="480895"/>
                </a:lnTo>
                <a:lnTo>
                  <a:pt x="513765" y="474216"/>
                </a:lnTo>
                <a:lnTo>
                  <a:pt x="470593" y="467388"/>
                </a:lnTo>
                <a:lnTo>
                  <a:pt x="429084" y="460414"/>
                </a:lnTo>
                <a:lnTo>
                  <a:pt x="389272" y="453300"/>
                </a:lnTo>
                <a:lnTo>
                  <a:pt x="351190" y="446048"/>
                </a:lnTo>
                <a:lnTo>
                  <a:pt x="280354" y="431147"/>
                </a:lnTo>
                <a:lnTo>
                  <a:pt x="216843" y="415744"/>
                </a:lnTo>
                <a:lnTo>
                  <a:pt x="160927" y="399868"/>
                </a:lnTo>
                <a:lnTo>
                  <a:pt x="112876" y="383551"/>
                </a:lnTo>
                <a:lnTo>
                  <a:pt x="72958" y="366823"/>
                </a:lnTo>
                <a:lnTo>
                  <a:pt x="28919" y="341031"/>
                </a:lnTo>
                <a:lnTo>
                  <a:pt x="1179" y="305495"/>
                </a:lnTo>
                <a:lnTo>
                  <a:pt x="0" y="296433"/>
                </a:lnTo>
                <a:close/>
              </a:path>
            </a:pathLst>
          </a:custGeom>
          <a:ln w="3047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0375" y="274827"/>
            <a:ext cx="668655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O</a:t>
            </a:r>
            <a:r>
              <a:rPr spc="-130" dirty="0"/>
              <a:t>p</a:t>
            </a:r>
            <a:r>
              <a:rPr spc="-125" dirty="0"/>
              <a:t>tio</a:t>
            </a:r>
            <a:r>
              <a:rPr dirty="0"/>
              <a:t>n</a:t>
            </a:r>
            <a:r>
              <a:rPr spc="-250" dirty="0"/>
              <a:t> </a:t>
            </a:r>
            <a:r>
              <a:rPr spc="-125" dirty="0"/>
              <a:t>3</a:t>
            </a:r>
            <a:r>
              <a:rPr dirty="0"/>
              <a:t>:</a:t>
            </a:r>
            <a:r>
              <a:rPr spc="-240" dirty="0"/>
              <a:t> </a:t>
            </a:r>
            <a:r>
              <a:rPr spc="-150" dirty="0"/>
              <a:t>W</a:t>
            </a:r>
            <a:r>
              <a:rPr spc="-125" dirty="0"/>
              <a:t>I</a:t>
            </a:r>
            <a:r>
              <a:rPr spc="-130" dirty="0"/>
              <a:t>T</a:t>
            </a:r>
            <a:r>
              <a:rPr dirty="0"/>
              <a:t>H</a:t>
            </a:r>
            <a:r>
              <a:rPr spc="-254" dirty="0"/>
              <a:t> </a:t>
            </a:r>
            <a:r>
              <a:rPr spc="-125" dirty="0"/>
              <a:t>Cl</a:t>
            </a:r>
            <a:r>
              <a:rPr spc="-130" dirty="0"/>
              <a:t>au</a:t>
            </a:r>
            <a:r>
              <a:rPr spc="-125" dirty="0"/>
              <a:t>s</a:t>
            </a:r>
            <a:r>
              <a:rPr dirty="0"/>
              <a:t>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77250" y="2428861"/>
          <a:ext cx="2964814" cy="3179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220"/>
                        </a:lnSpc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76898" y="2183384"/>
            <a:ext cx="1309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0375" y="1210055"/>
            <a:ext cx="8634095" cy="69342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2500"/>
              </a:lnSpc>
              <a:spcBef>
                <a:spcPts val="400"/>
              </a:spcBef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employee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name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(or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employees)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highest </a:t>
            </a:r>
            <a:r>
              <a:rPr sz="2300" spc="-7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title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98077" y="2450591"/>
            <a:ext cx="4721860" cy="1899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max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Verdana"/>
              <a:cs typeface="Verdana"/>
            </a:endParaRPr>
          </a:p>
          <a:p>
            <a:pPr marL="12700" marR="5080" algn="ctr">
              <a:lnSpc>
                <a:spcPct val="105200"/>
              </a:lnSpc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Then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employee(s)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with </a:t>
            </a:r>
            <a:r>
              <a:rPr sz="2300" spc="-7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max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endParaRPr sz="23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51247" y="2945514"/>
            <a:ext cx="399415" cy="574675"/>
            <a:chOff x="6751247" y="2945514"/>
            <a:chExt cx="399415" cy="574675"/>
          </a:xfrm>
        </p:grpSpPr>
        <p:sp>
          <p:nvSpPr>
            <p:cNvPr id="8" name="object 8"/>
            <p:cNvSpPr/>
            <p:nvPr/>
          </p:nvSpPr>
          <p:spPr>
            <a:xfrm>
              <a:off x="6765340" y="2959607"/>
              <a:ext cx="370840" cy="546735"/>
            </a:xfrm>
            <a:custGeom>
              <a:avLst/>
              <a:gdLst/>
              <a:ahLst/>
              <a:cxnLst/>
              <a:rect l="l" t="t" r="r" b="b"/>
              <a:pathLst>
                <a:path w="370840" h="546735">
                  <a:moveTo>
                    <a:pt x="277977" y="0"/>
                  </a:moveTo>
                  <a:lnTo>
                    <a:pt x="92659" y="0"/>
                  </a:lnTo>
                  <a:lnTo>
                    <a:pt x="92659" y="360883"/>
                  </a:lnTo>
                  <a:lnTo>
                    <a:pt x="0" y="360883"/>
                  </a:lnTo>
                  <a:lnTo>
                    <a:pt x="185318" y="546201"/>
                  </a:lnTo>
                  <a:lnTo>
                    <a:pt x="370636" y="360883"/>
                  </a:lnTo>
                  <a:lnTo>
                    <a:pt x="277977" y="360883"/>
                  </a:lnTo>
                  <a:lnTo>
                    <a:pt x="277977" y="0"/>
                  </a:lnTo>
                  <a:close/>
                </a:path>
              </a:pathLst>
            </a:custGeom>
            <a:solidFill>
              <a:srgbClr val="407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65340" y="2959607"/>
              <a:ext cx="370840" cy="546735"/>
            </a:xfrm>
            <a:custGeom>
              <a:avLst/>
              <a:gdLst/>
              <a:ahLst/>
              <a:cxnLst/>
              <a:rect l="l" t="t" r="r" b="b"/>
              <a:pathLst>
                <a:path w="370840" h="546735">
                  <a:moveTo>
                    <a:pt x="0" y="360883"/>
                  </a:moveTo>
                  <a:lnTo>
                    <a:pt x="92659" y="360883"/>
                  </a:lnTo>
                  <a:lnTo>
                    <a:pt x="92659" y="0"/>
                  </a:lnTo>
                  <a:lnTo>
                    <a:pt x="277977" y="0"/>
                  </a:lnTo>
                  <a:lnTo>
                    <a:pt x="277977" y="360883"/>
                  </a:lnTo>
                  <a:lnTo>
                    <a:pt x="370636" y="360883"/>
                  </a:lnTo>
                  <a:lnTo>
                    <a:pt x="185318" y="546201"/>
                  </a:lnTo>
                  <a:lnTo>
                    <a:pt x="0" y="360883"/>
                  </a:lnTo>
                  <a:close/>
                </a:path>
              </a:pathLst>
            </a:custGeom>
            <a:ln w="28186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99911" y="1365716"/>
          <a:ext cx="2860674" cy="3179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empno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ename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5"/>
                        </a:lnSpc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7369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Smith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7499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Allen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7521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7566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Jones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7654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Martin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7698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Blake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3250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Clark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2850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7788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Scott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1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7839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7844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Turner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5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7876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Adams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James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7902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Ford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2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1938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7934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Miller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230"/>
                        </a:lnSpc>
                      </a:pPr>
                      <a:r>
                        <a:rPr sz="12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99559" y="1119632"/>
            <a:ext cx="13093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practice_emp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3257" y="5487054"/>
          <a:ext cx="1885950" cy="1491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2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65"/>
                        </a:lnSpc>
                      </a:pPr>
                      <a:r>
                        <a:rPr sz="14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565"/>
                        </a:lnSpc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maxSal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5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5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6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Clerk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6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1700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50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3375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60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60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6500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51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Salesman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575"/>
                        </a:lnSpc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61493" y="4577079"/>
            <a:ext cx="1772920" cy="78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39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JOIN</a:t>
            </a:r>
            <a:endParaRPr sz="1900">
              <a:latin typeface="Courier New"/>
              <a:cs typeface="Courier New"/>
            </a:endParaRPr>
          </a:p>
          <a:p>
            <a:pPr marL="12700" marR="5080" algn="ctr">
              <a:lnSpc>
                <a:spcPts val="1900"/>
              </a:lnSpc>
              <a:spcBef>
                <a:spcPts val="14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(on</a:t>
            </a:r>
            <a:r>
              <a:rPr sz="1900" spc="-8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matching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attributes)</a:t>
            </a:r>
            <a:endParaRPr sz="190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78699" y="5482927"/>
            <a:ext cx="418465" cy="360045"/>
            <a:chOff x="278699" y="5482927"/>
            <a:chExt cx="418465" cy="360045"/>
          </a:xfrm>
        </p:grpSpPr>
        <p:sp>
          <p:nvSpPr>
            <p:cNvPr id="7" name="object 7"/>
            <p:cNvSpPr/>
            <p:nvPr/>
          </p:nvSpPr>
          <p:spPr>
            <a:xfrm>
              <a:off x="292792" y="5497021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247344" y="0"/>
                  </a:moveTo>
                  <a:lnTo>
                    <a:pt x="142799" y="0"/>
                  </a:lnTo>
                  <a:lnTo>
                    <a:pt x="52272" y="44432"/>
                  </a:lnTo>
                  <a:lnTo>
                    <a:pt x="0" y="121380"/>
                  </a:lnTo>
                  <a:lnTo>
                    <a:pt x="0" y="210243"/>
                  </a:lnTo>
                  <a:lnTo>
                    <a:pt x="52272" y="287191"/>
                  </a:lnTo>
                  <a:lnTo>
                    <a:pt x="142799" y="331622"/>
                  </a:lnTo>
                  <a:lnTo>
                    <a:pt x="247344" y="331622"/>
                  </a:lnTo>
                  <a:lnTo>
                    <a:pt x="337871" y="287191"/>
                  </a:lnTo>
                  <a:lnTo>
                    <a:pt x="390144" y="210243"/>
                  </a:lnTo>
                  <a:lnTo>
                    <a:pt x="390144" y="121380"/>
                  </a:lnTo>
                  <a:lnTo>
                    <a:pt x="337871" y="44432"/>
                  </a:lnTo>
                  <a:lnTo>
                    <a:pt x="24734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2792" y="5497021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15050" y="5519928"/>
            <a:ext cx="146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26976" y="4470624"/>
            <a:ext cx="418465" cy="360045"/>
            <a:chOff x="226976" y="4470624"/>
            <a:chExt cx="418465" cy="360045"/>
          </a:xfrm>
        </p:grpSpPr>
        <p:sp>
          <p:nvSpPr>
            <p:cNvPr id="11" name="object 11"/>
            <p:cNvSpPr/>
            <p:nvPr/>
          </p:nvSpPr>
          <p:spPr>
            <a:xfrm>
              <a:off x="241069" y="4484718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247344" y="0"/>
                  </a:moveTo>
                  <a:lnTo>
                    <a:pt x="142799" y="0"/>
                  </a:lnTo>
                  <a:lnTo>
                    <a:pt x="52272" y="44432"/>
                  </a:lnTo>
                  <a:lnTo>
                    <a:pt x="0" y="121380"/>
                  </a:lnTo>
                  <a:lnTo>
                    <a:pt x="0" y="210243"/>
                  </a:lnTo>
                  <a:lnTo>
                    <a:pt x="52272" y="287191"/>
                  </a:lnTo>
                  <a:lnTo>
                    <a:pt x="142799" y="331622"/>
                  </a:lnTo>
                  <a:lnTo>
                    <a:pt x="247344" y="331622"/>
                  </a:lnTo>
                  <a:lnTo>
                    <a:pt x="337871" y="287191"/>
                  </a:lnTo>
                  <a:lnTo>
                    <a:pt x="390144" y="210243"/>
                  </a:lnTo>
                  <a:lnTo>
                    <a:pt x="390144" y="121380"/>
                  </a:lnTo>
                  <a:lnTo>
                    <a:pt x="337871" y="44432"/>
                  </a:lnTo>
                  <a:lnTo>
                    <a:pt x="24734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1069" y="4484718"/>
              <a:ext cx="390525" cy="332105"/>
            </a:xfrm>
            <a:custGeom>
              <a:avLst/>
              <a:gdLst/>
              <a:ahLst/>
              <a:cxnLst/>
              <a:rect l="l" t="t" r="r" b="b"/>
              <a:pathLst>
                <a:path w="390525" h="332104">
                  <a:moveTo>
                    <a:pt x="0" y="121379"/>
                  </a:moveTo>
                  <a:lnTo>
                    <a:pt x="52272" y="44431"/>
                  </a:lnTo>
                  <a:lnTo>
                    <a:pt x="142799" y="0"/>
                  </a:lnTo>
                  <a:lnTo>
                    <a:pt x="247344" y="0"/>
                  </a:lnTo>
                  <a:lnTo>
                    <a:pt x="337871" y="44431"/>
                  </a:lnTo>
                  <a:lnTo>
                    <a:pt x="390143" y="121379"/>
                  </a:lnTo>
                  <a:lnTo>
                    <a:pt x="390143" y="210242"/>
                  </a:lnTo>
                  <a:lnTo>
                    <a:pt x="337871" y="287191"/>
                  </a:lnTo>
                  <a:lnTo>
                    <a:pt x="247344" y="331622"/>
                  </a:lnTo>
                  <a:lnTo>
                    <a:pt x="142799" y="331622"/>
                  </a:lnTo>
                  <a:lnTo>
                    <a:pt x="52272" y="287191"/>
                  </a:lnTo>
                  <a:lnTo>
                    <a:pt x="0" y="210242"/>
                  </a:lnTo>
                  <a:lnTo>
                    <a:pt x="0" y="121379"/>
                  </a:lnTo>
                  <a:close/>
                </a:path>
              </a:pathLst>
            </a:custGeom>
            <a:ln w="28186">
              <a:solidFill>
                <a:srgbClr val="004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63328" y="4507992"/>
            <a:ext cx="146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10518" y="2138457"/>
            <a:ext cx="5860415" cy="2565400"/>
          </a:xfrm>
          <a:custGeom>
            <a:avLst/>
            <a:gdLst/>
            <a:ahLst/>
            <a:cxnLst/>
            <a:rect l="l" t="t" r="r" b="b"/>
            <a:pathLst>
              <a:path w="5860415" h="2565400">
                <a:moveTo>
                  <a:pt x="0" y="0"/>
                </a:moveTo>
                <a:lnTo>
                  <a:pt x="5859984" y="0"/>
                </a:lnTo>
                <a:lnTo>
                  <a:pt x="5859984" y="2565319"/>
                </a:lnTo>
                <a:lnTo>
                  <a:pt x="0" y="2565319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346985" y="2523563"/>
            <a:ext cx="4781550" cy="918210"/>
          </a:xfrm>
          <a:prstGeom prst="rect">
            <a:avLst/>
          </a:prstGeom>
          <a:solidFill>
            <a:srgbClr val="ECF5FF"/>
          </a:solidFill>
          <a:ln w="20319">
            <a:solidFill>
              <a:srgbClr val="004479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269875" marR="99060" indent="-171450">
              <a:lnSpc>
                <a:spcPct val="101099"/>
              </a:lnSpc>
              <a:spcBef>
                <a:spcPts val="65"/>
              </a:spcBef>
              <a:tabLst>
                <a:tab pos="1324610" algn="l"/>
              </a:tabLst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1900" spc="484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job,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MAX(sal)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salary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FROM	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practice_emp</a:t>
            </a:r>
            <a:endParaRPr sz="1900">
              <a:latin typeface="Courier New"/>
              <a:cs typeface="Courier New"/>
            </a:endParaRPr>
          </a:p>
          <a:p>
            <a:pPr marL="269875">
              <a:lnSpc>
                <a:spcPct val="100000"/>
              </a:lnSpc>
              <a:spcBef>
                <a:spcPts val="25"/>
              </a:spcBef>
              <a:tabLst>
                <a:tab pos="1324610" algn="l"/>
              </a:tabLst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GROUP	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900" spc="-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job)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08328" y="3400552"/>
            <a:ext cx="899160" cy="89725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85"/>
              </a:spcBef>
            </a:pP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SELECT  FROM 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83688" y="3400552"/>
            <a:ext cx="4538980" cy="118999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43815">
              <a:lnSpc>
                <a:spcPct val="100499"/>
              </a:lnSpc>
              <a:spcBef>
                <a:spcPts val="8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E1.ename,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E1.job,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E1.sal 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practice_emp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E1,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MaxSal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A </a:t>
            </a:r>
            <a:r>
              <a:rPr sz="1900" spc="-11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E1.job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A.job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AND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E1.sal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9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A.salary</a:t>
            </a:r>
            <a:endParaRPr sz="1900"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63763" y="4825034"/>
            <a:ext cx="2650490" cy="1744345"/>
            <a:chOff x="6663763" y="4825034"/>
            <a:chExt cx="2650490" cy="174434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3923" y="4835195"/>
              <a:ext cx="2630159" cy="172368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668843" y="4830114"/>
              <a:ext cx="2640330" cy="1734185"/>
            </a:xfrm>
            <a:custGeom>
              <a:avLst/>
              <a:gdLst/>
              <a:ahLst/>
              <a:cxnLst/>
              <a:rect l="l" t="t" r="r" b="b"/>
              <a:pathLst>
                <a:path w="2640329" h="1734184">
                  <a:moveTo>
                    <a:pt x="0" y="0"/>
                  </a:moveTo>
                  <a:lnTo>
                    <a:pt x="2640319" y="0"/>
                  </a:lnTo>
                  <a:lnTo>
                    <a:pt x="2640319" y="1733842"/>
                  </a:lnTo>
                  <a:lnTo>
                    <a:pt x="0" y="1733842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368446" y="197615"/>
            <a:ext cx="668655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O</a:t>
            </a:r>
            <a:r>
              <a:rPr spc="-130" dirty="0"/>
              <a:t>p</a:t>
            </a:r>
            <a:r>
              <a:rPr spc="-125" dirty="0"/>
              <a:t>tio</a:t>
            </a:r>
            <a:r>
              <a:rPr dirty="0"/>
              <a:t>n</a:t>
            </a:r>
            <a:r>
              <a:rPr spc="-250" dirty="0"/>
              <a:t> </a:t>
            </a:r>
            <a:r>
              <a:rPr spc="-125" dirty="0"/>
              <a:t>3</a:t>
            </a:r>
            <a:r>
              <a:rPr dirty="0"/>
              <a:t>:</a:t>
            </a:r>
            <a:r>
              <a:rPr spc="-240" dirty="0"/>
              <a:t> </a:t>
            </a:r>
            <a:r>
              <a:rPr spc="-150" dirty="0"/>
              <a:t>W</a:t>
            </a:r>
            <a:r>
              <a:rPr spc="-125" dirty="0"/>
              <a:t>I</a:t>
            </a:r>
            <a:r>
              <a:rPr spc="-130" dirty="0"/>
              <a:t>T</a:t>
            </a:r>
            <a:r>
              <a:rPr dirty="0"/>
              <a:t>H</a:t>
            </a:r>
            <a:r>
              <a:rPr spc="-254" dirty="0"/>
              <a:t> </a:t>
            </a:r>
            <a:r>
              <a:rPr spc="-125" dirty="0"/>
              <a:t>Cl</a:t>
            </a:r>
            <a:r>
              <a:rPr spc="-130" dirty="0"/>
              <a:t>au</a:t>
            </a:r>
            <a:r>
              <a:rPr spc="-125" dirty="0"/>
              <a:t>s</a:t>
            </a:r>
            <a:r>
              <a:rPr dirty="0"/>
              <a:t>e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5933093" y="1323741"/>
            <a:ext cx="3432810" cy="1142365"/>
            <a:chOff x="5933093" y="1323741"/>
            <a:chExt cx="3432810" cy="1142365"/>
          </a:xfrm>
        </p:grpSpPr>
        <p:sp>
          <p:nvSpPr>
            <p:cNvPr id="23" name="object 23"/>
            <p:cNvSpPr/>
            <p:nvPr/>
          </p:nvSpPr>
          <p:spPr>
            <a:xfrm>
              <a:off x="5947186" y="1337834"/>
              <a:ext cx="3404235" cy="1114425"/>
            </a:xfrm>
            <a:custGeom>
              <a:avLst/>
              <a:gdLst/>
              <a:ahLst/>
              <a:cxnLst/>
              <a:rect l="l" t="t" r="r" b="b"/>
              <a:pathLst>
                <a:path w="3404234" h="1114425">
                  <a:moveTo>
                    <a:pt x="2836830" y="705440"/>
                  </a:moveTo>
                  <a:lnTo>
                    <a:pt x="1985780" y="705440"/>
                  </a:lnTo>
                  <a:lnTo>
                    <a:pt x="1796971" y="1113911"/>
                  </a:lnTo>
                  <a:lnTo>
                    <a:pt x="2836830" y="705440"/>
                  </a:lnTo>
                  <a:close/>
                </a:path>
                <a:path w="3404234" h="1114425">
                  <a:moveTo>
                    <a:pt x="3286620" y="0"/>
                  </a:moveTo>
                  <a:lnTo>
                    <a:pt x="117575" y="0"/>
                  </a:lnTo>
                  <a:lnTo>
                    <a:pt x="71809" y="9239"/>
                  </a:lnTo>
                  <a:lnTo>
                    <a:pt x="34437" y="34437"/>
                  </a:lnTo>
                  <a:lnTo>
                    <a:pt x="9239" y="71809"/>
                  </a:lnTo>
                  <a:lnTo>
                    <a:pt x="0" y="117575"/>
                  </a:lnTo>
                  <a:lnTo>
                    <a:pt x="0" y="587869"/>
                  </a:lnTo>
                  <a:lnTo>
                    <a:pt x="9239" y="633630"/>
                  </a:lnTo>
                  <a:lnTo>
                    <a:pt x="34437" y="671003"/>
                  </a:lnTo>
                  <a:lnTo>
                    <a:pt x="71809" y="696200"/>
                  </a:lnTo>
                  <a:lnTo>
                    <a:pt x="117575" y="705440"/>
                  </a:lnTo>
                  <a:lnTo>
                    <a:pt x="3286620" y="705440"/>
                  </a:lnTo>
                  <a:lnTo>
                    <a:pt x="3332386" y="696200"/>
                  </a:lnTo>
                  <a:lnTo>
                    <a:pt x="3369759" y="671003"/>
                  </a:lnTo>
                  <a:lnTo>
                    <a:pt x="3394957" y="633630"/>
                  </a:lnTo>
                  <a:lnTo>
                    <a:pt x="3404196" y="587869"/>
                  </a:lnTo>
                  <a:lnTo>
                    <a:pt x="3404196" y="117575"/>
                  </a:lnTo>
                  <a:lnTo>
                    <a:pt x="3394957" y="71809"/>
                  </a:lnTo>
                  <a:lnTo>
                    <a:pt x="3369759" y="34437"/>
                  </a:lnTo>
                  <a:lnTo>
                    <a:pt x="3332386" y="9239"/>
                  </a:lnTo>
                  <a:lnTo>
                    <a:pt x="3286620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47186" y="1337834"/>
              <a:ext cx="3404235" cy="1114425"/>
            </a:xfrm>
            <a:custGeom>
              <a:avLst/>
              <a:gdLst/>
              <a:ahLst/>
              <a:cxnLst/>
              <a:rect l="l" t="t" r="r" b="b"/>
              <a:pathLst>
                <a:path w="3404234" h="1114425">
                  <a:moveTo>
                    <a:pt x="0" y="117575"/>
                  </a:moveTo>
                  <a:lnTo>
                    <a:pt x="9239" y="71810"/>
                  </a:lnTo>
                  <a:lnTo>
                    <a:pt x="34437" y="34437"/>
                  </a:lnTo>
                  <a:lnTo>
                    <a:pt x="71810" y="9239"/>
                  </a:lnTo>
                  <a:lnTo>
                    <a:pt x="117575" y="0"/>
                  </a:lnTo>
                  <a:lnTo>
                    <a:pt x="1985781" y="0"/>
                  </a:lnTo>
                  <a:lnTo>
                    <a:pt x="2836830" y="0"/>
                  </a:lnTo>
                  <a:lnTo>
                    <a:pt x="3286621" y="0"/>
                  </a:lnTo>
                  <a:lnTo>
                    <a:pt x="3332387" y="9239"/>
                  </a:lnTo>
                  <a:lnTo>
                    <a:pt x="3369759" y="34437"/>
                  </a:lnTo>
                  <a:lnTo>
                    <a:pt x="3394957" y="71810"/>
                  </a:lnTo>
                  <a:lnTo>
                    <a:pt x="3404197" y="117575"/>
                  </a:lnTo>
                  <a:lnTo>
                    <a:pt x="3404197" y="411508"/>
                  </a:lnTo>
                  <a:lnTo>
                    <a:pt x="3404197" y="587868"/>
                  </a:lnTo>
                  <a:lnTo>
                    <a:pt x="3394957" y="633630"/>
                  </a:lnTo>
                  <a:lnTo>
                    <a:pt x="3369759" y="671003"/>
                  </a:lnTo>
                  <a:lnTo>
                    <a:pt x="3332387" y="696201"/>
                  </a:lnTo>
                  <a:lnTo>
                    <a:pt x="3286621" y="705441"/>
                  </a:lnTo>
                  <a:lnTo>
                    <a:pt x="2836830" y="705441"/>
                  </a:lnTo>
                  <a:lnTo>
                    <a:pt x="1796972" y="1113911"/>
                  </a:lnTo>
                  <a:lnTo>
                    <a:pt x="1985781" y="705441"/>
                  </a:lnTo>
                  <a:lnTo>
                    <a:pt x="117575" y="705441"/>
                  </a:lnTo>
                  <a:lnTo>
                    <a:pt x="71810" y="696201"/>
                  </a:lnTo>
                  <a:lnTo>
                    <a:pt x="34437" y="671003"/>
                  </a:lnTo>
                  <a:lnTo>
                    <a:pt x="9239" y="633630"/>
                  </a:lnTo>
                  <a:lnTo>
                    <a:pt x="0" y="587865"/>
                  </a:lnTo>
                  <a:lnTo>
                    <a:pt x="0" y="411508"/>
                  </a:lnTo>
                  <a:lnTo>
                    <a:pt x="0" y="117575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708328" y="1383791"/>
            <a:ext cx="5363845" cy="114935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907030" marR="5080" indent="-375920">
              <a:lnSpc>
                <a:spcPct val="94400"/>
              </a:lnSpc>
              <a:spcBef>
                <a:spcPts val="215"/>
              </a:spcBef>
            </a:pP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Abstract</a:t>
            </a:r>
            <a:r>
              <a:rPr sz="17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immediate</a:t>
            </a:r>
            <a:r>
              <a:rPr sz="17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result </a:t>
            </a:r>
            <a:r>
              <a:rPr sz="1700" spc="-5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ng</a:t>
            </a:r>
            <a:r>
              <a:rPr sz="17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FFFFFF"/>
                </a:solidFill>
                <a:latin typeface="Courier New"/>
                <a:cs typeface="Courier New"/>
              </a:rPr>
              <a:t>WIT</a:t>
            </a:r>
            <a:r>
              <a:rPr sz="2100" dirty="0">
                <a:solidFill>
                  <a:srgbClr val="FFFFFF"/>
                </a:solidFill>
                <a:latin typeface="Courier New"/>
                <a:cs typeface="Courier New"/>
              </a:rPr>
              <a:t>H</a:t>
            </a:r>
            <a:r>
              <a:rPr sz="2100" spc="-6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WITH</a:t>
            </a:r>
            <a:r>
              <a:rPr sz="1900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MaxSal</a:t>
            </a:r>
            <a:r>
              <a:rPr sz="1900" spc="-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endParaRPr sz="1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11957</TotalTime>
  <Words>5265</Words>
  <Application>Microsoft Macintosh PowerPoint</Application>
  <PresentationFormat>Custom</PresentationFormat>
  <Paragraphs>1951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8" baseType="lpstr">
      <vt:lpstr>Arial</vt:lpstr>
      <vt:lpstr>Arial MT</vt:lpstr>
      <vt:lpstr>Calibri</vt:lpstr>
      <vt:lpstr>Calibri Light</vt:lpstr>
      <vt:lpstr>Cambria Math</vt:lpstr>
      <vt:lpstr>Courier New</vt:lpstr>
      <vt:lpstr>Lato</vt:lpstr>
      <vt:lpstr>Times New Roman</vt:lpstr>
      <vt:lpstr>Trebuchet MS</vt:lpstr>
      <vt:lpstr>Verdana</vt:lpstr>
      <vt:lpstr>Office Theme</vt:lpstr>
      <vt:lpstr>SQL – Subqueries</vt:lpstr>
      <vt:lpstr>Course Update</vt:lpstr>
      <vt:lpstr>PowerPoint Presentation</vt:lpstr>
      <vt:lpstr>Join combines data across tables</vt:lpstr>
      <vt:lpstr>Recap 1: JOIN</vt:lpstr>
      <vt:lpstr>Recap 2: JOIN</vt:lpstr>
      <vt:lpstr>Recap 3: JOIN</vt:lpstr>
      <vt:lpstr>Recap 4: Self Join</vt:lpstr>
      <vt:lpstr>Subqueries: Core Idea</vt:lpstr>
      <vt:lpstr>Subqueries</vt:lpstr>
      <vt:lpstr>Equivalent Query Example</vt:lpstr>
      <vt:lpstr>(Equivalent) Subquery (SELECT)</vt:lpstr>
      <vt:lpstr>(Equivalent) Subquery (FROM)</vt:lpstr>
      <vt:lpstr>Subqueries in WHERE</vt:lpstr>
      <vt:lpstr>Subqueries in WITH</vt:lpstr>
      <vt:lpstr>Let’s Try 1: Self Join</vt:lpstr>
      <vt:lpstr>Let’s Try 1: Subqueries in SELECT</vt:lpstr>
      <vt:lpstr>Let’s Try 1: Subqueries in FROM</vt:lpstr>
      <vt:lpstr>Let’s Try 1: Subqueries in WITH</vt:lpstr>
      <vt:lpstr>Let’s Try 1: Subqueries in WITH</vt:lpstr>
      <vt:lpstr>Let’s Try 2: Join (2)</vt:lpstr>
      <vt:lpstr>Let’s Try: Subqueries in SELECT</vt:lpstr>
      <vt:lpstr>Subqueries and Set Operations</vt:lpstr>
      <vt:lpstr>Example: Let’s Solve A Problem</vt:lpstr>
      <vt:lpstr>Example: Let’s Solve A Problem</vt:lpstr>
      <vt:lpstr>Use EXCEPT to Solve the Problem</vt:lpstr>
      <vt:lpstr>Use EXCEPT to Solve the Problem (2)</vt:lpstr>
      <vt:lpstr>Use EXCEPT to Solve the Problem (3)</vt:lpstr>
      <vt:lpstr>Use EXCEPT to Solve the Problem (4)</vt:lpstr>
      <vt:lpstr>Use EXCEPT to Solve the Problem (5)</vt:lpstr>
      <vt:lpstr>Use EXCEPT to Solve the Problem (6)</vt:lpstr>
      <vt:lpstr>Example: UNION</vt:lpstr>
      <vt:lpstr>Example: INTERSECT</vt:lpstr>
      <vt:lpstr>Wrap-Up</vt:lpstr>
      <vt:lpstr>Zybook task</vt:lpstr>
      <vt:lpstr>More Practice / Example</vt:lpstr>
      <vt:lpstr>Find employee name (or names) who earns the highest salary  for each job</vt:lpstr>
      <vt:lpstr>Alternative Ways to Solve</vt:lpstr>
      <vt:lpstr>Option 1: Self-Join</vt:lpstr>
      <vt:lpstr>Option 2: Subqueries</vt:lpstr>
      <vt:lpstr>Option 2: Subqueries</vt:lpstr>
      <vt:lpstr>Option 2: Subqueries</vt:lpstr>
      <vt:lpstr>Option 2: Subqueries</vt:lpstr>
      <vt:lpstr>Option 2: Subqueries</vt:lpstr>
      <vt:lpstr>Option 2: Subqueries</vt:lpstr>
      <vt:lpstr>Option 3: WITH Clause</vt:lpstr>
      <vt:lpstr>Option 3: WITH Clause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4750meet16-SQL-subqueries-before-class</dc:title>
  <dc:creator>upsorn</dc:creator>
  <cp:lastModifiedBy>Farhan Tanvir</cp:lastModifiedBy>
  <cp:revision>42</cp:revision>
  <dcterms:created xsi:type="dcterms:W3CDTF">2023-10-11T12:23:53Z</dcterms:created>
  <dcterms:modified xsi:type="dcterms:W3CDTF">2026-02-25T03:44:26Z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2023-09-17T00:00:00Z</vt:filetime>
  </property>
  <property fmtid="{D5CDD505-2E9C-101B-9397-08002B2CF9AE}" pid="3" name="Creator">
    <vt:lpwstr>PowerPoint</vt:lpwstr>
  </property>
  <property fmtid="{D5CDD505-2E9C-101B-9397-08002B2CF9AE}" pid="4" name="LastSaved">
    <vt:filetime>2023-10-11T00:00:00Z</vt:filetime>
  </property>
</Properties>
</file>