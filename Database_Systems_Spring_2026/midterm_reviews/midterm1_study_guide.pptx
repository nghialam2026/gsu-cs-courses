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ppt/media/image5.jpg" ContentType="image/jpeg"/>
  <Override PartName="/ppt/media/image6.jpg" ContentType="image/jpeg"/>
  <Override PartName="/ppt/media/image18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sldIdLst>
    <p:sldId id="256" r:id="rId2"/>
    <p:sldId id="312" r:id="rId3"/>
    <p:sldId id="532" r:id="rId4"/>
    <p:sldId id="262" r:id="rId5"/>
    <p:sldId id="533" r:id="rId6"/>
    <p:sldId id="515" r:id="rId7"/>
    <p:sldId id="514" r:id="rId8"/>
    <p:sldId id="502" r:id="rId9"/>
    <p:sldId id="292" r:id="rId10"/>
    <p:sldId id="293" r:id="rId11"/>
    <p:sldId id="294" r:id="rId12"/>
    <p:sldId id="295" r:id="rId13"/>
    <p:sldId id="551" r:id="rId14"/>
    <p:sldId id="552" r:id="rId15"/>
    <p:sldId id="553" r:id="rId16"/>
    <p:sldId id="554" r:id="rId17"/>
    <p:sldId id="555" r:id="rId18"/>
    <p:sldId id="556" r:id="rId19"/>
    <p:sldId id="558" r:id="rId20"/>
    <p:sldId id="559" r:id="rId21"/>
    <p:sldId id="560" r:id="rId22"/>
    <p:sldId id="561" r:id="rId23"/>
    <p:sldId id="562" r:id="rId24"/>
    <p:sldId id="563" r:id="rId25"/>
    <p:sldId id="557" r:id="rId26"/>
    <p:sldId id="414" r:id="rId27"/>
    <p:sldId id="416" r:id="rId28"/>
    <p:sldId id="449" r:id="rId29"/>
    <p:sldId id="564" r:id="rId30"/>
    <p:sldId id="565" r:id="rId31"/>
    <p:sldId id="431" r:id="rId32"/>
    <p:sldId id="442" r:id="rId33"/>
    <p:sldId id="566" r:id="rId34"/>
    <p:sldId id="308" r:id="rId35"/>
    <p:sldId id="422" r:id="rId36"/>
    <p:sldId id="480" r:id="rId37"/>
    <p:sldId id="567" r:id="rId38"/>
    <p:sldId id="568" r:id="rId39"/>
    <p:sldId id="569" r:id="rId40"/>
    <p:sldId id="570" r:id="rId41"/>
    <p:sldId id="571" r:id="rId42"/>
    <p:sldId id="572" r:id="rId43"/>
    <p:sldId id="573" r:id="rId44"/>
    <p:sldId id="280" r:id="rId45"/>
    <p:sldId id="574" r:id="rId46"/>
    <p:sldId id="575" r:id="rId47"/>
    <p:sldId id="576" r:id="rId48"/>
    <p:sldId id="577" r:id="rId49"/>
    <p:sldId id="578" r:id="rId50"/>
    <p:sldId id="579" r:id="rId51"/>
    <p:sldId id="580" r:id="rId52"/>
    <p:sldId id="581" r:id="rId53"/>
    <p:sldId id="582" r:id="rId54"/>
    <p:sldId id="583" r:id="rId55"/>
    <p:sldId id="584" r:id="rId56"/>
    <p:sldId id="585" r:id="rId57"/>
    <p:sldId id="586" r:id="rId58"/>
    <p:sldId id="587" r:id="rId59"/>
    <p:sldId id="588" r:id="rId60"/>
    <p:sldId id="589" r:id="rId61"/>
    <p:sldId id="277" r:id="rId62"/>
    <p:sldId id="519" r:id="rId63"/>
    <p:sldId id="520" r:id="rId64"/>
    <p:sldId id="523" r:id="rId65"/>
    <p:sldId id="284" r:id="rId66"/>
    <p:sldId id="285" r:id="rId67"/>
    <p:sldId id="527" r:id="rId68"/>
    <p:sldId id="524" r:id="rId69"/>
    <p:sldId id="263" r:id="rId70"/>
    <p:sldId id="264" r:id="rId71"/>
    <p:sldId id="265" r:id="rId72"/>
    <p:sldId id="266" r:id="rId73"/>
    <p:sldId id="267" r:id="rId74"/>
    <p:sldId id="268" r:id="rId75"/>
    <p:sldId id="269" r:id="rId76"/>
    <p:sldId id="270" r:id="rId77"/>
    <p:sldId id="271" r:id="rId78"/>
    <p:sldId id="272" r:id="rId79"/>
    <p:sldId id="273" r:id="rId80"/>
    <p:sldId id="274" r:id="rId81"/>
    <p:sldId id="275" r:id="rId82"/>
    <p:sldId id="276" r:id="rId83"/>
    <p:sldId id="590" r:id="rId84"/>
    <p:sldId id="278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/>
    <p:restoredTop sz="95009"/>
  </p:normalViewPr>
  <p:slideViewPr>
    <p:cSldViewPr snapToGrid="0">
      <p:cViewPr varScale="1">
        <p:scale>
          <a:sx n="126" d="100"/>
          <a:sy n="126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F574E-CFBA-ED4D-AB6D-855153DA9D9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CA86E-DA78-0248-A252-77E3480300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67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A29A-D2C6-8272-679D-55DCE84EB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376FB2-F312-B9CD-A3F9-9801C67B7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429C-3567-B4ED-8DBE-D08B7638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94810-7CE9-ECDE-72F5-152FB526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2EE5-A56F-D673-6D59-08120F0F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6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51C0-EF26-16FA-BBEA-540333FE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492F0-1CB5-921C-59E1-22408BF99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02BB-2CA4-9BD9-199B-4889652EB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CB28F-A9B5-F55C-35EA-3F97A76C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ED146-79BF-C643-B287-D94521B4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12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C7F6-8329-45C9-49B7-4B30BE2A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2F7C0-20B5-00DE-7345-C885607F4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BD157-DBB6-EE53-26DD-ADC70F55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0B78E-BCA4-A993-7930-A30505255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5F58D-000B-1059-20BB-2EFCC318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B7D8-F20D-543D-F478-71A36AA1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7BB30-516B-6F13-F934-3A4688402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52F74-8121-793F-A1D3-6E54C4D29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CD0DB-5E59-6975-568C-5A500E277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05769-14D1-710D-019B-63D684C9D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92552-E7A6-49E6-D98A-6F99B7C4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5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AAD6-73E8-257E-28D9-7978B11A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C1EC2-89CE-7431-7EA9-68626BCA1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D82AA-2A3D-8C76-D8F6-2293FA889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7AA1D1-1057-A9EE-BD12-EADEA6748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A21CF-633F-3093-5A46-2D072634D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A0998F-5438-40F9-48CA-56EB4C3A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3A6BE-9349-1876-C7BA-19401177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FFE52-C2A8-E258-F5AB-9BB02838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06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57D9-8FDD-D268-08AC-9A31E4B8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9C3BD-0153-9F90-4562-78F0AD34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75C98-F3A9-78F7-1206-BF909D5B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CA260-ACB0-CA74-F8FC-83425CC6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1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260C6-FE2F-75A4-78EC-9C83EC28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FAD46-0950-CB5A-BEC4-6AAF62A3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AB1B5-11A7-FEF3-D2F4-6FB094BA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9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AB26D-EE6C-32E0-8380-4F945421D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0D55D-19D2-DB94-B716-F0E11DD85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096D1-7D92-CEF0-6CAF-D7C301792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E592F-3CCD-37F6-DF48-227C8E4AF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6B22B-3C4D-66B9-552B-BB1DC265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45CEA-BAC8-3533-E194-AFC925E8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09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D0EC3-549A-71C9-A31A-9DC150B47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BB85A-581B-5DBC-5F15-D32B3D9D9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6E06E-4390-76F1-9F6F-B6E888172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A11EF-2CE3-E6C8-B8BA-28F867932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EF9A5-F506-BBB1-C26D-976F0E2C1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50C28-E1CF-5CA1-ED56-517AAFF5C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8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7E57-8D94-1FB8-F62A-F1A071436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E3453-7D8D-4467-EEC4-E5C5C0292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4100A-DD8E-589A-1FB9-B367FC53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1C8A0-0DC3-020B-94EC-3E76BC35F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AAE8B-7FEF-6287-827C-D4B9B02AF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67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87E44-731D-0851-F09D-FCEAE5608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CCBF7-F640-BD17-753B-E267C13DA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41BC9-0F6D-8743-A11D-F258226B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5C39C-3D1A-E89B-2CB2-9192967E5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5C8C2-2C3F-194C-9FD8-D7172A85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0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7A06FA-B2C6-5125-FF5F-0D6683D9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2BEEA-6448-886F-4C90-06BF2FB39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F0EA7-CAA2-011D-1C5F-26DD8E7B2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D9E32-4201-624C-8B35-ADE8DA341BA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11BC6-252D-6193-B940-B0667F44F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D0A7F-CDA5-E98D-87FB-0940D8F96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DD561-309C-EF49-AB8B-1F1F5DA4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51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BF22B-1A77-F767-5516-010264CB03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Study Guide for </a:t>
            </a:r>
            <a:r>
              <a:rPr lang="en-US" dirty="0" err="1"/>
              <a:t>CSc</a:t>
            </a:r>
            <a:r>
              <a:rPr lang="en-US" dirty="0"/>
              <a:t> 4710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2F4F4-46C9-789F-2E43-419B22D82D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Farhan Tanvir</a:t>
            </a:r>
          </a:p>
        </p:txBody>
      </p:sp>
    </p:spTree>
    <p:extLst>
      <p:ext uri="{BB962C8B-B14F-4D97-AF65-F5344CB8AC3E}">
        <p14:creationId xmlns:p14="http://schemas.microsoft.com/office/powerpoint/2010/main" val="1935409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93FA-C0E6-E1B1-EE55-9B93A544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 details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80D7E-FA48-9A25-DD1F-4981F18B5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Midterm 1 on 02/16</a:t>
            </a:r>
          </a:p>
          <a:p>
            <a:r>
              <a:rPr lang="en-US" b="1" dirty="0">
                <a:solidFill>
                  <a:schemeClr val="accent6"/>
                </a:solidFill>
              </a:rPr>
              <a:t>No class on 02/18</a:t>
            </a:r>
          </a:p>
          <a:p>
            <a:r>
              <a:rPr lang="en-US" b="1">
                <a:solidFill>
                  <a:srgbClr val="FF0000"/>
                </a:solidFill>
              </a:rPr>
              <a:t>No cheat sheet is allowed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5 questions; 75 marks</a:t>
            </a:r>
          </a:p>
          <a:p>
            <a:pPr lvl="1"/>
            <a:r>
              <a:rPr lang="en-US" dirty="0"/>
              <a:t>ER diagram – 30</a:t>
            </a:r>
          </a:p>
          <a:p>
            <a:pPr lvl="1"/>
            <a:r>
              <a:rPr lang="en-US" dirty="0"/>
              <a:t>Relational model -20</a:t>
            </a:r>
          </a:p>
          <a:p>
            <a:pPr lvl="1"/>
            <a:r>
              <a:rPr lang="en-US" dirty="0"/>
              <a:t>SQL – 25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84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818" y="237597"/>
            <a:ext cx="6652372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28" dirty="0">
                <a:solidFill>
                  <a:srgbClr val="292934"/>
                </a:solidFill>
              </a:rPr>
              <a:t>Entity-</a:t>
            </a:r>
            <a:r>
              <a:rPr spc="-119" dirty="0">
                <a:solidFill>
                  <a:srgbClr val="292934"/>
                </a:solidFill>
              </a:rPr>
              <a:t>Relationship</a:t>
            </a:r>
            <a:r>
              <a:rPr spc="-101" dirty="0">
                <a:solidFill>
                  <a:srgbClr val="292934"/>
                </a:solidFill>
              </a:rPr>
              <a:t> </a:t>
            </a:r>
            <a:r>
              <a:rPr spc="-49" dirty="0">
                <a:solidFill>
                  <a:srgbClr val="292934"/>
                </a:solidFill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4778" y="1068592"/>
            <a:ext cx="8032376" cy="568798"/>
          </a:xfrm>
          <a:prstGeom prst="rect">
            <a:avLst/>
          </a:prstGeom>
        </p:spPr>
        <p:txBody>
          <a:bodyPr vert="horz" wrap="square" lIns="0" tIns="560" rIns="0" bIns="0" rtlCol="0">
            <a:spAutoFit/>
          </a:bodyPr>
          <a:lstStyle/>
          <a:p>
            <a:pPr marL="183226" marR="4483" indent="-172580">
              <a:lnSpc>
                <a:spcPct val="103800"/>
              </a:lnSpc>
              <a:spcBef>
                <a:spcPts val="4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183226" algn="l"/>
              </a:tabLst>
            </a:pPr>
            <a:r>
              <a:rPr sz="1853" b="1" dirty="0">
                <a:solidFill>
                  <a:srgbClr val="C00000"/>
                </a:solidFill>
                <a:latin typeface="Verdana"/>
                <a:cs typeface="Verdana"/>
              </a:rPr>
              <a:t>E-R</a:t>
            </a:r>
            <a:r>
              <a:rPr sz="1853" b="1" spc="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b="1" dirty="0">
                <a:solidFill>
                  <a:srgbClr val="C00000"/>
                </a:solidFill>
                <a:latin typeface="Verdana"/>
                <a:cs typeface="Verdana"/>
              </a:rPr>
              <a:t>diagram</a:t>
            </a:r>
            <a:r>
              <a:rPr sz="1853" b="1" spc="7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high-level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representing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database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853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collection</a:t>
            </a:r>
            <a:r>
              <a:rPr sz="1853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1853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entities</a:t>
            </a:r>
            <a:r>
              <a:rPr sz="1853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and</a:t>
            </a:r>
            <a:r>
              <a:rPr sz="1853" spc="4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relationships</a:t>
            </a:r>
            <a:r>
              <a:rPr sz="1853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among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endParaRPr sz="1853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3647" y="2229653"/>
            <a:ext cx="6672191" cy="31424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54558" y="3154679"/>
            <a:ext cx="66002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6703" y="3154679"/>
            <a:ext cx="79785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6832" y="3160059"/>
            <a:ext cx="58550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89372" y="2600660"/>
            <a:ext cx="27678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22" dirty="0">
                <a:solidFill>
                  <a:srgbClr val="292934"/>
                </a:solidFill>
                <a:latin typeface="Arial MT"/>
                <a:cs typeface="Arial MT"/>
              </a:rPr>
              <a:t>pid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43634" y="2323651"/>
            <a:ext cx="50090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8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94486" y="2331719"/>
            <a:ext cx="50090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8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21231" y="4316506"/>
            <a:ext cx="60679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74531" y="3853927"/>
            <a:ext cx="42582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8" dirty="0">
                <a:solidFill>
                  <a:srgbClr val="292934"/>
                </a:solidFill>
                <a:latin typeface="Arial MT"/>
                <a:cs typeface="Arial MT"/>
              </a:rPr>
              <a:t>buys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03157" y="4967342"/>
            <a:ext cx="1697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22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11408" y="5023821"/>
            <a:ext cx="50090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8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86991" y="3853927"/>
            <a:ext cx="80906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works-</a:t>
            </a:r>
            <a:r>
              <a:rPr sz="1500" spc="-22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42687" y="2552252"/>
            <a:ext cx="94633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06433" y="2326341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86096" y="4883971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04003" y="1086289"/>
            <a:ext cx="8159563" cy="2808754"/>
            <a:chOff x="391603" y="1231127"/>
            <a:chExt cx="9247505" cy="3183255"/>
          </a:xfrm>
        </p:grpSpPr>
        <p:sp>
          <p:nvSpPr>
            <p:cNvPr id="3" name="object 3"/>
            <p:cNvSpPr/>
            <p:nvPr/>
          </p:nvSpPr>
          <p:spPr>
            <a:xfrm>
              <a:off x="406843" y="1246367"/>
              <a:ext cx="9217025" cy="3152775"/>
            </a:xfrm>
            <a:custGeom>
              <a:avLst/>
              <a:gdLst/>
              <a:ahLst/>
              <a:cxnLst/>
              <a:rect l="l" t="t" r="r" b="b"/>
              <a:pathLst>
                <a:path w="9217025" h="3152775">
                  <a:moveTo>
                    <a:pt x="8691053" y="0"/>
                  </a:moveTo>
                  <a:lnTo>
                    <a:pt x="525389" y="0"/>
                  </a:lnTo>
                  <a:lnTo>
                    <a:pt x="477568" y="2147"/>
                  </a:lnTo>
                  <a:lnTo>
                    <a:pt x="430950" y="8464"/>
                  </a:lnTo>
                  <a:lnTo>
                    <a:pt x="385720" y="18767"/>
                  </a:lnTo>
                  <a:lnTo>
                    <a:pt x="342064" y="32869"/>
                  </a:lnTo>
                  <a:lnTo>
                    <a:pt x="300167" y="50585"/>
                  </a:lnTo>
                  <a:lnTo>
                    <a:pt x="260215" y="71730"/>
                  </a:lnTo>
                  <a:lnTo>
                    <a:pt x="222393" y="96119"/>
                  </a:lnTo>
                  <a:lnTo>
                    <a:pt x="186887" y="123564"/>
                  </a:lnTo>
                  <a:lnTo>
                    <a:pt x="153883" y="153882"/>
                  </a:lnTo>
                  <a:lnTo>
                    <a:pt x="123565" y="186887"/>
                  </a:lnTo>
                  <a:lnTo>
                    <a:pt x="96119" y="222393"/>
                  </a:lnTo>
                  <a:lnTo>
                    <a:pt x="71731" y="260215"/>
                  </a:lnTo>
                  <a:lnTo>
                    <a:pt x="50586" y="300167"/>
                  </a:lnTo>
                  <a:lnTo>
                    <a:pt x="32869" y="342064"/>
                  </a:lnTo>
                  <a:lnTo>
                    <a:pt x="18767" y="385720"/>
                  </a:lnTo>
                  <a:lnTo>
                    <a:pt x="8464" y="430950"/>
                  </a:lnTo>
                  <a:lnTo>
                    <a:pt x="2147" y="477568"/>
                  </a:lnTo>
                  <a:lnTo>
                    <a:pt x="0" y="525390"/>
                  </a:lnTo>
                  <a:lnTo>
                    <a:pt x="0" y="2626859"/>
                  </a:lnTo>
                  <a:lnTo>
                    <a:pt x="2147" y="2674680"/>
                  </a:lnTo>
                  <a:lnTo>
                    <a:pt x="8464" y="2721298"/>
                  </a:lnTo>
                  <a:lnTo>
                    <a:pt x="18767" y="2766528"/>
                  </a:lnTo>
                  <a:lnTo>
                    <a:pt x="32869" y="2810184"/>
                  </a:lnTo>
                  <a:lnTo>
                    <a:pt x="50586" y="2852081"/>
                  </a:lnTo>
                  <a:lnTo>
                    <a:pt x="71731" y="2892033"/>
                  </a:lnTo>
                  <a:lnTo>
                    <a:pt x="96119" y="2929855"/>
                  </a:lnTo>
                  <a:lnTo>
                    <a:pt x="123565" y="2965361"/>
                  </a:lnTo>
                  <a:lnTo>
                    <a:pt x="153883" y="2998365"/>
                  </a:lnTo>
                  <a:lnTo>
                    <a:pt x="186887" y="3028683"/>
                  </a:lnTo>
                  <a:lnTo>
                    <a:pt x="222393" y="3056129"/>
                  </a:lnTo>
                  <a:lnTo>
                    <a:pt x="260215" y="3080517"/>
                  </a:lnTo>
                  <a:lnTo>
                    <a:pt x="300167" y="3101663"/>
                  </a:lnTo>
                  <a:lnTo>
                    <a:pt x="342064" y="3119379"/>
                  </a:lnTo>
                  <a:lnTo>
                    <a:pt x="385720" y="3133481"/>
                  </a:lnTo>
                  <a:lnTo>
                    <a:pt x="430950" y="3143784"/>
                  </a:lnTo>
                  <a:lnTo>
                    <a:pt x="477568" y="3150102"/>
                  </a:lnTo>
                  <a:lnTo>
                    <a:pt x="525389" y="3152249"/>
                  </a:lnTo>
                  <a:lnTo>
                    <a:pt x="8691053" y="3152249"/>
                  </a:lnTo>
                  <a:lnTo>
                    <a:pt x="8738875" y="3150102"/>
                  </a:lnTo>
                  <a:lnTo>
                    <a:pt x="8785493" y="3143784"/>
                  </a:lnTo>
                  <a:lnTo>
                    <a:pt x="8830723" y="3133481"/>
                  </a:lnTo>
                  <a:lnTo>
                    <a:pt x="8874379" y="3119379"/>
                  </a:lnTo>
                  <a:lnTo>
                    <a:pt x="8916276" y="3101663"/>
                  </a:lnTo>
                  <a:lnTo>
                    <a:pt x="8956227" y="3080517"/>
                  </a:lnTo>
                  <a:lnTo>
                    <a:pt x="8994049" y="3056129"/>
                  </a:lnTo>
                  <a:lnTo>
                    <a:pt x="9029555" y="3028683"/>
                  </a:lnTo>
                  <a:lnTo>
                    <a:pt x="9062560" y="2998365"/>
                  </a:lnTo>
                  <a:lnTo>
                    <a:pt x="9092878" y="2965361"/>
                  </a:lnTo>
                  <a:lnTo>
                    <a:pt x="9120323" y="2929855"/>
                  </a:lnTo>
                  <a:lnTo>
                    <a:pt x="9144711" y="2892033"/>
                  </a:lnTo>
                  <a:lnTo>
                    <a:pt x="9165856" y="2852081"/>
                  </a:lnTo>
                  <a:lnTo>
                    <a:pt x="9183573" y="2810184"/>
                  </a:lnTo>
                  <a:lnTo>
                    <a:pt x="9197675" y="2766528"/>
                  </a:lnTo>
                  <a:lnTo>
                    <a:pt x="9207978" y="2721298"/>
                  </a:lnTo>
                  <a:lnTo>
                    <a:pt x="9214295" y="2674680"/>
                  </a:lnTo>
                  <a:lnTo>
                    <a:pt x="9216442" y="2626859"/>
                  </a:lnTo>
                  <a:lnTo>
                    <a:pt x="9216442" y="525390"/>
                  </a:lnTo>
                  <a:lnTo>
                    <a:pt x="9214295" y="477568"/>
                  </a:lnTo>
                  <a:lnTo>
                    <a:pt x="9207978" y="430950"/>
                  </a:lnTo>
                  <a:lnTo>
                    <a:pt x="9197675" y="385720"/>
                  </a:lnTo>
                  <a:lnTo>
                    <a:pt x="9183573" y="342064"/>
                  </a:lnTo>
                  <a:lnTo>
                    <a:pt x="9165856" y="300167"/>
                  </a:lnTo>
                  <a:lnTo>
                    <a:pt x="9144711" y="260215"/>
                  </a:lnTo>
                  <a:lnTo>
                    <a:pt x="9120323" y="222393"/>
                  </a:lnTo>
                  <a:lnTo>
                    <a:pt x="9092878" y="186887"/>
                  </a:lnTo>
                  <a:lnTo>
                    <a:pt x="9062560" y="153882"/>
                  </a:lnTo>
                  <a:lnTo>
                    <a:pt x="9029555" y="123564"/>
                  </a:lnTo>
                  <a:lnTo>
                    <a:pt x="8994049" y="96119"/>
                  </a:lnTo>
                  <a:lnTo>
                    <a:pt x="8956227" y="71730"/>
                  </a:lnTo>
                  <a:lnTo>
                    <a:pt x="8916276" y="50585"/>
                  </a:lnTo>
                  <a:lnTo>
                    <a:pt x="8874379" y="32869"/>
                  </a:lnTo>
                  <a:lnTo>
                    <a:pt x="8830723" y="18767"/>
                  </a:lnTo>
                  <a:lnTo>
                    <a:pt x="8785493" y="8464"/>
                  </a:lnTo>
                  <a:lnTo>
                    <a:pt x="8738875" y="2147"/>
                  </a:lnTo>
                  <a:lnTo>
                    <a:pt x="8691053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406843" y="1246367"/>
              <a:ext cx="9217025" cy="3152775"/>
            </a:xfrm>
            <a:custGeom>
              <a:avLst/>
              <a:gdLst/>
              <a:ahLst/>
              <a:cxnLst/>
              <a:rect l="l" t="t" r="r" b="b"/>
              <a:pathLst>
                <a:path w="9217025" h="3152775">
                  <a:moveTo>
                    <a:pt x="0" y="525390"/>
                  </a:moveTo>
                  <a:lnTo>
                    <a:pt x="2147" y="477568"/>
                  </a:lnTo>
                  <a:lnTo>
                    <a:pt x="8464" y="430950"/>
                  </a:lnTo>
                  <a:lnTo>
                    <a:pt x="18767" y="385720"/>
                  </a:lnTo>
                  <a:lnTo>
                    <a:pt x="32869" y="342064"/>
                  </a:lnTo>
                  <a:lnTo>
                    <a:pt x="50586" y="300167"/>
                  </a:lnTo>
                  <a:lnTo>
                    <a:pt x="71731" y="260215"/>
                  </a:lnTo>
                  <a:lnTo>
                    <a:pt x="96119" y="222393"/>
                  </a:lnTo>
                  <a:lnTo>
                    <a:pt x="123565" y="186887"/>
                  </a:lnTo>
                  <a:lnTo>
                    <a:pt x="153883" y="153883"/>
                  </a:lnTo>
                  <a:lnTo>
                    <a:pt x="186887" y="123565"/>
                  </a:lnTo>
                  <a:lnTo>
                    <a:pt x="222393" y="96119"/>
                  </a:lnTo>
                  <a:lnTo>
                    <a:pt x="260215" y="71731"/>
                  </a:lnTo>
                  <a:lnTo>
                    <a:pt x="300167" y="50586"/>
                  </a:lnTo>
                  <a:lnTo>
                    <a:pt x="342064" y="32869"/>
                  </a:lnTo>
                  <a:lnTo>
                    <a:pt x="385720" y="18767"/>
                  </a:lnTo>
                  <a:lnTo>
                    <a:pt x="430950" y="8464"/>
                  </a:lnTo>
                  <a:lnTo>
                    <a:pt x="477568" y="2147"/>
                  </a:lnTo>
                  <a:lnTo>
                    <a:pt x="525389" y="0"/>
                  </a:lnTo>
                  <a:lnTo>
                    <a:pt x="8691053" y="0"/>
                  </a:lnTo>
                  <a:lnTo>
                    <a:pt x="8738875" y="2147"/>
                  </a:lnTo>
                  <a:lnTo>
                    <a:pt x="8785493" y="8464"/>
                  </a:lnTo>
                  <a:lnTo>
                    <a:pt x="8830723" y="18767"/>
                  </a:lnTo>
                  <a:lnTo>
                    <a:pt x="8874379" y="32869"/>
                  </a:lnTo>
                  <a:lnTo>
                    <a:pt x="8916276" y="50586"/>
                  </a:lnTo>
                  <a:lnTo>
                    <a:pt x="8956228" y="71731"/>
                  </a:lnTo>
                  <a:lnTo>
                    <a:pt x="8994050" y="96119"/>
                  </a:lnTo>
                  <a:lnTo>
                    <a:pt x="9029555" y="123565"/>
                  </a:lnTo>
                  <a:lnTo>
                    <a:pt x="9062560" y="153883"/>
                  </a:lnTo>
                  <a:lnTo>
                    <a:pt x="9092878" y="186887"/>
                  </a:lnTo>
                  <a:lnTo>
                    <a:pt x="9120324" y="222393"/>
                  </a:lnTo>
                  <a:lnTo>
                    <a:pt x="9144712" y="260215"/>
                  </a:lnTo>
                  <a:lnTo>
                    <a:pt x="9165857" y="300167"/>
                  </a:lnTo>
                  <a:lnTo>
                    <a:pt x="9183573" y="342064"/>
                  </a:lnTo>
                  <a:lnTo>
                    <a:pt x="9197676" y="385720"/>
                  </a:lnTo>
                  <a:lnTo>
                    <a:pt x="9207978" y="430950"/>
                  </a:lnTo>
                  <a:lnTo>
                    <a:pt x="9214296" y="477568"/>
                  </a:lnTo>
                  <a:lnTo>
                    <a:pt x="9216443" y="525390"/>
                  </a:lnTo>
                  <a:lnTo>
                    <a:pt x="9216443" y="2626859"/>
                  </a:lnTo>
                  <a:lnTo>
                    <a:pt x="9214296" y="2674680"/>
                  </a:lnTo>
                  <a:lnTo>
                    <a:pt x="9207978" y="2721299"/>
                  </a:lnTo>
                  <a:lnTo>
                    <a:pt x="9197676" y="2766528"/>
                  </a:lnTo>
                  <a:lnTo>
                    <a:pt x="9183573" y="2810185"/>
                  </a:lnTo>
                  <a:lnTo>
                    <a:pt x="9165857" y="2852081"/>
                  </a:lnTo>
                  <a:lnTo>
                    <a:pt x="9144712" y="2892033"/>
                  </a:lnTo>
                  <a:lnTo>
                    <a:pt x="9120324" y="2929855"/>
                  </a:lnTo>
                  <a:lnTo>
                    <a:pt x="9092878" y="2965361"/>
                  </a:lnTo>
                  <a:lnTo>
                    <a:pt x="9062560" y="2998366"/>
                  </a:lnTo>
                  <a:lnTo>
                    <a:pt x="9029555" y="3028684"/>
                  </a:lnTo>
                  <a:lnTo>
                    <a:pt x="8994050" y="3056130"/>
                  </a:lnTo>
                  <a:lnTo>
                    <a:pt x="8956228" y="3080518"/>
                  </a:lnTo>
                  <a:lnTo>
                    <a:pt x="8916276" y="3101663"/>
                  </a:lnTo>
                  <a:lnTo>
                    <a:pt x="8874379" y="3119379"/>
                  </a:lnTo>
                  <a:lnTo>
                    <a:pt x="8830723" y="3133482"/>
                  </a:lnTo>
                  <a:lnTo>
                    <a:pt x="8785493" y="3143784"/>
                  </a:lnTo>
                  <a:lnTo>
                    <a:pt x="8738875" y="3150102"/>
                  </a:lnTo>
                  <a:lnTo>
                    <a:pt x="8691053" y="3152249"/>
                  </a:lnTo>
                  <a:lnTo>
                    <a:pt x="525389" y="3152249"/>
                  </a:lnTo>
                  <a:lnTo>
                    <a:pt x="477568" y="3150102"/>
                  </a:lnTo>
                  <a:lnTo>
                    <a:pt x="430950" y="3143784"/>
                  </a:lnTo>
                  <a:lnTo>
                    <a:pt x="385720" y="3133482"/>
                  </a:lnTo>
                  <a:lnTo>
                    <a:pt x="342064" y="3119379"/>
                  </a:lnTo>
                  <a:lnTo>
                    <a:pt x="300167" y="3101663"/>
                  </a:lnTo>
                  <a:lnTo>
                    <a:pt x="260215" y="3080518"/>
                  </a:lnTo>
                  <a:lnTo>
                    <a:pt x="222393" y="3056130"/>
                  </a:lnTo>
                  <a:lnTo>
                    <a:pt x="186887" y="3028684"/>
                  </a:lnTo>
                  <a:lnTo>
                    <a:pt x="153883" y="2998366"/>
                  </a:lnTo>
                  <a:lnTo>
                    <a:pt x="123565" y="2965361"/>
                  </a:lnTo>
                  <a:lnTo>
                    <a:pt x="96119" y="2929855"/>
                  </a:lnTo>
                  <a:lnTo>
                    <a:pt x="71731" y="2892033"/>
                  </a:lnTo>
                  <a:lnTo>
                    <a:pt x="50586" y="2852081"/>
                  </a:lnTo>
                  <a:lnTo>
                    <a:pt x="32869" y="2810185"/>
                  </a:lnTo>
                  <a:lnTo>
                    <a:pt x="18767" y="2766528"/>
                  </a:lnTo>
                  <a:lnTo>
                    <a:pt x="8464" y="2721299"/>
                  </a:lnTo>
                  <a:lnTo>
                    <a:pt x="2147" y="2674680"/>
                  </a:lnTo>
                  <a:lnTo>
                    <a:pt x="0" y="2626859"/>
                  </a:lnTo>
                  <a:lnTo>
                    <a:pt x="0" y="525390"/>
                  </a:lnTo>
                  <a:close/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4968010" y="1410873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1285049" y="0"/>
                  </a:moveTo>
                  <a:lnTo>
                    <a:pt x="0" y="0"/>
                  </a:lnTo>
                  <a:lnTo>
                    <a:pt x="0" y="669905"/>
                  </a:lnTo>
                  <a:lnTo>
                    <a:pt x="1285049" y="669905"/>
                  </a:lnTo>
                  <a:lnTo>
                    <a:pt x="1285049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4968010" y="1410873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0" y="0"/>
                  </a:moveTo>
                  <a:lnTo>
                    <a:pt x="1285050" y="0"/>
                  </a:lnTo>
                  <a:lnTo>
                    <a:pt x="1285050" y="669906"/>
                  </a:lnTo>
                  <a:lnTo>
                    <a:pt x="0" y="669906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5004070" y="2562764"/>
              <a:ext cx="1219200" cy="546735"/>
            </a:xfrm>
            <a:custGeom>
              <a:avLst/>
              <a:gdLst/>
              <a:ahLst/>
              <a:cxnLst/>
              <a:rect l="l" t="t" r="r" b="b"/>
              <a:pathLst>
                <a:path w="1219200" h="546735">
                  <a:moveTo>
                    <a:pt x="609353" y="0"/>
                  </a:moveTo>
                  <a:lnTo>
                    <a:pt x="542957" y="1602"/>
                  </a:lnTo>
                  <a:lnTo>
                    <a:pt x="478632" y="6298"/>
                  </a:lnTo>
                  <a:lnTo>
                    <a:pt x="416750" y="13922"/>
                  </a:lnTo>
                  <a:lnTo>
                    <a:pt x="357682" y="24307"/>
                  </a:lnTo>
                  <a:lnTo>
                    <a:pt x="301800" y="37286"/>
                  </a:lnTo>
                  <a:lnTo>
                    <a:pt x="249477" y="52692"/>
                  </a:lnTo>
                  <a:lnTo>
                    <a:pt x="201082" y="70359"/>
                  </a:lnTo>
                  <a:lnTo>
                    <a:pt x="156989" y="90121"/>
                  </a:lnTo>
                  <a:lnTo>
                    <a:pt x="117569" y="111810"/>
                  </a:lnTo>
                  <a:lnTo>
                    <a:pt x="83194" y="135261"/>
                  </a:lnTo>
                  <a:lnTo>
                    <a:pt x="54235" y="160306"/>
                  </a:lnTo>
                  <a:lnTo>
                    <a:pt x="14054" y="214514"/>
                  </a:lnTo>
                  <a:lnTo>
                    <a:pt x="0" y="273100"/>
                  </a:lnTo>
                  <a:lnTo>
                    <a:pt x="3575" y="302858"/>
                  </a:lnTo>
                  <a:lnTo>
                    <a:pt x="31065" y="359421"/>
                  </a:lnTo>
                  <a:lnTo>
                    <a:pt x="83194" y="410939"/>
                  </a:lnTo>
                  <a:lnTo>
                    <a:pt x="117569" y="434390"/>
                  </a:lnTo>
                  <a:lnTo>
                    <a:pt x="156989" y="456079"/>
                  </a:lnTo>
                  <a:lnTo>
                    <a:pt x="201082" y="475841"/>
                  </a:lnTo>
                  <a:lnTo>
                    <a:pt x="249477" y="493508"/>
                  </a:lnTo>
                  <a:lnTo>
                    <a:pt x="301800" y="508915"/>
                  </a:lnTo>
                  <a:lnTo>
                    <a:pt x="357682" y="521894"/>
                  </a:lnTo>
                  <a:lnTo>
                    <a:pt x="416750" y="532278"/>
                  </a:lnTo>
                  <a:lnTo>
                    <a:pt x="478632" y="539902"/>
                  </a:lnTo>
                  <a:lnTo>
                    <a:pt x="542957" y="544599"/>
                  </a:lnTo>
                  <a:lnTo>
                    <a:pt x="609353" y="546201"/>
                  </a:lnTo>
                  <a:lnTo>
                    <a:pt x="675749" y="544599"/>
                  </a:lnTo>
                  <a:lnTo>
                    <a:pt x="740074" y="539902"/>
                  </a:lnTo>
                  <a:lnTo>
                    <a:pt x="801956" y="532278"/>
                  </a:lnTo>
                  <a:lnTo>
                    <a:pt x="861024" y="521894"/>
                  </a:lnTo>
                  <a:lnTo>
                    <a:pt x="916906" y="508915"/>
                  </a:lnTo>
                  <a:lnTo>
                    <a:pt x="969230" y="493508"/>
                  </a:lnTo>
                  <a:lnTo>
                    <a:pt x="1017625" y="475841"/>
                  </a:lnTo>
                  <a:lnTo>
                    <a:pt x="1061718" y="456079"/>
                  </a:lnTo>
                  <a:lnTo>
                    <a:pt x="1101138" y="434390"/>
                  </a:lnTo>
                  <a:lnTo>
                    <a:pt x="1135513" y="410939"/>
                  </a:lnTo>
                  <a:lnTo>
                    <a:pt x="1164472" y="385894"/>
                  </a:lnTo>
                  <a:lnTo>
                    <a:pt x="1204653" y="331687"/>
                  </a:lnTo>
                  <a:lnTo>
                    <a:pt x="1218708" y="273100"/>
                  </a:lnTo>
                  <a:lnTo>
                    <a:pt x="1215132" y="243343"/>
                  </a:lnTo>
                  <a:lnTo>
                    <a:pt x="1187643" y="186779"/>
                  </a:lnTo>
                  <a:lnTo>
                    <a:pt x="1135513" y="135261"/>
                  </a:lnTo>
                  <a:lnTo>
                    <a:pt x="1101138" y="111810"/>
                  </a:lnTo>
                  <a:lnTo>
                    <a:pt x="1061718" y="90121"/>
                  </a:lnTo>
                  <a:lnTo>
                    <a:pt x="1017625" y="70359"/>
                  </a:lnTo>
                  <a:lnTo>
                    <a:pt x="969230" y="52692"/>
                  </a:lnTo>
                  <a:lnTo>
                    <a:pt x="916906" y="37286"/>
                  </a:lnTo>
                  <a:lnTo>
                    <a:pt x="861024" y="24307"/>
                  </a:lnTo>
                  <a:lnTo>
                    <a:pt x="801956" y="13922"/>
                  </a:lnTo>
                  <a:lnTo>
                    <a:pt x="740074" y="6298"/>
                  </a:lnTo>
                  <a:lnTo>
                    <a:pt x="675749" y="1602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5004070" y="2562764"/>
              <a:ext cx="1219200" cy="546735"/>
            </a:xfrm>
            <a:custGeom>
              <a:avLst/>
              <a:gdLst/>
              <a:ahLst/>
              <a:cxnLst/>
              <a:rect l="l" t="t" r="r" b="b"/>
              <a:pathLst>
                <a:path w="1219200" h="546735">
                  <a:moveTo>
                    <a:pt x="0" y="273100"/>
                  </a:moveTo>
                  <a:lnTo>
                    <a:pt x="14054" y="214514"/>
                  </a:lnTo>
                  <a:lnTo>
                    <a:pt x="54235" y="160306"/>
                  </a:lnTo>
                  <a:lnTo>
                    <a:pt x="83194" y="135261"/>
                  </a:lnTo>
                  <a:lnTo>
                    <a:pt x="117570" y="111810"/>
                  </a:lnTo>
                  <a:lnTo>
                    <a:pt x="156990" y="90121"/>
                  </a:lnTo>
                  <a:lnTo>
                    <a:pt x="201083" y="70359"/>
                  </a:lnTo>
                  <a:lnTo>
                    <a:pt x="249477" y="52692"/>
                  </a:lnTo>
                  <a:lnTo>
                    <a:pt x="301801" y="37286"/>
                  </a:lnTo>
                  <a:lnTo>
                    <a:pt x="357683" y="24307"/>
                  </a:lnTo>
                  <a:lnTo>
                    <a:pt x="416751" y="13922"/>
                  </a:lnTo>
                  <a:lnTo>
                    <a:pt x="478633" y="6299"/>
                  </a:lnTo>
                  <a:lnTo>
                    <a:pt x="542958" y="1602"/>
                  </a:lnTo>
                  <a:lnTo>
                    <a:pt x="609354" y="0"/>
                  </a:lnTo>
                  <a:lnTo>
                    <a:pt x="675749" y="1602"/>
                  </a:lnTo>
                  <a:lnTo>
                    <a:pt x="740074" y="6299"/>
                  </a:lnTo>
                  <a:lnTo>
                    <a:pt x="801957" y="13922"/>
                  </a:lnTo>
                  <a:lnTo>
                    <a:pt x="861025" y="24307"/>
                  </a:lnTo>
                  <a:lnTo>
                    <a:pt x="916906" y="37286"/>
                  </a:lnTo>
                  <a:lnTo>
                    <a:pt x="969230" y="52692"/>
                  </a:lnTo>
                  <a:lnTo>
                    <a:pt x="1017625" y="70359"/>
                  </a:lnTo>
                  <a:lnTo>
                    <a:pt x="1061718" y="90121"/>
                  </a:lnTo>
                  <a:lnTo>
                    <a:pt x="1101138" y="111810"/>
                  </a:lnTo>
                  <a:lnTo>
                    <a:pt x="1135513" y="135261"/>
                  </a:lnTo>
                  <a:lnTo>
                    <a:pt x="1164472" y="160306"/>
                  </a:lnTo>
                  <a:lnTo>
                    <a:pt x="1204653" y="214514"/>
                  </a:lnTo>
                  <a:lnTo>
                    <a:pt x="1218708" y="273100"/>
                  </a:lnTo>
                  <a:lnTo>
                    <a:pt x="1215132" y="302858"/>
                  </a:lnTo>
                  <a:lnTo>
                    <a:pt x="1187642" y="359421"/>
                  </a:lnTo>
                  <a:lnTo>
                    <a:pt x="1135513" y="410940"/>
                  </a:lnTo>
                  <a:lnTo>
                    <a:pt x="1101138" y="434390"/>
                  </a:lnTo>
                  <a:lnTo>
                    <a:pt x="1061718" y="456080"/>
                  </a:lnTo>
                  <a:lnTo>
                    <a:pt x="1017625" y="475841"/>
                  </a:lnTo>
                  <a:lnTo>
                    <a:pt x="969230" y="493508"/>
                  </a:lnTo>
                  <a:lnTo>
                    <a:pt x="916906" y="508915"/>
                  </a:lnTo>
                  <a:lnTo>
                    <a:pt x="861025" y="521894"/>
                  </a:lnTo>
                  <a:lnTo>
                    <a:pt x="801957" y="532278"/>
                  </a:lnTo>
                  <a:lnTo>
                    <a:pt x="740074" y="539902"/>
                  </a:lnTo>
                  <a:lnTo>
                    <a:pt x="675749" y="544599"/>
                  </a:lnTo>
                  <a:lnTo>
                    <a:pt x="609354" y="546201"/>
                  </a:lnTo>
                  <a:lnTo>
                    <a:pt x="542958" y="544599"/>
                  </a:lnTo>
                  <a:lnTo>
                    <a:pt x="478633" y="539902"/>
                  </a:lnTo>
                  <a:lnTo>
                    <a:pt x="416751" y="532278"/>
                  </a:lnTo>
                  <a:lnTo>
                    <a:pt x="357683" y="521894"/>
                  </a:lnTo>
                  <a:lnTo>
                    <a:pt x="301801" y="508915"/>
                  </a:lnTo>
                  <a:lnTo>
                    <a:pt x="249477" y="493508"/>
                  </a:lnTo>
                  <a:lnTo>
                    <a:pt x="201083" y="475841"/>
                  </a:lnTo>
                  <a:lnTo>
                    <a:pt x="156990" y="456080"/>
                  </a:lnTo>
                  <a:lnTo>
                    <a:pt x="117570" y="434390"/>
                  </a:lnTo>
                  <a:lnTo>
                    <a:pt x="83194" y="410940"/>
                  </a:lnTo>
                  <a:lnTo>
                    <a:pt x="54235" y="385894"/>
                  </a:lnTo>
                  <a:lnTo>
                    <a:pt x="14054" y="331687"/>
                  </a:lnTo>
                  <a:lnTo>
                    <a:pt x="0" y="27310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774759" y="353919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774759" y="353919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33811" y="237597"/>
            <a:ext cx="7539318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28" dirty="0">
                <a:solidFill>
                  <a:srgbClr val="292934"/>
                </a:solidFill>
              </a:rPr>
              <a:t>E-</a:t>
            </a:r>
            <a:r>
              <a:rPr dirty="0">
                <a:solidFill>
                  <a:srgbClr val="292934"/>
                </a:solidFill>
              </a:rPr>
              <a:t>R</a:t>
            </a:r>
            <a:r>
              <a:rPr spc="-190" dirty="0">
                <a:solidFill>
                  <a:srgbClr val="292934"/>
                </a:solidFill>
              </a:rPr>
              <a:t> </a:t>
            </a:r>
            <a:r>
              <a:rPr spc="-124" dirty="0">
                <a:solidFill>
                  <a:srgbClr val="292934"/>
                </a:solidFill>
              </a:rPr>
              <a:t>Diagram:</a:t>
            </a:r>
            <a:r>
              <a:rPr spc="-172" dirty="0">
                <a:solidFill>
                  <a:srgbClr val="292934"/>
                </a:solidFill>
              </a:rPr>
              <a:t> </a:t>
            </a:r>
            <a:r>
              <a:rPr spc="-119" dirty="0">
                <a:solidFill>
                  <a:srgbClr val="292934"/>
                </a:solidFill>
              </a:rPr>
              <a:t>Building</a:t>
            </a:r>
            <a:r>
              <a:rPr spc="-180" dirty="0">
                <a:solidFill>
                  <a:srgbClr val="292934"/>
                </a:solidFill>
              </a:rPr>
              <a:t> </a:t>
            </a:r>
            <a:r>
              <a:rPr spc="-49" dirty="0">
                <a:solidFill>
                  <a:srgbClr val="292934"/>
                </a:solidFill>
              </a:rPr>
              <a:t>Blocks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121203" y="5085002"/>
            <a:ext cx="972671" cy="598394"/>
            <a:chOff x="5057764" y="5763002"/>
            <a:chExt cx="1102360" cy="678180"/>
          </a:xfrm>
        </p:grpSpPr>
        <p:sp>
          <p:nvSpPr>
            <p:cNvPr id="13" name="object 13"/>
            <p:cNvSpPr/>
            <p:nvPr/>
          </p:nvSpPr>
          <p:spPr>
            <a:xfrm>
              <a:off x="5064537" y="5769776"/>
              <a:ext cx="1089025" cy="664845"/>
            </a:xfrm>
            <a:custGeom>
              <a:avLst/>
              <a:gdLst/>
              <a:ahLst/>
              <a:cxnLst/>
              <a:rect l="l" t="t" r="r" b="b"/>
              <a:pathLst>
                <a:path w="1089025" h="664845">
                  <a:moveTo>
                    <a:pt x="544222" y="0"/>
                  </a:moveTo>
                  <a:lnTo>
                    <a:pt x="0" y="664375"/>
                  </a:lnTo>
                  <a:lnTo>
                    <a:pt x="1088445" y="664375"/>
                  </a:lnTo>
                  <a:lnTo>
                    <a:pt x="544222" y="0"/>
                  </a:lnTo>
                  <a:close/>
                </a:path>
              </a:pathLst>
            </a:custGeom>
            <a:solidFill>
              <a:srgbClr val="FFD57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064537" y="5769776"/>
              <a:ext cx="1089025" cy="664845"/>
            </a:xfrm>
            <a:custGeom>
              <a:avLst/>
              <a:gdLst/>
              <a:ahLst/>
              <a:cxnLst/>
              <a:rect l="l" t="t" r="r" b="b"/>
              <a:pathLst>
                <a:path w="1089025" h="664845">
                  <a:moveTo>
                    <a:pt x="0" y="664375"/>
                  </a:moveTo>
                  <a:lnTo>
                    <a:pt x="544222" y="0"/>
                  </a:lnTo>
                  <a:lnTo>
                    <a:pt x="1088444" y="664375"/>
                  </a:lnTo>
                  <a:lnTo>
                    <a:pt x="0" y="664375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960553" y="4001128"/>
            <a:ext cx="4097431" cy="783851"/>
            <a:chOff x="4875693" y="4534611"/>
            <a:chExt cx="4643755" cy="888365"/>
          </a:xfrm>
        </p:grpSpPr>
        <p:sp>
          <p:nvSpPr>
            <p:cNvPr id="16" name="object 16"/>
            <p:cNvSpPr/>
            <p:nvPr/>
          </p:nvSpPr>
          <p:spPr>
            <a:xfrm>
              <a:off x="4880773" y="4576178"/>
              <a:ext cx="1463040" cy="838835"/>
            </a:xfrm>
            <a:custGeom>
              <a:avLst/>
              <a:gdLst/>
              <a:ahLst/>
              <a:cxnLst/>
              <a:rect l="l" t="t" r="r" b="b"/>
              <a:pathLst>
                <a:path w="1463039" h="838835">
                  <a:moveTo>
                    <a:pt x="0" y="0"/>
                  </a:moveTo>
                  <a:lnTo>
                    <a:pt x="1463039" y="0"/>
                  </a:lnTo>
                  <a:lnTo>
                    <a:pt x="1463039" y="838809"/>
                  </a:lnTo>
                  <a:lnTo>
                    <a:pt x="0" y="83880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8010" y="4660992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1285049" y="0"/>
                  </a:moveTo>
                  <a:lnTo>
                    <a:pt x="0" y="0"/>
                  </a:lnTo>
                  <a:lnTo>
                    <a:pt x="0" y="669905"/>
                  </a:lnTo>
                  <a:lnTo>
                    <a:pt x="1285049" y="669905"/>
                  </a:lnTo>
                  <a:lnTo>
                    <a:pt x="1285049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4968010" y="4660992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0" y="0"/>
                  </a:moveTo>
                  <a:lnTo>
                    <a:pt x="1285050" y="0"/>
                  </a:lnTo>
                  <a:lnTo>
                    <a:pt x="1285050" y="669906"/>
                  </a:lnTo>
                  <a:lnTo>
                    <a:pt x="0" y="669906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6851288" y="4539691"/>
              <a:ext cx="2157095" cy="878205"/>
            </a:xfrm>
            <a:custGeom>
              <a:avLst/>
              <a:gdLst/>
              <a:ahLst/>
              <a:cxnLst/>
              <a:rect l="l" t="t" r="r" b="b"/>
              <a:pathLst>
                <a:path w="2157095" h="878204">
                  <a:moveTo>
                    <a:pt x="0" y="438911"/>
                  </a:moveTo>
                  <a:lnTo>
                    <a:pt x="1078470" y="0"/>
                  </a:lnTo>
                  <a:lnTo>
                    <a:pt x="2156939" y="438911"/>
                  </a:lnTo>
                  <a:lnTo>
                    <a:pt x="1078470" y="877823"/>
                  </a:lnTo>
                  <a:lnTo>
                    <a:pt x="0" y="438911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7091593" y="464040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7091593" y="464040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6343813" y="4978602"/>
              <a:ext cx="508000" cy="17145"/>
            </a:xfrm>
            <a:custGeom>
              <a:avLst/>
              <a:gdLst/>
              <a:ahLst/>
              <a:cxnLst/>
              <a:rect l="l" t="t" r="r" b="b"/>
              <a:pathLst>
                <a:path w="508000" h="17145">
                  <a:moveTo>
                    <a:pt x="0" y="16980"/>
                  </a:moveTo>
                  <a:lnTo>
                    <a:pt x="507474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9008228" y="4925388"/>
              <a:ext cx="511809" cy="106680"/>
            </a:xfrm>
            <a:custGeom>
              <a:avLst/>
              <a:gdLst/>
              <a:ahLst/>
              <a:cxnLst/>
              <a:rect l="l" t="t" r="r" b="b"/>
              <a:pathLst>
                <a:path w="511809" h="106679">
                  <a:moveTo>
                    <a:pt x="419963" y="0"/>
                  </a:moveTo>
                  <a:lnTo>
                    <a:pt x="416853" y="819"/>
                  </a:lnTo>
                  <a:lnTo>
                    <a:pt x="414026" y="5665"/>
                  </a:lnTo>
                  <a:lnTo>
                    <a:pt x="414844" y="8775"/>
                  </a:lnTo>
                  <a:lnTo>
                    <a:pt x="482318" y="48135"/>
                  </a:lnTo>
                  <a:lnTo>
                    <a:pt x="501107" y="48135"/>
                  </a:lnTo>
                  <a:lnTo>
                    <a:pt x="501107" y="58295"/>
                  </a:lnTo>
                  <a:lnTo>
                    <a:pt x="482317" y="58295"/>
                  </a:lnTo>
                  <a:lnTo>
                    <a:pt x="414844" y="97654"/>
                  </a:lnTo>
                  <a:lnTo>
                    <a:pt x="414026" y="100764"/>
                  </a:lnTo>
                  <a:lnTo>
                    <a:pt x="416853" y="105611"/>
                  </a:lnTo>
                  <a:lnTo>
                    <a:pt x="419963" y="106429"/>
                  </a:lnTo>
                  <a:lnTo>
                    <a:pt x="502481" y="58295"/>
                  </a:lnTo>
                  <a:lnTo>
                    <a:pt x="501107" y="58295"/>
                  </a:lnTo>
                  <a:lnTo>
                    <a:pt x="502483" y="58294"/>
                  </a:lnTo>
                  <a:lnTo>
                    <a:pt x="511190" y="53215"/>
                  </a:lnTo>
                  <a:lnTo>
                    <a:pt x="419963" y="0"/>
                  </a:lnTo>
                  <a:close/>
                </a:path>
                <a:path w="511809" h="106679">
                  <a:moveTo>
                    <a:pt x="491026" y="53215"/>
                  </a:moveTo>
                  <a:lnTo>
                    <a:pt x="482317" y="58295"/>
                  </a:lnTo>
                  <a:lnTo>
                    <a:pt x="501107" y="58295"/>
                  </a:lnTo>
                  <a:lnTo>
                    <a:pt x="501107" y="57603"/>
                  </a:lnTo>
                  <a:lnTo>
                    <a:pt x="498548" y="57603"/>
                  </a:lnTo>
                  <a:lnTo>
                    <a:pt x="491026" y="53215"/>
                  </a:lnTo>
                  <a:close/>
                </a:path>
                <a:path w="511809" h="106679">
                  <a:moveTo>
                    <a:pt x="0" y="48134"/>
                  </a:moveTo>
                  <a:lnTo>
                    <a:pt x="0" y="58294"/>
                  </a:lnTo>
                  <a:lnTo>
                    <a:pt x="482319" y="58294"/>
                  </a:lnTo>
                  <a:lnTo>
                    <a:pt x="491026" y="53215"/>
                  </a:lnTo>
                  <a:lnTo>
                    <a:pt x="482318" y="48135"/>
                  </a:lnTo>
                  <a:lnTo>
                    <a:pt x="0" y="48134"/>
                  </a:lnTo>
                  <a:close/>
                </a:path>
                <a:path w="511809" h="106679">
                  <a:moveTo>
                    <a:pt x="498548" y="48827"/>
                  </a:moveTo>
                  <a:lnTo>
                    <a:pt x="491026" y="53215"/>
                  </a:lnTo>
                  <a:lnTo>
                    <a:pt x="498548" y="57603"/>
                  </a:lnTo>
                  <a:lnTo>
                    <a:pt x="498548" y="48827"/>
                  </a:lnTo>
                  <a:close/>
                </a:path>
                <a:path w="511809" h="106679">
                  <a:moveTo>
                    <a:pt x="501107" y="48827"/>
                  </a:moveTo>
                  <a:lnTo>
                    <a:pt x="498548" y="48827"/>
                  </a:lnTo>
                  <a:lnTo>
                    <a:pt x="498548" y="57603"/>
                  </a:lnTo>
                  <a:lnTo>
                    <a:pt x="501107" y="57603"/>
                  </a:lnTo>
                  <a:lnTo>
                    <a:pt x="501107" y="48827"/>
                  </a:lnTo>
                  <a:close/>
                </a:path>
                <a:path w="511809" h="106679">
                  <a:moveTo>
                    <a:pt x="482318" y="48135"/>
                  </a:moveTo>
                  <a:lnTo>
                    <a:pt x="491026" y="53215"/>
                  </a:lnTo>
                  <a:lnTo>
                    <a:pt x="498548" y="48827"/>
                  </a:lnTo>
                  <a:lnTo>
                    <a:pt x="501107" y="48827"/>
                  </a:lnTo>
                  <a:lnTo>
                    <a:pt x="501107" y="48135"/>
                  </a:lnTo>
                  <a:lnTo>
                    <a:pt x="482318" y="48135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26355" y="5334897"/>
            <a:ext cx="356347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292934"/>
                </a:solidFill>
                <a:latin typeface="Arial MT"/>
                <a:cs typeface="Arial MT"/>
              </a:rPr>
              <a:t>is </a:t>
            </a:r>
            <a:r>
              <a:rPr sz="1677" spc="-53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92921" y="1369807"/>
            <a:ext cx="2228290" cy="19439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(strong)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853">
              <a:latin typeface="Verdana"/>
              <a:cs typeface="Verdana"/>
            </a:endParaRPr>
          </a:p>
          <a:p>
            <a:pPr marL="11206" marR="755317">
              <a:lnSpc>
                <a:spcPct val="309500"/>
              </a:lnSpc>
              <a:spcBef>
                <a:spcPts val="446"/>
              </a:spcBef>
            </a:pP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Attribute Relationship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92920" y="4260924"/>
            <a:ext cx="144331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92921" y="5325931"/>
            <a:ext cx="1065119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Subclass</a:t>
            </a:r>
            <a:endParaRPr sz="1853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054867" y="2055646"/>
            <a:ext cx="8090087" cy="1814792"/>
            <a:chOff x="449249" y="2329732"/>
            <a:chExt cx="9168765" cy="2056764"/>
          </a:xfrm>
        </p:grpSpPr>
        <p:sp>
          <p:nvSpPr>
            <p:cNvPr id="29" name="object 29"/>
            <p:cNvSpPr/>
            <p:nvPr/>
          </p:nvSpPr>
          <p:spPr>
            <a:xfrm>
              <a:off x="449249" y="2334812"/>
              <a:ext cx="9168765" cy="0"/>
            </a:xfrm>
            <a:custGeom>
              <a:avLst/>
              <a:gdLst/>
              <a:ahLst/>
              <a:cxnLst/>
              <a:rect l="l" t="t" r="r" b="b"/>
              <a:pathLst>
                <a:path w="9168765">
                  <a:moveTo>
                    <a:pt x="0" y="0"/>
                  </a:moveTo>
                  <a:lnTo>
                    <a:pt x="9168383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449249" y="3317239"/>
              <a:ext cx="9168765" cy="0"/>
            </a:xfrm>
            <a:custGeom>
              <a:avLst/>
              <a:gdLst/>
              <a:ahLst/>
              <a:cxnLst/>
              <a:rect l="l" t="t" r="r" b="b"/>
              <a:pathLst>
                <a:path w="9168765">
                  <a:moveTo>
                    <a:pt x="0" y="0"/>
                  </a:moveTo>
                  <a:lnTo>
                    <a:pt x="9168383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449249" y="4380947"/>
              <a:ext cx="9168765" cy="0"/>
            </a:xfrm>
            <a:custGeom>
              <a:avLst/>
              <a:gdLst/>
              <a:ahLst/>
              <a:cxnLst/>
              <a:rect l="l" t="t" r="r" b="b"/>
              <a:pathLst>
                <a:path w="9168765">
                  <a:moveTo>
                    <a:pt x="0" y="0"/>
                  </a:moveTo>
                  <a:lnTo>
                    <a:pt x="9168383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2" name="object 32"/>
          <p:cNvSpPr/>
          <p:nvPr/>
        </p:nvSpPr>
        <p:spPr>
          <a:xfrm>
            <a:off x="2054867" y="4956896"/>
            <a:ext cx="8090087" cy="0"/>
          </a:xfrm>
          <a:custGeom>
            <a:avLst/>
            <a:gdLst/>
            <a:ahLst/>
            <a:cxnLst/>
            <a:rect l="l" t="t" r="r" b="b"/>
            <a:pathLst>
              <a:path w="9168765">
                <a:moveTo>
                  <a:pt x="0" y="0"/>
                </a:moveTo>
                <a:lnTo>
                  <a:pt x="9168383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object 33"/>
          <p:cNvSpPr txBox="1"/>
          <p:nvPr/>
        </p:nvSpPr>
        <p:spPr>
          <a:xfrm>
            <a:off x="1978519" y="6184750"/>
            <a:ext cx="630555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colors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1147" spc="-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Diagram.</a:t>
            </a:r>
            <a:r>
              <a:rPr sz="1147" spc="-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simply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increase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readability.</a:t>
            </a:r>
            <a:endParaRPr sz="1147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6941" y="237597"/>
            <a:ext cx="5573806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06" dirty="0">
                <a:solidFill>
                  <a:srgbClr val="292934"/>
                </a:solidFill>
              </a:rPr>
              <a:t>Entity</a:t>
            </a:r>
            <a:r>
              <a:rPr spc="-216" dirty="0">
                <a:solidFill>
                  <a:srgbClr val="292934"/>
                </a:solidFill>
              </a:rPr>
              <a:t> </a:t>
            </a:r>
            <a:r>
              <a:rPr spc="-97" dirty="0">
                <a:solidFill>
                  <a:srgbClr val="292934"/>
                </a:solidFill>
              </a:rPr>
              <a:t>and</a:t>
            </a:r>
            <a:r>
              <a:rPr spc="-216" dirty="0">
                <a:solidFill>
                  <a:srgbClr val="292934"/>
                </a:solidFill>
              </a:rPr>
              <a:t> </a:t>
            </a:r>
            <a:r>
              <a:rPr spc="-106" dirty="0">
                <a:solidFill>
                  <a:srgbClr val="292934"/>
                </a:solidFill>
              </a:rPr>
              <a:t>Entity</a:t>
            </a:r>
            <a:r>
              <a:rPr spc="-212" dirty="0">
                <a:solidFill>
                  <a:srgbClr val="292934"/>
                </a:solidFill>
              </a:rPr>
              <a:t> </a:t>
            </a:r>
            <a:r>
              <a:rPr spc="-26" dirty="0">
                <a:solidFill>
                  <a:srgbClr val="292934"/>
                </a:solidFill>
              </a:rPr>
              <a:t>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4778" y="943983"/>
            <a:ext cx="8073278" cy="1194414"/>
          </a:xfrm>
          <a:prstGeom prst="rect">
            <a:avLst/>
          </a:prstGeom>
        </p:spPr>
        <p:txBody>
          <a:bodyPr vert="horz" wrap="square" lIns="0" tIns="137272" rIns="0" bIns="0" rtlCol="0">
            <a:spAutoFit/>
          </a:bodyPr>
          <a:lstStyle/>
          <a:p>
            <a:pPr marL="181545" indent="-170338">
              <a:spcBef>
                <a:spcPts val="1081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181545" algn="l"/>
              </a:tabLst>
            </a:pPr>
            <a:r>
              <a:rPr sz="2030" b="1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2030" b="1" spc="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~an</a:t>
            </a:r>
            <a:r>
              <a:rPr sz="2030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object</a:t>
            </a:r>
            <a:r>
              <a:rPr sz="203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(thing</a:t>
            </a:r>
            <a:r>
              <a:rPr sz="2030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30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keep</a:t>
            </a:r>
            <a:r>
              <a:rPr sz="2030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track</a:t>
            </a:r>
            <a:r>
              <a:rPr sz="2030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run</a:t>
            </a:r>
            <a:r>
              <a:rPr sz="2030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business)</a:t>
            </a:r>
            <a:endParaRPr sz="2030">
              <a:latin typeface="Verdana"/>
              <a:cs typeface="Verdana"/>
            </a:endParaRPr>
          </a:p>
          <a:p>
            <a:pPr marL="180984" marR="412398" indent="-170338">
              <a:lnSpc>
                <a:spcPct val="105200"/>
              </a:lnSpc>
              <a:spcBef>
                <a:spcPts val="869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183226" algn="l"/>
              </a:tabLst>
            </a:pPr>
            <a:r>
              <a:rPr sz="2030" b="1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2030" b="1" spc="6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b="1" dirty="0">
                <a:solidFill>
                  <a:srgbClr val="C00000"/>
                </a:solidFill>
                <a:latin typeface="Verdana"/>
                <a:cs typeface="Verdana"/>
              </a:rPr>
              <a:t>set</a:t>
            </a:r>
            <a:r>
              <a:rPr sz="2030" b="1" spc="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~a</a:t>
            </a:r>
            <a:r>
              <a:rPr sz="203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class</a:t>
            </a:r>
            <a:r>
              <a:rPr sz="2030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(~table,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30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collection</a:t>
            </a:r>
            <a:r>
              <a:rPr sz="2030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things</a:t>
            </a:r>
            <a:r>
              <a:rPr sz="2030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the 	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2030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kind)</a:t>
            </a:r>
            <a:endParaRPr sz="203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80683" y="3273193"/>
            <a:ext cx="2731994" cy="1656790"/>
            <a:chOff x="931841" y="3709618"/>
            <a:chExt cx="3096260" cy="18776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000" y="3719778"/>
              <a:ext cx="3075585" cy="18569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36921" y="3714698"/>
              <a:ext cx="3086100" cy="1867535"/>
            </a:xfrm>
            <a:custGeom>
              <a:avLst/>
              <a:gdLst/>
              <a:ahLst/>
              <a:cxnLst/>
              <a:rect l="l" t="t" r="r" b="b"/>
              <a:pathLst>
                <a:path w="3086100" h="1867535">
                  <a:moveTo>
                    <a:pt x="0" y="0"/>
                  </a:moveTo>
                  <a:lnTo>
                    <a:pt x="3085745" y="0"/>
                  </a:lnTo>
                  <a:lnTo>
                    <a:pt x="3085745" y="1867063"/>
                  </a:lnTo>
                  <a:lnTo>
                    <a:pt x="0" y="1867063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000066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016711" y="5334908"/>
            <a:ext cx="1146922" cy="499222"/>
            <a:chOff x="406005" y="6046229"/>
            <a:chExt cx="1299845" cy="565785"/>
          </a:xfrm>
        </p:grpSpPr>
        <p:sp>
          <p:nvSpPr>
            <p:cNvPr id="8" name="object 8"/>
            <p:cNvSpPr/>
            <p:nvPr/>
          </p:nvSpPr>
          <p:spPr>
            <a:xfrm>
              <a:off x="411085" y="605130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2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2" y="555320"/>
                  </a:lnTo>
                  <a:lnTo>
                    <a:pt x="1289312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11085" y="605130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71013" y="5456815"/>
            <a:ext cx="63817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Course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73120" y="5007160"/>
            <a:ext cx="1146922" cy="499222"/>
            <a:chOff x="1376602" y="5674781"/>
            <a:chExt cx="1299845" cy="565785"/>
          </a:xfrm>
        </p:grpSpPr>
        <p:sp>
          <p:nvSpPr>
            <p:cNvPr id="12" name="object 12"/>
            <p:cNvSpPr/>
            <p:nvPr/>
          </p:nvSpPr>
          <p:spPr>
            <a:xfrm>
              <a:off x="1381682" y="567986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1"/>
                  </a:lnTo>
                  <a:lnTo>
                    <a:pt x="1289311" y="555321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1381682" y="567986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05758" y="5131397"/>
            <a:ext cx="68075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Student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22168" y="5381849"/>
            <a:ext cx="1146922" cy="499222"/>
            <a:chOff x="2338857" y="6099428"/>
            <a:chExt cx="1299845" cy="565785"/>
          </a:xfrm>
        </p:grpSpPr>
        <p:sp>
          <p:nvSpPr>
            <p:cNvPr id="16" name="object 16"/>
            <p:cNvSpPr/>
            <p:nvPr/>
          </p:nvSpPr>
          <p:spPr>
            <a:xfrm>
              <a:off x="2343937" y="6104508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2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2" y="555320"/>
                  </a:lnTo>
                  <a:lnTo>
                    <a:pt x="1289312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2343937" y="6104508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76471" y="5505225"/>
            <a:ext cx="63817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Faculty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19134" y="4990890"/>
            <a:ext cx="1146922" cy="499222"/>
            <a:chOff x="3128751" y="5656341"/>
            <a:chExt cx="1299845" cy="565785"/>
          </a:xfrm>
        </p:grpSpPr>
        <p:sp>
          <p:nvSpPr>
            <p:cNvPr id="20" name="object 20"/>
            <p:cNvSpPr/>
            <p:nvPr/>
          </p:nvSpPr>
          <p:spPr>
            <a:xfrm>
              <a:off x="3133831" y="566142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3133831" y="566142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642806" y="5112572"/>
            <a:ext cx="69924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Building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29151" y="2869602"/>
            <a:ext cx="2110628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03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03809" y="2869602"/>
            <a:ext cx="1276350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examples</a:t>
            </a:r>
            <a:endParaRPr sz="203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936821" y="2683930"/>
            <a:ext cx="8329893" cy="0"/>
          </a:xfrm>
          <a:custGeom>
            <a:avLst/>
            <a:gdLst/>
            <a:ahLst/>
            <a:cxnLst/>
            <a:rect l="l" t="t" r="r" b="b"/>
            <a:pathLst>
              <a:path w="9440545">
                <a:moveTo>
                  <a:pt x="0" y="0"/>
                </a:moveTo>
                <a:lnTo>
                  <a:pt x="9440479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26" name="object 26"/>
          <p:cNvGrpSpPr/>
          <p:nvPr/>
        </p:nvGrpSpPr>
        <p:grpSpPr>
          <a:xfrm>
            <a:off x="6252271" y="3060827"/>
            <a:ext cx="3568513" cy="2823882"/>
            <a:chOff x="5206307" y="3468937"/>
            <a:chExt cx="4044315" cy="320040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8828" y="3468937"/>
              <a:ext cx="3901440" cy="247904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211387" y="610867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5211387" y="610867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517032" y="5507914"/>
            <a:ext cx="61632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Patient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176178" y="5057782"/>
            <a:ext cx="1146922" cy="499222"/>
            <a:chOff x="6253401" y="5732152"/>
            <a:chExt cx="1299845" cy="565785"/>
          </a:xfrm>
        </p:grpSpPr>
        <p:sp>
          <p:nvSpPr>
            <p:cNvPr id="32" name="object 32"/>
            <p:cNvSpPr/>
            <p:nvPr/>
          </p:nvSpPr>
          <p:spPr>
            <a:xfrm>
              <a:off x="6258481" y="573723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6258481" y="573723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456626" y="5179807"/>
            <a:ext cx="58494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Doctor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042100" y="5432471"/>
            <a:ext cx="1146922" cy="499222"/>
            <a:chOff x="7234780" y="6156800"/>
            <a:chExt cx="1299845" cy="565785"/>
          </a:xfrm>
        </p:grpSpPr>
        <p:sp>
          <p:nvSpPr>
            <p:cNvPr id="36" name="object 36"/>
            <p:cNvSpPr/>
            <p:nvPr/>
          </p:nvSpPr>
          <p:spPr>
            <a:xfrm>
              <a:off x="7239860" y="6161880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7239860" y="6161880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349444" y="5556324"/>
            <a:ext cx="53227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Nurse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806563" y="5041511"/>
            <a:ext cx="1146922" cy="499222"/>
            <a:chOff x="8101171" y="5713712"/>
            <a:chExt cx="1299845" cy="565785"/>
          </a:xfrm>
        </p:grpSpPr>
        <p:sp>
          <p:nvSpPr>
            <p:cNvPr id="40" name="object 40"/>
            <p:cNvSpPr/>
            <p:nvPr/>
          </p:nvSpPr>
          <p:spPr>
            <a:xfrm>
              <a:off x="8106251" y="571879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1289312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2" y="555320"/>
                  </a:lnTo>
                  <a:lnTo>
                    <a:pt x="1289312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8106251" y="571879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935927" y="5163670"/>
            <a:ext cx="88750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Treatment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CE5C57F-BC42-36E8-9196-3A241D831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0243"/>
          <a:stretch/>
        </p:blipFill>
        <p:spPr>
          <a:xfrm>
            <a:off x="577637" y="424330"/>
            <a:ext cx="11036726" cy="5869478"/>
          </a:xfrm>
          <a:custGeom>
            <a:avLst/>
            <a:gdLst/>
            <a:ahLst/>
            <a:cxnLst/>
            <a:rect l="l" t="t" r="r" b="b"/>
            <a:pathLst>
              <a:path w="10630858" h="5869478">
                <a:moveTo>
                  <a:pt x="5791061" y="218"/>
                </a:moveTo>
                <a:cubicBezTo>
                  <a:pt x="5877327" y="-560"/>
                  <a:pt x="5971399" y="626"/>
                  <a:pt x="6073275" y="5793"/>
                </a:cubicBezTo>
                <a:cubicBezTo>
                  <a:pt x="6098744" y="7086"/>
                  <a:pt x="6121786" y="8165"/>
                  <a:pt x="6142651" y="9057"/>
                </a:cubicBezTo>
                <a:lnTo>
                  <a:pt x="6164185" y="9874"/>
                </a:lnTo>
                <a:lnTo>
                  <a:pt x="6258731" y="5793"/>
                </a:lnTo>
                <a:lnTo>
                  <a:pt x="6319194" y="2002"/>
                </a:lnTo>
                <a:lnTo>
                  <a:pt x="6413049" y="11772"/>
                </a:lnTo>
                <a:cubicBezTo>
                  <a:pt x="6592720" y="42783"/>
                  <a:pt x="6774188" y="66100"/>
                  <a:pt x="6956654" y="46745"/>
                </a:cubicBezTo>
                <a:cubicBezTo>
                  <a:pt x="7082424" y="33223"/>
                  <a:pt x="7207994" y="25294"/>
                  <a:pt x="7334364" y="25763"/>
                </a:cubicBezTo>
                <a:cubicBezTo>
                  <a:pt x="7624835" y="25763"/>
                  <a:pt x="7915502" y="28559"/>
                  <a:pt x="8205974" y="22730"/>
                </a:cubicBezTo>
                <a:cubicBezTo>
                  <a:pt x="8464499" y="17601"/>
                  <a:pt x="8722029" y="6412"/>
                  <a:pt x="8980756" y="34620"/>
                </a:cubicBezTo>
                <a:cubicBezTo>
                  <a:pt x="9362658" y="76124"/>
                  <a:pt x="9746556" y="62832"/>
                  <a:pt x="10129655" y="57937"/>
                </a:cubicBezTo>
                <a:lnTo>
                  <a:pt x="10163726" y="56766"/>
                </a:lnTo>
                <a:lnTo>
                  <a:pt x="10254950" y="73131"/>
                </a:lnTo>
                <a:lnTo>
                  <a:pt x="10311819" y="101928"/>
                </a:lnTo>
                <a:cubicBezTo>
                  <a:pt x="10479504" y="200737"/>
                  <a:pt x="10591476" y="367254"/>
                  <a:pt x="10625532" y="561669"/>
                </a:cubicBezTo>
                <a:lnTo>
                  <a:pt x="10626834" y="578090"/>
                </a:lnTo>
                <a:lnTo>
                  <a:pt x="10611964" y="734537"/>
                </a:lnTo>
                <a:cubicBezTo>
                  <a:pt x="10602387" y="823467"/>
                  <a:pt x="10587763" y="913306"/>
                  <a:pt x="10611964" y="1001326"/>
                </a:cubicBezTo>
                <a:cubicBezTo>
                  <a:pt x="10628543" y="1062669"/>
                  <a:pt x="10632231" y="1127783"/>
                  <a:pt x="10622705" y="1191154"/>
                </a:cubicBezTo>
                <a:cubicBezTo>
                  <a:pt x="10606645" y="1303627"/>
                  <a:pt x="10603293" y="1418084"/>
                  <a:pt x="10612740" y="1531572"/>
                </a:cubicBezTo>
                <a:cubicBezTo>
                  <a:pt x="10618978" y="1606398"/>
                  <a:pt x="10618020" y="1681815"/>
                  <a:pt x="10609893" y="1756397"/>
                </a:cubicBezTo>
                <a:cubicBezTo>
                  <a:pt x="10599152" y="1856690"/>
                  <a:pt x="10582457" y="1958800"/>
                  <a:pt x="10602776" y="2059394"/>
                </a:cubicBezTo>
                <a:cubicBezTo>
                  <a:pt x="10635130" y="2219226"/>
                  <a:pt x="10628659" y="2378906"/>
                  <a:pt x="10615717" y="2539949"/>
                </a:cubicBezTo>
                <a:cubicBezTo>
                  <a:pt x="10606011" y="2659785"/>
                  <a:pt x="10595269" y="2780984"/>
                  <a:pt x="10614682" y="2902183"/>
                </a:cubicBezTo>
                <a:cubicBezTo>
                  <a:pt x="10623029" y="2958418"/>
                  <a:pt x="10623029" y="3015928"/>
                  <a:pt x="10614682" y="3072165"/>
                </a:cubicBezTo>
                <a:cubicBezTo>
                  <a:pt x="10604587" y="3147914"/>
                  <a:pt x="10595010" y="3222907"/>
                  <a:pt x="10607952" y="3299413"/>
                </a:cubicBezTo>
                <a:cubicBezTo>
                  <a:pt x="10613646" y="3332743"/>
                  <a:pt x="10617917" y="3366376"/>
                  <a:pt x="10620894" y="3400009"/>
                </a:cubicBezTo>
                <a:cubicBezTo>
                  <a:pt x="10626822" y="3485877"/>
                  <a:pt x="10624699" y="3572233"/>
                  <a:pt x="10614553" y="3657556"/>
                </a:cubicBezTo>
                <a:cubicBezTo>
                  <a:pt x="10604846" y="3756637"/>
                  <a:pt x="10620635" y="3856323"/>
                  <a:pt x="10607694" y="3955100"/>
                </a:cubicBezTo>
                <a:cubicBezTo>
                  <a:pt x="10598504" y="4034653"/>
                  <a:pt x="10598155" y="4115265"/>
                  <a:pt x="10606658" y="4194923"/>
                </a:cubicBezTo>
                <a:cubicBezTo>
                  <a:pt x="10621954" y="4345512"/>
                  <a:pt x="10620998" y="4497755"/>
                  <a:pt x="10603811" y="4648057"/>
                </a:cubicBezTo>
                <a:cubicBezTo>
                  <a:pt x="10593198" y="4735775"/>
                  <a:pt x="10587116" y="4826067"/>
                  <a:pt x="10606140" y="4912119"/>
                </a:cubicBezTo>
                <a:cubicBezTo>
                  <a:pt x="10628530" y="5013245"/>
                  <a:pt x="10633189" y="5114446"/>
                  <a:pt x="10629921" y="5215515"/>
                </a:cubicBezTo>
                <a:lnTo>
                  <a:pt x="10625356" y="5273604"/>
                </a:lnTo>
                <a:lnTo>
                  <a:pt x="10624284" y="5284086"/>
                </a:lnTo>
                <a:cubicBezTo>
                  <a:pt x="10601148" y="5404993"/>
                  <a:pt x="10545219" y="5529874"/>
                  <a:pt x="10458692" y="5632218"/>
                </a:cubicBezTo>
                <a:lnTo>
                  <a:pt x="10418904" y="5670857"/>
                </a:lnTo>
                <a:lnTo>
                  <a:pt x="10417064" y="5673484"/>
                </a:lnTo>
                <a:cubicBezTo>
                  <a:pt x="10307992" y="5802550"/>
                  <a:pt x="10158402" y="5877799"/>
                  <a:pt x="9954609" y="5858572"/>
                </a:cubicBezTo>
                <a:cubicBezTo>
                  <a:pt x="9860355" y="5870096"/>
                  <a:pt x="9750551" y="5855439"/>
                  <a:pt x="9657171" y="5854061"/>
                </a:cubicBezTo>
                <a:lnTo>
                  <a:pt x="9612467" y="5856387"/>
                </a:lnTo>
                <a:lnTo>
                  <a:pt x="9279984" y="5838331"/>
                </a:lnTo>
                <a:cubicBezTo>
                  <a:pt x="9153141" y="5834280"/>
                  <a:pt x="9026273" y="5834164"/>
                  <a:pt x="8899305" y="5841275"/>
                </a:cubicBezTo>
                <a:cubicBezTo>
                  <a:pt x="8761407" y="5850940"/>
                  <a:pt x="8623304" y="5854733"/>
                  <a:pt x="8485266" y="5852671"/>
                </a:cubicBezTo>
                <a:lnTo>
                  <a:pt x="8314842" y="5842884"/>
                </a:lnTo>
                <a:lnTo>
                  <a:pt x="8193631" y="5825368"/>
                </a:lnTo>
                <a:lnTo>
                  <a:pt x="8029897" y="5818284"/>
                </a:lnTo>
                <a:lnTo>
                  <a:pt x="8028296" y="5817260"/>
                </a:lnTo>
                <a:lnTo>
                  <a:pt x="8008332" y="5817260"/>
                </a:lnTo>
                <a:lnTo>
                  <a:pt x="8006732" y="5818114"/>
                </a:lnTo>
                <a:lnTo>
                  <a:pt x="7839115" y="5825368"/>
                </a:lnTo>
                <a:lnTo>
                  <a:pt x="7801585" y="5830791"/>
                </a:lnTo>
                <a:lnTo>
                  <a:pt x="7734233" y="5834980"/>
                </a:lnTo>
                <a:lnTo>
                  <a:pt x="7482820" y="5855530"/>
                </a:lnTo>
                <a:lnTo>
                  <a:pt x="7445741" y="5854102"/>
                </a:lnTo>
                <a:lnTo>
                  <a:pt x="7403701" y="5858035"/>
                </a:lnTo>
                <a:lnTo>
                  <a:pt x="7155292" y="5854564"/>
                </a:lnTo>
                <a:cubicBezTo>
                  <a:pt x="6874805" y="5835913"/>
                  <a:pt x="6593917" y="5824488"/>
                  <a:pt x="6312830" y="5849900"/>
                </a:cubicBezTo>
                <a:lnTo>
                  <a:pt x="6232577" y="5855788"/>
                </a:lnTo>
                <a:lnTo>
                  <a:pt x="6231985" y="5855764"/>
                </a:lnTo>
                <a:lnTo>
                  <a:pt x="6166003" y="5858572"/>
                </a:lnTo>
                <a:cubicBezTo>
                  <a:pt x="6100624" y="5861901"/>
                  <a:pt x="6043822" y="5864887"/>
                  <a:pt x="5993271" y="5866513"/>
                </a:cubicBezTo>
                <a:lnTo>
                  <a:pt x="5925657" y="5866398"/>
                </a:lnTo>
                <a:lnTo>
                  <a:pt x="5833706" y="5859695"/>
                </a:lnTo>
                <a:cubicBezTo>
                  <a:pt x="5697214" y="5841788"/>
                  <a:pt x="5559607" y="5838897"/>
                  <a:pt x="5422657" y="5851067"/>
                </a:cubicBezTo>
                <a:lnTo>
                  <a:pt x="5250035" y="5858044"/>
                </a:lnTo>
                <a:lnTo>
                  <a:pt x="5151093" y="5858278"/>
                </a:lnTo>
                <a:lnTo>
                  <a:pt x="4972680" y="5851067"/>
                </a:lnTo>
                <a:cubicBezTo>
                  <a:pt x="4829141" y="5841741"/>
                  <a:pt x="4685204" y="5826120"/>
                  <a:pt x="4542066" y="5842905"/>
                </a:cubicBezTo>
                <a:cubicBezTo>
                  <a:pt x="4491758" y="5848734"/>
                  <a:pt x="4441488" y="5852626"/>
                  <a:pt x="4391242" y="5854962"/>
                </a:cubicBezTo>
                <a:lnTo>
                  <a:pt x="4246482" y="5857576"/>
                </a:lnTo>
                <a:lnTo>
                  <a:pt x="4221030" y="5856572"/>
                </a:lnTo>
                <a:lnTo>
                  <a:pt x="4218005" y="5856681"/>
                </a:lnTo>
                <a:lnTo>
                  <a:pt x="3939367" y="5844305"/>
                </a:lnTo>
                <a:cubicBezTo>
                  <a:pt x="3773470" y="5832648"/>
                  <a:pt x="3606974" y="5815626"/>
                  <a:pt x="3441875" y="5843140"/>
                </a:cubicBezTo>
                <a:cubicBezTo>
                  <a:pt x="3386806" y="5851400"/>
                  <a:pt x="3331601" y="5858126"/>
                  <a:pt x="3276306" y="5863318"/>
                </a:cubicBezTo>
                <a:lnTo>
                  <a:pt x="3225006" y="5866706"/>
                </a:lnTo>
                <a:lnTo>
                  <a:pt x="3194056" y="5866407"/>
                </a:lnTo>
                <a:lnTo>
                  <a:pt x="3082891" y="5863061"/>
                </a:lnTo>
                <a:lnTo>
                  <a:pt x="3013959" y="5869302"/>
                </a:lnTo>
                <a:cubicBezTo>
                  <a:pt x="2910698" y="5871464"/>
                  <a:pt x="2845426" y="5852913"/>
                  <a:pt x="2748311" y="5858572"/>
                </a:cubicBezTo>
                <a:cubicBezTo>
                  <a:pt x="2736171" y="5859279"/>
                  <a:pt x="2721419" y="5860082"/>
                  <a:pt x="2704411" y="5860936"/>
                </a:cubicBezTo>
                <a:lnTo>
                  <a:pt x="2650475" y="5863440"/>
                </a:lnTo>
                <a:lnTo>
                  <a:pt x="2436349" y="5854816"/>
                </a:lnTo>
                <a:cubicBezTo>
                  <a:pt x="2095150" y="5845165"/>
                  <a:pt x="1753811" y="5845122"/>
                  <a:pt x="1412584" y="5830782"/>
                </a:cubicBezTo>
                <a:cubicBezTo>
                  <a:pt x="1262458" y="5824256"/>
                  <a:pt x="1113131" y="5859227"/>
                  <a:pt x="963404" y="5861093"/>
                </a:cubicBezTo>
                <a:cubicBezTo>
                  <a:pt x="896140" y="5861967"/>
                  <a:pt x="828812" y="5861342"/>
                  <a:pt x="761431" y="5859896"/>
                </a:cubicBezTo>
                <a:lnTo>
                  <a:pt x="637698" y="5856158"/>
                </a:lnTo>
                <a:lnTo>
                  <a:pt x="592997" y="5853711"/>
                </a:lnTo>
                <a:cubicBezTo>
                  <a:pt x="391136" y="5830428"/>
                  <a:pt x="227663" y="5724844"/>
                  <a:pt x="123577" y="5564333"/>
                </a:cubicBezTo>
                <a:lnTo>
                  <a:pt x="99502" y="5518240"/>
                </a:lnTo>
                <a:lnTo>
                  <a:pt x="95609" y="5512764"/>
                </a:lnTo>
                <a:lnTo>
                  <a:pt x="86221" y="5492812"/>
                </a:lnTo>
                <a:lnTo>
                  <a:pt x="61763" y="5445986"/>
                </a:lnTo>
                <a:lnTo>
                  <a:pt x="56991" y="5430695"/>
                </a:lnTo>
                <a:lnTo>
                  <a:pt x="41922" y="5398673"/>
                </a:lnTo>
                <a:lnTo>
                  <a:pt x="25760" y="5339273"/>
                </a:lnTo>
                <a:lnTo>
                  <a:pt x="16811" y="5271956"/>
                </a:lnTo>
                <a:cubicBezTo>
                  <a:pt x="9305" y="5238090"/>
                  <a:pt x="4710" y="5203585"/>
                  <a:pt x="3092" y="5168860"/>
                </a:cubicBezTo>
                <a:cubicBezTo>
                  <a:pt x="-7132" y="5042101"/>
                  <a:pt x="10081" y="4917108"/>
                  <a:pt x="24446" y="4791844"/>
                </a:cubicBezTo>
                <a:cubicBezTo>
                  <a:pt x="34023" y="4712006"/>
                  <a:pt x="48647" y="4631352"/>
                  <a:pt x="24446" y="4552331"/>
                </a:cubicBezTo>
                <a:cubicBezTo>
                  <a:pt x="7867" y="4497261"/>
                  <a:pt x="4180" y="4438805"/>
                  <a:pt x="13705" y="4381912"/>
                </a:cubicBezTo>
                <a:cubicBezTo>
                  <a:pt x="29766" y="4280940"/>
                  <a:pt x="33117" y="4178184"/>
                  <a:pt x="23670" y="4076300"/>
                </a:cubicBezTo>
                <a:cubicBezTo>
                  <a:pt x="17432" y="4009125"/>
                  <a:pt x="18390" y="3941419"/>
                  <a:pt x="26517" y="3874462"/>
                </a:cubicBezTo>
                <a:cubicBezTo>
                  <a:pt x="37258" y="3784423"/>
                  <a:pt x="53954" y="3692752"/>
                  <a:pt x="33635" y="3602444"/>
                </a:cubicBezTo>
                <a:cubicBezTo>
                  <a:pt x="1280" y="3458954"/>
                  <a:pt x="7751" y="3315599"/>
                  <a:pt x="20694" y="3171022"/>
                </a:cubicBezTo>
                <a:cubicBezTo>
                  <a:pt x="30400" y="3063439"/>
                  <a:pt x="41141" y="2954632"/>
                  <a:pt x="21728" y="2845824"/>
                </a:cubicBezTo>
                <a:cubicBezTo>
                  <a:pt x="13381" y="2795337"/>
                  <a:pt x="13381" y="2743709"/>
                  <a:pt x="21728" y="2693221"/>
                </a:cubicBezTo>
                <a:cubicBezTo>
                  <a:pt x="31823" y="2625218"/>
                  <a:pt x="41400" y="2557892"/>
                  <a:pt x="28458" y="2489208"/>
                </a:cubicBezTo>
                <a:cubicBezTo>
                  <a:pt x="22764" y="2459285"/>
                  <a:pt x="18493" y="2429092"/>
                  <a:pt x="15516" y="2398898"/>
                </a:cubicBezTo>
                <a:cubicBezTo>
                  <a:pt x="9589" y="2321809"/>
                  <a:pt x="11711" y="2244283"/>
                  <a:pt x="21857" y="2167683"/>
                </a:cubicBezTo>
                <a:cubicBezTo>
                  <a:pt x="31564" y="2078733"/>
                  <a:pt x="15776" y="1989238"/>
                  <a:pt x="28717" y="1900560"/>
                </a:cubicBezTo>
                <a:cubicBezTo>
                  <a:pt x="37907" y="1829142"/>
                  <a:pt x="38255" y="1756772"/>
                  <a:pt x="29752" y="1685258"/>
                </a:cubicBezTo>
                <a:cubicBezTo>
                  <a:pt x="14456" y="1550065"/>
                  <a:pt x="15412" y="1413389"/>
                  <a:pt x="32599" y="1278454"/>
                </a:cubicBezTo>
                <a:cubicBezTo>
                  <a:pt x="43212" y="1199704"/>
                  <a:pt x="49294" y="1118644"/>
                  <a:pt x="30270" y="1041390"/>
                </a:cubicBezTo>
                <a:cubicBezTo>
                  <a:pt x="-14509" y="859818"/>
                  <a:pt x="11634" y="677973"/>
                  <a:pt x="30270" y="497354"/>
                </a:cubicBezTo>
                <a:lnTo>
                  <a:pt x="31725" y="472895"/>
                </a:lnTo>
                <a:lnTo>
                  <a:pt x="43781" y="427827"/>
                </a:lnTo>
                <a:lnTo>
                  <a:pt x="50994" y="413476"/>
                </a:lnTo>
                <a:lnTo>
                  <a:pt x="58372" y="387895"/>
                </a:lnTo>
                <a:cubicBezTo>
                  <a:pt x="111660" y="254431"/>
                  <a:pt x="198390" y="154469"/>
                  <a:pt x="306361" y="90092"/>
                </a:cubicBezTo>
                <a:lnTo>
                  <a:pt x="343340" y="71955"/>
                </a:lnTo>
                <a:lnTo>
                  <a:pt x="451947" y="55771"/>
                </a:lnTo>
                <a:lnTo>
                  <a:pt x="480681" y="50638"/>
                </a:lnTo>
                <a:lnTo>
                  <a:pt x="500476" y="51097"/>
                </a:lnTo>
                <a:cubicBezTo>
                  <a:pt x="614729" y="49684"/>
                  <a:pt x="728933" y="43772"/>
                  <a:pt x="843024" y="32056"/>
                </a:cubicBezTo>
                <a:cubicBezTo>
                  <a:pt x="1123212" y="7156"/>
                  <a:pt x="1404499" y="3566"/>
                  <a:pt x="1685086" y="21332"/>
                </a:cubicBezTo>
                <a:cubicBezTo>
                  <a:pt x="1938623" y="33688"/>
                  <a:pt x="2191759" y="64000"/>
                  <a:pt x="2445896" y="38121"/>
                </a:cubicBezTo>
                <a:cubicBezTo>
                  <a:pt x="2489616" y="33690"/>
                  <a:pt x="2532937" y="26111"/>
                  <a:pt x="2576333" y="19030"/>
                </a:cubicBezTo>
                <a:lnTo>
                  <a:pt x="2696353" y="4251"/>
                </a:lnTo>
                <a:lnTo>
                  <a:pt x="2745536" y="5232"/>
                </a:lnTo>
                <a:cubicBezTo>
                  <a:pt x="2818993" y="6452"/>
                  <a:pt x="2887864" y="7004"/>
                  <a:pt x="2947014" y="5793"/>
                </a:cubicBezTo>
                <a:cubicBezTo>
                  <a:pt x="3006163" y="4584"/>
                  <a:pt x="3060036" y="3178"/>
                  <a:pt x="3110399" y="1949"/>
                </a:cubicBezTo>
                <a:lnTo>
                  <a:pt x="3199002" y="221"/>
                </a:lnTo>
                <a:lnTo>
                  <a:pt x="3325015" y="3583"/>
                </a:lnTo>
                <a:cubicBezTo>
                  <a:pt x="3530714" y="12997"/>
                  <a:pt x="3736239" y="28910"/>
                  <a:pt x="3941762" y="43248"/>
                </a:cubicBezTo>
                <a:cubicBezTo>
                  <a:pt x="4091489" y="53739"/>
                  <a:pt x="4241215" y="66563"/>
                  <a:pt x="4390942" y="37886"/>
                </a:cubicBezTo>
                <a:cubicBezTo>
                  <a:pt x="4517292" y="15154"/>
                  <a:pt x="4645537" y="10467"/>
                  <a:pt x="4772844" y="23896"/>
                </a:cubicBezTo>
                <a:cubicBezTo>
                  <a:pt x="4885597" y="37327"/>
                  <a:pt x="4999052" y="40520"/>
                  <a:pt x="5112224" y="33456"/>
                </a:cubicBezTo>
                <a:lnTo>
                  <a:pt x="5477482" y="6922"/>
                </a:lnTo>
                <a:lnTo>
                  <a:pt x="5517883" y="7607"/>
                </a:lnTo>
                <a:lnTo>
                  <a:pt x="5555683" y="6426"/>
                </a:lnTo>
                <a:cubicBezTo>
                  <a:pt x="5626335" y="3737"/>
                  <a:pt x="5704795" y="995"/>
                  <a:pt x="5791061" y="2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91813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tudent&#10;&#10;Description automatically generated">
            <a:extLst>
              <a:ext uri="{FF2B5EF4-FFF2-40B4-BE49-F238E27FC236}">
                <a16:creationId xmlns:a16="http://schemas.microsoft.com/office/drawing/2014/main" id="{B9BCE14F-07C9-539B-A760-95DDDB01D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7867"/>
          <a:stretch/>
        </p:blipFill>
        <p:spPr>
          <a:xfrm>
            <a:off x="577637" y="424330"/>
            <a:ext cx="11036726" cy="5869478"/>
          </a:xfrm>
          <a:custGeom>
            <a:avLst/>
            <a:gdLst/>
            <a:ahLst/>
            <a:cxnLst/>
            <a:rect l="l" t="t" r="r" b="b"/>
            <a:pathLst>
              <a:path w="10630858" h="5869478">
                <a:moveTo>
                  <a:pt x="5791061" y="218"/>
                </a:moveTo>
                <a:cubicBezTo>
                  <a:pt x="5877327" y="-560"/>
                  <a:pt x="5971399" y="626"/>
                  <a:pt x="6073275" y="5793"/>
                </a:cubicBezTo>
                <a:cubicBezTo>
                  <a:pt x="6098744" y="7086"/>
                  <a:pt x="6121786" y="8165"/>
                  <a:pt x="6142651" y="9057"/>
                </a:cubicBezTo>
                <a:lnTo>
                  <a:pt x="6164185" y="9874"/>
                </a:lnTo>
                <a:lnTo>
                  <a:pt x="6258731" y="5793"/>
                </a:lnTo>
                <a:lnTo>
                  <a:pt x="6319194" y="2002"/>
                </a:lnTo>
                <a:lnTo>
                  <a:pt x="6413049" y="11772"/>
                </a:lnTo>
                <a:cubicBezTo>
                  <a:pt x="6592720" y="42783"/>
                  <a:pt x="6774188" y="66100"/>
                  <a:pt x="6956654" y="46745"/>
                </a:cubicBezTo>
                <a:cubicBezTo>
                  <a:pt x="7082424" y="33223"/>
                  <a:pt x="7207994" y="25294"/>
                  <a:pt x="7334364" y="25763"/>
                </a:cubicBezTo>
                <a:cubicBezTo>
                  <a:pt x="7624835" y="25763"/>
                  <a:pt x="7915502" y="28559"/>
                  <a:pt x="8205974" y="22730"/>
                </a:cubicBezTo>
                <a:cubicBezTo>
                  <a:pt x="8464499" y="17601"/>
                  <a:pt x="8722029" y="6412"/>
                  <a:pt x="8980756" y="34620"/>
                </a:cubicBezTo>
                <a:cubicBezTo>
                  <a:pt x="9362658" y="76124"/>
                  <a:pt x="9746556" y="62832"/>
                  <a:pt x="10129655" y="57937"/>
                </a:cubicBezTo>
                <a:lnTo>
                  <a:pt x="10163726" y="56766"/>
                </a:lnTo>
                <a:lnTo>
                  <a:pt x="10254950" y="73131"/>
                </a:lnTo>
                <a:lnTo>
                  <a:pt x="10311819" y="101928"/>
                </a:lnTo>
                <a:cubicBezTo>
                  <a:pt x="10479504" y="200737"/>
                  <a:pt x="10591476" y="367254"/>
                  <a:pt x="10625532" y="561669"/>
                </a:cubicBezTo>
                <a:lnTo>
                  <a:pt x="10626834" y="578090"/>
                </a:lnTo>
                <a:lnTo>
                  <a:pt x="10611964" y="734537"/>
                </a:lnTo>
                <a:cubicBezTo>
                  <a:pt x="10602387" y="823467"/>
                  <a:pt x="10587763" y="913306"/>
                  <a:pt x="10611964" y="1001326"/>
                </a:cubicBezTo>
                <a:cubicBezTo>
                  <a:pt x="10628543" y="1062669"/>
                  <a:pt x="10632231" y="1127783"/>
                  <a:pt x="10622705" y="1191154"/>
                </a:cubicBezTo>
                <a:cubicBezTo>
                  <a:pt x="10606645" y="1303627"/>
                  <a:pt x="10603293" y="1418084"/>
                  <a:pt x="10612740" y="1531572"/>
                </a:cubicBezTo>
                <a:cubicBezTo>
                  <a:pt x="10618978" y="1606398"/>
                  <a:pt x="10618020" y="1681815"/>
                  <a:pt x="10609893" y="1756397"/>
                </a:cubicBezTo>
                <a:cubicBezTo>
                  <a:pt x="10599152" y="1856690"/>
                  <a:pt x="10582457" y="1958800"/>
                  <a:pt x="10602776" y="2059394"/>
                </a:cubicBezTo>
                <a:cubicBezTo>
                  <a:pt x="10635130" y="2219226"/>
                  <a:pt x="10628659" y="2378906"/>
                  <a:pt x="10615717" y="2539949"/>
                </a:cubicBezTo>
                <a:cubicBezTo>
                  <a:pt x="10606011" y="2659785"/>
                  <a:pt x="10595269" y="2780984"/>
                  <a:pt x="10614682" y="2902183"/>
                </a:cubicBezTo>
                <a:cubicBezTo>
                  <a:pt x="10623029" y="2958418"/>
                  <a:pt x="10623029" y="3015928"/>
                  <a:pt x="10614682" y="3072165"/>
                </a:cubicBezTo>
                <a:cubicBezTo>
                  <a:pt x="10604587" y="3147914"/>
                  <a:pt x="10595010" y="3222907"/>
                  <a:pt x="10607952" y="3299413"/>
                </a:cubicBezTo>
                <a:cubicBezTo>
                  <a:pt x="10613646" y="3332743"/>
                  <a:pt x="10617917" y="3366376"/>
                  <a:pt x="10620894" y="3400009"/>
                </a:cubicBezTo>
                <a:cubicBezTo>
                  <a:pt x="10626822" y="3485877"/>
                  <a:pt x="10624699" y="3572233"/>
                  <a:pt x="10614553" y="3657556"/>
                </a:cubicBezTo>
                <a:cubicBezTo>
                  <a:pt x="10604846" y="3756637"/>
                  <a:pt x="10620635" y="3856323"/>
                  <a:pt x="10607694" y="3955100"/>
                </a:cubicBezTo>
                <a:cubicBezTo>
                  <a:pt x="10598504" y="4034653"/>
                  <a:pt x="10598155" y="4115265"/>
                  <a:pt x="10606658" y="4194923"/>
                </a:cubicBezTo>
                <a:cubicBezTo>
                  <a:pt x="10621954" y="4345512"/>
                  <a:pt x="10620998" y="4497755"/>
                  <a:pt x="10603811" y="4648057"/>
                </a:cubicBezTo>
                <a:cubicBezTo>
                  <a:pt x="10593198" y="4735775"/>
                  <a:pt x="10587116" y="4826067"/>
                  <a:pt x="10606140" y="4912119"/>
                </a:cubicBezTo>
                <a:cubicBezTo>
                  <a:pt x="10628530" y="5013245"/>
                  <a:pt x="10633189" y="5114446"/>
                  <a:pt x="10629921" y="5215515"/>
                </a:cubicBezTo>
                <a:lnTo>
                  <a:pt x="10625356" y="5273604"/>
                </a:lnTo>
                <a:lnTo>
                  <a:pt x="10624284" y="5284086"/>
                </a:lnTo>
                <a:cubicBezTo>
                  <a:pt x="10601148" y="5404993"/>
                  <a:pt x="10545219" y="5529874"/>
                  <a:pt x="10458692" y="5632218"/>
                </a:cubicBezTo>
                <a:lnTo>
                  <a:pt x="10418904" y="5670857"/>
                </a:lnTo>
                <a:lnTo>
                  <a:pt x="10417064" y="5673484"/>
                </a:lnTo>
                <a:cubicBezTo>
                  <a:pt x="10307992" y="5802550"/>
                  <a:pt x="10158402" y="5877799"/>
                  <a:pt x="9954609" y="5858572"/>
                </a:cubicBezTo>
                <a:cubicBezTo>
                  <a:pt x="9860355" y="5870096"/>
                  <a:pt x="9750551" y="5855439"/>
                  <a:pt x="9657171" y="5854061"/>
                </a:cubicBezTo>
                <a:lnTo>
                  <a:pt x="9612467" y="5856387"/>
                </a:lnTo>
                <a:lnTo>
                  <a:pt x="9279984" y="5838331"/>
                </a:lnTo>
                <a:cubicBezTo>
                  <a:pt x="9153141" y="5834280"/>
                  <a:pt x="9026273" y="5834164"/>
                  <a:pt x="8899305" y="5841275"/>
                </a:cubicBezTo>
                <a:cubicBezTo>
                  <a:pt x="8761407" y="5850940"/>
                  <a:pt x="8623304" y="5854733"/>
                  <a:pt x="8485266" y="5852671"/>
                </a:cubicBezTo>
                <a:lnTo>
                  <a:pt x="8314842" y="5842884"/>
                </a:lnTo>
                <a:lnTo>
                  <a:pt x="8193631" y="5825368"/>
                </a:lnTo>
                <a:lnTo>
                  <a:pt x="8029897" y="5818284"/>
                </a:lnTo>
                <a:lnTo>
                  <a:pt x="8028296" y="5817260"/>
                </a:lnTo>
                <a:lnTo>
                  <a:pt x="8008332" y="5817260"/>
                </a:lnTo>
                <a:lnTo>
                  <a:pt x="8006732" y="5818114"/>
                </a:lnTo>
                <a:lnTo>
                  <a:pt x="7839115" y="5825368"/>
                </a:lnTo>
                <a:lnTo>
                  <a:pt x="7801585" y="5830791"/>
                </a:lnTo>
                <a:lnTo>
                  <a:pt x="7734233" y="5834980"/>
                </a:lnTo>
                <a:lnTo>
                  <a:pt x="7482820" y="5855530"/>
                </a:lnTo>
                <a:lnTo>
                  <a:pt x="7445741" y="5854102"/>
                </a:lnTo>
                <a:lnTo>
                  <a:pt x="7403701" y="5858035"/>
                </a:lnTo>
                <a:lnTo>
                  <a:pt x="7155292" y="5854564"/>
                </a:lnTo>
                <a:cubicBezTo>
                  <a:pt x="6874805" y="5835913"/>
                  <a:pt x="6593917" y="5824488"/>
                  <a:pt x="6312830" y="5849900"/>
                </a:cubicBezTo>
                <a:lnTo>
                  <a:pt x="6232577" y="5855788"/>
                </a:lnTo>
                <a:lnTo>
                  <a:pt x="6231985" y="5855764"/>
                </a:lnTo>
                <a:lnTo>
                  <a:pt x="6166003" y="5858572"/>
                </a:lnTo>
                <a:cubicBezTo>
                  <a:pt x="6100624" y="5861901"/>
                  <a:pt x="6043822" y="5864887"/>
                  <a:pt x="5993271" y="5866513"/>
                </a:cubicBezTo>
                <a:lnTo>
                  <a:pt x="5925657" y="5866398"/>
                </a:lnTo>
                <a:lnTo>
                  <a:pt x="5833706" y="5859695"/>
                </a:lnTo>
                <a:cubicBezTo>
                  <a:pt x="5697214" y="5841788"/>
                  <a:pt x="5559607" y="5838897"/>
                  <a:pt x="5422657" y="5851067"/>
                </a:cubicBezTo>
                <a:lnTo>
                  <a:pt x="5250035" y="5858044"/>
                </a:lnTo>
                <a:lnTo>
                  <a:pt x="5151093" y="5858278"/>
                </a:lnTo>
                <a:lnTo>
                  <a:pt x="4972680" y="5851067"/>
                </a:lnTo>
                <a:cubicBezTo>
                  <a:pt x="4829141" y="5841741"/>
                  <a:pt x="4685204" y="5826120"/>
                  <a:pt x="4542066" y="5842905"/>
                </a:cubicBezTo>
                <a:cubicBezTo>
                  <a:pt x="4491758" y="5848734"/>
                  <a:pt x="4441488" y="5852626"/>
                  <a:pt x="4391242" y="5854962"/>
                </a:cubicBezTo>
                <a:lnTo>
                  <a:pt x="4246482" y="5857576"/>
                </a:lnTo>
                <a:lnTo>
                  <a:pt x="4221030" y="5856572"/>
                </a:lnTo>
                <a:lnTo>
                  <a:pt x="4218005" y="5856681"/>
                </a:lnTo>
                <a:lnTo>
                  <a:pt x="3939367" y="5844305"/>
                </a:lnTo>
                <a:cubicBezTo>
                  <a:pt x="3773470" y="5832648"/>
                  <a:pt x="3606974" y="5815626"/>
                  <a:pt x="3441875" y="5843140"/>
                </a:cubicBezTo>
                <a:cubicBezTo>
                  <a:pt x="3386806" y="5851400"/>
                  <a:pt x="3331601" y="5858126"/>
                  <a:pt x="3276306" y="5863318"/>
                </a:cubicBezTo>
                <a:lnTo>
                  <a:pt x="3225006" y="5866706"/>
                </a:lnTo>
                <a:lnTo>
                  <a:pt x="3194056" y="5866407"/>
                </a:lnTo>
                <a:lnTo>
                  <a:pt x="3082891" y="5863061"/>
                </a:lnTo>
                <a:lnTo>
                  <a:pt x="3013959" y="5869302"/>
                </a:lnTo>
                <a:cubicBezTo>
                  <a:pt x="2910698" y="5871464"/>
                  <a:pt x="2845426" y="5852913"/>
                  <a:pt x="2748311" y="5858572"/>
                </a:cubicBezTo>
                <a:cubicBezTo>
                  <a:pt x="2736171" y="5859279"/>
                  <a:pt x="2721419" y="5860082"/>
                  <a:pt x="2704411" y="5860936"/>
                </a:cubicBezTo>
                <a:lnTo>
                  <a:pt x="2650475" y="5863440"/>
                </a:lnTo>
                <a:lnTo>
                  <a:pt x="2436349" y="5854816"/>
                </a:lnTo>
                <a:cubicBezTo>
                  <a:pt x="2095150" y="5845165"/>
                  <a:pt x="1753811" y="5845122"/>
                  <a:pt x="1412584" y="5830782"/>
                </a:cubicBezTo>
                <a:cubicBezTo>
                  <a:pt x="1262458" y="5824256"/>
                  <a:pt x="1113131" y="5859227"/>
                  <a:pt x="963404" y="5861093"/>
                </a:cubicBezTo>
                <a:cubicBezTo>
                  <a:pt x="896140" y="5861967"/>
                  <a:pt x="828812" y="5861342"/>
                  <a:pt x="761431" y="5859896"/>
                </a:cubicBezTo>
                <a:lnTo>
                  <a:pt x="637698" y="5856158"/>
                </a:lnTo>
                <a:lnTo>
                  <a:pt x="592997" y="5853711"/>
                </a:lnTo>
                <a:cubicBezTo>
                  <a:pt x="391136" y="5830428"/>
                  <a:pt x="227663" y="5724844"/>
                  <a:pt x="123577" y="5564333"/>
                </a:cubicBezTo>
                <a:lnTo>
                  <a:pt x="99502" y="5518240"/>
                </a:lnTo>
                <a:lnTo>
                  <a:pt x="95609" y="5512764"/>
                </a:lnTo>
                <a:lnTo>
                  <a:pt x="86221" y="5492812"/>
                </a:lnTo>
                <a:lnTo>
                  <a:pt x="61763" y="5445986"/>
                </a:lnTo>
                <a:lnTo>
                  <a:pt x="56991" y="5430695"/>
                </a:lnTo>
                <a:lnTo>
                  <a:pt x="41922" y="5398673"/>
                </a:lnTo>
                <a:lnTo>
                  <a:pt x="25760" y="5339273"/>
                </a:lnTo>
                <a:lnTo>
                  <a:pt x="16811" y="5271956"/>
                </a:lnTo>
                <a:cubicBezTo>
                  <a:pt x="9305" y="5238090"/>
                  <a:pt x="4710" y="5203585"/>
                  <a:pt x="3092" y="5168860"/>
                </a:cubicBezTo>
                <a:cubicBezTo>
                  <a:pt x="-7132" y="5042101"/>
                  <a:pt x="10081" y="4917108"/>
                  <a:pt x="24446" y="4791844"/>
                </a:cubicBezTo>
                <a:cubicBezTo>
                  <a:pt x="34023" y="4712006"/>
                  <a:pt x="48647" y="4631352"/>
                  <a:pt x="24446" y="4552331"/>
                </a:cubicBezTo>
                <a:cubicBezTo>
                  <a:pt x="7867" y="4497261"/>
                  <a:pt x="4180" y="4438805"/>
                  <a:pt x="13705" y="4381912"/>
                </a:cubicBezTo>
                <a:cubicBezTo>
                  <a:pt x="29766" y="4280940"/>
                  <a:pt x="33117" y="4178184"/>
                  <a:pt x="23670" y="4076300"/>
                </a:cubicBezTo>
                <a:cubicBezTo>
                  <a:pt x="17432" y="4009125"/>
                  <a:pt x="18390" y="3941419"/>
                  <a:pt x="26517" y="3874462"/>
                </a:cubicBezTo>
                <a:cubicBezTo>
                  <a:pt x="37258" y="3784423"/>
                  <a:pt x="53954" y="3692752"/>
                  <a:pt x="33635" y="3602444"/>
                </a:cubicBezTo>
                <a:cubicBezTo>
                  <a:pt x="1280" y="3458954"/>
                  <a:pt x="7751" y="3315599"/>
                  <a:pt x="20694" y="3171022"/>
                </a:cubicBezTo>
                <a:cubicBezTo>
                  <a:pt x="30400" y="3063439"/>
                  <a:pt x="41141" y="2954632"/>
                  <a:pt x="21728" y="2845824"/>
                </a:cubicBezTo>
                <a:cubicBezTo>
                  <a:pt x="13381" y="2795337"/>
                  <a:pt x="13381" y="2743709"/>
                  <a:pt x="21728" y="2693221"/>
                </a:cubicBezTo>
                <a:cubicBezTo>
                  <a:pt x="31823" y="2625218"/>
                  <a:pt x="41400" y="2557892"/>
                  <a:pt x="28458" y="2489208"/>
                </a:cubicBezTo>
                <a:cubicBezTo>
                  <a:pt x="22764" y="2459285"/>
                  <a:pt x="18493" y="2429092"/>
                  <a:pt x="15516" y="2398898"/>
                </a:cubicBezTo>
                <a:cubicBezTo>
                  <a:pt x="9589" y="2321809"/>
                  <a:pt x="11711" y="2244283"/>
                  <a:pt x="21857" y="2167683"/>
                </a:cubicBezTo>
                <a:cubicBezTo>
                  <a:pt x="31564" y="2078733"/>
                  <a:pt x="15776" y="1989238"/>
                  <a:pt x="28717" y="1900560"/>
                </a:cubicBezTo>
                <a:cubicBezTo>
                  <a:pt x="37907" y="1829142"/>
                  <a:pt x="38255" y="1756772"/>
                  <a:pt x="29752" y="1685258"/>
                </a:cubicBezTo>
                <a:cubicBezTo>
                  <a:pt x="14456" y="1550065"/>
                  <a:pt x="15412" y="1413389"/>
                  <a:pt x="32599" y="1278454"/>
                </a:cubicBezTo>
                <a:cubicBezTo>
                  <a:pt x="43212" y="1199704"/>
                  <a:pt x="49294" y="1118644"/>
                  <a:pt x="30270" y="1041390"/>
                </a:cubicBezTo>
                <a:cubicBezTo>
                  <a:pt x="-14509" y="859818"/>
                  <a:pt x="11634" y="677973"/>
                  <a:pt x="30270" y="497354"/>
                </a:cubicBezTo>
                <a:lnTo>
                  <a:pt x="31725" y="472895"/>
                </a:lnTo>
                <a:lnTo>
                  <a:pt x="43781" y="427827"/>
                </a:lnTo>
                <a:lnTo>
                  <a:pt x="50994" y="413476"/>
                </a:lnTo>
                <a:lnTo>
                  <a:pt x="58372" y="387895"/>
                </a:lnTo>
                <a:cubicBezTo>
                  <a:pt x="111660" y="254431"/>
                  <a:pt x="198390" y="154469"/>
                  <a:pt x="306361" y="90092"/>
                </a:cubicBezTo>
                <a:lnTo>
                  <a:pt x="343340" y="71955"/>
                </a:lnTo>
                <a:lnTo>
                  <a:pt x="451947" y="55771"/>
                </a:lnTo>
                <a:lnTo>
                  <a:pt x="480681" y="50638"/>
                </a:lnTo>
                <a:lnTo>
                  <a:pt x="500476" y="51097"/>
                </a:lnTo>
                <a:cubicBezTo>
                  <a:pt x="614729" y="49684"/>
                  <a:pt x="728933" y="43772"/>
                  <a:pt x="843024" y="32056"/>
                </a:cubicBezTo>
                <a:cubicBezTo>
                  <a:pt x="1123212" y="7156"/>
                  <a:pt x="1404499" y="3566"/>
                  <a:pt x="1685086" y="21332"/>
                </a:cubicBezTo>
                <a:cubicBezTo>
                  <a:pt x="1938623" y="33688"/>
                  <a:pt x="2191759" y="64000"/>
                  <a:pt x="2445896" y="38121"/>
                </a:cubicBezTo>
                <a:cubicBezTo>
                  <a:pt x="2489616" y="33690"/>
                  <a:pt x="2532937" y="26111"/>
                  <a:pt x="2576333" y="19030"/>
                </a:cubicBezTo>
                <a:lnTo>
                  <a:pt x="2696353" y="4251"/>
                </a:lnTo>
                <a:lnTo>
                  <a:pt x="2745536" y="5232"/>
                </a:lnTo>
                <a:cubicBezTo>
                  <a:pt x="2818993" y="6452"/>
                  <a:pt x="2887864" y="7004"/>
                  <a:pt x="2947014" y="5793"/>
                </a:cubicBezTo>
                <a:cubicBezTo>
                  <a:pt x="3006163" y="4584"/>
                  <a:pt x="3060036" y="3178"/>
                  <a:pt x="3110399" y="1949"/>
                </a:cubicBezTo>
                <a:lnTo>
                  <a:pt x="3199002" y="221"/>
                </a:lnTo>
                <a:lnTo>
                  <a:pt x="3325015" y="3583"/>
                </a:lnTo>
                <a:cubicBezTo>
                  <a:pt x="3530714" y="12997"/>
                  <a:pt x="3736239" y="28910"/>
                  <a:pt x="3941762" y="43248"/>
                </a:cubicBezTo>
                <a:cubicBezTo>
                  <a:pt x="4091489" y="53739"/>
                  <a:pt x="4241215" y="66563"/>
                  <a:pt x="4390942" y="37886"/>
                </a:cubicBezTo>
                <a:cubicBezTo>
                  <a:pt x="4517292" y="15154"/>
                  <a:pt x="4645537" y="10467"/>
                  <a:pt x="4772844" y="23896"/>
                </a:cubicBezTo>
                <a:cubicBezTo>
                  <a:pt x="4885597" y="37327"/>
                  <a:pt x="4999052" y="40520"/>
                  <a:pt x="5112224" y="33456"/>
                </a:cubicBezTo>
                <a:lnTo>
                  <a:pt x="5477482" y="6922"/>
                </a:lnTo>
                <a:lnTo>
                  <a:pt x="5517883" y="7607"/>
                </a:lnTo>
                <a:lnTo>
                  <a:pt x="5555683" y="6426"/>
                </a:lnTo>
                <a:cubicBezTo>
                  <a:pt x="5626335" y="3737"/>
                  <a:pt x="5704795" y="995"/>
                  <a:pt x="5791061" y="2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0559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text&#10;&#10;Description automatically generated">
            <a:extLst>
              <a:ext uri="{FF2B5EF4-FFF2-40B4-BE49-F238E27FC236}">
                <a16:creationId xmlns:a16="http://schemas.microsoft.com/office/drawing/2014/main" id="{B987BEFE-96B0-62BD-99A7-D71651FB3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5" r="7630"/>
          <a:stretch/>
        </p:blipFill>
        <p:spPr>
          <a:xfrm>
            <a:off x="615790" y="508000"/>
            <a:ext cx="10960420" cy="5792694"/>
          </a:xfrm>
          <a:custGeom>
            <a:avLst/>
            <a:gdLst/>
            <a:ahLst/>
            <a:cxnLst/>
            <a:rect l="l" t="t" r="r" b="b"/>
            <a:pathLst>
              <a:path w="10485104" h="5523506">
                <a:moveTo>
                  <a:pt x="5949681" y="536"/>
                </a:moveTo>
                <a:cubicBezTo>
                  <a:pt x="6074035" y="-2131"/>
                  <a:pt x="6198411" y="5173"/>
                  <a:pt x="6321822" y="22405"/>
                </a:cubicBezTo>
                <a:cubicBezTo>
                  <a:pt x="6498937" y="51493"/>
                  <a:pt x="6677824" y="73364"/>
                  <a:pt x="6857694" y="55210"/>
                </a:cubicBezTo>
                <a:cubicBezTo>
                  <a:pt x="6981675" y="42526"/>
                  <a:pt x="7105459" y="35089"/>
                  <a:pt x="7230031" y="35528"/>
                </a:cubicBezTo>
                <a:cubicBezTo>
                  <a:pt x="7516370" y="35528"/>
                  <a:pt x="7802902" y="38152"/>
                  <a:pt x="8089242" y="32684"/>
                </a:cubicBezTo>
                <a:cubicBezTo>
                  <a:pt x="8344090" y="27873"/>
                  <a:pt x="8597956" y="17377"/>
                  <a:pt x="8853003" y="43837"/>
                </a:cubicBezTo>
                <a:cubicBezTo>
                  <a:pt x="9229472" y="82767"/>
                  <a:pt x="9607909" y="70300"/>
                  <a:pt x="9985559" y="65708"/>
                </a:cubicBezTo>
                <a:cubicBezTo>
                  <a:pt x="10083101" y="64320"/>
                  <a:pt x="10180599" y="61132"/>
                  <a:pt x="10278047" y="56140"/>
                </a:cubicBezTo>
                <a:lnTo>
                  <a:pt x="10449151" y="44199"/>
                </a:lnTo>
                <a:lnTo>
                  <a:pt x="10468533" y="198724"/>
                </a:lnTo>
                <a:cubicBezTo>
                  <a:pt x="10475933" y="234109"/>
                  <a:pt x="10480462" y="270161"/>
                  <a:pt x="10482057" y="306442"/>
                </a:cubicBezTo>
                <a:cubicBezTo>
                  <a:pt x="10492136" y="438884"/>
                  <a:pt x="10475168" y="569479"/>
                  <a:pt x="10461007" y="700359"/>
                </a:cubicBezTo>
                <a:cubicBezTo>
                  <a:pt x="10451566" y="783776"/>
                  <a:pt x="10437150" y="868045"/>
                  <a:pt x="10461007" y="950608"/>
                </a:cubicBezTo>
                <a:cubicBezTo>
                  <a:pt x="10477350" y="1008147"/>
                  <a:pt x="10480985" y="1069224"/>
                  <a:pt x="10471595" y="1128666"/>
                </a:cubicBezTo>
                <a:cubicBezTo>
                  <a:pt x="10455763" y="1234166"/>
                  <a:pt x="10452459" y="1341527"/>
                  <a:pt x="10461772" y="1447979"/>
                </a:cubicBezTo>
                <a:cubicBezTo>
                  <a:pt x="10467921" y="1518165"/>
                  <a:pt x="10466977" y="1588906"/>
                  <a:pt x="10458965" y="1658865"/>
                </a:cubicBezTo>
                <a:cubicBezTo>
                  <a:pt x="10448377" y="1752939"/>
                  <a:pt x="10431919" y="1848719"/>
                  <a:pt x="10451949" y="1943076"/>
                </a:cubicBezTo>
                <a:cubicBezTo>
                  <a:pt x="10483843" y="2092999"/>
                  <a:pt x="10477464" y="2242779"/>
                  <a:pt x="10464706" y="2393837"/>
                </a:cubicBezTo>
                <a:cubicBezTo>
                  <a:pt x="10455138" y="2506243"/>
                  <a:pt x="10444549" y="2619928"/>
                  <a:pt x="10463686" y="2733613"/>
                </a:cubicBezTo>
                <a:cubicBezTo>
                  <a:pt x="10471914" y="2786362"/>
                  <a:pt x="10471914" y="2840306"/>
                  <a:pt x="10463686" y="2893056"/>
                </a:cubicBezTo>
                <a:cubicBezTo>
                  <a:pt x="10453735" y="2964109"/>
                  <a:pt x="10444294" y="3034452"/>
                  <a:pt x="10457052" y="3106215"/>
                </a:cubicBezTo>
                <a:cubicBezTo>
                  <a:pt x="10462665" y="3137479"/>
                  <a:pt x="10466875" y="3169026"/>
                  <a:pt x="10469810" y="3200574"/>
                </a:cubicBezTo>
                <a:cubicBezTo>
                  <a:pt x="10475653" y="3281119"/>
                  <a:pt x="10473561" y="3362120"/>
                  <a:pt x="10463559" y="3442154"/>
                </a:cubicBezTo>
                <a:cubicBezTo>
                  <a:pt x="10453990" y="3535091"/>
                  <a:pt x="10469554" y="3628597"/>
                  <a:pt x="10456797" y="3721250"/>
                </a:cubicBezTo>
                <a:cubicBezTo>
                  <a:pt x="10447738" y="3795870"/>
                  <a:pt x="10447394" y="3871485"/>
                  <a:pt x="10455776" y="3946204"/>
                </a:cubicBezTo>
                <a:cubicBezTo>
                  <a:pt x="10470855" y="4087457"/>
                  <a:pt x="10469912" y="4230260"/>
                  <a:pt x="10452970" y="4371244"/>
                </a:cubicBezTo>
                <a:cubicBezTo>
                  <a:pt x="10442508" y="4453523"/>
                  <a:pt x="10436512" y="4538218"/>
                  <a:pt x="10455266" y="4618934"/>
                </a:cubicBezTo>
                <a:cubicBezTo>
                  <a:pt x="10499408" y="4808646"/>
                  <a:pt x="10473637" y="4998642"/>
                  <a:pt x="10455266" y="5187359"/>
                </a:cubicBezTo>
                <a:cubicBezTo>
                  <a:pt x="10444103" y="5288708"/>
                  <a:pt x="10443847" y="5391181"/>
                  <a:pt x="10454500" y="5492602"/>
                </a:cubicBezTo>
                <a:lnTo>
                  <a:pt x="10454510" y="5492731"/>
                </a:lnTo>
                <a:lnTo>
                  <a:pt x="10414967" y="5491139"/>
                </a:lnTo>
                <a:cubicBezTo>
                  <a:pt x="10117611" y="5495732"/>
                  <a:pt x="9820450" y="5526349"/>
                  <a:pt x="9523092" y="5507105"/>
                </a:cubicBezTo>
                <a:cubicBezTo>
                  <a:pt x="9272964" y="5490920"/>
                  <a:pt x="9023034" y="5477142"/>
                  <a:pt x="8772711" y="5490483"/>
                </a:cubicBezTo>
                <a:cubicBezTo>
                  <a:pt x="8636774" y="5499549"/>
                  <a:pt x="8500636" y="5503107"/>
                  <a:pt x="8364561" y="5501172"/>
                </a:cubicBezTo>
                <a:lnTo>
                  <a:pt x="8196562" y="5491993"/>
                </a:lnTo>
                <a:lnTo>
                  <a:pt x="8077075" y="5475562"/>
                </a:lnTo>
                <a:lnTo>
                  <a:pt x="7915670" y="5468917"/>
                </a:lnTo>
                <a:lnTo>
                  <a:pt x="7914092" y="5467957"/>
                </a:lnTo>
                <a:lnTo>
                  <a:pt x="7894412" y="5467957"/>
                </a:lnTo>
                <a:lnTo>
                  <a:pt x="7892834" y="5468758"/>
                </a:lnTo>
                <a:lnTo>
                  <a:pt x="7727602" y="5475562"/>
                </a:lnTo>
                <a:lnTo>
                  <a:pt x="7690606" y="5480649"/>
                </a:lnTo>
                <a:lnTo>
                  <a:pt x="7624212" y="5484579"/>
                </a:lnTo>
                <a:cubicBezTo>
                  <a:pt x="7434738" y="5508001"/>
                  <a:pt x="7243868" y="5514147"/>
                  <a:pt x="7053506" y="5502949"/>
                </a:cubicBezTo>
                <a:cubicBezTo>
                  <a:pt x="6777009" y="5485453"/>
                  <a:pt x="6500117" y="5474737"/>
                  <a:pt x="6223029" y="5498574"/>
                </a:cubicBezTo>
                <a:cubicBezTo>
                  <a:pt x="6065592" y="5511916"/>
                  <a:pt x="5908157" y="5526131"/>
                  <a:pt x="5750720" y="5507761"/>
                </a:cubicBezTo>
                <a:cubicBezTo>
                  <a:pt x="5616170" y="5490965"/>
                  <a:pt x="5480520" y="5488253"/>
                  <a:pt x="5345518" y="5499668"/>
                </a:cubicBezTo>
                <a:cubicBezTo>
                  <a:pt x="5197844" y="5511040"/>
                  <a:pt x="5049616" y="5511040"/>
                  <a:pt x="4901942" y="5499668"/>
                </a:cubicBezTo>
                <a:cubicBezTo>
                  <a:pt x="4760445" y="5490920"/>
                  <a:pt x="4618556" y="5476268"/>
                  <a:pt x="4477454" y="5492013"/>
                </a:cubicBezTo>
                <a:cubicBezTo>
                  <a:pt x="4279085" y="5513884"/>
                  <a:pt x="4081305" y="5506667"/>
                  <a:pt x="3883329" y="5493326"/>
                </a:cubicBezTo>
                <a:cubicBezTo>
                  <a:pt x="3719792" y="5482391"/>
                  <a:pt x="3555664" y="5466425"/>
                  <a:pt x="3392914" y="5492233"/>
                </a:cubicBezTo>
                <a:cubicBezTo>
                  <a:pt x="3175771" y="5523222"/>
                  <a:pt x="2956480" y="5531206"/>
                  <a:pt x="2737979" y="5516072"/>
                </a:cubicBezTo>
                <a:cubicBezTo>
                  <a:pt x="2289680" y="5492670"/>
                  <a:pt x="1840986" y="5498574"/>
                  <a:pt x="1392489" y="5480641"/>
                </a:cubicBezTo>
                <a:cubicBezTo>
                  <a:pt x="1244499" y="5474519"/>
                  <a:pt x="1097296" y="5507322"/>
                  <a:pt x="949699" y="5509072"/>
                </a:cubicBezTo>
                <a:cubicBezTo>
                  <a:pt x="684469" y="5512352"/>
                  <a:pt x="418241" y="5493120"/>
                  <a:pt x="151598" y="5492249"/>
                </a:cubicBezTo>
                <a:lnTo>
                  <a:pt x="1415" y="5496057"/>
                </a:lnTo>
                <a:lnTo>
                  <a:pt x="3772" y="5431261"/>
                </a:lnTo>
                <a:cubicBezTo>
                  <a:pt x="7163" y="5398149"/>
                  <a:pt x="12808" y="5364994"/>
                  <a:pt x="20909" y="5331792"/>
                </a:cubicBezTo>
                <a:cubicBezTo>
                  <a:pt x="51502" y="5208362"/>
                  <a:pt x="50009" y="5079152"/>
                  <a:pt x="16572" y="4956462"/>
                </a:cubicBezTo>
                <a:cubicBezTo>
                  <a:pt x="9172" y="4924695"/>
                  <a:pt x="4643" y="4892329"/>
                  <a:pt x="3048" y="4859758"/>
                </a:cubicBezTo>
                <a:cubicBezTo>
                  <a:pt x="-7031" y="4740857"/>
                  <a:pt x="9937" y="4623614"/>
                  <a:pt x="24098" y="4506116"/>
                </a:cubicBezTo>
                <a:cubicBezTo>
                  <a:pt x="33539" y="4431228"/>
                  <a:pt x="47955" y="4355575"/>
                  <a:pt x="24098" y="4281453"/>
                </a:cubicBezTo>
                <a:cubicBezTo>
                  <a:pt x="7755" y="4229797"/>
                  <a:pt x="4120" y="4174965"/>
                  <a:pt x="13510" y="4121600"/>
                </a:cubicBezTo>
                <a:cubicBezTo>
                  <a:pt x="29342" y="4026887"/>
                  <a:pt x="32646" y="3930503"/>
                  <a:pt x="23333" y="3834935"/>
                </a:cubicBezTo>
                <a:cubicBezTo>
                  <a:pt x="17184" y="3771925"/>
                  <a:pt x="18128" y="3708417"/>
                  <a:pt x="26140" y="3645611"/>
                </a:cubicBezTo>
                <a:cubicBezTo>
                  <a:pt x="36728" y="3561155"/>
                  <a:pt x="53186" y="3475168"/>
                  <a:pt x="33156" y="3390458"/>
                </a:cubicBezTo>
                <a:cubicBezTo>
                  <a:pt x="1262" y="3255864"/>
                  <a:pt x="7641" y="3121398"/>
                  <a:pt x="20399" y="2985784"/>
                </a:cubicBezTo>
                <a:cubicBezTo>
                  <a:pt x="29967" y="2884871"/>
                  <a:pt x="40556" y="2782810"/>
                  <a:pt x="21419" y="2680748"/>
                </a:cubicBezTo>
                <a:cubicBezTo>
                  <a:pt x="13191" y="2633392"/>
                  <a:pt x="13191" y="2584964"/>
                  <a:pt x="21419" y="2537607"/>
                </a:cubicBezTo>
                <a:cubicBezTo>
                  <a:pt x="31370" y="2473819"/>
                  <a:pt x="40811" y="2410668"/>
                  <a:pt x="28053" y="2346242"/>
                </a:cubicBezTo>
                <a:cubicBezTo>
                  <a:pt x="22440" y="2318175"/>
                  <a:pt x="18230" y="2289853"/>
                  <a:pt x="15295" y="2261531"/>
                </a:cubicBezTo>
                <a:cubicBezTo>
                  <a:pt x="9452" y="2189221"/>
                  <a:pt x="11544" y="2116502"/>
                  <a:pt x="21546" y="2044651"/>
                </a:cubicBezTo>
                <a:cubicBezTo>
                  <a:pt x="31115" y="1961216"/>
                  <a:pt x="15551" y="1877270"/>
                  <a:pt x="28308" y="1794090"/>
                </a:cubicBezTo>
                <a:cubicBezTo>
                  <a:pt x="37367" y="1727100"/>
                  <a:pt x="37711" y="1659216"/>
                  <a:pt x="29329" y="1592136"/>
                </a:cubicBezTo>
                <a:cubicBezTo>
                  <a:pt x="14250" y="1465325"/>
                  <a:pt x="15193" y="1337123"/>
                  <a:pt x="32135" y="1210554"/>
                </a:cubicBezTo>
                <a:cubicBezTo>
                  <a:pt x="42597" y="1136687"/>
                  <a:pt x="48593" y="1060652"/>
                  <a:pt x="29839" y="988188"/>
                </a:cubicBezTo>
                <a:cubicBezTo>
                  <a:pt x="-14303" y="817873"/>
                  <a:pt x="11468" y="647303"/>
                  <a:pt x="29839" y="477881"/>
                </a:cubicBezTo>
                <a:cubicBezTo>
                  <a:pt x="41002" y="386894"/>
                  <a:pt x="41258" y="294898"/>
                  <a:pt x="30605" y="203847"/>
                </a:cubicBezTo>
                <a:lnTo>
                  <a:pt x="17136" y="42362"/>
                </a:lnTo>
                <a:lnTo>
                  <a:pt x="155390" y="51827"/>
                </a:lnTo>
                <a:cubicBezTo>
                  <a:pt x="380715" y="63616"/>
                  <a:pt x="606095" y="63411"/>
                  <a:pt x="831032" y="41432"/>
                </a:cubicBezTo>
                <a:cubicBezTo>
                  <a:pt x="1107234" y="18075"/>
                  <a:pt x="1384519" y="14708"/>
                  <a:pt x="1661115" y="31372"/>
                </a:cubicBezTo>
                <a:cubicBezTo>
                  <a:pt x="1911045" y="42962"/>
                  <a:pt x="2160581" y="71395"/>
                  <a:pt x="2411103" y="47120"/>
                </a:cubicBezTo>
                <a:cubicBezTo>
                  <a:pt x="2497298" y="38807"/>
                  <a:pt x="2581920" y="18689"/>
                  <a:pt x="2668707" y="14096"/>
                </a:cubicBezTo>
                <a:cubicBezTo>
                  <a:pt x="3075287" y="-7775"/>
                  <a:pt x="3480488" y="25030"/>
                  <a:pt x="3885690" y="51930"/>
                </a:cubicBezTo>
                <a:cubicBezTo>
                  <a:pt x="4033287" y="61770"/>
                  <a:pt x="4180883" y="73799"/>
                  <a:pt x="4328480" y="46900"/>
                </a:cubicBezTo>
                <a:cubicBezTo>
                  <a:pt x="4453032" y="25577"/>
                  <a:pt x="4579453" y="21181"/>
                  <a:pt x="4704949" y="33778"/>
                </a:cubicBezTo>
                <a:cubicBezTo>
                  <a:pt x="4816098" y="46376"/>
                  <a:pt x="4927939" y="49371"/>
                  <a:pt x="5039501" y="42745"/>
                </a:cubicBezTo>
                <a:cubicBezTo>
                  <a:pt x="5342568" y="15407"/>
                  <a:pt x="5645828" y="318"/>
                  <a:pt x="5949681" y="53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59331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30237" y="2003789"/>
            <a:ext cx="2004732" cy="364751"/>
            <a:chOff x="6088002" y="2270961"/>
            <a:chExt cx="2272030" cy="413384"/>
          </a:xfrm>
        </p:grpSpPr>
        <p:sp>
          <p:nvSpPr>
            <p:cNvPr id="3" name="object 3"/>
            <p:cNvSpPr/>
            <p:nvPr/>
          </p:nvSpPr>
          <p:spPr>
            <a:xfrm>
              <a:off x="6102096" y="2285055"/>
              <a:ext cx="2243455" cy="384810"/>
            </a:xfrm>
            <a:custGeom>
              <a:avLst/>
              <a:gdLst/>
              <a:ahLst/>
              <a:cxnLst/>
              <a:rect l="l" t="t" r="r" b="b"/>
              <a:pathLst>
                <a:path w="2243454" h="384810">
                  <a:moveTo>
                    <a:pt x="2179217" y="0"/>
                  </a:moveTo>
                  <a:lnTo>
                    <a:pt x="64110" y="0"/>
                  </a:lnTo>
                  <a:lnTo>
                    <a:pt x="39155" y="5038"/>
                  </a:lnTo>
                  <a:lnTo>
                    <a:pt x="18777" y="18777"/>
                  </a:lnTo>
                  <a:lnTo>
                    <a:pt x="5038" y="39155"/>
                  </a:lnTo>
                  <a:lnTo>
                    <a:pt x="0" y="64109"/>
                  </a:lnTo>
                  <a:lnTo>
                    <a:pt x="0" y="320537"/>
                  </a:lnTo>
                  <a:lnTo>
                    <a:pt x="5038" y="345492"/>
                  </a:lnTo>
                  <a:lnTo>
                    <a:pt x="18777" y="365871"/>
                  </a:lnTo>
                  <a:lnTo>
                    <a:pt x="39155" y="379610"/>
                  </a:lnTo>
                  <a:lnTo>
                    <a:pt x="64110" y="384648"/>
                  </a:lnTo>
                  <a:lnTo>
                    <a:pt x="2179217" y="384648"/>
                  </a:lnTo>
                  <a:lnTo>
                    <a:pt x="2204172" y="379610"/>
                  </a:lnTo>
                  <a:lnTo>
                    <a:pt x="2224550" y="365871"/>
                  </a:lnTo>
                  <a:lnTo>
                    <a:pt x="2238289" y="345492"/>
                  </a:lnTo>
                  <a:lnTo>
                    <a:pt x="2243328" y="320537"/>
                  </a:lnTo>
                  <a:lnTo>
                    <a:pt x="2243328" y="64109"/>
                  </a:lnTo>
                  <a:lnTo>
                    <a:pt x="2238289" y="39155"/>
                  </a:lnTo>
                  <a:lnTo>
                    <a:pt x="2224550" y="18777"/>
                  </a:lnTo>
                  <a:lnTo>
                    <a:pt x="2204172" y="5038"/>
                  </a:lnTo>
                  <a:lnTo>
                    <a:pt x="217921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6102096" y="2285055"/>
              <a:ext cx="2243455" cy="384810"/>
            </a:xfrm>
            <a:custGeom>
              <a:avLst/>
              <a:gdLst/>
              <a:ahLst/>
              <a:cxnLst/>
              <a:rect l="l" t="t" r="r" b="b"/>
              <a:pathLst>
                <a:path w="2243454" h="384810">
                  <a:moveTo>
                    <a:pt x="0" y="64110"/>
                  </a:moveTo>
                  <a:lnTo>
                    <a:pt x="5038" y="39155"/>
                  </a:lnTo>
                  <a:lnTo>
                    <a:pt x="18777" y="18777"/>
                  </a:lnTo>
                  <a:lnTo>
                    <a:pt x="39155" y="5038"/>
                  </a:lnTo>
                  <a:lnTo>
                    <a:pt x="64110" y="0"/>
                  </a:lnTo>
                  <a:lnTo>
                    <a:pt x="2179217" y="0"/>
                  </a:lnTo>
                  <a:lnTo>
                    <a:pt x="2204172" y="5038"/>
                  </a:lnTo>
                  <a:lnTo>
                    <a:pt x="2224550" y="18777"/>
                  </a:lnTo>
                  <a:lnTo>
                    <a:pt x="2238289" y="39155"/>
                  </a:lnTo>
                  <a:lnTo>
                    <a:pt x="2243327" y="64110"/>
                  </a:lnTo>
                  <a:lnTo>
                    <a:pt x="2243327" y="320538"/>
                  </a:lnTo>
                  <a:lnTo>
                    <a:pt x="2238289" y="345493"/>
                  </a:lnTo>
                  <a:lnTo>
                    <a:pt x="2224550" y="365871"/>
                  </a:lnTo>
                  <a:lnTo>
                    <a:pt x="2204172" y="379611"/>
                  </a:lnTo>
                  <a:lnTo>
                    <a:pt x="2179217" y="384649"/>
                  </a:lnTo>
                  <a:lnTo>
                    <a:pt x="64110" y="384649"/>
                  </a:lnTo>
                  <a:lnTo>
                    <a:pt x="39155" y="379611"/>
                  </a:lnTo>
                  <a:lnTo>
                    <a:pt x="18777" y="365871"/>
                  </a:lnTo>
                  <a:lnTo>
                    <a:pt x="5038" y="345493"/>
                  </a:lnTo>
                  <a:lnTo>
                    <a:pt x="0" y="320538"/>
                  </a:lnTo>
                  <a:lnTo>
                    <a:pt x="0" y="64110"/>
                  </a:lnTo>
                  <a:close/>
                </a:path>
              </a:pathLst>
            </a:custGeom>
            <a:ln w="28186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77358" y="372213"/>
            <a:ext cx="8448115" cy="472980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000" spc="-88" dirty="0"/>
              <a:t>S</a:t>
            </a:r>
            <a:r>
              <a:rPr sz="3000" spc="-93" dirty="0"/>
              <a:t>u</a:t>
            </a:r>
            <a:r>
              <a:rPr sz="3000" spc="-88" dirty="0"/>
              <a:t>pe</a:t>
            </a:r>
            <a:r>
              <a:rPr sz="3000" dirty="0"/>
              <a:t>r</a:t>
            </a:r>
            <a:r>
              <a:rPr sz="3000" spc="-180" dirty="0"/>
              <a:t> </a:t>
            </a:r>
            <a:r>
              <a:rPr sz="3000" spc="-93" dirty="0"/>
              <a:t>K</a:t>
            </a:r>
            <a:r>
              <a:rPr sz="3000" spc="-88" dirty="0"/>
              <a:t>e</a:t>
            </a:r>
            <a:r>
              <a:rPr sz="3000" dirty="0"/>
              <a:t>y</a:t>
            </a:r>
            <a:r>
              <a:rPr sz="3000" spc="-168" dirty="0"/>
              <a:t> </a:t>
            </a:r>
            <a:r>
              <a:rPr sz="3000" dirty="0"/>
              <a:t>–</a:t>
            </a:r>
            <a:r>
              <a:rPr sz="3000" spc="-172" dirty="0"/>
              <a:t> </a:t>
            </a:r>
            <a:r>
              <a:rPr sz="3000" spc="-93" dirty="0"/>
              <a:t>C</a:t>
            </a:r>
            <a:r>
              <a:rPr sz="3000" spc="-88" dirty="0"/>
              <a:t>a</a:t>
            </a:r>
            <a:r>
              <a:rPr sz="3000" spc="-93" dirty="0"/>
              <a:t>n</a:t>
            </a:r>
            <a:r>
              <a:rPr sz="3000" spc="-88" dirty="0"/>
              <a:t>d</a:t>
            </a:r>
            <a:r>
              <a:rPr sz="3000" spc="-84" dirty="0"/>
              <a:t>i</a:t>
            </a:r>
            <a:r>
              <a:rPr sz="3000" spc="-88" dirty="0"/>
              <a:t>dat</a:t>
            </a:r>
            <a:r>
              <a:rPr sz="3000" dirty="0"/>
              <a:t>e</a:t>
            </a:r>
            <a:r>
              <a:rPr sz="3000" spc="-172" dirty="0"/>
              <a:t> </a:t>
            </a:r>
            <a:r>
              <a:rPr sz="3000" spc="-93" dirty="0"/>
              <a:t>K</a:t>
            </a:r>
            <a:r>
              <a:rPr sz="3000" spc="-88" dirty="0"/>
              <a:t>e</a:t>
            </a:r>
            <a:r>
              <a:rPr sz="3000" dirty="0"/>
              <a:t>y</a:t>
            </a:r>
            <a:r>
              <a:rPr sz="3000" spc="-172" dirty="0"/>
              <a:t> </a:t>
            </a:r>
            <a:r>
              <a:rPr sz="3000" dirty="0"/>
              <a:t>-</a:t>
            </a:r>
            <a:r>
              <a:rPr sz="3000" spc="-172" dirty="0"/>
              <a:t> </a:t>
            </a:r>
            <a:r>
              <a:rPr sz="3000" spc="-84" dirty="0"/>
              <a:t>P</a:t>
            </a:r>
            <a:r>
              <a:rPr sz="3000" spc="-93" dirty="0"/>
              <a:t>r</a:t>
            </a:r>
            <a:r>
              <a:rPr sz="3000" spc="-84" dirty="0"/>
              <a:t>i</a:t>
            </a:r>
            <a:r>
              <a:rPr sz="3000" spc="-79" dirty="0"/>
              <a:t>m</a:t>
            </a:r>
            <a:r>
              <a:rPr sz="3000" spc="-88" dirty="0"/>
              <a:t>a</a:t>
            </a:r>
            <a:r>
              <a:rPr sz="3000" spc="-93" dirty="0"/>
              <a:t>r</a:t>
            </a:r>
            <a:r>
              <a:rPr sz="3000" dirty="0"/>
              <a:t>y</a:t>
            </a:r>
            <a:r>
              <a:rPr sz="3000" spc="-168" dirty="0"/>
              <a:t> </a:t>
            </a:r>
            <a:r>
              <a:rPr sz="3000" spc="-93" dirty="0"/>
              <a:t>K</a:t>
            </a:r>
            <a:r>
              <a:rPr sz="3000" spc="-88" dirty="0"/>
              <a:t>e</a:t>
            </a:r>
            <a:r>
              <a:rPr sz="3000" dirty="0"/>
              <a:t>y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2044779" y="1100865"/>
            <a:ext cx="7508501" cy="122581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9" dirty="0">
                <a:solidFill>
                  <a:srgbClr val="C00000"/>
                </a:solidFill>
                <a:latin typeface="Verdana"/>
                <a:cs typeface="Verdana"/>
              </a:rPr>
              <a:t>Super</a:t>
            </a:r>
            <a:r>
              <a:rPr sz="1853" spc="13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1853" spc="2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attribute(s)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uniquely</a:t>
            </a:r>
            <a:r>
              <a:rPr sz="1853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tuple</a:t>
            </a:r>
            <a:endParaRPr sz="1853">
              <a:latin typeface="Verdana"/>
              <a:cs typeface="Verdana"/>
            </a:endParaRPr>
          </a:p>
          <a:p>
            <a:pPr marL="11206">
              <a:spcBef>
                <a:spcPts val="1399"/>
              </a:spcBef>
            </a:pPr>
            <a:r>
              <a:rPr sz="1853" spc="13" dirty="0">
                <a:solidFill>
                  <a:srgbClr val="C00000"/>
                </a:solidFill>
                <a:latin typeface="Verdana"/>
                <a:cs typeface="Verdana"/>
              </a:rPr>
              <a:t>Candidate</a:t>
            </a:r>
            <a:r>
              <a:rPr sz="1853" spc="4" dirty="0">
                <a:solidFill>
                  <a:srgbClr val="C00000"/>
                </a:solidFill>
                <a:latin typeface="Verdana"/>
                <a:cs typeface="Verdana"/>
              </a:rPr>
              <a:t> key</a:t>
            </a:r>
            <a:r>
              <a:rPr sz="1853" spc="18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minimal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super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key</a:t>
            </a:r>
            <a:endParaRPr sz="1853">
              <a:latin typeface="Verdana"/>
              <a:cs typeface="Verdana"/>
            </a:endParaRPr>
          </a:p>
          <a:p>
            <a:pPr marL="11206">
              <a:spcBef>
                <a:spcPts val="1372"/>
              </a:spcBef>
            </a:pPr>
            <a:r>
              <a:rPr sz="1853" spc="9" dirty="0">
                <a:solidFill>
                  <a:srgbClr val="C00000"/>
                </a:solidFill>
                <a:latin typeface="Verdana"/>
                <a:cs typeface="Verdana"/>
              </a:rPr>
              <a:t>Primary</a:t>
            </a:r>
            <a:r>
              <a:rPr sz="1853" spc="22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1853" spc="2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most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important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46583" y="2715410"/>
            <a:ext cx="133686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4" dirty="0">
                <a:solidFill>
                  <a:srgbClr val="292934"/>
                </a:solidFill>
                <a:latin typeface="Arial MT"/>
                <a:cs typeface="Arial MT"/>
              </a:rPr>
              <a:t>Students_info</a:t>
            </a:r>
            <a:endParaRPr sz="1677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111933" y="3028771"/>
          <a:ext cx="4825812" cy="2065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8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8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2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computingID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0E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b="1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SSN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0E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0E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2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mi1y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-8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111-11-1111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2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mi2e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222-22-2222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2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do3d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333-33-3333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Donald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2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da4y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444-44-4444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Daisy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2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do5d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555-55-5555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700" spc="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Donald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383486" y="2732441"/>
            <a:ext cx="198848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1500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C00000"/>
                </a:solidFill>
                <a:latin typeface="Verdana"/>
                <a:cs typeface="Verdana"/>
              </a:rPr>
              <a:t>primary</a:t>
            </a:r>
            <a:r>
              <a:rPr sz="1500" spc="-4" dirty="0">
                <a:solidFill>
                  <a:srgbClr val="C00000"/>
                </a:solidFill>
                <a:latin typeface="Verdana"/>
                <a:cs typeface="Verdana"/>
              </a:rPr>
              <a:t> key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1922" y="3025795"/>
            <a:ext cx="3155576" cy="474773"/>
          </a:xfrm>
          <a:prstGeom prst="rect">
            <a:avLst/>
          </a:prstGeom>
          <a:ln w="20319">
            <a:solidFill>
              <a:srgbClr val="A6A6A6"/>
            </a:solidFill>
          </a:ln>
        </p:spPr>
        <p:txBody>
          <a:bodyPr vert="horz" wrap="square" lIns="0" tIns="214593" rIns="0" bIns="0" rtlCol="0">
            <a:spAutoFit/>
          </a:bodyPr>
          <a:lstStyle/>
          <a:p>
            <a:pPr marL="213483">
              <a:spcBef>
                <a:spcPts val="1690"/>
              </a:spcBef>
            </a:pP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computingID</a:t>
            </a:r>
            <a:endParaRPr sz="1677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36014" y="5614408"/>
            <a:ext cx="1220881" cy="245494"/>
          </a:xfrm>
          <a:prstGeom prst="rect">
            <a:avLst/>
          </a:prstGeom>
        </p:spPr>
        <p:txBody>
          <a:bodyPr vert="horz" wrap="square" lIns="0" tIns="1121" rIns="0" bIns="0" rtlCol="0">
            <a:spAutoFit/>
          </a:bodyPr>
          <a:lstStyle/>
          <a:p>
            <a:pPr>
              <a:spcBef>
                <a:spcPts val="9"/>
              </a:spcBef>
            </a:pPr>
            <a:r>
              <a:rPr sz="1588" dirty="0">
                <a:solidFill>
                  <a:srgbClr val="004DD6"/>
                </a:solidFill>
                <a:latin typeface="Verdana"/>
                <a:cs typeface="Verdana"/>
              </a:rPr>
              <a:t>Primary</a:t>
            </a:r>
            <a:r>
              <a:rPr sz="1588" spc="-35" dirty="0">
                <a:solidFill>
                  <a:srgbClr val="004DD6"/>
                </a:solidFill>
                <a:latin typeface="Verdana"/>
                <a:cs typeface="Verdana"/>
              </a:rPr>
              <a:t> </a:t>
            </a:r>
            <a:r>
              <a:rPr sz="1588" spc="-4" dirty="0">
                <a:solidFill>
                  <a:srgbClr val="004DD6"/>
                </a:solidFill>
                <a:latin typeface="Verdana"/>
                <a:cs typeface="Verdana"/>
              </a:rPr>
              <a:t>key</a:t>
            </a:r>
            <a:endParaRPr sz="1588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26433" y="5206006"/>
            <a:ext cx="4714315" cy="1031501"/>
          </a:xfrm>
          <a:custGeom>
            <a:avLst/>
            <a:gdLst/>
            <a:ahLst/>
            <a:cxnLst/>
            <a:rect l="l" t="t" r="r" b="b"/>
            <a:pathLst>
              <a:path w="5342890" h="1169034">
                <a:moveTo>
                  <a:pt x="5342806" y="0"/>
                </a:moveTo>
                <a:lnTo>
                  <a:pt x="0" y="0"/>
                </a:lnTo>
                <a:lnTo>
                  <a:pt x="0" y="1168626"/>
                </a:lnTo>
                <a:lnTo>
                  <a:pt x="5342806" y="1168626"/>
                </a:lnTo>
                <a:lnTo>
                  <a:pt x="53428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7388" y="372213"/>
            <a:ext cx="2738718" cy="472980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000" spc="-84" dirty="0"/>
              <a:t>P</a:t>
            </a:r>
            <a:r>
              <a:rPr sz="3000" spc="-93" dirty="0"/>
              <a:t>r</a:t>
            </a:r>
            <a:r>
              <a:rPr sz="3000" spc="-84" dirty="0"/>
              <a:t>i</a:t>
            </a:r>
            <a:r>
              <a:rPr sz="3000" spc="-79" dirty="0"/>
              <a:t>m</a:t>
            </a:r>
            <a:r>
              <a:rPr sz="3000" spc="-88" dirty="0"/>
              <a:t>a</a:t>
            </a:r>
            <a:r>
              <a:rPr sz="3000" spc="-93" dirty="0"/>
              <a:t>r</a:t>
            </a:r>
            <a:r>
              <a:rPr sz="3000" dirty="0"/>
              <a:t>y</a:t>
            </a:r>
            <a:r>
              <a:rPr sz="3000" spc="-168" dirty="0"/>
              <a:t> </a:t>
            </a:r>
            <a:r>
              <a:rPr sz="3000" spc="-93" dirty="0"/>
              <a:t>K</a:t>
            </a:r>
            <a:r>
              <a:rPr sz="3000" spc="-88" dirty="0"/>
              <a:t>e</a:t>
            </a:r>
            <a:r>
              <a:rPr sz="3000" spc="-84" dirty="0"/>
              <a:t>ys</a:t>
            </a:r>
            <a:endParaRPr sz="3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54039" y="2075116"/>
          <a:ext cx="4318745" cy="12622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2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length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genre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Gone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wind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231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drama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Star</a:t>
                      </a:r>
                      <a:r>
                        <a:rPr sz="15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sciFi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Wayne’s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world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comedy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44778" y="1117001"/>
            <a:ext cx="6846794" cy="91432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relation’s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C00000"/>
                </a:solidFill>
                <a:latin typeface="Verdana"/>
                <a:cs typeface="Verdana"/>
              </a:rPr>
              <a:t>primary</a:t>
            </a:r>
            <a:r>
              <a:rPr sz="1853" spc="2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1853" spc="2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uniquely</a:t>
            </a:r>
            <a:r>
              <a:rPr sz="1853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identifies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single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tuple</a:t>
            </a:r>
            <a:endParaRPr sz="1853">
              <a:latin typeface="Verdana"/>
              <a:cs typeface="Verdana"/>
            </a:endParaRPr>
          </a:p>
          <a:p>
            <a:pPr>
              <a:spcBef>
                <a:spcPts val="22"/>
              </a:spcBef>
            </a:pPr>
            <a:endParaRPr sz="2338">
              <a:latin typeface="Verdana"/>
              <a:cs typeface="Verdana"/>
            </a:endParaRPr>
          </a:p>
          <a:p>
            <a:pPr marL="1904541"/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endParaRPr sz="1677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65882" y="2006166"/>
            <a:ext cx="2702859" cy="1411941"/>
          </a:xfrm>
          <a:custGeom>
            <a:avLst/>
            <a:gdLst/>
            <a:ahLst/>
            <a:cxnLst/>
            <a:rect l="l" t="t" r="r" b="b"/>
            <a:pathLst>
              <a:path w="3063240" h="1600200">
                <a:moveTo>
                  <a:pt x="0" y="266703"/>
                </a:moveTo>
                <a:lnTo>
                  <a:pt x="4296" y="218763"/>
                </a:lnTo>
                <a:lnTo>
                  <a:pt x="16685" y="173642"/>
                </a:lnTo>
                <a:lnTo>
                  <a:pt x="36412" y="132093"/>
                </a:lnTo>
                <a:lnTo>
                  <a:pt x="62725" y="94869"/>
                </a:lnTo>
                <a:lnTo>
                  <a:pt x="94869" y="62725"/>
                </a:lnTo>
                <a:lnTo>
                  <a:pt x="132093" y="36412"/>
                </a:lnTo>
                <a:lnTo>
                  <a:pt x="173642" y="16685"/>
                </a:lnTo>
                <a:lnTo>
                  <a:pt x="218763" y="4296"/>
                </a:lnTo>
                <a:lnTo>
                  <a:pt x="266703" y="0"/>
                </a:lnTo>
                <a:lnTo>
                  <a:pt x="2796536" y="0"/>
                </a:lnTo>
                <a:lnTo>
                  <a:pt x="2844476" y="4296"/>
                </a:lnTo>
                <a:lnTo>
                  <a:pt x="2889597" y="16685"/>
                </a:lnTo>
                <a:lnTo>
                  <a:pt x="2931146" y="36412"/>
                </a:lnTo>
                <a:lnTo>
                  <a:pt x="2968369" y="62725"/>
                </a:lnTo>
                <a:lnTo>
                  <a:pt x="3000514" y="94869"/>
                </a:lnTo>
                <a:lnTo>
                  <a:pt x="3026826" y="132093"/>
                </a:lnTo>
                <a:lnTo>
                  <a:pt x="3046553" y="173642"/>
                </a:lnTo>
                <a:lnTo>
                  <a:pt x="3058942" y="218763"/>
                </a:lnTo>
                <a:lnTo>
                  <a:pt x="3063239" y="266703"/>
                </a:lnTo>
                <a:lnTo>
                  <a:pt x="3063239" y="1333491"/>
                </a:lnTo>
                <a:lnTo>
                  <a:pt x="3058942" y="1381431"/>
                </a:lnTo>
                <a:lnTo>
                  <a:pt x="3046553" y="1426553"/>
                </a:lnTo>
                <a:lnTo>
                  <a:pt x="3026826" y="1468102"/>
                </a:lnTo>
                <a:lnTo>
                  <a:pt x="3000514" y="1505325"/>
                </a:lnTo>
                <a:lnTo>
                  <a:pt x="2968369" y="1537469"/>
                </a:lnTo>
                <a:lnTo>
                  <a:pt x="2931146" y="1563782"/>
                </a:lnTo>
                <a:lnTo>
                  <a:pt x="2889597" y="1583509"/>
                </a:lnTo>
                <a:lnTo>
                  <a:pt x="2844476" y="1595898"/>
                </a:lnTo>
                <a:lnTo>
                  <a:pt x="2796536" y="1600195"/>
                </a:lnTo>
                <a:lnTo>
                  <a:pt x="266703" y="1600195"/>
                </a:lnTo>
                <a:lnTo>
                  <a:pt x="218763" y="1595898"/>
                </a:lnTo>
                <a:lnTo>
                  <a:pt x="173642" y="1583509"/>
                </a:lnTo>
                <a:lnTo>
                  <a:pt x="132093" y="1563782"/>
                </a:lnTo>
                <a:lnTo>
                  <a:pt x="94869" y="1537469"/>
                </a:lnTo>
                <a:lnTo>
                  <a:pt x="62725" y="1505325"/>
                </a:lnTo>
                <a:lnTo>
                  <a:pt x="36412" y="1468102"/>
                </a:lnTo>
                <a:lnTo>
                  <a:pt x="16685" y="1426553"/>
                </a:lnTo>
                <a:lnTo>
                  <a:pt x="4296" y="1381431"/>
                </a:lnTo>
                <a:lnTo>
                  <a:pt x="0" y="1333491"/>
                </a:lnTo>
                <a:lnTo>
                  <a:pt x="0" y="266703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2572570" y="4867834"/>
            <a:ext cx="2338668" cy="451103"/>
          </a:xfrm>
          <a:prstGeom prst="rect">
            <a:avLst/>
          </a:prstGeom>
        </p:spPr>
        <p:txBody>
          <a:bodyPr vert="horz" wrap="square" lIns="0" tIns="40340" rIns="0" bIns="0" rtlCol="0">
            <a:spAutoFit/>
          </a:bodyPr>
          <a:lstStyle/>
          <a:p>
            <a:pPr marL="466750" marR="4483" indent="-456104">
              <a:lnSpc>
                <a:spcPts val="1588"/>
              </a:lnSpc>
              <a:spcBef>
                <a:spcPts val="317"/>
              </a:spcBef>
            </a:pPr>
            <a:r>
              <a:rPr sz="15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500" b="1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292934"/>
                </a:solidFill>
                <a:latin typeface="Verdana"/>
                <a:cs typeface="Verdana"/>
              </a:rPr>
              <a:t>characteristics</a:t>
            </a:r>
            <a:r>
              <a:rPr sz="1500" b="1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500" b="1" spc="-49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b="1" spc="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500" b="1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292934"/>
                </a:solidFill>
                <a:latin typeface="Verdana"/>
                <a:cs typeface="Verdana"/>
              </a:rPr>
              <a:t>keys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96951" y="4360079"/>
            <a:ext cx="1762685" cy="437029"/>
            <a:chOff x="4690278" y="4941423"/>
            <a:chExt cx="1997710" cy="495300"/>
          </a:xfrm>
        </p:grpSpPr>
        <p:sp>
          <p:nvSpPr>
            <p:cNvPr id="8" name="object 8"/>
            <p:cNvSpPr/>
            <p:nvPr/>
          </p:nvSpPr>
          <p:spPr>
            <a:xfrm>
              <a:off x="4700438" y="4951583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6" y="0"/>
                  </a:moveTo>
                  <a:lnTo>
                    <a:pt x="79093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3"/>
                  </a:lnTo>
                  <a:lnTo>
                    <a:pt x="23165" y="451384"/>
                  </a:lnTo>
                  <a:lnTo>
                    <a:pt x="48306" y="468334"/>
                  </a:lnTo>
                  <a:lnTo>
                    <a:pt x="79093" y="474549"/>
                  </a:lnTo>
                  <a:lnTo>
                    <a:pt x="1898166" y="474549"/>
                  </a:lnTo>
                  <a:lnTo>
                    <a:pt x="1928951" y="468334"/>
                  </a:lnTo>
                  <a:lnTo>
                    <a:pt x="1954092" y="451384"/>
                  </a:lnTo>
                  <a:lnTo>
                    <a:pt x="1971042" y="426243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6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700438" y="4951583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85389" y="4441115"/>
            <a:ext cx="597274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324" spc="-4" dirty="0">
                <a:solidFill>
                  <a:srgbClr val="292934"/>
                </a:solidFill>
                <a:latin typeface="Verdana"/>
                <a:cs typeface="Verdana"/>
              </a:rPr>
              <a:t>Un</a:t>
            </a:r>
            <a:r>
              <a:rPr sz="1324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324" spc="-4" dirty="0">
                <a:solidFill>
                  <a:srgbClr val="292934"/>
                </a:solidFill>
                <a:latin typeface="Verdana"/>
                <a:cs typeface="Verdana"/>
              </a:rPr>
              <a:t>qu</a:t>
            </a:r>
            <a:r>
              <a:rPr sz="1324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324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96951" y="4905538"/>
            <a:ext cx="1762685" cy="982196"/>
            <a:chOff x="4690278" y="5559609"/>
            <a:chExt cx="1997710" cy="1113155"/>
          </a:xfrm>
        </p:grpSpPr>
        <p:sp>
          <p:nvSpPr>
            <p:cNvPr id="12" name="object 12"/>
            <p:cNvSpPr/>
            <p:nvPr/>
          </p:nvSpPr>
          <p:spPr>
            <a:xfrm>
              <a:off x="4700438" y="5569769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6" y="0"/>
                  </a:moveTo>
                  <a:lnTo>
                    <a:pt x="79093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4"/>
                  </a:lnTo>
                  <a:lnTo>
                    <a:pt x="23165" y="451384"/>
                  </a:lnTo>
                  <a:lnTo>
                    <a:pt x="48306" y="468335"/>
                  </a:lnTo>
                  <a:lnTo>
                    <a:pt x="79093" y="474550"/>
                  </a:lnTo>
                  <a:lnTo>
                    <a:pt x="1898166" y="474550"/>
                  </a:lnTo>
                  <a:lnTo>
                    <a:pt x="1928951" y="468335"/>
                  </a:lnTo>
                  <a:lnTo>
                    <a:pt x="1954092" y="451384"/>
                  </a:lnTo>
                  <a:lnTo>
                    <a:pt x="1971042" y="426244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6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4700438" y="5569769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0438" y="6187955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6" y="0"/>
                  </a:moveTo>
                  <a:lnTo>
                    <a:pt x="79093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4"/>
                  </a:lnTo>
                  <a:lnTo>
                    <a:pt x="23165" y="451384"/>
                  </a:lnTo>
                  <a:lnTo>
                    <a:pt x="48306" y="468334"/>
                  </a:lnTo>
                  <a:lnTo>
                    <a:pt x="79093" y="474550"/>
                  </a:lnTo>
                  <a:lnTo>
                    <a:pt x="1898166" y="474550"/>
                  </a:lnTo>
                  <a:lnTo>
                    <a:pt x="1928951" y="468334"/>
                  </a:lnTo>
                  <a:lnTo>
                    <a:pt x="1954092" y="451384"/>
                  </a:lnTo>
                  <a:lnTo>
                    <a:pt x="1971042" y="426244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6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4700438" y="6187955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039500" y="4906383"/>
            <a:ext cx="1289797" cy="914753"/>
          </a:xfrm>
          <a:prstGeom prst="rect">
            <a:avLst/>
          </a:prstGeom>
        </p:spPr>
        <p:txBody>
          <a:bodyPr vert="horz" wrap="square" lIns="0" tIns="43703" rIns="0" bIns="0" rtlCol="0">
            <a:spAutoFit/>
          </a:bodyPr>
          <a:lstStyle/>
          <a:p>
            <a:pPr marL="174261" marR="179864" algn="ctr">
              <a:lnSpc>
                <a:spcPts val="1332"/>
              </a:lnSpc>
              <a:spcBef>
                <a:spcPts val="344"/>
              </a:spcBef>
            </a:pPr>
            <a:r>
              <a:rPr sz="1324" spc="-4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24" spc="-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26" dirty="0">
                <a:solidFill>
                  <a:srgbClr val="292934"/>
                </a:solidFill>
                <a:latin typeface="Verdana"/>
                <a:cs typeface="Verdana"/>
              </a:rPr>
              <a:t>empty, </a:t>
            </a:r>
            <a:r>
              <a:rPr sz="1324" spc="-45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4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24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4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endParaRPr sz="1324">
              <a:latin typeface="Verdana"/>
              <a:cs typeface="Verdana"/>
            </a:endParaRPr>
          </a:p>
          <a:p>
            <a:pPr>
              <a:spcBef>
                <a:spcPts val="40"/>
              </a:spcBef>
            </a:pPr>
            <a:endParaRPr sz="1324">
              <a:latin typeface="Verdana"/>
              <a:cs typeface="Verdana"/>
            </a:endParaRPr>
          </a:p>
          <a:p>
            <a:pPr marR="4483" algn="ctr">
              <a:lnSpc>
                <a:spcPts val="1315"/>
              </a:lnSpc>
            </a:pPr>
            <a:r>
              <a:rPr sz="1324" spc="-9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1324" spc="-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4" dirty="0">
                <a:solidFill>
                  <a:srgbClr val="292934"/>
                </a:solidFill>
                <a:latin typeface="Verdana"/>
                <a:cs typeface="Verdana"/>
              </a:rPr>
              <a:t>important </a:t>
            </a:r>
            <a:r>
              <a:rPr sz="1324" spc="-4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9" dirty="0">
                <a:solidFill>
                  <a:srgbClr val="292934"/>
                </a:solidFill>
                <a:latin typeface="Verdana"/>
                <a:cs typeface="Verdana"/>
              </a:rPr>
              <a:t>candidate</a:t>
            </a:r>
            <a:r>
              <a:rPr sz="1324" spc="-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9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endParaRPr sz="1324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760602" y="4360079"/>
            <a:ext cx="1762685" cy="437029"/>
            <a:chOff x="6915749" y="4941423"/>
            <a:chExt cx="1997710" cy="495300"/>
          </a:xfrm>
        </p:grpSpPr>
        <p:sp>
          <p:nvSpPr>
            <p:cNvPr id="18" name="object 18"/>
            <p:cNvSpPr/>
            <p:nvPr/>
          </p:nvSpPr>
          <p:spPr>
            <a:xfrm>
              <a:off x="6925909" y="4951583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4" y="0"/>
                  </a:moveTo>
                  <a:lnTo>
                    <a:pt x="79091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3"/>
                  </a:lnTo>
                  <a:lnTo>
                    <a:pt x="23165" y="451384"/>
                  </a:lnTo>
                  <a:lnTo>
                    <a:pt x="48306" y="468334"/>
                  </a:lnTo>
                  <a:lnTo>
                    <a:pt x="79091" y="474549"/>
                  </a:lnTo>
                  <a:lnTo>
                    <a:pt x="1898164" y="474549"/>
                  </a:lnTo>
                  <a:lnTo>
                    <a:pt x="1928951" y="468334"/>
                  </a:lnTo>
                  <a:lnTo>
                    <a:pt x="1954092" y="451384"/>
                  </a:lnTo>
                  <a:lnTo>
                    <a:pt x="1971042" y="426243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4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6925909" y="4951583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988955" y="4441115"/>
            <a:ext cx="131893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324" spc="-9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1324" spc="-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4" dirty="0">
                <a:solidFill>
                  <a:srgbClr val="292934"/>
                </a:solidFill>
                <a:latin typeface="Verdana"/>
                <a:cs typeface="Verdana"/>
              </a:rPr>
              <a:t>tuple</a:t>
            </a:r>
            <a:r>
              <a:rPr sz="1324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4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endParaRPr sz="1324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760602" y="4905538"/>
            <a:ext cx="1762685" cy="437029"/>
            <a:chOff x="6915749" y="5559609"/>
            <a:chExt cx="1997710" cy="495300"/>
          </a:xfrm>
        </p:grpSpPr>
        <p:sp>
          <p:nvSpPr>
            <p:cNvPr id="22" name="object 22"/>
            <p:cNvSpPr/>
            <p:nvPr/>
          </p:nvSpPr>
          <p:spPr>
            <a:xfrm>
              <a:off x="6925909" y="5569769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4" y="0"/>
                  </a:moveTo>
                  <a:lnTo>
                    <a:pt x="79091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4"/>
                  </a:lnTo>
                  <a:lnTo>
                    <a:pt x="23165" y="451384"/>
                  </a:lnTo>
                  <a:lnTo>
                    <a:pt x="48306" y="468335"/>
                  </a:lnTo>
                  <a:lnTo>
                    <a:pt x="79091" y="474550"/>
                  </a:lnTo>
                  <a:lnTo>
                    <a:pt x="1898164" y="474550"/>
                  </a:lnTo>
                  <a:lnTo>
                    <a:pt x="1928951" y="468335"/>
                  </a:lnTo>
                  <a:lnTo>
                    <a:pt x="1954092" y="451384"/>
                  </a:lnTo>
                  <a:lnTo>
                    <a:pt x="1971042" y="426244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4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6925909" y="5569769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197386" y="4987065"/>
            <a:ext cx="90039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324" spc="-4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324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9" dirty="0">
                <a:solidFill>
                  <a:srgbClr val="292934"/>
                </a:solidFill>
                <a:latin typeface="Verdana"/>
                <a:cs typeface="Verdana"/>
              </a:rPr>
              <a:t>change</a:t>
            </a:r>
            <a:endParaRPr sz="1324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760602" y="5450996"/>
            <a:ext cx="1762685" cy="437029"/>
            <a:chOff x="6915749" y="6177795"/>
            <a:chExt cx="1997710" cy="495300"/>
          </a:xfrm>
        </p:grpSpPr>
        <p:sp>
          <p:nvSpPr>
            <p:cNvPr id="26" name="object 26"/>
            <p:cNvSpPr/>
            <p:nvPr/>
          </p:nvSpPr>
          <p:spPr>
            <a:xfrm>
              <a:off x="6925909" y="6187955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1898164" y="0"/>
                  </a:moveTo>
                  <a:lnTo>
                    <a:pt x="79091" y="0"/>
                  </a:lnTo>
                  <a:lnTo>
                    <a:pt x="48306" y="6215"/>
                  </a:lnTo>
                  <a:lnTo>
                    <a:pt x="23165" y="23165"/>
                  </a:lnTo>
                  <a:lnTo>
                    <a:pt x="6215" y="48306"/>
                  </a:lnTo>
                  <a:lnTo>
                    <a:pt x="0" y="79093"/>
                  </a:lnTo>
                  <a:lnTo>
                    <a:pt x="0" y="395457"/>
                  </a:lnTo>
                  <a:lnTo>
                    <a:pt x="6215" y="426244"/>
                  </a:lnTo>
                  <a:lnTo>
                    <a:pt x="23165" y="451384"/>
                  </a:lnTo>
                  <a:lnTo>
                    <a:pt x="48306" y="468334"/>
                  </a:lnTo>
                  <a:lnTo>
                    <a:pt x="79091" y="474550"/>
                  </a:lnTo>
                  <a:lnTo>
                    <a:pt x="1898164" y="474550"/>
                  </a:lnTo>
                  <a:lnTo>
                    <a:pt x="1928951" y="468334"/>
                  </a:lnTo>
                  <a:lnTo>
                    <a:pt x="1954092" y="451384"/>
                  </a:lnTo>
                  <a:lnTo>
                    <a:pt x="1971042" y="426244"/>
                  </a:lnTo>
                  <a:lnTo>
                    <a:pt x="1977257" y="395457"/>
                  </a:lnTo>
                  <a:lnTo>
                    <a:pt x="1977257" y="79093"/>
                  </a:lnTo>
                  <a:lnTo>
                    <a:pt x="1971042" y="48306"/>
                  </a:lnTo>
                  <a:lnTo>
                    <a:pt x="1954092" y="23165"/>
                  </a:lnTo>
                  <a:lnTo>
                    <a:pt x="1928951" y="6215"/>
                  </a:lnTo>
                  <a:lnTo>
                    <a:pt x="1898164" y="0"/>
                  </a:lnTo>
                  <a:close/>
                </a:path>
              </a:pathLst>
            </a:custGeom>
            <a:solidFill>
              <a:srgbClr val="C4F8E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6925909" y="6187955"/>
              <a:ext cx="1977389" cy="474980"/>
            </a:xfrm>
            <a:custGeom>
              <a:avLst/>
              <a:gdLst/>
              <a:ahLst/>
              <a:cxnLst/>
              <a:rect l="l" t="t" r="r" b="b"/>
              <a:pathLst>
                <a:path w="1977390" h="474979">
                  <a:moveTo>
                    <a:pt x="0" y="79092"/>
                  </a:moveTo>
                  <a:lnTo>
                    <a:pt x="6215" y="48306"/>
                  </a:lnTo>
                  <a:lnTo>
                    <a:pt x="23165" y="23165"/>
                  </a:lnTo>
                  <a:lnTo>
                    <a:pt x="48306" y="6215"/>
                  </a:lnTo>
                  <a:lnTo>
                    <a:pt x="79092" y="0"/>
                  </a:lnTo>
                  <a:lnTo>
                    <a:pt x="329542" y="0"/>
                  </a:lnTo>
                  <a:lnTo>
                    <a:pt x="981233" y="0"/>
                  </a:lnTo>
                  <a:lnTo>
                    <a:pt x="823857" y="0"/>
                  </a:lnTo>
                  <a:lnTo>
                    <a:pt x="1898165" y="0"/>
                  </a:lnTo>
                  <a:lnTo>
                    <a:pt x="1928951" y="6215"/>
                  </a:lnTo>
                  <a:lnTo>
                    <a:pt x="1954091" y="23165"/>
                  </a:lnTo>
                  <a:lnTo>
                    <a:pt x="1971042" y="48306"/>
                  </a:lnTo>
                  <a:lnTo>
                    <a:pt x="1977257" y="79092"/>
                  </a:lnTo>
                  <a:lnTo>
                    <a:pt x="1977257" y="197728"/>
                  </a:lnTo>
                  <a:lnTo>
                    <a:pt x="1977257" y="395457"/>
                  </a:lnTo>
                  <a:lnTo>
                    <a:pt x="1971042" y="426244"/>
                  </a:lnTo>
                  <a:lnTo>
                    <a:pt x="1954091" y="451384"/>
                  </a:lnTo>
                  <a:lnTo>
                    <a:pt x="1928951" y="468334"/>
                  </a:lnTo>
                  <a:lnTo>
                    <a:pt x="1898165" y="474550"/>
                  </a:lnTo>
                  <a:lnTo>
                    <a:pt x="823857" y="474550"/>
                  </a:lnTo>
                  <a:lnTo>
                    <a:pt x="329542" y="474550"/>
                  </a:lnTo>
                  <a:lnTo>
                    <a:pt x="79092" y="474550"/>
                  </a:lnTo>
                  <a:lnTo>
                    <a:pt x="48306" y="468334"/>
                  </a:lnTo>
                  <a:lnTo>
                    <a:pt x="23165" y="451384"/>
                  </a:lnTo>
                  <a:lnTo>
                    <a:pt x="6215" y="426244"/>
                  </a:lnTo>
                  <a:lnTo>
                    <a:pt x="0" y="395457"/>
                  </a:lnTo>
                  <a:lnTo>
                    <a:pt x="0" y="197728"/>
                  </a:lnTo>
                  <a:lnTo>
                    <a:pt x="0" y="79092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184687" y="5533016"/>
            <a:ext cx="926166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324" spc="-9" dirty="0">
                <a:solidFill>
                  <a:srgbClr val="292934"/>
                </a:solidFill>
                <a:latin typeface="Verdana"/>
                <a:cs typeface="Verdana"/>
              </a:rPr>
              <a:t>Meaningful</a:t>
            </a:r>
            <a:endParaRPr sz="1324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62665" y="4173003"/>
            <a:ext cx="4182035" cy="1903319"/>
          </a:xfrm>
          <a:custGeom>
            <a:avLst/>
            <a:gdLst/>
            <a:ahLst/>
            <a:cxnLst/>
            <a:rect l="l" t="t" r="r" b="b"/>
            <a:pathLst>
              <a:path w="4739640" h="2157095">
                <a:moveTo>
                  <a:pt x="0" y="0"/>
                </a:moveTo>
                <a:lnTo>
                  <a:pt x="4739426" y="0"/>
                </a:lnTo>
                <a:lnTo>
                  <a:pt x="4739426" y="2156781"/>
                </a:lnTo>
                <a:lnTo>
                  <a:pt x="0" y="2156781"/>
                </a:lnTo>
                <a:lnTo>
                  <a:pt x="0" y="0"/>
                </a:lnTo>
                <a:close/>
              </a:path>
            </a:pathLst>
          </a:custGeom>
          <a:ln w="13546">
            <a:solidFill>
              <a:srgbClr val="8A8AA3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30" name="object 30"/>
          <p:cNvGrpSpPr/>
          <p:nvPr/>
        </p:nvGrpSpPr>
        <p:grpSpPr>
          <a:xfrm>
            <a:off x="5128522" y="4845898"/>
            <a:ext cx="294715" cy="595593"/>
            <a:chOff x="3932725" y="5492017"/>
            <a:chExt cx="334010" cy="675005"/>
          </a:xfrm>
        </p:grpSpPr>
        <p:sp>
          <p:nvSpPr>
            <p:cNvPr id="31" name="object 31"/>
            <p:cNvSpPr/>
            <p:nvPr/>
          </p:nvSpPr>
          <p:spPr>
            <a:xfrm>
              <a:off x="3946818" y="5506110"/>
              <a:ext cx="306070" cy="647065"/>
            </a:xfrm>
            <a:custGeom>
              <a:avLst/>
              <a:gdLst/>
              <a:ahLst/>
              <a:cxnLst/>
              <a:rect l="l" t="t" r="r" b="b"/>
              <a:pathLst>
                <a:path w="306070" h="647064">
                  <a:moveTo>
                    <a:pt x="152853" y="0"/>
                  </a:moveTo>
                  <a:lnTo>
                    <a:pt x="152853" y="161645"/>
                  </a:lnTo>
                  <a:lnTo>
                    <a:pt x="0" y="161645"/>
                  </a:lnTo>
                  <a:lnTo>
                    <a:pt x="0" y="484935"/>
                  </a:lnTo>
                  <a:lnTo>
                    <a:pt x="152853" y="484935"/>
                  </a:lnTo>
                  <a:lnTo>
                    <a:pt x="152853" y="646579"/>
                  </a:lnTo>
                  <a:lnTo>
                    <a:pt x="305705" y="323289"/>
                  </a:lnTo>
                  <a:lnTo>
                    <a:pt x="152853" y="0"/>
                  </a:lnTo>
                  <a:close/>
                </a:path>
              </a:pathLst>
            </a:custGeom>
            <a:solidFill>
              <a:srgbClr val="93A29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3946818" y="5506110"/>
              <a:ext cx="306070" cy="647065"/>
            </a:xfrm>
            <a:custGeom>
              <a:avLst/>
              <a:gdLst/>
              <a:ahLst/>
              <a:cxnLst/>
              <a:rect l="l" t="t" r="r" b="b"/>
              <a:pathLst>
                <a:path w="306070" h="647064">
                  <a:moveTo>
                    <a:pt x="0" y="161645"/>
                  </a:moveTo>
                  <a:lnTo>
                    <a:pt x="152853" y="161645"/>
                  </a:lnTo>
                  <a:lnTo>
                    <a:pt x="152853" y="0"/>
                  </a:lnTo>
                  <a:lnTo>
                    <a:pt x="305705" y="323290"/>
                  </a:lnTo>
                  <a:lnTo>
                    <a:pt x="152853" y="646580"/>
                  </a:lnTo>
                  <a:lnTo>
                    <a:pt x="152853" y="484935"/>
                  </a:lnTo>
                  <a:lnTo>
                    <a:pt x="0" y="484935"/>
                  </a:lnTo>
                  <a:lnTo>
                    <a:pt x="0" y="161645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1040" y="253733"/>
            <a:ext cx="3463178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10" dirty="0"/>
              <a:t>Pri</a:t>
            </a:r>
            <a:r>
              <a:rPr spc="-124" dirty="0"/>
              <a:t>m</a:t>
            </a:r>
            <a:r>
              <a:rPr spc="-110" dirty="0"/>
              <a:t>ar</a:t>
            </a:r>
            <a:r>
              <a:rPr dirty="0"/>
              <a:t>y</a:t>
            </a:r>
            <a:r>
              <a:rPr spc="-229" dirty="0"/>
              <a:t> </a:t>
            </a:r>
            <a:r>
              <a:rPr spc="-115" dirty="0"/>
              <a:t>K</a:t>
            </a:r>
            <a:r>
              <a:rPr spc="-110" dirty="0"/>
              <a:t>e</a:t>
            </a:r>
            <a:r>
              <a:rPr spc="-119" dirty="0"/>
              <a:t>y</a:t>
            </a:r>
            <a:r>
              <a:rPr dirty="0"/>
              <a:t>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28318" y="3329625"/>
          <a:ext cx="5098115" cy="12622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length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genre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Gone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wind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231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drama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Star</a:t>
                      </a:r>
                      <a:r>
                        <a:rPr sz="15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wars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sciFi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Wayne’s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world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comedy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44778" y="1117002"/>
            <a:ext cx="7959538" cy="2164639"/>
          </a:xfrm>
          <a:prstGeom prst="rect">
            <a:avLst/>
          </a:prstGeom>
        </p:spPr>
        <p:txBody>
          <a:bodyPr vert="horz" wrap="square" lIns="0" tIns="2801" rIns="0" bIns="0" rtlCol="0">
            <a:spAutoFit/>
          </a:bodyPr>
          <a:lstStyle/>
          <a:p>
            <a:pPr marL="11206" marR="4483">
              <a:lnSpc>
                <a:spcPct val="102899"/>
              </a:lnSpc>
              <a:spcBef>
                <a:spcPts val="22"/>
              </a:spcBef>
            </a:pP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DBMSs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automatically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internal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none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defined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endParaRPr sz="1853">
              <a:latin typeface="Verdana"/>
              <a:cs typeface="Verdana"/>
            </a:endParaRPr>
          </a:p>
          <a:p>
            <a:pPr>
              <a:spcBef>
                <a:spcPts val="13"/>
              </a:spcBef>
            </a:pPr>
            <a:endParaRPr sz="2515">
              <a:latin typeface="Verdana"/>
              <a:cs typeface="Verdana"/>
            </a:endParaRPr>
          </a:p>
          <a:p>
            <a:pPr marL="11206"/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Auto-generation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unique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integer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keys:</a:t>
            </a:r>
            <a:endParaRPr sz="1853">
              <a:latin typeface="Verdana"/>
              <a:cs typeface="Verdana"/>
            </a:endParaRPr>
          </a:p>
          <a:p>
            <a:pPr marL="454983" indent="-215725">
              <a:spcBef>
                <a:spcPts val="1231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454983" algn="l"/>
                <a:tab pos="455543" algn="l"/>
              </a:tabLst>
            </a:pPr>
            <a:r>
              <a:rPr sz="1853" spc="13" dirty="0">
                <a:solidFill>
                  <a:srgbClr val="C00000"/>
                </a:solidFill>
                <a:latin typeface="Verdana"/>
                <a:cs typeface="Verdana"/>
              </a:rPr>
              <a:t>SEQUENCE</a:t>
            </a:r>
            <a:r>
              <a:rPr sz="1853" spc="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(SQL: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2003)</a:t>
            </a:r>
            <a:endParaRPr sz="1853">
              <a:latin typeface="Verdana"/>
              <a:cs typeface="Verdana"/>
            </a:endParaRPr>
          </a:p>
          <a:p>
            <a:pPr marL="1584596">
              <a:spcBef>
                <a:spcPts val="1593"/>
              </a:spcBef>
            </a:pP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endParaRPr sz="1677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88573" y="3266952"/>
            <a:ext cx="728943" cy="1411941"/>
          </a:xfrm>
          <a:custGeom>
            <a:avLst/>
            <a:gdLst/>
            <a:ahLst/>
            <a:cxnLst/>
            <a:rect l="l" t="t" r="r" b="b"/>
            <a:pathLst>
              <a:path w="826135" h="1600200">
                <a:moveTo>
                  <a:pt x="0" y="137670"/>
                </a:moveTo>
                <a:lnTo>
                  <a:pt x="7018" y="94155"/>
                </a:lnTo>
                <a:lnTo>
                  <a:pt x="26562" y="56364"/>
                </a:lnTo>
                <a:lnTo>
                  <a:pt x="56364" y="26562"/>
                </a:lnTo>
                <a:lnTo>
                  <a:pt x="94155" y="7018"/>
                </a:lnTo>
                <a:lnTo>
                  <a:pt x="137670" y="0"/>
                </a:lnTo>
                <a:lnTo>
                  <a:pt x="688336" y="0"/>
                </a:lnTo>
                <a:lnTo>
                  <a:pt x="731851" y="7018"/>
                </a:lnTo>
                <a:lnTo>
                  <a:pt x="769643" y="26562"/>
                </a:lnTo>
                <a:lnTo>
                  <a:pt x="799445" y="56364"/>
                </a:lnTo>
                <a:lnTo>
                  <a:pt x="818988" y="94155"/>
                </a:lnTo>
                <a:lnTo>
                  <a:pt x="826007" y="137670"/>
                </a:lnTo>
                <a:lnTo>
                  <a:pt x="826007" y="1462524"/>
                </a:lnTo>
                <a:lnTo>
                  <a:pt x="818988" y="1506039"/>
                </a:lnTo>
                <a:lnTo>
                  <a:pt x="799445" y="1543831"/>
                </a:lnTo>
                <a:lnTo>
                  <a:pt x="769643" y="1573632"/>
                </a:lnTo>
                <a:lnTo>
                  <a:pt x="731851" y="1593176"/>
                </a:lnTo>
                <a:lnTo>
                  <a:pt x="688336" y="1600195"/>
                </a:lnTo>
                <a:lnTo>
                  <a:pt x="137670" y="1600195"/>
                </a:lnTo>
                <a:lnTo>
                  <a:pt x="94155" y="1593176"/>
                </a:lnTo>
                <a:lnTo>
                  <a:pt x="56364" y="1573632"/>
                </a:lnTo>
                <a:lnTo>
                  <a:pt x="26562" y="1543831"/>
                </a:lnTo>
                <a:lnTo>
                  <a:pt x="7018" y="1506039"/>
                </a:lnTo>
                <a:lnTo>
                  <a:pt x="0" y="1462524"/>
                </a:lnTo>
                <a:lnTo>
                  <a:pt x="0" y="137670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 txBox="1"/>
          <p:nvPr/>
        </p:nvSpPr>
        <p:spPr>
          <a:xfrm>
            <a:off x="2273677" y="5164568"/>
            <a:ext cx="3627904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6371" indent="-215164">
              <a:spcBef>
                <a:spcPts val="88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25810" algn="l"/>
                <a:tab pos="226371" algn="l"/>
              </a:tabLst>
            </a:pPr>
            <a:r>
              <a:rPr sz="1853" spc="9" dirty="0">
                <a:solidFill>
                  <a:srgbClr val="C00000"/>
                </a:solidFill>
                <a:latin typeface="Verdana"/>
                <a:cs typeface="Verdana"/>
              </a:rPr>
              <a:t>AUTO_INCREMENT</a:t>
            </a:r>
            <a:r>
              <a:rPr sz="1853" spc="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(MySQL)</a:t>
            </a:r>
            <a:endParaRPr sz="185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7358" y="253733"/>
            <a:ext cx="3371290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15" dirty="0"/>
              <a:t>For</a:t>
            </a:r>
            <a:r>
              <a:rPr spc="-106" dirty="0"/>
              <a:t>e</a:t>
            </a:r>
            <a:r>
              <a:rPr spc="-110" dirty="0"/>
              <a:t>ig</a:t>
            </a:r>
            <a:r>
              <a:rPr dirty="0"/>
              <a:t>n</a:t>
            </a:r>
            <a:r>
              <a:rPr spc="-224" dirty="0"/>
              <a:t> </a:t>
            </a:r>
            <a:r>
              <a:rPr spc="-115" dirty="0"/>
              <a:t>K</a:t>
            </a:r>
            <a:r>
              <a:rPr spc="-106" dirty="0"/>
              <a:t>e</a:t>
            </a:r>
            <a:r>
              <a:rPr spc="-119" dirty="0"/>
              <a:t>y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4778" y="1100865"/>
            <a:ext cx="7767918" cy="565996"/>
          </a:xfrm>
          <a:prstGeom prst="rect">
            <a:avLst/>
          </a:prstGeom>
        </p:spPr>
        <p:txBody>
          <a:bodyPr vert="horz" wrap="square" lIns="0" tIns="2801" rIns="0" bIns="0" rtlCol="0">
            <a:spAutoFit/>
          </a:bodyPr>
          <a:lstStyle/>
          <a:p>
            <a:pPr marL="11206" marR="4483">
              <a:lnSpc>
                <a:spcPct val="102899"/>
              </a:lnSpc>
              <a:spcBef>
                <a:spcPts val="22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C00000"/>
                </a:solidFill>
                <a:latin typeface="Verdana"/>
                <a:cs typeface="Verdana"/>
              </a:rPr>
              <a:t>foreign</a:t>
            </a:r>
            <a:r>
              <a:rPr sz="1853" spc="18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C00000"/>
                </a:solidFill>
                <a:latin typeface="Verdana"/>
                <a:cs typeface="Verdana"/>
              </a:rPr>
              <a:t>key</a:t>
            </a:r>
            <a:r>
              <a:rPr sz="1853" spc="18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specifies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attribute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853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map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tuple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endParaRPr sz="1853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10153" y="2255443"/>
          <a:ext cx="3151093" cy="12622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5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country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Donald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213885" y="1943996"/>
            <a:ext cx="313540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Artist(</a:t>
            </a:r>
            <a:r>
              <a:rPr sz="1588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</a:t>
            </a:r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588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spc="4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588" spc="-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spc="-49" dirty="0">
                <a:solidFill>
                  <a:srgbClr val="292934"/>
                </a:solidFill>
                <a:latin typeface="Verdana"/>
                <a:cs typeface="Verdana"/>
              </a:rPr>
              <a:t>year,</a:t>
            </a:r>
            <a:r>
              <a:rPr sz="1588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spc="4" dirty="0">
                <a:solidFill>
                  <a:srgbClr val="292934"/>
                </a:solidFill>
                <a:latin typeface="Verdana"/>
                <a:cs typeface="Verdana"/>
              </a:rPr>
              <a:t>country)</a:t>
            </a:r>
            <a:endParaRPr sz="1588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862729" y="4355352"/>
          <a:ext cx="4145053" cy="12622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57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artists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3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Mickey’s</a:t>
                      </a:r>
                      <a:r>
                        <a:rPr sz="15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Club</a:t>
                      </a:r>
                      <a:r>
                        <a:rPr sz="15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House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Awesome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sz="15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wanted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496262" y="4992444"/>
            <a:ext cx="728943" cy="319368"/>
          </a:xfrm>
          <a:custGeom>
            <a:avLst/>
            <a:gdLst/>
            <a:ahLst/>
            <a:cxnLst/>
            <a:rect l="l" t="t" r="r" b="b"/>
            <a:pathLst>
              <a:path w="826135" h="361950">
                <a:moveTo>
                  <a:pt x="0" y="60283"/>
                </a:moveTo>
                <a:lnTo>
                  <a:pt x="4737" y="36818"/>
                </a:lnTo>
                <a:lnTo>
                  <a:pt x="17656" y="17656"/>
                </a:lnTo>
                <a:lnTo>
                  <a:pt x="36818" y="4737"/>
                </a:lnTo>
                <a:lnTo>
                  <a:pt x="60283" y="0"/>
                </a:lnTo>
                <a:lnTo>
                  <a:pt x="765723" y="0"/>
                </a:lnTo>
                <a:lnTo>
                  <a:pt x="789188" y="4737"/>
                </a:lnTo>
                <a:lnTo>
                  <a:pt x="808350" y="17656"/>
                </a:lnTo>
                <a:lnTo>
                  <a:pt x="821270" y="36818"/>
                </a:lnTo>
                <a:lnTo>
                  <a:pt x="826007" y="60283"/>
                </a:lnTo>
                <a:lnTo>
                  <a:pt x="826007" y="301409"/>
                </a:lnTo>
                <a:lnTo>
                  <a:pt x="821270" y="324875"/>
                </a:lnTo>
                <a:lnTo>
                  <a:pt x="808350" y="344037"/>
                </a:lnTo>
                <a:lnTo>
                  <a:pt x="789188" y="356956"/>
                </a:lnTo>
                <a:lnTo>
                  <a:pt x="765723" y="361693"/>
                </a:lnTo>
                <a:lnTo>
                  <a:pt x="60283" y="361693"/>
                </a:lnTo>
                <a:lnTo>
                  <a:pt x="36818" y="356956"/>
                </a:lnTo>
                <a:lnTo>
                  <a:pt x="17656" y="344037"/>
                </a:lnTo>
                <a:lnTo>
                  <a:pt x="4737" y="324875"/>
                </a:lnTo>
                <a:lnTo>
                  <a:pt x="0" y="301409"/>
                </a:lnTo>
                <a:lnTo>
                  <a:pt x="0" y="60283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8" name="object 8"/>
          <p:cNvGrpSpPr/>
          <p:nvPr/>
        </p:nvGrpSpPr>
        <p:grpSpPr>
          <a:xfrm>
            <a:off x="5847230" y="2189397"/>
            <a:ext cx="883024" cy="2803151"/>
            <a:chOff x="4747261" y="2481316"/>
            <a:chExt cx="1000760" cy="3176905"/>
          </a:xfrm>
        </p:grpSpPr>
        <p:sp>
          <p:nvSpPr>
            <p:cNvPr id="9" name="object 9"/>
            <p:cNvSpPr/>
            <p:nvPr/>
          </p:nvSpPr>
          <p:spPr>
            <a:xfrm>
              <a:off x="4747261" y="3393439"/>
              <a:ext cx="412115" cy="2265045"/>
            </a:xfrm>
            <a:custGeom>
              <a:avLst/>
              <a:gdLst/>
              <a:ahLst/>
              <a:cxnLst/>
              <a:rect l="l" t="t" r="r" b="b"/>
              <a:pathLst>
                <a:path w="412114" h="2265045">
                  <a:moveTo>
                    <a:pt x="320546" y="30480"/>
                  </a:moveTo>
                  <a:lnTo>
                    <a:pt x="6823" y="30480"/>
                  </a:lnTo>
                  <a:lnTo>
                    <a:pt x="0" y="37303"/>
                  </a:lnTo>
                  <a:lnTo>
                    <a:pt x="0" y="2264664"/>
                  </a:lnTo>
                  <a:lnTo>
                    <a:pt x="30480" y="2264664"/>
                  </a:lnTo>
                  <a:lnTo>
                    <a:pt x="30480" y="60960"/>
                  </a:lnTo>
                  <a:lnTo>
                    <a:pt x="15239" y="60960"/>
                  </a:lnTo>
                  <a:lnTo>
                    <a:pt x="30480" y="45720"/>
                  </a:lnTo>
                  <a:lnTo>
                    <a:pt x="320546" y="45720"/>
                  </a:lnTo>
                  <a:lnTo>
                    <a:pt x="320546" y="30480"/>
                  </a:lnTo>
                  <a:close/>
                </a:path>
                <a:path w="412114" h="2265045">
                  <a:moveTo>
                    <a:pt x="320546" y="0"/>
                  </a:moveTo>
                  <a:lnTo>
                    <a:pt x="320546" y="91439"/>
                  </a:lnTo>
                  <a:lnTo>
                    <a:pt x="381506" y="60960"/>
                  </a:lnTo>
                  <a:lnTo>
                    <a:pt x="335786" y="60960"/>
                  </a:lnTo>
                  <a:lnTo>
                    <a:pt x="335786" y="30480"/>
                  </a:lnTo>
                  <a:lnTo>
                    <a:pt x="381506" y="30480"/>
                  </a:lnTo>
                  <a:lnTo>
                    <a:pt x="320546" y="0"/>
                  </a:lnTo>
                  <a:close/>
                </a:path>
                <a:path w="412114" h="2265045">
                  <a:moveTo>
                    <a:pt x="30480" y="45720"/>
                  </a:moveTo>
                  <a:lnTo>
                    <a:pt x="15239" y="60960"/>
                  </a:lnTo>
                  <a:lnTo>
                    <a:pt x="30480" y="60960"/>
                  </a:lnTo>
                  <a:lnTo>
                    <a:pt x="30480" y="45720"/>
                  </a:lnTo>
                  <a:close/>
                </a:path>
                <a:path w="412114" h="2265045">
                  <a:moveTo>
                    <a:pt x="320546" y="45720"/>
                  </a:moveTo>
                  <a:lnTo>
                    <a:pt x="30480" y="45720"/>
                  </a:lnTo>
                  <a:lnTo>
                    <a:pt x="30480" y="60960"/>
                  </a:lnTo>
                  <a:lnTo>
                    <a:pt x="320546" y="60960"/>
                  </a:lnTo>
                  <a:lnTo>
                    <a:pt x="320546" y="45720"/>
                  </a:lnTo>
                  <a:close/>
                </a:path>
                <a:path w="412114" h="2265045">
                  <a:moveTo>
                    <a:pt x="381506" y="30480"/>
                  </a:moveTo>
                  <a:lnTo>
                    <a:pt x="335786" y="30480"/>
                  </a:lnTo>
                  <a:lnTo>
                    <a:pt x="335786" y="60960"/>
                  </a:lnTo>
                  <a:lnTo>
                    <a:pt x="381506" y="60960"/>
                  </a:lnTo>
                  <a:lnTo>
                    <a:pt x="411986" y="45720"/>
                  </a:lnTo>
                  <a:lnTo>
                    <a:pt x="381506" y="3048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5173696" y="2495410"/>
              <a:ext cx="560070" cy="1562735"/>
            </a:xfrm>
            <a:custGeom>
              <a:avLst/>
              <a:gdLst/>
              <a:ahLst/>
              <a:cxnLst/>
              <a:rect l="l" t="t" r="r" b="b"/>
              <a:pathLst>
                <a:path w="560070" h="1562735">
                  <a:moveTo>
                    <a:pt x="0" y="93322"/>
                  </a:moveTo>
                  <a:lnTo>
                    <a:pt x="7333" y="56997"/>
                  </a:lnTo>
                  <a:lnTo>
                    <a:pt x="27333" y="27333"/>
                  </a:lnTo>
                  <a:lnTo>
                    <a:pt x="56997" y="7333"/>
                  </a:lnTo>
                  <a:lnTo>
                    <a:pt x="93322" y="0"/>
                  </a:lnTo>
                  <a:lnTo>
                    <a:pt x="466606" y="0"/>
                  </a:lnTo>
                  <a:lnTo>
                    <a:pt x="502932" y="7333"/>
                  </a:lnTo>
                  <a:lnTo>
                    <a:pt x="532596" y="27333"/>
                  </a:lnTo>
                  <a:lnTo>
                    <a:pt x="552595" y="56997"/>
                  </a:lnTo>
                  <a:lnTo>
                    <a:pt x="559929" y="93322"/>
                  </a:lnTo>
                  <a:lnTo>
                    <a:pt x="559929" y="1469058"/>
                  </a:lnTo>
                  <a:lnTo>
                    <a:pt x="552595" y="1505383"/>
                  </a:lnTo>
                  <a:lnTo>
                    <a:pt x="532596" y="1535047"/>
                  </a:lnTo>
                  <a:lnTo>
                    <a:pt x="502932" y="1555046"/>
                  </a:lnTo>
                  <a:lnTo>
                    <a:pt x="466606" y="1562380"/>
                  </a:lnTo>
                  <a:lnTo>
                    <a:pt x="93322" y="1562380"/>
                  </a:lnTo>
                  <a:lnTo>
                    <a:pt x="56997" y="1555046"/>
                  </a:lnTo>
                  <a:lnTo>
                    <a:pt x="27333" y="1535047"/>
                  </a:lnTo>
                  <a:lnTo>
                    <a:pt x="7333" y="1505383"/>
                  </a:lnTo>
                  <a:lnTo>
                    <a:pt x="0" y="1469058"/>
                  </a:lnTo>
                  <a:lnTo>
                    <a:pt x="0" y="93322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80806" y="3554953"/>
            <a:ext cx="4366372" cy="7444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R="4483" algn="r">
              <a:spcBef>
                <a:spcPts val="88"/>
              </a:spcBef>
            </a:pPr>
            <a:r>
              <a:rPr sz="1588" dirty="0">
                <a:solidFill>
                  <a:srgbClr val="004DD6"/>
                </a:solidFill>
                <a:latin typeface="Verdana"/>
                <a:cs typeface="Verdana"/>
              </a:rPr>
              <a:t>Primary</a:t>
            </a:r>
            <a:r>
              <a:rPr sz="1588" spc="-31" dirty="0">
                <a:solidFill>
                  <a:srgbClr val="004DD6"/>
                </a:solidFill>
                <a:latin typeface="Verdana"/>
                <a:cs typeface="Verdana"/>
              </a:rPr>
              <a:t> </a:t>
            </a:r>
            <a:r>
              <a:rPr sz="1588" spc="-4" dirty="0">
                <a:solidFill>
                  <a:srgbClr val="004DD6"/>
                </a:solidFill>
                <a:latin typeface="Verdana"/>
                <a:cs typeface="Verdana"/>
              </a:rPr>
              <a:t>key</a:t>
            </a:r>
            <a:endParaRPr sz="1588">
              <a:latin typeface="Verdana"/>
              <a:cs typeface="Verdana"/>
            </a:endParaRPr>
          </a:p>
          <a:p>
            <a:pPr>
              <a:spcBef>
                <a:spcPts val="18"/>
              </a:spcBef>
            </a:pPr>
            <a:endParaRPr sz="1588">
              <a:latin typeface="Verdana"/>
              <a:cs typeface="Verdana"/>
            </a:endParaRPr>
          </a:p>
          <a:p>
            <a:pPr marL="11206"/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Album(</a:t>
            </a:r>
            <a:r>
              <a:rPr sz="1588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</a:t>
            </a:r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588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spc="4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588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spc="4" dirty="0">
                <a:solidFill>
                  <a:srgbClr val="292934"/>
                </a:solidFill>
                <a:latin typeface="Verdana"/>
                <a:cs typeface="Verdana"/>
              </a:rPr>
              <a:t>artists,</a:t>
            </a:r>
            <a:r>
              <a:rPr sz="1588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year)</a:t>
            </a:r>
            <a:endParaRPr sz="1588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66024" y="5604285"/>
            <a:ext cx="1206313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4" dirty="0">
                <a:solidFill>
                  <a:srgbClr val="004DD6"/>
                </a:solidFill>
                <a:latin typeface="Verdana"/>
                <a:cs typeface="Verdana"/>
              </a:rPr>
              <a:t>Foreign</a:t>
            </a:r>
            <a:r>
              <a:rPr sz="1588" spc="-53" dirty="0">
                <a:solidFill>
                  <a:srgbClr val="004DD6"/>
                </a:solidFill>
                <a:latin typeface="Verdana"/>
                <a:cs typeface="Verdana"/>
              </a:rPr>
              <a:t> </a:t>
            </a:r>
            <a:r>
              <a:rPr sz="1588" spc="-4" dirty="0">
                <a:solidFill>
                  <a:srgbClr val="004DD6"/>
                </a:solidFill>
                <a:latin typeface="Verdana"/>
                <a:cs typeface="Verdana"/>
              </a:rPr>
              <a:t>key</a:t>
            </a:r>
            <a:endParaRPr sz="1588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3131" y="2092363"/>
            <a:ext cx="3641463" cy="153834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172382" y="2107122"/>
            <a:ext cx="3199279" cy="1003371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45116" rIns="0" bIns="0" rtlCol="0">
            <a:spAutoFit/>
          </a:bodyPr>
          <a:lstStyle/>
          <a:p>
            <a:pPr marL="219087" marR="203397" indent="1121" algn="ctr">
              <a:lnSpc>
                <a:spcPct val="102899"/>
              </a:lnSpc>
              <a:spcBef>
                <a:spcPts val="1143"/>
              </a:spcBef>
            </a:pP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Attribute(s)</a:t>
            </a:r>
            <a:r>
              <a:rPr sz="1853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uniquely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1853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row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853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endParaRPr sz="1853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94035" y="4624780"/>
            <a:ext cx="2701738" cy="776568"/>
            <a:chOff x="6160306" y="5241418"/>
            <a:chExt cx="3061970" cy="880110"/>
          </a:xfrm>
        </p:grpSpPr>
        <p:sp>
          <p:nvSpPr>
            <p:cNvPr id="16" name="object 16"/>
            <p:cNvSpPr/>
            <p:nvPr/>
          </p:nvSpPr>
          <p:spPr>
            <a:xfrm>
              <a:off x="6174399" y="5255511"/>
              <a:ext cx="3034030" cy="851535"/>
            </a:xfrm>
            <a:custGeom>
              <a:avLst/>
              <a:gdLst/>
              <a:ahLst/>
              <a:cxnLst/>
              <a:rect l="l" t="t" r="r" b="b"/>
              <a:pathLst>
                <a:path w="3034029" h="851535">
                  <a:moveTo>
                    <a:pt x="2910517" y="0"/>
                  </a:moveTo>
                  <a:lnTo>
                    <a:pt x="682092" y="0"/>
                  </a:lnTo>
                  <a:lnTo>
                    <a:pt x="634196" y="9669"/>
                  </a:lnTo>
                  <a:lnTo>
                    <a:pt x="595084" y="36040"/>
                  </a:lnTo>
                  <a:lnTo>
                    <a:pt x="568713" y="75152"/>
                  </a:lnTo>
                  <a:lnTo>
                    <a:pt x="559043" y="123049"/>
                  </a:lnTo>
                  <a:lnTo>
                    <a:pt x="559043" y="430663"/>
                  </a:lnTo>
                  <a:lnTo>
                    <a:pt x="0" y="851421"/>
                  </a:lnTo>
                  <a:lnTo>
                    <a:pt x="559043" y="615229"/>
                  </a:lnTo>
                  <a:lnTo>
                    <a:pt x="3033567" y="615229"/>
                  </a:lnTo>
                  <a:lnTo>
                    <a:pt x="3033567" y="123049"/>
                  </a:lnTo>
                  <a:lnTo>
                    <a:pt x="3023897" y="75152"/>
                  </a:lnTo>
                  <a:lnTo>
                    <a:pt x="2997527" y="36040"/>
                  </a:lnTo>
                  <a:lnTo>
                    <a:pt x="2958414" y="9669"/>
                  </a:lnTo>
                  <a:lnTo>
                    <a:pt x="2910517" y="0"/>
                  </a:lnTo>
                  <a:close/>
                </a:path>
                <a:path w="3034029" h="851535">
                  <a:moveTo>
                    <a:pt x="3033567" y="615229"/>
                  </a:moveTo>
                  <a:lnTo>
                    <a:pt x="559043" y="615229"/>
                  </a:lnTo>
                  <a:lnTo>
                    <a:pt x="568713" y="663125"/>
                  </a:lnTo>
                  <a:lnTo>
                    <a:pt x="595084" y="702238"/>
                  </a:lnTo>
                  <a:lnTo>
                    <a:pt x="634196" y="728609"/>
                  </a:lnTo>
                  <a:lnTo>
                    <a:pt x="682092" y="738278"/>
                  </a:lnTo>
                  <a:lnTo>
                    <a:pt x="2910517" y="738278"/>
                  </a:lnTo>
                  <a:lnTo>
                    <a:pt x="2958414" y="728609"/>
                  </a:lnTo>
                  <a:lnTo>
                    <a:pt x="2997527" y="702238"/>
                  </a:lnTo>
                  <a:lnTo>
                    <a:pt x="3023897" y="663125"/>
                  </a:lnTo>
                  <a:lnTo>
                    <a:pt x="3033567" y="615229"/>
                  </a:lnTo>
                  <a:close/>
                </a:path>
              </a:pathLst>
            </a:custGeom>
            <a:solidFill>
              <a:srgbClr val="000E6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74399" y="5255511"/>
              <a:ext cx="3034030" cy="851535"/>
            </a:xfrm>
            <a:custGeom>
              <a:avLst/>
              <a:gdLst/>
              <a:ahLst/>
              <a:cxnLst/>
              <a:rect l="l" t="t" r="r" b="b"/>
              <a:pathLst>
                <a:path w="3034029" h="851535">
                  <a:moveTo>
                    <a:pt x="559043" y="123049"/>
                  </a:moveTo>
                  <a:lnTo>
                    <a:pt x="568713" y="75153"/>
                  </a:lnTo>
                  <a:lnTo>
                    <a:pt x="595084" y="36040"/>
                  </a:lnTo>
                  <a:lnTo>
                    <a:pt x="634196" y="9669"/>
                  </a:lnTo>
                  <a:lnTo>
                    <a:pt x="682093" y="0"/>
                  </a:lnTo>
                  <a:lnTo>
                    <a:pt x="971464" y="0"/>
                  </a:lnTo>
                  <a:lnTo>
                    <a:pt x="1590095" y="0"/>
                  </a:lnTo>
                  <a:lnTo>
                    <a:pt x="2910517" y="0"/>
                  </a:lnTo>
                  <a:lnTo>
                    <a:pt x="2958414" y="9669"/>
                  </a:lnTo>
                  <a:lnTo>
                    <a:pt x="2997527" y="36040"/>
                  </a:lnTo>
                  <a:lnTo>
                    <a:pt x="3023897" y="75153"/>
                  </a:lnTo>
                  <a:lnTo>
                    <a:pt x="3033567" y="123049"/>
                  </a:lnTo>
                  <a:lnTo>
                    <a:pt x="3033567" y="430663"/>
                  </a:lnTo>
                  <a:lnTo>
                    <a:pt x="3033567" y="615232"/>
                  </a:lnTo>
                  <a:lnTo>
                    <a:pt x="3023897" y="663126"/>
                  </a:lnTo>
                  <a:lnTo>
                    <a:pt x="2997527" y="702239"/>
                  </a:lnTo>
                  <a:lnTo>
                    <a:pt x="2958414" y="728609"/>
                  </a:lnTo>
                  <a:lnTo>
                    <a:pt x="2910517" y="738279"/>
                  </a:lnTo>
                  <a:lnTo>
                    <a:pt x="1590095" y="738279"/>
                  </a:lnTo>
                  <a:lnTo>
                    <a:pt x="971464" y="738279"/>
                  </a:lnTo>
                  <a:lnTo>
                    <a:pt x="682093" y="738279"/>
                  </a:lnTo>
                  <a:lnTo>
                    <a:pt x="634196" y="728609"/>
                  </a:lnTo>
                  <a:lnTo>
                    <a:pt x="595084" y="702239"/>
                  </a:lnTo>
                  <a:lnTo>
                    <a:pt x="568713" y="663126"/>
                  </a:lnTo>
                  <a:lnTo>
                    <a:pt x="559043" y="615229"/>
                  </a:lnTo>
                  <a:lnTo>
                    <a:pt x="0" y="851421"/>
                  </a:lnTo>
                  <a:lnTo>
                    <a:pt x="559043" y="430663"/>
                  </a:lnTo>
                  <a:lnTo>
                    <a:pt x="559043" y="123049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856981" y="4745019"/>
            <a:ext cx="1670237" cy="377554"/>
          </a:xfrm>
          <a:prstGeom prst="rect">
            <a:avLst/>
          </a:prstGeom>
        </p:spPr>
        <p:txBody>
          <a:bodyPr vert="horz" wrap="square" lIns="0" tIns="43703" rIns="0" bIns="0" rtlCol="0">
            <a:spAutoFit/>
          </a:bodyPr>
          <a:lstStyle/>
          <a:p>
            <a:pPr marL="180424" marR="4483" indent="-169778">
              <a:lnSpc>
                <a:spcPts val="1332"/>
              </a:lnSpc>
              <a:spcBef>
                <a:spcPts val="344"/>
              </a:spcBef>
            </a:pPr>
            <a:r>
              <a:rPr sz="1324" spc="-4" dirty="0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sz="1324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24" spc="-4" dirty="0">
                <a:solidFill>
                  <a:srgbClr val="FFFFFF"/>
                </a:solidFill>
                <a:latin typeface="Verdana"/>
                <a:cs typeface="Verdana"/>
              </a:rPr>
              <a:t>about</a:t>
            </a:r>
            <a:r>
              <a:rPr sz="1324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24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324" spc="-4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24" spc="-4" dirty="0">
                <a:solidFill>
                  <a:srgbClr val="FFFFFF"/>
                </a:solidFill>
                <a:latin typeface="Verdana"/>
                <a:cs typeface="Verdana"/>
              </a:rPr>
              <a:t>artists </a:t>
            </a:r>
            <a:r>
              <a:rPr sz="1324" spc="-449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Verdana"/>
                <a:cs typeface="Verdana"/>
              </a:rPr>
              <a:t>(123</a:t>
            </a:r>
            <a:r>
              <a:rPr sz="1324" spc="-26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24" spc="-4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324" spc="-22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Verdana"/>
                <a:cs typeface="Verdana"/>
              </a:rPr>
              <a:t>789)?</a:t>
            </a:r>
            <a:endParaRPr sz="1324">
              <a:latin typeface="Verdana"/>
              <a:cs typeface="Verdana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7514785" y="5403460"/>
          <a:ext cx="2716304" cy="616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8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9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5299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sz="13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wanted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5299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5299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1995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5299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3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3618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sz="13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wanted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3618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3618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1995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3618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7358" y="253733"/>
            <a:ext cx="3371290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15" dirty="0"/>
              <a:t>For</a:t>
            </a:r>
            <a:r>
              <a:rPr spc="-106" dirty="0"/>
              <a:t>e</a:t>
            </a:r>
            <a:r>
              <a:rPr spc="-110" dirty="0"/>
              <a:t>ig</a:t>
            </a:r>
            <a:r>
              <a:rPr dirty="0"/>
              <a:t>n</a:t>
            </a:r>
            <a:r>
              <a:rPr spc="-224" dirty="0"/>
              <a:t> </a:t>
            </a:r>
            <a:r>
              <a:rPr spc="-115" dirty="0"/>
              <a:t>K</a:t>
            </a:r>
            <a:r>
              <a:rPr spc="-106" dirty="0"/>
              <a:t>e</a:t>
            </a:r>
            <a:r>
              <a:rPr spc="-119" dirty="0"/>
              <a:t>y</a:t>
            </a:r>
            <a:r>
              <a:rPr dirty="0"/>
              <a:t>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81869" y="2025947"/>
          <a:ext cx="3151093" cy="12622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5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country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Donald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285603" y="1715396"/>
            <a:ext cx="313540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Artist(</a:t>
            </a:r>
            <a:r>
              <a:rPr sz="1588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</a:t>
            </a:r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588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spc="4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588" spc="-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spc="-49" dirty="0">
                <a:solidFill>
                  <a:srgbClr val="292934"/>
                </a:solidFill>
                <a:latin typeface="Verdana"/>
                <a:cs typeface="Verdana"/>
              </a:rPr>
              <a:t>year,</a:t>
            </a:r>
            <a:r>
              <a:rPr sz="1588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spc="4" dirty="0">
                <a:solidFill>
                  <a:srgbClr val="292934"/>
                </a:solidFill>
                <a:latin typeface="Verdana"/>
                <a:cs typeface="Verdana"/>
              </a:rPr>
              <a:t>country)</a:t>
            </a:r>
            <a:endParaRPr sz="1588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832570" y="4294791"/>
          <a:ext cx="3356159" cy="12622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3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557"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3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Mickey’s</a:t>
                      </a:r>
                      <a:r>
                        <a:rPr sz="15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Club</a:t>
                      </a:r>
                      <a:r>
                        <a:rPr sz="1500" spc="-1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House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Awesome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sz="15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wanted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850648" y="3982570"/>
            <a:ext cx="234371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Album(</a:t>
            </a:r>
            <a:r>
              <a:rPr sz="1588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id</a:t>
            </a:r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588" spc="-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spc="4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1588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year)</a:t>
            </a:r>
            <a:endParaRPr sz="1588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346362" y="2035813"/>
          <a:ext cx="2252382" cy="1577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artist_id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album_id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3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370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789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557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456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3664312" y="1931893"/>
            <a:ext cx="1938618" cy="11206"/>
          </a:xfrm>
          <a:custGeom>
            <a:avLst/>
            <a:gdLst/>
            <a:ahLst/>
            <a:cxnLst/>
            <a:rect l="l" t="t" r="r" b="b"/>
            <a:pathLst>
              <a:path w="2197100" h="12700">
                <a:moveTo>
                  <a:pt x="965200" y="0"/>
                </a:moveTo>
                <a:lnTo>
                  <a:pt x="0" y="0"/>
                </a:lnTo>
                <a:lnTo>
                  <a:pt x="0" y="12700"/>
                </a:lnTo>
                <a:lnTo>
                  <a:pt x="965200" y="12700"/>
                </a:lnTo>
                <a:lnTo>
                  <a:pt x="965200" y="0"/>
                </a:lnTo>
                <a:close/>
              </a:path>
              <a:path w="2197100" h="12700">
                <a:moveTo>
                  <a:pt x="2197100" y="0"/>
                </a:moveTo>
                <a:lnTo>
                  <a:pt x="1130300" y="0"/>
                </a:lnTo>
                <a:lnTo>
                  <a:pt x="1130300" y="12700"/>
                </a:lnTo>
                <a:lnTo>
                  <a:pt x="2197100" y="12700"/>
                </a:lnTo>
                <a:lnTo>
                  <a:pt x="2197100" y="0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2364439" y="1696570"/>
            <a:ext cx="333094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ArtistAlbum(artist_id,</a:t>
            </a:r>
            <a:r>
              <a:rPr sz="1588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88" dirty="0">
                <a:solidFill>
                  <a:srgbClr val="292934"/>
                </a:solidFill>
                <a:latin typeface="Verdana"/>
                <a:cs typeface="Verdana"/>
              </a:rPr>
              <a:t>album_id)</a:t>
            </a:r>
            <a:endParaRPr sz="1588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33339" y="1249678"/>
            <a:ext cx="3443007" cy="2745441"/>
            <a:chOff x="2238184" y="1416302"/>
            <a:chExt cx="3902075" cy="3111500"/>
          </a:xfrm>
        </p:grpSpPr>
        <p:sp>
          <p:nvSpPr>
            <p:cNvPr id="11" name="object 11"/>
            <p:cNvSpPr/>
            <p:nvPr/>
          </p:nvSpPr>
          <p:spPr>
            <a:xfrm>
              <a:off x="3918205" y="2244344"/>
              <a:ext cx="705485" cy="2283460"/>
            </a:xfrm>
            <a:custGeom>
              <a:avLst/>
              <a:gdLst/>
              <a:ahLst/>
              <a:cxnLst/>
              <a:rect l="l" t="t" r="r" b="b"/>
              <a:pathLst>
                <a:path w="705485" h="2283460">
                  <a:moveTo>
                    <a:pt x="644199" y="2191623"/>
                  </a:moveTo>
                  <a:lnTo>
                    <a:pt x="613719" y="2191623"/>
                  </a:lnTo>
                  <a:lnTo>
                    <a:pt x="659439" y="2283063"/>
                  </a:lnTo>
                  <a:lnTo>
                    <a:pt x="697539" y="2206863"/>
                  </a:lnTo>
                  <a:lnTo>
                    <a:pt x="644199" y="2206863"/>
                  </a:lnTo>
                  <a:lnTo>
                    <a:pt x="644199" y="2191623"/>
                  </a:lnTo>
                  <a:close/>
                </a:path>
                <a:path w="705485" h="2283460">
                  <a:moveTo>
                    <a:pt x="644199" y="1141531"/>
                  </a:moveTo>
                  <a:lnTo>
                    <a:pt x="644199" y="2206863"/>
                  </a:lnTo>
                  <a:lnTo>
                    <a:pt x="674679" y="2206863"/>
                  </a:lnTo>
                  <a:lnTo>
                    <a:pt x="674679" y="1156771"/>
                  </a:lnTo>
                  <a:lnTo>
                    <a:pt x="659439" y="1156771"/>
                  </a:lnTo>
                  <a:lnTo>
                    <a:pt x="644199" y="1141531"/>
                  </a:lnTo>
                  <a:close/>
                </a:path>
                <a:path w="705485" h="2283460">
                  <a:moveTo>
                    <a:pt x="705159" y="2191623"/>
                  </a:moveTo>
                  <a:lnTo>
                    <a:pt x="674679" y="2191623"/>
                  </a:lnTo>
                  <a:lnTo>
                    <a:pt x="674679" y="2206863"/>
                  </a:lnTo>
                  <a:lnTo>
                    <a:pt x="697539" y="2206863"/>
                  </a:lnTo>
                  <a:lnTo>
                    <a:pt x="705159" y="2191623"/>
                  </a:lnTo>
                  <a:close/>
                </a:path>
                <a:path w="705485" h="2283460">
                  <a:moveTo>
                    <a:pt x="30479" y="0"/>
                  </a:moveTo>
                  <a:lnTo>
                    <a:pt x="0" y="0"/>
                  </a:lnTo>
                  <a:lnTo>
                    <a:pt x="0" y="1149948"/>
                  </a:lnTo>
                  <a:lnTo>
                    <a:pt x="6822" y="1156771"/>
                  </a:lnTo>
                  <a:lnTo>
                    <a:pt x="644199" y="1156771"/>
                  </a:lnTo>
                  <a:lnTo>
                    <a:pt x="644199" y="1141531"/>
                  </a:lnTo>
                  <a:lnTo>
                    <a:pt x="30479" y="1141531"/>
                  </a:lnTo>
                  <a:lnTo>
                    <a:pt x="15239" y="1126291"/>
                  </a:lnTo>
                  <a:lnTo>
                    <a:pt x="30479" y="1126291"/>
                  </a:lnTo>
                  <a:lnTo>
                    <a:pt x="30479" y="0"/>
                  </a:lnTo>
                  <a:close/>
                </a:path>
                <a:path w="705485" h="2283460">
                  <a:moveTo>
                    <a:pt x="667856" y="1126291"/>
                  </a:moveTo>
                  <a:lnTo>
                    <a:pt x="30479" y="1126291"/>
                  </a:lnTo>
                  <a:lnTo>
                    <a:pt x="30479" y="1141531"/>
                  </a:lnTo>
                  <a:lnTo>
                    <a:pt x="644199" y="1141531"/>
                  </a:lnTo>
                  <a:lnTo>
                    <a:pt x="659439" y="1156771"/>
                  </a:lnTo>
                  <a:lnTo>
                    <a:pt x="674679" y="1156771"/>
                  </a:lnTo>
                  <a:lnTo>
                    <a:pt x="674679" y="1133114"/>
                  </a:lnTo>
                  <a:lnTo>
                    <a:pt x="667856" y="1126291"/>
                  </a:lnTo>
                  <a:close/>
                </a:path>
                <a:path w="705485" h="2283460">
                  <a:moveTo>
                    <a:pt x="30479" y="1126291"/>
                  </a:moveTo>
                  <a:lnTo>
                    <a:pt x="15239" y="1126291"/>
                  </a:lnTo>
                  <a:lnTo>
                    <a:pt x="30479" y="1141531"/>
                  </a:lnTo>
                  <a:lnTo>
                    <a:pt x="30479" y="112629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3374136" y="1902967"/>
              <a:ext cx="1118870" cy="341630"/>
            </a:xfrm>
            <a:custGeom>
              <a:avLst/>
              <a:gdLst/>
              <a:ahLst/>
              <a:cxnLst/>
              <a:rect l="l" t="t" r="r" b="b"/>
              <a:pathLst>
                <a:path w="1118870" h="341630">
                  <a:moveTo>
                    <a:pt x="0" y="56897"/>
                  </a:moveTo>
                  <a:lnTo>
                    <a:pt x="4471" y="34750"/>
                  </a:lnTo>
                  <a:lnTo>
                    <a:pt x="16664" y="16664"/>
                  </a:lnTo>
                  <a:lnTo>
                    <a:pt x="34750" y="4471"/>
                  </a:lnTo>
                  <a:lnTo>
                    <a:pt x="56897" y="0"/>
                  </a:lnTo>
                  <a:lnTo>
                    <a:pt x="1061717" y="0"/>
                  </a:lnTo>
                  <a:lnTo>
                    <a:pt x="1083863" y="4471"/>
                  </a:lnTo>
                  <a:lnTo>
                    <a:pt x="1101949" y="16664"/>
                  </a:lnTo>
                  <a:lnTo>
                    <a:pt x="1114143" y="34750"/>
                  </a:lnTo>
                  <a:lnTo>
                    <a:pt x="1118614" y="56897"/>
                  </a:lnTo>
                  <a:lnTo>
                    <a:pt x="1118614" y="284478"/>
                  </a:lnTo>
                  <a:lnTo>
                    <a:pt x="1114143" y="306625"/>
                  </a:lnTo>
                  <a:lnTo>
                    <a:pt x="1101949" y="324711"/>
                  </a:lnTo>
                  <a:lnTo>
                    <a:pt x="1083863" y="336904"/>
                  </a:lnTo>
                  <a:lnTo>
                    <a:pt x="1061717" y="341375"/>
                  </a:lnTo>
                  <a:lnTo>
                    <a:pt x="56897" y="341375"/>
                  </a:lnTo>
                  <a:lnTo>
                    <a:pt x="34750" y="336904"/>
                  </a:lnTo>
                  <a:lnTo>
                    <a:pt x="16664" y="324711"/>
                  </a:lnTo>
                  <a:lnTo>
                    <a:pt x="4471" y="306625"/>
                  </a:lnTo>
                  <a:lnTo>
                    <a:pt x="0" y="284478"/>
                  </a:lnTo>
                  <a:lnTo>
                    <a:pt x="0" y="56897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0149" y="1416302"/>
              <a:ext cx="3399790" cy="519430"/>
            </a:xfrm>
            <a:custGeom>
              <a:avLst/>
              <a:gdLst/>
              <a:ahLst/>
              <a:cxnLst/>
              <a:rect l="l" t="t" r="r" b="b"/>
              <a:pathLst>
                <a:path w="3399790" h="519430">
                  <a:moveTo>
                    <a:pt x="3338577" y="427738"/>
                  </a:moveTo>
                  <a:lnTo>
                    <a:pt x="3308097" y="427738"/>
                  </a:lnTo>
                  <a:lnTo>
                    <a:pt x="3353817" y="519178"/>
                  </a:lnTo>
                  <a:lnTo>
                    <a:pt x="3391917" y="442978"/>
                  </a:lnTo>
                  <a:lnTo>
                    <a:pt x="3338577" y="442978"/>
                  </a:lnTo>
                  <a:lnTo>
                    <a:pt x="3338577" y="427738"/>
                  </a:lnTo>
                  <a:close/>
                </a:path>
                <a:path w="3399790" h="519430">
                  <a:moveTo>
                    <a:pt x="3362234" y="0"/>
                  </a:moveTo>
                  <a:lnTo>
                    <a:pt x="6822" y="0"/>
                  </a:lnTo>
                  <a:lnTo>
                    <a:pt x="0" y="6822"/>
                  </a:lnTo>
                  <a:lnTo>
                    <a:pt x="0" y="470410"/>
                  </a:lnTo>
                  <a:lnTo>
                    <a:pt x="30479" y="470410"/>
                  </a:lnTo>
                  <a:lnTo>
                    <a:pt x="30479" y="30479"/>
                  </a:lnTo>
                  <a:lnTo>
                    <a:pt x="15239" y="30479"/>
                  </a:lnTo>
                  <a:lnTo>
                    <a:pt x="30479" y="15239"/>
                  </a:lnTo>
                  <a:lnTo>
                    <a:pt x="3369057" y="15239"/>
                  </a:lnTo>
                  <a:lnTo>
                    <a:pt x="3369057" y="6822"/>
                  </a:lnTo>
                  <a:lnTo>
                    <a:pt x="3362234" y="0"/>
                  </a:lnTo>
                  <a:close/>
                </a:path>
                <a:path w="3399790" h="519430">
                  <a:moveTo>
                    <a:pt x="3338577" y="15239"/>
                  </a:moveTo>
                  <a:lnTo>
                    <a:pt x="3338577" y="442978"/>
                  </a:lnTo>
                  <a:lnTo>
                    <a:pt x="3369057" y="442978"/>
                  </a:lnTo>
                  <a:lnTo>
                    <a:pt x="3369057" y="30479"/>
                  </a:lnTo>
                  <a:lnTo>
                    <a:pt x="3353817" y="30479"/>
                  </a:lnTo>
                  <a:lnTo>
                    <a:pt x="3338577" y="15239"/>
                  </a:lnTo>
                  <a:close/>
                </a:path>
                <a:path w="3399790" h="519430">
                  <a:moveTo>
                    <a:pt x="3399537" y="427738"/>
                  </a:moveTo>
                  <a:lnTo>
                    <a:pt x="3369057" y="427738"/>
                  </a:lnTo>
                  <a:lnTo>
                    <a:pt x="3369057" y="442978"/>
                  </a:lnTo>
                  <a:lnTo>
                    <a:pt x="3391917" y="442978"/>
                  </a:lnTo>
                  <a:lnTo>
                    <a:pt x="3399537" y="427738"/>
                  </a:lnTo>
                  <a:close/>
                </a:path>
                <a:path w="3399790" h="519430">
                  <a:moveTo>
                    <a:pt x="30479" y="15239"/>
                  </a:moveTo>
                  <a:lnTo>
                    <a:pt x="15239" y="30479"/>
                  </a:lnTo>
                  <a:lnTo>
                    <a:pt x="30479" y="30479"/>
                  </a:lnTo>
                  <a:lnTo>
                    <a:pt x="30479" y="15239"/>
                  </a:lnTo>
                  <a:close/>
                </a:path>
                <a:path w="3399790" h="519430">
                  <a:moveTo>
                    <a:pt x="3338577" y="15239"/>
                  </a:moveTo>
                  <a:lnTo>
                    <a:pt x="30479" y="15239"/>
                  </a:lnTo>
                  <a:lnTo>
                    <a:pt x="30479" y="30479"/>
                  </a:lnTo>
                  <a:lnTo>
                    <a:pt x="3338577" y="30479"/>
                  </a:lnTo>
                  <a:lnTo>
                    <a:pt x="3338577" y="15239"/>
                  </a:lnTo>
                  <a:close/>
                </a:path>
                <a:path w="3399790" h="519430">
                  <a:moveTo>
                    <a:pt x="3369057" y="15239"/>
                  </a:moveTo>
                  <a:lnTo>
                    <a:pt x="3338577" y="15239"/>
                  </a:lnTo>
                  <a:lnTo>
                    <a:pt x="3353817" y="30479"/>
                  </a:lnTo>
                  <a:lnTo>
                    <a:pt x="3369057" y="30479"/>
                  </a:lnTo>
                  <a:lnTo>
                    <a:pt x="3369057" y="1523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2252472" y="1902969"/>
              <a:ext cx="1014730" cy="341630"/>
            </a:xfrm>
            <a:custGeom>
              <a:avLst/>
              <a:gdLst/>
              <a:ahLst/>
              <a:cxnLst/>
              <a:rect l="l" t="t" r="r" b="b"/>
              <a:pathLst>
                <a:path w="1014729" h="341630">
                  <a:moveTo>
                    <a:pt x="0" y="56896"/>
                  </a:moveTo>
                  <a:lnTo>
                    <a:pt x="4471" y="34749"/>
                  </a:lnTo>
                  <a:lnTo>
                    <a:pt x="16664" y="16664"/>
                  </a:lnTo>
                  <a:lnTo>
                    <a:pt x="34749" y="4471"/>
                  </a:lnTo>
                  <a:lnTo>
                    <a:pt x="56896" y="0"/>
                  </a:lnTo>
                  <a:lnTo>
                    <a:pt x="957477" y="0"/>
                  </a:lnTo>
                  <a:lnTo>
                    <a:pt x="979624" y="4471"/>
                  </a:lnTo>
                  <a:lnTo>
                    <a:pt x="997709" y="16664"/>
                  </a:lnTo>
                  <a:lnTo>
                    <a:pt x="1009903" y="34749"/>
                  </a:lnTo>
                  <a:lnTo>
                    <a:pt x="1014374" y="56896"/>
                  </a:lnTo>
                  <a:lnTo>
                    <a:pt x="1014374" y="284479"/>
                  </a:lnTo>
                  <a:lnTo>
                    <a:pt x="1009903" y="306626"/>
                  </a:lnTo>
                  <a:lnTo>
                    <a:pt x="997709" y="324711"/>
                  </a:lnTo>
                  <a:lnTo>
                    <a:pt x="979624" y="336904"/>
                  </a:lnTo>
                  <a:lnTo>
                    <a:pt x="957477" y="341375"/>
                  </a:lnTo>
                  <a:lnTo>
                    <a:pt x="56896" y="341375"/>
                  </a:lnTo>
                  <a:lnTo>
                    <a:pt x="34749" y="336904"/>
                  </a:lnTo>
                  <a:lnTo>
                    <a:pt x="16664" y="324711"/>
                  </a:lnTo>
                  <a:lnTo>
                    <a:pt x="4471" y="306626"/>
                  </a:lnTo>
                  <a:lnTo>
                    <a:pt x="0" y="284479"/>
                  </a:lnTo>
                  <a:lnTo>
                    <a:pt x="0" y="56896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037096" y="4193402"/>
            <a:ext cx="1621490" cy="984437"/>
            <a:chOff x="429108" y="4752522"/>
            <a:chExt cx="1837689" cy="1115695"/>
          </a:xfrm>
        </p:grpSpPr>
        <p:sp>
          <p:nvSpPr>
            <p:cNvPr id="16" name="object 16"/>
            <p:cNvSpPr/>
            <p:nvPr/>
          </p:nvSpPr>
          <p:spPr>
            <a:xfrm>
              <a:off x="443202" y="4766614"/>
              <a:ext cx="1809750" cy="1087120"/>
            </a:xfrm>
            <a:custGeom>
              <a:avLst/>
              <a:gdLst/>
              <a:ahLst/>
              <a:cxnLst/>
              <a:rect l="l" t="t" r="r" b="b"/>
              <a:pathLst>
                <a:path w="1809750" h="1087120">
                  <a:moveTo>
                    <a:pt x="1686219" y="348794"/>
                  </a:moveTo>
                  <a:lnTo>
                    <a:pt x="123049" y="348794"/>
                  </a:lnTo>
                  <a:lnTo>
                    <a:pt x="75153" y="358463"/>
                  </a:lnTo>
                  <a:lnTo>
                    <a:pt x="36040" y="384834"/>
                  </a:lnTo>
                  <a:lnTo>
                    <a:pt x="9669" y="423947"/>
                  </a:lnTo>
                  <a:lnTo>
                    <a:pt x="1" y="471839"/>
                  </a:lnTo>
                  <a:lnTo>
                    <a:pt x="0" y="964023"/>
                  </a:lnTo>
                  <a:lnTo>
                    <a:pt x="9669" y="1011920"/>
                  </a:lnTo>
                  <a:lnTo>
                    <a:pt x="36040" y="1051032"/>
                  </a:lnTo>
                  <a:lnTo>
                    <a:pt x="75153" y="1077403"/>
                  </a:lnTo>
                  <a:lnTo>
                    <a:pt x="123049" y="1087073"/>
                  </a:lnTo>
                  <a:lnTo>
                    <a:pt x="1686219" y="1087073"/>
                  </a:lnTo>
                  <a:lnTo>
                    <a:pt x="1734116" y="1077403"/>
                  </a:lnTo>
                  <a:lnTo>
                    <a:pt x="1773228" y="1051032"/>
                  </a:lnTo>
                  <a:lnTo>
                    <a:pt x="1799598" y="1011920"/>
                  </a:lnTo>
                  <a:lnTo>
                    <a:pt x="1809268" y="964023"/>
                  </a:lnTo>
                  <a:lnTo>
                    <a:pt x="1809267" y="471839"/>
                  </a:lnTo>
                  <a:lnTo>
                    <a:pt x="1799598" y="423947"/>
                  </a:lnTo>
                  <a:lnTo>
                    <a:pt x="1773228" y="384834"/>
                  </a:lnTo>
                  <a:lnTo>
                    <a:pt x="1734116" y="358463"/>
                  </a:lnTo>
                  <a:lnTo>
                    <a:pt x="1686219" y="348794"/>
                  </a:lnTo>
                  <a:close/>
                </a:path>
                <a:path w="1809750" h="1087120">
                  <a:moveTo>
                    <a:pt x="842249" y="0"/>
                  </a:moveTo>
                  <a:lnTo>
                    <a:pt x="301544" y="348794"/>
                  </a:lnTo>
                  <a:lnTo>
                    <a:pt x="753862" y="348794"/>
                  </a:lnTo>
                  <a:lnTo>
                    <a:pt x="842249" y="0"/>
                  </a:lnTo>
                  <a:close/>
                </a:path>
              </a:pathLst>
            </a:custGeom>
            <a:solidFill>
              <a:srgbClr val="000E6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443202" y="4766615"/>
              <a:ext cx="1809750" cy="1087120"/>
            </a:xfrm>
            <a:custGeom>
              <a:avLst/>
              <a:gdLst/>
              <a:ahLst/>
              <a:cxnLst/>
              <a:rect l="l" t="t" r="r" b="b"/>
              <a:pathLst>
                <a:path w="1809750" h="1087120">
                  <a:moveTo>
                    <a:pt x="0" y="471843"/>
                  </a:moveTo>
                  <a:lnTo>
                    <a:pt x="9669" y="423946"/>
                  </a:lnTo>
                  <a:lnTo>
                    <a:pt x="36040" y="384833"/>
                  </a:lnTo>
                  <a:lnTo>
                    <a:pt x="75153" y="358463"/>
                  </a:lnTo>
                  <a:lnTo>
                    <a:pt x="123049" y="348793"/>
                  </a:lnTo>
                  <a:lnTo>
                    <a:pt x="301544" y="348793"/>
                  </a:lnTo>
                  <a:lnTo>
                    <a:pt x="842250" y="0"/>
                  </a:lnTo>
                  <a:lnTo>
                    <a:pt x="753862" y="348793"/>
                  </a:lnTo>
                  <a:lnTo>
                    <a:pt x="1686219" y="348793"/>
                  </a:lnTo>
                  <a:lnTo>
                    <a:pt x="1734116" y="358463"/>
                  </a:lnTo>
                  <a:lnTo>
                    <a:pt x="1773228" y="384833"/>
                  </a:lnTo>
                  <a:lnTo>
                    <a:pt x="1799599" y="423946"/>
                  </a:lnTo>
                  <a:lnTo>
                    <a:pt x="1809269" y="471843"/>
                  </a:lnTo>
                  <a:lnTo>
                    <a:pt x="1809269" y="656409"/>
                  </a:lnTo>
                  <a:lnTo>
                    <a:pt x="1809269" y="964023"/>
                  </a:lnTo>
                  <a:lnTo>
                    <a:pt x="1799599" y="1011919"/>
                  </a:lnTo>
                  <a:lnTo>
                    <a:pt x="1773228" y="1051032"/>
                  </a:lnTo>
                  <a:lnTo>
                    <a:pt x="1734116" y="1077402"/>
                  </a:lnTo>
                  <a:lnTo>
                    <a:pt x="1686219" y="1087072"/>
                  </a:lnTo>
                  <a:lnTo>
                    <a:pt x="753862" y="1087072"/>
                  </a:lnTo>
                  <a:lnTo>
                    <a:pt x="301544" y="1087072"/>
                  </a:lnTo>
                  <a:lnTo>
                    <a:pt x="123049" y="1087072"/>
                  </a:lnTo>
                  <a:lnTo>
                    <a:pt x="75153" y="1077402"/>
                  </a:lnTo>
                  <a:lnTo>
                    <a:pt x="36040" y="1051032"/>
                  </a:lnTo>
                  <a:lnTo>
                    <a:pt x="9669" y="1011919"/>
                  </a:lnTo>
                  <a:lnTo>
                    <a:pt x="0" y="964023"/>
                  </a:lnTo>
                  <a:lnTo>
                    <a:pt x="0" y="656409"/>
                  </a:lnTo>
                  <a:lnTo>
                    <a:pt x="0" y="471839"/>
                  </a:lnTo>
                  <a:close/>
                </a:path>
              </a:pathLst>
            </a:custGeom>
            <a:ln w="28186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286009" y="4621305"/>
            <a:ext cx="1123950" cy="377554"/>
          </a:xfrm>
          <a:prstGeom prst="rect">
            <a:avLst/>
          </a:prstGeom>
        </p:spPr>
        <p:txBody>
          <a:bodyPr vert="horz" wrap="square" lIns="0" tIns="43703" rIns="0" bIns="0" rtlCol="0">
            <a:spAutoFit/>
          </a:bodyPr>
          <a:lstStyle/>
          <a:p>
            <a:pPr marL="11206" marR="4483" indent="20732">
              <a:lnSpc>
                <a:spcPts val="1332"/>
              </a:lnSpc>
              <a:spcBef>
                <a:spcPts val="344"/>
              </a:spcBef>
            </a:pPr>
            <a:r>
              <a:rPr sz="1324" spc="-4" dirty="0">
                <a:solidFill>
                  <a:srgbClr val="FFFFFF"/>
                </a:solidFill>
                <a:latin typeface="Verdana"/>
                <a:cs typeface="Verdana"/>
              </a:rPr>
              <a:t>How about </a:t>
            </a:r>
            <a:r>
              <a:rPr sz="1324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1324" spc="-4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24" spc="-4" dirty="0">
                <a:solidFill>
                  <a:srgbClr val="FFFFFF"/>
                </a:solidFill>
                <a:latin typeface="Verdana"/>
                <a:cs typeface="Verdana"/>
              </a:rPr>
              <a:t>primary</a:t>
            </a:r>
            <a:r>
              <a:rPr sz="1324" spc="-9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Verdana"/>
                <a:cs typeface="Verdana"/>
              </a:rPr>
              <a:t>key?</a:t>
            </a:r>
            <a:endParaRPr sz="1324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11078" y="2684843"/>
            <a:ext cx="2510118" cy="610160"/>
            <a:chOff x="626289" y="3042821"/>
            <a:chExt cx="2844800" cy="691515"/>
          </a:xfrm>
        </p:grpSpPr>
        <p:sp>
          <p:nvSpPr>
            <p:cNvPr id="20" name="object 20"/>
            <p:cNvSpPr/>
            <p:nvPr/>
          </p:nvSpPr>
          <p:spPr>
            <a:xfrm>
              <a:off x="640381" y="3056914"/>
              <a:ext cx="2816225" cy="662940"/>
            </a:xfrm>
            <a:custGeom>
              <a:avLst/>
              <a:gdLst/>
              <a:ahLst/>
              <a:cxnLst/>
              <a:rect l="l" t="t" r="r" b="b"/>
              <a:pathLst>
                <a:path w="2816225" h="662939">
                  <a:moveTo>
                    <a:pt x="2705725" y="0"/>
                  </a:moveTo>
                  <a:lnTo>
                    <a:pt x="110454" y="0"/>
                  </a:lnTo>
                  <a:lnTo>
                    <a:pt x="67460" y="8680"/>
                  </a:lnTo>
                  <a:lnTo>
                    <a:pt x="32351" y="32351"/>
                  </a:lnTo>
                  <a:lnTo>
                    <a:pt x="8680" y="67461"/>
                  </a:lnTo>
                  <a:lnTo>
                    <a:pt x="0" y="110455"/>
                  </a:lnTo>
                  <a:lnTo>
                    <a:pt x="0" y="552268"/>
                  </a:lnTo>
                  <a:lnTo>
                    <a:pt x="8680" y="595262"/>
                  </a:lnTo>
                  <a:lnTo>
                    <a:pt x="32351" y="630371"/>
                  </a:lnTo>
                  <a:lnTo>
                    <a:pt x="67460" y="654042"/>
                  </a:lnTo>
                  <a:lnTo>
                    <a:pt x="110454" y="662722"/>
                  </a:lnTo>
                  <a:lnTo>
                    <a:pt x="2705725" y="662722"/>
                  </a:lnTo>
                  <a:lnTo>
                    <a:pt x="2748719" y="654042"/>
                  </a:lnTo>
                  <a:lnTo>
                    <a:pt x="2783828" y="630371"/>
                  </a:lnTo>
                  <a:lnTo>
                    <a:pt x="2807499" y="595262"/>
                  </a:lnTo>
                  <a:lnTo>
                    <a:pt x="2816179" y="552268"/>
                  </a:lnTo>
                  <a:lnTo>
                    <a:pt x="2816179" y="110455"/>
                  </a:lnTo>
                  <a:lnTo>
                    <a:pt x="2807499" y="67461"/>
                  </a:lnTo>
                  <a:lnTo>
                    <a:pt x="2783828" y="32351"/>
                  </a:lnTo>
                  <a:lnTo>
                    <a:pt x="2748719" y="8680"/>
                  </a:lnTo>
                  <a:lnTo>
                    <a:pt x="2705725" y="0"/>
                  </a:lnTo>
                  <a:close/>
                </a:path>
              </a:pathLst>
            </a:custGeom>
            <a:solidFill>
              <a:srgbClr val="FFFF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640381" y="3056914"/>
              <a:ext cx="2816225" cy="662940"/>
            </a:xfrm>
            <a:custGeom>
              <a:avLst/>
              <a:gdLst/>
              <a:ahLst/>
              <a:cxnLst/>
              <a:rect l="l" t="t" r="r" b="b"/>
              <a:pathLst>
                <a:path w="2816225" h="662939">
                  <a:moveTo>
                    <a:pt x="0" y="110454"/>
                  </a:moveTo>
                  <a:lnTo>
                    <a:pt x="8680" y="67460"/>
                  </a:lnTo>
                  <a:lnTo>
                    <a:pt x="32351" y="32351"/>
                  </a:lnTo>
                  <a:lnTo>
                    <a:pt x="67460" y="8680"/>
                  </a:lnTo>
                  <a:lnTo>
                    <a:pt x="110454" y="0"/>
                  </a:lnTo>
                  <a:lnTo>
                    <a:pt x="2705725" y="0"/>
                  </a:lnTo>
                  <a:lnTo>
                    <a:pt x="2748719" y="8680"/>
                  </a:lnTo>
                  <a:lnTo>
                    <a:pt x="2783829" y="32351"/>
                  </a:lnTo>
                  <a:lnTo>
                    <a:pt x="2807500" y="67460"/>
                  </a:lnTo>
                  <a:lnTo>
                    <a:pt x="2816180" y="110454"/>
                  </a:lnTo>
                  <a:lnTo>
                    <a:pt x="2816180" y="552267"/>
                  </a:lnTo>
                  <a:lnTo>
                    <a:pt x="2807500" y="595261"/>
                  </a:lnTo>
                  <a:lnTo>
                    <a:pt x="2783829" y="630370"/>
                  </a:lnTo>
                  <a:lnTo>
                    <a:pt x="2748719" y="654042"/>
                  </a:lnTo>
                  <a:lnTo>
                    <a:pt x="2705725" y="662722"/>
                  </a:lnTo>
                  <a:lnTo>
                    <a:pt x="110454" y="662722"/>
                  </a:lnTo>
                  <a:lnTo>
                    <a:pt x="67460" y="654042"/>
                  </a:lnTo>
                  <a:lnTo>
                    <a:pt x="32351" y="630370"/>
                  </a:lnTo>
                  <a:lnTo>
                    <a:pt x="8680" y="595261"/>
                  </a:lnTo>
                  <a:lnTo>
                    <a:pt x="0" y="552267"/>
                  </a:lnTo>
                  <a:lnTo>
                    <a:pt x="0" y="110454"/>
                  </a:lnTo>
                  <a:close/>
                </a:path>
              </a:pathLst>
            </a:custGeom>
            <a:ln w="2818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756552" y="5255089"/>
            <a:ext cx="3511923" cy="320488"/>
            <a:chOff x="3511159" y="5955767"/>
            <a:chExt cx="3980179" cy="363220"/>
          </a:xfrm>
        </p:grpSpPr>
        <p:sp>
          <p:nvSpPr>
            <p:cNvPr id="23" name="object 23"/>
            <p:cNvSpPr/>
            <p:nvPr/>
          </p:nvSpPr>
          <p:spPr>
            <a:xfrm>
              <a:off x="3525252" y="5969859"/>
              <a:ext cx="3951604" cy="335280"/>
            </a:xfrm>
            <a:custGeom>
              <a:avLst/>
              <a:gdLst/>
              <a:ahLst/>
              <a:cxnLst/>
              <a:rect l="l" t="t" r="r" b="b"/>
              <a:pathLst>
                <a:path w="3951604" h="335279">
                  <a:moveTo>
                    <a:pt x="3895613" y="0"/>
                  </a:moveTo>
                  <a:lnTo>
                    <a:pt x="55813" y="0"/>
                  </a:lnTo>
                  <a:lnTo>
                    <a:pt x="34089" y="4386"/>
                  </a:lnTo>
                  <a:lnTo>
                    <a:pt x="16347" y="16347"/>
                  </a:lnTo>
                  <a:lnTo>
                    <a:pt x="4386" y="34088"/>
                  </a:lnTo>
                  <a:lnTo>
                    <a:pt x="0" y="55813"/>
                  </a:lnTo>
                  <a:lnTo>
                    <a:pt x="0" y="279059"/>
                  </a:lnTo>
                  <a:lnTo>
                    <a:pt x="4386" y="300785"/>
                  </a:lnTo>
                  <a:lnTo>
                    <a:pt x="16347" y="318526"/>
                  </a:lnTo>
                  <a:lnTo>
                    <a:pt x="34089" y="330487"/>
                  </a:lnTo>
                  <a:lnTo>
                    <a:pt x="55813" y="334873"/>
                  </a:lnTo>
                  <a:lnTo>
                    <a:pt x="3895613" y="334873"/>
                  </a:lnTo>
                  <a:lnTo>
                    <a:pt x="3917338" y="330487"/>
                  </a:lnTo>
                  <a:lnTo>
                    <a:pt x="3935079" y="318526"/>
                  </a:lnTo>
                  <a:lnTo>
                    <a:pt x="3947041" y="300785"/>
                  </a:lnTo>
                  <a:lnTo>
                    <a:pt x="3951427" y="279059"/>
                  </a:lnTo>
                  <a:lnTo>
                    <a:pt x="3951427" y="55813"/>
                  </a:lnTo>
                  <a:lnTo>
                    <a:pt x="3947041" y="34088"/>
                  </a:lnTo>
                  <a:lnTo>
                    <a:pt x="3935079" y="16347"/>
                  </a:lnTo>
                  <a:lnTo>
                    <a:pt x="3917338" y="4386"/>
                  </a:lnTo>
                  <a:lnTo>
                    <a:pt x="3895613" y="0"/>
                  </a:lnTo>
                  <a:close/>
                </a:path>
              </a:pathLst>
            </a:custGeom>
            <a:solidFill>
              <a:srgbClr val="FFFF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3525252" y="5969859"/>
              <a:ext cx="3951604" cy="335280"/>
            </a:xfrm>
            <a:custGeom>
              <a:avLst/>
              <a:gdLst/>
              <a:ahLst/>
              <a:cxnLst/>
              <a:rect l="l" t="t" r="r" b="b"/>
              <a:pathLst>
                <a:path w="3951604" h="335279">
                  <a:moveTo>
                    <a:pt x="0" y="55814"/>
                  </a:moveTo>
                  <a:lnTo>
                    <a:pt x="4386" y="34088"/>
                  </a:lnTo>
                  <a:lnTo>
                    <a:pt x="16347" y="16347"/>
                  </a:lnTo>
                  <a:lnTo>
                    <a:pt x="34088" y="4386"/>
                  </a:lnTo>
                  <a:lnTo>
                    <a:pt x="55814" y="0"/>
                  </a:lnTo>
                  <a:lnTo>
                    <a:pt x="3895612" y="0"/>
                  </a:lnTo>
                  <a:lnTo>
                    <a:pt x="3917338" y="4386"/>
                  </a:lnTo>
                  <a:lnTo>
                    <a:pt x="3935079" y="16347"/>
                  </a:lnTo>
                  <a:lnTo>
                    <a:pt x="3947040" y="34088"/>
                  </a:lnTo>
                  <a:lnTo>
                    <a:pt x="3951427" y="55814"/>
                  </a:lnTo>
                  <a:lnTo>
                    <a:pt x="3951427" y="279059"/>
                  </a:lnTo>
                  <a:lnTo>
                    <a:pt x="3947040" y="300784"/>
                  </a:lnTo>
                  <a:lnTo>
                    <a:pt x="3935079" y="318525"/>
                  </a:lnTo>
                  <a:lnTo>
                    <a:pt x="3917338" y="330487"/>
                  </a:lnTo>
                  <a:lnTo>
                    <a:pt x="3895612" y="334873"/>
                  </a:lnTo>
                  <a:lnTo>
                    <a:pt x="55814" y="334873"/>
                  </a:lnTo>
                  <a:lnTo>
                    <a:pt x="34088" y="330487"/>
                  </a:lnTo>
                  <a:lnTo>
                    <a:pt x="16347" y="318525"/>
                  </a:lnTo>
                  <a:lnTo>
                    <a:pt x="4386" y="300784"/>
                  </a:lnTo>
                  <a:lnTo>
                    <a:pt x="0" y="279059"/>
                  </a:lnTo>
                  <a:lnTo>
                    <a:pt x="0" y="55814"/>
                  </a:lnTo>
                  <a:close/>
                </a:path>
              </a:pathLst>
            </a:custGeom>
            <a:ln w="2818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367874" y="3313354"/>
            <a:ext cx="27006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004DD6"/>
                </a:solidFill>
                <a:latin typeface="Verdana"/>
                <a:cs typeface="Verdana"/>
              </a:rPr>
              <a:t>PK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76955" y="5567082"/>
            <a:ext cx="27006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004DD6"/>
                </a:solidFill>
                <a:latin typeface="Verdana"/>
                <a:cs typeface="Verdana"/>
              </a:rPr>
              <a:t>PK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4517" y="3816274"/>
            <a:ext cx="27006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004DD6"/>
                </a:solidFill>
                <a:latin typeface="Verdana"/>
                <a:cs typeface="Verdana"/>
              </a:rPr>
              <a:t>PK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352336" y="3674279"/>
            <a:ext cx="2252382" cy="133910"/>
          </a:xfrm>
          <a:custGeom>
            <a:avLst/>
            <a:gdLst/>
            <a:ahLst/>
            <a:cxnLst/>
            <a:rect l="l" t="t" r="r" b="b"/>
            <a:pathLst>
              <a:path w="2552700" h="151764">
                <a:moveTo>
                  <a:pt x="2552190" y="0"/>
                </a:moveTo>
                <a:lnTo>
                  <a:pt x="2551197" y="59031"/>
                </a:lnTo>
                <a:lnTo>
                  <a:pt x="2548489" y="107238"/>
                </a:lnTo>
                <a:lnTo>
                  <a:pt x="2544472" y="139739"/>
                </a:lnTo>
                <a:lnTo>
                  <a:pt x="2539552" y="151657"/>
                </a:lnTo>
                <a:lnTo>
                  <a:pt x="12637" y="151657"/>
                </a:lnTo>
                <a:lnTo>
                  <a:pt x="7718" y="139739"/>
                </a:lnTo>
                <a:lnTo>
                  <a:pt x="3701" y="107238"/>
                </a:lnTo>
                <a:lnTo>
                  <a:pt x="993" y="59031"/>
                </a:lnTo>
                <a:lnTo>
                  <a:pt x="0" y="0"/>
                </a:lnTo>
              </a:path>
            </a:pathLst>
          </a:custGeom>
          <a:ln w="20319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62764"/>
            <a:ext cx="927847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776049">
              <a:lnSpc>
                <a:spcPct val="100000"/>
              </a:lnSpc>
              <a:spcBef>
                <a:spcPts val="88"/>
              </a:spcBef>
            </a:pPr>
            <a:r>
              <a:rPr spc="-106" dirty="0">
                <a:solidFill>
                  <a:srgbClr val="292934"/>
                </a:solidFill>
              </a:rPr>
              <a:t>Entity</a:t>
            </a:r>
            <a:r>
              <a:rPr spc="-224" dirty="0">
                <a:solidFill>
                  <a:srgbClr val="292934"/>
                </a:solidFill>
              </a:rPr>
              <a:t> </a:t>
            </a:r>
            <a:r>
              <a:rPr spc="-79" dirty="0">
                <a:solidFill>
                  <a:srgbClr val="292934"/>
                </a:solidFill>
              </a:rPr>
              <a:t>Sets</a:t>
            </a:r>
            <a:r>
              <a:rPr spc="-221" dirty="0">
                <a:solidFill>
                  <a:srgbClr val="292934"/>
                </a:solidFill>
              </a:rPr>
              <a:t> </a:t>
            </a:r>
            <a:r>
              <a:rPr spc="-97" dirty="0">
                <a:solidFill>
                  <a:srgbClr val="292934"/>
                </a:solidFill>
              </a:rPr>
              <a:t>and</a:t>
            </a:r>
            <a:r>
              <a:rPr spc="-224" dirty="0">
                <a:solidFill>
                  <a:srgbClr val="292934"/>
                </a:solidFill>
              </a:rPr>
              <a:t> </a:t>
            </a:r>
            <a:r>
              <a:rPr spc="-97" dirty="0">
                <a:solidFill>
                  <a:srgbClr val="292934"/>
                </a:solidFill>
              </a:rPr>
              <a:t>Attributes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40367" y="4746812"/>
            <a:ext cx="8213912" cy="1517276"/>
            <a:chOff x="432816" y="5379720"/>
            <a:chExt cx="9309100" cy="1719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816" y="5379720"/>
              <a:ext cx="9308592" cy="14874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40" y="5471160"/>
              <a:ext cx="9140952" cy="162763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334212" y="4954696"/>
            <a:ext cx="7519707" cy="88448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88526" rIns="0" bIns="0" rtlCol="0">
            <a:spAutoFit/>
          </a:bodyPr>
          <a:lstStyle/>
          <a:p>
            <a:pPr marL="392786" marR="373736" algn="ctr">
              <a:lnSpc>
                <a:spcPts val="2030"/>
              </a:lnSpc>
              <a:spcBef>
                <a:spcPts val="697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1853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1853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853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static</a:t>
            </a:r>
            <a:r>
              <a:rPr sz="1853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concept,</a:t>
            </a:r>
            <a:r>
              <a:rPr sz="1853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involving</a:t>
            </a:r>
            <a:r>
              <a:rPr sz="1853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r>
              <a:rPr sz="1853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853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53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853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operations</a:t>
            </a:r>
            <a:r>
              <a:rPr sz="1853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853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data.</a:t>
            </a:r>
            <a:endParaRPr sz="1853">
              <a:latin typeface="Verdana"/>
              <a:cs typeface="Verdana"/>
            </a:endParaRPr>
          </a:p>
          <a:p>
            <a:pPr marL="12327" algn="ctr">
              <a:lnSpc>
                <a:spcPts val="2171"/>
              </a:lnSpc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1853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853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methods</a:t>
            </a:r>
            <a:r>
              <a:rPr sz="1853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1853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853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1853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77116" y="2167584"/>
            <a:ext cx="1134035" cy="413009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80415" rIns="0" bIns="0" rtlCol="0">
            <a:spAutoFit/>
          </a:bodyPr>
          <a:lstStyle/>
          <a:p>
            <a:pPr marL="274559">
              <a:spcBef>
                <a:spcPts val="1421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69442" y="2983250"/>
            <a:ext cx="1084729" cy="442632"/>
            <a:chOff x="2959101" y="3381016"/>
            <a:chExt cx="1229360" cy="501650"/>
          </a:xfrm>
        </p:grpSpPr>
        <p:sp>
          <p:nvSpPr>
            <p:cNvPr id="9" name="object 9"/>
            <p:cNvSpPr/>
            <p:nvPr/>
          </p:nvSpPr>
          <p:spPr>
            <a:xfrm>
              <a:off x="2964181" y="338609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964181" y="338609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26425" y="3076686"/>
            <a:ext cx="1697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22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id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38915" y="3040576"/>
            <a:ext cx="1084729" cy="442632"/>
            <a:chOff x="4284503" y="3445986"/>
            <a:chExt cx="1229360" cy="501650"/>
          </a:xfrm>
        </p:grpSpPr>
        <p:sp>
          <p:nvSpPr>
            <p:cNvPr id="13" name="object 13"/>
            <p:cNvSpPr/>
            <p:nvPr/>
          </p:nvSpPr>
          <p:spPr>
            <a:xfrm>
              <a:off x="4289583" y="345106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50" y="489688"/>
                  </a:lnTo>
                  <a:lnTo>
                    <a:pt x="740075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7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7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5" y="5663"/>
                  </a:lnTo>
                  <a:lnTo>
                    <a:pt x="675750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89583" y="345106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30798" y="3135853"/>
            <a:ext cx="50090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8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87295" y="2754195"/>
            <a:ext cx="2343710" cy="596713"/>
            <a:chOff x="3999334" y="3121420"/>
            <a:chExt cx="2656205" cy="676275"/>
          </a:xfrm>
        </p:grpSpPr>
        <p:sp>
          <p:nvSpPr>
            <p:cNvPr id="17" name="object 17"/>
            <p:cNvSpPr/>
            <p:nvPr/>
          </p:nvSpPr>
          <p:spPr>
            <a:xfrm>
              <a:off x="5564057" y="3301285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4" h="491489">
                  <a:moveTo>
                    <a:pt x="543195" y="0"/>
                  </a:moveTo>
                  <a:lnTo>
                    <a:pt x="479847" y="1652"/>
                  </a:lnTo>
                  <a:lnTo>
                    <a:pt x="418645" y="6485"/>
                  </a:lnTo>
                  <a:lnTo>
                    <a:pt x="359997" y="14316"/>
                  </a:lnTo>
                  <a:lnTo>
                    <a:pt x="304311" y="24959"/>
                  </a:lnTo>
                  <a:lnTo>
                    <a:pt x="251994" y="38231"/>
                  </a:lnTo>
                  <a:lnTo>
                    <a:pt x="203454" y="53947"/>
                  </a:lnTo>
                  <a:lnTo>
                    <a:pt x="159097" y="71924"/>
                  </a:lnTo>
                  <a:lnTo>
                    <a:pt x="119333" y="91976"/>
                  </a:lnTo>
                  <a:lnTo>
                    <a:pt x="84568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8" y="377209"/>
                  </a:lnTo>
                  <a:lnTo>
                    <a:pt x="119333" y="399153"/>
                  </a:lnTo>
                  <a:lnTo>
                    <a:pt x="159097" y="419205"/>
                  </a:lnTo>
                  <a:lnTo>
                    <a:pt x="203454" y="437181"/>
                  </a:lnTo>
                  <a:lnTo>
                    <a:pt x="251994" y="452897"/>
                  </a:lnTo>
                  <a:lnTo>
                    <a:pt x="304311" y="466169"/>
                  </a:lnTo>
                  <a:lnTo>
                    <a:pt x="359997" y="476813"/>
                  </a:lnTo>
                  <a:lnTo>
                    <a:pt x="418645" y="484643"/>
                  </a:lnTo>
                  <a:lnTo>
                    <a:pt x="479847" y="489477"/>
                  </a:lnTo>
                  <a:lnTo>
                    <a:pt x="543195" y="491129"/>
                  </a:lnTo>
                  <a:lnTo>
                    <a:pt x="606543" y="489477"/>
                  </a:lnTo>
                  <a:lnTo>
                    <a:pt x="667745" y="484643"/>
                  </a:lnTo>
                  <a:lnTo>
                    <a:pt x="726392" y="476813"/>
                  </a:lnTo>
                  <a:lnTo>
                    <a:pt x="782078" y="466169"/>
                  </a:lnTo>
                  <a:lnTo>
                    <a:pt x="834395" y="452897"/>
                  </a:lnTo>
                  <a:lnTo>
                    <a:pt x="882936" y="437181"/>
                  </a:lnTo>
                  <a:lnTo>
                    <a:pt x="927292" y="419205"/>
                  </a:lnTo>
                  <a:lnTo>
                    <a:pt x="967056" y="399153"/>
                  </a:lnTo>
                  <a:lnTo>
                    <a:pt x="1001821" y="377209"/>
                  </a:lnTo>
                  <a:lnTo>
                    <a:pt x="1054723" y="328383"/>
                  </a:lnTo>
                  <a:lnTo>
                    <a:pt x="1082736" y="274202"/>
                  </a:lnTo>
                  <a:lnTo>
                    <a:pt x="1086391" y="245564"/>
                  </a:lnTo>
                  <a:lnTo>
                    <a:pt x="1082736" y="216926"/>
                  </a:lnTo>
                  <a:lnTo>
                    <a:pt x="1054723" y="162745"/>
                  </a:lnTo>
                  <a:lnTo>
                    <a:pt x="1001821" y="113920"/>
                  </a:lnTo>
                  <a:lnTo>
                    <a:pt x="967056" y="91976"/>
                  </a:lnTo>
                  <a:lnTo>
                    <a:pt x="927292" y="71924"/>
                  </a:lnTo>
                  <a:lnTo>
                    <a:pt x="882936" y="53947"/>
                  </a:lnTo>
                  <a:lnTo>
                    <a:pt x="834395" y="38231"/>
                  </a:lnTo>
                  <a:lnTo>
                    <a:pt x="782078" y="24959"/>
                  </a:lnTo>
                  <a:lnTo>
                    <a:pt x="726392" y="14316"/>
                  </a:lnTo>
                  <a:lnTo>
                    <a:pt x="667745" y="6485"/>
                  </a:lnTo>
                  <a:lnTo>
                    <a:pt x="606543" y="1652"/>
                  </a:lnTo>
                  <a:lnTo>
                    <a:pt x="54319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564057" y="3301285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4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4856991" y="3126500"/>
              <a:ext cx="866775" cy="247015"/>
            </a:xfrm>
            <a:custGeom>
              <a:avLst/>
              <a:gdLst/>
              <a:ahLst/>
              <a:cxnLst/>
              <a:rect l="l" t="t" r="r" b="b"/>
              <a:pathLst>
                <a:path w="866775" h="247014">
                  <a:moveTo>
                    <a:pt x="866164" y="246708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4856992" y="3126500"/>
              <a:ext cx="42545" cy="325120"/>
            </a:xfrm>
            <a:custGeom>
              <a:avLst/>
              <a:gdLst/>
              <a:ahLst/>
              <a:cxnLst/>
              <a:rect l="l" t="t" r="r" b="b"/>
              <a:pathLst>
                <a:path w="42545" h="325120">
                  <a:moveTo>
                    <a:pt x="41946" y="324565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4004414" y="3126500"/>
              <a:ext cx="852805" cy="332105"/>
            </a:xfrm>
            <a:custGeom>
              <a:avLst/>
              <a:gdLst/>
              <a:ahLst/>
              <a:cxnLst/>
              <a:rect l="l" t="t" r="r" b="b"/>
              <a:pathLst>
                <a:path w="852804" h="332104">
                  <a:moveTo>
                    <a:pt x="0" y="331519"/>
                  </a:moveTo>
                  <a:lnTo>
                    <a:pt x="852578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15811" y="2993314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41102" y="1665584"/>
            <a:ext cx="3074334" cy="751354"/>
            <a:chOff x="5646982" y="1887661"/>
            <a:chExt cx="3484245" cy="851535"/>
          </a:xfrm>
        </p:grpSpPr>
        <p:sp>
          <p:nvSpPr>
            <p:cNvPr id="24" name="object 24"/>
            <p:cNvSpPr/>
            <p:nvPr/>
          </p:nvSpPr>
          <p:spPr>
            <a:xfrm>
              <a:off x="5653755" y="1894434"/>
              <a:ext cx="3470910" cy="838200"/>
            </a:xfrm>
            <a:custGeom>
              <a:avLst/>
              <a:gdLst/>
              <a:ahLst/>
              <a:cxnLst/>
              <a:rect l="l" t="t" r="r" b="b"/>
              <a:pathLst>
                <a:path w="3470909" h="838200">
                  <a:moveTo>
                    <a:pt x="3470431" y="698027"/>
                  </a:moveTo>
                  <a:lnTo>
                    <a:pt x="615026" y="698027"/>
                  </a:lnTo>
                  <a:lnTo>
                    <a:pt x="622143" y="742154"/>
                  </a:lnTo>
                  <a:lnTo>
                    <a:pt x="641962" y="780477"/>
                  </a:lnTo>
                  <a:lnTo>
                    <a:pt x="672183" y="810698"/>
                  </a:lnTo>
                  <a:lnTo>
                    <a:pt x="710507" y="830517"/>
                  </a:lnTo>
                  <a:lnTo>
                    <a:pt x="754634" y="837634"/>
                  </a:lnTo>
                  <a:lnTo>
                    <a:pt x="3330825" y="837634"/>
                  </a:lnTo>
                  <a:lnTo>
                    <a:pt x="3374951" y="830517"/>
                  </a:lnTo>
                  <a:lnTo>
                    <a:pt x="3413274" y="810698"/>
                  </a:lnTo>
                  <a:lnTo>
                    <a:pt x="3443495" y="780477"/>
                  </a:lnTo>
                  <a:lnTo>
                    <a:pt x="3463314" y="742154"/>
                  </a:lnTo>
                  <a:lnTo>
                    <a:pt x="3470431" y="698027"/>
                  </a:lnTo>
                  <a:close/>
                </a:path>
                <a:path w="3470909" h="838200">
                  <a:moveTo>
                    <a:pt x="3330825" y="0"/>
                  </a:moveTo>
                  <a:lnTo>
                    <a:pt x="754634" y="0"/>
                  </a:lnTo>
                  <a:lnTo>
                    <a:pt x="710507" y="7117"/>
                  </a:lnTo>
                  <a:lnTo>
                    <a:pt x="672183" y="26936"/>
                  </a:lnTo>
                  <a:lnTo>
                    <a:pt x="641962" y="57157"/>
                  </a:lnTo>
                  <a:lnTo>
                    <a:pt x="622143" y="95480"/>
                  </a:lnTo>
                  <a:lnTo>
                    <a:pt x="615026" y="139607"/>
                  </a:lnTo>
                  <a:lnTo>
                    <a:pt x="615026" y="488621"/>
                  </a:lnTo>
                  <a:lnTo>
                    <a:pt x="0" y="726959"/>
                  </a:lnTo>
                  <a:lnTo>
                    <a:pt x="615026" y="698027"/>
                  </a:lnTo>
                  <a:lnTo>
                    <a:pt x="3470431" y="698027"/>
                  </a:lnTo>
                  <a:lnTo>
                    <a:pt x="3470431" y="139607"/>
                  </a:lnTo>
                  <a:lnTo>
                    <a:pt x="3463314" y="95480"/>
                  </a:lnTo>
                  <a:lnTo>
                    <a:pt x="3443495" y="57157"/>
                  </a:lnTo>
                  <a:lnTo>
                    <a:pt x="3413274" y="26936"/>
                  </a:lnTo>
                  <a:lnTo>
                    <a:pt x="3374951" y="7117"/>
                  </a:lnTo>
                  <a:lnTo>
                    <a:pt x="3330825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5653755" y="1894434"/>
              <a:ext cx="3470910" cy="838200"/>
            </a:xfrm>
            <a:custGeom>
              <a:avLst/>
              <a:gdLst/>
              <a:ahLst/>
              <a:cxnLst/>
              <a:rect l="l" t="t" r="r" b="b"/>
              <a:pathLst>
                <a:path w="3470909" h="838200">
                  <a:moveTo>
                    <a:pt x="615026" y="139607"/>
                  </a:moveTo>
                  <a:lnTo>
                    <a:pt x="622144" y="95480"/>
                  </a:lnTo>
                  <a:lnTo>
                    <a:pt x="641962" y="57157"/>
                  </a:lnTo>
                  <a:lnTo>
                    <a:pt x="672183" y="26936"/>
                  </a:lnTo>
                  <a:lnTo>
                    <a:pt x="710507" y="7117"/>
                  </a:lnTo>
                  <a:lnTo>
                    <a:pt x="754633" y="0"/>
                  </a:lnTo>
                  <a:lnTo>
                    <a:pt x="1090927" y="0"/>
                  </a:lnTo>
                  <a:lnTo>
                    <a:pt x="1804778" y="0"/>
                  </a:lnTo>
                  <a:lnTo>
                    <a:pt x="3330824" y="0"/>
                  </a:lnTo>
                  <a:lnTo>
                    <a:pt x="3374950" y="7117"/>
                  </a:lnTo>
                  <a:lnTo>
                    <a:pt x="3413274" y="26936"/>
                  </a:lnTo>
                  <a:lnTo>
                    <a:pt x="3443495" y="57157"/>
                  </a:lnTo>
                  <a:lnTo>
                    <a:pt x="3463314" y="95480"/>
                  </a:lnTo>
                  <a:lnTo>
                    <a:pt x="3470431" y="139607"/>
                  </a:lnTo>
                  <a:lnTo>
                    <a:pt x="3470431" y="488621"/>
                  </a:lnTo>
                  <a:lnTo>
                    <a:pt x="3470431" y="698030"/>
                  </a:lnTo>
                  <a:lnTo>
                    <a:pt x="3463314" y="742154"/>
                  </a:lnTo>
                  <a:lnTo>
                    <a:pt x="3443495" y="780478"/>
                  </a:lnTo>
                  <a:lnTo>
                    <a:pt x="3413274" y="810699"/>
                  </a:lnTo>
                  <a:lnTo>
                    <a:pt x="3374950" y="830517"/>
                  </a:lnTo>
                  <a:lnTo>
                    <a:pt x="3330824" y="837635"/>
                  </a:lnTo>
                  <a:lnTo>
                    <a:pt x="1804778" y="837635"/>
                  </a:lnTo>
                  <a:lnTo>
                    <a:pt x="1090927" y="837635"/>
                  </a:lnTo>
                  <a:lnTo>
                    <a:pt x="754633" y="837635"/>
                  </a:lnTo>
                  <a:lnTo>
                    <a:pt x="710507" y="830517"/>
                  </a:lnTo>
                  <a:lnTo>
                    <a:pt x="672183" y="810699"/>
                  </a:lnTo>
                  <a:lnTo>
                    <a:pt x="641962" y="780478"/>
                  </a:lnTo>
                  <a:lnTo>
                    <a:pt x="622144" y="742154"/>
                  </a:lnTo>
                  <a:lnTo>
                    <a:pt x="615026" y="698027"/>
                  </a:lnTo>
                  <a:lnTo>
                    <a:pt x="0" y="726959"/>
                  </a:lnTo>
                  <a:lnTo>
                    <a:pt x="615026" y="488621"/>
                  </a:lnTo>
                  <a:lnTo>
                    <a:pt x="615026" y="139607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422281" y="1735568"/>
            <a:ext cx="2055159" cy="573686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11206" marR="4483" algn="ctr">
              <a:lnSpc>
                <a:spcPts val="1421"/>
              </a:lnSpc>
              <a:spcBef>
                <a:spcPts val="274"/>
              </a:spcBef>
            </a:pP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324" spc="-4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324" spc="-4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object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distinguishable</a:t>
            </a:r>
            <a:r>
              <a:rPr sz="1324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324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18" dirty="0">
                <a:solidFill>
                  <a:srgbClr val="FFFFFF"/>
                </a:solidFill>
                <a:latin typeface="Arial MT"/>
                <a:cs typeface="Arial MT"/>
              </a:rPr>
              <a:t>other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types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324" spc="-3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objects</a:t>
            </a:r>
            <a:endParaRPr sz="1324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550703" y="3159231"/>
            <a:ext cx="2392456" cy="751914"/>
            <a:chOff x="6677864" y="3580461"/>
            <a:chExt cx="2711450" cy="852169"/>
          </a:xfrm>
        </p:grpSpPr>
        <p:sp>
          <p:nvSpPr>
            <p:cNvPr id="28" name="object 28"/>
            <p:cNvSpPr/>
            <p:nvPr/>
          </p:nvSpPr>
          <p:spPr>
            <a:xfrm>
              <a:off x="6684849" y="3587446"/>
              <a:ext cx="2697480" cy="838200"/>
            </a:xfrm>
            <a:custGeom>
              <a:avLst/>
              <a:gdLst/>
              <a:ahLst/>
              <a:cxnLst/>
              <a:rect l="l" t="t" r="r" b="b"/>
              <a:pathLst>
                <a:path w="2697479" h="838200">
                  <a:moveTo>
                    <a:pt x="0" y="98733"/>
                  </a:moveTo>
                  <a:lnTo>
                    <a:pt x="478015" y="349016"/>
                  </a:lnTo>
                  <a:lnTo>
                    <a:pt x="478015" y="698026"/>
                  </a:lnTo>
                  <a:lnTo>
                    <a:pt x="485132" y="742153"/>
                  </a:lnTo>
                  <a:lnTo>
                    <a:pt x="504951" y="780477"/>
                  </a:lnTo>
                  <a:lnTo>
                    <a:pt x="535172" y="810699"/>
                  </a:lnTo>
                  <a:lnTo>
                    <a:pt x="573496" y="830518"/>
                  </a:lnTo>
                  <a:lnTo>
                    <a:pt x="617623" y="837636"/>
                  </a:lnTo>
                  <a:lnTo>
                    <a:pt x="2557703" y="837636"/>
                  </a:lnTo>
                  <a:lnTo>
                    <a:pt x="2601831" y="830518"/>
                  </a:lnTo>
                  <a:lnTo>
                    <a:pt x="2640155" y="810699"/>
                  </a:lnTo>
                  <a:lnTo>
                    <a:pt x="2670376" y="780477"/>
                  </a:lnTo>
                  <a:lnTo>
                    <a:pt x="2690196" y="742153"/>
                  </a:lnTo>
                  <a:lnTo>
                    <a:pt x="2697313" y="698026"/>
                  </a:lnTo>
                  <a:lnTo>
                    <a:pt x="2697313" y="139609"/>
                  </a:lnTo>
                  <a:lnTo>
                    <a:pt x="478015" y="139609"/>
                  </a:lnTo>
                  <a:lnTo>
                    <a:pt x="0" y="98733"/>
                  </a:lnTo>
                  <a:close/>
                </a:path>
                <a:path w="2697479" h="838200">
                  <a:moveTo>
                    <a:pt x="2557703" y="0"/>
                  </a:moveTo>
                  <a:lnTo>
                    <a:pt x="617623" y="0"/>
                  </a:lnTo>
                  <a:lnTo>
                    <a:pt x="573496" y="7117"/>
                  </a:lnTo>
                  <a:lnTo>
                    <a:pt x="535172" y="26936"/>
                  </a:lnTo>
                  <a:lnTo>
                    <a:pt x="504951" y="57158"/>
                  </a:lnTo>
                  <a:lnTo>
                    <a:pt x="485132" y="95482"/>
                  </a:lnTo>
                  <a:lnTo>
                    <a:pt x="478015" y="139609"/>
                  </a:lnTo>
                  <a:lnTo>
                    <a:pt x="2697313" y="139609"/>
                  </a:lnTo>
                  <a:lnTo>
                    <a:pt x="2690196" y="95482"/>
                  </a:lnTo>
                  <a:lnTo>
                    <a:pt x="2670376" y="57158"/>
                  </a:lnTo>
                  <a:lnTo>
                    <a:pt x="2640155" y="26936"/>
                  </a:lnTo>
                  <a:lnTo>
                    <a:pt x="2601831" y="7117"/>
                  </a:lnTo>
                  <a:lnTo>
                    <a:pt x="255770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6684849" y="3587446"/>
              <a:ext cx="2697480" cy="838200"/>
            </a:xfrm>
            <a:custGeom>
              <a:avLst/>
              <a:gdLst/>
              <a:ahLst/>
              <a:cxnLst/>
              <a:rect l="l" t="t" r="r" b="b"/>
              <a:pathLst>
                <a:path w="2697479" h="838200">
                  <a:moveTo>
                    <a:pt x="478015" y="139609"/>
                  </a:moveTo>
                  <a:lnTo>
                    <a:pt x="485132" y="95481"/>
                  </a:lnTo>
                  <a:lnTo>
                    <a:pt x="504952" y="57157"/>
                  </a:lnTo>
                  <a:lnTo>
                    <a:pt x="535173" y="26936"/>
                  </a:lnTo>
                  <a:lnTo>
                    <a:pt x="573497" y="7117"/>
                  </a:lnTo>
                  <a:lnTo>
                    <a:pt x="617624" y="0"/>
                  </a:lnTo>
                  <a:lnTo>
                    <a:pt x="847898" y="0"/>
                  </a:lnTo>
                  <a:lnTo>
                    <a:pt x="1402723" y="0"/>
                  </a:lnTo>
                  <a:lnTo>
                    <a:pt x="2557704" y="0"/>
                  </a:lnTo>
                  <a:lnTo>
                    <a:pt x="2601831" y="7117"/>
                  </a:lnTo>
                  <a:lnTo>
                    <a:pt x="2640155" y="26936"/>
                  </a:lnTo>
                  <a:lnTo>
                    <a:pt x="2670377" y="57157"/>
                  </a:lnTo>
                  <a:lnTo>
                    <a:pt x="2690196" y="95481"/>
                  </a:lnTo>
                  <a:lnTo>
                    <a:pt x="2697313" y="139609"/>
                  </a:lnTo>
                  <a:lnTo>
                    <a:pt x="2697313" y="349015"/>
                  </a:lnTo>
                  <a:lnTo>
                    <a:pt x="2697313" y="698026"/>
                  </a:lnTo>
                  <a:lnTo>
                    <a:pt x="2690196" y="742153"/>
                  </a:lnTo>
                  <a:lnTo>
                    <a:pt x="2670377" y="780477"/>
                  </a:lnTo>
                  <a:lnTo>
                    <a:pt x="2640155" y="810698"/>
                  </a:lnTo>
                  <a:lnTo>
                    <a:pt x="2601831" y="830517"/>
                  </a:lnTo>
                  <a:lnTo>
                    <a:pt x="2557704" y="837635"/>
                  </a:lnTo>
                  <a:lnTo>
                    <a:pt x="1402723" y="837635"/>
                  </a:lnTo>
                  <a:lnTo>
                    <a:pt x="847898" y="837635"/>
                  </a:lnTo>
                  <a:lnTo>
                    <a:pt x="617624" y="837635"/>
                  </a:lnTo>
                  <a:lnTo>
                    <a:pt x="573497" y="830517"/>
                  </a:lnTo>
                  <a:lnTo>
                    <a:pt x="535173" y="810698"/>
                  </a:lnTo>
                  <a:lnTo>
                    <a:pt x="504952" y="780477"/>
                  </a:lnTo>
                  <a:lnTo>
                    <a:pt x="485132" y="742153"/>
                  </a:lnTo>
                  <a:lnTo>
                    <a:pt x="478015" y="698026"/>
                  </a:lnTo>
                  <a:lnTo>
                    <a:pt x="478015" y="349015"/>
                  </a:lnTo>
                  <a:lnTo>
                    <a:pt x="0" y="98732"/>
                  </a:lnTo>
                  <a:lnTo>
                    <a:pt x="478015" y="139606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278671" y="3230881"/>
            <a:ext cx="1358713" cy="577941"/>
          </a:xfrm>
          <a:prstGeom prst="rect">
            <a:avLst/>
          </a:prstGeom>
        </p:spPr>
        <p:txBody>
          <a:bodyPr vert="horz" wrap="square" lIns="0" tIns="33618" rIns="0" bIns="0" rtlCol="0">
            <a:spAutoFit/>
          </a:bodyPr>
          <a:lstStyle/>
          <a:p>
            <a:pPr marL="11206" marR="4483" indent="83488">
              <a:lnSpc>
                <a:spcPct val="88700"/>
              </a:lnSpc>
              <a:spcBef>
                <a:spcPts val="265"/>
              </a:spcBef>
            </a:pP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324" spc="-6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r>
              <a:rPr sz="1324" spc="-6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has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domain</a:t>
            </a:r>
            <a:r>
              <a:rPr sz="1324" spc="-4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specifying acceptable</a:t>
            </a:r>
            <a:r>
              <a:rPr sz="1324" spc="-4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endParaRPr sz="1324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093138" y="3354904"/>
            <a:ext cx="2333625" cy="751354"/>
            <a:chOff x="492623" y="3802224"/>
            <a:chExt cx="2644775" cy="851535"/>
          </a:xfrm>
        </p:grpSpPr>
        <p:sp>
          <p:nvSpPr>
            <p:cNvPr id="32" name="object 32"/>
            <p:cNvSpPr/>
            <p:nvPr/>
          </p:nvSpPr>
          <p:spPr>
            <a:xfrm>
              <a:off x="499397" y="3808997"/>
              <a:ext cx="2630805" cy="838200"/>
            </a:xfrm>
            <a:custGeom>
              <a:avLst/>
              <a:gdLst/>
              <a:ahLst/>
              <a:cxnLst/>
              <a:rect l="l" t="t" r="r" b="b"/>
              <a:pathLst>
                <a:path w="2630805" h="838200">
                  <a:moveTo>
                    <a:pt x="2134463" y="0"/>
                  </a:moveTo>
                  <a:lnTo>
                    <a:pt x="139607" y="0"/>
                  </a:lnTo>
                  <a:lnTo>
                    <a:pt x="95480" y="7117"/>
                  </a:lnTo>
                  <a:lnTo>
                    <a:pt x="57157" y="26936"/>
                  </a:lnTo>
                  <a:lnTo>
                    <a:pt x="26936" y="57157"/>
                  </a:lnTo>
                  <a:lnTo>
                    <a:pt x="7117" y="95480"/>
                  </a:lnTo>
                  <a:lnTo>
                    <a:pt x="0" y="139606"/>
                  </a:lnTo>
                  <a:lnTo>
                    <a:pt x="0" y="698026"/>
                  </a:lnTo>
                  <a:lnTo>
                    <a:pt x="7117" y="742153"/>
                  </a:lnTo>
                  <a:lnTo>
                    <a:pt x="26936" y="780476"/>
                  </a:lnTo>
                  <a:lnTo>
                    <a:pt x="57157" y="810698"/>
                  </a:lnTo>
                  <a:lnTo>
                    <a:pt x="95480" y="830517"/>
                  </a:lnTo>
                  <a:lnTo>
                    <a:pt x="139607" y="837634"/>
                  </a:lnTo>
                  <a:lnTo>
                    <a:pt x="2134463" y="837634"/>
                  </a:lnTo>
                  <a:lnTo>
                    <a:pt x="2178590" y="830517"/>
                  </a:lnTo>
                  <a:lnTo>
                    <a:pt x="2216914" y="810698"/>
                  </a:lnTo>
                  <a:lnTo>
                    <a:pt x="2247135" y="780476"/>
                  </a:lnTo>
                  <a:lnTo>
                    <a:pt x="2266954" y="742153"/>
                  </a:lnTo>
                  <a:lnTo>
                    <a:pt x="2274071" y="698026"/>
                  </a:lnTo>
                  <a:lnTo>
                    <a:pt x="2274071" y="349015"/>
                  </a:lnTo>
                  <a:lnTo>
                    <a:pt x="2572365" y="139607"/>
                  </a:lnTo>
                  <a:lnTo>
                    <a:pt x="2274071" y="139606"/>
                  </a:lnTo>
                  <a:lnTo>
                    <a:pt x="2266954" y="95480"/>
                  </a:lnTo>
                  <a:lnTo>
                    <a:pt x="2247135" y="57157"/>
                  </a:lnTo>
                  <a:lnTo>
                    <a:pt x="2216914" y="26936"/>
                  </a:lnTo>
                  <a:lnTo>
                    <a:pt x="2178590" y="7117"/>
                  </a:lnTo>
                  <a:lnTo>
                    <a:pt x="2134463" y="0"/>
                  </a:lnTo>
                  <a:close/>
                </a:path>
                <a:path w="2630805" h="838200">
                  <a:moveTo>
                    <a:pt x="2630601" y="98724"/>
                  </a:moveTo>
                  <a:lnTo>
                    <a:pt x="2274071" y="139607"/>
                  </a:lnTo>
                  <a:lnTo>
                    <a:pt x="2572367" y="139606"/>
                  </a:lnTo>
                  <a:lnTo>
                    <a:pt x="2630601" y="98724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499397" y="3808997"/>
              <a:ext cx="2630805" cy="838200"/>
            </a:xfrm>
            <a:custGeom>
              <a:avLst/>
              <a:gdLst/>
              <a:ahLst/>
              <a:cxnLst/>
              <a:rect l="l" t="t" r="r" b="b"/>
              <a:pathLst>
                <a:path w="2630805" h="838200">
                  <a:moveTo>
                    <a:pt x="0" y="139607"/>
                  </a:moveTo>
                  <a:lnTo>
                    <a:pt x="7117" y="95480"/>
                  </a:lnTo>
                  <a:lnTo>
                    <a:pt x="26936" y="57157"/>
                  </a:lnTo>
                  <a:lnTo>
                    <a:pt x="57157" y="26936"/>
                  </a:lnTo>
                  <a:lnTo>
                    <a:pt x="95480" y="7117"/>
                  </a:lnTo>
                  <a:lnTo>
                    <a:pt x="139607" y="0"/>
                  </a:lnTo>
                  <a:lnTo>
                    <a:pt x="1326541" y="0"/>
                  </a:lnTo>
                  <a:lnTo>
                    <a:pt x="1895059" y="0"/>
                  </a:lnTo>
                  <a:lnTo>
                    <a:pt x="2134463" y="0"/>
                  </a:lnTo>
                  <a:lnTo>
                    <a:pt x="2178590" y="7117"/>
                  </a:lnTo>
                  <a:lnTo>
                    <a:pt x="2216914" y="26936"/>
                  </a:lnTo>
                  <a:lnTo>
                    <a:pt x="2247135" y="57157"/>
                  </a:lnTo>
                  <a:lnTo>
                    <a:pt x="2266954" y="95480"/>
                  </a:lnTo>
                  <a:lnTo>
                    <a:pt x="2274071" y="139607"/>
                  </a:lnTo>
                  <a:lnTo>
                    <a:pt x="2630601" y="98724"/>
                  </a:lnTo>
                  <a:lnTo>
                    <a:pt x="2274071" y="349014"/>
                  </a:lnTo>
                  <a:lnTo>
                    <a:pt x="2274071" y="698026"/>
                  </a:lnTo>
                  <a:lnTo>
                    <a:pt x="2266954" y="742153"/>
                  </a:lnTo>
                  <a:lnTo>
                    <a:pt x="2247135" y="780476"/>
                  </a:lnTo>
                  <a:lnTo>
                    <a:pt x="2216914" y="810697"/>
                  </a:lnTo>
                  <a:lnTo>
                    <a:pt x="2178590" y="830516"/>
                  </a:lnTo>
                  <a:lnTo>
                    <a:pt x="2134463" y="837634"/>
                  </a:lnTo>
                  <a:lnTo>
                    <a:pt x="1895059" y="837634"/>
                  </a:lnTo>
                  <a:lnTo>
                    <a:pt x="1326541" y="837634"/>
                  </a:lnTo>
                  <a:lnTo>
                    <a:pt x="139607" y="837634"/>
                  </a:lnTo>
                  <a:lnTo>
                    <a:pt x="95480" y="830516"/>
                  </a:lnTo>
                  <a:lnTo>
                    <a:pt x="57157" y="810697"/>
                  </a:lnTo>
                  <a:lnTo>
                    <a:pt x="26936" y="780476"/>
                  </a:lnTo>
                  <a:lnTo>
                    <a:pt x="7117" y="742153"/>
                  </a:lnTo>
                  <a:lnTo>
                    <a:pt x="0" y="698026"/>
                  </a:lnTo>
                  <a:lnTo>
                    <a:pt x="0" y="349014"/>
                  </a:lnTo>
                  <a:lnTo>
                    <a:pt x="0" y="139605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219358" y="3424518"/>
            <a:ext cx="1766607" cy="573686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11206" marR="4483" algn="ctr">
              <a:lnSpc>
                <a:spcPts val="1421"/>
              </a:lnSpc>
              <a:spcBef>
                <a:spcPts val="274"/>
              </a:spcBef>
            </a:pP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Underline</a:t>
            </a:r>
            <a:r>
              <a:rPr sz="1324" spc="-4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indicates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18" dirty="0">
                <a:solidFill>
                  <a:srgbClr val="FFFFFF"/>
                </a:solidFill>
                <a:latin typeface="Arial MT"/>
                <a:cs typeface="Arial MT"/>
              </a:rPr>
              <a:t>that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24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r>
              <a:rPr sz="1324" spc="-4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324" spc="-4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part</a:t>
            </a:r>
            <a:r>
              <a:rPr sz="1324" spc="-4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primary</a:t>
            </a:r>
            <a:r>
              <a:rPr sz="1324" spc="-3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endParaRPr sz="1324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181912" y="1627446"/>
            <a:ext cx="2066365" cy="723340"/>
            <a:chOff x="1726567" y="1844438"/>
            <a:chExt cx="2341880" cy="819785"/>
          </a:xfrm>
        </p:grpSpPr>
        <p:sp>
          <p:nvSpPr>
            <p:cNvPr id="36" name="object 36"/>
            <p:cNvSpPr/>
            <p:nvPr/>
          </p:nvSpPr>
          <p:spPr>
            <a:xfrm>
              <a:off x="1733340" y="1851211"/>
              <a:ext cx="2328545" cy="806450"/>
            </a:xfrm>
            <a:custGeom>
              <a:avLst/>
              <a:gdLst/>
              <a:ahLst/>
              <a:cxnLst/>
              <a:rect l="l" t="t" r="r" b="b"/>
              <a:pathLst>
                <a:path w="2328545" h="806450">
                  <a:moveTo>
                    <a:pt x="1776526" y="0"/>
                  </a:moveTo>
                  <a:lnTo>
                    <a:pt x="134308" y="0"/>
                  </a:lnTo>
                  <a:lnTo>
                    <a:pt x="91856" y="6847"/>
                  </a:lnTo>
                  <a:lnTo>
                    <a:pt x="54987" y="25913"/>
                  </a:lnTo>
                  <a:lnTo>
                    <a:pt x="25913" y="54987"/>
                  </a:lnTo>
                  <a:lnTo>
                    <a:pt x="6847" y="91856"/>
                  </a:lnTo>
                  <a:lnTo>
                    <a:pt x="0" y="134307"/>
                  </a:lnTo>
                  <a:lnTo>
                    <a:pt x="0" y="671526"/>
                  </a:lnTo>
                  <a:lnTo>
                    <a:pt x="6847" y="713973"/>
                  </a:lnTo>
                  <a:lnTo>
                    <a:pt x="25913" y="750842"/>
                  </a:lnTo>
                  <a:lnTo>
                    <a:pt x="54987" y="779916"/>
                  </a:lnTo>
                  <a:lnTo>
                    <a:pt x="91856" y="798983"/>
                  </a:lnTo>
                  <a:lnTo>
                    <a:pt x="134308" y="805830"/>
                  </a:lnTo>
                  <a:lnTo>
                    <a:pt x="1776526" y="805830"/>
                  </a:lnTo>
                  <a:lnTo>
                    <a:pt x="1818978" y="798983"/>
                  </a:lnTo>
                  <a:lnTo>
                    <a:pt x="1855847" y="779916"/>
                  </a:lnTo>
                  <a:lnTo>
                    <a:pt x="1884921" y="750842"/>
                  </a:lnTo>
                  <a:lnTo>
                    <a:pt x="1903988" y="713973"/>
                  </a:lnTo>
                  <a:lnTo>
                    <a:pt x="1910835" y="671521"/>
                  </a:lnTo>
                  <a:lnTo>
                    <a:pt x="2277613" y="671521"/>
                  </a:lnTo>
                  <a:lnTo>
                    <a:pt x="1910835" y="470066"/>
                  </a:lnTo>
                  <a:lnTo>
                    <a:pt x="1910835" y="134307"/>
                  </a:lnTo>
                  <a:lnTo>
                    <a:pt x="1903988" y="91856"/>
                  </a:lnTo>
                  <a:lnTo>
                    <a:pt x="1884921" y="54987"/>
                  </a:lnTo>
                  <a:lnTo>
                    <a:pt x="1855847" y="25913"/>
                  </a:lnTo>
                  <a:lnTo>
                    <a:pt x="1818978" y="6847"/>
                  </a:lnTo>
                  <a:lnTo>
                    <a:pt x="1776526" y="0"/>
                  </a:lnTo>
                  <a:close/>
                </a:path>
                <a:path w="2328545" h="806450">
                  <a:moveTo>
                    <a:pt x="2277613" y="671521"/>
                  </a:moveTo>
                  <a:lnTo>
                    <a:pt x="1910835" y="671521"/>
                  </a:lnTo>
                  <a:lnTo>
                    <a:pt x="2328277" y="699348"/>
                  </a:lnTo>
                  <a:lnTo>
                    <a:pt x="2277613" y="671521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1733340" y="1851211"/>
              <a:ext cx="2328545" cy="806450"/>
            </a:xfrm>
            <a:custGeom>
              <a:avLst/>
              <a:gdLst/>
              <a:ahLst/>
              <a:cxnLst/>
              <a:rect l="l" t="t" r="r" b="b"/>
              <a:pathLst>
                <a:path w="2328545" h="806450">
                  <a:moveTo>
                    <a:pt x="0" y="134308"/>
                  </a:moveTo>
                  <a:lnTo>
                    <a:pt x="6847" y="91856"/>
                  </a:lnTo>
                  <a:lnTo>
                    <a:pt x="25913" y="54987"/>
                  </a:lnTo>
                  <a:lnTo>
                    <a:pt x="54987" y="25913"/>
                  </a:lnTo>
                  <a:lnTo>
                    <a:pt x="91856" y="6847"/>
                  </a:lnTo>
                  <a:lnTo>
                    <a:pt x="134308" y="0"/>
                  </a:lnTo>
                  <a:lnTo>
                    <a:pt x="1114653" y="0"/>
                  </a:lnTo>
                  <a:lnTo>
                    <a:pt x="1592362" y="0"/>
                  </a:lnTo>
                  <a:lnTo>
                    <a:pt x="1776526" y="0"/>
                  </a:lnTo>
                  <a:lnTo>
                    <a:pt x="1818978" y="6847"/>
                  </a:lnTo>
                  <a:lnTo>
                    <a:pt x="1855847" y="25913"/>
                  </a:lnTo>
                  <a:lnTo>
                    <a:pt x="1884921" y="54987"/>
                  </a:lnTo>
                  <a:lnTo>
                    <a:pt x="1903988" y="91856"/>
                  </a:lnTo>
                  <a:lnTo>
                    <a:pt x="1910835" y="134308"/>
                  </a:lnTo>
                  <a:lnTo>
                    <a:pt x="1910835" y="470067"/>
                  </a:lnTo>
                  <a:lnTo>
                    <a:pt x="2328276" y="699348"/>
                  </a:lnTo>
                  <a:lnTo>
                    <a:pt x="1910835" y="671526"/>
                  </a:lnTo>
                  <a:lnTo>
                    <a:pt x="1903988" y="713973"/>
                  </a:lnTo>
                  <a:lnTo>
                    <a:pt x="1884921" y="750842"/>
                  </a:lnTo>
                  <a:lnTo>
                    <a:pt x="1855847" y="779916"/>
                  </a:lnTo>
                  <a:lnTo>
                    <a:pt x="1818978" y="798983"/>
                  </a:lnTo>
                  <a:lnTo>
                    <a:pt x="1776526" y="805830"/>
                  </a:lnTo>
                  <a:lnTo>
                    <a:pt x="1592362" y="805830"/>
                  </a:lnTo>
                  <a:lnTo>
                    <a:pt x="1114653" y="805830"/>
                  </a:lnTo>
                  <a:lnTo>
                    <a:pt x="134308" y="805830"/>
                  </a:lnTo>
                  <a:lnTo>
                    <a:pt x="91856" y="798983"/>
                  </a:lnTo>
                  <a:lnTo>
                    <a:pt x="54987" y="779916"/>
                  </a:lnTo>
                  <a:lnTo>
                    <a:pt x="25913" y="750842"/>
                  </a:lnTo>
                  <a:lnTo>
                    <a:pt x="6847" y="713973"/>
                  </a:lnTo>
                  <a:lnTo>
                    <a:pt x="0" y="671522"/>
                  </a:lnTo>
                  <a:lnTo>
                    <a:pt x="0" y="470067"/>
                  </a:lnTo>
                  <a:lnTo>
                    <a:pt x="0" y="134308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448945" y="1684469"/>
            <a:ext cx="1164291" cy="577941"/>
          </a:xfrm>
          <a:prstGeom prst="rect">
            <a:avLst/>
          </a:prstGeom>
        </p:spPr>
        <p:txBody>
          <a:bodyPr vert="horz" wrap="square" lIns="0" tIns="33618" rIns="0" bIns="0" rtlCol="0">
            <a:spAutoFit/>
          </a:bodyPr>
          <a:lstStyle/>
          <a:p>
            <a:pPr marL="11206" marR="4483" algn="ctr">
              <a:lnSpc>
                <a:spcPct val="88700"/>
              </a:lnSpc>
              <a:spcBef>
                <a:spcPts val="265"/>
              </a:spcBef>
            </a:pP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sz="1324" spc="-4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1324" spc="-4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set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should</a:t>
            </a:r>
            <a:r>
              <a:rPr sz="1324" spc="-7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324" spc="-7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44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primary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endParaRPr sz="1324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5262" y="181835"/>
            <a:ext cx="927847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2790974">
              <a:lnSpc>
                <a:spcPct val="100000"/>
              </a:lnSpc>
              <a:spcBef>
                <a:spcPts val="88"/>
              </a:spcBef>
            </a:pPr>
            <a:r>
              <a:rPr spc="-101" dirty="0">
                <a:solidFill>
                  <a:srgbClr val="292934"/>
                </a:solidFill>
              </a:rPr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4778" y="936811"/>
            <a:ext cx="8264899" cy="166956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83226" indent="-172019">
              <a:spcBef>
                <a:spcPts val="112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183226" algn="l"/>
              </a:tabLst>
            </a:pPr>
            <a:r>
              <a:rPr sz="1853" b="1" dirty="0">
                <a:solidFill>
                  <a:srgbClr val="C00000"/>
                </a:solidFill>
                <a:latin typeface="Verdana"/>
                <a:cs typeface="Verdana"/>
              </a:rPr>
              <a:t>Single-valued</a:t>
            </a:r>
            <a:r>
              <a:rPr sz="1853" b="1" spc="8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b="1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1853" b="1" spc="62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allows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single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endParaRPr sz="1853">
              <a:latin typeface="Verdana"/>
              <a:cs typeface="Verdana"/>
            </a:endParaRPr>
          </a:p>
          <a:p>
            <a:pPr marL="183226" indent="-172019">
              <a:spcBef>
                <a:spcPts val="1037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183226" algn="l"/>
              </a:tabLst>
            </a:pPr>
            <a:r>
              <a:rPr sz="1853" b="1" dirty="0">
                <a:solidFill>
                  <a:srgbClr val="C00000"/>
                </a:solidFill>
                <a:latin typeface="Verdana"/>
                <a:cs typeface="Verdana"/>
              </a:rPr>
              <a:t>Multi-valued</a:t>
            </a:r>
            <a:r>
              <a:rPr sz="1853" b="1" spc="7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b="1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1853" b="1" spc="7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allows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at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time</a:t>
            </a:r>
            <a:endParaRPr sz="1853">
              <a:latin typeface="Verdana"/>
              <a:cs typeface="Verdana"/>
            </a:endParaRPr>
          </a:p>
          <a:p>
            <a:pPr marL="183226" indent="-172019">
              <a:spcBef>
                <a:spcPts val="953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183226" algn="l"/>
              </a:tabLst>
            </a:pPr>
            <a:r>
              <a:rPr sz="1853" b="1" dirty="0">
                <a:solidFill>
                  <a:srgbClr val="C00000"/>
                </a:solidFill>
                <a:latin typeface="Verdana"/>
                <a:cs typeface="Verdana"/>
              </a:rPr>
              <a:t>Derived</a:t>
            </a:r>
            <a:r>
              <a:rPr sz="1853" b="1" spc="57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b="1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1853" b="1" spc="6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–can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calculated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1853">
              <a:latin typeface="Verdana"/>
              <a:cs typeface="Verdana"/>
            </a:endParaRPr>
          </a:p>
          <a:p>
            <a:pPr marL="183226" indent="-172019">
              <a:spcBef>
                <a:spcPts val="953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183226" algn="l"/>
              </a:tabLst>
            </a:pPr>
            <a:r>
              <a:rPr sz="1853" b="1" dirty="0">
                <a:solidFill>
                  <a:srgbClr val="C00000"/>
                </a:solidFill>
                <a:latin typeface="Verdana"/>
                <a:cs typeface="Verdana"/>
              </a:rPr>
              <a:t>Composite</a:t>
            </a:r>
            <a:r>
              <a:rPr sz="1853" b="1" spc="62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b="1" dirty="0">
                <a:solidFill>
                  <a:srgbClr val="C00000"/>
                </a:solidFill>
                <a:latin typeface="Verdana"/>
                <a:cs typeface="Verdana"/>
              </a:rPr>
              <a:t>attribute</a:t>
            </a:r>
            <a:r>
              <a:rPr sz="1853" b="1" spc="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consists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1853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8510" y="3239944"/>
            <a:ext cx="6638508" cy="29047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60566" y="4475181"/>
            <a:ext cx="60679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9924" y="4453666"/>
            <a:ext cx="1697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22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3467" y="5023821"/>
            <a:ext cx="50090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8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27462" y="5421853"/>
            <a:ext cx="4364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22" dirty="0">
                <a:solidFill>
                  <a:srgbClr val="292934"/>
                </a:solidFill>
                <a:latin typeface="Arial MT"/>
                <a:cs typeface="Arial MT"/>
              </a:rPr>
              <a:t>DOB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9211" y="5147534"/>
            <a:ext cx="34121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22" dirty="0">
                <a:solidFill>
                  <a:srgbClr val="292934"/>
                </a:solidFill>
                <a:latin typeface="Arial MT"/>
                <a:cs typeface="Arial MT"/>
              </a:rPr>
              <a:t>age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46976" y="3633394"/>
            <a:ext cx="55301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phone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33258" y="3703320"/>
            <a:ext cx="50146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street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9628" y="4208929"/>
            <a:ext cx="30928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8" dirty="0">
                <a:solidFill>
                  <a:srgbClr val="292934"/>
                </a:solidFill>
                <a:latin typeface="Arial MT"/>
                <a:cs typeface="Arial MT"/>
              </a:rPr>
              <a:t>city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65380" y="4722607"/>
            <a:ext cx="43758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state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1846" y="4507454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68945" y="5225527"/>
            <a:ext cx="68019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zipcode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67549" y="3341146"/>
            <a:ext cx="1570504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18" dirty="0">
                <a:solidFill>
                  <a:srgbClr val="FFFFFF"/>
                </a:solidFill>
                <a:latin typeface="Arial MT"/>
                <a:cs typeface="Arial MT"/>
              </a:rPr>
              <a:t>Multi-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valued</a:t>
            </a:r>
            <a:r>
              <a:rPr sz="1324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endParaRPr sz="1324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45149" y="5793888"/>
            <a:ext cx="1246654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Derived</a:t>
            </a:r>
            <a:r>
              <a:rPr sz="1324" spc="-4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endParaRPr sz="1324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719983" y="3750432"/>
            <a:ext cx="1398494" cy="573741"/>
            <a:chOff x="8003047" y="4250489"/>
            <a:chExt cx="1584960" cy="650240"/>
          </a:xfrm>
        </p:grpSpPr>
        <p:sp>
          <p:nvSpPr>
            <p:cNvPr id="19" name="object 19"/>
            <p:cNvSpPr/>
            <p:nvPr/>
          </p:nvSpPr>
          <p:spPr>
            <a:xfrm>
              <a:off x="8009820" y="4257262"/>
              <a:ext cx="1571625" cy="636270"/>
            </a:xfrm>
            <a:custGeom>
              <a:avLst/>
              <a:gdLst/>
              <a:ahLst/>
              <a:cxnLst/>
              <a:rect l="l" t="t" r="r" b="b"/>
              <a:pathLst>
                <a:path w="1571625" h="636270">
                  <a:moveTo>
                    <a:pt x="1571061" y="530084"/>
                  </a:moveTo>
                  <a:lnTo>
                    <a:pt x="306116" y="530084"/>
                  </a:lnTo>
                  <a:lnTo>
                    <a:pt x="314448" y="571351"/>
                  </a:lnTo>
                  <a:lnTo>
                    <a:pt x="337169" y="605051"/>
                  </a:lnTo>
                  <a:lnTo>
                    <a:pt x="370868" y="627772"/>
                  </a:lnTo>
                  <a:lnTo>
                    <a:pt x="412136" y="636103"/>
                  </a:lnTo>
                  <a:lnTo>
                    <a:pt x="1465041" y="636103"/>
                  </a:lnTo>
                  <a:lnTo>
                    <a:pt x="1506309" y="627772"/>
                  </a:lnTo>
                  <a:lnTo>
                    <a:pt x="1540008" y="605051"/>
                  </a:lnTo>
                  <a:lnTo>
                    <a:pt x="1562729" y="571351"/>
                  </a:lnTo>
                  <a:lnTo>
                    <a:pt x="1571061" y="530084"/>
                  </a:lnTo>
                  <a:close/>
                </a:path>
                <a:path w="1571625" h="636270">
                  <a:moveTo>
                    <a:pt x="1465041" y="0"/>
                  </a:moveTo>
                  <a:lnTo>
                    <a:pt x="412136" y="0"/>
                  </a:lnTo>
                  <a:lnTo>
                    <a:pt x="370868" y="8331"/>
                  </a:lnTo>
                  <a:lnTo>
                    <a:pt x="337169" y="31052"/>
                  </a:lnTo>
                  <a:lnTo>
                    <a:pt x="314448" y="64751"/>
                  </a:lnTo>
                  <a:lnTo>
                    <a:pt x="306116" y="106019"/>
                  </a:lnTo>
                  <a:lnTo>
                    <a:pt x="306116" y="371059"/>
                  </a:lnTo>
                  <a:lnTo>
                    <a:pt x="0" y="566628"/>
                  </a:lnTo>
                  <a:lnTo>
                    <a:pt x="306116" y="530084"/>
                  </a:lnTo>
                  <a:lnTo>
                    <a:pt x="1571061" y="530084"/>
                  </a:lnTo>
                  <a:lnTo>
                    <a:pt x="1571061" y="106019"/>
                  </a:lnTo>
                  <a:lnTo>
                    <a:pt x="1562729" y="64751"/>
                  </a:lnTo>
                  <a:lnTo>
                    <a:pt x="1540008" y="31052"/>
                  </a:lnTo>
                  <a:lnTo>
                    <a:pt x="1506309" y="8331"/>
                  </a:lnTo>
                  <a:lnTo>
                    <a:pt x="1465041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8009820" y="4257262"/>
              <a:ext cx="1571625" cy="636270"/>
            </a:xfrm>
            <a:custGeom>
              <a:avLst/>
              <a:gdLst/>
              <a:ahLst/>
              <a:cxnLst/>
              <a:rect l="l" t="t" r="r" b="b"/>
              <a:pathLst>
                <a:path w="1571625" h="636270">
                  <a:moveTo>
                    <a:pt x="306116" y="106019"/>
                  </a:moveTo>
                  <a:lnTo>
                    <a:pt x="314448" y="64751"/>
                  </a:lnTo>
                  <a:lnTo>
                    <a:pt x="337169" y="31052"/>
                  </a:lnTo>
                  <a:lnTo>
                    <a:pt x="370868" y="8331"/>
                  </a:lnTo>
                  <a:lnTo>
                    <a:pt x="412135" y="0"/>
                  </a:lnTo>
                  <a:lnTo>
                    <a:pt x="516940" y="0"/>
                  </a:lnTo>
                  <a:lnTo>
                    <a:pt x="833176" y="0"/>
                  </a:lnTo>
                  <a:lnTo>
                    <a:pt x="1465041" y="0"/>
                  </a:lnTo>
                  <a:lnTo>
                    <a:pt x="1506308" y="8331"/>
                  </a:lnTo>
                  <a:lnTo>
                    <a:pt x="1540008" y="31052"/>
                  </a:lnTo>
                  <a:lnTo>
                    <a:pt x="1562729" y="64751"/>
                  </a:lnTo>
                  <a:lnTo>
                    <a:pt x="1571060" y="106019"/>
                  </a:lnTo>
                  <a:lnTo>
                    <a:pt x="1571060" y="371060"/>
                  </a:lnTo>
                  <a:lnTo>
                    <a:pt x="1571060" y="530086"/>
                  </a:lnTo>
                  <a:lnTo>
                    <a:pt x="1562729" y="571351"/>
                  </a:lnTo>
                  <a:lnTo>
                    <a:pt x="1540008" y="605051"/>
                  </a:lnTo>
                  <a:lnTo>
                    <a:pt x="1506308" y="627771"/>
                  </a:lnTo>
                  <a:lnTo>
                    <a:pt x="1465041" y="636103"/>
                  </a:lnTo>
                  <a:lnTo>
                    <a:pt x="833176" y="636103"/>
                  </a:lnTo>
                  <a:lnTo>
                    <a:pt x="516940" y="636103"/>
                  </a:lnTo>
                  <a:lnTo>
                    <a:pt x="412135" y="636103"/>
                  </a:lnTo>
                  <a:lnTo>
                    <a:pt x="370868" y="627771"/>
                  </a:lnTo>
                  <a:lnTo>
                    <a:pt x="337169" y="605051"/>
                  </a:lnTo>
                  <a:lnTo>
                    <a:pt x="314448" y="571351"/>
                  </a:lnTo>
                  <a:lnTo>
                    <a:pt x="306116" y="530084"/>
                  </a:lnTo>
                  <a:lnTo>
                    <a:pt x="0" y="566628"/>
                  </a:lnTo>
                  <a:lnTo>
                    <a:pt x="306116" y="371060"/>
                  </a:lnTo>
                  <a:lnTo>
                    <a:pt x="306116" y="106019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143990" y="3822550"/>
            <a:ext cx="820831" cy="394150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108702" marR="4483" indent="-98057">
              <a:lnSpc>
                <a:spcPts val="1421"/>
              </a:lnSpc>
              <a:spcBef>
                <a:spcPts val="274"/>
              </a:spcBef>
            </a:pPr>
            <a:r>
              <a:rPr sz="1324" spc="-18" dirty="0">
                <a:solidFill>
                  <a:srgbClr val="FFFFFF"/>
                </a:solidFill>
                <a:latin typeface="Arial MT"/>
                <a:cs typeface="Arial MT"/>
              </a:rPr>
              <a:t>Composite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endParaRPr sz="1324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65262" y="5656729"/>
            <a:ext cx="1034863" cy="394150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215725" marR="4483" indent="-205079">
              <a:lnSpc>
                <a:spcPts val="1421"/>
              </a:lnSpc>
              <a:spcBef>
                <a:spcPts val="274"/>
              </a:spcBef>
            </a:pPr>
            <a:r>
              <a:rPr sz="1324" spc="-18" dirty="0">
                <a:solidFill>
                  <a:srgbClr val="FFFFFF"/>
                </a:solidFill>
                <a:latin typeface="Arial MT"/>
                <a:cs typeface="Arial MT"/>
              </a:rPr>
              <a:t>Single-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valued attribute</a:t>
            </a:r>
            <a:endParaRPr sz="1324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990086" y="4431752"/>
            <a:ext cx="1128432" cy="573741"/>
            <a:chOff x="8309164" y="5022652"/>
            <a:chExt cx="1278890" cy="650240"/>
          </a:xfrm>
        </p:grpSpPr>
        <p:sp>
          <p:nvSpPr>
            <p:cNvPr id="24" name="object 24"/>
            <p:cNvSpPr/>
            <p:nvPr/>
          </p:nvSpPr>
          <p:spPr>
            <a:xfrm>
              <a:off x="8315937" y="5029426"/>
              <a:ext cx="1265555" cy="636270"/>
            </a:xfrm>
            <a:custGeom>
              <a:avLst/>
              <a:gdLst/>
              <a:ahLst/>
              <a:cxnLst/>
              <a:rect l="l" t="t" r="r" b="b"/>
              <a:pathLst>
                <a:path w="1265554" h="636270">
                  <a:moveTo>
                    <a:pt x="1158924" y="0"/>
                  </a:moveTo>
                  <a:lnTo>
                    <a:pt x="106019" y="0"/>
                  </a:lnTo>
                  <a:lnTo>
                    <a:pt x="64751" y="8331"/>
                  </a:lnTo>
                  <a:lnTo>
                    <a:pt x="31052" y="31052"/>
                  </a:lnTo>
                  <a:lnTo>
                    <a:pt x="8331" y="64751"/>
                  </a:lnTo>
                  <a:lnTo>
                    <a:pt x="0" y="106017"/>
                  </a:lnTo>
                  <a:lnTo>
                    <a:pt x="0" y="530084"/>
                  </a:lnTo>
                  <a:lnTo>
                    <a:pt x="8331" y="571351"/>
                  </a:lnTo>
                  <a:lnTo>
                    <a:pt x="31052" y="605050"/>
                  </a:lnTo>
                  <a:lnTo>
                    <a:pt x="64751" y="627770"/>
                  </a:lnTo>
                  <a:lnTo>
                    <a:pt x="106019" y="636102"/>
                  </a:lnTo>
                  <a:lnTo>
                    <a:pt x="1158924" y="636102"/>
                  </a:lnTo>
                  <a:lnTo>
                    <a:pt x="1200192" y="627770"/>
                  </a:lnTo>
                  <a:lnTo>
                    <a:pt x="1233891" y="605050"/>
                  </a:lnTo>
                  <a:lnTo>
                    <a:pt x="1256612" y="571351"/>
                  </a:lnTo>
                  <a:lnTo>
                    <a:pt x="1264944" y="530084"/>
                  </a:lnTo>
                  <a:lnTo>
                    <a:pt x="1264943" y="106017"/>
                  </a:lnTo>
                  <a:lnTo>
                    <a:pt x="1256612" y="64751"/>
                  </a:lnTo>
                  <a:lnTo>
                    <a:pt x="1233891" y="31052"/>
                  </a:lnTo>
                  <a:lnTo>
                    <a:pt x="1200192" y="8331"/>
                  </a:lnTo>
                  <a:lnTo>
                    <a:pt x="115892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8315937" y="5029426"/>
              <a:ext cx="1265555" cy="636270"/>
            </a:xfrm>
            <a:custGeom>
              <a:avLst/>
              <a:gdLst/>
              <a:ahLst/>
              <a:cxnLst/>
              <a:rect l="l" t="t" r="r" b="b"/>
              <a:pathLst>
                <a:path w="1265554" h="636270">
                  <a:moveTo>
                    <a:pt x="0" y="106019"/>
                  </a:moveTo>
                  <a:lnTo>
                    <a:pt x="8331" y="64751"/>
                  </a:lnTo>
                  <a:lnTo>
                    <a:pt x="31052" y="31052"/>
                  </a:lnTo>
                  <a:lnTo>
                    <a:pt x="64751" y="8331"/>
                  </a:lnTo>
                  <a:lnTo>
                    <a:pt x="106019" y="0"/>
                  </a:lnTo>
                  <a:lnTo>
                    <a:pt x="210823" y="0"/>
                  </a:lnTo>
                  <a:lnTo>
                    <a:pt x="573082" y="0"/>
                  </a:lnTo>
                  <a:lnTo>
                    <a:pt x="527059" y="0"/>
                  </a:lnTo>
                  <a:lnTo>
                    <a:pt x="1158924" y="0"/>
                  </a:lnTo>
                  <a:lnTo>
                    <a:pt x="1200192" y="8331"/>
                  </a:lnTo>
                  <a:lnTo>
                    <a:pt x="1233891" y="31052"/>
                  </a:lnTo>
                  <a:lnTo>
                    <a:pt x="1256612" y="64751"/>
                  </a:lnTo>
                  <a:lnTo>
                    <a:pt x="1264943" y="106019"/>
                  </a:lnTo>
                  <a:lnTo>
                    <a:pt x="1264943" y="265043"/>
                  </a:lnTo>
                  <a:lnTo>
                    <a:pt x="1264943" y="530084"/>
                  </a:lnTo>
                  <a:lnTo>
                    <a:pt x="1256612" y="571351"/>
                  </a:lnTo>
                  <a:lnTo>
                    <a:pt x="1233891" y="605051"/>
                  </a:lnTo>
                  <a:lnTo>
                    <a:pt x="1200192" y="627771"/>
                  </a:lnTo>
                  <a:lnTo>
                    <a:pt x="1158924" y="636103"/>
                  </a:lnTo>
                  <a:lnTo>
                    <a:pt x="527059" y="636103"/>
                  </a:lnTo>
                  <a:lnTo>
                    <a:pt x="210823" y="636103"/>
                  </a:lnTo>
                  <a:lnTo>
                    <a:pt x="106019" y="636103"/>
                  </a:lnTo>
                  <a:lnTo>
                    <a:pt x="64751" y="627771"/>
                  </a:lnTo>
                  <a:lnTo>
                    <a:pt x="31052" y="605051"/>
                  </a:lnTo>
                  <a:lnTo>
                    <a:pt x="8331" y="571351"/>
                  </a:lnTo>
                  <a:lnTo>
                    <a:pt x="0" y="530084"/>
                  </a:lnTo>
                  <a:lnTo>
                    <a:pt x="0" y="265043"/>
                  </a:lnTo>
                  <a:lnTo>
                    <a:pt x="0" y="106017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278460" y="4502971"/>
            <a:ext cx="552450" cy="394150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29697" marR="4483" indent="-19051">
              <a:lnSpc>
                <a:spcPts val="1421"/>
              </a:lnSpc>
              <a:spcBef>
                <a:spcPts val="274"/>
              </a:spcBef>
            </a:pPr>
            <a:r>
              <a:rPr sz="1324" spc="-18" dirty="0">
                <a:solidFill>
                  <a:srgbClr val="FFFFFF"/>
                </a:solidFill>
                <a:latin typeface="Arial MT"/>
                <a:cs typeface="Arial MT"/>
              </a:rPr>
              <a:t>Ensure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atomic</a:t>
            </a:r>
            <a:endParaRPr sz="1324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62764"/>
            <a:ext cx="927847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2344956">
              <a:lnSpc>
                <a:spcPct val="100000"/>
              </a:lnSpc>
              <a:spcBef>
                <a:spcPts val="88"/>
              </a:spcBef>
            </a:pPr>
            <a:r>
              <a:rPr spc="-106" dirty="0">
                <a:solidFill>
                  <a:srgbClr val="292934"/>
                </a:solidFill>
              </a:rPr>
              <a:t>Relationships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398059" y="1610845"/>
            <a:ext cx="9278471" cy="267236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81545" indent="-170338">
              <a:lnSpc>
                <a:spcPct val="100000"/>
              </a:lnSpc>
              <a:spcBef>
                <a:spcPts val="88"/>
              </a:spcBef>
              <a:buSzPct val="86956"/>
              <a:buFont typeface="Arial MT"/>
              <a:buChar char="•"/>
              <a:tabLst>
                <a:tab pos="181545" algn="l"/>
              </a:tabLst>
            </a:pPr>
            <a:r>
              <a:rPr dirty="0"/>
              <a:t>Connections</a:t>
            </a:r>
            <a:r>
              <a:rPr spc="71" dirty="0"/>
              <a:t> </a:t>
            </a:r>
            <a:r>
              <a:rPr dirty="0"/>
              <a:t>among</a:t>
            </a:r>
            <a:r>
              <a:rPr spc="84" dirty="0"/>
              <a:t> </a:t>
            </a:r>
            <a:r>
              <a:rPr dirty="0"/>
              <a:t>two</a:t>
            </a:r>
            <a:r>
              <a:rPr spc="79" dirty="0"/>
              <a:t> </a:t>
            </a:r>
            <a:r>
              <a:rPr dirty="0"/>
              <a:t>or</a:t>
            </a:r>
            <a:r>
              <a:rPr spc="71" dirty="0"/>
              <a:t> </a:t>
            </a:r>
            <a:r>
              <a:rPr dirty="0"/>
              <a:t>more</a:t>
            </a:r>
            <a:r>
              <a:rPr spc="79" dirty="0"/>
              <a:t> </a:t>
            </a:r>
            <a:r>
              <a:rPr dirty="0"/>
              <a:t>entity</a:t>
            </a:r>
            <a:r>
              <a:rPr spc="75" dirty="0"/>
              <a:t> </a:t>
            </a:r>
            <a:r>
              <a:rPr spc="-18" dirty="0"/>
              <a:t>sets</a:t>
            </a:r>
          </a:p>
          <a:p>
            <a:pPr marL="180984" marR="276240" indent="-170338">
              <a:lnSpc>
                <a:spcPct val="101699"/>
              </a:lnSpc>
              <a:spcBef>
                <a:spcPts val="1928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183226" algn="l"/>
              </a:tabLst>
            </a:pP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Binary</a:t>
            </a:r>
            <a:r>
              <a:rPr b="1" spc="10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relationships</a:t>
            </a:r>
            <a:r>
              <a:rPr b="1" spc="11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/>
              <a:t>–</a:t>
            </a:r>
            <a:r>
              <a:rPr spc="106" dirty="0"/>
              <a:t> </a:t>
            </a:r>
            <a:r>
              <a:rPr dirty="0"/>
              <a:t>connections</a:t>
            </a:r>
            <a:r>
              <a:rPr spc="106" dirty="0"/>
              <a:t> </a:t>
            </a:r>
            <a:r>
              <a:rPr dirty="0"/>
              <a:t>between</a:t>
            </a:r>
            <a:r>
              <a:rPr spc="97" dirty="0"/>
              <a:t> </a:t>
            </a:r>
            <a:r>
              <a:rPr dirty="0"/>
              <a:t>two</a:t>
            </a:r>
            <a:r>
              <a:rPr spc="106" dirty="0"/>
              <a:t> </a:t>
            </a:r>
            <a:r>
              <a:rPr spc="-9" dirty="0"/>
              <a:t>entity </a:t>
            </a:r>
            <a:r>
              <a:rPr spc="-18" dirty="0"/>
              <a:t>sets</a:t>
            </a:r>
          </a:p>
          <a:p>
            <a:pPr marL="180984" marR="4483" indent="-170338">
              <a:lnSpc>
                <a:spcPct val="101699"/>
              </a:lnSpc>
              <a:spcBef>
                <a:spcPts val="1928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183226" algn="l"/>
              </a:tabLst>
            </a:pP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Multi-way</a:t>
            </a:r>
            <a:r>
              <a:rPr b="1" spc="14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relationships</a:t>
            </a:r>
            <a:r>
              <a:rPr b="1" spc="1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/>
              <a:t>(</a:t>
            </a: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u-ary</a:t>
            </a:r>
            <a:r>
              <a:rPr dirty="0"/>
              <a:t>)</a:t>
            </a:r>
            <a:r>
              <a:rPr spc="137" dirty="0"/>
              <a:t> </a:t>
            </a:r>
            <a:r>
              <a:rPr dirty="0"/>
              <a:t>–</a:t>
            </a:r>
            <a:r>
              <a:rPr spc="141" dirty="0"/>
              <a:t> </a:t>
            </a:r>
            <a:r>
              <a:rPr dirty="0"/>
              <a:t>connections</a:t>
            </a:r>
            <a:r>
              <a:rPr spc="141" dirty="0"/>
              <a:t> </a:t>
            </a:r>
            <a:r>
              <a:rPr spc="-9" dirty="0"/>
              <a:t>involving </a:t>
            </a:r>
            <a:r>
              <a:rPr dirty="0"/>
              <a:t>more</a:t>
            </a:r>
            <a:r>
              <a:rPr spc="53" dirty="0"/>
              <a:t> </a:t>
            </a:r>
            <a:r>
              <a:rPr dirty="0"/>
              <a:t>than</a:t>
            </a:r>
            <a:r>
              <a:rPr spc="53" dirty="0"/>
              <a:t> </a:t>
            </a:r>
            <a:r>
              <a:rPr dirty="0"/>
              <a:t>two</a:t>
            </a:r>
            <a:r>
              <a:rPr spc="57" dirty="0"/>
              <a:t> </a:t>
            </a:r>
            <a:r>
              <a:rPr dirty="0"/>
              <a:t>entity</a:t>
            </a:r>
            <a:r>
              <a:rPr spc="53" dirty="0"/>
              <a:t> </a:t>
            </a:r>
            <a:r>
              <a:rPr spc="-18" dirty="0"/>
              <a:t>sets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62764"/>
            <a:ext cx="927847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437231">
              <a:lnSpc>
                <a:spcPct val="100000"/>
              </a:lnSpc>
              <a:spcBef>
                <a:spcPts val="88"/>
              </a:spcBef>
            </a:pPr>
            <a:r>
              <a:rPr spc="-124" dirty="0">
                <a:solidFill>
                  <a:srgbClr val="292934"/>
                </a:solidFill>
              </a:rPr>
              <a:t>Binary</a:t>
            </a:r>
            <a:r>
              <a:rPr spc="-199" dirty="0">
                <a:solidFill>
                  <a:srgbClr val="292934"/>
                </a:solidFill>
              </a:rPr>
              <a:t> </a:t>
            </a:r>
            <a:r>
              <a:rPr spc="-97" dirty="0">
                <a:solidFill>
                  <a:srgbClr val="292934"/>
                </a:solidFill>
              </a:rPr>
              <a:t>Relationships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4778" y="1070386"/>
            <a:ext cx="7423897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03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i="1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30" i="1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i="1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030" i="1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030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sets,</a:t>
            </a:r>
            <a:r>
              <a:rPr sz="203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30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030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030" i="1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30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30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subset</a:t>
            </a:r>
            <a:r>
              <a:rPr sz="203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i="1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30" i="1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i="1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2030" i="1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i="1" spc="-44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endParaRPr sz="203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34570" y="4812283"/>
            <a:ext cx="1134035" cy="363222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31109" rIns="0" bIns="0" rtlCol="0">
            <a:spAutoFit/>
          </a:bodyPr>
          <a:lstStyle/>
          <a:p>
            <a:pPr marL="247663">
              <a:spcBef>
                <a:spcPts val="1032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12255" y="4812283"/>
            <a:ext cx="1134035" cy="363222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31109" rIns="0" bIns="0" rtlCol="0">
            <a:spAutoFit/>
          </a:bodyPr>
          <a:lstStyle/>
          <a:p>
            <a:pPr marL="178743">
              <a:spcBef>
                <a:spcPts val="1032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55189" y="4760420"/>
            <a:ext cx="1489262" cy="607919"/>
            <a:chOff x="4416281" y="5395142"/>
            <a:chExt cx="1687830" cy="688975"/>
          </a:xfrm>
        </p:grpSpPr>
        <p:sp>
          <p:nvSpPr>
            <p:cNvPr id="7" name="object 7"/>
            <p:cNvSpPr/>
            <p:nvPr/>
          </p:nvSpPr>
          <p:spPr>
            <a:xfrm>
              <a:off x="4421361" y="5400222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4421361" y="5400222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006952" y="4937760"/>
            <a:ext cx="58550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51623" y="4265090"/>
            <a:ext cx="1084729" cy="442632"/>
            <a:chOff x="1238906" y="4833769"/>
            <a:chExt cx="1229360" cy="501650"/>
          </a:xfrm>
        </p:grpSpPr>
        <p:sp>
          <p:nvSpPr>
            <p:cNvPr id="11" name="object 11"/>
            <p:cNvSpPr/>
            <p:nvPr/>
          </p:nvSpPr>
          <p:spPr>
            <a:xfrm>
              <a:off x="1243986" y="483884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0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89" y="81034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69" y="390592"/>
                  </a:lnTo>
                  <a:lnTo>
                    <a:pt x="156989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0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50" y="489688"/>
                  </a:lnTo>
                  <a:lnTo>
                    <a:pt x="740074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2" y="323182"/>
                  </a:lnTo>
                  <a:lnTo>
                    <a:pt x="1215132" y="272321"/>
                  </a:lnTo>
                  <a:lnTo>
                    <a:pt x="1218707" y="245564"/>
                  </a:lnTo>
                  <a:lnTo>
                    <a:pt x="1215132" y="218807"/>
                  </a:lnTo>
                  <a:lnTo>
                    <a:pt x="1187642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4" y="5663"/>
                  </a:lnTo>
                  <a:lnTo>
                    <a:pt x="675750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1243986" y="483884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55564" y="4359536"/>
            <a:ext cx="27678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22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pid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84116" y="3973181"/>
            <a:ext cx="1084729" cy="442632"/>
            <a:chOff x="2295731" y="4502938"/>
            <a:chExt cx="1229360" cy="501650"/>
          </a:xfrm>
        </p:grpSpPr>
        <p:sp>
          <p:nvSpPr>
            <p:cNvPr id="15" name="object 15"/>
            <p:cNvSpPr/>
            <p:nvPr/>
          </p:nvSpPr>
          <p:spPr>
            <a:xfrm>
              <a:off x="2300811" y="4508018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2" y="5663"/>
                  </a:lnTo>
                  <a:lnTo>
                    <a:pt x="416750" y="12519"/>
                  </a:lnTo>
                  <a:lnTo>
                    <a:pt x="357682" y="21856"/>
                  </a:lnTo>
                  <a:lnTo>
                    <a:pt x="301800" y="33526"/>
                  </a:lnTo>
                  <a:lnTo>
                    <a:pt x="249477" y="47379"/>
                  </a:lnTo>
                  <a:lnTo>
                    <a:pt x="201082" y="63265"/>
                  </a:lnTo>
                  <a:lnTo>
                    <a:pt x="156989" y="81035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69" y="390592"/>
                  </a:lnTo>
                  <a:lnTo>
                    <a:pt x="156989" y="410094"/>
                  </a:lnTo>
                  <a:lnTo>
                    <a:pt x="201082" y="427863"/>
                  </a:lnTo>
                  <a:lnTo>
                    <a:pt x="249477" y="443749"/>
                  </a:lnTo>
                  <a:lnTo>
                    <a:pt x="301800" y="457602"/>
                  </a:lnTo>
                  <a:lnTo>
                    <a:pt x="357682" y="469272"/>
                  </a:lnTo>
                  <a:lnTo>
                    <a:pt x="416750" y="478610"/>
                  </a:lnTo>
                  <a:lnTo>
                    <a:pt x="478632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5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0811" y="4508018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75999" y="4069079"/>
            <a:ext cx="50090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8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08871" y="4011131"/>
            <a:ext cx="3483908" cy="658906"/>
            <a:chOff x="3457120" y="4545949"/>
            <a:chExt cx="3948429" cy="746760"/>
          </a:xfrm>
        </p:grpSpPr>
        <p:sp>
          <p:nvSpPr>
            <p:cNvPr id="19" name="object 19"/>
            <p:cNvSpPr/>
            <p:nvPr/>
          </p:nvSpPr>
          <p:spPr>
            <a:xfrm>
              <a:off x="3462200" y="4796446"/>
              <a:ext cx="1383665" cy="491490"/>
            </a:xfrm>
            <a:custGeom>
              <a:avLst/>
              <a:gdLst/>
              <a:ahLst/>
              <a:cxnLst/>
              <a:rect l="l" t="t" r="r" b="b"/>
              <a:pathLst>
                <a:path w="1383664" h="491489">
                  <a:moveTo>
                    <a:pt x="691616" y="0"/>
                  </a:moveTo>
                  <a:lnTo>
                    <a:pt x="625009" y="1124"/>
                  </a:lnTo>
                  <a:lnTo>
                    <a:pt x="560193" y="4427"/>
                  </a:lnTo>
                  <a:lnTo>
                    <a:pt x="497458" y="9808"/>
                  </a:lnTo>
                  <a:lnTo>
                    <a:pt x="437094" y="17162"/>
                  </a:lnTo>
                  <a:lnTo>
                    <a:pt x="379391" y="26388"/>
                  </a:lnTo>
                  <a:lnTo>
                    <a:pt x="324639" y="37381"/>
                  </a:lnTo>
                  <a:lnTo>
                    <a:pt x="273127" y="50039"/>
                  </a:lnTo>
                  <a:lnTo>
                    <a:pt x="225146" y="64260"/>
                  </a:lnTo>
                  <a:lnTo>
                    <a:pt x="180984" y="79940"/>
                  </a:lnTo>
                  <a:lnTo>
                    <a:pt x="140933" y="96976"/>
                  </a:lnTo>
                  <a:lnTo>
                    <a:pt x="105282" y="115266"/>
                  </a:lnTo>
                  <a:lnTo>
                    <a:pt x="48337" y="155194"/>
                  </a:lnTo>
                  <a:lnTo>
                    <a:pt x="12470" y="198901"/>
                  </a:lnTo>
                  <a:lnTo>
                    <a:pt x="0" y="245564"/>
                  </a:lnTo>
                  <a:lnTo>
                    <a:pt x="3166" y="269214"/>
                  </a:lnTo>
                  <a:lnTo>
                    <a:pt x="27624" y="314502"/>
                  </a:lnTo>
                  <a:lnTo>
                    <a:pt x="74320" y="356423"/>
                  </a:lnTo>
                  <a:lnTo>
                    <a:pt x="140933" y="394153"/>
                  </a:lnTo>
                  <a:lnTo>
                    <a:pt x="180984" y="411189"/>
                  </a:lnTo>
                  <a:lnTo>
                    <a:pt x="225146" y="426869"/>
                  </a:lnTo>
                  <a:lnTo>
                    <a:pt x="273127" y="441089"/>
                  </a:lnTo>
                  <a:lnTo>
                    <a:pt x="324639" y="453748"/>
                  </a:lnTo>
                  <a:lnTo>
                    <a:pt x="379391" y="464741"/>
                  </a:lnTo>
                  <a:lnTo>
                    <a:pt x="437094" y="473966"/>
                  </a:lnTo>
                  <a:lnTo>
                    <a:pt x="497458" y="481320"/>
                  </a:lnTo>
                  <a:lnTo>
                    <a:pt x="560193" y="486701"/>
                  </a:lnTo>
                  <a:lnTo>
                    <a:pt x="625009" y="490005"/>
                  </a:lnTo>
                  <a:lnTo>
                    <a:pt x="691616" y="491129"/>
                  </a:lnTo>
                  <a:lnTo>
                    <a:pt x="758224" y="490005"/>
                  </a:lnTo>
                  <a:lnTo>
                    <a:pt x="823040" y="486701"/>
                  </a:lnTo>
                  <a:lnTo>
                    <a:pt x="885775" y="481320"/>
                  </a:lnTo>
                  <a:lnTo>
                    <a:pt x="946139" y="473966"/>
                  </a:lnTo>
                  <a:lnTo>
                    <a:pt x="1003842" y="464741"/>
                  </a:lnTo>
                  <a:lnTo>
                    <a:pt x="1058594" y="453748"/>
                  </a:lnTo>
                  <a:lnTo>
                    <a:pt x="1110106" y="441089"/>
                  </a:lnTo>
                  <a:lnTo>
                    <a:pt x="1158088" y="426869"/>
                  </a:lnTo>
                  <a:lnTo>
                    <a:pt x="1202249" y="411189"/>
                  </a:lnTo>
                  <a:lnTo>
                    <a:pt x="1242300" y="394153"/>
                  </a:lnTo>
                  <a:lnTo>
                    <a:pt x="1277952" y="375863"/>
                  </a:lnTo>
                  <a:lnTo>
                    <a:pt x="1334896" y="335935"/>
                  </a:lnTo>
                  <a:lnTo>
                    <a:pt x="1370763" y="292227"/>
                  </a:lnTo>
                  <a:lnTo>
                    <a:pt x="1383234" y="245564"/>
                  </a:lnTo>
                  <a:lnTo>
                    <a:pt x="1380068" y="221915"/>
                  </a:lnTo>
                  <a:lnTo>
                    <a:pt x="1355609" y="176627"/>
                  </a:lnTo>
                  <a:lnTo>
                    <a:pt x="1308914" y="134706"/>
                  </a:lnTo>
                  <a:lnTo>
                    <a:pt x="1242300" y="96976"/>
                  </a:lnTo>
                  <a:lnTo>
                    <a:pt x="1202249" y="79940"/>
                  </a:lnTo>
                  <a:lnTo>
                    <a:pt x="1158088" y="64260"/>
                  </a:lnTo>
                  <a:lnTo>
                    <a:pt x="1110106" y="50039"/>
                  </a:lnTo>
                  <a:lnTo>
                    <a:pt x="1058594" y="37381"/>
                  </a:lnTo>
                  <a:lnTo>
                    <a:pt x="1003842" y="26388"/>
                  </a:lnTo>
                  <a:lnTo>
                    <a:pt x="946139" y="17162"/>
                  </a:lnTo>
                  <a:lnTo>
                    <a:pt x="885775" y="9808"/>
                  </a:lnTo>
                  <a:lnTo>
                    <a:pt x="823040" y="4427"/>
                  </a:lnTo>
                  <a:lnTo>
                    <a:pt x="758224" y="1124"/>
                  </a:lnTo>
                  <a:lnTo>
                    <a:pt x="69161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3462200" y="4796446"/>
              <a:ext cx="1383665" cy="491490"/>
            </a:xfrm>
            <a:custGeom>
              <a:avLst/>
              <a:gdLst/>
              <a:ahLst/>
              <a:cxnLst/>
              <a:rect l="l" t="t" r="r" b="b"/>
              <a:pathLst>
                <a:path w="1383664" h="491489">
                  <a:moveTo>
                    <a:pt x="0" y="245564"/>
                  </a:moveTo>
                  <a:lnTo>
                    <a:pt x="12470" y="198901"/>
                  </a:lnTo>
                  <a:lnTo>
                    <a:pt x="48337" y="155194"/>
                  </a:lnTo>
                  <a:lnTo>
                    <a:pt x="105282" y="115266"/>
                  </a:lnTo>
                  <a:lnTo>
                    <a:pt x="140933" y="96976"/>
                  </a:lnTo>
                  <a:lnTo>
                    <a:pt x="180984" y="79940"/>
                  </a:lnTo>
                  <a:lnTo>
                    <a:pt x="225146" y="64260"/>
                  </a:lnTo>
                  <a:lnTo>
                    <a:pt x="273127" y="50039"/>
                  </a:lnTo>
                  <a:lnTo>
                    <a:pt x="324639" y="37381"/>
                  </a:lnTo>
                  <a:lnTo>
                    <a:pt x="379391" y="26388"/>
                  </a:lnTo>
                  <a:lnTo>
                    <a:pt x="437094" y="17162"/>
                  </a:lnTo>
                  <a:lnTo>
                    <a:pt x="497458" y="9808"/>
                  </a:lnTo>
                  <a:lnTo>
                    <a:pt x="560193" y="4427"/>
                  </a:lnTo>
                  <a:lnTo>
                    <a:pt x="625009" y="1124"/>
                  </a:lnTo>
                  <a:lnTo>
                    <a:pt x="691617" y="0"/>
                  </a:lnTo>
                  <a:lnTo>
                    <a:pt x="758224" y="1124"/>
                  </a:lnTo>
                  <a:lnTo>
                    <a:pt x="823040" y="4427"/>
                  </a:lnTo>
                  <a:lnTo>
                    <a:pt x="885775" y="9808"/>
                  </a:lnTo>
                  <a:lnTo>
                    <a:pt x="946138" y="17162"/>
                  </a:lnTo>
                  <a:lnTo>
                    <a:pt x="1003841" y="26388"/>
                  </a:lnTo>
                  <a:lnTo>
                    <a:pt x="1058594" y="37381"/>
                  </a:lnTo>
                  <a:lnTo>
                    <a:pt x="1110106" y="50039"/>
                  </a:lnTo>
                  <a:lnTo>
                    <a:pt x="1158087" y="64260"/>
                  </a:lnTo>
                  <a:lnTo>
                    <a:pt x="1202249" y="79940"/>
                  </a:lnTo>
                  <a:lnTo>
                    <a:pt x="1242300" y="96976"/>
                  </a:lnTo>
                  <a:lnTo>
                    <a:pt x="1277951" y="115266"/>
                  </a:lnTo>
                  <a:lnTo>
                    <a:pt x="1334896" y="155194"/>
                  </a:lnTo>
                  <a:lnTo>
                    <a:pt x="1370763" y="198901"/>
                  </a:lnTo>
                  <a:lnTo>
                    <a:pt x="1383234" y="245564"/>
                  </a:lnTo>
                  <a:lnTo>
                    <a:pt x="1380068" y="269214"/>
                  </a:lnTo>
                  <a:lnTo>
                    <a:pt x="1355609" y="314502"/>
                  </a:lnTo>
                  <a:lnTo>
                    <a:pt x="1308913" y="356423"/>
                  </a:lnTo>
                  <a:lnTo>
                    <a:pt x="1242300" y="394153"/>
                  </a:lnTo>
                  <a:lnTo>
                    <a:pt x="1202249" y="411189"/>
                  </a:lnTo>
                  <a:lnTo>
                    <a:pt x="1158087" y="426869"/>
                  </a:lnTo>
                  <a:lnTo>
                    <a:pt x="1110106" y="441089"/>
                  </a:lnTo>
                  <a:lnTo>
                    <a:pt x="1058594" y="453748"/>
                  </a:lnTo>
                  <a:lnTo>
                    <a:pt x="1003841" y="464741"/>
                  </a:lnTo>
                  <a:lnTo>
                    <a:pt x="946138" y="473966"/>
                  </a:lnTo>
                  <a:lnTo>
                    <a:pt x="885775" y="481321"/>
                  </a:lnTo>
                  <a:lnTo>
                    <a:pt x="823040" y="486701"/>
                  </a:lnTo>
                  <a:lnTo>
                    <a:pt x="758224" y="490005"/>
                  </a:lnTo>
                  <a:lnTo>
                    <a:pt x="691617" y="491129"/>
                  </a:lnTo>
                  <a:lnTo>
                    <a:pt x="625009" y="490005"/>
                  </a:lnTo>
                  <a:lnTo>
                    <a:pt x="560193" y="486701"/>
                  </a:lnTo>
                  <a:lnTo>
                    <a:pt x="497458" y="481321"/>
                  </a:lnTo>
                  <a:lnTo>
                    <a:pt x="437094" y="473966"/>
                  </a:lnTo>
                  <a:lnTo>
                    <a:pt x="379391" y="464741"/>
                  </a:lnTo>
                  <a:lnTo>
                    <a:pt x="324639" y="453748"/>
                  </a:lnTo>
                  <a:lnTo>
                    <a:pt x="273127" y="441089"/>
                  </a:lnTo>
                  <a:lnTo>
                    <a:pt x="225146" y="426869"/>
                  </a:lnTo>
                  <a:lnTo>
                    <a:pt x="180984" y="411189"/>
                  </a:lnTo>
                  <a:lnTo>
                    <a:pt x="140933" y="394153"/>
                  </a:lnTo>
                  <a:lnTo>
                    <a:pt x="105282" y="375863"/>
                  </a:lnTo>
                  <a:lnTo>
                    <a:pt x="48337" y="335935"/>
                  </a:lnTo>
                  <a:lnTo>
                    <a:pt x="12470" y="292227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6181490" y="455102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1490" y="455102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400126" y="4106732"/>
            <a:ext cx="50090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18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669475" y="4011136"/>
            <a:ext cx="5686425" cy="1057835"/>
            <a:chOff x="2279138" y="4545954"/>
            <a:chExt cx="6444615" cy="1198880"/>
          </a:xfrm>
        </p:grpSpPr>
        <p:sp>
          <p:nvSpPr>
            <p:cNvPr id="25" name="object 25"/>
            <p:cNvSpPr/>
            <p:nvPr/>
          </p:nvSpPr>
          <p:spPr>
            <a:xfrm>
              <a:off x="7545341" y="4551034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7"/>
                  </a:lnTo>
                  <a:lnTo>
                    <a:pt x="240174" y="47380"/>
                  </a:lnTo>
                  <a:lnTo>
                    <a:pt x="193584" y="63266"/>
                  </a:lnTo>
                  <a:lnTo>
                    <a:pt x="151135" y="81035"/>
                  </a:lnTo>
                  <a:lnTo>
                    <a:pt x="113185" y="100538"/>
                  </a:lnTo>
                  <a:lnTo>
                    <a:pt x="80092" y="121624"/>
                  </a:lnTo>
                  <a:lnTo>
                    <a:pt x="29906" y="167948"/>
                  </a:lnTo>
                  <a:lnTo>
                    <a:pt x="3442" y="218808"/>
                  </a:lnTo>
                  <a:lnTo>
                    <a:pt x="0" y="245565"/>
                  </a:lnTo>
                  <a:lnTo>
                    <a:pt x="3442" y="272322"/>
                  </a:lnTo>
                  <a:lnTo>
                    <a:pt x="29906" y="323183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5"/>
                  </a:lnTo>
                  <a:lnTo>
                    <a:pt x="193584" y="427864"/>
                  </a:lnTo>
                  <a:lnTo>
                    <a:pt x="240174" y="443750"/>
                  </a:lnTo>
                  <a:lnTo>
                    <a:pt x="290547" y="457603"/>
                  </a:lnTo>
                  <a:lnTo>
                    <a:pt x="344344" y="469273"/>
                  </a:lnTo>
                  <a:lnTo>
                    <a:pt x="401210" y="478611"/>
                  </a:lnTo>
                  <a:lnTo>
                    <a:pt x="460784" y="485466"/>
                  </a:lnTo>
                  <a:lnTo>
                    <a:pt x="522710" y="489689"/>
                  </a:lnTo>
                  <a:lnTo>
                    <a:pt x="586630" y="491130"/>
                  </a:lnTo>
                  <a:lnTo>
                    <a:pt x="650550" y="489689"/>
                  </a:lnTo>
                  <a:lnTo>
                    <a:pt x="712476" y="485466"/>
                  </a:lnTo>
                  <a:lnTo>
                    <a:pt x="772051" y="478611"/>
                  </a:lnTo>
                  <a:lnTo>
                    <a:pt x="828916" y="469273"/>
                  </a:lnTo>
                  <a:lnTo>
                    <a:pt x="882714" y="457603"/>
                  </a:lnTo>
                  <a:lnTo>
                    <a:pt x="933087" y="443750"/>
                  </a:lnTo>
                  <a:lnTo>
                    <a:pt x="979676" y="427864"/>
                  </a:lnTo>
                  <a:lnTo>
                    <a:pt x="1022125" y="410095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3"/>
                  </a:lnTo>
                  <a:lnTo>
                    <a:pt x="1169819" y="272322"/>
                  </a:lnTo>
                  <a:lnTo>
                    <a:pt x="1173261" y="245565"/>
                  </a:lnTo>
                  <a:lnTo>
                    <a:pt x="1169819" y="218808"/>
                  </a:lnTo>
                  <a:lnTo>
                    <a:pt x="1143354" y="167948"/>
                  </a:lnTo>
                  <a:lnTo>
                    <a:pt x="1093169" y="121624"/>
                  </a:lnTo>
                  <a:lnTo>
                    <a:pt x="1060075" y="100538"/>
                  </a:lnTo>
                  <a:lnTo>
                    <a:pt x="1022125" y="81035"/>
                  </a:lnTo>
                  <a:lnTo>
                    <a:pt x="979676" y="63266"/>
                  </a:lnTo>
                  <a:lnTo>
                    <a:pt x="933087" y="47380"/>
                  </a:lnTo>
                  <a:lnTo>
                    <a:pt x="882714" y="33527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7545341" y="4551034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3637963" y="5732331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6098980" y="5732330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6790844" y="5042158"/>
              <a:ext cx="713105" cy="412115"/>
            </a:xfrm>
            <a:custGeom>
              <a:avLst/>
              <a:gdLst/>
              <a:ahLst/>
              <a:cxnLst/>
              <a:rect l="l" t="t" r="r" b="b"/>
              <a:pathLst>
                <a:path w="713104" h="412114">
                  <a:moveTo>
                    <a:pt x="0" y="0"/>
                  </a:moveTo>
                  <a:lnTo>
                    <a:pt x="712635" y="411761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7503479" y="5042165"/>
              <a:ext cx="628650" cy="412115"/>
            </a:xfrm>
            <a:custGeom>
              <a:avLst/>
              <a:gdLst/>
              <a:ahLst/>
              <a:cxnLst/>
              <a:rect l="l" t="t" r="r" b="b"/>
              <a:pathLst>
                <a:path w="628650" h="412114">
                  <a:moveTo>
                    <a:pt x="628492" y="0"/>
                  </a:moveTo>
                  <a:lnTo>
                    <a:pt x="0" y="41175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2995439" y="5215652"/>
              <a:ext cx="669925" cy="238760"/>
            </a:xfrm>
            <a:custGeom>
              <a:avLst/>
              <a:gdLst/>
              <a:ahLst/>
              <a:cxnLst/>
              <a:rect l="l" t="t" r="r" b="b"/>
              <a:pathLst>
                <a:path w="669925" h="238760">
                  <a:moveTo>
                    <a:pt x="669331" y="0"/>
                  </a:moveTo>
                  <a:lnTo>
                    <a:pt x="0" y="23826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2284218" y="5258055"/>
              <a:ext cx="711835" cy="196215"/>
            </a:xfrm>
            <a:custGeom>
              <a:avLst/>
              <a:gdLst/>
              <a:ahLst/>
              <a:cxnLst/>
              <a:rect l="l" t="t" r="r" b="b"/>
              <a:pathLst>
                <a:path w="711835" h="196214">
                  <a:moveTo>
                    <a:pt x="0" y="0"/>
                  </a:moveTo>
                  <a:lnTo>
                    <a:pt x="711220" y="19586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842517" y="4311127"/>
            <a:ext cx="94633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09474" y="4098663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226264" y="4411012"/>
            <a:ext cx="75640" cy="401731"/>
          </a:xfrm>
          <a:custGeom>
            <a:avLst/>
            <a:gdLst/>
            <a:ahLst/>
            <a:cxnLst/>
            <a:rect l="l" t="t" r="r" b="b"/>
            <a:pathLst>
              <a:path w="85725" h="455295">
                <a:moveTo>
                  <a:pt x="0" y="0"/>
                </a:moveTo>
                <a:lnTo>
                  <a:pt x="85272" y="454772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2470967" y="2082194"/>
          <a:ext cx="7188012" cy="1232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0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3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601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93A299"/>
                      </a:solidFill>
                      <a:prstDash val="sysDot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251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93A299"/>
                      </a:solidFill>
                      <a:prstDash val="sysDot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4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93A299"/>
                      </a:solidFill>
                      <a:prstDash val="sysDot"/>
                    </a:lnT>
                    <a:lnB w="19050">
                      <a:solidFill>
                        <a:srgbClr val="93A299"/>
                      </a:solidFill>
                      <a:prstDash val="sysDot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301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93A299"/>
                      </a:solidFill>
                      <a:prstDash val="sysDot"/>
                    </a:lnT>
                    <a:lnB w="19050">
                      <a:solidFill>
                        <a:srgbClr val="93A299"/>
                      </a:solidFill>
                      <a:prstDash val="sysDot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2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93A299"/>
                      </a:solidFill>
                      <a:prstDash val="sysDot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93A299"/>
                      </a:solidFill>
                      <a:prstDash val="sysDot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2484353" y="1799215"/>
            <a:ext cx="75751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1343" y="1799215"/>
            <a:ext cx="8925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279763" y="2564477"/>
            <a:ext cx="1477496" cy="615763"/>
            <a:chOff x="4104131" y="2906407"/>
            <a:chExt cx="1674495" cy="697865"/>
          </a:xfrm>
        </p:grpSpPr>
        <p:sp>
          <p:nvSpPr>
            <p:cNvPr id="40" name="object 40"/>
            <p:cNvSpPr/>
            <p:nvPr/>
          </p:nvSpPr>
          <p:spPr>
            <a:xfrm>
              <a:off x="4110904" y="2927738"/>
              <a:ext cx="1634489" cy="349885"/>
            </a:xfrm>
            <a:custGeom>
              <a:avLst/>
              <a:gdLst/>
              <a:ahLst/>
              <a:cxnLst/>
              <a:rect l="l" t="t" r="r" b="b"/>
              <a:pathLst>
                <a:path w="1634489" h="349885">
                  <a:moveTo>
                    <a:pt x="0" y="0"/>
                  </a:moveTo>
                  <a:lnTo>
                    <a:pt x="1633946" y="349382"/>
                  </a:lnTo>
                </a:path>
              </a:pathLst>
            </a:custGeom>
            <a:ln w="13546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4124295" y="2942295"/>
              <a:ext cx="1634489" cy="640715"/>
            </a:xfrm>
            <a:custGeom>
              <a:avLst/>
              <a:gdLst/>
              <a:ahLst/>
              <a:cxnLst/>
              <a:rect l="l" t="t" r="r" b="b"/>
              <a:pathLst>
                <a:path w="1634489" h="640714">
                  <a:moveTo>
                    <a:pt x="0" y="0"/>
                  </a:moveTo>
                  <a:lnTo>
                    <a:pt x="1633947" y="640535"/>
                  </a:lnTo>
                </a:path>
              </a:pathLst>
            </a:custGeom>
            <a:ln w="13546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4124295" y="3306236"/>
              <a:ext cx="1647825" cy="291465"/>
            </a:xfrm>
            <a:custGeom>
              <a:avLst/>
              <a:gdLst/>
              <a:ahLst/>
              <a:cxnLst/>
              <a:rect l="l" t="t" r="r" b="b"/>
              <a:pathLst>
                <a:path w="1647825" h="291464">
                  <a:moveTo>
                    <a:pt x="0" y="0"/>
                  </a:moveTo>
                  <a:lnTo>
                    <a:pt x="1647341" y="291151"/>
                  </a:lnTo>
                </a:path>
              </a:pathLst>
            </a:custGeom>
            <a:ln w="13546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4110904" y="2913180"/>
              <a:ext cx="1647825" cy="379095"/>
            </a:xfrm>
            <a:custGeom>
              <a:avLst/>
              <a:gdLst/>
              <a:ahLst/>
              <a:cxnLst/>
              <a:rect l="l" t="t" r="r" b="b"/>
              <a:pathLst>
                <a:path w="1647825" h="379095">
                  <a:moveTo>
                    <a:pt x="0" y="378497"/>
                  </a:moveTo>
                  <a:lnTo>
                    <a:pt x="1647340" y="0"/>
                  </a:lnTo>
                </a:path>
              </a:pathLst>
            </a:custGeom>
            <a:ln w="13546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978519" y="6184750"/>
            <a:ext cx="758582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147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4778" y="168549"/>
            <a:ext cx="9278471" cy="56807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786695">
              <a:lnSpc>
                <a:spcPct val="100000"/>
              </a:lnSpc>
              <a:spcBef>
                <a:spcPts val="88"/>
              </a:spcBef>
            </a:pPr>
            <a:r>
              <a:rPr sz="3618" spc="-110" dirty="0">
                <a:solidFill>
                  <a:srgbClr val="292934"/>
                </a:solidFill>
              </a:rPr>
              <a:t>Cardinality</a:t>
            </a:r>
            <a:r>
              <a:rPr sz="3618" spc="-229" dirty="0">
                <a:solidFill>
                  <a:srgbClr val="292934"/>
                </a:solidFill>
              </a:rPr>
              <a:t> </a:t>
            </a:r>
            <a:r>
              <a:rPr sz="3618" spc="-79" dirty="0">
                <a:solidFill>
                  <a:srgbClr val="292934"/>
                </a:solidFill>
              </a:rPr>
              <a:t>(or</a:t>
            </a:r>
            <a:r>
              <a:rPr sz="3618" spc="-229" dirty="0">
                <a:solidFill>
                  <a:srgbClr val="292934"/>
                </a:solidFill>
              </a:rPr>
              <a:t> </a:t>
            </a:r>
            <a:r>
              <a:rPr sz="3618" spc="-101" dirty="0">
                <a:solidFill>
                  <a:srgbClr val="292934"/>
                </a:solidFill>
              </a:rPr>
              <a:t>Multiplicity)</a:t>
            </a:r>
            <a:endParaRPr sz="3618"/>
          </a:p>
        </p:txBody>
      </p:sp>
      <p:grpSp>
        <p:nvGrpSpPr>
          <p:cNvPr id="3" name="object 3"/>
          <p:cNvGrpSpPr/>
          <p:nvPr/>
        </p:nvGrpSpPr>
        <p:grpSpPr>
          <a:xfrm>
            <a:off x="5896013" y="2253097"/>
            <a:ext cx="2844053" cy="607919"/>
            <a:chOff x="4802548" y="2553509"/>
            <a:chExt cx="3223260" cy="688975"/>
          </a:xfrm>
        </p:grpSpPr>
        <p:sp>
          <p:nvSpPr>
            <p:cNvPr id="4" name="object 4"/>
            <p:cNvSpPr/>
            <p:nvPr/>
          </p:nvSpPr>
          <p:spPr>
            <a:xfrm>
              <a:off x="5585970" y="25585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4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5585970" y="25585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4802543" y="2838322"/>
              <a:ext cx="3223260" cy="106680"/>
            </a:xfrm>
            <a:custGeom>
              <a:avLst/>
              <a:gdLst/>
              <a:ahLst/>
              <a:cxnLst/>
              <a:rect l="l" t="t" r="r" b="b"/>
              <a:pathLst>
                <a:path w="3223259" h="106680">
                  <a:moveTo>
                    <a:pt x="783463" y="54457"/>
                  </a:moveTo>
                  <a:lnTo>
                    <a:pt x="28917" y="47561"/>
                  </a:lnTo>
                  <a:lnTo>
                    <a:pt x="29222" y="47396"/>
                  </a:lnTo>
                  <a:lnTo>
                    <a:pt x="96748" y="8826"/>
                  </a:lnTo>
                  <a:lnTo>
                    <a:pt x="97599" y="5715"/>
                  </a:lnTo>
                  <a:lnTo>
                    <a:pt x="94805" y="850"/>
                  </a:lnTo>
                  <a:lnTo>
                    <a:pt x="91706" y="0"/>
                  </a:lnTo>
                  <a:lnTo>
                    <a:pt x="0" y="52374"/>
                  </a:lnTo>
                  <a:lnTo>
                    <a:pt x="90728" y="106426"/>
                  </a:lnTo>
                  <a:lnTo>
                    <a:pt x="93853" y="105638"/>
                  </a:lnTo>
                  <a:lnTo>
                    <a:pt x="96723" y="100812"/>
                  </a:lnTo>
                  <a:lnTo>
                    <a:pt x="95935" y="97701"/>
                  </a:lnTo>
                  <a:lnTo>
                    <a:pt x="28829" y="57721"/>
                  </a:lnTo>
                  <a:lnTo>
                    <a:pt x="783374" y="64617"/>
                  </a:lnTo>
                  <a:lnTo>
                    <a:pt x="783463" y="54457"/>
                  </a:lnTo>
                  <a:close/>
                </a:path>
                <a:path w="3223259" h="106680">
                  <a:moveTo>
                    <a:pt x="3223031" y="52374"/>
                  </a:moveTo>
                  <a:lnTo>
                    <a:pt x="3214306" y="47396"/>
                  </a:lnTo>
                  <a:lnTo>
                    <a:pt x="3131312" y="25"/>
                  </a:lnTo>
                  <a:lnTo>
                    <a:pt x="3128213" y="876"/>
                  </a:lnTo>
                  <a:lnTo>
                    <a:pt x="3125432" y="5740"/>
                  </a:lnTo>
                  <a:lnTo>
                    <a:pt x="3126282" y="8851"/>
                  </a:lnTo>
                  <a:lnTo>
                    <a:pt x="3194113" y="47574"/>
                  </a:lnTo>
                  <a:lnTo>
                    <a:pt x="2460993" y="54457"/>
                  </a:lnTo>
                  <a:lnTo>
                    <a:pt x="2461082" y="64617"/>
                  </a:lnTo>
                  <a:lnTo>
                    <a:pt x="3194215" y="57734"/>
                  </a:lnTo>
                  <a:lnTo>
                    <a:pt x="3127108" y="97726"/>
                  </a:lnTo>
                  <a:lnTo>
                    <a:pt x="3126321" y="100838"/>
                  </a:lnTo>
                  <a:lnTo>
                    <a:pt x="3129191" y="105664"/>
                  </a:lnTo>
                  <a:lnTo>
                    <a:pt x="3132315" y="106451"/>
                  </a:lnTo>
                  <a:lnTo>
                    <a:pt x="3223031" y="52374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896013" y="3123006"/>
            <a:ext cx="2848535" cy="607919"/>
            <a:chOff x="4802548" y="3539406"/>
            <a:chExt cx="3228340" cy="688975"/>
          </a:xfrm>
        </p:grpSpPr>
        <p:sp>
          <p:nvSpPr>
            <p:cNvPr id="8" name="object 8"/>
            <p:cNvSpPr/>
            <p:nvPr/>
          </p:nvSpPr>
          <p:spPr>
            <a:xfrm>
              <a:off x="5585970" y="354448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5585970" y="354448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2548" y="3824214"/>
              <a:ext cx="783590" cy="106680"/>
            </a:xfrm>
            <a:custGeom>
              <a:avLst/>
              <a:gdLst/>
              <a:ahLst/>
              <a:cxnLst/>
              <a:rect l="l" t="t" r="r" b="b"/>
              <a:pathLst>
                <a:path w="783589" h="106679">
                  <a:moveTo>
                    <a:pt x="91707" y="0"/>
                  </a:moveTo>
                  <a:lnTo>
                    <a:pt x="0" y="52379"/>
                  </a:lnTo>
                  <a:lnTo>
                    <a:pt x="90735" y="106425"/>
                  </a:lnTo>
                  <a:lnTo>
                    <a:pt x="93853" y="105636"/>
                  </a:lnTo>
                  <a:lnTo>
                    <a:pt x="96724" y="100815"/>
                  </a:lnTo>
                  <a:lnTo>
                    <a:pt x="95934" y="97697"/>
                  </a:lnTo>
                  <a:lnTo>
                    <a:pt x="28823" y="57722"/>
                  </a:lnTo>
                  <a:lnTo>
                    <a:pt x="10036" y="57551"/>
                  </a:lnTo>
                  <a:lnTo>
                    <a:pt x="10130" y="47391"/>
                  </a:lnTo>
                  <a:lnTo>
                    <a:pt x="29219" y="47391"/>
                  </a:lnTo>
                  <a:lnTo>
                    <a:pt x="96747" y="8822"/>
                  </a:lnTo>
                  <a:lnTo>
                    <a:pt x="97594" y="5720"/>
                  </a:lnTo>
                  <a:lnTo>
                    <a:pt x="94810" y="847"/>
                  </a:lnTo>
                  <a:lnTo>
                    <a:pt x="91707" y="0"/>
                  </a:lnTo>
                  <a:close/>
                </a:path>
                <a:path w="783589" h="106679">
                  <a:moveTo>
                    <a:pt x="28919" y="47562"/>
                  </a:moveTo>
                  <a:lnTo>
                    <a:pt x="20162" y="52564"/>
                  </a:lnTo>
                  <a:lnTo>
                    <a:pt x="28823" y="57722"/>
                  </a:lnTo>
                  <a:lnTo>
                    <a:pt x="783375" y="64617"/>
                  </a:lnTo>
                  <a:lnTo>
                    <a:pt x="783468" y="54457"/>
                  </a:lnTo>
                  <a:lnTo>
                    <a:pt x="28919" y="47562"/>
                  </a:lnTo>
                  <a:close/>
                </a:path>
                <a:path w="783589" h="106679">
                  <a:moveTo>
                    <a:pt x="10130" y="47391"/>
                  </a:moveTo>
                  <a:lnTo>
                    <a:pt x="10036" y="57551"/>
                  </a:lnTo>
                  <a:lnTo>
                    <a:pt x="28823" y="57722"/>
                  </a:lnTo>
                  <a:lnTo>
                    <a:pt x="27414" y="56883"/>
                  </a:lnTo>
                  <a:lnTo>
                    <a:pt x="12600" y="56883"/>
                  </a:lnTo>
                  <a:lnTo>
                    <a:pt x="12680" y="48107"/>
                  </a:lnTo>
                  <a:lnTo>
                    <a:pt x="27965" y="48107"/>
                  </a:lnTo>
                  <a:lnTo>
                    <a:pt x="28919" y="47562"/>
                  </a:lnTo>
                  <a:lnTo>
                    <a:pt x="10130" y="47391"/>
                  </a:lnTo>
                  <a:close/>
                </a:path>
                <a:path w="783589" h="106679">
                  <a:moveTo>
                    <a:pt x="12680" y="48107"/>
                  </a:moveTo>
                  <a:lnTo>
                    <a:pt x="12600" y="56883"/>
                  </a:lnTo>
                  <a:lnTo>
                    <a:pt x="20162" y="52564"/>
                  </a:lnTo>
                  <a:lnTo>
                    <a:pt x="12680" y="48107"/>
                  </a:lnTo>
                  <a:close/>
                </a:path>
                <a:path w="783589" h="106679">
                  <a:moveTo>
                    <a:pt x="20162" y="52564"/>
                  </a:moveTo>
                  <a:lnTo>
                    <a:pt x="12600" y="56883"/>
                  </a:lnTo>
                  <a:lnTo>
                    <a:pt x="27414" y="56883"/>
                  </a:lnTo>
                  <a:lnTo>
                    <a:pt x="20162" y="52564"/>
                  </a:lnTo>
                  <a:close/>
                </a:path>
                <a:path w="783589" h="106679">
                  <a:moveTo>
                    <a:pt x="27965" y="48107"/>
                  </a:moveTo>
                  <a:lnTo>
                    <a:pt x="12680" y="48107"/>
                  </a:lnTo>
                  <a:lnTo>
                    <a:pt x="20162" y="52564"/>
                  </a:lnTo>
                  <a:lnTo>
                    <a:pt x="27965" y="48107"/>
                  </a:lnTo>
                  <a:close/>
                </a:path>
                <a:path w="783589" h="106679">
                  <a:moveTo>
                    <a:pt x="29219" y="47391"/>
                  </a:moveTo>
                  <a:lnTo>
                    <a:pt x="10130" y="47391"/>
                  </a:lnTo>
                  <a:lnTo>
                    <a:pt x="28919" y="47562"/>
                  </a:lnTo>
                  <a:lnTo>
                    <a:pt x="29219" y="47391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7263589" y="3876594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891550" y="4022213"/>
            <a:ext cx="2848535" cy="607919"/>
            <a:chOff x="4797490" y="4558507"/>
            <a:chExt cx="3228340" cy="688975"/>
          </a:xfrm>
        </p:grpSpPr>
        <p:sp>
          <p:nvSpPr>
            <p:cNvPr id="13" name="object 13"/>
            <p:cNvSpPr/>
            <p:nvPr/>
          </p:nvSpPr>
          <p:spPr>
            <a:xfrm>
              <a:off x="5585970" y="456358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4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585970" y="456358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4802570" y="4895696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3541" y="4843340"/>
              <a:ext cx="762635" cy="106680"/>
            </a:xfrm>
            <a:custGeom>
              <a:avLst/>
              <a:gdLst/>
              <a:ahLst/>
              <a:cxnLst/>
              <a:rect l="l" t="t" r="r" b="b"/>
              <a:pathLst>
                <a:path w="762634" h="106679">
                  <a:moveTo>
                    <a:pt x="753311" y="47370"/>
                  </a:moveTo>
                  <a:lnTo>
                    <a:pt x="751911" y="47370"/>
                  </a:lnTo>
                  <a:lnTo>
                    <a:pt x="752006" y="57530"/>
                  </a:lnTo>
                  <a:lnTo>
                    <a:pt x="733220" y="57707"/>
                  </a:lnTo>
                  <a:lnTo>
                    <a:pt x="666121" y="97698"/>
                  </a:lnTo>
                  <a:lnTo>
                    <a:pt x="665331" y="100816"/>
                  </a:lnTo>
                  <a:lnTo>
                    <a:pt x="668204" y="105636"/>
                  </a:lnTo>
                  <a:lnTo>
                    <a:pt x="671323" y="106425"/>
                  </a:lnTo>
                  <a:lnTo>
                    <a:pt x="762044" y="52355"/>
                  </a:lnTo>
                  <a:lnTo>
                    <a:pt x="753311" y="47370"/>
                  </a:lnTo>
                  <a:close/>
                </a:path>
                <a:path w="762634" h="106679">
                  <a:moveTo>
                    <a:pt x="733125" y="47547"/>
                  </a:moveTo>
                  <a:lnTo>
                    <a:pt x="0" y="54434"/>
                  </a:lnTo>
                  <a:lnTo>
                    <a:pt x="95" y="64594"/>
                  </a:lnTo>
                  <a:lnTo>
                    <a:pt x="733220" y="57707"/>
                  </a:lnTo>
                  <a:lnTo>
                    <a:pt x="741881" y="52545"/>
                  </a:lnTo>
                  <a:lnTo>
                    <a:pt x="733125" y="47547"/>
                  </a:lnTo>
                  <a:close/>
                </a:path>
                <a:path w="762634" h="106679">
                  <a:moveTo>
                    <a:pt x="741881" y="52545"/>
                  </a:moveTo>
                  <a:lnTo>
                    <a:pt x="733220" y="57707"/>
                  </a:lnTo>
                  <a:lnTo>
                    <a:pt x="752006" y="57530"/>
                  </a:lnTo>
                  <a:lnTo>
                    <a:pt x="752000" y="56862"/>
                  </a:lnTo>
                  <a:lnTo>
                    <a:pt x="749444" y="56862"/>
                  </a:lnTo>
                  <a:lnTo>
                    <a:pt x="741881" y="52545"/>
                  </a:lnTo>
                  <a:close/>
                </a:path>
                <a:path w="762634" h="106679">
                  <a:moveTo>
                    <a:pt x="749362" y="48087"/>
                  </a:moveTo>
                  <a:lnTo>
                    <a:pt x="741881" y="52545"/>
                  </a:lnTo>
                  <a:lnTo>
                    <a:pt x="749444" y="56862"/>
                  </a:lnTo>
                  <a:lnTo>
                    <a:pt x="749362" y="48087"/>
                  </a:lnTo>
                  <a:close/>
                </a:path>
                <a:path w="762634" h="106679">
                  <a:moveTo>
                    <a:pt x="751917" y="48087"/>
                  </a:moveTo>
                  <a:lnTo>
                    <a:pt x="749362" y="48087"/>
                  </a:lnTo>
                  <a:lnTo>
                    <a:pt x="749444" y="56862"/>
                  </a:lnTo>
                  <a:lnTo>
                    <a:pt x="752000" y="56862"/>
                  </a:lnTo>
                  <a:lnTo>
                    <a:pt x="751917" y="48087"/>
                  </a:lnTo>
                  <a:close/>
                </a:path>
                <a:path w="762634" h="106679">
                  <a:moveTo>
                    <a:pt x="751911" y="47370"/>
                  </a:moveTo>
                  <a:lnTo>
                    <a:pt x="733125" y="47547"/>
                  </a:lnTo>
                  <a:lnTo>
                    <a:pt x="741881" y="52545"/>
                  </a:lnTo>
                  <a:lnTo>
                    <a:pt x="749362" y="48087"/>
                  </a:lnTo>
                  <a:lnTo>
                    <a:pt x="751917" y="48087"/>
                  </a:lnTo>
                  <a:lnTo>
                    <a:pt x="751911" y="47370"/>
                  </a:lnTo>
                  <a:close/>
                </a:path>
                <a:path w="762634" h="106679">
                  <a:moveTo>
                    <a:pt x="670322" y="0"/>
                  </a:moveTo>
                  <a:lnTo>
                    <a:pt x="667219" y="848"/>
                  </a:lnTo>
                  <a:lnTo>
                    <a:pt x="664438" y="5721"/>
                  </a:lnTo>
                  <a:lnTo>
                    <a:pt x="665285" y="8823"/>
                  </a:lnTo>
                  <a:lnTo>
                    <a:pt x="733125" y="47547"/>
                  </a:lnTo>
                  <a:lnTo>
                    <a:pt x="753311" y="47370"/>
                  </a:lnTo>
                  <a:lnTo>
                    <a:pt x="670322" y="0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891550" y="4909178"/>
            <a:ext cx="2853018" cy="607919"/>
            <a:chOff x="4797490" y="5563734"/>
            <a:chExt cx="3233420" cy="688975"/>
          </a:xfrm>
        </p:grpSpPr>
        <p:sp>
          <p:nvSpPr>
            <p:cNvPr id="18" name="object 18"/>
            <p:cNvSpPr/>
            <p:nvPr/>
          </p:nvSpPr>
          <p:spPr>
            <a:xfrm>
              <a:off x="5585970" y="55688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5585970" y="55688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4802570" y="5900922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7263589" y="5900923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044778" y="1054249"/>
            <a:ext cx="8114740" cy="427184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05200"/>
              </a:lnSpc>
              <a:spcBef>
                <a:spcPts val="8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30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binary</a:t>
            </a:r>
            <a:r>
              <a:rPr sz="2030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030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connect</a:t>
            </a:r>
            <a:r>
              <a:rPr sz="2030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030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member</a:t>
            </a:r>
            <a:r>
              <a:rPr sz="2030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03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its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2030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30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030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members</a:t>
            </a:r>
            <a:r>
              <a:rPr sz="2030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2030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030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03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30">
              <a:latin typeface="Verdana"/>
              <a:cs typeface="Verdana"/>
            </a:endParaRPr>
          </a:p>
          <a:p>
            <a:pPr>
              <a:spcBef>
                <a:spcPts val="344"/>
              </a:spcBef>
            </a:pPr>
            <a:endParaRPr sz="2030">
              <a:latin typeface="Verdana"/>
              <a:cs typeface="Verdana"/>
            </a:endParaRPr>
          </a:p>
          <a:p>
            <a:pPr marL="1030996" indent="-172019">
              <a:buSzPct val="85714"/>
              <a:buFont typeface="Arial MT"/>
              <a:buChar char="•"/>
              <a:tabLst>
                <a:tab pos="1030996" algn="l"/>
              </a:tabLst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One-to-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endParaRPr sz="1853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1853">
              <a:latin typeface="Verdana"/>
              <a:cs typeface="Verdana"/>
            </a:endParaRPr>
          </a:p>
          <a:p>
            <a:pPr>
              <a:spcBef>
                <a:spcPts val="115"/>
              </a:spcBef>
              <a:buClr>
                <a:srgbClr val="292934"/>
              </a:buClr>
              <a:buFont typeface="Arial MT"/>
              <a:buChar char="•"/>
            </a:pPr>
            <a:endParaRPr sz="1853">
              <a:latin typeface="Verdana"/>
              <a:cs typeface="Verdana"/>
            </a:endParaRPr>
          </a:p>
          <a:p>
            <a:pPr marL="1030996" indent="-172019">
              <a:buSzPct val="85714"/>
              <a:buFont typeface="Arial MT"/>
              <a:buChar char="•"/>
              <a:tabLst>
                <a:tab pos="1030996" algn="l"/>
              </a:tabLst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One-to-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endParaRPr sz="1853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1853">
              <a:latin typeface="Verdana"/>
              <a:cs typeface="Verdana"/>
            </a:endParaRPr>
          </a:p>
          <a:p>
            <a:pPr>
              <a:spcBef>
                <a:spcPts val="344"/>
              </a:spcBef>
              <a:buClr>
                <a:srgbClr val="292934"/>
              </a:buClr>
              <a:buFont typeface="Arial MT"/>
              <a:buChar char="•"/>
            </a:pPr>
            <a:endParaRPr sz="1853">
              <a:latin typeface="Verdana"/>
              <a:cs typeface="Verdana"/>
            </a:endParaRPr>
          </a:p>
          <a:p>
            <a:pPr marL="1030996" indent="-172019">
              <a:buSzPct val="85714"/>
              <a:buFont typeface="Arial MT"/>
              <a:buChar char="•"/>
              <a:tabLst>
                <a:tab pos="1030996" algn="l"/>
              </a:tabLst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Many-to-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endParaRPr sz="1853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1853">
              <a:latin typeface="Verdana"/>
              <a:cs typeface="Verdana"/>
            </a:endParaRPr>
          </a:p>
          <a:p>
            <a:pPr>
              <a:spcBef>
                <a:spcPts val="260"/>
              </a:spcBef>
              <a:buClr>
                <a:srgbClr val="292934"/>
              </a:buClr>
              <a:buFont typeface="Arial MT"/>
              <a:buChar char="•"/>
            </a:pPr>
            <a:endParaRPr sz="1853">
              <a:latin typeface="Verdana"/>
              <a:cs typeface="Verdana"/>
            </a:endParaRPr>
          </a:p>
          <a:p>
            <a:pPr marL="1030996" indent="-172019">
              <a:buSzPct val="85714"/>
              <a:buFont typeface="Arial MT"/>
              <a:buChar char="•"/>
              <a:tabLst>
                <a:tab pos="1030996" algn="l"/>
              </a:tabLst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Many-to-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endParaRPr sz="185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62764"/>
            <a:ext cx="927847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014747">
              <a:lnSpc>
                <a:spcPct val="100000"/>
              </a:lnSpc>
              <a:spcBef>
                <a:spcPts val="88"/>
              </a:spcBef>
            </a:pPr>
            <a:r>
              <a:rPr spc="-128" dirty="0">
                <a:solidFill>
                  <a:srgbClr val="292934"/>
                </a:solidFill>
              </a:rPr>
              <a:t>Cardinality:</a:t>
            </a:r>
            <a:r>
              <a:rPr spc="-132" dirty="0">
                <a:solidFill>
                  <a:srgbClr val="292934"/>
                </a:solidFill>
              </a:rPr>
              <a:t> </a:t>
            </a:r>
            <a:r>
              <a:rPr spc="-119" dirty="0">
                <a:solidFill>
                  <a:srgbClr val="292934"/>
                </a:solidFill>
              </a:rPr>
              <a:t>One-</a:t>
            </a:r>
            <a:r>
              <a:rPr spc="-128" dirty="0">
                <a:solidFill>
                  <a:srgbClr val="292934"/>
                </a:solidFill>
              </a:rPr>
              <a:t>to-</a:t>
            </a:r>
            <a:r>
              <a:rPr spc="-22" dirty="0">
                <a:solidFill>
                  <a:srgbClr val="292934"/>
                </a:solidFill>
              </a:rPr>
              <a:t>One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70967" y="1412674"/>
          <a:ext cx="7188012" cy="1232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0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3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601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314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36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301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2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484353" y="1129552"/>
            <a:ext cx="517991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4298245" algn="l"/>
              </a:tabLst>
            </a:pPr>
            <a:r>
              <a:rPr sz="1500" spc="-9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9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37185" y="3180693"/>
            <a:ext cx="1143000" cy="500343"/>
            <a:chOff x="2129210" y="3604785"/>
            <a:chExt cx="1295400" cy="567055"/>
          </a:xfrm>
        </p:grpSpPr>
        <p:sp>
          <p:nvSpPr>
            <p:cNvPr id="6" name="object 6"/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778402" y="3305286"/>
            <a:ext cx="66002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514869" y="3180693"/>
            <a:ext cx="1143000" cy="500343"/>
            <a:chOff x="6637252" y="3604785"/>
            <a:chExt cx="1295400" cy="567055"/>
          </a:xfrm>
        </p:grpSpPr>
        <p:sp>
          <p:nvSpPr>
            <p:cNvPr id="10" name="object 10"/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687357" y="3305286"/>
            <a:ext cx="79785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passport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62288" y="3133313"/>
            <a:ext cx="1489262" cy="607919"/>
            <a:chOff x="4197660" y="3551087"/>
            <a:chExt cx="1687830" cy="688975"/>
          </a:xfrm>
        </p:grpSpPr>
        <p:sp>
          <p:nvSpPr>
            <p:cNvPr id="14" name="object 14"/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814050" y="3310666"/>
            <a:ext cx="58550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owns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75516" y="3384616"/>
            <a:ext cx="4902013" cy="1120588"/>
            <a:chOff x="3419318" y="3835898"/>
            <a:chExt cx="5555615" cy="1270000"/>
          </a:xfrm>
        </p:grpSpPr>
        <p:sp>
          <p:nvSpPr>
            <p:cNvPr id="18" name="object 18"/>
            <p:cNvSpPr/>
            <p:nvPr/>
          </p:nvSpPr>
          <p:spPr>
            <a:xfrm>
              <a:off x="3419310" y="3835908"/>
              <a:ext cx="3223260" cy="106680"/>
            </a:xfrm>
            <a:custGeom>
              <a:avLst/>
              <a:gdLst/>
              <a:ahLst/>
              <a:cxnLst/>
              <a:rect l="l" t="t" r="r" b="b"/>
              <a:pathLst>
                <a:path w="3223259" h="106679">
                  <a:moveTo>
                    <a:pt x="783475" y="54457"/>
                  </a:moveTo>
                  <a:lnTo>
                    <a:pt x="28917" y="47561"/>
                  </a:lnTo>
                  <a:lnTo>
                    <a:pt x="29222" y="47383"/>
                  </a:lnTo>
                  <a:lnTo>
                    <a:pt x="96748" y="8813"/>
                  </a:lnTo>
                  <a:lnTo>
                    <a:pt x="97599" y="5715"/>
                  </a:lnTo>
                  <a:lnTo>
                    <a:pt x="94818" y="838"/>
                  </a:lnTo>
                  <a:lnTo>
                    <a:pt x="91706" y="0"/>
                  </a:lnTo>
                  <a:lnTo>
                    <a:pt x="0" y="52374"/>
                  </a:lnTo>
                  <a:lnTo>
                    <a:pt x="90741" y="106426"/>
                  </a:lnTo>
                  <a:lnTo>
                    <a:pt x="93853" y="105625"/>
                  </a:lnTo>
                  <a:lnTo>
                    <a:pt x="96723" y="100812"/>
                  </a:lnTo>
                  <a:lnTo>
                    <a:pt x="95935" y="97688"/>
                  </a:lnTo>
                  <a:lnTo>
                    <a:pt x="28829" y="57721"/>
                  </a:lnTo>
                  <a:lnTo>
                    <a:pt x="783374" y="64617"/>
                  </a:lnTo>
                  <a:lnTo>
                    <a:pt x="783475" y="54457"/>
                  </a:lnTo>
                  <a:close/>
                </a:path>
                <a:path w="3223259" h="106679">
                  <a:moveTo>
                    <a:pt x="3223044" y="52374"/>
                  </a:moveTo>
                  <a:lnTo>
                    <a:pt x="3214306" y="47383"/>
                  </a:lnTo>
                  <a:lnTo>
                    <a:pt x="3131324" y="12"/>
                  </a:lnTo>
                  <a:lnTo>
                    <a:pt x="3128213" y="863"/>
                  </a:lnTo>
                  <a:lnTo>
                    <a:pt x="3125432" y="5740"/>
                  </a:lnTo>
                  <a:lnTo>
                    <a:pt x="3126282" y="8839"/>
                  </a:lnTo>
                  <a:lnTo>
                    <a:pt x="3194126" y="47561"/>
                  </a:lnTo>
                  <a:lnTo>
                    <a:pt x="2460993" y="54457"/>
                  </a:lnTo>
                  <a:lnTo>
                    <a:pt x="2461095" y="64617"/>
                  </a:lnTo>
                  <a:lnTo>
                    <a:pt x="3194215" y="57721"/>
                  </a:lnTo>
                  <a:lnTo>
                    <a:pt x="3127121" y="97713"/>
                  </a:lnTo>
                  <a:lnTo>
                    <a:pt x="3126333" y="100838"/>
                  </a:lnTo>
                  <a:lnTo>
                    <a:pt x="3129203" y="105651"/>
                  </a:lnTo>
                  <a:lnTo>
                    <a:pt x="3132315" y="106438"/>
                  </a:lnTo>
                  <a:lnTo>
                    <a:pt x="3223044" y="52374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6295716" y="3951456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2552523" y="431213"/>
                  </a:moveTo>
                  <a:lnTo>
                    <a:pt x="119369" y="431213"/>
                  </a:lnTo>
                  <a:lnTo>
                    <a:pt x="72905" y="440594"/>
                  </a:lnTo>
                  <a:lnTo>
                    <a:pt x="34962" y="466176"/>
                  </a:lnTo>
                  <a:lnTo>
                    <a:pt x="9380" y="504119"/>
                  </a:lnTo>
                  <a:lnTo>
                    <a:pt x="0" y="550580"/>
                  </a:lnTo>
                  <a:lnTo>
                    <a:pt x="0" y="1028045"/>
                  </a:lnTo>
                  <a:lnTo>
                    <a:pt x="9380" y="1074510"/>
                  </a:lnTo>
                  <a:lnTo>
                    <a:pt x="34962" y="1112454"/>
                  </a:lnTo>
                  <a:lnTo>
                    <a:pt x="72905" y="1138036"/>
                  </a:lnTo>
                  <a:lnTo>
                    <a:pt x="119369" y="1147417"/>
                  </a:lnTo>
                  <a:lnTo>
                    <a:pt x="2552523" y="1147417"/>
                  </a:lnTo>
                  <a:lnTo>
                    <a:pt x="2598987" y="1138036"/>
                  </a:lnTo>
                  <a:lnTo>
                    <a:pt x="2636931" y="1112454"/>
                  </a:lnTo>
                  <a:lnTo>
                    <a:pt x="2662512" y="1074510"/>
                  </a:lnTo>
                  <a:lnTo>
                    <a:pt x="2671893" y="1028045"/>
                  </a:lnTo>
                  <a:lnTo>
                    <a:pt x="2671892" y="550580"/>
                  </a:lnTo>
                  <a:lnTo>
                    <a:pt x="2662512" y="504119"/>
                  </a:lnTo>
                  <a:lnTo>
                    <a:pt x="2636931" y="466176"/>
                  </a:lnTo>
                  <a:lnTo>
                    <a:pt x="2598987" y="440594"/>
                  </a:lnTo>
                  <a:lnTo>
                    <a:pt x="2552523" y="431213"/>
                  </a:lnTo>
                  <a:close/>
                </a:path>
                <a:path w="2672079" h="1147445">
                  <a:moveTo>
                    <a:pt x="275177" y="0"/>
                  </a:moveTo>
                  <a:lnTo>
                    <a:pt x="445315" y="431213"/>
                  </a:lnTo>
                  <a:lnTo>
                    <a:pt x="1113288" y="431213"/>
                  </a:lnTo>
                  <a:lnTo>
                    <a:pt x="275177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6295716" y="3951457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0" y="550583"/>
                  </a:moveTo>
                  <a:lnTo>
                    <a:pt x="9380" y="504118"/>
                  </a:lnTo>
                  <a:lnTo>
                    <a:pt x="34962" y="466175"/>
                  </a:lnTo>
                  <a:lnTo>
                    <a:pt x="72906" y="440593"/>
                  </a:lnTo>
                  <a:lnTo>
                    <a:pt x="119370" y="431212"/>
                  </a:lnTo>
                  <a:lnTo>
                    <a:pt x="445315" y="431212"/>
                  </a:lnTo>
                  <a:lnTo>
                    <a:pt x="275178" y="0"/>
                  </a:lnTo>
                  <a:lnTo>
                    <a:pt x="1113289" y="431212"/>
                  </a:lnTo>
                  <a:lnTo>
                    <a:pt x="2552523" y="431212"/>
                  </a:lnTo>
                  <a:lnTo>
                    <a:pt x="2598988" y="440593"/>
                  </a:lnTo>
                  <a:lnTo>
                    <a:pt x="2636931" y="466175"/>
                  </a:lnTo>
                  <a:lnTo>
                    <a:pt x="2662513" y="504118"/>
                  </a:lnTo>
                  <a:lnTo>
                    <a:pt x="2671894" y="550583"/>
                  </a:lnTo>
                  <a:lnTo>
                    <a:pt x="2671894" y="729630"/>
                  </a:lnTo>
                  <a:lnTo>
                    <a:pt x="2671894" y="1028045"/>
                  </a:lnTo>
                  <a:lnTo>
                    <a:pt x="2662513" y="1074509"/>
                  </a:lnTo>
                  <a:lnTo>
                    <a:pt x="2636931" y="1112453"/>
                  </a:lnTo>
                  <a:lnTo>
                    <a:pt x="2598988" y="1138035"/>
                  </a:lnTo>
                  <a:lnTo>
                    <a:pt x="2552523" y="1147416"/>
                  </a:lnTo>
                  <a:lnTo>
                    <a:pt x="1113289" y="1147416"/>
                  </a:lnTo>
                  <a:lnTo>
                    <a:pt x="445315" y="1147416"/>
                  </a:lnTo>
                  <a:lnTo>
                    <a:pt x="119370" y="1147416"/>
                  </a:lnTo>
                  <a:lnTo>
                    <a:pt x="72906" y="1138035"/>
                  </a:lnTo>
                  <a:lnTo>
                    <a:pt x="34962" y="1112453"/>
                  </a:lnTo>
                  <a:lnTo>
                    <a:pt x="9380" y="1074509"/>
                  </a:lnTo>
                  <a:lnTo>
                    <a:pt x="0" y="1028045"/>
                  </a:lnTo>
                  <a:lnTo>
                    <a:pt x="0" y="729630"/>
                  </a:lnTo>
                  <a:lnTo>
                    <a:pt x="0" y="550580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250299" y="4623995"/>
            <a:ext cx="6348132" cy="568798"/>
          </a:xfrm>
          <a:prstGeom prst="rect">
            <a:avLst/>
          </a:prstGeom>
        </p:spPr>
        <p:txBody>
          <a:bodyPr vert="horz" wrap="square" lIns="0" tIns="560" rIns="0" bIns="0" rtlCol="0">
            <a:spAutoFit/>
          </a:bodyPr>
          <a:lstStyle/>
          <a:p>
            <a:pPr marL="11206" marR="4483">
              <a:lnSpc>
                <a:spcPct val="103800"/>
              </a:lnSpc>
              <a:spcBef>
                <a:spcPts val="4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1853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853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owned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1853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1853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1853" spc="4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853" spc="-9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.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own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1853" spc="4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1853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1853" spc="4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853" spc="-9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853" dirty="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93473" y="3967779"/>
            <a:ext cx="1998009" cy="394150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67239" marR="4483" indent="-56593">
              <a:lnSpc>
                <a:spcPts val="1421"/>
              </a:lnSpc>
              <a:spcBef>
                <a:spcPts val="274"/>
              </a:spcBef>
            </a:pP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324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95720" y="3543261"/>
            <a:ext cx="2370044" cy="928968"/>
            <a:chOff x="835549" y="4015696"/>
            <a:chExt cx="2686050" cy="1052830"/>
          </a:xfrm>
        </p:grpSpPr>
        <p:sp>
          <p:nvSpPr>
            <p:cNvPr id="24" name="object 24"/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3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3" y="1038889"/>
                  </a:lnTo>
                  <a:lnTo>
                    <a:pt x="2598987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7" y="332066"/>
                  </a:lnTo>
                  <a:lnTo>
                    <a:pt x="2552523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581655" y="3935506"/>
            <a:ext cx="1998009" cy="394150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67239" marR="4483" indent="-56593">
              <a:lnSpc>
                <a:spcPts val="1421"/>
              </a:lnSpc>
              <a:spcBef>
                <a:spcPts val="274"/>
              </a:spcBef>
            </a:pP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324"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2489" y="5376134"/>
            <a:ext cx="7772399" cy="65890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741246" y="5356299"/>
            <a:ext cx="6724650" cy="352469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12327" algn="ctr">
              <a:spcBef>
                <a:spcPts val="525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“at</a:t>
            </a:r>
            <a:r>
              <a:rPr sz="1853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1853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one”</a:t>
            </a:r>
            <a:r>
              <a:rPr sz="1853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1853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78519" y="6183968"/>
            <a:ext cx="7585822" cy="18840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147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B25C-00B5-4A52-21D4-A6A5ABD2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BE2A0-71FD-E0B4-0326-41F2703CB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1473" y="1690688"/>
            <a:ext cx="7970184" cy="1873816"/>
          </a:xfrm>
        </p:spPr>
        <p:txBody>
          <a:bodyPr>
            <a:normAutofit fontScale="70000" lnSpcReduction="20000"/>
          </a:bodyPr>
          <a:lstStyle/>
          <a:p>
            <a:pPr marL="302575" indent="-302575"/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each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student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 has one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backpack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, and that each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backpack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 belongs to one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student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.</a:t>
            </a:r>
          </a:p>
          <a:p>
            <a:pPr marL="302575" indent="-302575"/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person has one passport, and the passport can only be used by one person.</a:t>
            </a:r>
          </a:p>
          <a:p>
            <a:pPr marL="302575" indent="-302575"/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family lives in one house, and the house contains one family.</a:t>
            </a:r>
            <a:endParaRPr lang="en-US" dirty="0">
              <a:latin typeface="HelveticaNeue" panose="02000503000000020004" pitchFamily="2" charset="0"/>
            </a:endParaRPr>
          </a:p>
          <a:p>
            <a:pPr marL="302575" indent="-302575"/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person owns one car, and the car is owned by one person.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950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62764"/>
            <a:ext cx="927847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841606">
              <a:lnSpc>
                <a:spcPct val="100000"/>
              </a:lnSpc>
              <a:spcBef>
                <a:spcPts val="88"/>
              </a:spcBef>
            </a:pPr>
            <a:r>
              <a:rPr spc="-128" dirty="0">
                <a:solidFill>
                  <a:srgbClr val="292934"/>
                </a:solidFill>
              </a:rPr>
              <a:t>Cardinality:</a:t>
            </a:r>
            <a:r>
              <a:rPr spc="-132" dirty="0">
                <a:solidFill>
                  <a:srgbClr val="292934"/>
                </a:solidFill>
              </a:rPr>
              <a:t> </a:t>
            </a:r>
            <a:r>
              <a:rPr spc="-119" dirty="0">
                <a:solidFill>
                  <a:srgbClr val="292934"/>
                </a:solidFill>
              </a:rPr>
              <a:t>One-</a:t>
            </a:r>
            <a:r>
              <a:rPr spc="-128" dirty="0">
                <a:solidFill>
                  <a:srgbClr val="292934"/>
                </a:solidFill>
              </a:rPr>
              <a:t>to-</a:t>
            </a:r>
            <a:r>
              <a:rPr spc="-18" dirty="0">
                <a:solidFill>
                  <a:srgbClr val="292934"/>
                </a:solidFill>
              </a:rPr>
              <a:t>Many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70967" y="1408974"/>
          <a:ext cx="7188012" cy="12320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0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3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601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146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36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01">
                <a:tc>
                  <a:txBody>
                    <a:bodyPr/>
                    <a:lstStyle/>
                    <a:p>
                      <a:pPr marR="14287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58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0901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484353" y="1126862"/>
            <a:ext cx="517991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4298245" algn="l"/>
              </a:tabLst>
            </a:pPr>
            <a:r>
              <a:rPr sz="1500" spc="-9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9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79763" y="1891257"/>
            <a:ext cx="1465729" cy="602876"/>
            <a:chOff x="4104131" y="2143424"/>
            <a:chExt cx="1661160" cy="683260"/>
          </a:xfrm>
        </p:grpSpPr>
        <p:sp>
          <p:nvSpPr>
            <p:cNvPr id="6" name="object 6"/>
            <p:cNvSpPr/>
            <p:nvPr/>
          </p:nvSpPr>
          <p:spPr>
            <a:xfrm>
              <a:off x="4110904" y="2150197"/>
              <a:ext cx="1634489" cy="349885"/>
            </a:xfrm>
            <a:custGeom>
              <a:avLst/>
              <a:gdLst/>
              <a:ahLst/>
              <a:cxnLst/>
              <a:rect l="l" t="t" r="r" b="b"/>
              <a:pathLst>
                <a:path w="1634489" h="349885">
                  <a:moveTo>
                    <a:pt x="0" y="0"/>
                  </a:moveTo>
                  <a:lnTo>
                    <a:pt x="1633947" y="349382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4124295" y="2179312"/>
              <a:ext cx="1634489" cy="640715"/>
            </a:xfrm>
            <a:custGeom>
              <a:avLst/>
              <a:gdLst/>
              <a:ahLst/>
              <a:cxnLst/>
              <a:rect l="l" t="t" r="r" b="b"/>
              <a:pathLst>
                <a:path w="1634489" h="640714">
                  <a:moveTo>
                    <a:pt x="0" y="0"/>
                  </a:moveTo>
                  <a:lnTo>
                    <a:pt x="1633948" y="640535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37185" y="3160433"/>
            <a:ext cx="1143000" cy="500343"/>
            <a:chOff x="2129210" y="3581824"/>
            <a:chExt cx="1295400" cy="567055"/>
          </a:xfrm>
        </p:grpSpPr>
        <p:sp>
          <p:nvSpPr>
            <p:cNvPr id="9" name="object 9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78402" y="3283772"/>
            <a:ext cx="66002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mother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19352" y="3164916"/>
            <a:ext cx="1134035" cy="36209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9988" rIns="0" bIns="0" rtlCol="0">
            <a:spAutoFit/>
          </a:bodyPr>
          <a:lstStyle/>
          <a:p>
            <a:pPr marL="178743">
              <a:spcBef>
                <a:spcPts val="1024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child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62288" y="3113053"/>
            <a:ext cx="1489262" cy="607919"/>
            <a:chOff x="4197660" y="3528126"/>
            <a:chExt cx="1687830" cy="688975"/>
          </a:xfrm>
        </p:grpSpPr>
        <p:sp>
          <p:nvSpPr>
            <p:cNvPr id="14" name="object 14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680244" y="3309943"/>
            <a:ext cx="83063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mother of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41826" y="3364355"/>
            <a:ext cx="5082428" cy="1107701"/>
            <a:chOff x="887802" y="3812935"/>
            <a:chExt cx="5760085" cy="1255395"/>
          </a:xfrm>
        </p:grpSpPr>
        <p:sp>
          <p:nvSpPr>
            <p:cNvPr id="18" name="object 18"/>
            <p:cNvSpPr/>
            <p:nvPr/>
          </p:nvSpPr>
          <p:spPr>
            <a:xfrm>
              <a:off x="3419318" y="3812935"/>
              <a:ext cx="783590" cy="106680"/>
            </a:xfrm>
            <a:custGeom>
              <a:avLst/>
              <a:gdLst/>
              <a:ahLst/>
              <a:cxnLst/>
              <a:rect l="l" t="t" r="r" b="b"/>
              <a:pathLst>
                <a:path w="783589" h="106679">
                  <a:moveTo>
                    <a:pt x="91707" y="0"/>
                  </a:moveTo>
                  <a:lnTo>
                    <a:pt x="0" y="52379"/>
                  </a:lnTo>
                  <a:lnTo>
                    <a:pt x="90735" y="106425"/>
                  </a:lnTo>
                  <a:lnTo>
                    <a:pt x="93852" y="105636"/>
                  </a:lnTo>
                  <a:lnTo>
                    <a:pt x="96724" y="100815"/>
                  </a:lnTo>
                  <a:lnTo>
                    <a:pt x="95934" y="97697"/>
                  </a:lnTo>
                  <a:lnTo>
                    <a:pt x="28823" y="57722"/>
                  </a:lnTo>
                  <a:lnTo>
                    <a:pt x="10036" y="57551"/>
                  </a:lnTo>
                  <a:lnTo>
                    <a:pt x="10129" y="47391"/>
                  </a:lnTo>
                  <a:lnTo>
                    <a:pt x="29219" y="47391"/>
                  </a:lnTo>
                  <a:lnTo>
                    <a:pt x="96746" y="8822"/>
                  </a:lnTo>
                  <a:lnTo>
                    <a:pt x="97593" y="5720"/>
                  </a:lnTo>
                  <a:lnTo>
                    <a:pt x="94810" y="847"/>
                  </a:lnTo>
                  <a:lnTo>
                    <a:pt x="91707" y="0"/>
                  </a:lnTo>
                  <a:close/>
                </a:path>
                <a:path w="783589" h="106679">
                  <a:moveTo>
                    <a:pt x="28918" y="47563"/>
                  </a:moveTo>
                  <a:lnTo>
                    <a:pt x="20162" y="52564"/>
                  </a:lnTo>
                  <a:lnTo>
                    <a:pt x="28823" y="57722"/>
                  </a:lnTo>
                  <a:lnTo>
                    <a:pt x="783375" y="64617"/>
                  </a:lnTo>
                  <a:lnTo>
                    <a:pt x="783468" y="54458"/>
                  </a:lnTo>
                  <a:lnTo>
                    <a:pt x="28918" y="47563"/>
                  </a:lnTo>
                  <a:close/>
                </a:path>
                <a:path w="783589" h="106679">
                  <a:moveTo>
                    <a:pt x="10129" y="47391"/>
                  </a:moveTo>
                  <a:lnTo>
                    <a:pt x="10036" y="57551"/>
                  </a:lnTo>
                  <a:lnTo>
                    <a:pt x="28823" y="57722"/>
                  </a:lnTo>
                  <a:lnTo>
                    <a:pt x="27414" y="56883"/>
                  </a:lnTo>
                  <a:lnTo>
                    <a:pt x="12600" y="56883"/>
                  </a:lnTo>
                  <a:lnTo>
                    <a:pt x="12680" y="48107"/>
                  </a:lnTo>
                  <a:lnTo>
                    <a:pt x="27965" y="48107"/>
                  </a:lnTo>
                  <a:lnTo>
                    <a:pt x="28918" y="47563"/>
                  </a:lnTo>
                  <a:lnTo>
                    <a:pt x="10129" y="47391"/>
                  </a:lnTo>
                  <a:close/>
                </a:path>
                <a:path w="783589" h="106679">
                  <a:moveTo>
                    <a:pt x="12680" y="48107"/>
                  </a:moveTo>
                  <a:lnTo>
                    <a:pt x="12600" y="56883"/>
                  </a:lnTo>
                  <a:lnTo>
                    <a:pt x="20162" y="52564"/>
                  </a:lnTo>
                  <a:lnTo>
                    <a:pt x="12680" y="48107"/>
                  </a:lnTo>
                  <a:close/>
                </a:path>
                <a:path w="783589" h="106679">
                  <a:moveTo>
                    <a:pt x="20162" y="52564"/>
                  </a:moveTo>
                  <a:lnTo>
                    <a:pt x="12600" y="56883"/>
                  </a:lnTo>
                  <a:lnTo>
                    <a:pt x="27414" y="56883"/>
                  </a:lnTo>
                  <a:lnTo>
                    <a:pt x="20162" y="52564"/>
                  </a:lnTo>
                  <a:close/>
                </a:path>
                <a:path w="783589" h="106679">
                  <a:moveTo>
                    <a:pt x="27965" y="48107"/>
                  </a:moveTo>
                  <a:lnTo>
                    <a:pt x="12680" y="48107"/>
                  </a:lnTo>
                  <a:lnTo>
                    <a:pt x="20162" y="52564"/>
                  </a:lnTo>
                  <a:lnTo>
                    <a:pt x="27965" y="48107"/>
                  </a:lnTo>
                  <a:close/>
                </a:path>
                <a:path w="783589" h="106679">
                  <a:moveTo>
                    <a:pt x="29219" y="47391"/>
                  </a:moveTo>
                  <a:lnTo>
                    <a:pt x="10129" y="47391"/>
                  </a:lnTo>
                  <a:lnTo>
                    <a:pt x="28918" y="47563"/>
                  </a:lnTo>
                  <a:lnTo>
                    <a:pt x="29219" y="47391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5880359" y="3865315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4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4" y="1038889"/>
                  </a:lnTo>
                  <a:lnTo>
                    <a:pt x="2598988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8" y="332066"/>
                  </a:lnTo>
                  <a:lnTo>
                    <a:pt x="2552524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50299" y="4621305"/>
            <a:ext cx="5792321" cy="563733"/>
          </a:xfrm>
          <a:prstGeom prst="rect">
            <a:avLst/>
          </a:prstGeom>
        </p:spPr>
        <p:txBody>
          <a:bodyPr vert="horz" wrap="square" lIns="0" tIns="560" rIns="0" bIns="0" rtlCol="0">
            <a:spAutoFit/>
          </a:bodyPr>
          <a:lstStyle/>
          <a:p>
            <a:pPr marL="11206" marR="4483">
              <a:lnSpc>
                <a:spcPct val="102899"/>
              </a:lnSpc>
              <a:spcBef>
                <a:spcPts val="22"/>
              </a:spcBef>
            </a:pP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lang="en-US"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mother</a:t>
            </a:r>
            <a:r>
              <a:rPr lang="en-US"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lang="en-US" sz="1853" spc="53" dirty="0">
                <a:solidFill>
                  <a:srgbClr val="292934"/>
                </a:solidFill>
                <a:latin typeface="Verdana"/>
                <a:cs typeface="Verdana"/>
              </a:rPr>
              <a:t> have</a:t>
            </a:r>
            <a:r>
              <a:rPr lang="en-US"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lang="en-US" sz="1853" spc="62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853" spc="-9" dirty="0">
                <a:solidFill>
                  <a:srgbClr val="292934"/>
                </a:solidFill>
                <a:latin typeface="Verdana"/>
                <a:cs typeface="Verdana"/>
              </a:rPr>
              <a:t>children.</a:t>
            </a:r>
            <a:br>
              <a:rPr lang="en-US" sz="1853" spc="-9" dirty="0">
                <a:solidFill>
                  <a:srgbClr val="292934"/>
                </a:solidFill>
                <a:latin typeface="Verdana"/>
                <a:cs typeface="Verdana"/>
              </a:rPr>
            </a:br>
            <a:r>
              <a:rPr lang="en-US" sz="1853" spc="-9" dirty="0">
                <a:solidFill>
                  <a:srgbClr val="292934"/>
                </a:solidFill>
                <a:latin typeface="Verdana"/>
                <a:cs typeface="Verdana"/>
              </a:rPr>
              <a:t>Each child has one mother.</a:t>
            </a:r>
            <a:endParaRPr lang="en-US" sz="1853" dirty="0">
              <a:latin typeface="Verdana"/>
              <a:cs typeface="Verdan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2489" y="5359998"/>
            <a:ext cx="7772399" cy="65890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741246" y="5339750"/>
            <a:ext cx="6724650" cy="350206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4434" rIns="0" bIns="0" rtlCol="0">
            <a:spAutoFit/>
          </a:bodyPr>
          <a:lstStyle/>
          <a:p>
            <a:pPr marL="309859">
              <a:spcBef>
                <a:spcPts val="507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“at</a:t>
            </a:r>
            <a:r>
              <a:rPr sz="1853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1853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one”</a:t>
            </a:r>
            <a:r>
              <a:rPr sz="1853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53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1853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1853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78519" y="6183968"/>
            <a:ext cx="7585822" cy="18840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147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27761" y="3935506"/>
            <a:ext cx="1998009" cy="394150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67239" marR="4483" indent="-56593">
              <a:lnSpc>
                <a:spcPts val="1421"/>
              </a:lnSpc>
              <a:spcBef>
                <a:spcPts val="274"/>
              </a:spcBef>
            </a:pP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324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823A-34CC-2FCE-4026-C3DA89BB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A6867-03A6-79BF-87EF-420DCF8A5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76063"/>
            <a:ext cx="7970184" cy="855438"/>
          </a:xfrm>
        </p:spPr>
        <p:txBody>
          <a:bodyPr>
            <a:normAutofit fontScale="77500" lnSpcReduction="20000"/>
          </a:bodyPr>
          <a:lstStyle/>
          <a:p>
            <a:pPr marL="302575" indent="-302575"/>
            <a:r>
              <a:rPr lang="en-US" sz="1853" dirty="0">
                <a:solidFill>
                  <a:srgbClr val="040C2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parent-child relationship</a:t>
            </a:r>
          </a:p>
          <a:p>
            <a:pPr marL="302575" indent="-302575"/>
            <a:r>
              <a:rPr lang="en-US" sz="1853" dirty="0">
                <a:solidFill>
                  <a:srgbClr val="040C2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book authors and their books</a:t>
            </a:r>
          </a:p>
          <a:p>
            <a:pPr marL="302575" indent="-302575"/>
            <a:r>
              <a:rPr lang="en-US" sz="1853" dirty="0">
                <a:solidFill>
                  <a:srgbClr val="040C2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websites with multiple web pages</a:t>
            </a:r>
            <a:endParaRPr lang="en-US" sz="1853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77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62764"/>
            <a:ext cx="927847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668467">
              <a:lnSpc>
                <a:spcPct val="100000"/>
              </a:lnSpc>
              <a:spcBef>
                <a:spcPts val="88"/>
              </a:spcBef>
            </a:pPr>
            <a:r>
              <a:rPr spc="-128" dirty="0">
                <a:solidFill>
                  <a:srgbClr val="292934"/>
                </a:solidFill>
              </a:rPr>
              <a:t>Cardinality:</a:t>
            </a:r>
            <a:r>
              <a:rPr spc="-115" dirty="0">
                <a:solidFill>
                  <a:srgbClr val="292934"/>
                </a:solidFill>
              </a:rPr>
              <a:t> </a:t>
            </a:r>
            <a:r>
              <a:rPr spc="-141" dirty="0">
                <a:solidFill>
                  <a:srgbClr val="292934"/>
                </a:solidFill>
              </a:rPr>
              <a:t>Many-</a:t>
            </a:r>
            <a:r>
              <a:rPr spc="-128" dirty="0">
                <a:solidFill>
                  <a:srgbClr val="292934"/>
                </a:solidFill>
              </a:rPr>
              <a:t>to-</a:t>
            </a:r>
            <a:r>
              <a:rPr spc="-18" dirty="0">
                <a:solidFill>
                  <a:srgbClr val="292934"/>
                </a:solidFill>
              </a:rPr>
              <a:t>Many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70967" y="1389504"/>
          <a:ext cx="7188012" cy="1232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0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4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3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601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251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0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301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2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2022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484353" y="1105348"/>
            <a:ext cx="517991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4298245" algn="l"/>
              </a:tabLst>
            </a:pPr>
            <a:r>
              <a:rPr sz="1500" spc="-9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500" spc="-9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79763" y="1871788"/>
            <a:ext cx="1477496" cy="615763"/>
            <a:chOff x="4104131" y="2121359"/>
            <a:chExt cx="1674495" cy="697865"/>
          </a:xfrm>
        </p:grpSpPr>
        <p:sp>
          <p:nvSpPr>
            <p:cNvPr id="6" name="object 6"/>
            <p:cNvSpPr/>
            <p:nvPr/>
          </p:nvSpPr>
          <p:spPr>
            <a:xfrm>
              <a:off x="4110904" y="2142689"/>
              <a:ext cx="1634489" cy="349885"/>
            </a:xfrm>
            <a:custGeom>
              <a:avLst/>
              <a:gdLst/>
              <a:ahLst/>
              <a:cxnLst/>
              <a:rect l="l" t="t" r="r" b="b"/>
              <a:pathLst>
                <a:path w="1634489" h="349885">
                  <a:moveTo>
                    <a:pt x="0" y="0"/>
                  </a:moveTo>
                  <a:lnTo>
                    <a:pt x="1633946" y="349382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4124295" y="2157246"/>
              <a:ext cx="1634489" cy="640715"/>
            </a:xfrm>
            <a:custGeom>
              <a:avLst/>
              <a:gdLst/>
              <a:ahLst/>
              <a:cxnLst/>
              <a:rect l="l" t="t" r="r" b="b"/>
              <a:pathLst>
                <a:path w="1634489" h="640714">
                  <a:moveTo>
                    <a:pt x="0" y="0"/>
                  </a:moveTo>
                  <a:lnTo>
                    <a:pt x="1633947" y="640535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4124295" y="2521187"/>
              <a:ext cx="1647825" cy="291465"/>
            </a:xfrm>
            <a:custGeom>
              <a:avLst/>
              <a:gdLst/>
              <a:ahLst/>
              <a:cxnLst/>
              <a:rect l="l" t="t" r="r" b="b"/>
              <a:pathLst>
                <a:path w="1647825" h="291464">
                  <a:moveTo>
                    <a:pt x="0" y="0"/>
                  </a:moveTo>
                  <a:lnTo>
                    <a:pt x="1647341" y="291151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110904" y="2128132"/>
              <a:ext cx="1647825" cy="379095"/>
            </a:xfrm>
            <a:custGeom>
              <a:avLst/>
              <a:gdLst/>
              <a:ahLst/>
              <a:cxnLst/>
              <a:rect l="l" t="t" r="r" b="b"/>
              <a:pathLst>
                <a:path w="1647825" h="379094">
                  <a:moveTo>
                    <a:pt x="0" y="378497"/>
                  </a:moveTo>
                  <a:lnTo>
                    <a:pt x="1647340" y="0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41668" y="3191549"/>
            <a:ext cx="1134035" cy="36209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9988" rIns="0" bIns="0" rtlCol="0">
            <a:spAutoFit/>
          </a:bodyPr>
          <a:lstStyle/>
          <a:p>
            <a:pPr marL="247663">
              <a:spcBef>
                <a:spcPts val="1024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19352" y="3191549"/>
            <a:ext cx="1134035" cy="36209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9988" rIns="0" bIns="0" rtlCol="0">
            <a:spAutoFit/>
          </a:bodyPr>
          <a:lstStyle/>
          <a:p>
            <a:pPr marL="178743">
              <a:spcBef>
                <a:spcPts val="1024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62288" y="3139685"/>
            <a:ext cx="1489262" cy="607919"/>
            <a:chOff x="4197660" y="3558309"/>
            <a:chExt cx="1687830" cy="688975"/>
          </a:xfrm>
        </p:grpSpPr>
        <p:sp>
          <p:nvSpPr>
            <p:cNvPr id="13" name="object 13"/>
            <p:cNvSpPr/>
            <p:nvPr/>
          </p:nvSpPr>
          <p:spPr>
            <a:xfrm>
              <a:off x="4202740" y="35633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02740" y="35633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14050" y="3316045"/>
            <a:ext cx="58550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71054" y="3432723"/>
            <a:ext cx="2853018" cy="15688"/>
            <a:chOff x="3414261" y="3890419"/>
            <a:chExt cx="3233420" cy="17780"/>
          </a:xfrm>
        </p:grpSpPr>
        <p:sp>
          <p:nvSpPr>
            <p:cNvPr id="17" name="object 17"/>
            <p:cNvSpPr/>
            <p:nvPr/>
          </p:nvSpPr>
          <p:spPr>
            <a:xfrm>
              <a:off x="3419341" y="3895499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5880359" y="3895499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250299" y="4602480"/>
            <a:ext cx="5792321" cy="565996"/>
          </a:xfrm>
          <a:prstGeom prst="rect">
            <a:avLst/>
          </a:prstGeom>
        </p:spPr>
        <p:txBody>
          <a:bodyPr vert="horz" wrap="square" lIns="0" tIns="2801" rIns="0" bIns="0" rtlCol="0">
            <a:spAutoFit/>
          </a:bodyPr>
          <a:lstStyle/>
          <a:p>
            <a:pPr marL="11206" marR="4483">
              <a:lnSpc>
                <a:spcPct val="102899"/>
              </a:lnSpc>
              <a:spcBef>
                <a:spcPts val="22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sz="1853" spc="53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companies.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sz="1853" spc="62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products.</a:t>
            </a:r>
            <a:endParaRPr sz="1853" dirty="0">
              <a:latin typeface="Verdana"/>
              <a:cs typeface="Verdan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3247" y="5359998"/>
            <a:ext cx="7772400" cy="65890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752772" y="5339750"/>
            <a:ext cx="6724650" cy="350206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4434" rIns="0" bIns="0" rtlCol="0">
            <a:spAutoFit/>
          </a:bodyPr>
          <a:lstStyle/>
          <a:p>
            <a:pPr marL="12327" algn="ctr">
              <a:spcBef>
                <a:spcPts val="507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1853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1853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78519" y="6183968"/>
            <a:ext cx="7585822" cy="18840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147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0590-7BF6-6265-605F-1AE8E5E79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0D206-D8FB-DFC1-D89B-9860A26D5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4778" y="1070385"/>
            <a:ext cx="7970184" cy="1425730"/>
          </a:xfrm>
        </p:spPr>
        <p:txBody>
          <a:bodyPr/>
          <a:lstStyle/>
          <a:p>
            <a:pPr marL="302575" indent="-302575"/>
            <a:r>
              <a:rPr lang="en-US" sz="1853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Students and Courses</a:t>
            </a:r>
          </a:p>
          <a:p>
            <a:pPr marL="302575" indent="-302575"/>
            <a:r>
              <a:rPr lang="en-US" sz="1853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Teacher and students</a:t>
            </a:r>
          </a:p>
          <a:p>
            <a:pPr marL="302575" indent="-302575"/>
            <a:r>
              <a:rPr lang="en-US" sz="1853" dirty="0">
                <a:solidFill>
                  <a:srgbClr val="28282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Library books and borrowers</a:t>
            </a:r>
            <a:endParaRPr lang="en-US" sz="1853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853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02575" indent="-302575"/>
            <a:endParaRPr lang="en-US" sz="1853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647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8970" y="238494"/>
            <a:ext cx="5970493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37" dirty="0"/>
              <a:t>M</a:t>
            </a:r>
            <a:r>
              <a:rPr spc="-119" dirty="0"/>
              <a:t>u</a:t>
            </a:r>
            <a:r>
              <a:rPr spc="-106" dirty="0"/>
              <a:t>l</a:t>
            </a:r>
            <a:r>
              <a:rPr spc="-124" dirty="0"/>
              <a:t>t</a:t>
            </a:r>
            <a:r>
              <a:rPr spc="-110" dirty="0"/>
              <a:t>i</a:t>
            </a:r>
            <a:r>
              <a:rPr spc="-115" dirty="0"/>
              <a:t>-</a:t>
            </a:r>
            <a:r>
              <a:rPr spc="-141" dirty="0"/>
              <a:t>W</a:t>
            </a:r>
            <a:r>
              <a:rPr spc="-124" dirty="0"/>
              <a:t>a</a:t>
            </a:r>
            <a:r>
              <a:rPr dirty="0"/>
              <a:t>y</a:t>
            </a:r>
            <a:r>
              <a:rPr spc="-224" dirty="0"/>
              <a:t> </a:t>
            </a:r>
            <a:r>
              <a:rPr spc="-124" dirty="0"/>
              <a:t>R</a:t>
            </a:r>
            <a:r>
              <a:rPr spc="-119" dirty="0"/>
              <a:t>e</a:t>
            </a:r>
            <a:r>
              <a:rPr spc="-110" dirty="0"/>
              <a:t>l</a:t>
            </a:r>
            <a:r>
              <a:rPr spc="-124" dirty="0"/>
              <a:t>at</a:t>
            </a:r>
            <a:r>
              <a:rPr spc="-110" dirty="0"/>
              <a:t>i</a:t>
            </a:r>
            <a:r>
              <a:rPr spc="-124" dirty="0"/>
              <a:t>onsh</a:t>
            </a:r>
            <a:r>
              <a:rPr spc="-110" dirty="0"/>
              <a:t>i</a:t>
            </a:r>
            <a:r>
              <a:rPr spc="-119" dirty="0"/>
              <a:t>p</a:t>
            </a:r>
            <a:r>
              <a:rPr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341" y="1116523"/>
            <a:ext cx="8319798" cy="35379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27866" y="2057400"/>
            <a:ext cx="65946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oduct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07453" y="2057400"/>
            <a:ext cx="79785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</a:t>
            </a:r>
            <a:r>
              <a:rPr sz="1500" spc="9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pany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84199" y="2065468"/>
            <a:ext cx="42582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buys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2435" y="1495313"/>
            <a:ext cx="27678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38556" y="1207546"/>
            <a:ext cx="50034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9807" y="1298986"/>
            <a:ext cx="50034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42134" y="2874980"/>
            <a:ext cx="60679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pe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son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98559" y="3544645"/>
            <a:ext cx="1697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61931" y="1449592"/>
            <a:ext cx="94633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desc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05919" y="1293607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26422" y="3531197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45709" y="3662979"/>
            <a:ext cx="50034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506874" y="3190613"/>
          <a:ext cx="3738842" cy="1451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7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person.id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7321" marB="0">
                    <a:lnL w="19050">
                      <a:solidFill>
                        <a:srgbClr val="292934"/>
                      </a:solidFill>
                      <a:prstDash val="solid"/>
                    </a:lnL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product.pid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7321" marB="0"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4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company.name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7321" marB="0"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183">
                <a:tc>
                  <a:txBody>
                    <a:bodyPr/>
                    <a:lstStyle/>
                    <a:p>
                      <a:pPr marL="97155">
                        <a:lnSpc>
                          <a:spcPts val="1895"/>
                        </a:lnSpc>
                      </a:pPr>
                      <a:r>
                        <a:rPr sz="1400" spc="-1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95"/>
                        </a:lnSpc>
                      </a:pPr>
                      <a:r>
                        <a:rPr sz="1400" spc="-6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p111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895"/>
                        </a:lnSpc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Humpty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Inc.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183">
                <a:tc>
                  <a:txBody>
                    <a:bodyPr/>
                    <a:lstStyle/>
                    <a:p>
                      <a:pPr marL="97155">
                        <a:lnSpc>
                          <a:spcPts val="1895"/>
                        </a:lnSpc>
                      </a:pPr>
                      <a:r>
                        <a:rPr sz="1400" spc="-1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95"/>
                        </a:lnSpc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p222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895"/>
                        </a:lnSpc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Humpty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Inc.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183">
                <a:tc>
                  <a:txBody>
                    <a:bodyPr/>
                    <a:lstStyle/>
                    <a:p>
                      <a:pPr marL="97155">
                        <a:lnSpc>
                          <a:spcPts val="1895"/>
                        </a:lnSpc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95"/>
                        </a:lnSpc>
                      </a:pPr>
                      <a:r>
                        <a:rPr sz="1400" spc="-6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p111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895"/>
                        </a:lnSpc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Humpty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Inc.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183">
                <a:tc>
                  <a:txBody>
                    <a:bodyPr/>
                    <a:lstStyle/>
                    <a:p>
                      <a:pPr marL="97155">
                        <a:lnSpc>
                          <a:spcPts val="1895"/>
                        </a:lnSpc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95"/>
                        </a:lnSpc>
                      </a:pPr>
                      <a:r>
                        <a:rPr sz="1400" spc="-6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p111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895"/>
                        </a:lnSpc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Dumpty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Shop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558811" y="2920701"/>
            <a:ext cx="47681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ys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84774" y="4806875"/>
            <a:ext cx="7372350" cy="9937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algn="just">
              <a:lnSpc>
                <a:spcPct val="119000"/>
              </a:lnSpc>
              <a:spcBef>
                <a:spcPts val="88"/>
              </a:spcBef>
            </a:pP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Each (person, product) pair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can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connect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many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companies.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Each (person, company) pair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can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connect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many products.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(company,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product)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pair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connect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persons.</a:t>
            </a:r>
            <a:endParaRPr sz="1853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78518" y="6184750"/>
            <a:ext cx="758526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13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147" spc="-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13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4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147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13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147" spc="-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in E-R.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13" dirty="0">
                <a:solidFill>
                  <a:srgbClr val="292934"/>
                </a:solidFill>
                <a:latin typeface="Verdana"/>
                <a:cs typeface="Verdana"/>
              </a:rPr>
              <a:t>These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tables are only </a:t>
            </a:r>
            <a:r>
              <a:rPr sz="1147" spc="-4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147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help </a:t>
            </a:r>
            <a:r>
              <a:rPr sz="1147" spc="-13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147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147" spc="-13" dirty="0">
                <a:solidFill>
                  <a:srgbClr val="292934"/>
                </a:solidFill>
                <a:latin typeface="Verdana"/>
                <a:cs typeface="Verdana"/>
              </a:rPr>
              <a:t> being</a:t>
            </a:r>
            <a:r>
              <a:rPr sz="1147" spc="-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18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147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911" y="439986"/>
            <a:ext cx="9601200" cy="14859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Multiway Relationships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70603-986F-41E1-A763-220BA9CA5E18}" type="slidenum">
              <a:rPr lang="zh-CN" altLang="en-US" smtClean="0"/>
              <a:pPr>
                <a:defRPr/>
              </a:pPr>
              <a:t>26</a:t>
            </a:fld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992936" y="1302679"/>
            <a:ext cx="74366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ea typeface="宋体" charset="-122"/>
              </a:rPr>
              <a:t>How do we model a purchase relationship between buyers,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ea typeface="宋体" charset="-122"/>
              </a:rPr>
              <a:t>products and stores?</a:t>
            </a:r>
          </a:p>
        </p:txBody>
      </p:sp>
      <p:sp>
        <p:nvSpPr>
          <p:cNvPr id="7" name="AutoShape 5"/>
          <p:cNvSpPr>
            <a:spLocks noChangeAspect="1" noChangeArrowheads="1"/>
          </p:cNvSpPr>
          <p:nvPr/>
        </p:nvSpPr>
        <p:spPr bwMode="auto">
          <a:xfrm>
            <a:off x="4956954" y="2996369"/>
            <a:ext cx="1327093" cy="1254967"/>
          </a:xfrm>
          <a:prstGeom prst="diamond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dirty="0">
                <a:ea typeface="宋体" charset="-122"/>
              </a:rPr>
              <a:t>Purchase</a:t>
            </a:r>
          </a:p>
        </p:txBody>
      </p:sp>
      <p:sp>
        <p:nvSpPr>
          <p:cNvPr id="8" name="Rectangle 6"/>
          <p:cNvSpPr>
            <a:spLocks noChangeAspect="1" noChangeArrowheads="1"/>
          </p:cNvSpPr>
          <p:nvPr/>
        </p:nvSpPr>
        <p:spPr bwMode="auto">
          <a:xfrm>
            <a:off x="2302768" y="2229445"/>
            <a:ext cx="1924285" cy="6972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dirty="0">
                <a:ea typeface="宋体" charset="-122"/>
              </a:rPr>
              <a:t>Product</a:t>
            </a:r>
          </a:p>
        </p:txBody>
      </p:sp>
      <p:sp>
        <p:nvSpPr>
          <p:cNvPr id="9" name="Rectangle 7"/>
          <p:cNvSpPr>
            <a:spLocks noChangeAspect="1" noChangeArrowheads="1"/>
          </p:cNvSpPr>
          <p:nvPr/>
        </p:nvSpPr>
        <p:spPr bwMode="auto">
          <a:xfrm>
            <a:off x="4625180" y="4948541"/>
            <a:ext cx="1924285" cy="6972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ea typeface="宋体" charset="-122"/>
              </a:rPr>
              <a:t>Person</a:t>
            </a:r>
          </a:p>
        </p:txBody>
      </p:sp>
      <p:sp>
        <p:nvSpPr>
          <p:cNvPr id="10" name="Rectangle 8"/>
          <p:cNvSpPr>
            <a:spLocks noChangeAspect="1" noChangeArrowheads="1"/>
          </p:cNvSpPr>
          <p:nvPr/>
        </p:nvSpPr>
        <p:spPr bwMode="auto">
          <a:xfrm>
            <a:off x="7412075" y="3275251"/>
            <a:ext cx="1924285" cy="6972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>
                <a:ea typeface="宋体" charset="-122"/>
              </a:rPr>
              <a:t>Store</a:t>
            </a:r>
          </a:p>
        </p:txBody>
      </p:sp>
      <p:sp>
        <p:nvSpPr>
          <p:cNvPr id="11" name="Line 9"/>
          <p:cNvSpPr>
            <a:spLocks noChangeAspect="1" noChangeShapeType="1"/>
          </p:cNvSpPr>
          <p:nvPr/>
        </p:nvSpPr>
        <p:spPr bwMode="auto">
          <a:xfrm>
            <a:off x="6284046" y="3623853"/>
            <a:ext cx="11280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0"/>
          <p:cNvSpPr>
            <a:spLocks noChangeAspect="1" noChangeShapeType="1"/>
          </p:cNvSpPr>
          <p:nvPr/>
        </p:nvSpPr>
        <p:spPr bwMode="auto">
          <a:xfrm>
            <a:off x="5620500" y="4251337"/>
            <a:ext cx="0" cy="6972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1"/>
          <p:cNvSpPr>
            <a:spLocks noChangeAspect="1" noChangeShapeType="1"/>
          </p:cNvSpPr>
          <p:nvPr/>
        </p:nvSpPr>
        <p:spPr bwMode="auto">
          <a:xfrm>
            <a:off x="4227053" y="2926649"/>
            <a:ext cx="729901" cy="6972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55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Roles in Relationships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70603-986F-41E1-A763-220BA9CA5E18}" type="slidenum">
              <a:rPr lang="zh-CN" altLang="en-US" smtClean="0"/>
              <a:pPr>
                <a:defRPr/>
              </a:pPr>
              <a:t>27</a:t>
            </a:fld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05000" y="1305273"/>
            <a:ext cx="70294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ea typeface="宋体" charset="-122"/>
              </a:rPr>
              <a:t>What if we need an entity set </a:t>
            </a:r>
            <a:r>
              <a:rPr lang="en-US" altLang="zh-CN" b="1" dirty="0">
                <a:solidFill>
                  <a:srgbClr val="7D0900"/>
                </a:solidFill>
                <a:ea typeface="宋体" charset="-122"/>
              </a:rPr>
              <a:t>twice</a:t>
            </a:r>
            <a:r>
              <a:rPr lang="en-US" altLang="zh-CN" dirty="0">
                <a:ea typeface="宋体" charset="-122"/>
              </a:rPr>
              <a:t> in one relationship?</a:t>
            </a:r>
          </a:p>
        </p:txBody>
      </p:sp>
      <p:grpSp>
        <p:nvGrpSpPr>
          <p:cNvPr id="49" name="Group 4">
            <a:extLst>
              <a:ext uri="{FF2B5EF4-FFF2-40B4-BE49-F238E27FC236}">
                <a16:creationId xmlns:a16="http://schemas.microsoft.com/office/drawing/2014/main" id="{CCBF1610-5DCC-4FDB-A06B-69309495E15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19309" y="2212940"/>
            <a:ext cx="7033592" cy="3355294"/>
            <a:chOff x="192" y="1872"/>
            <a:chExt cx="5088" cy="2310"/>
          </a:xfrm>
        </p:grpSpPr>
        <p:sp>
          <p:nvSpPr>
            <p:cNvPr id="56" name="AutoShape 5">
              <a:extLst>
                <a:ext uri="{FF2B5EF4-FFF2-40B4-BE49-F238E27FC236}">
                  <a16:creationId xmlns:a16="http://schemas.microsoft.com/office/drawing/2014/main" id="{A47EABA3-847A-4FBA-84BB-C3264A4EFE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12" y="2400"/>
              <a:ext cx="960" cy="864"/>
            </a:xfrm>
            <a:prstGeom prst="diamond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charset="-122"/>
                </a:rPr>
                <a:t>Purchase</a:t>
              </a:r>
            </a:p>
          </p:txBody>
        </p:sp>
        <p:sp>
          <p:nvSpPr>
            <p:cNvPr id="57" name="Rectangle 6">
              <a:extLst>
                <a:ext uri="{FF2B5EF4-FFF2-40B4-BE49-F238E27FC236}">
                  <a16:creationId xmlns:a16="http://schemas.microsoft.com/office/drawing/2014/main" id="{A966BD0A-1FA4-4534-B124-AF6120F4A7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" y="187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ea typeface="宋体" charset="-122"/>
                </a:rPr>
                <a:t>Product</a:t>
              </a:r>
            </a:p>
          </p:txBody>
        </p:sp>
        <p:sp>
          <p:nvSpPr>
            <p:cNvPr id="58" name="Rectangle 7">
              <a:extLst>
                <a:ext uri="{FF2B5EF4-FFF2-40B4-BE49-F238E27FC236}">
                  <a16:creationId xmlns:a16="http://schemas.microsoft.com/office/drawing/2014/main" id="{18A48BCF-856F-4658-BF8A-6721B59C30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83" y="370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ea typeface="宋体" charset="-122"/>
                </a:rPr>
                <a:t>Person</a:t>
              </a:r>
            </a:p>
          </p:txBody>
        </p:sp>
        <p:sp>
          <p:nvSpPr>
            <p:cNvPr id="59" name="Rectangle 8">
              <a:extLst>
                <a:ext uri="{FF2B5EF4-FFF2-40B4-BE49-F238E27FC236}">
                  <a16:creationId xmlns:a16="http://schemas.microsoft.com/office/drawing/2014/main" id="{0A94C950-C91D-4364-AC02-739C28786E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8" y="259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charset="-122"/>
                </a:rPr>
                <a:t>Store</a:t>
              </a:r>
            </a:p>
          </p:txBody>
        </p:sp>
        <p:sp>
          <p:nvSpPr>
            <p:cNvPr id="60" name="Line 9">
              <a:extLst>
                <a:ext uri="{FF2B5EF4-FFF2-40B4-BE49-F238E27FC236}">
                  <a16:creationId xmlns:a16="http://schemas.microsoft.com/office/drawing/2014/main" id="{4B07909B-4210-46F7-9FF2-3CBC9EA792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72" y="283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10">
              <a:extLst>
                <a:ext uri="{FF2B5EF4-FFF2-40B4-BE49-F238E27FC236}">
                  <a16:creationId xmlns:a16="http://schemas.microsoft.com/office/drawing/2014/main" id="{65CFC15B-4510-4339-941E-920C383B8D8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>
              <a:off x="2362" y="3158"/>
              <a:ext cx="0" cy="650"/>
            </a:xfrm>
            <a:prstGeom prst="line">
              <a:avLst/>
            </a:prstGeom>
            <a:ln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68866E55-F93D-4E20-9DCF-97F97AB8CC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84" y="2352"/>
              <a:ext cx="52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3" name="Rectangle 7">
            <a:extLst>
              <a:ext uri="{FF2B5EF4-FFF2-40B4-BE49-F238E27FC236}">
                <a16:creationId xmlns:a16="http://schemas.microsoft.com/office/drawing/2014/main" id="{F8EE2DAD-8E4C-49AD-B131-C2032682C3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72200" y="4862315"/>
            <a:ext cx="1924285" cy="6972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dirty="0">
                <a:ea typeface="宋体" charset="-122"/>
              </a:rPr>
              <a:t>Person</a:t>
            </a:r>
          </a:p>
        </p:txBody>
      </p:sp>
      <p:sp>
        <p:nvSpPr>
          <p:cNvPr id="64" name="Line 10">
            <a:extLst>
              <a:ext uri="{FF2B5EF4-FFF2-40B4-BE49-F238E27FC236}">
                <a16:creationId xmlns:a16="http://schemas.microsoft.com/office/drawing/2014/main" id="{56FF1EBE-FE6C-446F-AF6E-E464C4ECE45D}"/>
              </a:ext>
            </a:extLst>
          </p:cNvPr>
          <p:cNvSpPr>
            <a:spLocks noChangeAspect="1" noChangeShapeType="1"/>
          </p:cNvSpPr>
          <p:nvPr/>
        </p:nvSpPr>
        <p:spPr bwMode="auto">
          <a:xfrm rot="18900000">
            <a:off x="6067013" y="4087945"/>
            <a:ext cx="0" cy="898552"/>
          </a:xfrm>
          <a:prstGeom prst="lin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C4798-CD57-4200-8C03-B367DBBE5A6A}"/>
              </a:ext>
            </a:extLst>
          </p:cNvPr>
          <p:cNvSpPr txBox="1"/>
          <p:nvPr/>
        </p:nvSpPr>
        <p:spPr>
          <a:xfrm>
            <a:off x="6396704" y="5566926"/>
            <a:ext cx="737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Buyer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7018A-8F25-4E36-A3C1-5921178B1BA1}"/>
              </a:ext>
            </a:extLst>
          </p:cNvPr>
          <p:cNvSpPr txBox="1"/>
          <p:nvPr/>
        </p:nvSpPr>
        <p:spPr>
          <a:xfrm>
            <a:off x="4055662" y="5535810"/>
            <a:ext cx="1391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7D722-D7E5-434B-B822-7F003729EC4B}"/>
              </a:ext>
            </a:extLst>
          </p:cNvPr>
          <p:cNvSpPr txBox="1"/>
          <p:nvPr/>
        </p:nvSpPr>
        <p:spPr>
          <a:xfrm>
            <a:off x="9027457" y="4887751"/>
            <a:ext cx="932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192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796" y="378438"/>
            <a:ext cx="9601200" cy="14859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Roles in Relationships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70603-986F-41E1-A763-220BA9CA5E18}" type="slidenum">
              <a:rPr lang="zh-CN" altLang="en-US" smtClean="0"/>
              <a:pPr>
                <a:defRPr/>
              </a:pPr>
              <a:t>28</a:t>
            </a:fld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05000" y="1305273"/>
            <a:ext cx="49872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Label the edges to indicate the roles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Collapse the two entity sets into one</a:t>
            </a:r>
            <a:endParaRPr lang="en-US" altLang="zh-CN" dirty="0">
              <a:ea typeface="宋体" charset="-122"/>
            </a:endParaRPr>
          </a:p>
        </p:txBody>
      </p:sp>
      <p:grpSp>
        <p:nvGrpSpPr>
          <p:cNvPr id="49" name="Group 4">
            <a:extLst>
              <a:ext uri="{FF2B5EF4-FFF2-40B4-BE49-F238E27FC236}">
                <a16:creationId xmlns:a16="http://schemas.microsoft.com/office/drawing/2014/main" id="{CCBF1610-5DCC-4FDB-A06B-69309495E15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19309" y="2212940"/>
            <a:ext cx="7033592" cy="3355294"/>
            <a:chOff x="192" y="1872"/>
            <a:chExt cx="5088" cy="2310"/>
          </a:xfrm>
        </p:grpSpPr>
        <p:sp>
          <p:nvSpPr>
            <p:cNvPr id="56" name="AutoShape 5">
              <a:extLst>
                <a:ext uri="{FF2B5EF4-FFF2-40B4-BE49-F238E27FC236}">
                  <a16:creationId xmlns:a16="http://schemas.microsoft.com/office/drawing/2014/main" id="{A47EABA3-847A-4FBA-84BB-C3264A4EFE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12" y="2400"/>
              <a:ext cx="960" cy="864"/>
            </a:xfrm>
            <a:prstGeom prst="diamond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charset="-122"/>
                </a:rPr>
                <a:t>Purchase</a:t>
              </a:r>
            </a:p>
          </p:txBody>
        </p:sp>
        <p:sp>
          <p:nvSpPr>
            <p:cNvPr id="57" name="Rectangle 6">
              <a:extLst>
                <a:ext uri="{FF2B5EF4-FFF2-40B4-BE49-F238E27FC236}">
                  <a16:creationId xmlns:a16="http://schemas.microsoft.com/office/drawing/2014/main" id="{A966BD0A-1FA4-4534-B124-AF6120F4A7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" y="187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ea typeface="宋体" charset="-122"/>
                </a:rPr>
                <a:t>Product</a:t>
              </a:r>
            </a:p>
          </p:txBody>
        </p:sp>
        <p:sp>
          <p:nvSpPr>
            <p:cNvPr id="58" name="Rectangle 7">
              <a:extLst>
                <a:ext uri="{FF2B5EF4-FFF2-40B4-BE49-F238E27FC236}">
                  <a16:creationId xmlns:a16="http://schemas.microsoft.com/office/drawing/2014/main" id="{18A48BCF-856F-4658-BF8A-6721B59C30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64" y="370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ea typeface="宋体" charset="-122"/>
                </a:rPr>
                <a:t>Person</a:t>
              </a:r>
            </a:p>
          </p:txBody>
        </p:sp>
        <p:sp>
          <p:nvSpPr>
            <p:cNvPr id="59" name="Rectangle 8">
              <a:extLst>
                <a:ext uri="{FF2B5EF4-FFF2-40B4-BE49-F238E27FC236}">
                  <a16:creationId xmlns:a16="http://schemas.microsoft.com/office/drawing/2014/main" id="{0A94C950-C91D-4364-AC02-739C28786E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8" y="259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>
                  <a:ea typeface="宋体" charset="-122"/>
                </a:rPr>
                <a:t>Store</a:t>
              </a:r>
            </a:p>
          </p:txBody>
        </p:sp>
        <p:sp>
          <p:nvSpPr>
            <p:cNvPr id="60" name="Line 9">
              <a:extLst>
                <a:ext uri="{FF2B5EF4-FFF2-40B4-BE49-F238E27FC236}">
                  <a16:creationId xmlns:a16="http://schemas.microsoft.com/office/drawing/2014/main" id="{4B07909B-4210-46F7-9FF2-3CBC9EA792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72" y="283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10">
              <a:extLst>
                <a:ext uri="{FF2B5EF4-FFF2-40B4-BE49-F238E27FC236}">
                  <a16:creationId xmlns:a16="http://schemas.microsoft.com/office/drawing/2014/main" id="{65CFC15B-4510-4339-941E-920C383B8D8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>
              <a:off x="2362" y="3158"/>
              <a:ext cx="0" cy="65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68866E55-F93D-4E20-9DCF-97F97AB8CC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84" y="2352"/>
              <a:ext cx="52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4" name="Line 10">
            <a:extLst>
              <a:ext uri="{FF2B5EF4-FFF2-40B4-BE49-F238E27FC236}">
                <a16:creationId xmlns:a16="http://schemas.microsoft.com/office/drawing/2014/main" id="{56FF1EBE-FE6C-446F-AF6E-E464C4ECE45D}"/>
              </a:ext>
            </a:extLst>
          </p:cNvPr>
          <p:cNvSpPr>
            <a:spLocks noChangeAspect="1" noChangeShapeType="1"/>
          </p:cNvSpPr>
          <p:nvPr/>
        </p:nvSpPr>
        <p:spPr bwMode="auto">
          <a:xfrm rot="18900000">
            <a:off x="6067013" y="4087945"/>
            <a:ext cx="0" cy="898552"/>
          </a:xfrm>
          <a:prstGeom prst="lin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C4798-CD57-4200-8C03-B367DBBE5A6A}"/>
              </a:ext>
            </a:extLst>
          </p:cNvPr>
          <p:cNvSpPr txBox="1"/>
          <p:nvPr/>
        </p:nvSpPr>
        <p:spPr>
          <a:xfrm>
            <a:off x="6067013" y="4312794"/>
            <a:ext cx="737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Buyer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7018A-8F25-4E36-A3C1-5921178B1BA1}"/>
              </a:ext>
            </a:extLst>
          </p:cNvPr>
          <p:cNvSpPr txBox="1"/>
          <p:nvPr/>
        </p:nvSpPr>
        <p:spPr>
          <a:xfrm>
            <a:off x="4067754" y="4324882"/>
            <a:ext cx="1391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Salesperson</a:t>
            </a:r>
          </a:p>
        </p:txBody>
      </p:sp>
    </p:spTree>
    <p:extLst>
      <p:ext uri="{BB962C8B-B14F-4D97-AF65-F5344CB8AC3E}">
        <p14:creationId xmlns:p14="http://schemas.microsoft.com/office/powerpoint/2010/main" val="3516887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5529" y="284213"/>
            <a:ext cx="7395322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9" dirty="0"/>
              <a:t>S</a:t>
            </a:r>
            <a:r>
              <a:rPr sz="3794" spc="-110" dirty="0"/>
              <a:t>tr</a:t>
            </a:r>
            <a:r>
              <a:rPr sz="3794" spc="-115" dirty="0"/>
              <a:t>o</a:t>
            </a:r>
            <a:r>
              <a:rPr sz="3794" spc="-119" dirty="0"/>
              <a:t>n</a:t>
            </a:r>
            <a:r>
              <a:rPr sz="3794" dirty="0"/>
              <a:t>g</a:t>
            </a:r>
            <a:r>
              <a:rPr sz="3794" spc="-221" dirty="0"/>
              <a:t> </a:t>
            </a:r>
            <a:r>
              <a:rPr sz="3794" spc="-110" dirty="0"/>
              <a:t>a</a:t>
            </a:r>
            <a:r>
              <a:rPr sz="3794" spc="-119" dirty="0"/>
              <a:t>n</a:t>
            </a:r>
            <a:r>
              <a:rPr sz="3794" dirty="0"/>
              <a:t>d</a:t>
            </a:r>
            <a:r>
              <a:rPr sz="3794" spc="-221" dirty="0"/>
              <a:t> </a:t>
            </a:r>
            <a:r>
              <a:rPr sz="3794" spc="-132" dirty="0"/>
              <a:t>W</a:t>
            </a:r>
            <a:r>
              <a:rPr sz="3794" spc="-110" dirty="0"/>
              <a:t>ea</a:t>
            </a:r>
            <a:r>
              <a:rPr sz="3794" dirty="0"/>
              <a:t>k</a:t>
            </a:r>
            <a:r>
              <a:rPr sz="3794" spc="-221" dirty="0"/>
              <a:t> </a:t>
            </a:r>
            <a:r>
              <a:rPr sz="3794" spc="-110" dirty="0"/>
              <a:t>E</a:t>
            </a:r>
            <a:r>
              <a:rPr sz="3794" spc="-119" dirty="0"/>
              <a:t>n</a:t>
            </a:r>
            <a:r>
              <a:rPr sz="3794" spc="-106" dirty="0"/>
              <a:t>t</a:t>
            </a:r>
            <a:r>
              <a:rPr sz="3794" spc="-110" dirty="0"/>
              <a:t>i</a:t>
            </a:r>
            <a:r>
              <a:rPr sz="3794" spc="-106" dirty="0"/>
              <a:t>t</a:t>
            </a:r>
            <a:r>
              <a:rPr sz="3794" dirty="0"/>
              <a:t>y</a:t>
            </a:r>
            <a:r>
              <a:rPr sz="3794" spc="-229" dirty="0"/>
              <a:t> </a:t>
            </a:r>
            <a:r>
              <a:rPr sz="3794" spc="-119" dirty="0"/>
              <a:t>S</a:t>
            </a:r>
            <a:r>
              <a:rPr sz="3794" spc="-110" dirty="0"/>
              <a:t>e</a:t>
            </a:r>
            <a:r>
              <a:rPr sz="3794" spc="-106" dirty="0"/>
              <a:t>t</a:t>
            </a:r>
            <a:r>
              <a:rPr sz="3794" dirty="0"/>
              <a:t>s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2113432" y="1097281"/>
            <a:ext cx="2502834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b="1" spc="18" dirty="0">
                <a:solidFill>
                  <a:srgbClr val="C00000"/>
                </a:solidFill>
                <a:latin typeface="Verdana"/>
                <a:cs typeface="Verdana"/>
              </a:rPr>
              <a:t>Strong</a:t>
            </a:r>
            <a:r>
              <a:rPr sz="2030" b="1" spc="-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b="1" spc="13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2030" b="1" spc="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b="1" spc="22" dirty="0">
                <a:solidFill>
                  <a:srgbClr val="C00000"/>
                </a:solidFill>
                <a:latin typeface="Verdana"/>
                <a:cs typeface="Verdana"/>
              </a:rPr>
              <a:t>set</a:t>
            </a:r>
            <a:endParaRPr sz="203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2330" y="1523551"/>
            <a:ext cx="6747062" cy="542379"/>
          </a:xfrm>
          <a:prstGeom prst="rect">
            <a:avLst/>
          </a:prstGeom>
        </p:spPr>
        <p:txBody>
          <a:bodyPr vert="horz" wrap="square" lIns="0" tIns="29134" rIns="0" bIns="0" rtlCol="0">
            <a:spAutoFit/>
          </a:bodyPr>
          <a:lstStyle/>
          <a:p>
            <a:pPr marL="214044" marR="4483" indent="-203397">
              <a:lnSpc>
                <a:spcPts val="2030"/>
              </a:lnSpc>
              <a:spcBef>
                <a:spcPts val="229"/>
              </a:spcBef>
              <a:buSzPct val="85000"/>
              <a:buFont typeface="Arial MT"/>
              <a:buChar char="•"/>
              <a:tabLst>
                <a:tab pos="225810" algn="l"/>
                <a:tab pos="226371" algn="l"/>
              </a:tabLst>
            </a:pP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 can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identified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 of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their attributes </a:t>
            </a:r>
            <a:r>
              <a:rPr sz="1765" spc="-60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(a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key)</a:t>
            </a:r>
            <a:endParaRPr sz="1765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3433" y="2530736"/>
            <a:ext cx="2335866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b="1" spc="26" dirty="0">
                <a:solidFill>
                  <a:srgbClr val="C00000"/>
                </a:solidFill>
                <a:latin typeface="Verdana"/>
                <a:cs typeface="Verdana"/>
              </a:rPr>
              <a:t>Weak</a:t>
            </a:r>
            <a:r>
              <a:rPr sz="2030" b="1" spc="-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b="1" spc="13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2030" b="1" spc="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b="1" spc="13" dirty="0">
                <a:solidFill>
                  <a:srgbClr val="C00000"/>
                </a:solidFill>
                <a:latin typeface="Verdana"/>
                <a:cs typeface="Verdana"/>
              </a:rPr>
              <a:t>set</a:t>
            </a:r>
            <a:endParaRPr sz="203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2331" y="3002728"/>
            <a:ext cx="7879416" cy="27836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6371" indent="-215164">
              <a:spcBef>
                <a:spcPts val="88"/>
              </a:spcBef>
              <a:buSzPct val="85000"/>
              <a:buFont typeface="Arial MT"/>
              <a:buChar char="•"/>
              <a:tabLst>
                <a:tab pos="225810" algn="l"/>
                <a:tab pos="226371" algn="l"/>
              </a:tabLst>
            </a:pP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primary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65" spc="199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 be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identified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their attributes</a:t>
            </a:r>
            <a:endParaRPr sz="1765" dirty="0">
              <a:latin typeface="Verdana"/>
              <a:cs typeface="Verdana"/>
            </a:endParaRPr>
          </a:p>
          <a:p>
            <a:pPr>
              <a:spcBef>
                <a:spcPts val="35"/>
              </a:spcBef>
              <a:buClr>
                <a:srgbClr val="292934"/>
              </a:buClr>
              <a:buFont typeface="Arial MT"/>
              <a:buChar char="•"/>
            </a:pPr>
            <a:endParaRPr sz="1897" dirty="0">
              <a:latin typeface="Verdana"/>
              <a:cs typeface="Verdana"/>
            </a:endParaRPr>
          </a:p>
          <a:p>
            <a:pPr marL="226371" marR="4483" indent="-215164">
              <a:lnSpc>
                <a:spcPts val="2030"/>
              </a:lnSpc>
              <a:buSzPct val="85000"/>
              <a:buFont typeface="Arial MT"/>
              <a:buChar char="•"/>
              <a:tabLst>
                <a:tab pos="225810" algn="l"/>
                <a:tab pos="226371" algn="l"/>
              </a:tabLst>
            </a:pPr>
            <a:r>
              <a:rPr sz="1765" spc="-88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13" dirty="0">
                <a:solidFill>
                  <a:srgbClr val="292934"/>
                </a:solidFill>
                <a:latin typeface="Verdana"/>
                <a:cs typeface="Verdana"/>
              </a:rPr>
              <a:t>identify,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 combination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their attributes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(“</a:t>
            </a:r>
            <a:r>
              <a:rPr sz="1765" spc="13" dirty="0">
                <a:solidFill>
                  <a:srgbClr val="C00000"/>
                </a:solidFill>
                <a:latin typeface="Verdana"/>
                <a:cs typeface="Verdana"/>
              </a:rPr>
              <a:t>discriminator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”) </a:t>
            </a:r>
            <a:r>
              <a:rPr sz="1765" spc="-60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65" spc="11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11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1765" spc="11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765" spc="1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765" spc="12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765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1765" spc="1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765" spc="1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set 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(“</a:t>
            </a:r>
            <a:r>
              <a:rPr sz="1765" spc="4" dirty="0">
                <a:solidFill>
                  <a:srgbClr val="C00000"/>
                </a:solidFill>
                <a:latin typeface="Verdana"/>
                <a:cs typeface="Verdana"/>
              </a:rPr>
              <a:t>identifying</a:t>
            </a:r>
            <a:r>
              <a:rPr sz="1765" spc="13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C00000"/>
                </a:solidFill>
                <a:latin typeface="Verdana"/>
                <a:cs typeface="Verdana"/>
              </a:rPr>
              <a:t>relationship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”)</a:t>
            </a:r>
            <a:endParaRPr sz="1765" dirty="0">
              <a:latin typeface="Verdana"/>
              <a:cs typeface="Verdana"/>
            </a:endParaRPr>
          </a:p>
          <a:p>
            <a:pPr>
              <a:spcBef>
                <a:spcPts val="44"/>
              </a:spcBef>
              <a:buClr>
                <a:srgbClr val="292934"/>
              </a:buClr>
              <a:buFont typeface="Arial MT"/>
              <a:buChar char="•"/>
            </a:pPr>
            <a:endParaRPr sz="1853" dirty="0">
              <a:latin typeface="Verdana"/>
              <a:cs typeface="Verdana"/>
            </a:endParaRPr>
          </a:p>
          <a:p>
            <a:pPr marL="226371" marR="662863" indent="-215164">
              <a:lnSpc>
                <a:spcPts val="2030"/>
              </a:lnSpc>
              <a:spcBef>
                <a:spcPts val="4"/>
              </a:spcBef>
              <a:buSzPct val="85000"/>
              <a:buFont typeface="Arial MT"/>
              <a:buChar char="•"/>
              <a:tabLst>
                <a:tab pos="225810" algn="l"/>
                <a:tab pos="226371" algn="l"/>
              </a:tabLst>
            </a:pP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 X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1765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instance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765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corresponding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instance</a:t>
            </a:r>
            <a:r>
              <a:rPr sz="1765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of X,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1765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 “</a:t>
            </a:r>
            <a:r>
              <a:rPr sz="1765" spc="9" dirty="0">
                <a:solidFill>
                  <a:srgbClr val="C00000"/>
                </a:solidFill>
                <a:latin typeface="Verdana"/>
                <a:cs typeface="Verdana"/>
              </a:rPr>
              <a:t>existence</a:t>
            </a:r>
            <a:r>
              <a:rPr sz="1765" spc="22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spc="13" dirty="0">
                <a:solidFill>
                  <a:srgbClr val="C00000"/>
                </a:solidFill>
                <a:latin typeface="Verdana"/>
                <a:cs typeface="Verdana"/>
              </a:rPr>
              <a:t>dependent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”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endParaRPr sz="1765" dirty="0">
              <a:latin typeface="Verdana"/>
              <a:cs typeface="Verdana"/>
            </a:endParaRPr>
          </a:p>
          <a:p>
            <a:pPr marL="535109">
              <a:lnSpc>
                <a:spcPts val="2074"/>
              </a:lnSpc>
              <a:spcBef>
                <a:spcPts val="838"/>
              </a:spcBef>
              <a:tabLst>
                <a:tab pos="857856" algn="l"/>
              </a:tabLst>
            </a:pP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C00000"/>
                </a:solidFill>
                <a:latin typeface="Verdana"/>
                <a:cs typeface="Verdana"/>
              </a:rPr>
              <a:t>weak</a:t>
            </a:r>
            <a:r>
              <a:rPr sz="1765" spc="18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spc="-18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1765" spc="-18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 and</a:t>
            </a:r>
            <a:r>
              <a:rPr sz="1765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its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strong</a:t>
            </a:r>
            <a:r>
              <a:rPr sz="1765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1765" dirty="0">
              <a:latin typeface="Verdana"/>
              <a:cs typeface="Verdana"/>
            </a:endParaRPr>
          </a:p>
          <a:p>
            <a:pPr marL="535109">
              <a:lnSpc>
                <a:spcPts val="2074"/>
              </a:lnSpc>
              <a:tabLst>
                <a:tab pos="857856" algn="l"/>
              </a:tabLst>
            </a:pPr>
            <a:r>
              <a:rPr sz="15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5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must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C00000"/>
                </a:solidFill>
                <a:latin typeface="Verdana"/>
                <a:cs typeface="Verdana"/>
              </a:rPr>
              <a:t>total </a:t>
            </a:r>
            <a:r>
              <a:rPr sz="1765" spc="9" dirty="0">
                <a:solidFill>
                  <a:srgbClr val="C00000"/>
                </a:solidFill>
                <a:latin typeface="Verdana"/>
                <a:cs typeface="Verdana"/>
              </a:rPr>
              <a:t>participation</a:t>
            </a:r>
            <a:r>
              <a:rPr sz="1765" spc="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its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 with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endParaRPr sz="1765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8834" y="2224143"/>
            <a:ext cx="4066391" cy="9628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78120" y="2341681"/>
            <a:ext cx="3815043" cy="525596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3313" rIns="0" bIns="0" rtlCol="0">
            <a:spAutoFit/>
          </a:bodyPr>
          <a:lstStyle/>
          <a:p>
            <a:pPr marL="375417" marR="356366" indent="156330">
              <a:lnSpc>
                <a:spcPts val="1844"/>
              </a:lnSpc>
              <a:spcBef>
                <a:spcPts val="499"/>
              </a:spcBef>
            </a:pP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67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1677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entity’s</a:t>
            </a:r>
            <a:r>
              <a:rPr sz="167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existence 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depends</a:t>
            </a:r>
            <a:r>
              <a:rPr sz="1677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67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its</a:t>
            </a:r>
            <a:r>
              <a:rPr sz="1677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strong</a:t>
            </a:r>
            <a:r>
              <a:rPr sz="1677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1677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0235" y="1008529"/>
            <a:ext cx="5378824" cy="67773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07603" y="1059229"/>
            <a:ext cx="4617944" cy="293161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34738" rIns="0" bIns="0" rtlCol="0">
            <a:spAutoFit/>
          </a:bodyPr>
          <a:lstStyle/>
          <a:p>
            <a:pPr marL="288007">
              <a:spcBef>
                <a:spcPts val="274"/>
              </a:spcBef>
            </a:pP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167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677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677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been</a:t>
            </a:r>
            <a:r>
              <a:rPr sz="1677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discussing</a:t>
            </a:r>
            <a:r>
              <a:rPr sz="1677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so</a:t>
            </a:r>
            <a:r>
              <a:rPr sz="167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far</a:t>
            </a:r>
            <a:endParaRPr sz="1677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5610" y="284213"/>
            <a:ext cx="4134971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32" dirty="0"/>
              <a:t>W</a:t>
            </a:r>
            <a:r>
              <a:rPr sz="3794" spc="-110" dirty="0"/>
              <a:t>e</a:t>
            </a:r>
            <a:r>
              <a:rPr sz="3794" spc="-115" dirty="0"/>
              <a:t>a</a:t>
            </a:r>
            <a:r>
              <a:rPr sz="3794" dirty="0"/>
              <a:t>k</a:t>
            </a:r>
            <a:r>
              <a:rPr sz="3794" spc="-221" dirty="0"/>
              <a:t> </a:t>
            </a:r>
            <a:r>
              <a:rPr sz="3794" spc="-110" dirty="0"/>
              <a:t>E</a:t>
            </a:r>
            <a:r>
              <a:rPr sz="3794" spc="-115" dirty="0"/>
              <a:t>n</a:t>
            </a:r>
            <a:r>
              <a:rPr sz="3794" spc="-110" dirty="0"/>
              <a:t>tit</a:t>
            </a:r>
            <a:r>
              <a:rPr sz="3794" dirty="0"/>
              <a:t>y</a:t>
            </a:r>
            <a:r>
              <a:rPr sz="3794" spc="-224" dirty="0"/>
              <a:t> </a:t>
            </a:r>
            <a:r>
              <a:rPr sz="3794" spc="-119" dirty="0"/>
              <a:t>S</a:t>
            </a:r>
            <a:r>
              <a:rPr sz="3794" spc="-110" dirty="0"/>
              <a:t>e</a:t>
            </a:r>
            <a:r>
              <a:rPr sz="3794" dirty="0"/>
              <a:t>t</a:t>
            </a:r>
            <a:endParaRPr sz="3794"/>
          </a:p>
        </p:txBody>
      </p:sp>
      <p:grpSp>
        <p:nvGrpSpPr>
          <p:cNvPr id="3" name="object 3"/>
          <p:cNvGrpSpPr/>
          <p:nvPr/>
        </p:nvGrpSpPr>
        <p:grpSpPr>
          <a:xfrm>
            <a:off x="8388795" y="3845402"/>
            <a:ext cx="1325096" cy="628650"/>
            <a:chOff x="7627701" y="4358122"/>
            <a:chExt cx="1501775" cy="712470"/>
          </a:xfrm>
        </p:grpSpPr>
        <p:sp>
          <p:nvSpPr>
            <p:cNvPr id="4" name="object 4"/>
            <p:cNvSpPr/>
            <p:nvPr/>
          </p:nvSpPr>
          <p:spPr>
            <a:xfrm>
              <a:off x="7634475" y="4364896"/>
              <a:ext cx="1487805" cy="699135"/>
            </a:xfrm>
            <a:custGeom>
              <a:avLst/>
              <a:gdLst/>
              <a:ahLst/>
              <a:cxnLst/>
              <a:rect l="l" t="t" r="r" b="b"/>
              <a:pathLst>
                <a:path w="1487804" h="699135">
                  <a:moveTo>
                    <a:pt x="0" y="44988"/>
                  </a:moveTo>
                  <a:lnTo>
                    <a:pt x="235911" y="291208"/>
                  </a:lnTo>
                  <a:lnTo>
                    <a:pt x="235911" y="582413"/>
                  </a:lnTo>
                  <a:lnTo>
                    <a:pt x="245065" y="627753"/>
                  </a:lnTo>
                  <a:lnTo>
                    <a:pt x="270028" y="664779"/>
                  </a:lnTo>
                  <a:lnTo>
                    <a:pt x="307054" y="689743"/>
                  </a:lnTo>
                  <a:lnTo>
                    <a:pt x="352395" y="698897"/>
                  </a:lnTo>
                  <a:lnTo>
                    <a:pt x="1371276" y="698897"/>
                  </a:lnTo>
                  <a:lnTo>
                    <a:pt x="1416617" y="689743"/>
                  </a:lnTo>
                  <a:lnTo>
                    <a:pt x="1453643" y="664779"/>
                  </a:lnTo>
                  <a:lnTo>
                    <a:pt x="1478606" y="627753"/>
                  </a:lnTo>
                  <a:lnTo>
                    <a:pt x="1487760" y="582413"/>
                  </a:lnTo>
                  <a:lnTo>
                    <a:pt x="1487760" y="116485"/>
                  </a:lnTo>
                  <a:lnTo>
                    <a:pt x="235911" y="116485"/>
                  </a:lnTo>
                  <a:lnTo>
                    <a:pt x="0" y="44988"/>
                  </a:lnTo>
                  <a:close/>
                </a:path>
                <a:path w="1487804" h="699135">
                  <a:moveTo>
                    <a:pt x="1371276" y="0"/>
                  </a:moveTo>
                  <a:lnTo>
                    <a:pt x="352395" y="0"/>
                  </a:lnTo>
                  <a:lnTo>
                    <a:pt x="307054" y="9154"/>
                  </a:lnTo>
                  <a:lnTo>
                    <a:pt x="270028" y="34117"/>
                  </a:lnTo>
                  <a:lnTo>
                    <a:pt x="245065" y="71144"/>
                  </a:lnTo>
                  <a:lnTo>
                    <a:pt x="235911" y="116485"/>
                  </a:lnTo>
                  <a:lnTo>
                    <a:pt x="1487760" y="116485"/>
                  </a:lnTo>
                  <a:lnTo>
                    <a:pt x="1478606" y="71144"/>
                  </a:lnTo>
                  <a:lnTo>
                    <a:pt x="1453643" y="34117"/>
                  </a:lnTo>
                  <a:lnTo>
                    <a:pt x="1416617" y="9154"/>
                  </a:lnTo>
                  <a:lnTo>
                    <a:pt x="1371276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7634475" y="4364896"/>
              <a:ext cx="1487805" cy="699135"/>
            </a:xfrm>
            <a:custGeom>
              <a:avLst/>
              <a:gdLst/>
              <a:ahLst/>
              <a:cxnLst/>
              <a:rect l="l" t="t" r="r" b="b"/>
              <a:pathLst>
                <a:path w="1487804" h="699135">
                  <a:moveTo>
                    <a:pt x="235911" y="116484"/>
                  </a:moveTo>
                  <a:lnTo>
                    <a:pt x="245065" y="71143"/>
                  </a:lnTo>
                  <a:lnTo>
                    <a:pt x="270029" y="34117"/>
                  </a:lnTo>
                  <a:lnTo>
                    <a:pt x="307055" y="9153"/>
                  </a:lnTo>
                  <a:lnTo>
                    <a:pt x="352396" y="0"/>
                  </a:lnTo>
                  <a:lnTo>
                    <a:pt x="444553" y="0"/>
                  </a:lnTo>
                  <a:lnTo>
                    <a:pt x="757515" y="0"/>
                  </a:lnTo>
                  <a:lnTo>
                    <a:pt x="1371276" y="0"/>
                  </a:lnTo>
                  <a:lnTo>
                    <a:pt x="1416617" y="9153"/>
                  </a:lnTo>
                  <a:lnTo>
                    <a:pt x="1453643" y="34117"/>
                  </a:lnTo>
                  <a:lnTo>
                    <a:pt x="1478607" y="71143"/>
                  </a:lnTo>
                  <a:lnTo>
                    <a:pt x="1487761" y="116484"/>
                  </a:lnTo>
                  <a:lnTo>
                    <a:pt x="1487761" y="291207"/>
                  </a:lnTo>
                  <a:lnTo>
                    <a:pt x="1487761" y="582412"/>
                  </a:lnTo>
                  <a:lnTo>
                    <a:pt x="1478607" y="627753"/>
                  </a:lnTo>
                  <a:lnTo>
                    <a:pt x="1453643" y="664779"/>
                  </a:lnTo>
                  <a:lnTo>
                    <a:pt x="1416617" y="689743"/>
                  </a:lnTo>
                  <a:lnTo>
                    <a:pt x="1371276" y="698897"/>
                  </a:lnTo>
                  <a:lnTo>
                    <a:pt x="757515" y="698897"/>
                  </a:lnTo>
                  <a:lnTo>
                    <a:pt x="444553" y="698897"/>
                  </a:lnTo>
                  <a:lnTo>
                    <a:pt x="352396" y="698897"/>
                  </a:lnTo>
                  <a:lnTo>
                    <a:pt x="307055" y="689743"/>
                  </a:lnTo>
                  <a:lnTo>
                    <a:pt x="270029" y="664779"/>
                  </a:lnTo>
                  <a:lnTo>
                    <a:pt x="245065" y="627753"/>
                  </a:lnTo>
                  <a:lnTo>
                    <a:pt x="235911" y="582412"/>
                  </a:lnTo>
                  <a:lnTo>
                    <a:pt x="235911" y="291207"/>
                  </a:lnTo>
                  <a:lnTo>
                    <a:pt x="0" y="44988"/>
                  </a:lnTo>
                  <a:lnTo>
                    <a:pt x="235911" y="11648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760769" y="3918472"/>
            <a:ext cx="788894" cy="484860"/>
          </a:xfrm>
          <a:prstGeom prst="rect">
            <a:avLst/>
          </a:prstGeom>
        </p:spPr>
        <p:txBody>
          <a:bodyPr vert="horz" wrap="square" lIns="0" tIns="22971" rIns="0" bIns="0" rtlCol="0">
            <a:spAutoFit/>
          </a:bodyPr>
          <a:lstStyle/>
          <a:p>
            <a:pPr marL="11206" marR="4483" indent="101419">
              <a:lnSpc>
                <a:spcPts val="1755"/>
              </a:lnSpc>
              <a:spcBef>
                <a:spcPts val="18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Strong </a:t>
            </a:r>
            <a:r>
              <a:rPr sz="1500" spc="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1500" spc="-7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158591" y="3958588"/>
            <a:ext cx="1117226" cy="835399"/>
            <a:chOff x="2833470" y="4486399"/>
            <a:chExt cx="1266190" cy="946785"/>
          </a:xfrm>
        </p:grpSpPr>
        <p:sp>
          <p:nvSpPr>
            <p:cNvPr id="8" name="object 8"/>
            <p:cNvSpPr/>
            <p:nvPr/>
          </p:nvSpPr>
          <p:spPr>
            <a:xfrm>
              <a:off x="2840455" y="4493384"/>
              <a:ext cx="1252220" cy="932815"/>
            </a:xfrm>
            <a:custGeom>
              <a:avLst/>
              <a:gdLst/>
              <a:ahLst/>
              <a:cxnLst/>
              <a:rect l="l" t="t" r="r" b="b"/>
              <a:pathLst>
                <a:path w="1252220" h="932814">
                  <a:moveTo>
                    <a:pt x="1135364" y="233682"/>
                  </a:moveTo>
                  <a:lnTo>
                    <a:pt x="116484" y="233682"/>
                  </a:lnTo>
                  <a:lnTo>
                    <a:pt x="71143" y="242836"/>
                  </a:lnTo>
                  <a:lnTo>
                    <a:pt x="34117" y="267800"/>
                  </a:lnTo>
                  <a:lnTo>
                    <a:pt x="9154" y="304826"/>
                  </a:lnTo>
                  <a:lnTo>
                    <a:pt x="0" y="350166"/>
                  </a:lnTo>
                  <a:lnTo>
                    <a:pt x="0" y="816095"/>
                  </a:lnTo>
                  <a:lnTo>
                    <a:pt x="9154" y="861436"/>
                  </a:lnTo>
                  <a:lnTo>
                    <a:pt x="34117" y="898462"/>
                  </a:lnTo>
                  <a:lnTo>
                    <a:pt x="71143" y="923426"/>
                  </a:lnTo>
                  <a:lnTo>
                    <a:pt x="116484" y="932580"/>
                  </a:lnTo>
                  <a:lnTo>
                    <a:pt x="1135364" y="932580"/>
                  </a:lnTo>
                  <a:lnTo>
                    <a:pt x="1180705" y="923426"/>
                  </a:lnTo>
                  <a:lnTo>
                    <a:pt x="1217731" y="898462"/>
                  </a:lnTo>
                  <a:lnTo>
                    <a:pt x="1242695" y="861436"/>
                  </a:lnTo>
                  <a:lnTo>
                    <a:pt x="1251849" y="816095"/>
                  </a:lnTo>
                  <a:lnTo>
                    <a:pt x="1251848" y="350166"/>
                  </a:lnTo>
                  <a:lnTo>
                    <a:pt x="1242695" y="304826"/>
                  </a:lnTo>
                  <a:lnTo>
                    <a:pt x="1217731" y="267800"/>
                  </a:lnTo>
                  <a:lnTo>
                    <a:pt x="1180705" y="242836"/>
                  </a:lnTo>
                  <a:lnTo>
                    <a:pt x="1135364" y="233682"/>
                  </a:lnTo>
                  <a:close/>
                </a:path>
                <a:path w="1252220" h="932814">
                  <a:moveTo>
                    <a:pt x="129842" y="0"/>
                  </a:moveTo>
                  <a:lnTo>
                    <a:pt x="208641" y="233682"/>
                  </a:lnTo>
                  <a:lnTo>
                    <a:pt x="521604" y="233682"/>
                  </a:lnTo>
                  <a:lnTo>
                    <a:pt x="129842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2840455" y="4493384"/>
              <a:ext cx="1252220" cy="932815"/>
            </a:xfrm>
            <a:custGeom>
              <a:avLst/>
              <a:gdLst/>
              <a:ahLst/>
              <a:cxnLst/>
              <a:rect l="l" t="t" r="r" b="b"/>
              <a:pathLst>
                <a:path w="1252220" h="932814">
                  <a:moveTo>
                    <a:pt x="0" y="350167"/>
                  </a:moveTo>
                  <a:lnTo>
                    <a:pt x="9153" y="304826"/>
                  </a:lnTo>
                  <a:lnTo>
                    <a:pt x="34117" y="267800"/>
                  </a:lnTo>
                  <a:lnTo>
                    <a:pt x="71143" y="242837"/>
                  </a:lnTo>
                  <a:lnTo>
                    <a:pt x="116484" y="233683"/>
                  </a:lnTo>
                  <a:lnTo>
                    <a:pt x="208641" y="233683"/>
                  </a:lnTo>
                  <a:lnTo>
                    <a:pt x="129842" y="0"/>
                  </a:lnTo>
                  <a:lnTo>
                    <a:pt x="521604" y="233683"/>
                  </a:lnTo>
                  <a:lnTo>
                    <a:pt x="1135365" y="233683"/>
                  </a:lnTo>
                  <a:lnTo>
                    <a:pt x="1180706" y="242837"/>
                  </a:lnTo>
                  <a:lnTo>
                    <a:pt x="1217732" y="267800"/>
                  </a:lnTo>
                  <a:lnTo>
                    <a:pt x="1242695" y="304826"/>
                  </a:lnTo>
                  <a:lnTo>
                    <a:pt x="1251849" y="350167"/>
                  </a:lnTo>
                  <a:lnTo>
                    <a:pt x="1251849" y="524890"/>
                  </a:lnTo>
                  <a:lnTo>
                    <a:pt x="1251849" y="816095"/>
                  </a:lnTo>
                  <a:lnTo>
                    <a:pt x="1242695" y="861436"/>
                  </a:lnTo>
                  <a:lnTo>
                    <a:pt x="1217732" y="898462"/>
                  </a:lnTo>
                  <a:lnTo>
                    <a:pt x="1180706" y="923426"/>
                  </a:lnTo>
                  <a:lnTo>
                    <a:pt x="1135365" y="932580"/>
                  </a:lnTo>
                  <a:lnTo>
                    <a:pt x="521604" y="932580"/>
                  </a:lnTo>
                  <a:lnTo>
                    <a:pt x="208641" y="932580"/>
                  </a:lnTo>
                  <a:lnTo>
                    <a:pt x="116484" y="932580"/>
                  </a:lnTo>
                  <a:lnTo>
                    <a:pt x="71143" y="923426"/>
                  </a:lnTo>
                  <a:lnTo>
                    <a:pt x="34117" y="898462"/>
                  </a:lnTo>
                  <a:lnTo>
                    <a:pt x="9153" y="861436"/>
                  </a:lnTo>
                  <a:lnTo>
                    <a:pt x="0" y="816095"/>
                  </a:lnTo>
                  <a:lnTo>
                    <a:pt x="0" y="524890"/>
                  </a:lnTo>
                  <a:lnTo>
                    <a:pt x="0" y="350166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22593" y="4238513"/>
            <a:ext cx="788894" cy="484860"/>
          </a:xfrm>
          <a:prstGeom prst="rect">
            <a:avLst/>
          </a:prstGeom>
        </p:spPr>
        <p:txBody>
          <a:bodyPr vert="horz" wrap="square" lIns="0" tIns="22971" rIns="0" bIns="0" rtlCol="0">
            <a:spAutoFit/>
          </a:bodyPr>
          <a:lstStyle/>
          <a:p>
            <a:pPr marL="11206" marR="4483" indent="140641">
              <a:lnSpc>
                <a:spcPts val="1755"/>
              </a:lnSpc>
              <a:spcBef>
                <a:spcPts val="180"/>
              </a:spcBef>
            </a:pPr>
            <a:r>
              <a:rPr sz="1500" spc="-9" dirty="0">
                <a:solidFill>
                  <a:srgbClr val="FFFFFF"/>
                </a:solidFill>
                <a:latin typeface="Arial MT"/>
                <a:cs typeface="Arial MT"/>
              </a:rPr>
              <a:t>Weak </a:t>
            </a:r>
            <a:r>
              <a:rPr sz="1500" spc="-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1500" spc="-7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78046" y="1941335"/>
            <a:ext cx="1390090" cy="582146"/>
            <a:chOff x="362185" y="2200179"/>
            <a:chExt cx="1575435" cy="659765"/>
          </a:xfrm>
        </p:grpSpPr>
        <p:sp>
          <p:nvSpPr>
            <p:cNvPr id="12" name="object 12"/>
            <p:cNvSpPr/>
            <p:nvPr/>
          </p:nvSpPr>
          <p:spPr>
            <a:xfrm>
              <a:off x="368958" y="2206952"/>
              <a:ext cx="1562100" cy="646430"/>
            </a:xfrm>
            <a:custGeom>
              <a:avLst/>
              <a:gdLst/>
              <a:ahLst/>
              <a:cxnLst/>
              <a:rect l="l" t="t" r="r" b="b"/>
              <a:pathLst>
                <a:path w="1562100" h="646430">
                  <a:moveTo>
                    <a:pt x="1301447" y="464458"/>
                  </a:moveTo>
                  <a:lnTo>
                    <a:pt x="911013" y="464458"/>
                  </a:lnTo>
                  <a:lnTo>
                    <a:pt x="1400690" y="645894"/>
                  </a:lnTo>
                  <a:lnTo>
                    <a:pt x="1301447" y="464458"/>
                  </a:lnTo>
                  <a:close/>
                </a:path>
                <a:path w="1562100" h="646430">
                  <a:moveTo>
                    <a:pt x="1484326" y="0"/>
                  </a:moveTo>
                  <a:lnTo>
                    <a:pt x="77410" y="0"/>
                  </a:lnTo>
                  <a:lnTo>
                    <a:pt x="47278" y="6083"/>
                  </a:lnTo>
                  <a:lnTo>
                    <a:pt x="22673" y="22673"/>
                  </a:lnTo>
                  <a:lnTo>
                    <a:pt x="6083" y="47279"/>
                  </a:lnTo>
                  <a:lnTo>
                    <a:pt x="0" y="77411"/>
                  </a:lnTo>
                  <a:lnTo>
                    <a:pt x="0" y="387049"/>
                  </a:lnTo>
                  <a:lnTo>
                    <a:pt x="6083" y="417179"/>
                  </a:lnTo>
                  <a:lnTo>
                    <a:pt x="22673" y="441784"/>
                  </a:lnTo>
                  <a:lnTo>
                    <a:pt x="47278" y="458374"/>
                  </a:lnTo>
                  <a:lnTo>
                    <a:pt x="77410" y="464458"/>
                  </a:lnTo>
                  <a:lnTo>
                    <a:pt x="1484326" y="464458"/>
                  </a:lnTo>
                  <a:lnTo>
                    <a:pt x="1539064" y="441784"/>
                  </a:lnTo>
                  <a:lnTo>
                    <a:pt x="1561736" y="387049"/>
                  </a:lnTo>
                  <a:lnTo>
                    <a:pt x="1561737" y="77411"/>
                  </a:lnTo>
                  <a:lnTo>
                    <a:pt x="1555653" y="47279"/>
                  </a:lnTo>
                  <a:lnTo>
                    <a:pt x="1539064" y="22673"/>
                  </a:lnTo>
                  <a:lnTo>
                    <a:pt x="1514458" y="6083"/>
                  </a:lnTo>
                  <a:lnTo>
                    <a:pt x="1484326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68958" y="2206952"/>
              <a:ext cx="1562100" cy="646430"/>
            </a:xfrm>
            <a:custGeom>
              <a:avLst/>
              <a:gdLst/>
              <a:ahLst/>
              <a:cxnLst/>
              <a:rect l="l" t="t" r="r" b="b"/>
              <a:pathLst>
                <a:path w="1562100" h="646430">
                  <a:moveTo>
                    <a:pt x="0" y="77410"/>
                  </a:moveTo>
                  <a:lnTo>
                    <a:pt x="6083" y="47278"/>
                  </a:lnTo>
                  <a:lnTo>
                    <a:pt x="22673" y="22673"/>
                  </a:lnTo>
                  <a:lnTo>
                    <a:pt x="47278" y="6083"/>
                  </a:lnTo>
                  <a:lnTo>
                    <a:pt x="77410" y="0"/>
                  </a:lnTo>
                  <a:lnTo>
                    <a:pt x="911013" y="0"/>
                  </a:lnTo>
                  <a:lnTo>
                    <a:pt x="1301447" y="0"/>
                  </a:lnTo>
                  <a:lnTo>
                    <a:pt x="1484327" y="0"/>
                  </a:lnTo>
                  <a:lnTo>
                    <a:pt x="1514458" y="6083"/>
                  </a:lnTo>
                  <a:lnTo>
                    <a:pt x="1539064" y="22673"/>
                  </a:lnTo>
                  <a:lnTo>
                    <a:pt x="1555654" y="47278"/>
                  </a:lnTo>
                  <a:lnTo>
                    <a:pt x="1561737" y="77410"/>
                  </a:lnTo>
                  <a:lnTo>
                    <a:pt x="1561737" y="270934"/>
                  </a:lnTo>
                  <a:lnTo>
                    <a:pt x="1561737" y="387048"/>
                  </a:lnTo>
                  <a:lnTo>
                    <a:pt x="1555654" y="417178"/>
                  </a:lnTo>
                  <a:lnTo>
                    <a:pt x="1539064" y="441784"/>
                  </a:lnTo>
                  <a:lnTo>
                    <a:pt x="1514458" y="458374"/>
                  </a:lnTo>
                  <a:lnTo>
                    <a:pt x="1484327" y="464457"/>
                  </a:lnTo>
                  <a:lnTo>
                    <a:pt x="1301447" y="464457"/>
                  </a:lnTo>
                  <a:lnTo>
                    <a:pt x="1400691" y="645893"/>
                  </a:lnTo>
                  <a:lnTo>
                    <a:pt x="911013" y="464457"/>
                  </a:lnTo>
                  <a:lnTo>
                    <a:pt x="77410" y="464457"/>
                  </a:lnTo>
                  <a:lnTo>
                    <a:pt x="47278" y="458374"/>
                  </a:lnTo>
                  <a:lnTo>
                    <a:pt x="22673" y="441784"/>
                  </a:lnTo>
                  <a:lnTo>
                    <a:pt x="6083" y="417178"/>
                  </a:lnTo>
                  <a:lnTo>
                    <a:pt x="0" y="387046"/>
                  </a:lnTo>
                  <a:lnTo>
                    <a:pt x="0" y="270934"/>
                  </a:lnTo>
                  <a:lnTo>
                    <a:pt x="0" y="77410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104512" y="2025127"/>
            <a:ext cx="113627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4" dirty="0">
                <a:solidFill>
                  <a:srgbClr val="FFFFFF"/>
                </a:solidFill>
                <a:latin typeface="Arial MT"/>
                <a:cs typeface="Arial MT"/>
              </a:rPr>
              <a:t>Di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sc</a:t>
            </a:r>
            <a:r>
              <a:rPr sz="1500" spc="4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1500" spc="-4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500" spc="9" dirty="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1500" spc="-4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na</a:t>
            </a:r>
            <a:r>
              <a:rPr sz="1500" spc="4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43524" y="4012813"/>
            <a:ext cx="1452282" cy="830355"/>
            <a:chOff x="5196394" y="4547854"/>
            <a:chExt cx="1645920" cy="941069"/>
          </a:xfrm>
        </p:grpSpPr>
        <p:sp>
          <p:nvSpPr>
            <p:cNvPr id="16" name="object 16"/>
            <p:cNvSpPr/>
            <p:nvPr/>
          </p:nvSpPr>
          <p:spPr>
            <a:xfrm>
              <a:off x="5203379" y="4554839"/>
              <a:ext cx="1631950" cy="927100"/>
            </a:xfrm>
            <a:custGeom>
              <a:avLst/>
              <a:gdLst/>
              <a:ahLst/>
              <a:cxnLst/>
              <a:rect l="l" t="t" r="r" b="b"/>
              <a:pathLst>
                <a:path w="1631950" h="927100">
                  <a:moveTo>
                    <a:pt x="1512387" y="212859"/>
                  </a:moveTo>
                  <a:lnTo>
                    <a:pt x="119019" y="212859"/>
                  </a:lnTo>
                  <a:lnTo>
                    <a:pt x="72691" y="222212"/>
                  </a:lnTo>
                  <a:lnTo>
                    <a:pt x="34859" y="247719"/>
                  </a:lnTo>
                  <a:lnTo>
                    <a:pt x="9353" y="285551"/>
                  </a:lnTo>
                  <a:lnTo>
                    <a:pt x="0" y="331877"/>
                  </a:lnTo>
                  <a:lnTo>
                    <a:pt x="0" y="807943"/>
                  </a:lnTo>
                  <a:lnTo>
                    <a:pt x="9353" y="854270"/>
                  </a:lnTo>
                  <a:lnTo>
                    <a:pt x="34859" y="892102"/>
                  </a:lnTo>
                  <a:lnTo>
                    <a:pt x="72691" y="917609"/>
                  </a:lnTo>
                  <a:lnTo>
                    <a:pt x="119019" y="926962"/>
                  </a:lnTo>
                  <a:lnTo>
                    <a:pt x="1512387" y="926962"/>
                  </a:lnTo>
                  <a:lnTo>
                    <a:pt x="1558714" y="917609"/>
                  </a:lnTo>
                  <a:lnTo>
                    <a:pt x="1596546" y="892102"/>
                  </a:lnTo>
                  <a:lnTo>
                    <a:pt x="1622053" y="854270"/>
                  </a:lnTo>
                  <a:lnTo>
                    <a:pt x="1631406" y="807943"/>
                  </a:lnTo>
                  <a:lnTo>
                    <a:pt x="1631406" y="331877"/>
                  </a:lnTo>
                  <a:lnTo>
                    <a:pt x="1622053" y="285551"/>
                  </a:lnTo>
                  <a:lnTo>
                    <a:pt x="1596546" y="247719"/>
                  </a:lnTo>
                  <a:lnTo>
                    <a:pt x="1558714" y="222212"/>
                  </a:lnTo>
                  <a:lnTo>
                    <a:pt x="1512387" y="212859"/>
                  </a:lnTo>
                  <a:close/>
                </a:path>
                <a:path w="1631950" h="927100">
                  <a:moveTo>
                    <a:pt x="116824" y="0"/>
                  </a:moveTo>
                  <a:lnTo>
                    <a:pt x="271900" y="212859"/>
                  </a:lnTo>
                  <a:lnTo>
                    <a:pt x="679752" y="212859"/>
                  </a:lnTo>
                  <a:lnTo>
                    <a:pt x="11682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5203379" y="4554839"/>
              <a:ext cx="1631950" cy="927100"/>
            </a:xfrm>
            <a:custGeom>
              <a:avLst/>
              <a:gdLst/>
              <a:ahLst/>
              <a:cxnLst/>
              <a:rect l="l" t="t" r="r" b="b"/>
              <a:pathLst>
                <a:path w="1631950" h="927100">
                  <a:moveTo>
                    <a:pt x="0" y="331878"/>
                  </a:moveTo>
                  <a:lnTo>
                    <a:pt x="9353" y="285551"/>
                  </a:lnTo>
                  <a:lnTo>
                    <a:pt x="34859" y="247719"/>
                  </a:lnTo>
                  <a:lnTo>
                    <a:pt x="72691" y="222212"/>
                  </a:lnTo>
                  <a:lnTo>
                    <a:pt x="119019" y="212859"/>
                  </a:lnTo>
                  <a:lnTo>
                    <a:pt x="271901" y="212859"/>
                  </a:lnTo>
                  <a:lnTo>
                    <a:pt x="116824" y="0"/>
                  </a:lnTo>
                  <a:lnTo>
                    <a:pt x="679752" y="212859"/>
                  </a:lnTo>
                  <a:lnTo>
                    <a:pt x="1512387" y="212859"/>
                  </a:lnTo>
                  <a:lnTo>
                    <a:pt x="1558715" y="222212"/>
                  </a:lnTo>
                  <a:lnTo>
                    <a:pt x="1596547" y="247719"/>
                  </a:lnTo>
                  <a:lnTo>
                    <a:pt x="1622053" y="285551"/>
                  </a:lnTo>
                  <a:lnTo>
                    <a:pt x="1631406" y="331878"/>
                  </a:lnTo>
                  <a:lnTo>
                    <a:pt x="1631406" y="510402"/>
                  </a:lnTo>
                  <a:lnTo>
                    <a:pt x="1631406" y="807942"/>
                  </a:lnTo>
                  <a:lnTo>
                    <a:pt x="1622053" y="854270"/>
                  </a:lnTo>
                  <a:lnTo>
                    <a:pt x="1596547" y="892101"/>
                  </a:lnTo>
                  <a:lnTo>
                    <a:pt x="1558715" y="917608"/>
                  </a:lnTo>
                  <a:lnTo>
                    <a:pt x="1512387" y="926961"/>
                  </a:lnTo>
                  <a:lnTo>
                    <a:pt x="679752" y="926961"/>
                  </a:lnTo>
                  <a:lnTo>
                    <a:pt x="271901" y="926961"/>
                  </a:lnTo>
                  <a:lnTo>
                    <a:pt x="119019" y="926961"/>
                  </a:lnTo>
                  <a:lnTo>
                    <a:pt x="72691" y="917608"/>
                  </a:lnTo>
                  <a:lnTo>
                    <a:pt x="34859" y="892101"/>
                  </a:lnTo>
                  <a:lnTo>
                    <a:pt x="9353" y="854270"/>
                  </a:lnTo>
                  <a:lnTo>
                    <a:pt x="0" y="807942"/>
                  </a:lnTo>
                  <a:lnTo>
                    <a:pt x="0" y="510402"/>
                  </a:lnTo>
                  <a:lnTo>
                    <a:pt x="0" y="331877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70390" y="4281544"/>
            <a:ext cx="998444" cy="484860"/>
          </a:xfrm>
          <a:prstGeom prst="rect">
            <a:avLst/>
          </a:prstGeom>
        </p:spPr>
        <p:txBody>
          <a:bodyPr vert="horz" wrap="square" lIns="0" tIns="22971" rIns="0" bIns="0" rtlCol="0">
            <a:spAutoFit/>
          </a:bodyPr>
          <a:lstStyle/>
          <a:p>
            <a:pPr marL="11206" marR="4483" indent="52110">
              <a:lnSpc>
                <a:spcPts val="1755"/>
              </a:lnSpc>
              <a:spcBef>
                <a:spcPts val="18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Identifying </a:t>
            </a:r>
            <a:r>
              <a:rPr sz="1500" spc="-4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4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1500" spc="-4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500" spc="4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500" spc="-4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onsh</a:t>
            </a:r>
            <a:r>
              <a:rPr sz="1500" spc="-4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38563" y="3409662"/>
            <a:ext cx="1781511" cy="426944"/>
            <a:chOff x="2017438" y="3864284"/>
            <a:chExt cx="2019046" cy="483870"/>
          </a:xfrm>
        </p:grpSpPr>
        <p:sp>
          <p:nvSpPr>
            <p:cNvPr id="20" name="object 20"/>
            <p:cNvSpPr/>
            <p:nvPr/>
          </p:nvSpPr>
          <p:spPr>
            <a:xfrm>
              <a:off x="3334174" y="4045903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3334174" y="4123260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2017438" y="3864284"/>
              <a:ext cx="1316990" cy="483870"/>
            </a:xfrm>
            <a:custGeom>
              <a:avLst/>
              <a:gdLst/>
              <a:ahLst/>
              <a:cxnLst/>
              <a:rect l="l" t="t" r="r" b="b"/>
              <a:pathLst>
                <a:path w="1316989" h="527685">
                  <a:moveTo>
                    <a:pt x="0" y="0"/>
                  </a:moveTo>
                  <a:lnTo>
                    <a:pt x="1316735" y="0"/>
                  </a:lnTo>
                  <a:lnTo>
                    <a:pt x="1316735" y="527382"/>
                  </a:lnTo>
                  <a:lnTo>
                    <a:pt x="0" y="52738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486837" y="3476924"/>
            <a:ext cx="1048310" cy="302119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70597" rIns="0" bIns="0" rtlCol="0">
            <a:spAutoFit/>
          </a:bodyPr>
          <a:lstStyle/>
          <a:p>
            <a:pPr marL="156891">
              <a:spcBef>
                <a:spcPts val="556"/>
              </a:spcBef>
            </a:pPr>
            <a:r>
              <a:rPr lang="en-US" sz="15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ayment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980515" y="3545166"/>
            <a:ext cx="557493" cy="94129"/>
          </a:xfrm>
          <a:custGeom>
            <a:avLst/>
            <a:gdLst/>
            <a:ahLst/>
            <a:cxnLst/>
            <a:rect l="l" t="t" r="r" b="b"/>
            <a:pathLst>
              <a:path w="631825" h="106679">
                <a:moveTo>
                  <a:pt x="622906" y="46673"/>
                </a:moveTo>
                <a:lnTo>
                  <a:pt x="621492" y="46673"/>
                </a:lnTo>
                <a:lnTo>
                  <a:pt x="621673" y="56832"/>
                </a:lnTo>
                <a:lnTo>
                  <a:pt x="602885" y="57169"/>
                </a:lnTo>
                <a:lnTo>
                  <a:pt x="536129" y="97730"/>
                </a:lnTo>
                <a:lnTo>
                  <a:pt x="535365" y="100854"/>
                </a:lnTo>
                <a:lnTo>
                  <a:pt x="538279" y="105650"/>
                </a:lnTo>
                <a:lnTo>
                  <a:pt x="541404" y="106413"/>
                </a:lnTo>
                <a:lnTo>
                  <a:pt x="631662" y="51573"/>
                </a:lnTo>
                <a:lnTo>
                  <a:pt x="622906" y="46673"/>
                </a:lnTo>
                <a:close/>
              </a:path>
              <a:path w="631825" h="106679">
                <a:moveTo>
                  <a:pt x="602704" y="47010"/>
                </a:moveTo>
                <a:lnTo>
                  <a:pt x="0" y="57805"/>
                </a:lnTo>
                <a:lnTo>
                  <a:pt x="182" y="67964"/>
                </a:lnTo>
                <a:lnTo>
                  <a:pt x="602885" y="57169"/>
                </a:lnTo>
                <a:lnTo>
                  <a:pt x="611502" y="51933"/>
                </a:lnTo>
                <a:lnTo>
                  <a:pt x="602704" y="47010"/>
                </a:lnTo>
                <a:close/>
              </a:path>
              <a:path w="631825" h="106679">
                <a:moveTo>
                  <a:pt x="611502" y="51933"/>
                </a:moveTo>
                <a:lnTo>
                  <a:pt x="602885" y="57169"/>
                </a:lnTo>
                <a:lnTo>
                  <a:pt x="621673" y="56832"/>
                </a:lnTo>
                <a:lnTo>
                  <a:pt x="621662" y="56186"/>
                </a:lnTo>
                <a:lnTo>
                  <a:pt x="619102" y="56186"/>
                </a:lnTo>
                <a:lnTo>
                  <a:pt x="611502" y="51933"/>
                </a:lnTo>
                <a:close/>
              </a:path>
              <a:path w="631825" h="106679">
                <a:moveTo>
                  <a:pt x="618944" y="47411"/>
                </a:moveTo>
                <a:lnTo>
                  <a:pt x="611502" y="51933"/>
                </a:lnTo>
                <a:lnTo>
                  <a:pt x="619102" y="56186"/>
                </a:lnTo>
                <a:lnTo>
                  <a:pt x="618944" y="47411"/>
                </a:lnTo>
                <a:close/>
              </a:path>
              <a:path w="631825" h="106679">
                <a:moveTo>
                  <a:pt x="621505" y="47411"/>
                </a:moveTo>
                <a:lnTo>
                  <a:pt x="618944" y="47411"/>
                </a:lnTo>
                <a:lnTo>
                  <a:pt x="619102" y="56186"/>
                </a:lnTo>
                <a:lnTo>
                  <a:pt x="621662" y="56186"/>
                </a:lnTo>
                <a:lnTo>
                  <a:pt x="621505" y="47411"/>
                </a:lnTo>
                <a:close/>
              </a:path>
              <a:path w="631825" h="106679">
                <a:moveTo>
                  <a:pt x="621492" y="46673"/>
                </a:moveTo>
                <a:lnTo>
                  <a:pt x="602704" y="47010"/>
                </a:lnTo>
                <a:lnTo>
                  <a:pt x="611502" y="51933"/>
                </a:lnTo>
                <a:lnTo>
                  <a:pt x="618944" y="47411"/>
                </a:lnTo>
                <a:lnTo>
                  <a:pt x="621505" y="47411"/>
                </a:lnTo>
                <a:lnTo>
                  <a:pt x="621492" y="46673"/>
                </a:lnTo>
                <a:close/>
              </a:path>
              <a:path w="631825" h="106679">
                <a:moveTo>
                  <a:pt x="539498" y="0"/>
                </a:moveTo>
                <a:lnTo>
                  <a:pt x="536403" y="873"/>
                </a:lnTo>
                <a:lnTo>
                  <a:pt x="533662" y="5770"/>
                </a:lnTo>
                <a:lnTo>
                  <a:pt x="534537" y="8865"/>
                </a:lnTo>
                <a:lnTo>
                  <a:pt x="602704" y="47010"/>
                </a:lnTo>
                <a:lnTo>
                  <a:pt x="621492" y="46673"/>
                </a:lnTo>
                <a:lnTo>
                  <a:pt x="622906" y="46673"/>
                </a:lnTo>
                <a:lnTo>
                  <a:pt x="539498" y="0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 txBox="1"/>
          <p:nvPr/>
        </p:nvSpPr>
        <p:spPr>
          <a:xfrm>
            <a:off x="7530236" y="3436281"/>
            <a:ext cx="1055399" cy="301553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70037" rIns="0" bIns="0" rtlCol="0">
            <a:spAutoFit/>
          </a:bodyPr>
          <a:lstStyle/>
          <a:p>
            <a:pPr marL="343479" algn="ctr">
              <a:spcBef>
                <a:spcPts val="552"/>
              </a:spcBef>
            </a:pPr>
            <a:r>
              <a:rPr lang="en-US" sz="1500" dirty="0">
                <a:latin typeface="Arial MT"/>
                <a:cs typeface="Arial MT"/>
              </a:rPr>
              <a:t>Student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151616" y="3224905"/>
            <a:ext cx="1833843" cy="751914"/>
            <a:chOff x="3958898" y="3654892"/>
            <a:chExt cx="2078355" cy="852169"/>
          </a:xfrm>
        </p:grpSpPr>
        <p:sp>
          <p:nvSpPr>
            <p:cNvPr id="27" name="object 27"/>
            <p:cNvSpPr/>
            <p:nvPr/>
          </p:nvSpPr>
          <p:spPr>
            <a:xfrm>
              <a:off x="3963978" y="3659972"/>
              <a:ext cx="2068195" cy="842010"/>
            </a:xfrm>
            <a:custGeom>
              <a:avLst/>
              <a:gdLst/>
              <a:ahLst/>
              <a:cxnLst/>
              <a:rect l="l" t="t" r="r" b="b"/>
              <a:pathLst>
                <a:path w="2068195" h="842010">
                  <a:moveTo>
                    <a:pt x="0" y="420765"/>
                  </a:moveTo>
                  <a:lnTo>
                    <a:pt x="1033881" y="0"/>
                  </a:lnTo>
                  <a:lnTo>
                    <a:pt x="2067763" y="420765"/>
                  </a:lnTo>
                  <a:lnTo>
                    <a:pt x="1033881" y="841531"/>
                  </a:lnTo>
                  <a:lnTo>
                    <a:pt x="0" y="420765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4165522" y="3745360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4165522" y="3745360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494615" y="3418054"/>
            <a:ext cx="1258751" cy="424686"/>
          </a:xfrm>
          <a:prstGeom prst="rect">
            <a:avLst/>
          </a:prstGeom>
        </p:spPr>
        <p:txBody>
          <a:bodyPr vert="horz" wrap="square" lIns="0" tIns="59391" rIns="0" bIns="0" rtlCol="0">
            <a:spAutoFit/>
          </a:bodyPr>
          <a:lstStyle/>
          <a:p>
            <a:pPr marL="11206" marR="4483" indent="159692">
              <a:lnSpc>
                <a:spcPct val="78800"/>
              </a:lnSpc>
              <a:spcBef>
                <a:spcPts val="468"/>
              </a:spcBef>
            </a:pPr>
            <a:r>
              <a:rPr lang="en-US" sz="1500" spc="-4" dirty="0">
                <a:solidFill>
                  <a:srgbClr val="292934"/>
                </a:solidFill>
                <a:latin typeface="Arial MT"/>
                <a:cs typeface="Arial MT"/>
              </a:rPr>
              <a:t>Tuition Fee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5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ay</a:t>
            </a:r>
            <a:r>
              <a:rPr sz="1500" spc="9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ent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258430" y="2604046"/>
            <a:ext cx="993962" cy="435909"/>
            <a:chOff x="7479954" y="2951252"/>
            <a:chExt cx="1126490" cy="494030"/>
          </a:xfrm>
        </p:grpSpPr>
        <p:sp>
          <p:nvSpPr>
            <p:cNvPr id="32" name="object 32"/>
            <p:cNvSpPr/>
            <p:nvPr/>
          </p:nvSpPr>
          <p:spPr>
            <a:xfrm>
              <a:off x="7485034" y="2956332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70">
                  <a:moveTo>
                    <a:pt x="557888" y="0"/>
                  </a:moveTo>
                  <a:lnTo>
                    <a:pt x="492826" y="1627"/>
                  </a:lnTo>
                  <a:lnTo>
                    <a:pt x="429969" y="6387"/>
                  </a:lnTo>
                  <a:lnTo>
                    <a:pt x="369735" y="14098"/>
                  </a:lnTo>
                  <a:lnTo>
                    <a:pt x="312542" y="24580"/>
                  </a:lnTo>
                  <a:lnTo>
                    <a:pt x="258810" y="37651"/>
                  </a:lnTo>
                  <a:lnTo>
                    <a:pt x="208957" y="53129"/>
                  </a:lnTo>
                  <a:lnTo>
                    <a:pt x="163401" y="70833"/>
                  </a:lnTo>
                  <a:lnTo>
                    <a:pt x="122561" y="90581"/>
                  </a:lnTo>
                  <a:lnTo>
                    <a:pt x="86856" y="112192"/>
                  </a:lnTo>
                  <a:lnTo>
                    <a:pt x="56704" y="135484"/>
                  </a:lnTo>
                  <a:lnTo>
                    <a:pt x="14734" y="186388"/>
                  </a:lnTo>
                  <a:lnTo>
                    <a:pt x="0" y="241839"/>
                  </a:lnTo>
                  <a:lnTo>
                    <a:pt x="3753" y="270043"/>
                  </a:lnTo>
                  <a:lnTo>
                    <a:pt x="32524" y="323401"/>
                  </a:lnTo>
                  <a:lnTo>
                    <a:pt x="86856" y="371486"/>
                  </a:lnTo>
                  <a:lnTo>
                    <a:pt x="122561" y="393097"/>
                  </a:lnTo>
                  <a:lnTo>
                    <a:pt x="163401" y="412845"/>
                  </a:lnTo>
                  <a:lnTo>
                    <a:pt x="208957" y="430548"/>
                  </a:lnTo>
                  <a:lnTo>
                    <a:pt x="258810" y="446026"/>
                  </a:lnTo>
                  <a:lnTo>
                    <a:pt x="312542" y="459097"/>
                  </a:lnTo>
                  <a:lnTo>
                    <a:pt x="369735" y="469579"/>
                  </a:lnTo>
                  <a:lnTo>
                    <a:pt x="429969" y="477291"/>
                  </a:lnTo>
                  <a:lnTo>
                    <a:pt x="492826" y="482051"/>
                  </a:lnTo>
                  <a:lnTo>
                    <a:pt x="557888" y="483678"/>
                  </a:lnTo>
                  <a:lnTo>
                    <a:pt x="622949" y="482051"/>
                  </a:lnTo>
                  <a:lnTo>
                    <a:pt x="685806" y="477291"/>
                  </a:lnTo>
                  <a:lnTo>
                    <a:pt x="746040" y="469579"/>
                  </a:lnTo>
                  <a:lnTo>
                    <a:pt x="803233" y="459097"/>
                  </a:lnTo>
                  <a:lnTo>
                    <a:pt x="856965" y="446026"/>
                  </a:lnTo>
                  <a:lnTo>
                    <a:pt x="906818" y="430548"/>
                  </a:lnTo>
                  <a:lnTo>
                    <a:pt x="952374" y="412845"/>
                  </a:lnTo>
                  <a:lnTo>
                    <a:pt x="993214" y="393097"/>
                  </a:lnTo>
                  <a:lnTo>
                    <a:pt x="1028919" y="371486"/>
                  </a:lnTo>
                  <a:lnTo>
                    <a:pt x="1059071" y="348194"/>
                  </a:lnTo>
                  <a:lnTo>
                    <a:pt x="1101042" y="297290"/>
                  </a:lnTo>
                  <a:lnTo>
                    <a:pt x="1115776" y="241839"/>
                  </a:lnTo>
                  <a:lnTo>
                    <a:pt x="1112022" y="213636"/>
                  </a:lnTo>
                  <a:lnTo>
                    <a:pt x="1083252" y="160277"/>
                  </a:lnTo>
                  <a:lnTo>
                    <a:pt x="1028919" y="112192"/>
                  </a:lnTo>
                  <a:lnTo>
                    <a:pt x="993214" y="90581"/>
                  </a:lnTo>
                  <a:lnTo>
                    <a:pt x="952374" y="70833"/>
                  </a:lnTo>
                  <a:lnTo>
                    <a:pt x="906818" y="53129"/>
                  </a:lnTo>
                  <a:lnTo>
                    <a:pt x="856965" y="37651"/>
                  </a:lnTo>
                  <a:lnTo>
                    <a:pt x="803233" y="24580"/>
                  </a:lnTo>
                  <a:lnTo>
                    <a:pt x="746040" y="14098"/>
                  </a:lnTo>
                  <a:lnTo>
                    <a:pt x="685806" y="6387"/>
                  </a:lnTo>
                  <a:lnTo>
                    <a:pt x="622949" y="1627"/>
                  </a:lnTo>
                  <a:lnTo>
                    <a:pt x="55788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7485034" y="2956332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70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243249" y="2665922"/>
            <a:ext cx="104830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u="sng" dirty="0" err="1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PantherID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057558" y="3172662"/>
            <a:ext cx="993962" cy="435909"/>
            <a:chOff x="8385632" y="3595684"/>
            <a:chExt cx="1126490" cy="494030"/>
          </a:xfrm>
        </p:grpSpPr>
        <p:sp>
          <p:nvSpPr>
            <p:cNvPr id="36" name="object 36"/>
            <p:cNvSpPr/>
            <p:nvPr/>
          </p:nvSpPr>
          <p:spPr>
            <a:xfrm>
              <a:off x="8390712" y="3600764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70">
                  <a:moveTo>
                    <a:pt x="557888" y="0"/>
                  </a:moveTo>
                  <a:lnTo>
                    <a:pt x="492826" y="1627"/>
                  </a:lnTo>
                  <a:lnTo>
                    <a:pt x="429969" y="6387"/>
                  </a:lnTo>
                  <a:lnTo>
                    <a:pt x="369735" y="14098"/>
                  </a:lnTo>
                  <a:lnTo>
                    <a:pt x="312542" y="24580"/>
                  </a:lnTo>
                  <a:lnTo>
                    <a:pt x="258810" y="37651"/>
                  </a:lnTo>
                  <a:lnTo>
                    <a:pt x="208957" y="53129"/>
                  </a:lnTo>
                  <a:lnTo>
                    <a:pt x="163401" y="70832"/>
                  </a:lnTo>
                  <a:lnTo>
                    <a:pt x="122561" y="90580"/>
                  </a:lnTo>
                  <a:lnTo>
                    <a:pt x="86856" y="112191"/>
                  </a:lnTo>
                  <a:lnTo>
                    <a:pt x="56704" y="135484"/>
                  </a:lnTo>
                  <a:lnTo>
                    <a:pt x="14734" y="186387"/>
                  </a:lnTo>
                  <a:lnTo>
                    <a:pt x="0" y="241838"/>
                  </a:lnTo>
                  <a:lnTo>
                    <a:pt x="3753" y="270042"/>
                  </a:lnTo>
                  <a:lnTo>
                    <a:pt x="32524" y="323401"/>
                  </a:lnTo>
                  <a:lnTo>
                    <a:pt x="86856" y="371486"/>
                  </a:lnTo>
                  <a:lnTo>
                    <a:pt x="122561" y="393097"/>
                  </a:lnTo>
                  <a:lnTo>
                    <a:pt x="163401" y="412845"/>
                  </a:lnTo>
                  <a:lnTo>
                    <a:pt x="208957" y="430548"/>
                  </a:lnTo>
                  <a:lnTo>
                    <a:pt x="258810" y="446026"/>
                  </a:lnTo>
                  <a:lnTo>
                    <a:pt x="312542" y="459097"/>
                  </a:lnTo>
                  <a:lnTo>
                    <a:pt x="369735" y="469579"/>
                  </a:lnTo>
                  <a:lnTo>
                    <a:pt x="429969" y="477291"/>
                  </a:lnTo>
                  <a:lnTo>
                    <a:pt x="492826" y="482051"/>
                  </a:lnTo>
                  <a:lnTo>
                    <a:pt x="557888" y="483678"/>
                  </a:lnTo>
                  <a:lnTo>
                    <a:pt x="622949" y="482051"/>
                  </a:lnTo>
                  <a:lnTo>
                    <a:pt x="685806" y="477291"/>
                  </a:lnTo>
                  <a:lnTo>
                    <a:pt x="746041" y="469579"/>
                  </a:lnTo>
                  <a:lnTo>
                    <a:pt x="803233" y="459097"/>
                  </a:lnTo>
                  <a:lnTo>
                    <a:pt x="856965" y="446026"/>
                  </a:lnTo>
                  <a:lnTo>
                    <a:pt x="906819" y="430548"/>
                  </a:lnTo>
                  <a:lnTo>
                    <a:pt x="952375" y="412845"/>
                  </a:lnTo>
                  <a:lnTo>
                    <a:pt x="993215" y="393097"/>
                  </a:lnTo>
                  <a:lnTo>
                    <a:pt x="1028920" y="371486"/>
                  </a:lnTo>
                  <a:lnTo>
                    <a:pt x="1059072" y="348193"/>
                  </a:lnTo>
                  <a:lnTo>
                    <a:pt x="1101043" y="297290"/>
                  </a:lnTo>
                  <a:lnTo>
                    <a:pt x="1115777" y="241838"/>
                  </a:lnTo>
                  <a:lnTo>
                    <a:pt x="1112024" y="213635"/>
                  </a:lnTo>
                  <a:lnTo>
                    <a:pt x="1083253" y="160276"/>
                  </a:lnTo>
                  <a:lnTo>
                    <a:pt x="1028920" y="112191"/>
                  </a:lnTo>
                  <a:lnTo>
                    <a:pt x="993215" y="90580"/>
                  </a:lnTo>
                  <a:lnTo>
                    <a:pt x="952375" y="70832"/>
                  </a:lnTo>
                  <a:lnTo>
                    <a:pt x="906819" y="53129"/>
                  </a:lnTo>
                  <a:lnTo>
                    <a:pt x="856965" y="37651"/>
                  </a:lnTo>
                  <a:lnTo>
                    <a:pt x="803233" y="24580"/>
                  </a:lnTo>
                  <a:lnTo>
                    <a:pt x="746041" y="14098"/>
                  </a:lnTo>
                  <a:lnTo>
                    <a:pt x="685806" y="6387"/>
                  </a:lnTo>
                  <a:lnTo>
                    <a:pt x="622949" y="1627"/>
                  </a:lnTo>
                  <a:lnTo>
                    <a:pt x="55788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8390712" y="3600764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70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247895" y="3273013"/>
            <a:ext cx="66002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585635" y="3035304"/>
            <a:ext cx="476810" cy="555812"/>
          </a:xfrm>
          <a:custGeom>
            <a:avLst/>
            <a:gdLst/>
            <a:ahLst/>
            <a:cxnLst/>
            <a:rect l="l" t="t" r="r" b="b"/>
            <a:pathLst>
              <a:path w="540384" h="629920">
                <a:moveTo>
                  <a:pt x="0" y="629416"/>
                </a:moveTo>
                <a:lnTo>
                  <a:pt x="192136" y="0"/>
                </a:lnTo>
              </a:path>
              <a:path w="540384" h="629920">
                <a:moveTo>
                  <a:pt x="0" y="629416"/>
                </a:moveTo>
                <a:lnTo>
                  <a:pt x="539925" y="402593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40" name="object 40"/>
          <p:cNvGrpSpPr/>
          <p:nvPr/>
        </p:nvGrpSpPr>
        <p:grpSpPr>
          <a:xfrm>
            <a:off x="2797634" y="2614277"/>
            <a:ext cx="1720103" cy="435909"/>
            <a:chOff x="1291052" y="2962847"/>
            <a:chExt cx="1949450" cy="494030"/>
          </a:xfrm>
        </p:grpSpPr>
        <p:sp>
          <p:nvSpPr>
            <p:cNvPr id="41" name="object 41"/>
            <p:cNvSpPr/>
            <p:nvPr/>
          </p:nvSpPr>
          <p:spPr>
            <a:xfrm>
              <a:off x="1296132" y="2967927"/>
              <a:ext cx="1939289" cy="483870"/>
            </a:xfrm>
            <a:custGeom>
              <a:avLst/>
              <a:gdLst/>
              <a:ahLst/>
              <a:cxnLst/>
              <a:rect l="l" t="t" r="r" b="b"/>
              <a:pathLst>
                <a:path w="1939289" h="483870">
                  <a:moveTo>
                    <a:pt x="969553" y="0"/>
                  </a:moveTo>
                  <a:lnTo>
                    <a:pt x="897194" y="663"/>
                  </a:lnTo>
                  <a:lnTo>
                    <a:pt x="826279" y="2622"/>
                  </a:lnTo>
                  <a:lnTo>
                    <a:pt x="756997" y="5829"/>
                  </a:lnTo>
                  <a:lnTo>
                    <a:pt x="689533" y="10239"/>
                  </a:lnTo>
                  <a:lnTo>
                    <a:pt x="624076" y="15803"/>
                  </a:lnTo>
                  <a:lnTo>
                    <a:pt x="560814" y="22477"/>
                  </a:lnTo>
                  <a:lnTo>
                    <a:pt x="499933" y="30212"/>
                  </a:lnTo>
                  <a:lnTo>
                    <a:pt x="441621" y="38961"/>
                  </a:lnTo>
                  <a:lnTo>
                    <a:pt x="386066" y="48679"/>
                  </a:lnTo>
                  <a:lnTo>
                    <a:pt x="333455" y="59319"/>
                  </a:lnTo>
                  <a:lnTo>
                    <a:pt x="283975" y="70833"/>
                  </a:lnTo>
                  <a:lnTo>
                    <a:pt x="237814" y="83175"/>
                  </a:lnTo>
                  <a:lnTo>
                    <a:pt x="195160" y="96298"/>
                  </a:lnTo>
                  <a:lnTo>
                    <a:pt x="156200" y="110155"/>
                  </a:lnTo>
                  <a:lnTo>
                    <a:pt x="90112" y="139886"/>
                  </a:lnTo>
                  <a:lnTo>
                    <a:pt x="41049" y="171993"/>
                  </a:lnTo>
                  <a:lnTo>
                    <a:pt x="10512" y="206102"/>
                  </a:lnTo>
                  <a:lnTo>
                    <a:pt x="0" y="241839"/>
                  </a:lnTo>
                  <a:lnTo>
                    <a:pt x="2659" y="259888"/>
                  </a:lnTo>
                  <a:lnTo>
                    <a:pt x="23371" y="294858"/>
                  </a:lnTo>
                  <a:lnTo>
                    <a:pt x="63359" y="328013"/>
                  </a:lnTo>
                  <a:lnTo>
                    <a:pt x="121122" y="358979"/>
                  </a:lnTo>
                  <a:lnTo>
                    <a:pt x="195160" y="387381"/>
                  </a:lnTo>
                  <a:lnTo>
                    <a:pt x="237814" y="400504"/>
                  </a:lnTo>
                  <a:lnTo>
                    <a:pt x="283975" y="412846"/>
                  </a:lnTo>
                  <a:lnTo>
                    <a:pt x="333455" y="424360"/>
                  </a:lnTo>
                  <a:lnTo>
                    <a:pt x="386066" y="434999"/>
                  </a:lnTo>
                  <a:lnTo>
                    <a:pt x="441621" y="444717"/>
                  </a:lnTo>
                  <a:lnTo>
                    <a:pt x="499933" y="453467"/>
                  </a:lnTo>
                  <a:lnTo>
                    <a:pt x="560814" y="461202"/>
                  </a:lnTo>
                  <a:lnTo>
                    <a:pt x="624076" y="467875"/>
                  </a:lnTo>
                  <a:lnTo>
                    <a:pt x="689533" y="473440"/>
                  </a:lnTo>
                  <a:lnTo>
                    <a:pt x="756997" y="477849"/>
                  </a:lnTo>
                  <a:lnTo>
                    <a:pt x="826279" y="481057"/>
                  </a:lnTo>
                  <a:lnTo>
                    <a:pt x="897194" y="483016"/>
                  </a:lnTo>
                  <a:lnTo>
                    <a:pt x="969553" y="483679"/>
                  </a:lnTo>
                  <a:lnTo>
                    <a:pt x="1041912" y="483016"/>
                  </a:lnTo>
                  <a:lnTo>
                    <a:pt x="1112826" y="481057"/>
                  </a:lnTo>
                  <a:lnTo>
                    <a:pt x="1182109" y="477849"/>
                  </a:lnTo>
                  <a:lnTo>
                    <a:pt x="1249573" y="473440"/>
                  </a:lnTo>
                  <a:lnTo>
                    <a:pt x="1315029" y="467875"/>
                  </a:lnTo>
                  <a:lnTo>
                    <a:pt x="1378292" y="461202"/>
                  </a:lnTo>
                  <a:lnTo>
                    <a:pt x="1439173" y="453467"/>
                  </a:lnTo>
                  <a:lnTo>
                    <a:pt x="1497485" y="444717"/>
                  </a:lnTo>
                  <a:lnTo>
                    <a:pt x="1553040" y="434999"/>
                  </a:lnTo>
                  <a:lnTo>
                    <a:pt x="1605651" y="424360"/>
                  </a:lnTo>
                  <a:lnTo>
                    <a:pt x="1655131" y="412846"/>
                  </a:lnTo>
                  <a:lnTo>
                    <a:pt x="1701291" y="400504"/>
                  </a:lnTo>
                  <a:lnTo>
                    <a:pt x="1743945" y="387381"/>
                  </a:lnTo>
                  <a:lnTo>
                    <a:pt x="1782905" y="373524"/>
                  </a:lnTo>
                  <a:lnTo>
                    <a:pt x="1848994" y="343793"/>
                  </a:lnTo>
                  <a:lnTo>
                    <a:pt x="1898057" y="311686"/>
                  </a:lnTo>
                  <a:lnTo>
                    <a:pt x="1928594" y="277577"/>
                  </a:lnTo>
                  <a:lnTo>
                    <a:pt x="1939107" y="241839"/>
                  </a:lnTo>
                  <a:lnTo>
                    <a:pt x="1936447" y="223790"/>
                  </a:lnTo>
                  <a:lnTo>
                    <a:pt x="1915735" y="188820"/>
                  </a:lnTo>
                  <a:lnTo>
                    <a:pt x="1875747" y="155665"/>
                  </a:lnTo>
                  <a:lnTo>
                    <a:pt x="1817984" y="124700"/>
                  </a:lnTo>
                  <a:lnTo>
                    <a:pt x="1743945" y="96298"/>
                  </a:lnTo>
                  <a:lnTo>
                    <a:pt x="1701291" y="83175"/>
                  </a:lnTo>
                  <a:lnTo>
                    <a:pt x="1655131" y="70833"/>
                  </a:lnTo>
                  <a:lnTo>
                    <a:pt x="1605651" y="59319"/>
                  </a:lnTo>
                  <a:lnTo>
                    <a:pt x="1553040" y="48679"/>
                  </a:lnTo>
                  <a:lnTo>
                    <a:pt x="1497485" y="38961"/>
                  </a:lnTo>
                  <a:lnTo>
                    <a:pt x="1439173" y="30212"/>
                  </a:lnTo>
                  <a:lnTo>
                    <a:pt x="1378292" y="22477"/>
                  </a:lnTo>
                  <a:lnTo>
                    <a:pt x="1315029" y="15803"/>
                  </a:lnTo>
                  <a:lnTo>
                    <a:pt x="1249573" y="10239"/>
                  </a:lnTo>
                  <a:lnTo>
                    <a:pt x="1182109" y="5829"/>
                  </a:lnTo>
                  <a:lnTo>
                    <a:pt x="1112826" y="2622"/>
                  </a:lnTo>
                  <a:lnTo>
                    <a:pt x="1041912" y="663"/>
                  </a:lnTo>
                  <a:lnTo>
                    <a:pt x="9695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1296132" y="2967927"/>
              <a:ext cx="1939289" cy="483870"/>
            </a:xfrm>
            <a:custGeom>
              <a:avLst/>
              <a:gdLst/>
              <a:ahLst/>
              <a:cxnLst/>
              <a:rect l="l" t="t" r="r" b="b"/>
              <a:pathLst>
                <a:path w="1939289" h="483870">
                  <a:moveTo>
                    <a:pt x="0" y="241839"/>
                  </a:moveTo>
                  <a:lnTo>
                    <a:pt x="23371" y="188820"/>
                  </a:lnTo>
                  <a:lnTo>
                    <a:pt x="63359" y="155665"/>
                  </a:lnTo>
                  <a:lnTo>
                    <a:pt x="121122" y="124700"/>
                  </a:lnTo>
                  <a:lnTo>
                    <a:pt x="195161" y="96297"/>
                  </a:lnTo>
                  <a:lnTo>
                    <a:pt x="237815" y="83175"/>
                  </a:lnTo>
                  <a:lnTo>
                    <a:pt x="283975" y="70833"/>
                  </a:lnTo>
                  <a:lnTo>
                    <a:pt x="333455" y="59319"/>
                  </a:lnTo>
                  <a:lnTo>
                    <a:pt x="386066" y="48679"/>
                  </a:lnTo>
                  <a:lnTo>
                    <a:pt x="441621" y="38961"/>
                  </a:lnTo>
                  <a:lnTo>
                    <a:pt x="499933" y="30212"/>
                  </a:lnTo>
                  <a:lnTo>
                    <a:pt x="560814" y="22477"/>
                  </a:lnTo>
                  <a:lnTo>
                    <a:pt x="624076" y="15803"/>
                  </a:lnTo>
                  <a:lnTo>
                    <a:pt x="689533" y="10239"/>
                  </a:lnTo>
                  <a:lnTo>
                    <a:pt x="756997" y="5829"/>
                  </a:lnTo>
                  <a:lnTo>
                    <a:pt x="826280" y="2622"/>
                  </a:lnTo>
                  <a:lnTo>
                    <a:pt x="897194" y="663"/>
                  </a:lnTo>
                  <a:lnTo>
                    <a:pt x="969553" y="0"/>
                  </a:lnTo>
                  <a:lnTo>
                    <a:pt x="1041912" y="663"/>
                  </a:lnTo>
                  <a:lnTo>
                    <a:pt x="1112827" y="2622"/>
                  </a:lnTo>
                  <a:lnTo>
                    <a:pt x="1182109" y="5829"/>
                  </a:lnTo>
                  <a:lnTo>
                    <a:pt x="1249573" y="10239"/>
                  </a:lnTo>
                  <a:lnTo>
                    <a:pt x="1315030" y="15803"/>
                  </a:lnTo>
                  <a:lnTo>
                    <a:pt x="1378292" y="22477"/>
                  </a:lnTo>
                  <a:lnTo>
                    <a:pt x="1439173" y="30212"/>
                  </a:lnTo>
                  <a:lnTo>
                    <a:pt x="1497485" y="38961"/>
                  </a:lnTo>
                  <a:lnTo>
                    <a:pt x="1553040" y="48679"/>
                  </a:lnTo>
                  <a:lnTo>
                    <a:pt x="1605651" y="59319"/>
                  </a:lnTo>
                  <a:lnTo>
                    <a:pt x="1655131" y="70833"/>
                  </a:lnTo>
                  <a:lnTo>
                    <a:pt x="1701291" y="83175"/>
                  </a:lnTo>
                  <a:lnTo>
                    <a:pt x="1743945" y="96297"/>
                  </a:lnTo>
                  <a:lnTo>
                    <a:pt x="1782906" y="110155"/>
                  </a:lnTo>
                  <a:lnTo>
                    <a:pt x="1848994" y="139886"/>
                  </a:lnTo>
                  <a:lnTo>
                    <a:pt x="1898057" y="171993"/>
                  </a:lnTo>
                  <a:lnTo>
                    <a:pt x="1928594" y="206102"/>
                  </a:lnTo>
                  <a:lnTo>
                    <a:pt x="1939107" y="241839"/>
                  </a:lnTo>
                  <a:lnTo>
                    <a:pt x="1936447" y="259888"/>
                  </a:lnTo>
                  <a:lnTo>
                    <a:pt x="1915735" y="294858"/>
                  </a:lnTo>
                  <a:lnTo>
                    <a:pt x="1875747" y="328013"/>
                  </a:lnTo>
                  <a:lnTo>
                    <a:pt x="1817984" y="358978"/>
                  </a:lnTo>
                  <a:lnTo>
                    <a:pt x="1743945" y="387380"/>
                  </a:lnTo>
                  <a:lnTo>
                    <a:pt x="1701291" y="400503"/>
                  </a:lnTo>
                  <a:lnTo>
                    <a:pt x="1655131" y="412845"/>
                  </a:lnTo>
                  <a:lnTo>
                    <a:pt x="1605651" y="424359"/>
                  </a:lnTo>
                  <a:lnTo>
                    <a:pt x="1553040" y="434999"/>
                  </a:lnTo>
                  <a:lnTo>
                    <a:pt x="1497485" y="444717"/>
                  </a:lnTo>
                  <a:lnTo>
                    <a:pt x="1439173" y="453466"/>
                  </a:lnTo>
                  <a:lnTo>
                    <a:pt x="1378292" y="461201"/>
                  </a:lnTo>
                  <a:lnTo>
                    <a:pt x="1315030" y="467874"/>
                  </a:lnTo>
                  <a:lnTo>
                    <a:pt x="1249573" y="473439"/>
                  </a:lnTo>
                  <a:lnTo>
                    <a:pt x="1182109" y="477849"/>
                  </a:lnTo>
                  <a:lnTo>
                    <a:pt x="1112827" y="481056"/>
                  </a:lnTo>
                  <a:lnTo>
                    <a:pt x="1041912" y="483015"/>
                  </a:lnTo>
                  <a:lnTo>
                    <a:pt x="969553" y="483678"/>
                  </a:lnTo>
                  <a:lnTo>
                    <a:pt x="897194" y="483015"/>
                  </a:lnTo>
                  <a:lnTo>
                    <a:pt x="826280" y="481056"/>
                  </a:lnTo>
                  <a:lnTo>
                    <a:pt x="756997" y="477849"/>
                  </a:lnTo>
                  <a:lnTo>
                    <a:pt x="689533" y="473439"/>
                  </a:lnTo>
                  <a:lnTo>
                    <a:pt x="624076" y="467874"/>
                  </a:lnTo>
                  <a:lnTo>
                    <a:pt x="560814" y="461201"/>
                  </a:lnTo>
                  <a:lnTo>
                    <a:pt x="499933" y="453466"/>
                  </a:lnTo>
                  <a:lnTo>
                    <a:pt x="441621" y="444717"/>
                  </a:lnTo>
                  <a:lnTo>
                    <a:pt x="386066" y="434999"/>
                  </a:lnTo>
                  <a:lnTo>
                    <a:pt x="333455" y="424359"/>
                  </a:lnTo>
                  <a:lnTo>
                    <a:pt x="283975" y="412845"/>
                  </a:lnTo>
                  <a:lnTo>
                    <a:pt x="237815" y="400503"/>
                  </a:lnTo>
                  <a:lnTo>
                    <a:pt x="195161" y="387380"/>
                  </a:lnTo>
                  <a:lnTo>
                    <a:pt x="156201" y="373523"/>
                  </a:lnTo>
                  <a:lnTo>
                    <a:pt x="90112" y="343792"/>
                  </a:lnTo>
                  <a:lnTo>
                    <a:pt x="41049" y="311685"/>
                  </a:lnTo>
                  <a:lnTo>
                    <a:pt x="10512" y="277576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900997" y="2686722"/>
            <a:ext cx="150999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500" u="heavy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ayment_numbe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177786" y="3599190"/>
            <a:ext cx="1720103" cy="931769"/>
            <a:chOff x="588557" y="4079081"/>
            <a:chExt cx="1949450" cy="1056005"/>
          </a:xfrm>
        </p:grpSpPr>
        <p:sp>
          <p:nvSpPr>
            <p:cNvPr id="45" name="object 45"/>
            <p:cNvSpPr/>
            <p:nvPr/>
          </p:nvSpPr>
          <p:spPr>
            <a:xfrm>
              <a:off x="1523629" y="4084161"/>
              <a:ext cx="494030" cy="54610"/>
            </a:xfrm>
            <a:custGeom>
              <a:avLst/>
              <a:gdLst/>
              <a:ahLst/>
              <a:cxnLst/>
              <a:rect l="l" t="t" r="r" b="b"/>
              <a:pathLst>
                <a:path w="494030" h="54610">
                  <a:moveTo>
                    <a:pt x="493809" y="0"/>
                  </a:moveTo>
                  <a:lnTo>
                    <a:pt x="0" y="54513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593637" y="4645771"/>
              <a:ext cx="1939289" cy="483870"/>
            </a:xfrm>
            <a:custGeom>
              <a:avLst/>
              <a:gdLst/>
              <a:ahLst/>
              <a:cxnLst/>
              <a:rect l="l" t="t" r="r" b="b"/>
              <a:pathLst>
                <a:path w="1939289" h="483870">
                  <a:moveTo>
                    <a:pt x="969553" y="0"/>
                  </a:moveTo>
                  <a:lnTo>
                    <a:pt x="897194" y="663"/>
                  </a:lnTo>
                  <a:lnTo>
                    <a:pt x="826280" y="2622"/>
                  </a:lnTo>
                  <a:lnTo>
                    <a:pt x="756997" y="5829"/>
                  </a:lnTo>
                  <a:lnTo>
                    <a:pt x="689533" y="10239"/>
                  </a:lnTo>
                  <a:lnTo>
                    <a:pt x="624076" y="15803"/>
                  </a:lnTo>
                  <a:lnTo>
                    <a:pt x="560814" y="22477"/>
                  </a:lnTo>
                  <a:lnTo>
                    <a:pt x="499933" y="30211"/>
                  </a:lnTo>
                  <a:lnTo>
                    <a:pt x="441621" y="38961"/>
                  </a:lnTo>
                  <a:lnTo>
                    <a:pt x="386066" y="48679"/>
                  </a:lnTo>
                  <a:lnTo>
                    <a:pt x="333455" y="59319"/>
                  </a:lnTo>
                  <a:lnTo>
                    <a:pt x="283975" y="70832"/>
                  </a:lnTo>
                  <a:lnTo>
                    <a:pt x="237815" y="83174"/>
                  </a:lnTo>
                  <a:lnTo>
                    <a:pt x="195161" y="96297"/>
                  </a:lnTo>
                  <a:lnTo>
                    <a:pt x="156201" y="110155"/>
                  </a:lnTo>
                  <a:lnTo>
                    <a:pt x="90112" y="139885"/>
                  </a:lnTo>
                  <a:lnTo>
                    <a:pt x="41049" y="171992"/>
                  </a:lnTo>
                  <a:lnTo>
                    <a:pt x="10512" y="206101"/>
                  </a:lnTo>
                  <a:lnTo>
                    <a:pt x="0" y="241838"/>
                  </a:lnTo>
                  <a:lnTo>
                    <a:pt x="2659" y="259887"/>
                  </a:lnTo>
                  <a:lnTo>
                    <a:pt x="23371" y="294857"/>
                  </a:lnTo>
                  <a:lnTo>
                    <a:pt x="63359" y="328012"/>
                  </a:lnTo>
                  <a:lnTo>
                    <a:pt x="121122" y="358977"/>
                  </a:lnTo>
                  <a:lnTo>
                    <a:pt x="195161" y="387380"/>
                  </a:lnTo>
                  <a:lnTo>
                    <a:pt x="237815" y="400503"/>
                  </a:lnTo>
                  <a:lnTo>
                    <a:pt x="283975" y="412845"/>
                  </a:lnTo>
                  <a:lnTo>
                    <a:pt x="333455" y="424359"/>
                  </a:lnTo>
                  <a:lnTo>
                    <a:pt x="386066" y="434998"/>
                  </a:lnTo>
                  <a:lnTo>
                    <a:pt x="441621" y="444716"/>
                  </a:lnTo>
                  <a:lnTo>
                    <a:pt x="499933" y="453466"/>
                  </a:lnTo>
                  <a:lnTo>
                    <a:pt x="560814" y="461201"/>
                  </a:lnTo>
                  <a:lnTo>
                    <a:pt x="624076" y="467874"/>
                  </a:lnTo>
                  <a:lnTo>
                    <a:pt x="689533" y="473438"/>
                  </a:lnTo>
                  <a:lnTo>
                    <a:pt x="756997" y="477848"/>
                  </a:lnTo>
                  <a:lnTo>
                    <a:pt x="826280" y="481056"/>
                  </a:lnTo>
                  <a:lnTo>
                    <a:pt x="897194" y="483014"/>
                  </a:lnTo>
                  <a:lnTo>
                    <a:pt x="969553" y="483678"/>
                  </a:lnTo>
                  <a:lnTo>
                    <a:pt x="1041912" y="483014"/>
                  </a:lnTo>
                  <a:lnTo>
                    <a:pt x="1112827" y="481056"/>
                  </a:lnTo>
                  <a:lnTo>
                    <a:pt x="1182110" y="477848"/>
                  </a:lnTo>
                  <a:lnTo>
                    <a:pt x="1249573" y="473438"/>
                  </a:lnTo>
                  <a:lnTo>
                    <a:pt x="1315030" y="467874"/>
                  </a:lnTo>
                  <a:lnTo>
                    <a:pt x="1378293" y="461201"/>
                  </a:lnTo>
                  <a:lnTo>
                    <a:pt x="1439174" y="453466"/>
                  </a:lnTo>
                  <a:lnTo>
                    <a:pt x="1497485" y="444716"/>
                  </a:lnTo>
                  <a:lnTo>
                    <a:pt x="1553041" y="434998"/>
                  </a:lnTo>
                  <a:lnTo>
                    <a:pt x="1605652" y="424359"/>
                  </a:lnTo>
                  <a:lnTo>
                    <a:pt x="1655131" y="412845"/>
                  </a:lnTo>
                  <a:lnTo>
                    <a:pt x="1701292" y="400503"/>
                  </a:lnTo>
                  <a:lnTo>
                    <a:pt x="1743946" y="387380"/>
                  </a:lnTo>
                  <a:lnTo>
                    <a:pt x="1782906" y="373522"/>
                  </a:lnTo>
                  <a:lnTo>
                    <a:pt x="1848994" y="343792"/>
                  </a:lnTo>
                  <a:lnTo>
                    <a:pt x="1898057" y="311685"/>
                  </a:lnTo>
                  <a:lnTo>
                    <a:pt x="1928594" y="277575"/>
                  </a:lnTo>
                  <a:lnTo>
                    <a:pt x="1939107" y="241838"/>
                  </a:lnTo>
                  <a:lnTo>
                    <a:pt x="1936447" y="223789"/>
                  </a:lnTo>
                  <a:lnTo>
                    <a:pt x="1915735" y="188820"/>
                  </a:lnTo>
                  <a:lnTo>
                    <a:pt x="1875747" y="155665"/>
                  </a:lnTo>
                  <a:lnTo>
                    <a:pt x="1817984" y="124699"/>
                  </a:lnTo>
                  <a:lnTo>
                    <a:pt x="1743946" y="96297"/>
                  </a:lnTo>
                  <a:lnTo>
                    <a:pt x="1701292" y="83174"/>
                  </a:lnTo>
                  <a:lnTo>
                    <a:pt x="1655131" y="70832"/>
                  </a:lnTo>
                  <a:lnTo>
                    <a:pt x="1605652" y="59319"/>
                  </a:lnTo>
                  <a:lnTo>
                    <a:pt x="1553041" y="48679"/>
                  </a:lnTo>
                  <a:lnTo>
                    <a:pt x="1497485" y="38961"/>
                  </a:lnTo>
                  <a:lnTo>
                    <a:pt x="1439174" y="30211"/>
                  </a:lnTo>
                  <a:lnTo>
                    <a:pt x="1378293" y="22477"/>
                  </a:lnTo>
                  <a:lnTo>
                    <a:pt x="1315030" y="15803"/>
                  </a:lnTo>
                  <a:lnTo>
                    <a:pt x="1249573" y="10239"/>
                  </a:lnTo>
                  <a:lnTo>
                    <a:pt x="1182110" y="5829"/>
                  </a:lnTo>
                  <a:lnTo>
                    <a:pt x="1112827" y="2622"/>
                  </a:lnTo>
                  <a:lnTo>
                    <a:pt x="1041912" y="663"/>
                  </a:lnTo>
                  <a:lnTo>
                    <a:pt x="9695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593637" y="4645771"/>
              <a:ext cx="1939289" cy="483870"/>
            </a:xfrm>
            <a:custGeom>
              <a:avLst/>
              <a:gdLst/>
              <a:ahLst/>
              <a:cxnLst/>
              <a:rect l="l" t="t" r="r" b="b"/>
              <a:pathLst>
                <a:path w="1939289" h="483870">
                  <a:moveTo>
                    <a:pt x="0" y="241839"/>
                  </a:moveTo>
                  <a:lnTo>
                    <a:pt x="23371" y="188820"/>
                  </a:lnTo>
                  <a:lnTo>
                    <a:pt x="63359" y="155665"/>
                  </a:lnTo>
                  <a:lnTo>
                    <a:pt x="121122" y="124700"/>
                  </a:lnTo>
                  <a:lnTo>
                    <a:pt x="195161" y="96297"/>
                  </a:lnTo>
                  <a:lnTo>
                    <a:pt x="237815" y="83175"/>
                  </a:lnTo>
                  <a:lnTo>
                    <a:pt x="283975" y="70833"/>
                  </a:lnTo>
                  <a:lnTo>
                    <a:pt x="333455" y="59319"/>
                  </a:lnTo>
                  <a:lnTo>
                    <a:pt x="386066" y="48679"/>
                  </a:lnTo>
                  <a:lnTo>
                    <a:pt x="441621" y="38961"/>
                  </a:lnTo>
                  <a:lnTo>
                    <a:pt x="499933" y="30212"/>
                  </a:lnTo>
                  <a:lnTo>
                    <a:pt x="560814" y="22477"/>
                  </a:lnTo>
                  <a:lnTo>
                    <a:pt x="624076" y="15803"/>
                  </a:lnTo>
                  <a:lnTo>
                    <a:pt x="689533" y="10239"/>
                  </a:lnTo>
                  <a:lnTo>
                    <a:pt x="756997" y="5829"/>
                  </a:lnTo>
                  <a:lnTo>
                    <a:pt x="826280" y="2622"/>
                  </a:lnTo>
                  <a:lnTo>
                    <a:pt x="897194" y="663"/>
                  </a:lnTo>
                  <a:lnTo>
                    <a:pt x="969553" y="0"/>
                  </a:lnTo>
                  <a:lnTo>
                    <a:pt x="1041912" y="663"/>
                  </a:lnTo>
                  <a:lnTo>
                    <a:pt x="1112827" y="2622"/>
                  </a:lnTo>
                  <a:lnTo>
                    <a:pt x="1182109" y="5829"/>
                  </a:lnTo>
                  <a:lnTo>
                    <a:pt x="1249573" y="10239"/>
                  </a:lnTo>
                  <a:lnTo>
                    <a:pt x="1315030" y="15803"/>
                  </a:lnTo>
                  <a:lnTo>
                    <a:pt x="1378292" y="22477"/>
                  </a:lnTo>
                  <a:lnTo>
                    <a:pt x="1439173" y="30212"/>
                  </a:lnTo>
                  <a:lnTo>
                    <a:pt x="1497485" y="38961"/>
                  </a:lnTo>
                  <a:lnTo>
                    <a:pt x="1553040" y="48679"/>
                  </a:lnTo>
                  <a:lnTo>
                    <a:pt x="1605651" y="59319"/>
                  </a:lnTo>
                  <a:lnTo>
                    <a:pt x="1655131" y="70833"/>
                  </a:lnTo>
                  <a:lnTo>
                    <a:pt x="1701291" y="83175"/>
                  </a:lnTo>
                  <a:lnTo>
                    <a:pt x="1743945" y="96297"/>
                  </a:lnTo>
                  <a:lnTo>
                    <a:pt x="1782906" y="110155"/>
                  </a:lnTo>
                  <a:lnTo>
                    <a:pt x="1848994" y="139886"/>
                  </a:lnTo>
                  <a:lnTo>
                    <a:pt x="1898057" y="171993"/>
                  </a:lnTo>
                  <a:lnTo>
                    <a:pt x="1928594" y="206102"/>
                  </a:lnTo>
                  <a:lnTo>
                    <a:pt x="1939107" y="241839"/>
                  </a:lnTo>
                  <a:lnTo>
                    <a:pt x="1936447" y="259888"/>
                  </a:lnTo>
                  <a:lnTo>
                    <a:pt x="1915735" y="294858"/>
                  </a:lnTo>
                  <a:lnTo>
                    <a:pt x="1875747" y="328013"/>
                  </a:lnTo>
                  <a:lnTo>
                    <a:pt x="1817984" y="358978"/>
                  </a:lnTo>
                  <a:lnTo>
                    <a:pt x="1743945" y="387380"/>
                  </a:lnTo>
                  <a:lnTo>
                    <a:pt x="1701291" y="400503"/>
                  </a:lnTo>
                  <a:lnTo>
                    <a:pt x="1655131" y="412845"/>
                  </a:lnTo>
                  <a:lnTo>
                    <a:pt x="1605651" y="424359"/>
                  </a:lnTo>
                  <a:lnTo>
                    <a:pt x="1553040" y="434999"/>
                  </a:lnTo>
                  <a:lnTo>
                    <a:pt x="1497485" y="444717"/>
                  </a:lnTo>
                  <a:lnTo>
                    <a:pt x="1439173" y="453466"/>
                  </a:lnTo>
                  <a:lnTo>
                    <a:pt x="1378292" y="461201"/>
                  </a:lnTo>
                  <a:lnTo>
                    <a:pt x="1315030" y="467874"/>
                  </a:lnTo>
                  <a:lnTo>
                    <a:pt x="1249573" y="473439"/>
                  </a:lnTo>
                  <a:lnTo>
                    <a:pt x="1182109" y="477849"/>
                  </a:lnTo>
                  <a:lnTo>
                    <a:pt x="1112827" y="481056"/>
                  </a:lnTo>
                  <a:lnTo>
                    <a:pt x="1041912" y="483015"/>
                  </a:lnTo>
                  <a:lnTo>
                    <a:pt x="969553" y="483678"/>
                  </a:lnTo>
                  <a:lnTo>
                    <a:pt x="897194" y="483015"/>
                  </a:lnTo>
                  <a:lnTo>
                    <a:pt x="826280" y="481056"/>
                  </a:lnTo>
                  <a:lnTo>
                    <a:pt x="756997" y="477849"/>
                  </a:lnTo>
                  <a:lnTo>
                    <a:pt x="689533" y="473439"/>
                  </a:lnTo>
                  <a:lnTo>
                    <a:pt x="624076" y="467874"/>
                  </a:lnTo>
                  <a:lnTo>
                    <a:pt x="560814" y="461201"/>
                  </a:lnTo>
                  <a:lnTo>
                    <a:pt x="499933" y="453466"/>
                  </a:lnTo>
                  <a:lnTo>
                    <a:pt x="441621" y="444717"/>
                  </a:lnTo>
                  <a:lnTo>
                    <a:pt x="386066" y="434999"/>
                  </a:lnTo>
                  <a:lnTo>
                    <a:pt x="333455" y="424359"/>
                  </a:lnTo>
                  <a:lnTo>
                    <a:pt x="283975" y="412845"/>
                  </a:lnTo>
                  <a:lnTo>
                    <a:pt x="237815" y="400503"/>
                  </a:lnTo>
                  <a:lnTo>
                    <a:pt x="195161" y="387380"/>
                  </a:lnTo>
                  <a:lnTo>
                    <a:pt x="156201" y="373523"/>
                  </a:lnTo>
                  <a:lnTo>
                    <a:pt x="90112" y="343792"/>
                  </a:lnTo>
                  <a:lnTo>
                    <a:pt x="41049" y="311685"/>
                  </a:lnTo>
                  <a:lnTo>
                    <a:pt x="10512" y="277576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286377" y="4165899"/>
            <a:ext cx="149934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payment_amount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157291" y="3433901"/>
            <a:ext cx="850526" cy="435909"/>
            <a:chOff x="565329" y="3891755"/>
            <a:chExt cx="963930" cy="494030"/>
          </a:xfrm>
        </p:grpSpPr>
        <p:sp>
          <p:nvSpPr>
            <p:cNvPr id="50" name="object 50"/>
            <p:cNvSpPr/>
            <p:nvPr/>
          </p:nvSpPr>
          <p:spPr>
            <a:xfrm>
              <a:off x="570409" y="3896835"/>
              <a:ext cx="953769" cy="483870"/>
            </a:xfrm>
            <a:custGeom>
              <a:avLst/>
              <a:gdLst/>
              <a:ahLst/>
              <a:cxnLst/>
              <a:rect l="l" t="t" r="r" b="b"/>
              <a:pathLst>
                <a:path w="953769" h="483870">
                  <a:moveTo>
                    <a:pt x="476609" y="0"/>
                  </a:moveTo>
                  <a:lnTo>
                    <a:pt x="416824" y="1884"/>
                  </a:lnTo>
                  <a:lnTo>
                    <a:pt x="359255" y="7385"/>
                  </a:lnTo>
                  <a:lnTo>
                    <a:pt x="304349" y="16278"/>
                  </a:lnTo>
                  <a:lnTo>
                    <a:pt x="252553" y="28335"/>
                  </a:lnTo>
                  <a:lnTo>
                    <a:pt x="204312" y="43329"/>
                  </a:lnTo>
                  <a:lnTo>
                    <a:pt x="160074" y="61034"/>
                  </a:lnTo>
                  <a:lnTo>
                    <a:pt x="120285" y="81224"/>
                  </a:lnTo>
                  <a:lnTo>
                    <a:pt x="85392" y="103671"/>
                  </a:lnTo>
                  <a:lnTo>
                    <a:pt x="55842" y="128149"/>
                  </a:lnTo>
                  <a:lnTo>
                    <a:pt x="14556" y="182291"/>
                  </a:lnTo>
                  <a:lnTo>
                    <a:pt x="0" y="241838"/>
                  </a:lnTo>
                  <a:lnTo>
                    <a:pt x="3713" y="272174"/>
                  </a:lnTo>
                  <a:lnTo>
                    <a:pt x="32081" y="329246"/>
                  </a:lnTo>
                  <a:lnTo>
                    <a:pt x="85392" y="380006"/>
                  </a:lnTo>
                  <a:lnTo>
                    <a:pt x="120285" y="402453"/>
                  </a:lnTo>
                  <a:lnTo>
                    <a:pt x="160074" y="422643"/>
                  </a:lnTo>
                  <a:lnTo>
                    <a:pt x="204312" y="440348"/>
                  </a:lnTo>
                  <a:lnTo>
                    <a:pt x="252553" y="455342"/>
                  </a:lnTo>
                  <a:lnTo>
                    <a:pt x="304349" y="467399"/>
                  </a:lnTo>
                  <a:lnTo>
                    <a:pt x="359255" y="476292"/>
                  </a:lnTo>
                  <a:lnTo>
                    <a:pt x="416824" y="481793"/>
                  </a:lnTo>
                  <a:lnTo>
                    <a:pt x="476609" y="483678"/>
                  </a:lnTo>
                  <a:lnTo>
                    <a:pt x="536394" y="481793"/>
                  </a:lnTo>
                  <a:lnTo>
                    <a:pt x="593963" y="476292"/>
                  </a:lnTo>
                  <a:lnTo>
                    <a:pt x="648869" y="467399"/>
                  </a:lnTo>
                  <a:lnTo>
                    <a:pt x="700666" y="455342"/>
                  </a:lnTo>
                  <a:lnTo>
                    <a:pt x="748907" y="440348"/>
                  </a:lnTo>
                  <a:lnTo>
                    <a:pt x="793145" y="422643"/>
                  </a:lnTo>
                  <a:lnTo>
                    <a:pt x="832934" y="402453"/>
                  </a:lnTo>
                  <a:lnTo>
                    <a:pt x="867827" y="380006"/>
                  </a:lnTo>
                  <a:lnTo>
                    <a:pt x="897377" y="355528"/>
                  </a:lnTo>
                  <a:lnTo>
                    <a:pt x="938663" y="301385"/>
                  </a:lnTo>
                  <a:lnTo>
                    <a:pt x="953219" y="241838"/>
                  </a:lnTo>
                  <a:lnTo>
                    <a:pt x="949506" y="211502"/>
                  </a:lnTo>
                  <a:lnTo>
                    <a:pt x="921138" y="154431"/>
                  </a:lnTo>
                  <a:lnTo>
                    <a:pt x="867827" y="103671"/>
                  </a:lnTo>
                  <a:lnTo>
                    <a:pt x="832934" y="81224"/>
                  </a:lnTo>
                  <a:lnTo>
                    <a:pt x="793145" y="61034"/>
                  </a:lnTo>
                  <a:lnTo>
                    <a:pt x="748907" y="43329"/>
                  </a:lnTo>
                  <a:lnTo>
                    <a:pt x="700666" y="28335"/>
                  </a:lnTo>
                  <a:lnTo>
                    <a:pt x="648869" y="16278"/>
                  </a:lnTo>
                  <a:lnTo>
                    <a:pt x="593963" y="7385"/>
                  </a:lnTo>
                  <a:lnTo>
                    <a:pt x="536394" y="1884"/>
                  </a:lnTo>
                  <a:lnTo>
                    <a:pt x="4766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570409" y="3896835"/>
              <a:ext cx="953769" cy="483870"/>
            </a:xfrm>
            <a:custGeom>
              <a:avLst/>
              <a:gdLst/>
              <a:ahLst/>
              <a:cxnLst/>
              <a:rect l="l" t="t" r="r" b="b"/>
              <a:pathLst>
                <a:path w="953769" h="483870">
                  <a:moveTo>
                    <a:pt x="0" y="241839"/>
                  </a:moveTo>
                  <a:lnTo>
                    <a:pt x="14556" y="182292"/>
                  </a:lnTo>
                  <a:lnTo>
                    <a:pt x="55842" y="128149"/>
                  </a:lnTo>
                  <a:lnTo>
                    <a:pt x="85392" y="103671"/>
                  </a:lnTo>
                  <a:lnTo>
                    <a:pt x="120285" y="81224"/>
                  </a:lnTo>
                  <a:lnTo>
                    <a:pt x="160074" y="61034"/>
                  </a:lnTo>
                  <a:lnTo>
                    <a:pt x="204312" y="43329"/>
                  </a:lnTo>
                  <a:lnTo>
                    <a:pt x="252553" y="28335"/>
                  </a:lnTo>
                  <a:lnTo>
                    <a:pt x="304349" y="16278"/>
                  </a:lnTo>
                  <a:lnTo>
                    <a:pt x="359255" y="7385"/>
                  </a:lnTo>
                  <a:lnTo>
                    <a:pt x="416824" y="1884"/>
                  </a:lnTo>
                  <a:lnTo>
                    <a:pt x="476609" y="0"/>
                  </a:lnTo>
                  <a:lnTo>
                    <a:pt x="536394" y="1884"/>
                  </a:lnTo>
                  <a:lnTo>
                    <a:pt x="593963" y="7385"/>
                  </a:lnTo>
                  <a:lnTo>
                    <a:pt x="648869" y="16278"/>
                  </a:lnTo>
                  <a:lnTo>
                    <a:pt x="700666" y="28335"/>
                  </a:lnTo>
                  <a:lnTo>
                    <a:pt x="748906" y="43329"/>
                  </a:lnTo>
                  <a:lnTo>
                    <a:pt x="793144" y="61034"/>
                  </a:lnTo>
                  <a:lnTo>
                    <a:pt x="832933" y="81224"/>
                  </a:lnTo>
                  <a:lnTo>
                    <a:pt x="867826" y="103671"/>
                  </a:lnTo>
                  <a:lnTo>
                    <a:pt x="897376" y="128149"/>
                  </a:lnTo>
                  <a:lnTo>
                    <a:pt x="938663" y="182292"/>
                  </a:lnTo>
                  <a:lnTo>
                    <a:pt x="953219" y="241839"/>
                  </a:lnTo>
                  <a:lnTo>
                    <a:pt x="949505" y="272175"/>
                  </a:lnTo>
                  <a:lnTo>
                    <a:pt x="921137" y="329246"/>
                  </a:lnTo>
                  <a:lnTo>
                    <a:pt x="867826" y="380007"/>
                  </a:lnTo>
                  <a:lnTo>
                    <a:pt x="832933" y="402454"/>
                  </a:lnTo>
                  <a:lnTo>
                    <a:pt x="793144" y="422644"/>
                  </a:lnTo>
                  <a:lnTo>
                    <a:pt x="748906" y="440349"/>
                  </a:lnTo>
                  <a:lnTo>
                    <a:pt x="700666" y="455343"/>
                  </a:lnTo>
                  <a:lnTo>
                    <a:pt x="648869" y="467400"/>
                  </a:lnTo>
                  <a:lnTo>
                    <a:pt x="593963" y="476292"/>
                  </a:lnTo>
                  <a:lnTo>
                    <a:pt x="536394" y="481794"/>
                  </a:lnTo>
                  <a:lnTo>
                    <a:pt x="476609" y="483678"/>
                  </a:lnTo>
                  <a:lnTo>
                    <a:pt x="416824" y="481794"/>
                  </a:lnTo>
                  <a:lnTo>
                    <a:pt x="359255" y="476292"/>
                  </a:lnTo>
                  <a:lnTo>
                    <a:pt x="304349" y="467400"/>
                  </a:lnTo>
                  <a:lnTo>
                    <a:pt x="252553" y="455343"/>
                  </a:lnTo>
                  <a:lnTo>
                    <a:pt x="204312" y="440349"/>
                  </a:lnTo>
                  <a:lnTo>
                    <a:pt x="160074" y="422644"/>
                  </a:lnTo>
                  <a:lnTo>
                    <a:pt x="120285" y="402454"/>
                  </a:lnTo>
                  <a:lnTo>
                    <a:pt x="85392" y="380007"/>
                  </a:lnTo>
                  <a:lnTo>
                    <a:pt x="55842" y="355529"/>
                  </a:lnTo>
                  <a:lnTo>
                    <a:pt x="14556" y="301386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392291" y="3520440"/>
            <a:ext cx="39444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da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033275" y="2458496"/>
            <a:ext cx="3253628" cy="1645584"/>
            <a:chOff x="1558111" y="2786295"/>
            <a:chExt cx="3687445" cy="1864995"/>
          </a:xfrm>
        </p:grpSpPr>
        <p:sp>
          <p:nvSpPr>
            <p:cNvPr id="54" name="object 54"/>
            <p:cNvSpPr/>
            <p:nvPr/>
          </p:nvSpPr>
          <p:spPr>
            <a:xfrm>
              <a:off x="1563191" y="4084161"/>
              <a:ext cx="454659" cy="561975"/>
            </a:xfrm>
            <a:custGeom>
              <a:avLst/>
              <a:gdLst/>
              <a:ahLst/>
              <a:cxnLst/>
              <a:rect l="l" t="t" r="r" b="b"/>
              <a:pathLst>
                <a:path w="454660" h="561975">
                  <a:moveTo>
                    <a:pt x="454246" y="0"/>
                  </a:moveTo>
                  <a:lnTo>
                    <a:pt x="0" y="561609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2265686" y="3451607"/>
              <a:ext cx="410209" cy="368935"/>
            </a:xfrm>
            <a:custGeom>
              <a:avLst/>
              <a:gdLst/>
              <a:ahLst/>
              <a:cxnLst/>
              <a:rect l="l" t="t" r="r" b="b"/>
              <a:pathLst>
                <a:path w="410210" h="368935">
                  <a:moveTo>
                    <a:pt x="0" y="0"/>
                  </a:moveTo>
                  <a:lnTo>
                    <a:pt x="410119" y="36886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3670425" y="2793069"/>
              <a:ext cx="1567815" cy="1147445"/>
            </a:xfrm>
            <a:custGeom>
              <a:avLst/>
              <a:gdLst/>
              <a:ahLst/>
              <a:cxnLst/>
              <a:rect l="l" t="t" r="r" b="b"/>
              <a:pathLst>
                <a:path w="1567814" h="1147445">
                  <a:moveTo>
                    <a:pt x="656769" y="698897"/>
                  </a:moveTo>
                  <a:lnTo>
                    <a:pt x="266334" y="698897"/>
                  </a:lnTo>
                  <a:lnTo>
                    <a:pt x="0" y="1146911"/>
                  </a:lnTo>
                  <a:lnTo>
                    <a:pt x="656769" y="698897"/>
                  </a:lnTo>
                  <a:close/>
                </a:path>
                <a:path w="1567814" h="1147445">
                  <a:moveTo>
                    <a:pt x="1451297" y="0"/>
                  </a:moveTo>
                  <a:lnTo>
                    <a:pt x="122529" y="0"/>
                  </a:lnTo>
                  <a:lnTo>
                    <a:pt x="77188" y="9154"/>
                  </a:lnTo>
                  <a:lnTo>
                    <a:pt x="40161" y="34117"/>
                  </a:lnTo>
                  <a:lnTo>
                    <a:pt x="15197" y="71144"/>
                  </a:lnTo>
                  <a:lnTo>
                    <a:pt x="6043" y="116485"/>
                  </a:lnTo>
                  <a:lnTo>
                    <a:pt x="6044" y="582414"/>
                  </a:lnTo>
                  <a:lnTo>
                    <a:pt x="15197" y="627753"/>
                  </a:lnTo>
                  <a:lnTo>
                    <a:pt x="40161" y="664779"/>
                  </a:lnTo>
                  <a:lnTo>
                    <a:pt x="77188" y="689743"/>
                  </a:lnTo>
                  <a:lnTo>
                    <a:pt x="122529" y="698897"/>
                  </a:lnTo>
                  <a:lnTo>
                    <a:pt x="1451297" y="698897"/>
                  </a:lnTo>
                  <a:lnTo>
                    <a:pt x="1496638" y="689743"/>
                  </a:lnTo>
                  <a:lnTo>
                    <a:pt x="1533664" y="664779"/>
                  </a:lnTo>
                  <a:lnTo>
                    <a:pt x="1558627" y="627753"/>
                  </a:lnTo>
                  <a:lnTo>
                    <a:pt x="1567781" y="582414"/>
                  </a:lnTo>
                  <a:lnTo>
                    <a:pt x="1567781" y="116485"/>
                  </a:lnTo>
                  <a:lnTo>
                    <a:pt x="1558627" y="71144"/>
                  </a:lnTo>
                  <a:lnTo>
                    <a:pt x="1533664" y="34117"/>
                  </a:lnTo>
                  <a:lnTo>
                    <a:pt x="1496638" y="9154"/>
                  </a:lnTo>
                  <a:lnTo>
                    <a:pt x="1451297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3670425" y="2793069"/>
              <a:ext cx="1567815" cy="1147445"/>
            </a:xfrm>
            <a:custGeom>
              <a:avLst/>
              <a:gdLst/>
              <a:ahLst/>
              <a:cxnLst/>
              <a:rect l="l" t="t" r="r" b="b"/>
              <a:pathLst>
                <a:path w="1567814" h="1147445">
                  <a:moveTo>
                    <a:pt x="6044" y="116484"/>
                  </a:moveTo>
                  <a:lnTo>
                    <a:pt x="15198" y="71143"/>
                  </a:lnTo>
                  <a:lnTo>
                    <a:pt x="40161" y="34117"/>
                  </a:lnTo>
                  <a:lnTo>
                    <a:pt x="77187" y="9153"/>
                  </a:lnTo>
                  <a:lnTo>
                    <a:pt x="122529" y="0"/>
                  </a:lnTo>
                  <a:lnTo>
                    <a:pt x="266333" y="0"/>
                  </a:lnTo>
                  <a:lnTo>
                    <a:pt x="656768" y="0"/>
                  </a:lnTo>
                  <a:lnTo>
                    <a:pt x="1451297" y="0"/>
                  </a:lnTo>
                  <a:lnTo>
                    <a:pt x="1496638" y="9153"/>
                  </a:lnTo>
                  <a:lnTo>
                    <a:pt x="1533664" y="34117"/>
                  </a:lnTo>
                  <a:lnTo>
                    <a:pt x="1558628" y="71143"/>
                  </a:lnTo>
                  <a:lnTo>
                    <a:pt x="1567781" y="116484"/>
                  </a:lnTo>
                  <a:lnTo>
                    <a:pt x="1567781" y="407690"/>
                  </a:lnTo>
                  <a:lnTo>
                    <a:pt x="1567781" y="582413"/>
                  </a:lnTo>
                  <a:lnTo>
                    <a:pt x="1558628" y="627753"/>
                  </a:lnTo>
                  <a:lnTo>
                    <a:pt x="1533664" y="664779"/>
                  </a:lnTo>
                  <a:lnTo>
                    <a:pt x="1496638" y="689743"/>
                  </a:lnTo>
                  <a:lnTo>
                    <a:pt x="1451297" y="698897"/>
                  </a:lnTo>
                  <a:lnTo>
                    <a:pt x="656768" y="698897"/>
                  </a:lnTo>
                  <a:lnTo>
                    <a:pt x="0" y="1146911"/>
                  </a:lnTo>
                  <a:lnTo>
                    <a:pt x="266333" y="698897"/>
                  </a:lnTo>
                  <a:lnTo>
                    <a:pt x="122529" y="698897"/>
                  </a:lnTo>
                  <a:lnTo>
                    <a:pt x="77187" y="689743"/>
                  </a:lnTo>
                  <a:lnTo>
                    <a:pt x="40161" y="664779"/>
                  </a:lnTo>
                  <a:lnTo>
                    <a:pt x="15198" y="627753"/>
                  </a:lnTo>
                  <a:lnTo>
                    <a:pt x="6044" y="582412"/>
                  </a:lnTo>
                  <a:lnTo>
                    <a:pt x="6044" y="407690"/>
                  </a:lnTo>
                  <a:lnTo>
                    <a:pt x="6044" y="116484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065487" y="2530736"/>
            <a:ext cx="1052232" cy="482033"/>
          </a:xfrm>
          <a:prstGeom prst="rect">
            <a:avLst/>
          </a:prstGeom>
        </p:spPr>
        <p:txBody>
          <a:bodyPr vert="horz" wrap="square" lIns="0" tIns="20171" rIns="0" bIns="0" rtlCol="0">
            <a:spAutoFit/>
          </a:bodyPr>
          <a:lstStyle/>
          <a:p>
            <a:pPr marL="11206" marR="4483" indent="312661">
              <a:lnSpc>
                <a:spcPts val="1782"/>
              </a:lnSpc>
              <a:spcBef>
                <a:spcPts val="159"/>
              </a:spcBef>
            </a:pP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Total </a:t>
            </a:r>
            <a:r>
              <a:rPr sz="1500" spc="-3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pa</a:t>
            </a:r>
            <a:r>
              <a:rPr sz="1500" spc="4" dirty="0">
                <a:solidFill>
                  <a:srgbClr val="FFFFFF"/>
                </a:solidFill>
                <a:latin typeface="Arial MT"/>
                <a:cs typeface="Arial MT"/>
              </a:rPr>
              <a:t>rt</a:t>
            </a:r>
            <a:r>
              <a:rPr sz="1500" spc="-4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1500" spc="-4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pa</a:t>
            </a:r>
            <a:r>
              <a:rPr sz="1500" spc="4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500" spc="-4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113687" y="5261387"/>
            <a:ext cx="8020610" cy="939537"/>
          </a:xfrm>
          <a:prstGeom prst="rect">
            <a:avLst/>
          </a:prstGeom>
        </p:spPr>
        <p:txBody>
          <a:bodyPr vert="horz" wrap="square" lIns="0" tIns="32497" rIns="0" bIns="0" rtlCol="0">
            <a:spAutoFit/>
          </a:bodyPr>
          <a:lstStyle/>
          <a:p>
            <a:pPr marL="183226" indent="-172580">
              <a:spcBef>
                <a:spcPts val="256"/>
              </a:spcBef>
              <a:buSzPct val="85714"/>
              <a:buFont typeface="Arial MT"/>
              <a:buChar char="•"/>
              <a:tabLst>
                <a:tab pos="183785" algn="l"/>
              </a:tabLst>
            </a:pP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sufficient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form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35" dirty="0">
                <a:solidFill>
                  <a:srgbClr val="292934"/>
                </a:solidFill>
                <a:latin typeface="Verdana"/>
                <a:cs typeface="Verdana"/>
              </a:rPr>
              <a:t>key.</a:t>
            </a:r>
            <a:endParaRPr sz="1853" dirty="0">
              <a:latin typeface="Verdana"/>
              <a:cs typeface="Verdana"/>
            </a:endParaRPr>
          </a:p>
          <a:p>
            <a:pPr marL="183226" indent="-172580">
              <a:spcBef>
                <a:spcPts val="168"/>
              </a:spcBef>
              <a:buSzPct val="85714"/>
              <a:buFont typeface="Arial MT"/>
              <a:buChar char="•"/>
              <a:tabLst>
                <a:tab pos="183785" algn="l"/>
              </a:tabLst>
            </a:pP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Depends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strong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with.</a:t>
            </a:r>
            <a:endParaRPr sz="1853" dirty="0">
              <a:latin typeface="Verdana"/>
              <a:cs typeface="Verdana"/>
            </a:endParaRPr>
          </a:p>
          <a:p>
            <a:pPr marL="183226" indent="-172580">
              <a:spcBef>
                <a:spcPts val="150"/>
              </a:spcBef>
              <a:buSzPct val="85714"/>
              <a:buFont typeface="Arial MT"/>
              <a:buChar char="•"/>
              <a:tabLst>
                <a:tab pos="183785" algn="l"/>
              </a:tabLst>
            </a:pP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Needs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discriminator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53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strong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set.</a:t>
            </a:r>
            <a:endParaRPr sz="1853" dirty="0">
              <a:latin typeface="Verdana"/>
              <a:cs typeface="Verdana"/>
            </a:endParaRPr>
          </a:p>
        </p:txBody>
      </p:sp>
      <p:pic>
        <p:nvPicPr>
          <p:cNvPr id="60" name="object 6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4505" y="1113416"/>
            <a:ext cx="6844552" cy="1180652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3763874" y="1112936"/>
            <a:ext cx="6471956" cy="815167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17101" rIns="0" bIns="0" rtlCol="0">
            <a:spAutoFit/>
          </a:bodyPr>
          <a:lstStyle/>
          <a:p>
            <a:pPr marL="201156" marR="182105" algn="ctr">
              <a:lnSpc>
                <a:spcPct val="90000"/>
              </a:lnSpc>
              <a:spcBef>
                <a:spcPts val="922"/>
              </a:spcBef>
            </a:pP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677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definition,</a:t>
            </a:r>
            <a:r>
              <a:rPr sz="1677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1677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1677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677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9" dirty="0">
                <a:solidFill>
                  <a:srgbClr val="C00000"/>
                </a:solidFill>
                <a:latin typeface="Verdana"/>
                <a:cs typeface="Verdana"/>
              </a:rPr>
              <a:t>total</a:t>
            </a:r>
            <a:r>
              <a:rPr sz="1677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C00000"/>
                </a:solidFill>
                <a:latin typeface="Verdana"/>
                <a:cs typeface="Verdana"/>
              </a:rPr>
              <a:t>participation</a:t>
            </a:r>
            <a:r>
              <a:rPr sz="1677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between </a:t>
            </a:r>
            <a:r>
              <a:rPr sz="1677" spc="-57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77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1677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677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677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677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its</a:t>
            </a:r>
            <a:r>
              <a:rPr sz="1677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identifying</a:t>
            </a:r>
            <a:r>
              <a:rPr sz="1677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relationship 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“</a:t>
            </a:r>
            <a:r>
              <a:rPr sz="1677" spc="13" dirty="0">
                <a:solidFill>
                  <a:srgbClr val="C00000"/>
                </a:solidFill>
                <a:latin typeface="Verdana"/>
                <a:cs typeface="Verdana"/>
              </a:rPr>
              <a:t>existence</a:t>
            </a:r>
            <a:r>
              <a:rPr sz="1677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677" spc="18" dirty="0">
                <a:solidFill>
                  <a:srgbClr val="C00000"/>
                </a:solidFill>
                <a:latin typeface="Verdana"/>
                <a:cs typeface="Verdana"/>
              </a:rPr>
              <a:t>dependency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”</a:t>
            </a:r>
            <a:endParaRPr sz="1677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 15"/>
          <p:cNvSpPr>
            <a:spLocks/>
          </p:cNvSpPr>
          <p:nvPr/>
        </p:nvSpPr>
        <p:spPr bwMode="auto">
          <a:xfrm>
            <a:off x="5419980" y="4599630"/>
            <a:ext cx="1777495" cy="1008914"/>
          </a:xfrm>
          <a:custGeom>
            <a:avLst/>
            <a:gdLst>
              <a:gd name="T0" fmla="*/ 0 w 789"/>
              <a:gd name="T1" fmla="*/ 196 h 392"/>
              <a:gd name="T2" fmla="*/ 394 w 789"/>
              <a:gd name="T3" fmla="*/ 0 h 392"/>
              <a:gd name="T4" fmla="*/ 788 w 789"/>
              <a:gd name="T5" fmla="*/ 196 h 392"/>
              <a:gd name="T6" fmla="*/ 394 w 789"/>
              <a:gd name="T7" fmla="*/ 391 h 392"/>
              <a:gd name="T8" fmla="*/ 0 w 789"/>
              <a:gd name="T9" fmla="*/ 196 h 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9"/>
              <a:gd name="T16" fmla="*/ 0 h 392"/>
              <a:gd name="T17" fmla="*/ 789 w 789"/>
              <a:gd name="T18" fmla="*/ 392 h 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9" h="392">
                <a:moveTo>
                  <a:pt x="0" y="196"/>
                </a:moveTo>
                <a:lnTo>
                  <a:pt x="394" y="0"/>
                </a:lnTo>
                <a:lnTo>
                  <a:pt x="788" y="196"/>
                </a:lnTo>
                <a:lnTo>
                  <a:pt x="394" y="391"/>
                </a:lnTo>
                <a:lnTo>
                  <a:pt x="0" y="196"/>
                </a:lnTo>
              </a:path>
            </a:pathLst>
          </a:custGeom>
          <a:solidFill>
            <a:schemeClr val="bg1">
              <a:lumMod val="85000"/>
            </a:schemeClr>
          </a:solidFill>
          <a:ln w="5080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zh-CN" sz="131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2258" y="249921"/>
            <a:ext cx="6989109" cy="55671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Weak Entity Set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1882" y="1223808"/>
            <a:ext cx="8255998" cy="216889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Entity sets are weak when their </a:t>
            </a:r>
            <a:r>
              <a:rPr lang="en-US" altLang="zh-CN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key attributes 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come from </a:t>
            </a:r>
            <a:r>
              <a:rPr lang="en-US" altLang="zh-CN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other classes 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which they are related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1853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 happens if:</a:t>
            </a:r>
          </a:p>
          <a:p>
            <a:pPr lvl="2">
              <a:lnSpc>
                <a:spcPct val="120000"/>
              </a:lnSpc>
              <a:spcBef>
                <a:spcPct val="0"/>
              </a:spcBef>
            </a:pPr>
            <a:r>
              <a:rPr lang="en-US" altLang="zh-CN" sz="1853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part-of hierarchies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Diamond with double border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1853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an attribute of it is a part of the key, underline it</a:t>
            </a:r>
          </a:p>
          <a:p>
            <a:pPr>
              <a:lnSpc>
                <a:spcPct val="120000"/>
              </a:lnSpc>
            </a:pPr>
            <a:endParaRPr lang="zh-CN" altLang="en-US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56059" y="5608545"/>
            <a:ext cx="2420471" cy="322169"/>
          </a:xfrm>
          <a:prstGeom prst="rect">
            <a:avLst/>
          </a:prstGeom>
        </p:spPr>
        <p:txBody>
          <a:bodyPr vert="horz" lIns="80682" tIns="40341" rIns="80682" bIns="40341" rtlCol="0" anchor="ctr"/>
          <a:lstStyle>
            <a:defPPr>
              <a:defRPr lang="en-US"/>
            </a:defPPr>
            <a:lvl1pPr marL="0" algn="r" defTabSz="806867" rtl="0" eaLnBrk="1" latinLnBrk="0" hangingPunct="1">
              <a:defRPr sz="105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3433" algn="l" defTabSz="806867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867" algn="l" defTabSz="806867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0300" algn="l" defTabSz="806867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3733" algn="l" defTabSz="806867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17166" algn="l" defTabSz="806867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20600" algn="l" defTabSz="806867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4033" algn="l" defTabSz="806867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27466" algn="l" defTabSz="806867" rtl="0" eaLnBrk="1" latinLnBrk="0" hangingPunct="1">
              <a:defRPr sz="15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EA73CC8-1FB2-4026-8376-D74F350192CA}" type="slidenum">
              <a:rPr lang="en-US" smtClean="0"/>
              <a:pPr>
                <a:defRPr/>
              </a:pPr>
              <a:t>31</a:t>
            </a:fld>
            <a:endParaRPr lang="zh-CN" altLang="en-US" dirty="0"/>
          </a:p>
        </p:txBody>
      </p:sp>
      <p:grpSp>
        <p:nvGrpSpPr>
          <p:cNvPr id="21" name="Group 34"/>
          <p:cNvGrpSpPr>
            <a:grpSpLocks/>
          </p:cNvGrpSpPr>
          <p:nvPr/>
        </p:nvGrpSpPr>
        <p:grpSpPr bwMode="auto">
          <a:xfrm>
            <a:off x="3018801" y="3864664"/>
            <a:ext cx="5922484" cy="1620160"/>
            <a:chOff x="313" y="2779"/>
            <a:chExt cx="5125" cy="1402"/>
          </a:xfrm>
        </p:grpSpPr>
        <p:sp>
          <p:nvSpPr>
            <p:cNvPr id="22" name="Freeform 6"/>
            <p:cNvSpPr>
              <a:spLocks/>
            </p:cNvSpPr>
            <p:nvPr/>
          </p:nvSpPr>
          <p:spPr bwMode="auto">
            <a:xfrm>
              <a:off x="3637" y="3014"/>
              <a:ext cx="835" cy="393"/>
            </a:xfrm>
            <a:custGeom>
              <a:avLst/>
              <a:gdLst>
                <a:gd name="T0" fmla="*/ 788 w 790"/>
                <a:gd name="T1" fmla="*/ 153 h 334"/>
                <a:gd name="T2" fmla="*/ 775 w 790"/>
                <a:gd name="T3" fmla="*/ 124 h 334"/>
                <a:gd name="T4" fmla="*/ 752 w 790"/>
                <a:gd name="T5" fmla="*/ 97 h 334"/>
                <a:gd name="T6" fmla="*/ 718 w 790"/>
                <a:gd name="T7" fmla="*/ 71 h 334"/>
                <a:gd name="T8" fmla="*/ 674 w 790"/>
                <a:gd name="T9" fmla="*/ 50 h 334"/>
                <a:gd name="T10" fmla="*/ 621 w 790"/>
                <a:gd name="T11" fmla="*/ 30 h 334"/>
                <a:gd name="T12" fmla="*/ 561 w 790"/>
                <a:gd name="T13" fmla="*/ 17 h 334"/>
                <a:gd name="T14" fmla="*/ 497 w 790"/>
                <a:gd name="T15" fmla="*/ 6 h 334"/>
                <a:gd name="T16" fmla="*/ 429 w 790"/>
                <a:gd name="T17" fmla="*/ 1 h 334"/>
                <a:gd name="T18" fmla="*/ 360 w 790"/>
                <a:gd name="T19" fmla="*/ 1 h 334"/>
                <a:gd name="T20" fmla="*/ 293 w 790"/>
                <a:gd name="T21" fmla="*/ 6 h 334"/>
                <a:gd name="T22" fmla="*/ 228 w 790"/>
                <a:gd name="T23" fmla="*/ 17 h 334"/>
                <a:gd name="T24" fmla="*/ 169 w 790"/>
                <a:gd name="T25" fmla="*/ 30 h 334"/>
                <a:gd name="T26" fmla="*/ 116 w 790"/>
                <a:gd name="T27" fmla="*/ 50 h 334"/>
                <a:gd name="T28" fmla="*/ 72 w 790"/>
                <a:gd name="T29" fmla="*/ 71 h 334"/>
                <a:gd name="T30" fmla="*/ 38 w 790"/>
                <a:gd name="T31" fmla="*/ 97 h 334"/>
                <a:gd name="T32" fmla="*/ 14 w 790"/>
                <a:gd name="T33" fmla="*/ 124 h 334"/>
                <a:gd name="T34" fmla="*/ 2 w 790"/>
                <a:gd name="T35" fmla="*/ 153 h 334"/>
                <a:gd name="T36" fmla="*/ 2 w 790"/>
                <a:gd name="T37" fmla="*/ 181 h 334"/>
                <a:gd name="T38" fmla="*/ 14 w 790"/>
                <a:gd name="T39" fmla="*/ 210 h 334"/>
                <a:gd name="T40" fmla="*/ 38 w 790"/>
                <a:gd name="T41" fmla="*/ 237 h 334"/>
                <a:gd name="T42" fmla="*/ 72 w 790"/>
                <a:gd name="T43" fmla="*/ 262 h 334"/>
                <a:gd name="T44" fmla="*/ 116 w 790"/>
                <a:gd name="T45" fmla="*/ 284 h 334"/>
                <a:gd name="T46" fmla="*/ 169 w 790"/>
                <a:gd name="T47" fmla="*/ 303 h 334"/>
                <a:gd name="T48" fmla="*/ 228 w 790"/>
                <a:gd name="T49" fmla="*/ 317 h 334"/>
                <a:gd name="T50" fmla="*/ 293 w 790"/>
                <a:gd name="T51" fmla="*/ 327 h 334"/>
                <a:gd name="T52" fmla="*/ 360 w 790"/>
                <a:gd name="T53" fmla="*/ 332 h 334"/>
                <a:gd name="T54" fmla="*/ 429 w 790"/>
                <a:gd name="T55" fmla="*/ 332 h 334"/>
                <a:gd name="T56" fmla="*/ 497 w 790"/>
                <a:gd name="T57" fmla="*/ 327 h 334"/>
                <a:gd name="T58" fmla="*/ 561 w 790"/>
                <a:gd name="T59" fmla="*/ 317 h 334"/>
                <a:gd name="T60" fmla="*/ 621 w 790"/>
                <a:gd name="T61" fmla="*/ 303 h 334"/>
                <a:gd name="T62" fmla="*/ 674 w 790"/>
                <a:gd name="T63" fmla="*/ 284 h 334"/>
                <a:gd name="T64" fmla="*/ 718 w 790"/>
                <a:gd name="T65" fmla="*/ 262 h 334"/>
                <a:gd name="T66" fmla="*/ 752 w 790"/>
                <a:gd name="T67" fmla="*/ 237 h 334"/>
                <a:gd name="T68" fmla="*/ 775 w 790"/>
                <a:gd name="T69" fmla="*/ 210 h 334"/>
                <a:gd name="T70" fmla="*/ 788 w 790"/>
                <a:gd name="T71" fmla="*/ 181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789" y="167"/>
                  </a:moveTo>
                  <a:lnTo>
                    <a:pt x="788" y="153"/>
                  </a:lnTo>
                  <a:lnTo>
                    <a:pt x="783" y="138"/>
                  </a:lnTo>
                  <a:lnTo>
                    <a:pt x="775" y="124"/>
                  </a:lnTo>
                  <a:lnTo>
                    <a:pt x="765" y="110"/>
                  </a:lnTo>
                  <a:lnTo>
                    <a:pt x="752" y="97"/>
                  </a:lnTo>
                  <a:lnTo>
                    <a:pt x="736" y="83"/>
                  </a:lnTo>
                  <a:lnTo>
                    <a:pt x="718" y="71"/>
                  </a:lnTo>
                  <a:lnTo>
                    <a:pt x="697" y="60"/>
                  </a:lnTo>
                  <a:lnTo>
                    <a:pt x="674" y="50"/>
                  </a:lnTo>
                  <a:lnTo>
                    <a:pt x="648" y="40"/>
                  </a:lnTo>
                  <a:lnTo>
                    <a:pt x="621" y="30"/>
                  </a:lnTo>
                  <a:lnTo>
                    <a:pt x="592" y="23"/>
                  </a:lnTo>
                  <a:lnTo>
                    <a:pt x="561" y="17"/>
                  </a:lnTo>
                  <a:lnTo>
                    <a:pt x="529" y="10"/>
                  </a:lnTo>
                  <a:lnTo>
                    <a:pt x="497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6"/>
                  </a:lnTo>
                  <a:lnTo>
                    <a:pt x="260" y="10"/>
                  </a:lnTo>
                  <a:lnTo>
                    <a:pt x="228" y="17"/>
                  </a:lnTo>
                  <a:lnTo>
                    <a:pt x="197" y="23"/>
                  </a:lnTo>
                  <a:lnTo>
                    <a:pt x="169" y="30"/>
                  </a:lnTo>
                  <a:lnTo>
                    <a:pt x="142" y="40"/>
                  </a:lnTo>
                  <a:lnTo>
                    <a:pt x="116" y="50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4" y="83"/>
                  </a:lnTo>
                  <a:lnTo>
                    <a:pt x="38" y="97"/>
                  </a:lnTo>
                  <a:lnTo>
                    <a:pt x="24" y="110"/>
                  </a:lnTo>
                  <a:lnTo>
                    <a:pt x="14" y="124"/>
                  </a:lnTo>
                  <a:lnTo>
                    <a:pt x="7" y="138"/>
                  </a:lnTo>
                  <a:lnTo>
                    <a:pt x="2" y="153"/>
                  </a:lnTo>
                  <a:lnTo>
                    <a:pt x="0" y="167"/>
                  </a:lnTo>
                  <a:lnTo>
                    <a:pt x="2" y="181"/>
                  </a:lnTo>
                  <a:lnTo>
                    <a:pt x="7" y="196"/>
                  </a:lnTo>
                  <a:lnTo>
                    <a:pt x="14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4" y="250"/>
                  </a:lnTo>
                  <a:lnTo>
                    <a:pt x="72" y="262"/>
                  </a:lnTo>
                  <a:lnTo>
                    <a:pt x="93" y="274"/>
                  </a:lnTo>
                  <a:lnTo>
                    <a:pt x="116" y="284"/>
                  </a:lnTo>
                  <a:lnTo>
                    <a:pt x="142" y="294"/>
                  </a:lnTo>
                  <a:lnTo>
                    <a:pt x="169" y="303"/>
                  </a:lnTo>
                  <a:lnTo>
                    <a:pt x="197" y="311"/>
                  </a:lnTo>
                  <a:lnTo>
                    <a:pt x="228" y="317"/>
                  </a:lnTo>
                  <a:lnTo>
                    <a:pt x="260" y="323"/>
                  </a:lnTo>
                  <a:lnTo>
                    <a:pt x="293" y="327"/>
                  </a:lnTo>
                  <a:lnTo>
                    <a:pt x="326" y="331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9" y="332"/>
                  </a:lnTo>
                  <a:lnTo>
                    <a:pt x="463" y="331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2" y="311"/>
                  </a:lnTo>
                  <a:lnTo>
                    <a:pt x="621" y="303"/>
                  </a:lnTo>
                  <a:lnTo>
                    <a:pt x="648" y="294"/>
                  </a:lnTo>
                  <a:lnTo>
                    <a:pt x="674" y="284"/>
                  </a:lnTo>
                  <a:lnTo>
                    <a:pt x="697" y="274"/>
                  </a:lnTo>
                  <a:lnTo>
                    <a:pt x="718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5" y="210"/>
                  </a:lnTo>
                  <a:lnTo>
                    <a:pt x="783" y="196"/>
                  </a:lnTo>
                  <a:lnTo>
                    <a:pt x="788" y="181"/>
                  </a:lnTo>
                  <a:lnTo>
                    <a:pt x="789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23" name="Freeform 7"/>
            <p:cNvSpPr>
              <a:spLocks/>
            </p:cNvSpPr>
            <p:nvPr/>
          </p:nvSpPr>
          <p:spPr bwMode="auto">
            <a:xfrm>
              <a:off x="4648" y="3083"/>
              <a:ext cx="790" cy="334"/>
            </a:xfrm>
            <a:custGeom>
              <a:avLst/>
              <a:gdLst>
                <a:gd name="T0" fmla="*/ 2 w 790"/>
                <a:gd name="T1" fmla="*/ 181 h 334"/>
                <a:gd name="T2" fmla="*/ 13 w 790"/>
                <a:gd name="T3" fmla="*/ 210 h 334"/>
                <a:gd name="T4" fmla="*/ 38 w 790"/>
                <a:gd name="T5" fmla="*/ 237 h 334"/>
                <a:gd name="T6" fmla="*/ 72 w 790"/>
                <a:gd name="T7" fmla="*/ 262 h 334"/>
                <a:gd name="T8" fmla="*/ 116 w 790"/>
                <a:gd name="T9" fmla="*/ 284 h 334"/>
                <a:gd name="T10" fmla="*/ 169 w 790"/>
                <a:gd name="T11" fmla="*/ 303 h 334"/>
                <a:gd name="T12" fmla="*/ 228 w 790"/>
                <a:gd name="T13" fmla="*/ 317 h 334"/>
                <a:gd name="T14" fmla="*/ 293 w 790"/>
                <a:gd name="T15" fmla="*/ 327 h 334"/>
                <a:gd name="T16" fmla="*/ 360 w 790"/>
                <a:gd name="T17" fmla="*/ 332 h 334"/>
                <a:gd name="T18" fmla="*/ 429 w 790"/>
                <a:gd name="T19" fmla="*/ 332 h 334"/>
                <a:gd name="T20" fmla="*/ 497 w 790"/>
                <a:gd name="T21" fmla="*/ 327 h 334"/>
                <a:gd name="T22" fmla="*/ 561 w 790"/>
                <a:gd name="T23" fmla="*/ 317 h 334"/>
                <a:gd name="T24" fmla="*/ 621 w 790"/>
                <a:gd name="T25" fmla="*/ 303 h 334"/>
                <a:gd name="T26" fmla="*/ 673 w 790"/>
                <a:gd name="T27" fmla="*/ 284 h 334"/>
                <a:gd name="T28" fmla="*/ 717 w 790"/>
                <a:gd name="T29" fmla="*/ 262 h 334"/>
                <a:gd name="T30" fmla="*/ 752 w 790"/>
                <a:gd name="T31" fmla="*/ 237 h 334"/>
                <a:gd name="T32" fmla="*/ 775 w 790"/>
                <a:gd name="T33" fmla="*/ 210 h 334"/>
                <a:gd name="T34" fmla="*/ 787 w 790"/>
                <a:gd name="T35" fmla="*/ 181 h 334"/>
                <a:gd name="T36" fmla="*/ 787 w 790"/>
                <a:gd name="T37" fmla="*/ 152 h 334"/>
                <a:gd name="T38" fmla="*/ 775 w 790"/>
                <a:gd name="T39" fmla="*/ 124 h 334"/>
                <a:gd name="T40" fmla="*/ 751 w 790"/>
                <a:gd name="T41" fmla="*/ 97 h 334"/>
                <a:gd name="T42" fmla="*/ 717 w 790"/>
                <a:gd name="T43" fmla="*/ 71 h 334"/>
                <a:gd name="T44" fmla="*/ 673 w 790"/>
                <a:gd name="T45" fmla="*/ 49 h 334"/>
                <a:gd name="T46" fmla="*/ 620 w 790"/>
                <a:gd name="T47" fmla="*/ 30 h 334"/>
                <a:gd name="T48" fmla="*/ 561 w 790"/>
                <a:gd name="T49" fmla="*/ 16 h 334"/>
                <a:gd name="T50" fmla="*/ 496 w 790"/>
                <a:gd name="T51" fmla="*/ 6 h 334"/>
                <a:gd name="T52" fmla="*/ 429 w 790"/>
                <a:gd name="T53" fmla="*/ 1 h 334"/>
                <a:gd name="T54" fmla="*/ 360 w 790"/>
                <a:gd name="T55" fmla="*/ 1 h 334"/>
                <a:gd name="T56" fmla="*/ 293 w 790"/>
                <a:gd name="T57" fmla="*/ 7 h 334"/>
                <a:gd name="T58" fmla="*/ 228 w 790"/>
                <a:gd name="T59" fmla="*/ 16 h 334"/>
                <a:gd name="T60" fmla="*/ 169 w 790"/>
                <a:gd name="T61" fmla="*/ 30 h 334"/>
                <a:gd name="T62" fmla="*/ 116 w 790"/>
                <a:gd name="T63" fmla="*/ 50 h 334"/>
                <a:gd name="T64" fmla="*/ 72 w 790"/>
                <a:gd name="T65" fmla="*/ 71 h 334"/>
                <a:gd name="T66" fmla="*/ 38 w 790"/>
                <a:gd name="T67" fmla="*/ 97 h 334"/>
                <a:gd name="T68" fmla="*/ 13 w 790"/>
                <a:gd name="T69" fmla="*/ 124 h 334"/>
                <a:gd name="T70" fmla="*/ 2 w 790"/>
                <a:gd name="T71" fmla="*/ 152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0" y="167"/>
                  </a:moveTo>
                  <a:lnTo>
                    <a:pt x="2" y="181"/>
                  </a:lnTo>
                  <a:lnTo>
                    <a:pt x="6" y="196"/>
                  </a:lnTo>
                  <a:lnTo>
                    <a:pt x="13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3" y="250"/>
                  </a:lnTo>
                  <a:lnTo>
                    <a:pt x="72" y="262"/>
                  </a:lnTo>
                  <a:lnTo>
                    <a:pt x="93" y="274"/>
                  </a:lnTo>
                  <a:lnTo>
                    <a:pt x="116" y="284"/>
                  </a:lnTo>
                  <a:lnTo>
                    <a:pt x="141" y="294"/>
                  </a:lnTo>
                  <a:lnTo>
                    <a:pt x="169" y="303"/>
                  </a:lnTo>
                  <a:lnTo>
                    <a:pt x="197" y="311"/>
                  </a:lnTo>
                  <a:lnTo>
                    <a:pt x="228" y="317"/>
                  </a:lnTo>
                  <a:lnTo>
                    <a:pt x="259" y="323"/>
                  </a:lnTo>
                  <a:lnTo>
                    <a:pt x="293" y="327"/>
                  </a:lnTo>
                  <a:lnTo>
                    <a:pt x="326" y="331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9" y="332"/>
                  </a:lnTo>
                  <a:lnTo>
                    <a:pt x="463" y="331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1" y="311"/>
                  </a:lnTo>
                  <a:lnTo>
                    <a:pt x="621" y="303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4"/>
                  </a:lnTo>
                  <a:lnTo>
                    <a:pt x="717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5" y="210"/>
                  </a:lnTo>
                  <a:lnTo>
                    <a:pt x="782" y="195"/>
                  </a:lnTo>
                  <a:lnTo>
                    <a:pt x="787" y="181"/>
                  </a:lnTo>
                  <a:lnTo>
                    <a:pt x="789" y="167"/>
                  </a:lnTo>
                  <a:lnTo>
                    <a:pt x="787" y="152"/>
                  </a:lnTo>
                  <a:lnTo>
                    <a:pt x="782" y="137"/>
                  </a:lnTo>
                  <a:lnTo>
                    <a:pt x="775" y="124"/>
                  </a:lnTo>
                  <a:lnTo>
                    <a:pt x="765" y="110"/>
                  </a:lnTo>
                  <a:lnTo>
                    <a:pt x="751" y="97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8" y="40"/>
                  </a:lnTo>
                  <a:lnTo>
                    <a:pt x="620" y="30"/>
                  </a:lnTo>
                  <a:lnTo>
                    <a:pt x="591" y="23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7"/>
                  </a:lnTo>
                  <a:lnTo>
                    <a:pt x="259" y="10"/>
                  </a:lnTo>
                  <a:lnTo>
                    <a:pt x="228" y="16"/>
                  </a:lnTo>
                  <a:lnTo>
                    <a:pt x="197" y="23"/>
                  </a:lnTo>
                  <a:lnTo>
                    <a:pt x="169" y="30"/>
                  </a:lnTo>
                  <a:lnTo>
                    <a:pt x="141" y="40"/>
                  </a:lnTo>
                  <a:lnTo>
                    <a:pt x="116" y="50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3" y="83"/>
                  </a:lnTo>
                  <a:lnTo>
                    <a:pt x="38" y="97"/>
                  </a:lnTo>
                  <a:lnTo>
                    <a:pt x="24" y="110"/>
                  </a:lnTo>
                  <a:lnTo>
                    <a:pt x="13" y="124"/>
                  </a:lnTo>
                  <a:lnTo>
                    <a:pt x="6" y="138"/>
                  </a:lnTo>
                  <a:lnTo>
                    <a:pt x="2" y="152"/>
                  </a:lnTo>
                  <a:lnTo>
                    <a:pt x="0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24" name="Freeform 8"/>
            <p:cNvSpPr>
              <a:spLocks/>
            </p:cNvSpPr>
            <p:nvPr/>
          </p:nvSpPr>
          <p:spPr bwMode="auto">
            <a:xfrm>
              <a:off x="313" y="3093"/>
              <a:ext cx="790" cy="334"/>
            </a:xfrm>
            <a:custGeom>
              <a:avLst/>
              <a:gdLst>
                <a:gd name="T0" fmla="*/ 787 w 790"/>
                <a:gd name="T1" fmla="*/ 152 h 334"/>
                <a:gd name="T2" fmla="*/ 776 w 790"/>
                <a:gd name="T3" fmla="*/ 124 h 334"/>
                <a:gd name="T4" fmla="*/ 752 w 790"/>
                <a:gd name="T5" fmla="*/ 96 h 334"/>
                <a:gd name="T6" fmla="*/ 717 w 790"/>
                <a:gd name="T7" fmla="*/ 71 h 334"/>
                <a:gd name="T8" fmla="*/ 673 w 790"/>
                <a:gd name="T9" fmla="*/ 49 h 334"/>
                <a:gd name="T10" fmla="*/ 620 w 790"/>
                <a:gd name="T11" fmla="*/ 30 h 334"/>
                <a:gd name="T12" fmla="*/ 561 w 790"/>
                <a:gd name="T13" fmla="*/ 16 h 334"/>
                <a:gd name="T14" fmla="*/ 497 w 790"/>
                <a:gd name="T15" fmla="*/ 6 h 334"/>
                <a:gd name="T16" fmla="*/ 429 w 790"/>
                <a:gd name="T17" fmla="*/ 1 h 334"/>
                <a:gd name="T18" fmla="*/ 360 w 790"/>
                <a:gd name="T19" fmla="*/ 1 h 334"/>
                <a:gd name="T20" fmla="*/ 293 w 790"/>
                <a:gd name="T21" fmla="*/ 6 h 334"/>
                <a:gd name="T22" fmla="*/ 228 w 790"/>
                <a:gd name="T23" fmla="*/ 16 h 334"/>
                <a:gd name="T24" fmla="*/ 169 w 790"/>
                <a:gd name="T25" fmla="*/ 30 h 334"/>
                <a:gd name="T26" fmla="*/ 116 w 790"/>
                <a:gd name="T27" fmla="*/ 49 h 334"/>
                <a:gd name="T28" fmla="*/ 72 w 790"/>
                <a:gd name="T29" fmla="*/ 71 h 334"/>
                <a:gd name="T30" fmla="*/ 38 w 790"/>
                <a:gd name="T31" fmla="*/ 96 h 334"/>
                <a:gd name="T32" fmla="*/ 14 w 790"/>
                <a:gd name="T33" fmla="*/ 124 h 334"/>
                <a:gd name="T34" fmla="*/ 2 w 790"/>
                <a:gd name="T35" fmla="*/ 152 h 334"/>
                <a:gd name="T36" fmla="*/ 2 w 790"/>
                <a:gd name="T37" fmla="*/ 181 h 334"/>
                <a:gd name="T38" fmla="*/ 14 w 790"/>
                <a:gd name="T39" fmla="*/ 210 h 334"/>
                <a:gd name="T40" fmla="*/ 38 w 790"/>
                <a:gd name="T41" fmla="*/ 237 h 334"/>
                <a:gd name="T42" fmla="*/ 72 w 790"/>
                <a:gd name="T43" fmla="*/ 262 h 334"/>
                <a:gd name="T44" fmla="*/ 116 w 790"/>
                <a:gd name="T45" fmla="*/ 284 h 334"/>
                <a:gd name="T46" fmla="*/ 169 w 790"/>
                <a:gd name="T47" fmla="*/ 303 h 334"/>
                <a:gd name="T48" fmla="*/ 228 w 790"/>
                <a:gd name="T49" fmla="*/ 317 h 334"/>
                <a:gd name="T50" fmla="*/ 293 w 790"/>
                <a:gd name="T51" fmla="*/ 327 h 334"/>
                <a:gd name="T52" fmla="*/ 360 w 790"/>
                <a:gd name="T53" fmla="*/ 332 h 334"/>
                <a:gd name="T54" fmla="*/ 429 w 790"/>
                <a:gd name="T55" fmla="*/ 332 h 334"/>
                <a:gd name="T56" fmla="*/ 497 w 790"/>
                <a:gd name="T57" fmla="*/ 327 h 334"/>
                <a:gd name="T58" fmla="*/ 561 w 790"/>
                <a:gd name="T59" fmla="*/ 317 h 334"/>
                <a:gd name="T60" fmla="*/ 620 w 790"/>
                <a:gd name="T61" fmla="*/ 303 h 334"/>
                <a:gd name="T62" fmla="*/ 673 w 790"/>
                <a:gd name="T63" fmla="*/ 284 h 334"/>
                <a:gd name="T64" fmla="*/ 717 w 790"/>
                <a:gd name="T65" fmla="*/ 262 h 334"/>
                <a:gd name="T66" fmla="*/ 752 w 790"/>
                <a:gd name="T67" fmla="*/ 237 h 334"/>
                <a:gd name="T68" fmla="*/ 776 w 790"/>
                <a:gd name="T69" fmla="*/ 210 h 334"/>
                <a:gd name="T70" fmla="*/ 787 w 790"/>
                <a:gd name="T71" fmla="*/ 181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789" y="167"/>
                  </a:moveTo>
                  <a:lnTo>
                    <a:pt x="787" y="152"/>
                  </a:lnTo>
                  <a:lnTo>
                    <a:pt x="783" y="137"/>
                  </a:lnTo>
                  <a:lnTo>
                    <a:pt x="776" y="124"/>
                  </a:lnTo>
                  <a:lnTo>
                    <a:pt x="765" y="110"/>
                  </a:lnTo>
                  <a:lnTo>
                    <a:pt x="752" y="96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8" y="39"/>
                  </a:lnTo>
                  <a:lnTo>
                    <a:pt x="620" y="30"/>
                  </a:lnTo>
                  <a:lnTo>
                    <a:pt x="592" y="23"/>
                  </a:lnTo>
                  <a:lnTo>
                    <a:pt x="561" y="16"/>
                  </a:lnTo>
                  <a:lnTo>
                    <a:pt x="530" y="10"/>
                  </a:lnTo>
                  <a:lnTo>
                    <a:pt x="497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5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6"/>
                  </a:lnTo>
                  <a:lnTo>
                    <a:pt x="260" y="10"/>
                  </a:lnTo>
                  <a:lnTo>
                    <a:pt x="228" y="16"/>
                  </a:lnTo>
                  <a:lnTo>
                    <a:pt x="198" y="23"/>
                  </a:lnTo>
                  <a:lnTo>
                    <a:pt x="169" y="30"/>
                  </a:lnTo>
                  <a:lnTo>
                    <a:pt x="142" y="39"/>
                  </a:lnTo>
                  <a:lnTo>
                    <a:pt x="116" y="49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3" y="83"/>
                  </a:lnTo>
                  <a:lnTo>
                    <a:pt x="38" y="96"/>
                  </a:lnTo>
                  <a:lnTo>
                    <a:pt x="24" y="110"/>
                  </a:lnTo>
                  <a:lnTo>
                    <a:pt x="14" y="124"/>
                  </a:lnTo>
                  <a:lnTo>
                    <a:pt x="7" y="137"/>
                  </a:lnTo>
                  <a:lnTo>
                    <a:pt x="2" y="152"/>
                  </a:lnTo>
                  <a:lnTo>
                    <a:pt x="0" y="167"/>
                  </a:lnTo>
                  <a:lnTo>
                    <a:pt x="2" y="181"/>
                  </a:lnTo>
                  <a:lnTo>
                    <a:pt x="7" y="195"/>
                  </a:lnTo>
                  <a:lnTo>
                    <a:pt x="14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3" y="250"/>
                  </a:lnTo>
                  <a:lnTo>
                    <a:pt x="72" y="262"/>
                  </a:lnTo>
                  <a:lnTo>
                    <a:pt x="93" y="273"/>
                  </a:lnTo>
                  <a:lnTo>
                    <a:pt x="116" y="284"/>
                  </a:lnTo>
                  <a:lnTo>
                    <a:pt x="142" y="294"/>
                  </a:lnTo>
                  <a:lnTo>
                    <a:pt x="169" y="303"/>
                  </a:lnTo>
                  <a:lnTo>
                    <a:pt x="198" y="311"/>
                  </a:lnTo>
                  <a:lnTo>
                    <a:pt x="228" y="317"/>
                  </a:lnTo>
                  <a:lnTo>
                    <a:pt x="260" y="323"/>
                  </a:lnTo>
                  <a:lnTo>
                    <a:pt x="293" y="327"/>
                  </a:lnTo>
                  <a:lnTo>
                    <a:pt x="326" y="330"/>
                  </a:lnTo>
                  <a:lnTo>
                    <a:pt x="360" y="332"/>
                  </a:lnTo>
                  <a:lnTo>
                    <a:pt x="395" y="333"/>
                  </a:lnTo>
                  <a:lnTo>
                    <a:pt x="429" y="332"/>
                  </a:lnTo>
                  <a:lnTo>
                    <a:pt x="463" y="330"/>
                  </a:lnTo>
                  <a:lnTo>
                    <a:pt x="497" y="327"/>
                  </a:lnTo>
                  <a:lnTo>
                    <a:pt x="530" y="323"/>
                  </a:lnTo>
                  <a:lnTo>
                    <a:pt x="561" y="317"/>
                  </a:lnTo>
                  <a:lnTo>
                    <a:pt x="592" y="311"/>
                  </a:lnTo>
                  <a:lnTo>
                    <a:pt x="620" y="303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6" y="210"/>
                  </a:lnTo>
                  <a:lnTo>
                    <a:pt x="783" y="195"/>
                  </a:lnTo>
                  <a:lnTo>
                    <a:pt x="787" y="181"/>
                  </a:lnTo>
                  <a:lnTo>
                    <a:pt x="789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762" y="3093"/>
              <a:ext cx="789" cy="334"/>
            </a:xfrm>
            <a:custGeom>
              <a:avLst/>
              <a:gdLst>
                <a:gd name="T0" fmla="*/ 2 w 789"/>
                <a:gd name="T1" fmla="*/ 181 h 334"/>
                <a:gd name="T2" fmla="*/ 13 w 789"/>
                <a:gd name="T3" fmla="*/ 210 h 334"/>
                <a:gd name="T4" fmla="*/ 37 w 789"/>
                <a:gd name="T5" fmla="*/ 237 h 334"/>
                <a:gd name="T6" fmla="*/ 71 w 789"/>
                <a:gd name="T7" fmla="*/ 262 h 334"/>
                <a:gd name="T8" fmla="*/ 116 w 789"/>
                <a:gd name="T9" fmla="*/ 284 h 334"/>
                <a:gd name="T10" fmla="*/ 168 w 789"/>
                <a:gd name="T11" fmla="*/ 303 h 334"/>
                <a:gd name="T12" fmla="*/ 227 w 789"/>
                <a:gd name="T13" fmla="*/ 317 h 334"/>
                <a:gd name="T14" fmla="*/ 293 w 789"/>
                <a:gd name="T15" fmla="*/ 327 h 334"/>
                <a:gd name="T16" fmla="*/ 360 w 789"/>
                <a:gd name="T17" fmla="*/ 332 h 334"/>
                <a:gd name="T18" fmla="*/ 428 w 789"/>
                <a:gd name="T19" fmla="*/ 332 h 334"/>
                <a:gd name="T20" fmla="*/ 497 w 789"/>
                <a:gd name="T21" fmla="*/ 327 h 334"/>
                <a:gd name="T22" fmla="*/ 561 w 789"/>
                <a:gd name="T23" fmla="*/ 317 h 334"/>
                <a:gd name="T24" fmla="*/ 620 w 789"/>
                <a:gd name="T25" fmla="*/ 302 h 334"/>
                <a:gd name="T26" fmla="*/ 673 w 789"/>
                <a:gd name="T27" fmla="*/ 284 h 334"/>
                <a:gd name="T28" fmla="*/ 717 w 789"/>
                <a:gd name="T29" fmla="*/ 261 h 334"/>
                <a:gd name="T30" fmla="*/ 751 w 789"/>
                <a:gd name="T31" fmla="*/ 237 h 334"/>
                <a:gd name="T32" fmla="*/ 775 w 789"/>
                <a:gd name="T33" fmla="*/ 209 h 334"/>
                <a:gd name="T34" fmla="*/ 787 w 789"/>
                <a:gd name="T35" fmla="*/ 180 h 334"/>
                <a:gd name="T36" fmla="*/ 787 w 789"/>
                <a:gd name="T37" fmla="*/ 152 h 334"/>
                <a:gd name="T38" fmla="*/ 775 w 789"/>
                <a:gd name="T39" fmla="*/ 124 h 334"/>
                <a:gd name="T40" fmla="*/ 751 w 789"/>
                <a:gd name="T41" fmla="*/ 96 h 334"/>
                <a:gd name="T42" fmla="*/ 717 w 789"/>
                <a:gd name="T43" fmla="*/ 71 h 334"/>
                <a:gd name="T44" fmla="*/ 673 w 789"/>
                <a:gd name="T45" fmla="*/ 49 h 334"/>
                <a:gd name="T46" fmla="*/ 620 w 789"/>
                <a:gd name="T47" fmla="*/ 30 h 334"/>
                <a:gd name="T48" fmla="*/ 561 w 789"/>
                <a:gd name="T49" fmla="*/ 16 h 334"/>
                <a:gd name="T50" fmla="*/ 496 w 789"/>
                <a:gd name="T51" fmla="*/ 6 h 334"/>
                <a:gd name="T52" fmla="*/ 428 w 789"/>
                <a:gd name="T53" fmla="*/ 1 h 334"/>
                <a:gd name="T54" fmla="*/ 360 w 789"/>
                <a:gd name="T55" fmla="*/ 1 h 334"/>
                <a:gd name="T56" fmla="*/ 292 w 789"/>
                <a:gd name="T57" fmla="*/ 6 h 334"/>
                <a:gd name="T58" fmla="*/ 227 w 789"/>
                <a:gd name="T59" fmla="*/ 16 h 334"/>
                <a:gd name="T60" fmla="*/ 168 w 789"/>
                <a:gd name="T61" fmla="*/ 30 h 334"/>
                <a:gd name="T62" fmla="*/ 116 w 789"/>
                <a:gd name="T63" fmla="*/ 49 h 334"/>
                <a:gd name="T64" fmla="*/ 71 w 789"/>
                <a:gd name="T65" fmla="*/ 71 h 334"/>
                <a:gd name="T66" fmla="*/ 37 w 789"/>
                <a:gd name="T67" fmla="*/ 97 h 334"/>
                <a:gd name="T68" fmla="*/ 13 w 789"/>
                <a:gd name="T69" fmla="*/ 124 h 334"/>
                <a:gd name="T70" fmla="*/ 2 w 789"/>
                <a:gd name="T71" fmla="*/ 152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89"/>
                <a:gd name="T109" fmla="*/ 0 h 334"/>
                <a:gd name="T110" fmla="*/ 789 w 789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89" h="334">
                  <a:moveTo>
                    <a:pt x="0" y="167"/>
                  </a:moveTo>
                  <a:lnTo>
                    <a:pt x="2" y="181"/>
                  </a:lnTo>
                  <a:lnTo>
                    <a:pt x="6" y="195"/>
                  </a:lnTo>
                  <a:lnTo>
                    <a:pt x="13" y="210"/>
                  </a:lnTo>
                  <a:lnTo>
                    <a:pt x="24" y="224"/>
                  </a:lnTo>
                  <a:lnTo>
                    <a:pt x="37" y="237"/>
                  </a:lnTo>
                  <a:lnTo>
                    <a:pt x="53" y="250"/>
                  </a:lnTo>
                  <a:lnTo>
                    <a:pt x="71" y="262"/>
                  </a:lnTo>
                  <a:lnTo>
                    <a:pt x="92" y="274"/>
                  </a:lnTo>
                  <a:lnTo>
                    <a:pt x="116" y="284"/>
                  </a:lnTo>
                  <a:lnTo>
                    <a:pt x="141" y="294"/>
                  </a:lnTo>
                  <a:lnTo>
                    <a:pt x="168" y="303"/>
                  </a:lnTo>
                  <a:lnTo>
                    <a:pt x="197" y="311"/>
                  </a:lnTo>
                  <a:lnTo>
                    <a:pt x="227" y="317"/>
                  </a:lnTo>
                  <a:lnTo>
                    <a:pt x="259" y="323"/>
                  </a:lnTo>
                  <a:lnTo>
                    <a:pt x="293" y="327"/>
                  </a:lnTo>
                  <a:lnTo>
                    <a:pt x="326" y="330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8" y="332"/>
                  </a:lnTo>
                  <a:lnTo>
                    <a:pt x="462" y="330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1" y="311"/>
                  </a:lnTo>
                  <a:lnTo>
                    <a:pt x="620" y="302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1"/>
                  </a:lnTo>
                  <a:lnTo>
                    <a:pt x="736" y="250"/>
                  </a:lnTo>
                  <a:lnTo>
                    <a:pt x="751" y="237"/>
                  </a:lnTo>
                  <a:lnTo>
                    <a:pt x="764" y="223"/>
                  </a:lnTo>
                  <a:lnTo>
                    <a:pt x="775" y="209"/>
                  </a:lnTo>
                  <a:lnTo>
                    <a:pt x="782" y="195"/>
                  </a:lnTo>
                  <a:lnTo>
                    <a:pt x="787" y="180"/>
                  </a:lnTo>
                  <a:lnTo>
                    <a:pt x="788" y="167"/>
                  </a:lnTo>
                  <a:lnTo>
                    <a:pt x="787" y="152"/>
                  </a:lnTo>
                  <a:lnTo>
                    <a:pt x="782" y="137"/>
                  </a:lnTo>
                  <a:lnTo>
                    <a:pt x="775" y="124"/>
                  </a:lnTo>
                  <a:lnTo>
                    <a:pt x="764" y="110"/>
                  </a:lnTo>
                  <a:lnTo>
                    <a:pt x="751" y="96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7" y="39"/>
                  </a:lnTo>
                  <a:lnTo>
                    <a:pt x="620" y="30"/>
                  </a:lnTo>
                  <a:lnTo>
                    <a:pt x="591" y="23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2" y="3"/>
                  </a:lnTo>
                  <a:lnTo>
                    <a:pt x="428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2" y="6"/>
                  </a:lnTo>
                  <a:lnTo>
                    <a:pt x="259" y="10"/>
                  </a:lnTo>
                  <a:lnTo>
                    <a:pt x="227" y="16"/>
                  </a:lnTo>
                  <a:lnTo>
                    <a:pt x="197" y="23"/>
                  </a:lnTo>
                  <a:lnTo>
                    <a:pt x="168" y="30"/>
                  </a:lnTo>
                  <a:lnTo>
                    <a:pt x="140" y="39"/>
                  </a:lnTo>
                  <a:lnTo>
                    <a:pt x="116" y="49"/>
                  </a:lnTo>
                  <a:lnTo>
                    <a:pt x="92" y="60"/>
                  </a:lnTo>
                  <a:lnTo>
                    <a:pt x="71" y="71"/>
                  </a:lnTo>
                  <a:lnTo>
                    <a:pt x="53" y="83"/>
                  </a:lnTo>
                  <a:lnTo>
                    <a:pt x="37" y="97"/>
                  </a:lnTo>
                  <a:lnTo>
                    <a:pt x="24" y="110"/>
                  </a:lnTo>
                  <a:lnTo>
                    <a:pt x="13" y="124"/>
                  </a:lnTo>
                  <a:lnTo>
                    <a:pt x="6" y="137"/>
                  </a:lnTo>
                  <a:lnTo>
                    <a:pt x="2" y="152"/>
                  </a:lnTo>
                  <a:lnTo>
                    <a:pt x="0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27" name="Freeform 11"/>
            <p:cNvSpPr>
              <a:spLocks/>
            </p:cNvSpPr>
            <p:nvPr/>
          </p:nvSpPr>
          <p:spPr bwMode="auto">
            <a:xfrm>
              <a:off x="4405" y="3650"/>
              <a:ext cx="913" cy="343"/>
            </a:xfrm>
            <a:custGeom>
              <a:avLst/>
              <a:gdLst>
                <a:gd name="T0" fmla="*/ 912 w 913"/>
                <a:gd name="T1" fmla="*/ 342 h 343"/>
                <a:gd name="T2" fmla="*/ 912 w 913"/>
                <a:gd name="T3" fmla="*/ 0 h 343"/>
                <a:gd name="T4" fmla="*/ 0 w 913"/>
                <a:gd name="T5" fmla="*/ 0 h 343"/>
                <a:gd name="T6" fmla="*/ 0 w 913"/>
                <a:gd name="T7" fmla="*/ 342 h 343"/>
                <a:gd name="T8" fmla="*/ 912 w 913"/>
                <a:gd name="T9" fmla="*/ 342 h 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3"/>
                <a:gd name="T16" fmla="*/ 0 h 343"/>
                <a:gd name="T17" fmla="*/ 913 w 913"/>
                <a:gd name="T18" fmla="*/ 343 h 3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3" h="343">
                  <a:moveTo>
                    <a:pt x="912" y="342"/>
                  </a:moveTo>
                  <a:lnTo>
                    <a:pt x="912" y="0"/>
                  </a:lnTo>
                  <a:lnTo>
                    <a:pt x="0" y="0"/>
                  </a:lnTo>
                  <a:lnTo>
                    <a:pt x="0" y="342"/>
                  </a:lnTo>
                  <a:lnTo>
                    <a:pt x="912" y="342"/>
                  </a:ln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508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28" name="Freeform 12"/>
            <p:cNvSpPr>
              <a:spLocks/>
            </p:cNvSpPr>
            <p:nvPr/>
          </p:nvSpPr>
          <p:spPr bwMode="auto">
            <a:xfrm>
              <a:off x="980" y="3688"/>
              <a:ext cx="789" cy="343"/>
            </a:xfrm>
            <a:custGeom>
              <a:avLst/>
              <a:gdLst>
                <a:gd name="T0" fmla="*/ 788 w 789"/>
                <a:gd name="T1" fmla="*/ 342 h 343"/>
                <a:gd name="T2" fmla="*/ 788 w 789"/>
                <a:gd name="T3" fmla="*/ 0 h 343"/>
                <a:gd name="T4" fmla="*/ 0 w 789"/>
                <a:gd name="T5" fmla="*/ 0 h 343"/>
                <a:gd name="T6" fmla="*/ 0 w 789"/>
                <a:gd name="T7" fmla="*/ 342 h 343"/>
                <a:gd name="T8" fmla="*/ 788 w 789"/>
                <a:gd name="T9" fmla="*/ 342 h 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343"/>
                <a:gd name="T17" fmla="*/ 789 w 789"/>
                <a:gd name="T18" fmla="*/ 343 h 3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343">
                  <a:moveTo>
                    <a:pt x="788" y="342"/>
                  </a:moveTo>
                  <a:lnTo>
                    <a:pt x="788" y="0"/>
                  </a:lnTo>
                  <a:lnTo>
                    <a:pt x="0" y="0"/>
                  </a:lnTo>
                  <a:lnTo>
                    <a:pt x="0" y="342"/>
                  </a:lnTo>
                  <a:lnTo>
                    <a:pt x="788" y="342"/>
                  </a:ln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29" name="Freeform 13"/>
            <p:cNvSpPr>
              <a:spLocks/>
            </p:cNvSpPr>
            <p:nvPr/>
          </p:nvSpPr>
          <p:spPr bwMode="auto">
            <a:xfrm>
              <a:off x="1023" y="2779"/>
              <a:ext cx="876" cy="403"/>
            </a:xfrm>
            <a:custGeom>
              <a:avLst/>
              <a:gdLst>
                <a:gd name="T0" fmla="*/ 787 w 789"/>
                <a:gd name="T1" fmla="*/ 151 h 333"/>
                <a:gd name="T2" fmla="*/ 775 w 789"/>
                <a:gd name="T3" fmla="*/ 123 h 333"/>
                <a:gd name="T4" fmla="*/ 751 w 789"/>
                <a:gd name="T5" fmla="*/ 96 h 333"/>
                <a:gd name="T6" fmla="*/ 717 w 789"/>
                <a:gd name="T7" fmla="*/ 70 h 333"/>
                <a:gd name="T8" fmla="*/ 673 w 789"/>
                <a:gd name="T9" fmla="*/ 49 h 333"/>
                <a:gd name="T10" fmla="*/ 620 w 789"/>
                <a:gd name="T11" fmla="*/ 30 h 333"/>
                <a:gd name="T12" fmla="*/ 561 w 789"/>
                <a:gd name="T13" fmla="*/ 16 h 333"/>
                <a:gd name="T14" fmla="*/ 496 w 789"/>
                <a:gd name="T15" fmla="*/ 6 h 333"/>
                <a:gd name="T16" fmla="*/ 429 w 789"/>
                <a:gd name="T17" fmla="*/ 0 h 333"/>
                <a:gd name="T18" fmla="*/ 360 w 789"/>
                <a:gd name="T19" fmla="*/ 0 h 333"/>
                <a:gd name="T20" fmla="*/ 292 w 789"/>
                <a:gd name="T21" fmla="*/ 6 h 333"/>
                <a:gd name="T22" fmla="*/ 228 w 789"/>
                <a:gd name="T23" fmla="*/ 16 h 333"/>
                <a:gd name="T24" fmla="*/ 168 w 789"/>
                <a:gd name="T25" fmla="*/ 30 h 333"/>
                <a:gd name="T26" fmla="*/ 115 w 789"/>
                <a:gd name="T27" fmla="*/ 49 h 333"/>
                <a:gd name="T28" fmla="*/ 71 w 789"/>
                <a:gd name="T29" fmla="*/ 70 h 333"/>
                <a:gd name="T30" fmla="*/ 37 w 789"/>
                <a:gd name="T31" fmla="*/ 96 h 333"/>
                <a:gd name="T32" fmla="*/ 14 w 789"/>
                <a:gd name="T33" fmla="*/ 123 h 333"/>
                <a:gd name="T34" fmla="*/ 1 w 789"/>
                <a:gd name="T35" fmla="*/ 151 h 333"/>
                <a:gd name="T36" fmla="*/ 1 w 789"/>
                <a:gd name="T37" fmla="*/ 180 h 333"/>
                <a:gd name="T38" fmla="*/ 14 w 789"/>
                <a:gd name="T39" fmla="*/ 209 h 333"/>
                <a:gd name="T40" fmla="*/ 37 w 789"/>
                <a:gd name="T41" fmla="*/ 236 h 333"/>
                <a:gd name="T42" fmla="*/ 71 w 789"/>
                <a:gd name="T43" fmla="*/ 261 h 333"/>
                <a:gd name="T44" fmla="*/ 115 w 789"/>
                <a:gd name="T45" fmla="*/ 284 h 333"/>
                <a:gd name="T46" fmla="*/ 168 w 789"/>
                <a:gd name="T47" fmla="*/ 302 h 333"/>
                <a:gd name="T48" fmla="*/ 228 w 789"/>
                <a:gd name="T49" fmla="*/ 317 h 333"/>
                <a:gd name="T50" fmla="*/ 292 w 789"/>
                <a:gd name="T51" fmla="*/ 327 h 333"/>
                <a:gd name="T52" fmla="*/ 360 w 789"/>
                <a:gd name="T53" fmla="*/ 331 h 333"/>
                <a:gd name="T54" fmla="*/ 429 w 789"/>
                <a:gd name="T55" fmla="*/ 331 h 333"/>
                <a:gd name="T56" fmla="*/ 496 w 789"/>
                <a:gd name="T57" fmla="*/ 327 h 333"/>
                <a:gd name="T58" fmla="*/ 561 w 789"/>
                <a:gd name="T59" fmla="*/ 317 h 333"/>
                <a:gd name="T60" fmla="*/ 620 w 789"/>
                <a:gd name="T61" fmla="*/ 302 h 333"/>
                <a:gd name="T62" fmla="*/ 673 w 789"/>
                <a:gd name="T63" fmla="*/ 284 h 333"/>
                <a:gd name="T64" fmla="*/ 717 w 789"/>
                <a:gd name="T65" fmla="*/ 261 h 333"/>
                <a:gd name="T66" fmla="*/ 751 w 789"/>
                <a:gd name="T67" fmla="*/ 236 h 333"/>
                <a:gd name="T68" fmla="*/ 775 w 789"/>
                <a:gd name="T69" fmla="*/ 209 h 333"/>
                <a:gd name="T70" fmla="*/ 787 w 789"/>
                <a:gd name="T71" fmla="*/ 180 h 33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89"/>
                <a:gd name="T109" fmla="*/ 0 h 333"/>
                <a:gd name="T110" fmla="*/ 789 w 789"/>
                <a:gd name="T111" fmla="*/ 333 h 33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89" h="333">
                  <a:moveTo>
                    <a:pt x="788" y="166"/>
                  </a:moveTo>
                  <a:lnTo>
                    <a:pt x="787" y="151"/>
                  </a:lnTo>
                  <a:lnTo>
                    <a:pt x="782" y="137"/>
                  </a:lnTo>
                  <a:lnTo>
                    <a:pt x="775" y="123"/>
                  </a:lnTo>
                  <a:lnTo>
                    <a:pt x="765" y="109"/>
                  </a:lnTo>
                  <a:lnTo>
                    <a:pt x="751" y="96"/>
                  </a:lnTo>
                  <a:lnTo>
                    <a:pt x="735" y="83"/>
                  </a:lnTo>
                  <a:lnTo>
                    <a:pt x="717" y="70"/>
                  </a:lnTo>
                  <a:lnTo>
                    <a:pt x="696" y="59"/>
                  </a:lnTo>
                  <a:lnTo>
                    <a:pt x="673" y="49"/>
                  </a:lnTo>
                  <a:lnTo>
                    <a:pt x="647" y="39"/>
                  </a:lnTo>
                  <a:lnTo>
                    <a:pt x="620" y="30"/>
                  </a:lnTo>
                  <a:lnTo>
                    <a:pt x="591" y="22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3" y="3"/>
                  </a:lnTo>
                  <a:lnTo>
                    <a:pt x="429" y="0"/>
                  </a:lnTo>
                  <a:lnTo>
                    <a:pt x="394" y="0"/>
                  </a:lnTo>
                  <a:lnTo>
                    <a:pt x="360" y="0"/>
                  </a:lnTo>
                  <a:lnTo>
                    <a:pt x="325" y="3"/>
                  </a:lnTo>
                  <a:lnTo>
                    <a:pt x="292" y="6"/>
                  </a:lnTo>
                  <a:lnTo>
                    <a:pt x="260" y="10"/>
                  </a:lnTo>
                  <a:lnTo>
                    <a:pt x="228" y="16"/>
                  </a:lnTo>
                  <a:lnTo>
                    <a:pt x="197" y="22"/>
                  </a:lnTo>
                  <a:lnTo>
                    <a:pt x="168" y="30"/>
                  </a:lnTo>
                  <a:lnTo>
                    <a:pt x="141" y="39"/>
                  </a:lnTo>
                  <a:lnTo>
                    <a:pt x="115" y="49"/>
                  </a:lnTo>
                  <a:lnTo>
                    <a:pt x="92" y="59"/>
                  </a:lnTo>
                  <a:lnTo>
                    <a:pt x="71" y="70"/>
                  </a:lnTo>
                  <a:lnTo>
                    <a:pt x="53" y="83"/>
                  </a:lnTo>
                  <a:lnTo>
                    <a:pt x="37" y="96"/>
                  </a:lnTo>
                  <a:lnTo>
                    <a:pt x="24" y="109"/>
                  </a:lnTo>
                  <a:lnTo>
                    <a:pt x="14" y="123"/>
                  </a:lnTo>
                  <a:lnTo>
                    <a:pt x="6" y="137"/>
                  </a:lnTo>
                  <a:lnTo>
                    <a:pt x="1" y="151"/>
                  </a:lnTo>
                  <a:lnTo>
                    <a:pt x="0" y="166"/>
                  </a:lnTo>
                  <a:lnTo>
                    <a:pt x="1" y="180"/>
                  </a:lnTo>
                  <a:lnTo>
                    <a:pt x="6" y="195"/>
                  </a:lnTo>
                  <a:lnTo>
                    <a:pt x="14" y="209"/>
                  </a:lnTo>
                  <a:lnTo>
                    <a:pt x="24" y="223"/>
                  </a:lnTo>
                  <a:lnTo>
                    <a:pt x="37" y="236"/>
                  </a:lnTo>
                  <a:lnTo>
                    <a:pt x="53" y="249"/>
                  </a:lnTo>
                  <a:lnTo>
                    <a:pt x="71" y="261"/>
                  </a:lnTo>
                  <a:lnTo>
                    <a:pt x="92" y="273"/>
                  </a:lnTo>
                  <a:lnTo>
                    <a:pt x="115" y="284"/>
                  </a:lnTo>
                  <a:lnTo>
                    <a:pt x="141" y="294"/>
                  </a:lnTo>
                  <a:lnTo>
                    <a:pt x="168" y="302"/>
                  </a:lnTo>
                  <a:lnTo>
                    <a:pt x="197" y="310"/>
                  </a:lnTo>
                  <a:lnTo>
                    <a:pt x="228" y="317"/>
                  </a:lnTo>
                  <a:lnTo>
                    <a:pt x="260" y="322"/>
                  </a:lnTo>
                  <a:lnTo>
                    <a:pt x="292" y="327"/>
                  </a:lnTo>
                  <a:lnTo>
                    <a:pt x="325" y="330"/>
                  </a:lnTo>
                  <a:lnTo>
                    <a:pt x="360" y="331"/>
                  </a:lnTo>
                  <a:lnTo>
                    <a:pt x="394" y="332"/>
                  </a:lnTo>
                  <a:lnTo>
                    <a:pt x="429" y="331"/>
                  </a:lnTo>
                  <a:lnTo>
                    <a:pt x="463" y="330"/>
                  </a:lnTo>
                  <a:lnTo>
                    <a:pt x="496" y="327"/>
                  </a:lnTo>
                  <a:lnTo>
                    <a:pt x="529" y="322"/>
                  </a:lnTo>
                  <a:lnTo>
                    <a:pt x="561" y="317"/>
                  </a:lnTo>
                  <a:lnTo>
                    <a:pt x="591" y="310"/>
                  </a:lnTo>
                  <a:lnTo>
                    <a:pt x="620" y="302"/>
                  </a:lnTo>
                  <a:lnTo>
                    <a:pt x="647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1"/>
                  </a:lnTo>
                  <a:lnTo>
                    <a:pt x="735" y="249"/>
                  </a:lnTo>
                  <a:lnTo>
                    <a:pt x="751" y="236"/>
                  </a:lnTo>
                  <a:lnTo>
                    <a:pt x="765" y="223"/>
                  </a:lnTo>
                  <a:lnTo>
                    <a:pt x="775" y="209"/>
                  </a:lnTo>
                  <a:lnTo>
                    <a:pt x="782" y="195"/>
                  </a:lnTo>
                  <a:lnTo>
                    <a:pt x="787" y="180"/>
                  </a:lnTo>
                  <a:lnTo>
                    <a:pt x="788" y="166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1848" y="3142"/>
              <a:ext cx="60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Amount</a:t>
              </a:r>
            </a:p>
          </p:txBody>
        </p:sp>
        <p:sp>
          <p:nvSpPr>
            <p:cNvPr id="31" name="Freeform 15"/>
            <p:cNvSpPr>
              <a:spLocks/>
            </p:cNvSpPr>
            <p:nvPr/>
          </p:nvSpPr>
          <p:spPr bwMode="auto">
            <a:xfrm>
              <a:off x="2600" y="3527"/>
              <a:ext cx="1140" cy="654"/>
            </a:xfrm>
            <a:custGeom>
              <a:avLst/>
              <a:gdLst>
                <a:gd name="T0" fmla="*/ 0 w 789"/>
                <a:gd name="T1" fmla="*/ 196 h 392"/>
                <a:gd name="T2" fmla="*/ 394 w 789"/>
                <a:gd name="T3" fmla="*/ 0 h 392"/>
                <a:gd name="T4" fmla="*/ 788 w 789"/>
                <a:gd name="T5" fmla="*/ 196 h 392"/>
                <a:gd name="T6" fmla="*/ 394 w 789"/>
                <a:gd name="T7" fmla="*/ 391 h 392"/>
                <a:gd name="T8" fmla="*/ 0 w 789"/>
                <a:gd name="T9" fmla="*/ 196 h 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392"/>
                <a:gd name="T17" fmla="*/ 789 w 789"/>
                <a:gd name="T18" fmla="*/ 392 h 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392">
                  <a:moveTo>
                    <a:pt x="0" y="196"/>
                  </a:moveTo>
                  <a:lnTo>
                    <a:pt x="394" y="0"/>
                  </a:lnTo>
                  <a:lnTo>
                    <a:pt x="788" y="196"/>
                  </a:lnTo>
                  <a:lnTo>
                    <a:pt x="394" y="391"/>
                  </a:lnTo>
                  <a:lnTo>
                    <a:pt x="0" y="196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508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980" y="2864"/>
              <a:ext cx="9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 u="sng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Loan Number</a:t>
              </a:r>
            </a:p>
          </p:txBody>
        </p:sp>
        <p:sp>
          <p:nvSpPr>
            <p:cNvPr id="33" name="Rectangle 17"/>
            <p:cNvSpPr>
              <a:spLocks noChangeArrowheads="1"/>
            </p:cNvSpPr>
            <p:nvPr/>
          </p:nvSpPr>
          <p:spPr bwMode="auto">
            <a:xfrm>
              <a:off x="4912" y="3131"/>
              <a:ext cx="3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Date</a:t>
              </a:r>
            </a:p>
          </p:txBody>
        </p:sp>
        <p:sp>
          <p:nvSpPr>
            <p:cNvPr id="34" name="Rectangle 18"/>
            <p:cNvSpPr>
              <a:spLocks noChangeArrowheads="1"/>
            </p:cNvSpPr>
            <p:nvPr/>
          </p:nvSpPr>
          <p:spPr bwMode="auto">
            <a:xfrm>
              <a:off x="3508" y="3117"/>
              <a:ext cx="11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5870" tIns="32357" rIns="65870" bIns="32357">
              <a:spAutoFit/>
            </a:bodyPr>
            <a:lstStyle/>
            <a:p>
              <a:r>
                <a:rPr lang="en-US" altLang="zh-CN" sz="1165" b="1" u="sng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Payment Number</a:t>
              </a:r>
            </a:p>
          </p:txBody>
        </p:sp>
        <p:sp>
          <p:nvSpPr>
            <p:cNvPr id="35" name="Rectangle 19"/>
            <p:cNvSpPr>
              <a:spLocks noChangeArrowheads="1"/>
            </p:cNvSpPr>
            <p:nvPr/>
          </p:nvSpPr>
          <p:spPr bwMode="auto">
            <a:xfrm>
              <a:off x="4460" y="3705"/>
              <a:ext cx="65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Payment</a:t>
              </a:r>
            </a:p>
          </p:txBody>
        </p:sp>
        <p:sp>
          <p:nvSpPr>
            <p:cNvPr id="36" name="Rectangle 20"/>
            <p:cNvSpPr>
              <a:spLocks noChangeArrowheads="1"/>
            </p:cNvSpPr>
            <p:nvPr/>
          </p:nvSpPr>
          <p:spPr bwMode="auto">
            <a:xfrm>
              <a:off x="1103" y="3767"/>
              <a:ext cx="74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5870" tIns="32357" rIns="65870" bIns="32357">
              <a:spAutoFit/>
            </a:bodyPr>
            <a:lstStyle/>
            <a:p>
              <a:r>
                <a:rPr lang="en-US" altLang="zh-CN" sz="1165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Officer</a:t>
              </a:r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549" y="3151"/>
              <a:ext cx="3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 u="sng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ssn</a:t>
              </a:r>
            </a:p>
          </p:txBody>
        </p:sp>
        <p:sp>
          <p:nvSpPr>
            <p:cNvPr id="38" name="Rectangle 22"/>
            <p:cNvSpPr>
              <a:spLocks noChangeArrowheads="1"/>
            </p:cNvSpPr>
            <p:nvPr/>
          </p:nvSpPr>
          <p:spPr bwMode="auto">
            <a:xfrm>
              <a:off x="2698" y="3726"/>
              <a:ext cx="100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Loan Payment</a:t>
              </a:r>
            </a:p>
          </p:txBody>
        </p:sp>
        <p:sp>
          <p:nvSpPr>
            <p:cNvPr id="40" name="Line 24"/>
            <p:cNvSpPr>
              <a:spLocks noChangeShapeType="1"/>
            </p:cNvSpPr>
            <p:nvPr/>
          </p:nvSpPr>
          <p:spPr bwMode="auto">
            <a:xfrm flipH="1">
              <a:off x="3929" y="3316"/>
              <a:ext cx="38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41" name="Line 25"/>
            <p:cNvSpPr>
              <a:spLocks noChangeShapeType="1"/>
            </p:cNvSpPr>
            <p:nvPr/>
          </p:nvSpPr>
          <p:spPr bwMode="auto">
            <a:xfrm>
              <a:off x="1427" y="3197"/>
              <a:ext cx="6" cy="49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42" name="Line 26"/>
            <p:cNvSpPr>
              <a:spLocks noChangeShapeType="1"/>
            </p:cNvSpPr>
            <p:nvPr/>
          </p:nvSpPr>
          <p:spPr bwMode="auto">
            <a:xfrm>
              <a:off x="883" y="3407"/>
              <a:ext cx="304" cy="28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43" name="Line 27"/>
            <p:cNvSpPr>
              <a:spLocks noChangeShapeType="1"/>
            </p:cNvSpPr>
            <p:nvPr/>
          </p:nvSpPr>
          <p:spPr bwMode="auto">
            <a:xfrm flipH="1">
              <a:off x="1654" y="3424"/>
              <a:ext cx="497" cy="27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45" name="Line 29"/>
            <p:cNvSpPr>
              <a:spLocks noChangeShapeType="1"/>
            </p:cNvSpPr>
            <p:nvPr/>
          </p:nvSpPr>
          <p:spPr bwMode="auto">
            <a:xfrm>
              <a:off x="4131" y="3407"/>
              <a:ext cx="271" cy="24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46" name="Line 30"/>
            <p:cNvSpPr>
              <a:spLocks noChangeShapeType="1"/>
            </p:cNvSpPr>
            <p:nvPr/>
          </p:nvSpPr>
          <p:spPr bwMode="auto">
            <a:xfrm flipH="1">
              <a:off x="4708" y="3424"/>
              <a:ext cx="324" cy="21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47" name="Line 31"/>
            <p:cNvSpPr>
              <a:spLocks noChangeShapeType="1"/>
            </p:cNvSpPr>
            <p:nvPr/>
          </p:nvSpPr>
          <p:spPr bwMode="auto">
            <a:xfrm flipH="1" flipV="1">
              <a:off x="3925" y="3849"/>
              <a:ext cx="499" cy="5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48" name="Line 32"/>
            <p:cNvSpPr>
              <a:spLocks noChangeShapeType="1"/>
            </p:cNvSpPr>
            <p:nvPr/>
          </p:nvSpPr>
          <p:spPr bwMode="auto">
            <a:xfrm flipV="1">
              <a:off x="1782" y="3835"/>
              <a:ext cx="609" cy="14"/>
            </a:xfrm>
            <a:prstGeom prst="line">
              <a:avLst/>
            </a:prstGeom>
            <a:noFill/>
            <a:ln w="19050" cap="rnd">
              <a:solidFill>
                <a:schemeClr val="tx2"/>
              </a:solidFill>
              <a:round/>
              <a:headEnd type="non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</p:grpSp>
      <p:sp>
        <p:nvSpPr>
          <p:cNvPr id="50" name="Text Box 19"/>
          <p:cNvSpPr txBox="1">
            <a:spLocks noChangeArrowheads="1"/>
          </p:cNvSpPr>
          <p:nvPr/>
        </p:nvSpPr>
        <p:spPr bwMode="auto">
          <a:xfrm rot="10979844">
            <a:off x="4593317" y="4938115"/>
            <a:ext cx="260008" cy="361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747" dirty="0">
                <a:ea typeface="宋体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9051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9900" y="258471"/>
            <a:ext cx="6989109" cy="55671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Weak Entity Set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6431" y="1210556"/>
            <a:ext cx="8345393" cy="2793497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entity set </a:t>
            </a:r>
            <a:r>
              <a:rPr lang="en-US" altLang="zh-CN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is said to be </a:t>
            </a:r>
            <a:r>
              <a:rPr lang="en-US" altLang="zh-CN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weak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if </a:t>
            </a:r>
          </a:p>
          <a:p>
            <a:pPr lvl="1"/>
            <a:r>
              <a:rPr lang="en-US" altLang="zh-CN" sz="1853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order to identify entities of E uniquely, we need to follow one or more many-one relationships from E  and include the key of the related entities from the owner entity sets: </a:t>
            </a:r>
            <a:r>
              <a:rPr lang="en-US" altLang="zh-CN" sz="1853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owner, many weak entities</a:t>
            </a:r>
          </a:p>
        </p:txBody>
      </p:sp>
      <p:sp>
        <p:nvSpPr>
          <p:cNvPr id="50" name="Freeform 15"/>
          <p:cNvSpPr>
            <a:spLocks/>
          </p:cNvSpPr>
          <p:nvPr/>
        </p:nvSpPr>
        <p:spPr bwMode="auto">
          <a:xfrm>
            <a:off x="5729078" y="4589286"/>
            <a:ext cx="1200881" cy="596636"/>
          </a:xfrm>
          <a:custGeom>
            <a:avLst/>
            <a:gdLst>
              <a:gd name="T0" fmla="*/ 0 w 789"/>
              <a:gd name="T1" fmla="*/ 196 h 392"/>
              <a:gd name="T2" fmla="*/ 394 w 789"/>
              <a:gd name="T3" fmla="*/ 0 h 392"/>
              <a:gd name="T4" fmla="*/ 788 w 789"/>
              <a:gd name="T5" fmla="*/ 196 h 392"/>
              <a:gd name="T6" fmla="*/ 394 w 789"/>
              <a:gd name="T7" fmla="*/ 391 h 392"/>
              <a:gd name="T8" fmla="*/ 0 w 789"/>
              <a:gd name="T9" fmla="*/ 196 h 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9"/>
              <a:gd name="T16" fmla="*/ 0 h 392"/>
              <a:gd name="T17" fmla="*/ 789 w 789"/>
              <a:gd name="T18" fmla="*/ 392 h 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9" h="392">
                <a:moveTo>
                  <a:pt x="0" y="196"/>
                </a:moveTo>
                <a:lnTo>
                  <a:pt x="394" y="0"/>
                </a:lnTo>
                <a:lnTo>
                  <a:pt x="788" y="196"/>
                </a:lnTo>
                <a:lnTo>
                  <a:pt x="394" y="391"/>
                </a:lnTo>
                <a:lnTo>
                  <a:pt x="0" y="196"/>
                </a:lnTo>
              </a:path>
            </a:pathLst>
          </a:custGeom>
          <a:solidFill>
            <a:schemeClr val="bg1">
              <a:lumMod val="85000"/>
            </a:schemeClr>
          </a:solidFill>
          <a:ln w="5080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zh-CN" sz="1310"/>
          </a:p>
        </p:txBody>
      </p:sp>
      <p:grpSp>
        <p:nvGrpSpPr>
          <p:cNvPr id="51" name="Group 34"/>
          <p:cNvGrpSpPr>
            <a:grpSpLocks/>
          </p:cNvGrpSpPr>
          <p:nvPr/>
        </p:nvGrpSpPr>
        <p:grpSpPr bwMode="auto">
          <a:xfrm>
            <a:off x="3055780" y="3802261"/>
            <a:ext cx="5922484" cy="1311613"/>
            <a:chOff x="313" y="2849"/>
            <a:chExt cx="5125" cy="1135"/>
          </a:xfrm>
        </p:grpSpPr>
        <p:sp>
          <p:nvSpPr>
            <p:cNvPr id="52" name="Freeform 6"/>
            <p:cNvSpPr>
              <a:spLocks/>
            </p:cNvSpPr>
            <p:nvPr/>
          </p:nvSpPr>
          <p:spPr bwMode="auto">
            <a:xfrm>
              <a:off x="3682" y="3073"/>
              <a:ext cx="790" cy="334"/>
            </a:xfrm>
            <a:custGeom>
              <a:avLst/>
              <a:gdLst>
                <a:gd name="T0" fmla="*/ 788 w 790"/>
                <a:gd name="T1" fmla="*/ 153 h 334"/>
                <a:gd name="T2" fmla="*/ 775 w 790"/>
                <a:gd name="T3" fmla="*/ 124 h 334"/>
                <a:gd name="T4" fmla="*/ 752 w 790"/>
                <a:gd name="T5" fmla="*/ 97 h 334"/>
                <a:gd name="T6" fmla="*/ 718 w 790"/>
                <a:gd name="T7" fmla="*/ 71 h 334"/>
                <a:gd name="T8" fmla="*/ 674 w 790"/>
                <a:gd name="T9" fmla="*/ 50 h 334"/>
                <a:gd name="T10" fmla="*/ 621 w 790"/>
                <a:gd name="T11" fmla="*/ 30 h 334"/>
                <a:gd name="T12" fmla="*/ 561 w 790"/>
                <a:gd name="T13" fmla="*/ 17 h 334"/>
                <a:gd name="T14" fmla="*/ 497 w 790"/>
                <a:gd name="T15" fmla="*/ 6 h 334"/>
                <a:gd name="T16" fmla="*/ 429 w 790"/>
                <a:gd name="T17" fmla="*/ 1 h 334"/>
                <a:gd name="T18" fmla="*/ 360 w 790"/>
                <a:gd name="T19" fmla="*/ 1 h 334"/>
                <a:gd name="T20" fmla="*/ 293 w 790"/>
                <a:gd name="T21" fmla="*/ 6 h 334"/>
                <a:gd name="T22" fmla="*/ 228 w 790"/>
                <a:gd name="T23" fmla="*/ 17 h 334"/>
                <a:gd name="T24" fmla="*/ 169 w 790"/>
                <a:gd name="T25" fmla="*/ 30 h 334"/>
                <a:gd name="T26" fmla="*/ 116 w 790"/>
                <a:gd name="T27" fmla="*/ 50 h 334"/>
                <a:gd name="T28" fmla="*/ 72 w 790"/>
                <a:gd name="T29" fmla="*/ 71 h 334"/>
                <a:gd name="T30" fmla="*/ 38 w 790"/>
                <a:gd name="T31" fmla="*/ 97 h 334"/>
                <a:gd name="T32" fmla="*/ 14 w 790"/>
                <a:gd name="T33" fmla="*/ 124 h 334"/>
                <a:gd name="T34" fmla="*/ 2 w 790"/>
                <a:gd name="T35" fmla="*/ 153 h 334"/>
                <a:gd name="T36" fmla="*/ 2 w 790"/>
                <a:gd name="T37" fmla="*/ 181 h 334"/>
                <a:gd name="T38" fmla="*/ 14 w 790"/>
                <a:gd name="T39" fmla="*/ 210 h 334"/>
                <a:gd name="T40" fmla="*/ 38 w 790"/>
                <a:gd name="T41" fmla="*/ 237 h 334"/>
                <a:gd name="T42" fmla="*/ 72 w 790"/>
                <a:gd name="T43" fmla="*/ 262 h 334"/>
                <a:gd name="T44" fmla="*/ 116 w 790"/>
                <a:gd name="T45" fmla="*/ 284 h 334"/>
                <a:gd name="T46" fmla="*/ 169 w 790"/>
                <a:gd name="T47" fmla="*/ 303 h 334"/>
                <a:gd name="T48" fmla="*/ 228 w 790"/>
                <a:gd name="T49" fmla="*/ 317 h 334"/>
                <a:gd name="T50" fmla="*/ 293 w 790"/>
                <a:gd name="T51" fmla="*/ 327 h 334"/>
                <a:gd name="T52" fmla="*/ 360 w 790"/>
                <a:gd name="T53" fmla="*/ 332 h 334"/>
                <a:gd name="T54" fmla="*/ 429 w 790"/>
                <a:gd name="T55" fmla="*/ 332 h 334"/>
                <a:gd name="T56" fmla="*/ 497 w 790"/>
                <a:gd name="T57" fmla="*/ 327 h 334"/>
                <a:gd name="T58" fmla="*/ 561 w 790"/>
                <a:gd name="T59" fmla="*/ 317 h 334"/>
                <a:gd name="T60" fmla="*/ 621 w 790"/>
                <a:gd name="T61" fmla="*/ 303 h 334"/>
                <a:gd name="T62" fmla="*/ 674 w 790"/>
                <a:gd name="T63" fmla="*/ 284 h 334"/>
                <a:gd name="T64" fmla="*/ 718 w 790"/>
                <a:gd name="T65" fmla="*/ 262 h 334"/>
                <a:gd name="T66" fmla="*/ 752 w 790"/>
                <a:gd name="T67" fmla="*/ 237 h 334"/>
                <a:gd name="T68" fmla="*/ 775 w 790"/>
                <a:gd name="T69" fmla="*/ 210 h 334"/>
                <a:gd name="T70" fmla="*/ 788 w 790"/>
                <a:gd name="T71" fmla="*/ 181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789" y="167"/>
                  </a:moveTo>
                  <a:lnTo>
                    <a:pt x="788" y="153"/>
                  </a:lnTo>
                  <a:lnTo>
                    <a:pt x="783" y="138"/>
                  </a:lnTo>
                  <a:lnTo>
                    <a:pt x="775" y="124"/>
                  </a:lnTo>
                  <a:lnTo>
                    <a:pt x="765" y="110"/>
                  </a:lnTo>
                  <a:lnTo>
                    <a:pt x="752" y="97"/>
                  </a:lnTo>
                  <a:lnTo>
                    <a:pt x="736" y="83"/>
                  </a:lnTo>
                  <a:lnTo>
                    <a:pt x="718" y="71"/>
                  </a:lnTo>
                  <a:lnTo>
                    <a:pt x="697" y="60"/>
                  </a:lnTo>
                  <a:lnTo>
                    <a:pt x="674" y="50"/>
                  </a:lnTo>
                  <a:lnTo>
                    <a:pt x="648" y="40"/>
                  </a:lnTo>
                  <a:lnTo>
                    <a:pt x="621" y="30"/>
                  </a:lnTo>
                  <a:lnTo>
                    <a:pt x="592" y="23"/>
                  </a:lnTo>
                  <a:lnTo>
                    <a:pt x="561" y="17"/>
                  </a:lnTo>
                  <a:lnTo>
                    <a:pt x="529" y="10"/>
                  </a:lnTo>
                  <a:lnTo>
                    <a:pt x="497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6"/>
                  </a:lnTo>
                  <a:lnTo>
                    <a:pt x="260" y="10"/>
                  </a:lnTo>
                  <a:lnTo>
                    <a:pt x="228" y="17"/>
                  </a:lnTo>
                  <a:lnTo>
                    <a:pt x="197" y="23"/>
                  </a:lnTo>
                  <a:lnTo>
                    <a:pt x="169" y="30"/>
                  </a:lnTo>
                  <a:lnTo>
                    <a:pt x="142" y="40"/>
                  </a:lnTo>
                  <a:lnTo>
                    <a:pt x="116" y="50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4" y="83"/>
                  </a:lnTo>
                  <a:lnTo>
                    <a:pt x="38" y="97"/>
                  </a:lnTo>
                  <a:lnTo>
                    <a:pt x="24" y="110"/>
                  </a:lnTo>
                  <a:lnTo>
                    <a:pt x="14" y="124"/>
                  </a:lnTo>
                  <a:lnTo>
                    <a:pt x="7" y="138"/>
                  </a:lnTo>
                  <a:lnTo>
                    <a:pt x="2" y="153"/>
                  </a:lnTo>
                  <a:lnTo>
                    <a:pt x="0" y="167"/>
                  </a:lnTo>
                  <a:lnTo>
                    <a:pt x="2" y="181"/>
                  </a:lnTo>
                  <a:lnTo>
                    <a:pt x="7" y="196"/>
                  </a:lnTo>
                  <a:lnTo>
                    <a:pt x="14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4" y="250"/>
                  </a:lnTo>
                  <a:lnTo>
                    <a:pt x="72" y="262"/>
                  </a:lnTo>
                  <a:lnTo>
                    <a:pt x="93" y="274"/>
                  </a:lnTo>
                  <a:lnTo>
                    <a:pt x="116" y="284"/>
                  </a:lnTo>
                  <a:lnTo>
                    <a:pt x="142" y="294"/>
                  </a:lnTo>
                  <a:lnTo>
                    <a:pt x="169" y="303"/>
                  </a:lnTo>
                  <a:lnTo>
                    <a:pt x="197" y="311"/>
                  </a:lnTo>
                  <a:lnTo>
                    <a:pt x="228" y="317"/>
                  </a:lnTo>
                  <a:lnTo>
                    <a:pt x="260" y="323"/>
                  </a:lnTo>
                  <a:lnTo>
                    <a:pt x="293" y="327"/>
                  </a:lnTo>
                  <a:lnTo>
                    <a:pt x="326" y="331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9" y="332"/>
                  </a:lnTo>
                  <a:lnTo>
                    <a:pt x="463" y="331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2" y="311"/>
                  </a:lnTo>
                  <a:lnTo>
                    <a:pt x="621" y="303"/>
                  </a:lnTo>
                  <a:lnTo>
                    <a:pt x="648" y="294"/>
                  </a:lnTo>
                  <a:lnTo>
                    <a:pt x="674" y="284"/>
                  </a:lnTo>
                  <a:lnTo>
                    <a:pt x="697" y="274"/>
                  </a:lnTo>
                  <a:lnTo>
                    <a:pt x="718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5" y="210"/>
                  </a:lnTo>
                  <a:lnTo>
                    <a:pt x="783" y="196"/>
                  </a:lnTo>
                  <a:lnTo>
                    <a:pt x="788" y="181"/>
                  </a:lnTo>
                  <a:lnTo>
                    <a:pt x="789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53" name="Freeform 7"/>
            <p:cNvSpPr>
              <a:spLocks/>
            </p:cNvSpPr>
            <p:nvPr/>
          </p:nvSpPr>
          <p:spPr bwMode="auto">
            <a:xfrm>
              <a:off x="4648" y="3083"/>
              <a:ext cx="790" cy="334"/>
            </a:xfrm>
            <a:custGeom>
              <a:avLst/>
              <a:gdLst>
                <a:gd name="T0" fmla="*/ 2 w 790"/>
                <a:gd name="T1" fmla="*/ 181 h 334"/>
                <a:gd name="T2" fmla="*/ 13 w 790"/>
                <a:gd name="T3" fmla="*/ 210 h 334"/>
                <a:gd name="T4" fmla="*/ 38 w 790"/>
                <a:gd name="T5" fmla="*/ 237 h 334"/>
                <a:gd name="T6" fmla="*/ 72 w 790"/>
                <a:gd name="T7" fmla="*/ 262 h 334"/>
                <a:gd name="T8" fmla="*/ 116 w 790"/>
                <a:gd name="T9" fmla="*/ 284 h 334"/>
                <a:gd name="T10" fmla="*/ 169 w 790"/>
                <a:gd name="T11" fmla="*/ 303 h 334"/>
                <a:gd name="T12" fmla="*/ 228 w 790"/>
                <a:gd name="T13" fmla="*/ 317 h 334"/>
                <a:gd name="T14" fmla="*/ 293 w 790"/>
                <a:gd name="T15" fmla="*/ 327 h 334"/>
                <a:gd name="T16" fmla="*/ 360 w 790"/>
                <a:gd name="T17" fmla="*/ 332 h 334"/>
                <a:gd name="T18" fmla="*/ 429 w 790"/>
                <a:gd name="T19" fmla="*/ 332 h 334"/>
                <a:gd name="T20" fmla="*/ 497 w 790"/>
                <a:gd name="T21" fmla="*/ 327 h 334"/>
                <a:gd name="T22" fmla="*/ 561 w 790"/>
                <a:gd name="T23" fmla="*/ 317 h 334"/>
                <a:gd name="T24" fmla="*/ 621 w 790"/>
                <a:gd name="T25" fmla="*/ 303 h 334"/>
                <a:gd name="T26" fmla="*/ 673 w 790"/>
                <a:gd name="T27" fmla="*/ 284 h 334"/>
                <a:gd name="T28" fmla="*/ 717 w 790"/>
                <a:gd name="T29" fmla="*/ 262 h 334"/>
                <a:gd name="T30" fmla="*/ 752 w 790"/>
                <a:gd name="T31" fmla="*/ 237 h 334"/>
                <a:gd name="T32" fmla="*/ 775 w 790"/>
                <a:gd name="T33" fmla="*/ 210 h 334"/>
                <a:gd name="T34" fmla="*/ 787 w 790"/>
                <a:gd name="T35" fmla="*/ 181 h 334"/>
                <a:gd name="T36" fmla="*/ 787 w 790"/>
                <a:gd name="T37" fmla="*/ 152 h 334"/>
                <a:gd name="T38" fmla="*/ 775 w 790"/>
                <a:gd name="T39" fmla="*/ 124 h 334"/>
                <a:gd name="T40" fmla="*/ 751 w 790"/>
                <a:gd name="T41" fmla="*/ 97 h 334"/>
                <a:gd name="T42" fmla="*/ 717 w 790"/>
                <a:gd name="T43" fmla="*/ 71 h 334"/>
                <a:gd name="T44" fmla="*/ 673 w 790"/>
                <a:gd name="T45" fmla="*/ 49 h 334"/>
                <a:gd name="T46" fmla="*/ 620 w 790"/>
                <a:gd name="T47" fmla="*/ 30 h 334"/>
                <a:gd name="T48" fmla="*/ 561 w 790"/>
                <a:gd name="T49" fmla="*/ 16 h 334"/>
                <a:gd name="T50" fmla="*/ 496 w 790"/>
                <a:gd name="T51" fmla="*/ 6 h 334"/>
                <a:gd name="T52" fmla="*/ 429 w 790"/>
                <a:gd name="T53" fmla="*/ 1 h 334"/>
                <a:gd name="T54" fmla="*/ 360 w 790"/>
                <a:gd name="T55" fmla="*/ 1 h 334"/>
                <a:gd name="T56" fmla="*/ 293 w 790"/>
                <a:gd name="T57" fmla="*/ 7 h 334"/>
                <a:gd name="T58" fmla="*/ 228 w 790"/>
                <a:gd name="T59" fmla="*/ 16 h 334"/>
                <a:gd name="T60" fmla="*/ 169 w 790"/>
                <a:gd name="T61" fmla="*/ 30 h 334"/>
                <a:gd name="T62" fmla="*/ 116 w 790"/>
                <a:gd name="T63" fmla="*/ 50 h 334"/>
                <a:gd name="T64" fmla="*/ 72 w 790"/>
                <a:gd name="T65" fmla="*/ 71 h 334"/>
                <a:gd name="T66" fmla="*/ 38 w 790"/>
                <a:gd name="T67" fmla="*/ 97 h 334"/>
                <a:gd name="T68" fmla="*/ 13 w 790"/>
                <a:gd name="T69" fmla="*/ 124 h 334"/>
                <a:gd name="T70" fmla="*/ 2 w 790"/>
                <a:gd name="T71" fmla="*/ 152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0" y="167"/>
                  </a:moveTo>
                  <a:lnTo>
                    <a:pt x="2" y="181"/>
                  </a:lnTo>
                  <a:lnTo>
                    <a:pt x="6" y="196"/>
                  </a:lnTo>
                  <a:lnTo>
                    <a:pt x="13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3" y="250"/>
                  </a:lnTo>
                  <a:lnTo>
                    <a:pt x="72" y="262"/>
                  </a:lnTo>
                  <a:lnTo>
                    <a:pt x="93" y="274"/>
                  </a:lnTo>
                  <a:lnTo>
                    <a:pt x="116" y="284"/>
                  </a:lnTo>
                  <a:lnTo>
                    <a:pt x="141" y="294"/>
                  </a:lnTo>
                  <a:lnTo>
                    <a:pt x="169" y="303"/>
                  </a:lnTo>
                  <a:lnTo>
                    <a:pt x="197" y="311"/>
                  </a:lnTo>
                  <a:lnTo>
                    <a:pt x="228" y="317"/>
                  </a:lnTo>
                  <a:lnTo>
                    <a:pt x="259" y="323"/>
                  </a:lnTo>
                  <a:lnTo>
                    <a:pt x="293" y="327"/>
                  </a:lnTo>
                  <a:lnTo>
                    <a:pt x="326" y="331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9" y="332"/>
                  </a:lnTo>
                  <a:lnTo>
                    <a:pt x="463" y="331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1" y="311"/>
                  </a:lnTo>
                  <a:lnTo>
                    <a:pt x="621" y="303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4"/>
                  </a:lnTo>
                  <a:lnTo>
                    <a:pt x="717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5" y="210"/>
                  </a:lnTo>
                  <a:lnTo>
                    <a:pt x="782" y="195"/>
                  </a:lnTo>
                  <a:lnTo>
                    <a:pt x="787" y="181"/>
                  </a:lnTo>
                  <a:lnTo>
                    <a:pt x="789" y="167"/>
                  </a:lnTo>
                  <a:lnTo>
                    <a:pt x="787" y="152"/>
                  </a:lnTo>
                  <a:lnTo>
                    <a:pt x="782" y="137"/>
                  </a:lnTo>
                  <a:lnTo>
                    <a:pt x="775" y="124"/>
                  </a:lnTo>
                  <a:lnTo>
                    <a:pt x="765" y="110"/>
                  </a:lnTo>
                  <a:lnTo>
                    <a:pt x="751" y="97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8" y="40"/>
                  </a:lnTo>
                  <a:lnTo>
                    <a:pt x="620" y="30"/>
                  </a:lnTo>
                  <a:lnTo>
                    <a:pt x="591" y="23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7"/>
                  </a:lnTo>
                  <a:lnTo>
                    <a:pt x="259" y="10"/>
                  </a:lnTo>
                  <a:lnTo>
                    <a:pt x="228" y="16"/>
                  </a:lnTo>
                  <a:lnTo>
                    <a:pt x="197" y="23"/>
                  </a:lnTo>
                  <a:lnTo>
                    <a:pt x="169" y="30"/>
                  </a:lnTo>
                  <a:lnTo>
                    <a:pt x="141" y="40"/>
                  </a:lnTo>
                  <a:lnTo>
                    <a:pt x="116" y="50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3" y="83"/>
                  </a:lnTo>
                  <a:lnTo>
                    <a:pt x="38" y="97"/>
                  </a:lnTo>
                  <a:lnTo>
                    <a:pt x="24" y="110"/>
                  </a:lnTo>
                  <a:lnTo>
                    <a:pt x="13" y="124"/>
                  </a:lnTo>
                  <a:lnTo>
                    <a:pt x="6" y="138"/>
                  </a:lnTo>
                  <a:lnTo>
                    <a:pt x="2" y="152"/>
                  </a:lnTo>
                  <a:lnTo>
                    <a:pt x="0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54" name="Freeform 8"/>
            <p:cNvSpPr>
              <a:spLocks/>
            </p:cNvSpPr>
            <p:nvPr/>
          </p:nvSpPr>
          <p:spPr bwMode="auto">
            <a:xfrm>
              <a:off x="313" y="3093"/>
              <a:ext cx="790" cy="334"/>
            </a:xfrm>
            <a:custGeom>
              <a:avLst/>
              <a:gdLst>
                <a:gd name="T0" fmla="*/ 787 w 790"/>
                <a:gd name="T1" fmla="*/ 152 h 334"/>
                <a:gd name="T2" fmla="*/ 776 w 790"/>
                <a:gd name="T3" fmla="*/ 124 h 334"/>
                <a:gd name="T4" fmla="*/ 752 w 790"/>
                <a:gd name="T5" fmla="*/ 96 h 334"/>
                <a:gd name="T6" fmla="*/ 717 w 790"/>
                <a:gd name="T7" fmla="*/ 71 h 334"/>
                <a:gd name="T8" fmla="*/ 673 w 790"/>
                <a:gd name="T9" fmla="*/ 49 h 334"/>
                <a:gd name="T10" fmla="*/ 620 w 790"/>
                <a:gd name="T11" fmla="*/ 30 h 334"/>
                <a:gd name="T12" fmla="*/ 561 w 790"/>
                <a:gd name="T13" fmla="*/ 16 h 334"/>
                <a:gd name="T14" fmla="*/ 497 w 790"/>
                <a:gd name="T15" fmla="*/ 6 h 334"/>
                <a:gd name="T16" fmla="*/ 429 w 790"/>
                <a:gd name="T17" fmla="*/ 1 h 334"/>
                <a:gd name="T18" fmla="*/ 360 w 790"/>
                <a:gd name="T19" fmla="*/ 1 h 334"/>
                <a:gd name="T20" fmla="*/ 293 w 790"/>
                <a:gd name="T21" fmla="*/ 6 h 334"/>
                <a:gd name="T22" fmla="*/ 228 w 790"/>
                <a:gd name="T23" fmla="*/ 16 h 334"/>
                <a:gd name="T24" fmla="*/ 169 w 790"/>
                <a:gd name="T25" fmla="*/ 30 h 334"/>
                <a:gd name="T26" fmla="*/ 116 w 790"/>
                <a:gd name="T27" fmla="*/ 49 h 334"/>
                <a:gd name="T28" fmla="*/ 72 w 790"/>
                <a:gd name="T29" fmla="*/ 71 h 334"/>
                <a:gd name="T30" fmla="*/ 38 w 790"/>
                <a:gd name="T31" fmla="*/ 96 h 334"/>
                <a:gd name="T32" fmla="*/ 14 w 790"/>
                <a:gd name="T33" fmla="*/ 124 h 334"/>
                <a:gd name="T34" fmla="*/ 2 w 790"/>
                <a:gd name="T35" fmla="*/ 152 h 334"/>
                <a:gd name="T36" fmla="*/ 2 w 790"/>
                <a:gd name="T37" fmla="*/ 181 h 334"/>
                <a:gd name="T38" fmla="*/ 14 w 790"/>
                <a:gd name="T39" fmla="*/ 210 h 334"/>
                <a:gd name="T40" fmla="*/ 38 w 790"/>
                <a:gd name="T41" fmla="*/ 237 h 334"/>
                <a:gd name="T42" fmla="*/ 72 w 790"/>
                <a:gd name="T43" fmla="*/ 262 h 334"/>
                <a:gd name="T44" fmla="*/ 116 w 790"/>
                <a:gd name="T45" fmla="*/ 284 h 334"/>
                <a:gd name="T46" fmla="*/ 169 w 790"/>
                <a:gd name="T47" fmla="*/ 303 h 334"/>
                <a:gd name="T48" fmla="*/ 228 w 790"/>
                <a:gd name="T49" fmla="*/ 317 h 334"/>
                <a:gd name="T50" fmla="*/ 293 w 790"/>
                <a:gd name="T51" fmla="*/ 327 h 334"/>
                <a:gd name="T52" fmla="*/ 360 w 790"/>
                <a:gd name="T53" fmla="*/ 332 h 334"/>
                <a:gd name="T54" fmla="*/ 429 w 790"/>
                <a:gd name="T55" fmla="*/ 332 h 334"/>
                <a:gd name="T56" fmla="*/ 497 w 790"/>
                <a:gd name="T57" fmla="*/ 327 h 334"/>
                <a:gd name="T58" fmla="*/ 561 w 790"/>
                <a:gd name="T59" fmla="*/ 317 h 334"/>
                <a:gd name="T60" fmla="*/ 620 w 790"/>
                <a:gd name="T61" fmla="*/ 303 h 334"/>
                <a:gd name="T62" fmla="*/ 673 w 790"/>
                <a:gd name="T63" fmla="*/ 284 h 334"/>
                <a:gd name="T64" fmla="*/ 717 w 790"/>
                <a:gd name="T65" fmla="*/ 262 h 334"/>
                <a:gd name="T66" fmla="*/ 752 w 790"/>
                <a:gd name="T67" fmla="*/ 237 h 334"/>
                <a:gd name="T68" fmla="*/ 776 w 790"/>
                <a:gd name="T69" fmla="*/ 210 h 334"/>
                <a:gd name="T70" fmla="*/ 787 w 790"/>
                <a:gd name="T71" fmla="*/ 181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789" y="167"/>
                  </a:moveTo>
                  <a:lnTo>
                    <a:pt x="787" y="152"/>
                  </a:lnTo>
                  <a:lnTo>
                    <a:pt x="783" y="137"/>
                  </a:lnTo>
                  <a:lnTo>
                    <a:pt x="776" y="124"/>
                  </a:lnTo>
                  <a:lnTo>
                    <a:pt x="765" y="110"/>
                  </a:lnTo>
                  <a:lnTo>
                    <a:pt x="752" y="96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8" y="39"/>
                  </a:lnTo>
                  <a:lnTo>
                    <a:pt x="620" y="30"/>
                  </a:lnTo>
                  <a:lnTo>
                    <a:pt x="592" y="23"/>
                  </a:lnTo>
                  <a:lnTo>
                    <a:pt x="561" y="16"/>
                  </a:lnTo>
                  <a:lnTo>
                    <a:pt x="530" y="10"/>
                  </a:lnTo>
                  <a:lnTo>
                    <a:pt x="497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5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6"/>
                  </a:lnTo>
                  <a:lnTo>
                    <a:pt x="260" y="10"/>
                  </a:lnTo>
                  <a:lnTo>
                    <a:pt x="228" y="16"/>
                  </a:lnTo>
                  <a:lnTo>
                    <a:pt x="198" y="23"/>
                  </a:lnTo>
                  <a:lnTo>
                    <a:pt x="169" y="30"/>
                  </a:lnTo>
                  <a:lnTo>
                    <a:pt x="142" y="39"/>
                  </a:lnTo>
                  <a:lnTo>
                    <a:pt x="116" y="49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3" y="83"/>
                  </a:lnTo>
                  <a:lnTo>
                    <a:pt x="38" y="96"/>
                  </a:lnTo>
                  <a:lnTo>
                    <a:pt x="24" y="110"/>
                  </a:lnTo>
                  <a:lnTo>
                    <a:pt x="14" y="124"/>
                  </a:lnTo>
                  <a:lnTo>
                    <a:pt x="7" y="137"/>
                  </a:lnTo>
                  <a:lnTo>
                    <a:pt x="2" y="152"/>
                  </a:lnTo>
                  <a:lnTo>
                    <a:pt x="0" y="167"/>
                  </a:lnTo>
                  <a:lnTo>
                    <a:pt x="2" y="181"/>
                  </a:lnTo>
                  <a:lnTo>
                    <a:pt x="7" y="195"/>
                  </a:lnTo>
                  <a:lnTo>
                    <a:pt x="14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3" y="250"/>
                  </a:lnTo>
                  <a:lnTo>
                    <a:pt x="72" y="262"/>
                  </a:lnTo>
                  <a:lnTo>
                    <a:pt x="93" y="273"/>
                  </a:lnTo>
                  <a:lnTo>
                    <a:pt x="116" y="284"/>
                  </a:lnTo>
                  <a:lnTo>
                    <a:pt x="142" y="294"/>
                  </a:lnTo>
                  <a:lnTo>
                    <a:pt x="169" y="303"/>
                  </a:lnTo>
                  <a:lnTo>
                    <a:pt x="198" y="311"/>
                  </a:lnTo>
                  <a:lnTo>
                    <a:pt x="228" y="317"/>
                  </a:lnTo>
                  <a:lnTo>
                    <a:pt x="260" y="323"/>
                  </a:lnTo>
                  <a:lnTo>
                    <a:pt x="293" y="327"/>
                  </a:lnTo>
                  <a:lnTo>
                    <a:pt x="326" y="330"/>
                  </a:lnTo>
                  <a:lnTo>
                    <a:pt x="360" y="332"/>
                  </a:lnTo>
                  <a:lnTo>
                    <a:pt x="395" y="333"/>
                  </a:lnTo>
                  <a:lnTo>
                    <a:pt x="429" y="332"/>
                  </a:lnTo>
                  <a:lnTo>
                    <a:pt x="463" y="330"/>
                  </a:lnTo>
                  <a:lnTo>
                    <a:pt x="497" y="327"/>
                  </a:lnTo>
                  <a:lnTo>
                    <a:pt x="530" y="323"/>
                  </a:lnTo>
                  <a:lnTo>
                    <a:pt x="561" y="317"/>
                  </a:lnTo>
                  <a:lnTo>
                    <a:pt x="592" y="311"/>
                  </a:lnTo>
                  <a:lnTo>
                    <a:pt x="620" y="303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6" y="210"/>
                  </a:lnTo>
                  <a:lnTo>
                    <a:pt x="783" y="195"/>
                  </a:lnTo>
                  <a:lnTo>
                    <a:pt x="787" y="181"/>
                  </a:lnTo>
                  <a:lnTo>
                    <a:pt x="789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55" name="Freeform 9"/>
            <p:cNvSpPr>
              <a:spLocks/>
            </p:cNvSpPr>
            <p:nvPr/>
          </p:nvSpPr>
          <p:spPr bwMode="auto">
            <a:xfrm>
              <a:off x="1762" y="3093"/>
              <a:ext cx="789" cy="334"/>
            </a:xfrm>
            <a:custGeom>
              <a:avLst/>
              <a:gdLst>
                <a:gd name="T0" fmla="*/ 2 w 789"/>
                <a:gd name="T1" fmla="*/ 181 h 334"/>
                <a:gd name="T2" fmla="*/ 13 w 789"/>
                <a:gd name="T3" fmla="*/ 210 h 334"/>
                <a:gd name="T4" fmla="*/ 37 w 789"/>
                <a:gd name="T5" fmla="*/ 237 h 334"/>
                <a:gd name="T6" fmla="*/ 71 w 789"/>
                <a:gd name="T7" fmla="*/ 262 h 334"/>
                <a:gd name="T8" fmla="*/ 116 w 789"/>
                <a:gd name="T9" fmla="*/ 284 h 334"/>
                <a:gd name="T10" fmla="*/ 168 w 789"/>
                <a:gd name="T11" fmla="*/ 303 h 334"/>
                <a:gd name="T12" fmla="*/ 227 w 789"/>
                <a:gd name="T13" fmla="*/ 317 h 334"/>
                <a:gd name="T14" fmla="*/ 293 w 789"/>
                <a:gd name="T15" fmla="*/ 327 h 334"/>
                <a:gd name="T16" fmla="*/ 360 w 789"/>
                <a:gd name="T17" fmla="*/ 332 h 334"/>
                <a:gd name="T18" fmla="*/ 428 w 789"/>
                <a:gd name="T19" fmla="*/ 332 h 334"/>
                <a:gd name="T20" fmla="*/ 497 w 789"/>
                <a:gd name="T21" fmla="*/ 327 h 334"/>
                <a:gd name="T22" fmla="*/ 561 w 789"/>
                <a:gd name="T23" fmla="*/ 317 h 334"/>
                <a:gd name="T24" fmla="*/ 620 w 789"/>
                <a:gd name="T25" fmla="*/ 302 h 334"/>
                <a:gd name="T26" fmla="*/ 673 w 789"/>
                <a:gd name="T27" fmla="*/ 284 h 334"/>
                <a:gd name="T28" fmla="*/ 717 w 789"/>
                <a:gd name="T29" fmla="*/ 261 h 334"/>
                <a:gd name="T30" fmla="*/ 751 w 789"/>
                <a:gd name="T31" fmla="*/ 237 h 334"/>
                <a:gd name="T32" fmla="*/ 775 w 789"/>
                <a:gd name="T33" fmla="*/ 209 h 334"/>
                <a:gd name="T34" fmla="*/ 787 w 789"/>
                <a:gd name="T35" fmla="*/ 180 h 334"/>
                <a:gd name="T36" fmla="*/ 787 w 789"/>
                <a:gd name="T37" fmla="*/ 152 h 334"/>
                <a:gd name="T38" fmla="*/ 775 w 789"/>
                <a:gd name="T39" fmla="*/ 124 h 334"/>
                <a:gd name="T40" fmla="*/ 751 w 789"/>
                <a:gd name="T41" fmla="*/ 96 h 334"/>
                <a:gd name="T42" fmla="*/ 717 w 789"/>
                <a:gd name="T43" fmla="*/ 71 h 334"/>
                <a:gd name="T44" fmla="*/ 673 w 789"/>
                <a:gd name="T45" fmla="*/ 49 h 334"/>
                <a:gd name="T46" fmla="*/ 620 w 789"/>
                <a:gd name="T47" fmla="*/ 30 h 334"/>
                <a:gd name="T48" fmla="*/ 561 w 789"/>
                <a:gd name="T49" fmla="*/ 16 h 334"/>
                <a:gd name="T50" fmla="*/ 496 w 789"/>
                <a:gd name="T51" fmla="*/ 6 h 334"/>
                <a:gd name="T52" fmla="*/ 428 w 789"/>
                <a:gd name="T53" fmla="*/ 1 h 334"/>
                <a:gd name="T54" fmla="*/ 360 w 789"/>
                <a:gd name="T55" fmla="*/ 1 h 334"/>
                <a:gd name="T56" fmla="*/ 292 w 789"/>
                <a:gd name="T57" fmla="*/ 6 h 334"/>
                <a:gd name="T58" fmla="*/ 227 w 789"/>
                <a:gd name="T59" fmla="*/ 16 h 334"/>
                <a:gd name="T60" fmla="*/ 168 w 789"/>
                <a:gd name="T61" fmla="*/ 30 h 334"/>
                <a:gd name="T62" fmla="*/ 116 w 789"/>
                <a:gd name="T63" fmla="*/ 49 h 334"/>
                <a:gd name="T64" fmla="*/ 71 w 789"/>
                <a:gd name="T65" fmla="*/ 71 h 334"/>
                <a:gd name="T66" fmla="*/ 37 w 789"/>
                <a:gd name="T67" fmla="*/ 97 h 334"/>
                <a:gd name="T68" fmla="*/ 13 w 789"/>
                <a:gd name="T69" fmla="*/ 124 h 334"/>
                <a:gd name="T70" fmla="*/ 2 w 789"/>
                <a:gd name="T71" fmla="*/ 152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89"/>
                <a:gd name="T109" fmla="*/ 0 h 334"/>
                <a:gd name="T110" fmla="*/ 789 w 789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89" h="334">
                  <a:moveTo>
                    <a:pt x="0" y="167"/>
                  </a:moveTo>
                  <a:lnTo>
                    <a:pt x="2" y="181"/>
                  </a:lnTo>
                  <a:lnTo>
                    <a:pt x="6" y="195"/>
                  </a:lnTo>
                  <a:lnTo>
                    <a:pt x="13" y="210"/>
                  </a:lnTo>
                  <a:lnTo>
                    <a:pt x="24" y="224"/>
                  </a:lnTo>
                  <a:lnTo>
                    <a:pt x="37" y="237"/>
                  </a:lnTo>
                  <a:lnTo>
                    <a:pt x="53" y="250"/>
                  </a:lnTo>
                  <a:lnTo>
                    <a:pt x="71" y="262"/>
                  </a:lnTo>
                  <a:lnTo>
                    <a:pt x="92" y="274"/>
                  </a:lnTo>
                  <a:lnTo>
                    <a:pt x="116" y="284"/>
                  </a:lnTo>
                  <a:lnTo>
                    <a:pt x="141" y="294"/>
                  </a:lnTo>
                  <a:lnTo>
                    <a:pt x="168" y="303"/>
                  </a:lnTo>
                  <a:lnTo>
                    <a:pt x="197" y="311"/>
                  </a:lnTo>
                  <a:lnTo>
                    <a:pt x="227" y="317"/>
                  </a:lnTo>
                  <a:lnTo>
                    <a:pt x="259" y="323"/>
                  </a:lnTo>
                  <a:lnTo>
                    <a:pt x="293" y="327"/>
                  </a:lnTo>
                  <a:lnTo>
                    <a:pt x="326" y="330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8" y="332"/>
                  </a:lnTo>
                  <a:lnTo>
                    <a:pt x="462" y="330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1" y="311"/>
                  </a:lnTo>
                  <a:lnTo>
                    <a:pt x="620" y="302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1"/>
                  </a:lnTo>
                  <a:lnTo>
                    <a:pt x="736" y="250"/>
                  </a:lnTo>
                  <a:lnTo>
                    <a:pt x="751" y="237"/>
                  </a:lnTo>
                  <a:lnTo>
                    <a:pt x="764" y="223"/>
                  </a:lnTo>
                  <a:lnTo>
                    <a:pt x="775" y="209"/>
                  </a:lnTo>
                  <a:lnTo>
                    <a:pt x="782" y="195"/>
                  </a:lnTo>
                  <a:lnTo>
                    <a:pt x="787" y="180"/>
                  </a:lnTo>
                  <a:lnTo>
                    <a:pt x="788" y="167"/>
                  </a:lnTo>
                  <a:lnTo>
                    <a:pt x="787" y="152"/>
                  </a:lnTo>
                  <a:lnTo>
                    <a:pt x="782" y="137"/>
                  </a:lnTo>
                  <a:lnTo>
                    <a:pt x="775" y="124"/>
                  </a:lnTo>
                  <a:lnTo>
                    <a:pt x="764" y="110"/>
                  </a:lnTo>
                  <a:lnTo>
                    <a:pt x="751" y="96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7" y="39"/>
                  </a:lnTo>
                  <a:lnTo>
                    <a:pt x="620" y="30"/>
                  </a:lnTo>
                  <a:lnTo>
                    <a:pt x="591" y="23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2" y="3"/>
                  </a:lnTo>
                  <a:lnTo>
                    <a:pt x="428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2" y="6"/>
                  </a:lnTo>
                  <a:lnTo>
                    <a:pt x="259" y="10"/>
                  </a:lnTo>
                  <a:lnTo>
                    <a:pt x="227" y="16"/>
                  </a:lnTo>
                  <a:lnTo>
                    <a:pt x="197" y="23"/>
                  </a:lnTo>
                  <a:lnTo>
                    <a:pt x="168" y="30"/>
                  </a:lnTo>
                  <a:lnTo>
                    <a:pt x="140" y="39"/>
                  </a:lnTo>
                  <a:lnTo>
                    <a:pt x="116" y="49"/>
                  </a:lnTo>
                  <a:lnTo>
                    <a:pt x="92" y="60"/>
                  </a:lnTo>
                  <a:lnTo>
                    <a:pt x="71" y="71"/>
                  </a:lnTo>
                  <a:lnTo>
                    <a:pt x="53" y="83"/>
                  </a:lnTo>
                  <a:lnTo>
                    <a:pt x="37" y="97"/>
                  </a:lnTo>
                  <a:lnTo>
                    <a:pt x="24" y="110"/>
                  </a:lnTo>
                  <a:lnTo>
                    <a:pt x="13" y="124"/>
                  </a:lnTo>
                  <a:lnTo>
                    <a:pt x="6" y="137"/>
                  </a:lnTo>
                  <a:lnTo>
                    <a:pt x="2" y="152"/>
                  </a:lnTo>
                  <a:lnTo>
                    <a:pt x="0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56" name="Freeform 10"/>
            <p:cNvSpPr>
              <a:spLocks/>
            </p:cNvSpPr>
            <p:nvPr/>
          </p:nvSpPr>
          <p:spPr bwMode="auto">
            <a:xfrm>
              <a:off x="2752" y="3034"/>
              <a:ext cx="789" cy="333"/>
            </a:xfrm>
            <a:custGeom>
              <a:avLst/>
              <a:gdLst>
                <a:gd name="T0" fmla="*/ 2 w 789"/>
                <a:gd name="T1" fmla="*/ 181 h 333"/>
                <a:gd name="T2" fmla="*/ 14 w 789"/>
                <a:gd name="T3" fmla="*/ 209 h 333"/>
                <a:gd name="T4" fmla="*/ 38 w 789"/>
                <a:gd name="T5" fmla="*/ 237 h 333"/>
                <a:gd name="T6" fmla="*/ 72 w 789"/>
                <a:gd name="T7" fmla="*/ 262 h 333"/>
                <a:gd name="T8" fmla="*/ 116 w 789"/>
                <a:gd name="T9" fmla="*/ 284 h 333"/>
                <a:gd name="T10" fmla="*/ 169 w 789"/>
                <a:gd name="T11" fmla="*/ 302 h 333"/>
                <a:gd name="T12" fmla="*/ 228 w 789"/>
                <a:gd name="T13" fmla="*/ 317 h 333"/>
                <a:gd name="T14" fmla="*/ 292 w 789"/>
                <a:gd name="T15" fmla="*/ 327 h 333"/>
                <a:gd name="T16" fmla="*/ 360 w 789"/>
                <a:gd name="T17" fmla="*/ 332 h 333"/>
                <a:gd name="T18" fmla="*/ 429 w 789"/>
                <a:gd name="T19" fmla="*/ 332 h 333"/>
                <a:gd name="T20" fmla="*/ 496 w 789"/>
                <a:gd name="T21" fmla="*/ 327 h 333"/>
                <a:gd name="T22" fmla="*/ 560 w 789"/>
                <a:gd name="T23" fmla="*/ 317 h 333"/>
                <a:gd name="T24" fmla="*/ 620 w 789"/>
                <a:gd name="T25" fmla="*/ 302 h 333"/>
                <a:gd name="T26" fmla="*/ 673 w 789"/>
                <a:gd name="T27" fmla="*/ 284 h 333"/>
                <a:gd name="T28" fmla="*/ 716 w 789"/>
                <a:gd name="T29" fmla="*/ 262 h 333"/>
                <a:gd name="T30" fmla="*/ 751 w 789"/>
                <a:gd name="T31" fmla="*/ 236 h 333"/>
                <a:gd name="T32" fmla="*/ 775 w 789"/>
                <a:gd name="T33" fmla="*/ 209 h 333"/>
                <a:gd name="T34" fmla="*/ 786 w 789"/>
                <a:gd name="T35" fmla="*/ 181 h 333"/>
                <a:gd name="T36" fmla="*/ 786 w 789"/>
                <a:gd name="T37" fmla="*/ 151 h 333"/>
                <a:gd name="T38" fmla="*/ 775 w 789"/>
                <a:gd name="T39" fmla="*/ 123 h 333"/>
                <a:gd name="T40" fmla="*/ 751 w 789"/>
                <a:gd name="T41" fmla="*/ 96 h 333"/>
                <a:gd name="T42" fmla="*/ 716 w 789"/>
                <a:gd name="T43" fmla="*/ 71 h 333"/>
                <a:gd name="T44" fmla="*/ 672 w 789"/>
                <a:gd name="T45" fmla="*/ 48 h 333"/>
                <a:gd name="T46" fmla="*/ 620 w 789"/>
                <a:gd name="T47" fmla="*/ 30 h 333"/>
                <a:gd name="T48" fmla="*/ 560 w 789"/>
                <a:gd name="T49" fmla="*/ 15 h 333"/>
                <a:gd name="T50" fmla="*/ 496 w 789"/>
                <a:gd name="T51" fmla="*/ 6 h 333"/>
                <a:gd name="T52" fmla="*/ 428 w 789"/>
                <a:gd name="T53" fmla="*/ 1 h 333"/>
                <a:gd name="T54" fmla="*/ 360 w 789"/>
                <a:gd name="T55" fmla="*/ 1 h 333"/>
                <a:gd name="T56" fmla="*/ 292 w 789"/>
                <a:gd name="T57" fmla="*/ 6 h 333"/>
                <a:gd name="T58" fmla="*/ 228 w 789"/>
                <a:gd name="T59" fmla="*/ 16 h 333"/>
                <a:gd name="T60" fmla="*/ 169 w 789"/>
                <a:gd name="T61" fmla="*/ 30 h 333"/>
                <a:gd name="T62" fmla="*/ 116 w 789"/>
                <a:gd name="T63" fmla="*/ 49 h 333"/>
                <a:gd name="T64" fmla="*/ 72 w 789"/>
                <a:gd name="T65" fmla="*/ 71 h 333"/>
                <a:gd name="T66" fmla="*/ 38 w 789"/>
                <a:gd name="T67" fmla="*/ 96 h 333"/>
                <a:gd name="T68" fmla="*/ 14 w 789"/>
                <a:gd name="T69" fmla="*/ 123 h 333"/>
                <a:gd name="T70" fmla="*/ 2 w 789"/>
                <a:gd name="T71" fmla="*/ 152 h 33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89"/>
                <a:gd name="T109" fmla="*/ 0 h 333"/>
                <a:gd name="T110" fmla="*/ 789 w 789"/>
                <a:gd name="T111" fmla="*/ 333 h 33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89" h="333">
                  <a:moveTo>
                    <a:pt x="0" y="166"/>
                  </a:moveTo>
                  <a:lnTo>
                    <a:pt x="2" y="181"/>
                  </a:lnTo>
                  <a:lnTo>
                    <a:pt x="6" y="195"/>
                  </a:lnTo>
                  <a:lnTo>
                    <a:pt x="14" y="209"/>
                  </a:lnTo>
                  <a:lnTo>
                    <a:pt x="24" y="223"/>
                  </a:lnTo>
                  <a:lnTo>
                    <a:pt x="38" y="237"/>
                  </a:lnTo>
                  <a:lnTo>
                    <a:pt x="53" y="249"/>
                  </a:lnTo>
                  <a:lnTo>
                    <a:pt x="72" y="262"/>
                  </a:lnTo>
                  <a:lnTo>
                    <a:pt x="93" y="273"/>
                  </a:lnTo>
                  <a:lnTo>
                    <a:pt x="116" y="284"/>
                  </a:lnTo>
                  <a:lnTo>
                    <a:pt x="141" y="294"/>
                  </a:lnTo>
                  <a:lnTo>
                    <a:pt x="169" y="302"/>
                  </a:lnTo>
                  <a:lnTo>
                    <a:pt x="197" y="310"/>
                  </a:lnTo>
                  <a:lnTo>
                    <a:pt x="228" y="317"/>
                  </a:lnTo>
                  <a:lnTo>
                    <a:pt x="259" y="322"/>
                  </a:lnTo>
                  <a:lnTo>
                    <a:pt x="292" y="327"/>
                  </a:lnTo>
                  <a:lnTo>
                    <a:pt x="325" y="330"/>
                  </a:lnTo>
                  <a:lnTo>
                    <a:pt x="360" y="332"/>
                  </a:lnTo>
                  <a:lnTo>
                    <a:pt x="394" y="332"/>
                  </a:lnTo>
                  <a:lnTo>
                    <a:pt x="429" y="332"/>
                  </a:lnTo>
                  <a:lnTo>
                    <a:pt x="463" y="330"/>
                  </a:lnTo>
                  <a:lnTo>
                    <a:pt x="496" y="327"/>
                  </a:lnTo>
                  <a:lnTo>
                    <a:pt x="529" y="322"/>
                  </a:lnTo>
                  <a:lnTo>
                    <a:pt x="560" y="317"/>
                  </a:lnTo>
                  <a:lnTo>
                    <a:pt x="591" y="310"/>
                  </a:lnTo>
                  <a:lnTo>
                    <a:pt x="620" y="302"/>
                  </a:lnTo>
                  <a:lnTo>
                    <a:pt x="647" y="293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6" y="262"/>
                  </a:lnTo>
                  <a:lnTo>
                    <a:pt x="735" y="249"/>
                  </a:lnTo>
                  <a:lnTo>
                    <a:pt x="751" y="236"/>
                  </a:lnTo>
                  <a:lnTo>
                    <a:pt x="765" y="223"/>
                  </a:lnTo>
                  <a:lnTo>
                    <a:pt x="775" y="209"/>
                  </a:lnTo>
                  <a:lnTo>
                    <a:pt x="782" y="195"/>
                  </a:lnTo>
                  <a:lnTo>
                    <a:pt x="786" y="181"/>
                  </a:lnTo>
                  <a:lnTo>
                    <a:pt x="788" y="166"/>
                  </a:lnTo>
                  <a:lnTo>
                    <a:pt x="786" y="151"/>
                  </a:lnTo>
                  <a:lnTo>
                    <a:pt x="782" y="137"/>
                  </a:lnTo>
                  <a:lnTo>
                    <a:pt x="775" y="123"/>
                  </a:lnTo>
                  <a:lnTo>
                    <a:pt x="765" y="109"/>
                  </a:lnTo>
                  <a:lnTo>
                    <a:pt x="751" y="96"/>
                  </a:lnTo>
                  <a:lnTo>
                    <a:pt x="735" y="83"/>
                  </a:lnTo>
                  <a:lnTo>
                    <a:pt x="716" y="71"/>
                  </a:lnTo>
                  <a:lnTo>
                    <a:pt x="695" y="59"/>
                  </a:lnTo>
                  <a:lnTo>
                    <a:pt x="672" y="48"/>
                  </a:lnTo>
                  <a:lnTo>
                    <a:pt x="647" y="39"/>
                  </a:lnTo>
                  <a:lnTo>
                    <a:pt x="620" y="30"/>
                  </a:lnTo>
                  <a:lnTo>
                    <a:pt x="591" y="22"/>
                  </a:lnTo>
                  <a:lnTo>
                    <a:pt x="560" y="15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2" y="2"/>
                  </a:lnTo>
                  <a:lnTo>
                    <a:pt x="428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5" y="3"/>
                  </a:lnTo>
                  <a:lnTo>
                    <a:pt x="292" y="6"/>
                  </a:lnTo>
                  <a:lnTo>
                    <a:pt x="259" y="10"/>
                  </a:lnTo>
                  <a:lnTo>
                    <a:pt x="228" y="16"/>
                  </a:lnTo>
                  <a:lnTo>
                    <a:pt x="197" y="22"/>
                  </a:lnTo>
                  <a:lnTo>
                    <a:pt x="169" y="30"/>
                  </a:lnTo>
                  <a:lnTo>
                    <a:pt x="141" y="39"/>
                  </a:lnTo>
                  <a:lnTo>
                    <a:pt x="116" y="49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3" y="83"/>
                  </a:lnTo>
                  <a:lnTo>
                    <a:pt x="38" y="96"/>
                  </a:lnTo>
                  <a:lnTo>
                    <a:pt x="24" y="109"/>
                  </a:lnTo>
                  <a:lnTo>
                    <a:pt x="14" y="123"/>
                  </a:lnTo>
                  <a:lnTo>
                    <a:pt x="6" y="138"/>
                  </a:lnTo>
                  <a:lnTo>
                    <a:pt x="2" y="152"/>
                  </a:lnTo>
                  <a:lnTo>
                    <a:pt x="0" y="166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57" name="Freeform 11"/>
            <p:cNvSpPr>
              <a:spLocks/>
            </p:cNvSpPr>
            <p:nvPr/>
          </p:nvSpPr>
          <p:spPr bwMode="auto">
            <a:xfrm>
              <a:off x="4175" y="3641"/>
              <a:ext cx="913" cy="343"/>
            </a:xfrm>
            <a:custGeom>
              <a:avLst/>
              <a:gdLst>
                <a:gd name="T0" fmla="*/ 912 w 913"/>
                <a:gd name="T1" fmla="*/ 342 h 343"/>
                <a:gd name="T2" fmla="*/ 912 w 913"/>
                <a:gd name="T3" fmla="*/ 0 h 343"/>
                <a:gd name="T4" fmla="*/ 0 w 913"/>
                <a:gd name="T5" fmla="*/ 0 h 343"/>
                <a:gd name="T6" fmla="*/ 0 w 913"/>
                <a:gd name="T7" fmla="*/ 342 h 343"/>
                <a:gd name="T8" fmla="*/ 912 w 913"/>
                <a:gd name="T9" fmla="*/ 342 h 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3"/>
                <a:gd name="T16" fmla="*/ 0 h 343"/>
                <a:gd name="T17" fmla="*/ 913 w 913"/>
                <a:gd name="T18" fmla="*/ 343 h 3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3" h="343">
                  <a:moveTo>
                    <a:pt x="912" y="342"/>
                  </a:moveTo>
                  <a:lnTo>
                    <a:pt x="912" y="0"/>
                  </a:lnTo>
                  <a:lnTo>
                    <a:pt x="0" y="0"/>
                  </a:lnTo>
                  <a:lnTo>
                    <a:pt x="0" y="342"/>
                  </a:lnTo>
                  <a:lnTo>
                    <a:pt x="912" y="342"/>
                  </a:ln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508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58" name="Freeform 12"/>
            <p:cNvSpPr>
              <a:spLocks/>
            </p:cNvSpPr>
            <p:nvPr/>
          </p:nvSpPr>
          <p:spPr bwMode="auto">
            <a:xfrm>
              <a:off x="1023" y="3631"/>
              <a:ext cx="789" cy="343"/>
            </a:xfrm>
            <a:custGeom>
              <a:avLst/>
              <a:gdLst>
                <a:gd name="T0" fmla="*/ 788 w 789"/>
                <a:gd name="T1" fmla="*/ 342 h 343"/>
                <a:gd name="T2" fmla="*/ 788 w 789"/>
                <a:gd name="T3" fmla="*/ 0 h 343"/>
                <a:gd name="T4" fmla="*/ 0 w 789"/>
                <a:gd name="T5" fmla="*/ 0 h 343"/>
                <a:gd name="T6" fmla="*/ 0 w 789"/>
                <a:gd name="T7" fmla="*/ 342 h 343"/>
                <a:gd name="T8" fmla="*/ 788 w 789"/>
                <a:gd name="T9" fmla="*/ 342 h 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343"/>
                <a:gd name="T17" fmla="*/ 789 w 789"/>
                <a:gd name="T18" fmla="*/ 343 h 3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343">
                  <a:moveTo>
                    <a:pt x="788" y="342"/>
                  </a:moveTo>
                  <a:lnTo>
                    <a:pt x="788" y="0"/>
                  </a:lnTo>
                  <a:lnTo>
                    <a:pt x="0" y="0"/>
                  </a:lnTo>
                  <a:lnTo>
                    <a:pt x="0" y="342"/>
                  </a:lnTo>
                  <a:lnTo>
                    <a:pt x="788" y="342"/>
                  </a:ln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59" name="Freeform 13"/>
            <p:cNvSpPr>
              <a:spLocks/>
            </p:cNvSpPr>
            <p:nvPr/>
          </p:nvSpPr>
          <p:spPr bwMode="auto">
            <a:xfrm>
              <a:off x="1023" y="2849"/>
              <a:ext cx="789" cy="333"/>
            </a:xfrm>
            <a:custGeom>
              <a:avLst/>
              <a:gdLst>
                <a:gd name="T0" fmla="*/ 787 w 789"/>
                <a:gd name="T1" fmla="*/ 151 h 333"/>
                <a:gd name="T2" fmla="*/ 775 w 789"/>
                <a:gd name="T3" fmla="*/ 123 h 333"/>
                <a:gd name="T4" fmla="*/ 751 w 789"/>
                <a:gd name="T5" fmla="*/ 96 h 333"/>
                <a:gd name="T6" fmla="*/ 717 w 789"/>
                <a:gd name="T7" fmla="*/ 70 h 333"/>
                <a:gd name="T8" fmla="*/ 673 w 789"/>
                <a:gd name="T9" fmla="*/ 49 h 333"/>
                <a:gd name="T10" fmla="*/ 620 w 789"/>
                <a:gd name="T11" fmla="*/ 30 h 333"/>
                <a:gd name="T12" fmla="*/ 561 w 789"/>
                <a:gd name="T13" fmla="*/ 16 h 333"/>
                <a:gd name="T14" fmla="*/ 496 w 789"/>
                <a:gd name="T15" fmla="*/ 6 h 333"/>
                <a:gd name="T16" fmla="*/ 429 w 789"/>
                <a:gd name="T17" fmla="*/ 0 h 333"/>
                <a:gd name="T18" fmla="*/ 360 w 789"/>
                <a:gd name="T19" fmla="*/ 0 h 333"/>
                <a:gd name="T20" fmla="*/ 292 w 789"/>
                <a:gd name="T21" fmla="*/ 6 h 333"/>
                <a:gd name="T22" fmla="*/ 228 w 789"/>
                <a:gd name="T23" fmla="*/ 16 h 333"/>
                <a:gd name="T24" fmla="*/ 168 w 789"/>
                <a:gd name="T25" fmla="*/ 30 h 333"/>
                <a:gd name="T26" fmla="*/ 115 w 789"/>
                <a:gd name="T27" fmla="*/ 49 h 333"/>
                <a:gd name="T28" fmla="*/ 71 w 789"/>
                <a:gd name="T29" fmla="*/ 70 h 333"/>
                <a:gd name="T30" fmla="*/ 37 w 789"/>
                <a:gd name="T31" fmla="*/ 96 h 333"/>
                <a:gd name="T32" fmla="*/ 14 w 789"/>
                <a:gd name="T33" fmla="*/ 123 h 333"/>
                <a:gd name="T34" fmla="*/ 1 w 789"/>
                <a:gd name="T35" fmla="*/ 151 h 333"/>
                <a:gd name="T36" fmla="*/ 1 w 789"/>
                <a:gd name="T37" fmla="*/ 180 h 333"/>
                <a:gd name="T38" fmla="*/ 14 w 789"/>
                <a:gd name="T39" fmla="*/ 209 h 333"/>
                <a:gd name="T40" fmla="*/ 37 w 789"/>
                <a:gd name="T41" fmla="*/ 236 h 333"/>
                <a:gd name="T42" fmla="*/ 71 w 789"/>
                <a:gd name="T43" fmla="*/ 261 h 333"/>
                <a:gd name="T44" fmla="*/ 115 w 789"/>
                <a:gd name="T45" fmla="*/ 284 h 333"/>
                <a:gd name="T46" fmla="*/ 168 w 789"/>
                <a:gd name="T47" fmla="*/ 302 h 333"/>
                <a:gd name="T48" fmla="*/ 228 w 789"/>
                <a:gd name="T49" fmla="*/ 317 h 333"/>
                <a:gd name="T50" fmla="*/ 292 w 789"/>
                <a:gd name="T51" fmla="*/ 327 h 333"/>
                <a:gd name="T52" fmla="*/ 360 w 789"/>
                <a:gd name="T53" fmla="*/ 331 h 333"/>
                <a:gd name="T54" fmla="*/ 429 w 789"/>
                <a:gd name="T55" fmla="*/ 331 h 333"/>
                <a:gd name="T56" fmla="*/ 496 w 789"/>
                <a:gd name="T57" fmla="*/ 327 h 333"/>
                <a:gd name="T58" fmla="*/ 561 w 789"/>
                <a:gd name="T59" fmla="*/ 317 h 333"/>
                <a:gd name="T60" fmla="*/ 620 w 789"/>
                <a:gd name="T61" fmla="*/ 302 h 333"/>
                <a:gd name="T62" fmla="*/ 673 w 789"/>
                <a:gd name="T63" fmla="*/ 284 h 333"/>
                <a:gd name="T64" fmla="*/ 717 w 789"/>
                <a:gd name="T65" fmla="*/ 261 h 333"/>
                <a:gd name="T66" fmla="*/ 751 w 789"/>
                <a:gd name="T67" fmla="*/ 236 h 333"/>
                <a:gd name="T68" fmla="*/ 775 w 789"/>
                <a:gd name="T69" fmla="*/ 209 h 333"/>
                <a:gd name="T70" fmla="*/ 787 w 789"/>
                <a:gd name="T71" fmla="*/ 180 h 33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89"/>
                <a:gd name="T109" fmla="*/ 0 h 333"/>
                <a:gd name="T110" fmla="*/ 789 w 789"/>
                <a:gd name="T111" fmla="*/ 333 h 33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89" h="333">
                  <a:moveTo>
                    <a:pt x="788" y="166"/>
                  </a:moveTo>
                  <a:lnTo>
                    <a:pt x="787" y="151"/>
                  </a:lnTo>
                  <a:lnTo>
                    <a:pt x="782" y="137"/>
                  </a:lnTo>
                  <a:lnTo>
                    <a:pt x="775" y="123"/>
                  </a:lnTo>
                  <a:lnTo>
                    <a:pt x="765" y="109"/>
                  </a:lnTo>
                  <a:lnTo>
                    <a:pt x="751" y="96"/>
                  </a:lnTo>
                  <a:lnTo>
                    <a:pt x="735" y="83"/>
                  </a:lnTo>
                  <a:lnTo>
                    <a:pt x="717" y="70"/>
                  </a:lnTo>
                  <a:lnTo>
                    <a:pt x="696" y="59"/>
                  </a:lnTo>
                  <a:lnTo>
                    <a:pt x="673" y="49"/>
                  </a:lnTo>
                  <a:lnTo>
                    <a:pt x="647" y="39"/>
                  </a:lnTo>
                  <a:lnTo>
                    <a:pt x="620" y="30"/>
                  </a:lnTo>
                  <a:lnTo>
                    <a:pt x="591" y="22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3" y="3"/>
                  </a:lnTo>
                  <a:lnTo>
                    <a:pt x="429" y="0"/>
                  </a:lnTo>
                  <a:lnTo>
                    <a:pt x="394" y="0"/>
                  </a:lnTo>
                  <a:lnTo>
                    <a:pt x="360" y="0"/>
                  </a:lnTo>
                  <a:lnTo>
                    <a:pt x="325" y="3"/>
                  </a:lnTo>
                  <a:lnTo>
                    <a:pt x="292" y="6"/>
                  </a:lnTo>
                  <a:lnTo>
                    <a:pt x="260" y="10"/>
                  </a:lnTo>
                  <a:lnTo>
                    <a:pt x="228" y="16"/>
                  </a:lnTo>
                  <a:lnTo>
                    <a:pt x="197" y="22"/>
                  </a:lnTo>
                  <a:lnTo>
                    <a:pt x="168" y="30"/>
                  </a:lnTo>
                  <a:lnTo>
                    <a:pt x="141" y="39"/>
                  </a:lnTo>
                  <a:lnTo>
                    <a:pt x="115" y="49"/>
                  </a:lnTo>
                  <a:lnTo>
                    <a:pt x="92" y="59"/>
                  </a:lnTo>
                  <a:lnTo>
                    <a:pt x="71" y="70"/>
                  </a:lnTo>
                  <a:lnTo>
                    <a:pt x="53" y="83"/>
                  </a:lnTo>
                  <a:lnTo>
                    <a:pt x="37" y="96"/>
                  </a:lnTo>
                  <a:lnTo>
                    <a:pt x="24" y="109"/>
                  </a:lnTo>
                  <a:lnTo>
                    <a:pt x="14" y="123"/>
                  </a:lnTo>
                  <a:lnTo>
                    <a:pt x="6" y="137"/>
                  </a:lnTo>
                  <a:lnTo>
                    <a:pt x="1" y="151"/>
                  </a:lnTo>
                  <a:lnTo>
                    <a:pt x="0" y="166"/>
                  </a:lnTo>
                  <a:lnTo>
                    <a:pt x="1" y="180"/>
                  </a:lnTo>
                  <a:lnTo>
                    <a:pt x="6" y="195"/>
                  </a:lnTo>
                  <a:lnTo>
                    <a:pt x="14" y="209"/>
                  </a:lnTo>
                  <a:lnTo>
                    <a:pt x="24" y="223"/>
                  </a:lnTo>
                  <a:lnTo>
                    <a:pt x="37" y="236"/>
                  </a:lnTo>
                  <a:lnTo>
                    <a:pt x="53" y="249"/>
                  </a:lnTo>
                  <a:lnTo>
                    <a:pt x="71" y="261"/>
                  </a:lnTo>
                  <a:lnTo>
                    <a:pt x="92" y="273"/>
                  </a:lnTo>
                  <a:lnTo>
                    <a:pt x="115" y="284"/>
                  </a:lnTo>
                  <a:lnTo>
                    <a:pt x="141" y="294"/>
                  </a:lnTo>
                  <a:lnTo>
                    <a:pt x="168" y="302"/>
                  </a:lnTo>
                  <a:lnTo>
                    <a:pt x="197" y="310"/>
                  </a:lnTo>
                  <a:lnTo>
                    <a:pt x="228" y="317"/>
                  </a:lnTo>
                  <a:lnTo>
                    <a:pt x="260" y="322"/>
                  </a:lnTo>
                  <a:lnTo>
                    <a:pt x="292" y="327"/>
                  </a:lnTo>
                  <a:lnTo>
                    <a:pt x="325" y="330"/>
                  </a:lnTo>
                  <a:lnTo>
                    <a:pt x="360" y="331"/>
                  </a:lnTo>
                  <a:lnTo>
                    <a:pt x="394" y="332"/>
                  </a:lnTo>
                  <a:lnTo>
                    <a:pt x="429" y="331"/>
                  </a:lnTo>
                  <a:lnTo>
                    <a:pt x="463" y="330"/>
                  </a:lnTo>
                  <a:lnTo>
                    <a:pt x="496" y="327"/>
                  </a:lnTo>
                  <a:lnTo>
                    <a:pt x="529" y="322"/>
                  </a:lnTo>
                  <a:lnTo>
                    <a:pt x="561" y="317"/>
                  </a:lnTo>
                  <a:lnTo>
                    <a:pt x="591" y="310"/>
                  </a:lnTo>
                  <a:lnTo>
                    <a:pt x="620" y="302"/>
                  </a:lnTo>
                  <a:lnTo>
                    <a:pt x="647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1"/>
                  </a:lnTo>
                  <a:lnTo>
                    <a:pt x="735" y="249"/>
                  </a:lnTo>
                  <a:lnTo>
                    <a:pt x="751" y="236"/>
                  </a:lnTo>
                  <a:lnTo>
                    <a:pt x="765" y="223"/>
                  </a:lnTo>
                  <a:lnTo>
                    <a:pt x="775" y="209"/>
                  </a:lnTo>
                  <a:lnTo>
                    <a:pt x="782" y="195"/>
                  </a:lnTo>
                  <a:lnTo>
                    <a:pt x="787" y="180"/>
                  </a:lnTo>
                  <a:lnTo>
                    <a:pt x="788" y="166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60" name="Rectangle 14"/>
            <p:cNvSpPr>
              <a:spLocks noChangeArrowheads="1"/>
            </p:cNvSpPr>
            <p:nvPr/>
          </p:nvSpPr>
          <p:spPr bwMode="auto">
            <a:xfrm>
              <a:off x="2037" y="3160"/>
              <a:ext cx="27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lot</a:t>
              </a:r>
            </a:p>
          </p:txBody>
        </p:sp>
        <p:sp>
          <p:nvSpPr>
            <p:cNvPr id="61" name="Freeform 15"/>
            <p:cNvSpPr>
              <a:spLocks/>
            </p:cNvSpPr>
            <p:nvPr/>
          </p:nvSpPr>
          <p:spPr bwMode="auto">
            <a:xfrm>
              <a:off x="2747" y="3592"/>
              <a:ext cx="789" cy="392"/>
            </a:xfrm>
            <a:custGeom>
              <a:avLst/>
              <a:gdLst>
                <a:gd name="T0" fmla="*/ 0 w 789"/>
                <a:gd name="T1" fmla="*/ 196 h 392"/>
                <a:gd name="T2" fmla="*/ 394 w 789"/>
                <a:gd name="T3" fmla="*/ 0 h 392"/>
                <a:gd name="T4" fmla="*/ 788 w 789"/>
                <a:gd name="T5" fmla="*/ 196 h 392"/>
                <a:gd name="T6" fmla="*/ 394 w 789"/>
                <a:gd name="T7" fmla="*/ 391 h 392"/>
                <a:gd name="T8" fmla="*/ 0 w 789"/>
                <a:gd name="T9" fmla="*/ 196 h 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392"/>
                <a:gd name="T17" fmla="*/ 789 w 789"/>
                <a:gd name="T18" fmla="*/ 392 h 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392">
                  <a:moveTo>
                    <a:pt x="0" y="196"/>
                  </a:moveTo>
                  <a:lnTo>
                    <a:pt x="394" y="0"/>
                  </a:lnTo>
                  <a:lnTo>
                    <a:pt x="788" y="196"/>
                  </a:lnTo>
                  <a:lnTo>
                    <a:pt x="394" y="391"/>
                  </a:lnTo>
                  <a:lnTo>
                    <a:pt x="0" y="196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508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310"/>
            </a:p>
          </p:txBody>
        </p:sp>
        <p:sp>
          <p:nvSpPr>
            <p:cNvPr id="62" name="Rectangle 16"/>
            <p:cNvSpPr>
              <a:spLocks noChangeArrowheads="1"/>
            </p:cNvSpPr>
            <p:nvPr/>
          </p:nvSpPr>
          <p:spPr bwMode="auto">
            <a:xfrm>
              <a:off x="1239" y="2896"/>
              <a:ext cx="45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name</a:t>
              </a:r>
            </a:p>
          </p:txBody>
        </p:sp>
        <p:sp>
          <p:nvSpPr>
            <p:cNvPr id="63" name="Rectangle 17"/>
            <p:cNvSpPr>
              <a:spLocks noChangeArrowheads="1"/>
            </p:cNvSpPr>
            <p:nvPr/>
          </p:nvSpPr>
          <p:spPr bwMode="auto">
            <a:xfrm>
              <a:off x="4912" y="3131"/>
              <a:ext cx="3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age</a:t>
              </a:r>
            </a:p>
          </p:txBody>
        </p:sp>
        <p:sp>
          <p:nvSpPr>
            <p:cNvPr id="64" name="Rectangle 18"/>
            <p:cNvSpPr>
              <a:spLocks noChangeArrowheads="1"/>
            </p:cNvSpPr>
            <p:nvPr/>
          </p:nvSpPr>
          <p:spPr bwMode="auto">
            <a:xfrm>
              <a:off x="3868" y="3121"/>
              <a:ext cx="53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pname</a:t>
              </a:r>
            </a:p>
          </p:txBody>
        </p:sp>
        <p:sp>
          <p:nvSpPr>
            <p:cNvPr id="65" name="Rectangle 19"/>
            <p:cNvSpPr>
              <a:spLocks noChangeArrowheads="1"/>
            </p:cNvSpPr>
            <p:nvPr/>
          </p:nvSpPr>
          <p:spPr bwMode="auto">
            <a:xfrm>
              <a:off x="4243" y="3688"/>
              <a:ext cx="8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Dependents</a:t>
              </a:r>
            </a:p>
          </p:txBody>
        </p:sp>
        <p:sp>
          <p:nvSpPr>
            <p:cNvPr id="66" name="Rectangle 20"/>
            <p:cNvSpPr>
              <a:spLocks noChangeArrowheads="1"/>
            </p:cNvSpPr>
            <p:nvPr/>
          </p:nvSpPr>
          <p:spPr bwMode="auto">
            <a:xfrm>
              <a:off x="1016" y="3699"/>
              <a:ext cx="79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Employees</a:t>
              </a:r>
            </a:p>
          </p:txBody>
        </p:sp>
        <p:sp>
          <p:nvSpPr>
            <p:cNvPr id="67" name="Rectangle 21"/>
            <p:cNvSpPr>
              <a:spLocks noChangeArrowheads="1"/>
            </p:cNvSpPr>
            <p:nvPr/>
          </p:nvSpPr>
          <p:spPr bwMode="auto">
            <a:xfrm>
              <a:off x="549" y="3151"/>
              <a:ext cx="3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 u="sng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ssn</a:t>
              </a:r>
            </a:p>
          </p:txBody>
        </p:sp>
        <p:sp>
          <p:nvSpPr>
            <p:cNvPr id="68" name="Rectangle 22"/>
            <p:cNvSpPr>
              <a:spLocks noChangeArrowheads="1"/>
            </p:cNvSpPr>
            <p:nvPr/>
          </p:nvSpPr>
          <p:spPr bwMode="auto">
            <a:xfrm>
              <a:off x="2890" y="3688"/>
              <a:ext cx="4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Policy</a:t>
              </a:r>
            </a:p>
          </p:txBody>
        </p:sp>
        <p:sp>
          <p:nvSpPr>
            <p:cNvPr id="69" name="Rectangle 23"/>
            <p:cNvSpPr>
              <a:spLocks noChangeArrowheads="1"/>
            </p:cNvSpPr>
            <p:nvPr/>
          </p:nvSpPr>
          <p:spPr bwMode="auto">
            <a:xfrm>
              <a:off x="2962" y="3082"/>
              <a:ext cx="3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5870" tIns="32357" rIns="65870" bIns="32357">
              <a:spAutoFit/>
            </a:bodyPr>
            <a:lstStyle/>
            <a:p>
              <a:r>
                <a:rPr lang="en-US" altLang="zh-CN" sz="1165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cost</a:t>
              </a:r>
            </a:p>
          </p:txBody>
        </p:sp>
        <p:sp>
          <p:nvSpPr>
            <p:cNvPr id="70" name="Line 24"/>
            <p:cNvSpPr>
              <a:spLocks noChangeShapeType="1"/>
            </p:cNvSpPr>
            <p:nvPr/>
          </p:nvSpPr>
          <p:spPr bwMode="auto">
            <a:xfrm flipH="1">
              <a:off x="3929" y="3316"/>
              <a:ext cx="38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71" name="Line 25"/>
            <p:cNvSpPr>
              <a:spLocks noChangeShapeType="1"/>
            </p:cNvSpPr>
            <p:nvPr/>
          </p:nvSpPr>
          <p:spPr bwMode="auto">
            <a:xfrm>
              <a:off x="1427" y="3197"/>
              <a:ext cx="0" cy="42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72" name="Line 26"/>
            <p:cNvSpPr>
              <a:spLocks noChangeShapeType="1"/>
            </p:cNvSpPr>
            <p:nvPr/>
          </p:nvSpPr>
          <p:spPr bwMode="auto">
            <a:xfrm>
              <a:off x="883" y="3407"/>
              <a:ext cx="325" cy="22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73" name="Line 27"/>
            <p:cNvSpPr>
              <a:spLocks noChangeShapeType="1"/>
            </p:cNvSpPr>
            <p:nvPr/>
          </p:nvSpPr>
          <p:spPr bwMode="auto">
            <a:xfrm flipH="1">
              <a:off x="1638" y="3424"/>
              <a:ext cx="513" cy="207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74" name="Line 28"/>
            <p:cNvSpPr>
              <a:spLocks noChangeShapeType="1"/>
            </p:cNvSpPr>
            <p:nvPr/>
          </p:nvSpPr>
          <p:spPr bwMode="auto">
            <a:xfrm flipV="1">
              <a:off x="3150" y="3361"/>
              <a:ext cx="0" cy="16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75" name="Line 29"/>
            <p:cNvSpPr>
              <a:spLocks noChangeShapeType="1"/>
            </p:cNvSpPr>
            <p:nvPr/>
          </p:nvSpPr>
          <p:spPr bwMode="auto">
            <a:xfrm>
              <a:off x="4131" y="3407"/>
              <a:ext cx="186" cy="23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76" name="Line 30"/>
            <p:cNvSpPr>
              <a:spLocks noChangeShapeType="1"/>
            </p:cNvSpPr>
            <p:nvPr/>
          </p:nvSpPr>
          <p:spPr bwMode="auto">
            <a:xfrm flipH="1">
              <a:off x="4708" y="3424"/>
              <a:ext cx="324" cy="21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77" name="Line 31"/>
            <p:cNvSpPr>
              <a:spLocks noChangeShapeType="1"/>
            </p:cNvSpPr>
            <p:nvPr/>
          </p:nvSpPr>
          <p:spPr bwMode="auto">
            <a:xfrm flipH="1" flipV="1">
              <a:off x="3666" y="3788"/>
              <a:ext cx="499" cy="5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  <p:sp>
          <p:nvSpPr>
            <p:cNvPr id="78" name="Line 32"/>
            <p:cNvSpPr>
              <a:spLocks noChangeShapeType="1"/>
            </p:cNvSpPr>
            <p:nvPr/>
          </p:nvSpPr>
          <p:spPr bwMode="auto">
            <a:xfrm>
              <a:off x="1812" y="3788"/>
              <a:ext cx="811" cy="0"/>
            </a:xfrm>
            <a:prstGeom prst="line">
              <a:avLst/>
            </a:prstGeom>
            <a:noFill/>
            <a:ln w="19050" cap="rnd">
              <a:solidFill>
                <a:schemeClr val="tx2"/>
              </a:solidFill>
              <a:round/>
              <a:headEnd type="non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10"/>
            </a:p>
          </p:txBody>
        </p:sp>
      </p:grpSp>
      <p:sp>
        <p:nvSpPr>
          <p:cNvPr id="79" name="Text Box 19"/>
          <p:cNvSpPr txBox="1">
            <a:spLocks noChangeArrowheads="1"/>
          </p:cNvSpPr>
          <p:nvPr/>
        </p:nvSpPr>
        <p:spPr bwMode="auto">
          <a:xfrm rot="10979844">
            <a:off x="4680138" y="4735095"/>
            <a:ext cx="260008" cy="361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747" dirty="0">
                <a:ea typeface="宋体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5587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5888" y="3905411"/>
            <a:ext cx="8360709" cy="2366682"/>
          </a:xfrm>
          <a:custGeom>
            <a:avLst/>
            <a:gdLst/>
            <a:ahLst/>
            <a:cxnLst/>
            <a:rect l="l" t="t" r="r" b="b"/>
            <a:pathLst>
              <a:path w="9475470" h="2682240">
                <a:moveTo>
                  <a:pt x="0" y="0"/>
                </a:moveTo>
                <a:lnTo>
                  <a:pt x="9474925" y="0"/>
                </a:lnTo>
                <a:lnTo>
                  <a:pt x="9474925" y="2682239"/>
                </a:lnTo>
                <a:lnTo>
                  <a:pt x="0" y="2682239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29329" y="284213"/>
            <a:ext cx="7545481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5" dirty="0"/>
              <a:t>L</a:t>
            </a:r>
            <a:r>
              <a:rPr sz="3794" spc="-110" dirty="0"/>
              <a:t>e</a:t>
            </a:r>
            <a:r>
              <a:rPr sz="3794" spc="-106" dirty="0"/>
              <a:t>t</a:t>
            </a:r>
            <a:r>
              <a:rPr sz="3794" spc="-110" dirty="0"/>
              <a:t>’</a:t>
            </a:r>
            <a:r>
              <a:rPr sz="3794" dirty="0"/>
              <a:t>s</a:t>
            </a:r>
            <a:r>
              <a:rPr sz="3794" spc="-221" dirty="0"/>
              <a:t> </a:t>
            </a:r>
            <a:r>
              <a:rPr sz="3794" spc="-106" dirty="0"/>
              <a:t>t</a:t>
            </a:r>
            <a:r>
              <a:rPr sz="3794" spc="-115" dirty="0"/>
              <a:t>r</a:t>
            </a:r>
            <a:r>
              <a:rPr sz="3794" dirty="0"/>
              <a:t>y:</a:t>
            </a:r>
            <a:r>
              <a:rPr sz="3794" spc="-216" dirty="0"/>
              <a:t> </a:t>
            </a:r>
            <a:r>
              <a:rPr sz="3794" spc="-128" dirty="0"/>
              <a:t>W</a:t>
            </a:r>
            <a:r>
              <a:rPr sz="3794" spc="-110" dirty="0"/>
              <a:t>e</a:t>
            </a:r>
            <a:r>
              <a:rPr sz="3794" spc="-115" dirty="0"/>
              <a:t>a</a:t>
            </a:r>
            <a:r>
              <a:rPr sz="3794" dirty="0"/>
              <a:t>k</a:t>
            </a:r>
            <a:r>
              <a:rPr sz="3794" spc="-221" dirty="0"/>
              <a:t> </a:t>
            </a:r>
            <a:r>
              <a:rPr sz="3794" spc="-110" dirty="0"/>
              <a:t>E</a:t>
            </a:r>
            <a:r>
              <a:rPr sz="3794" spc="-119" dirty="0"/>
              <a:t>n</a:t>
            </a:r>
            <a:r>
              <a:rPr sz="3794" spc="-106" dirty="0"/>
              <a:t>t</a:t>
            </a:r>
            <a:r>
              <a:rPr sz="3794" spc="-110" dirty="0"/>
              <a:t>it</a:t>
            </a:r>
            <a:r>
              <a:rPr sz="3794" dirty="0"/>
              <a:t>y</a:t>
            </a:r>
            <a:r>
              <a:rPr sz="3794" spc="-229" dirty="0"/>
              <a:t> </a:t>
            </a:r>
            <a:r>
              <a:rPr sz="3794" spc="-124" dirty="0"/>
              <a:t>S</a:t>
            </a:r>
            <a:r>
              <a:rPr sz="3794" spc="-110" dirty="0"/>
              <a:t>e</a:t>
            </a:r>
            <a:r>
              <a:rPr sz="3794" dirty="0"/>
              <a:t>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34081" y="2527252"/>
            <a:ext cx="1790700" cy="474569"/>
            <a:chOff x="2012358" y="2864218"/>
            <a:chExt cx="2029460" cy="537845"/>
          </a:xfrm>
        </p:grpSpPr>
        <p:sp>
          <p:nvSpPr>
            <p:cNvPr id="5" name="object 5"/>
            <p:cNvSpPr/>
            <p:nvPr/>
          </p:nvSpPr>
          <p:spPr>
            <a:xfrm>
              <a:off x="3334174" y="3094732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3334174" y="3172087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017438" y="2869298"/>
              <a:ext cx="1316990" cy="527685"/>
            </a:xfrm>
            <a:custGeom>
              <a:avLst/>
              <a:gdLst/>
              <a:ahLst/>
              <a:cxnLst/>
              <a:rect l="l" t="t" r="r" b="b"/>
              <a:pathLst>
                <a:path w="1316989" h="527685">
                  <a:moveTo>
                    <a:pt x="0" y="0"/>
                  </a:moveTo>
                  <a:lnTo>
                    <a:pt x="1316735" y="0"/>
                  </a:lnTo>
                  <a:lnTo>
                    <a:pt x="1316735" y="527382"/>
                  </a:lnTo>
                  <a:lnTo>
                    <a:pt x="0" y="52738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00445" y="2578785"/>
            <a:ext cx="1048310" cy="302119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70597" rIns="0" bIns="0" rtlCol="0">
            <a:spAutoFit/>
          </a:bodyPr>
          <a:lstStyle/>
          <a:p>
            <a:pPr marL="82928">
              <a:spcBef>
                <a:spcPts val="556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homework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80515" y="2705895"/>
            <a:ext cx="557493" cy="94129"/>
          </a:xfrm>
          <a:custGeom>
            <a:avLst/>
            <a:gdLst/>
            <a:ahLst/>
            <a:cxnLst/>
            <a:rect l="l" t="t" r="r" b="b"/>
            <a:pathLst>
              <a:path w="631825" h="106680">
                <a:moveTo>
                  <a:pt x="622908" y="46675"/>
                </a:moveTo>
                <a:lnTo>
                  <a:pt x="621492" y="46675"/>
                </a:lnTo>
                <a:lnTo>
                  <a:pt x="621673" y="56832"/>
                </a:lnTo>
                <a:lnTo>
                  <a:pt x="602887" y="57168"/>
                </a:lnTo>
                <a:lnTo>
                  <a:pt x="536129" y="97730"/>
                </a:lnTo>
                <a:lnTo>
                  <a:pt x="535365" y="100855"/>
                </a:lnTo>
                <a:lnTo>
                  <a:pt x="538279" y="105651"/>
                </a:lnTo>
                <a:lnTo>
                  <a:pt x="541404" y="106413"/>
                </a:lnTo>
                <a:lnTo>
                  <a:pt x="631662" y="51573"/>
                </a:lnTo>
                <a:lnTo>
                  <a:pt x="622908" y="46675"/>
                </a:lnTo>
                <a:close/>
              </a:path>
              <a:path w="631825" h="106680">
                <a:moveTo>
                  <a:pt x="602704" y="47011"/>
                </a:moveTo>
                <a:lnTo>
                  <a:pt x="0" y="57805"/>
                </a:lnTo>
                <a:lnTo>
                  <a:pt x="182" y="67964"/>
                </a:lnTo>
                <a:lnTo>
                  <a:pt x="602887" y="57168"/>
                </a:lnTo>
                <a:lnTo>
                  <a:pt x="611502" y="51934"/>
                </a:lnTo>
                <a:lnTo>
                  <a:pt x="602704" y="47011"/>
                </a:lnTo>
                <a:close/>
              </a:path>
              <a:path w="631825" h="106680">
                <a:moveTo>
                  <a:pt x="611502" y="51934"/>
                </a:moveTo>
                <a:lnTo>
                  <a:pt x="602887" y="57168"/>
                </a:lnTo>
                <a:lnTo>
                  <a:pt x="621673" y="56832"/>
                </a:lnTo>
                <a:lnTo>
                  <a:pt x="621662" y="56187"/>
                </a:lnTo>
                <a:lnTo>
                  <a:pt x="619102" y="56187"/>
                </a:lnTo>
                <a:lnTo>
                  <a:pt x="611502" y="51934"/>
                </a:lnTo>
                <a:close/>
              </a:path>
              <a:path w="631825" h="106680">
                <a:moveTo>
                  <a:pt x="618944" y="47412"/>
                </a:moveTo>
                <a:lnTo>
                  <a:pt x="611502" y="51934"/>
                </a:lnTo>
                <a:lnTo>
                  <a:pt x="619102" y="56187"/>
                </a:lnTo>
                <a:lnTo>
                  <a:pt x="618944" y="47412"/>
                </a:lnTo>
                <a:close/>
              </a:path>
              <a:path w="631825" h="106680">
                <a:moveTo>
                  <a:pt x="621505" y="47412"/>
                </a:moveTo>
                <a:lnTo>
                  <a:pt x="618944" y="47412"/>
                </a:lnTo>
                <a:lnTo>
                  <a:pt x="619102" y="56187"/>
                </a:lnTo>
                <a:lnTo>
                  <a:pt x="621662" y="56187"/>
                </a:lnTo>
                <a:lnTo>
                  <a:pt x="621505" y="47412"/>
                </a:lnTo>
                <a:close/>
              </a:path>
              <a:path w="631825" h="106680">
                <a:moveTo>
                  <a:pt x="621492" y="46675"/>
                </a:moveTo>
                <a:lnTo>
                  <a:pt x="602704" y="47011"/>
                </a:lnTo>
                <a:lnTo>
                  <a:pt x="611502" y="51934"/>
                </a:lnTo>
                <a:lnTo>
                  <a:pt x="618944" y="47412"/>
                </a:lnTo>
                <a:lnTo>
                  <a:pt x="621505" y="47412"/>
                </a:lnTo>
                <a:lnTo>
                  <a:pt x="621492" y="46675"/>
                </a:lnTo>
                <a:close/>
              </a:path>
              <a:path w="631825" h="106680">
                <a:moveTo>
                  <a:pt x="539498" y="0"/>
                </a:moveTo>
                <a:lnTo>
                  <a:pt x="536403" y="875"/>
                </a:lnTo>
                <a:lnTo>
                  <a:pt x="533662" y="5770"/>
                </a:lnTo>
                <a:lnTo>
                  <a:pt x="534537" y="8867"/>
                </a:lnTo>
                <a:lnTo>
                  <a:pt x="602704" y="47011"/>
                </a:lnTo>
                <a:lnTo>
                  <a:pt x="621492" y="46675"/>
                </a:lnTo>
                <a:lnTo>
                  <a:pt x="622908" y="46675"/>
                </a:lnTo>
                <a:lnTo>
                  <a:pt x="539498" y="0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 txBox="1"/>
          <p:nvPr/>
        </p:nvSpPr>
        <p:spPr>
          <a:xfrm>
            <a:off x="7537845" y="2565583"/>
            <a:ext cx="1048310" cy="302119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70597" rIns="0" bIns="0" rtlCol="0">
            <a:spAutoFit/>
          </a:bodyPr>
          <a:lstStyle/>
          <a:p>
            <a:pPr marL="237017">
              <a:spcBef>
                <a:spcPts val="556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course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56099" y="2390118"/>
            <a:ext cx="1824878" cy="742950"/>
          </a:xfrm>
          <a:custGeom>
            <a:avLst/>
            <a:gdLst/>
            <a:ahLst/>
            <a:cxnLst/>
            <a:rect l="l" t="t" r="r" b="b"/>
            <a:pathLst>
              <a:path w="2068195" h="842010">
                <a:moveTo>
                  <a:pt x="0" y="420765"/>
                </a:moveTo>
                <a:lnTo>
                  <a:pt x="1033881" y="0"/>
                </a:lnTo>
                <a:lnTo>
                  <a:pt x="2067763" y="420765"/>
                </a:lnTo>
                <a:lnTo>
                  <a:pt x="1033881" y="841531"/>
                </a:lnTo>
                <a:lnTo>
                  <a:pt x="0" y="420765"/>
                </a:lnTo>
                <a:close/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12" name="object 12"/>
          <p:cNvGrpSpPr/>
          <p:nvPr/>
        </p:nvGrpSpPr>
        <p:grpSpPr>
          <a:xfrm>
            <a:off x="5329449" y="2460978"/>
            <a:ext cx="1489262" cy="607919"/>
            <a:chOff x="4160442" y="2789108"/>
            <a:chExt cx="1687830" cy="688975"/>
          </a:xfrm>
        </p:grpSpPr>
        <p:sp>
          <p:nvSpPr>
            <p:cNvPr id="13" name="object 13"/>
            <p:cNvSpPr/>
            <p:nvPr/>
          </p:nvSpPr>
          <p:spPr>
            <a:xfrm>
              <a:off x="4165522" y="2794188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4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4165522" y="2794188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74118" y="2632933"/>
            <a:ext cx="4364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have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258430" y="1764776"/>
            <a:ext cx="993962" cy="435909"/>
            <a:chOff x="7479954" y="2000079"/>
            <a:chExt cx="1126490" cy="494030"/>
          </a:xfrm>
        </p:grpSpPr>
        <p:sp>
          <p:nvSpPr>
            <p:cNvPr id="17" name="object 17"/>
            <p:cNvSpPr/>
            <p:nvPr/>
          </p:nvSpPr>
          <p:spPr>
            <a:xfrm>
              <a:off x="7485034" y="2005159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557888" y="0"/>
                  </a:moveTo>
                  <a:lnTo>
                    <a:pt x="492826" y="1627"/>
                  </a:lnTo>
                  <a:lnTo>
                    <a:pt x="429969" y="6387"/>
                  </a:lnTo>
                  <a:lnTo>
                    <a:pt x="369735" y="14098"/>
                  </a:lnTo>
                  <a:lnTo>
                    <a:pt x="312542" y="24580"/>
                  </a:lnTo>
                  <a:lnTo>
                    <a:pt x="258810" y="37651"/>
                  </a:lnTo>
                  <a:lnTo>
                    <a:pt x="208957" y="53129"/>
                  </a:lnTo>
                  <a:lnTo>
                    <a:pt x="163401" y="70833"/>
                  </a:lnTo>
                  <a:lnTo>
                    <a:pt x="122561" y="90581"/>
                  </a:lnTo>
                  <a:lnTo>
                    <a:pt x="86856" y="112192"/>
                  </a:lnTo>
                  <a:lnTo>
                    <a:pt x="56704" y="135484"/>
                  </a:lnTo>
                  <a:lnTo>
                    <a:pt x="14734" y="186388"/>
                  </a:lnTo>
                  <a:lnTo>
                    <a:pt x="0" y="241839"/>
                  </a:lnTo>
                  <a:lnTo>
                    <a:pt x="3753" y="270043"/>
                  </a:lnTo>
                  <a:lnTo>
                    <a:pt x="32524" y="323402"/>
                  </a:lnTo>
                  <a:lnTo>
                    <a:pt x="86856" y="371487"/>
                  </a:lnTo>
                  <a:lnTo>
                    <a:pt x="122561" y="393098"/>
                  </a:lnTo>
                  <a:lnTo>
                    <a:pt x="163401" y="412846"/>
                  </a:lnTo>
                  <a:lnTo>
                    <a:pt x="208957" y="430550"/>
                  </a:lnTo>
                  <a:lnTo>
                    <a:pt x="258810" y="446028"/>
                  </a:lnTo>
                  <a:lnTo>
                    <a:pt x="312542" y="459098"/>
                  </a:lnTo>
                  <a:lnTo>
                    <a:pt x="369735" y="469580"/>
                  </a:lnTo>
                  <a:lnTo>
                    <a:pt x="429969" y="477292"/>
                  </a:lnTo>
                  <a:lnTo>
                    <a:pt x="492826" y="482052"/>
                  </a:lnTo>
                  <a:lnTo>
                    <a:pt x="557888" y="483679"/>
                  </a:lnTo>
                  <a:lnTo>
                    <a:pt x="622949" y="482052"/>
                  </a:lnTo>
                  <a:lnTo>
                    <a:pt x="685806" y="477292"/>
                  </a:lnTo>
                  <a:lnTo>
                    <a:pt x="746040" y="469580"/>
                  </a:lnTo>
                  <a:lnTo>
                    <a:pt x="803233" y="459098"/>
                  </a:lnTo>
                  <a:lnTo>
                    <a:pt x="856965" y="446028"/>
                  </a:lnTo>
                  <a:lnTo>
                    <a:pt x="906818" y="430550"/>
                  </a:lnTo>
                  <a:lnTo>
                    <a:pt x="952374" y="412846"/>
                  </a:lnTo>
                  <a:lnTo>
                    <a:pt x="993214" y="393098"/>
                  </a:lnTo>
                  <a:lnTo>
                    <a:pt x="1028919" y="371487"/>
                  </a:lnTo>
                  <a:lnTo>
                    <a:pt x="1059071" y="348194"/>
                  </a:lnTo>
                  <a:lnTo>
                    <a:pt x="1101042" y="297291"/>
                  </a:lnTo>
                  <a:lnTo>
                    <a:pt x="1115776" y="241839"/>
                  </a:lnTo>
                  <a:lnTo>
                    <a:pt x="1112022" y="213636"/>
                  </a:lnTo>
                  <a:lnTo>
                    <a:pt x="1083252" y="160277"/>
                  </a:lnTo>
                  <a:lnTo>
                    <a:pt x="1028919" y="112192"/>
                  </a:lnTo>
                  <a:lnTo>
                    <a:pt x="993214" y="90581"/>
                  </a:lnTo>
                  <a:lnTo>
                    <a:pt x="952374" y="70833"/>
                  </a:lnTo>
                  <a:lnTo>
                    <a:pt x="906818" y="53129"/>
                  </a:lnTo>
                  <a:lnTo>
                    <a:pt x="856965" y="37651"/>
                  </a:lnTo>
                  <a:lnTo>
                    <a:pt x="803233" y="24580"/>
                  </a:lnTo>
                  <a:lnTo>
                    <a:pt x="746040" y="14098"/>
                  </a:lnTo>
                  <a:lnTo>
                    <a:pt x="685806" y="6387"/>
                  </a:lnTo>
                  <a:lnTo>
                    <a:pt x="622949" y="1627"/>
                  </a:lnTo>
                  <a:lnTo>
                    <a:pt x="55788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485034" y="2005159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342682" y="1866451"/>
            <a:ext cx="87237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c_nu</a:t>
            </a:r>
            <a:r>
              <a:rPr sz="1500" u="sng" spc="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m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ber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057558" y="2333393"/>
            <a:ext cx="993962" cy="435909"/>
            <a:chOff x="8385632" y="2644512"/>
            <a:chExt cx="1126490" cy="494030"/>
          </a:xfrm>
        </p:grpSpPr>
        <p:sp>
          <p:nvSpPr>
            <p:cNvPr id="21" name="object 21"/>
            <p:cNvSpPr/>
            <p:nvPr/>
          </p:nvSpPr>
          <p:spPr>
            <a:xfrm>
              <a:off x="8390712" y="2649592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557888" y="0"/>
                  </a:moveTo>
                  <a:lnTo>
                    <a:pt x="492826" y="1627"/>
                  </a:lnTo>
                  <a:lnTo>
                    <a:pt x="429969" y="6387"/>
                  </a:lnTo>
                  <a:lnTo>
                    <a:pt x="369735" y="14098"/>
                  </a:lnTo>
                  <a:lnTo>
                    <a:pt x="312542" y="24580"/>
                  </a:lnTo>
                  <a:lnTo>
                    <a:pt x="258810" y="37651"/>
                  </a:lnTo>
                  <a:lnTo>
                    <a:pt x="208957" y="53129"/>
                  </a:lnTo>
                  <a:lnTo>
                    <a:pt x="163401" y="70833"/>
                  </a:lnTo>
                  <a:lnTo>
                    <a:pt x="122561" y="90581"/>
                  </a:lnTo>
                  <a:lnTo>
                    <a:pt x="86856" y="112192"/>
                  </a:lnTo>
                  <a:lnTo>
                    <a:pt x="56704" y="135484"/>
                  </a:lnTo>
                  <a:lnTo>
                    <a:pt x="14734" y="186388"/>
                  </a:lnTo>
                  <a:lnTo>
                    <a:pt x="0" y="241839"/>
                  </a:lnTo>
                  <a:lnTo>
                    <a:pt x="3753" y="270043"/>
                  </a:lnTo>
                  <a:lnTo>
                    <a:pt x="32524" y="323401"/>
                  </a:lnTo>
                  <a:lnTo>
                    <a:pt x="86856" y="371486"/>
                  </a:lnTo>
                  <a:lnTo>
                    <a:pt x="122561" y="393097"/>
                  </a:lnTo>
                  <a:lnTo>
                    <a:pt x="163401" y="412845"/>
                  </a:lnTo>
                  <a:lnTo>
                    <a:pt x="208957" y="430549"/>
                  </a:lnTo>
                  <a:lnTo>
                    <a:pt x="258810" y="446027"/>
                  </a:lnTo>
                  <a:lnTo>
                    <a:pt x="312542" y="459098"/>
                  </a:lnTo>
                  <a:lnTo>
                    <a:pt x="369735" y="469580"/>
                  </a:lnTo>
                  <a:lnTo>
                    <a:pt x="429969" y="477292"/>
                  </a:lnTo>
                  <a:lnTo>
                    <a:pt x="492826" y="482052"/>
                  </a:lnTo>
                  <a:lnTo>
                    <a:pt x="557888" y="483679"/>
                  </a:lnTo>
                  <a:lnTo>
                    <a:pt x="622949" y="482052"/>
                  </a:lnTo>
                  <a:lnTo>
                    <a:pt x="685806" y="477292"/>
                  </a:lnTo>
                  <a:lnTo>
                    <a:pt x="746041" y="469580"/>
                  </a:lnTo>
                  <a:lnTo>
                    <a:pt x="803233" y="459098"/>
                  </a:lnTo>
                  <a:lnTo>
                    <a:pt x="856965" y="446027"/>
                  </a:lnTo>
                  <a:lnTo>
                    <a:pt x="906819" y="430549"/>
                  </a:lnTo>
                  <a:lnTo>
                    <a:pt x="952375" y="412845"/>
                  </a:lnTo>
                  <a:lnTo>
                    <a:pt x="993215" y="393097"/>
                  </a:lnTo>
                  <a:lnTo>
                    <a:pt x="1028920" y="371486"/>
                  </a:lnTo>
                  <a:lnTo>
                    <a:pt x="1059072" y="348194"/>
                  </a:lnTo>
                  <a:lnTo>
                    <a:pt x="1101043" y="297291"/>
                  </a:lnTo>
                  <a:lnTo>
                    <a:pt x="1115777" y="241839"/>
                  </a:lnTo>
                  <a:lnTo>
                    <a:pt x="1112024" y="213636"/>
                  </a:lnTo>
                  <a:lnTo>
                    <a:pt x="1083253" y="160277"/>
                  </a:lnTo>
                  <a:lnTo>
                    <a:pt x="1028920" y="112192"/>
                  </a:lnTo>
                  <a:lnTo>
                    <a:pt x="993215" y="90581"/>
                  </a:lnTo>
                  <a:lnTo>
                    <a:pt x="952375" y="70833"/>
                  </a:lnTo>
                  <a:lnTo>
                    <a:pt x="906819" y="53129"/>
                  </a:lnTo>
                  <a:lnTo>
                    <a:pt x="856965" y="37651"/>
                  </a:lnTo>
                  <a:lnTo>
                    <a:pt x="803233" y="24580"/>
                  </a:lnTo>
                  <a:lnTo>
                    <a:pt x="746041" y="14098"/>
                  </a:lnTo>
                  <a:lnTo>
                    <a:pt x="685806" y="6387"/>
                  </a:lnTo>
                  <a:lnTo>
                    <a:pt x="622949" y="1627"/>
                  </a:lnTo>
                  <a:lnTo>
                    <a:pt x="55788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8390712" y="2649592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418223" y="2433917"/>
            <a:ext cx="31992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585635" y="2196033"/>
            <a:ext cx="476810" cy="555812"/>
          </a:xfrm>
          <a:custGeom>
            <a:avLst/>
            <a:gdLst/>
            <a:ahLst/>
            <a:cxnLst/>
            <a:rect l="l" t="t" r="r" b="b"/>
            <a:pathLst>
              <a:path w="540384" h="629919">
                <a:moveTo>
                  <a:pt x="0" y="629416"/>
                </a:moveTo>
                <a:lnTo>
                  <a:pt x="192136" y="0"/>
                </a:lnTo>
              </a:path>
              <a:path w="540384" h="629919">
                <a:moveTo>
                  <a:pt x="0" y="629416"/>
                </a:moveTo>
                <a:lnTo>
                  <a:pt x="539925" y="402593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25" name="object 25"/>
          <p:cNvGrpSpPr/>
          <p:nvPr/>
        </p:nvGrpSpPr>
        <p:grpSpPr>
          <a:xfrm>
            <a:off x="2905214" y="1775008"/>
            <a:ext cx="1504950" cy="435909"/>
            <a:chOff x="1412976" y="2011676"/>
            <a:chExt cx="1705610" cy="494030"/>
          </a:xfrm>
        </p:grpSpPr>
        <p:sp>
          <p:nvSpPr>
            <p:cNvPr id="26" name="object 26"/>
            <p:cNvSpPr/>
            <p:nvPr/>
          </p:nvSpPr>
          <p:spPr>
            <a:xfrm>
              <a:off x="1418056" y="2016756"/>
              <a:ext cx="1695450" cy="483870"/>
            </a:xfrm>
            <a:custGeom>
              <a:avLst/>
              <a:gdLst/>
              <a:ahLst/>
              <a:cxnLst/>
              <a:rect l="l" t="t" r="r" b="b"/>
              <a:pathLst>
                <a:path w="1695450" h="483869">
                  <a:moveTo>
                    <a:pt x="847629" y="0"/>
                  </a:moveTo>
                  <a:lnTo>
                    <a:pt x="778110" y="801"/>
                  </a:lnTo>
                  <a:lnTo>
                    <a:pt x="710139" y="3165"/>
                  </a:lnTo>
                  <a:lnTo>
                    <a:pt x="643934" y="7028"/>
                  </a:lnTo>
                  <a:lnTo>
                    <a:pt x="579713" y="12329"/>
                  </a:lnTo>
                  <a:lnTo>
                    <a:pt x="517693" y="19004"/>
                  </a:lnTo>
                  <a:lnTo>
                    <a:pt x="458094" y="26993"/>
                  </a:lnTo>
                  <a:lnTo>
                    <a:pt x="401134" y="36233"/>
                  </a:lnTo>
                  <a:lnTo>
                    <a:pt x="347030" y="46660"/>
                  </a:lnTo>
                  <a:lnTo>
                    <a:pt x="296001" y="58215"/>
                  </a:lnTo>
                  <a:lnTo>
                    <a:pt x="248264" y="70833"/>
                  </a:lnTo>
                  <a:lnTo>
                    <a:pt x="204039" y="84452"/>
                  </a:lnTo>
                  <a:lnTo>
                    <a:pt x="163543" y="99012"/>
                  </a:lnTo>
                  <a:lnTo>
                    <a:pt x="126994" y="114448"/>
                  </a:lnTo>
                  <a:lnTo>
                    <a:pt x="66610" y="147704"/>
                  </a:lnTo>
                  <a:lnTo>
                    <a:pt x="24634" y="183722"/>
                  </a:lnTo>
                  <a:lnTo>
                    <a:pt x="2809" y="222005"/>
                  </a:lnTo>
                  <a:lnTo>
                    <a:pt x="0" y="241839"/>
                  </a:lnTo>
                  <a:lnTo>
                    <a:pt x="2809" y="261674"/>
                  </a:lnTo>
                  <a:lnTo>
                    <a:pt x="24634" y="299956"/>
                  </a:lnTo>
                  <a:lnTo>
                    <a:pt x="66610" y="335974"/>
                  </a:lnTo>
                  <a:lnTo>
                    <a:pt x="126994" y="369229"/>
                  </a:lnTo>
                  <a:lnTo>
                    <a:pt x="163543" y="384666"/>
                  </a:lnTo>
                  <a:lnTo>
                    <a:pt x="204039" y="399225"/>
                  </a:lnTo>
                  <a:lnTo>
                    <a:pt x="248264" y="412845"/>
                  </a:lnTo>
                  <a:lnTo>
                    <a:pt x="296001" y="425463"/>
                  </a:lnTo>
                  <a:lnTo>
                    <a:pt x="347030" y="437017"/>
                  </a:lnTo>
                  <a:lnTo>
                    <a:pt x="401134" y="447445"/>
                  </a:lnTo>
                  <a:lnTo>
                    <a:pt x="458094" y="456684"/>
                  </a:lnTo>
                  <a:lnTo>
                    <a:pt x="517693" y="464673"/>
                  </a:lnTo>
                  <a:lnTo>
                    <a:pt x="579713" y="471349"/>
                  </a:lnTo>
                  <a:lnTo>
                    <a:pt x="643934" y="476649"/>
                  </a:lnTo>
                  <a:lnTo>
                    <a:pt x="710139" y="480512"/>
                  </a:lnTo>
                  <a:lnTo>
                    <a:pt x="778110" y="482876"/>
                  </a:lnTo>
                  <a:lnTo>
                    <a:pt x="847629" y="483678"/>
                  </a:lnTo>
                  <a:lnTo>
                    <a:pt x="917148" y="482876"/>
                  </a:lnTo>
                  <a:lnTo>
                    <a:pt x="985119" y="480512"/>
                  </a:lnTo>
                  <a:lnTo>
                    <a:pt x="1051325" y="476649"/>
                  </a:lnTo>
                  <a:lnTo>
                    <a:pt x="1115546" y="471349"/>
                  </a:lnTo>
                  <a:lnTo>
                    <a:pt x="1177565" y="464673"/>
                  </a:lnTo>
                  <a:lnTo>
                    <a:pt x="1237164" y="456684"/>
                  </a:lnTo>
                  <a:lnTo>
                    <a:pt x="1294125" y="447445"/>
                  </a:lnTo>
                  <a:lnTo>
                    <a:pt x="1348229" y="437017"/>
                  </a:lnTo>
                  <a:lnTo>
                    <a:pt x="1399258" y="425463"/>
                  </a:lnTo>
                  <a:lnTo>
                    <a:pt x="1446994" y="412845"/>
                  </a:lnTo>
                  <a:lnTo>
                    <a:pt x="1491220" y="399225"/>
                  </a:lnTo>
                  <a:lnTo>
                    <a:pt x="1531716" y="384666"/>
                  </a:lnTo>
                  <a:lnTo>
                    <a:pt x="1568265" y="369229"/>
                  </a:lnTo>
                  <a:lnTo>
                    <a:pt x="1628648" y="335974"/>
                  </a:lnTo>
                  <a:lnTo>
                    <a:pt x="1670625" y="299956"/>
                  </a:lnTo>
                  <a:lnTo>
                    <a:pt x="1692449" y="261674"/>
                  </a:lnTo>
                  <a:lnTo>
                    <a:pt x="1695259" y="241839"/>
                  </a:lnTo>
                  <a:lnTo>
                    <a:pt x="1692449" y="222005"/>
                  </a:lnTo>
                  <a:lnTo>
                    <a:pt x="1670625" y="183722"/>
                  </a:lnTo>
                  <a:lnTo>
                    <a:pt x="1628648" y="147704"/>
                  </a:lnTo>
                  <a:lnTo>
                    <a:pt x="1568265" y="114448"/>
                  </a:lnTo>
                  <a:lnTo>
                    <a:pt x="1531716" y="99012"/>
                  </a:lnTo>
                  <a:lnTo>
                    <a:pt x="1491220" y="84452"/>
                  </a:lnTo>
                  <a:lnTo>
                    <a:pt x="1446994" y="70833"/>
                  </a:lnTo>
                  <a:lnTo>
                    <a:pt x="1399258" y="58215"/>
                  </a:lnTo>
                  <a:lnTo>
                    <a:pt x="1348229" y="46660"/>
                  </a:lnTo>
                  <a:lnTo>
                    <a:pt x="1294125" y="36233"/>
                  </a:lnTo>
                  <a:lnTo>
                    <a:pt x="1237164" y="26993"/>
                  </a:lnTo>
                  <a:lnTo>
                    <a:pt x="1177565" y="19004"/>
                  </a:lnTo>
                  <a:lnTo>
                    <a:pt x="1115546" y="12329"/>
                  </a:lnTo>
                  <a:lnTo>
                    <a:pt x="1051325" y="7028"/>
                  </a:lnTo>
                  <a:lnTo>
                    <a:pt x="985119" y="3165"/>
                  </a:lnTo>
                  <a:lnTo>
                    <a:pt x="917148" y="801"/>
                  </a:lnTo>
                  <a:lnTo>
                    <a:pt x="8476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1418056" y="2016756"/>
              <a:ext cx="1695450" cy="483870"/>
            </a:xfrm>
            <a:custGeom>
              <a:avLst/>
              <a:gdLst/>
              <a:ahLst/>
              <a:cxnLst/>
              <a:rect l="l" t="t" r="r" b="b"/>
              <a:pathLst>
                <a:path w="1695450" h="483869">
                  <a:moveTo>
                    <a:pt x="0" y="241839"/>
                  </a:moveTo>
                  <a:lnTo>
                    <a:pt x="11094" y="202611"/>
                  </a:lnTo>
                  <a:lnTo>
                    <a:pt x="43212" y="165399"/>
                  </a:lnTo>
                  <a:lnTo>
                    <a:pt x="94610" y="130700"/>
                  </a:lnTo>
                  <a:lnTo>
                    <a:pt x="163543" y="99012"/>
                  </a:lnTo>
                  <a:lnTo>
                    <a:pt x="204039" y="84452"/>
                  </a:lnTo>
                  <a:lnTo>
                    <a:pt x="248265" y="70833"/>
                  </a:lnTo>
                  <a:lnTo>
                    <a:pt x="296001" y="58215"/>
                  </a:lnTo>
                  <a:lnTo>
                    <a:pt x="347030" y="46660"/>
                  </a:lnTo>
                  <a:lnTo>
                    <a:pt x="401134" y="36233"/>
                  </a:lnTo>
                  <a:lnTo>
                    <a:pt x="458095" y="26993"/>
                  </a:lnTo>
                  <a:lnTo>
                    <a:pt x="517694" y="19004"/>
                  </a:lnTo>
                  <a:lnTo>
                    <a:pt x="579713" y="12329"/>
                  </a:lnTo>
                  <a:lnTo>
                    <a:pt x="643934" y="7028"/>
                  </a:lnTo>
                  <a:lnTo>
                    <a:pt x="710139" y="3165"/>
                  </a:lnTo>
                  <a:lnTo>
                    <a:pt x="778111" y="801"/>
                  </a:lnTo>
                  <a:lnTo>
                    <a:pt x="847629" y="0"/>
                  </a:lnTo>
                  <a:lnTo>
                    <a:pt x="917148" y="801"/>
                  </a:lnTo>
                  <a:lnTo>
                    <a:pt x="985119" y="3165"/>
                  </a:lnTo>
                  <a:lnTo>
                    <a:pt x="1051325" y="7028"/>
                  </a:lnTo>
                  <a:lnTo>
                    <a:pt x="1115546" y="12329"/>
                  </a:lnTo>
                  <a:lnTo>
                    <a:pt x="1177565" y="19004"/>
                  </a:lnTo>
                  <a:lnTo>
                    <a:pt x="1237164" y="26993"/>
                  </a:lnTo>
                  <a:lnTo>
                    <a:pt x="1294125" y="36233"/>
                  </a:lnTo>
                  <a:lnTo>
                    <a:pt x="1348229" y="46660"/>
                  </a:lnTo>
                  <a:lnTo>
                    <a:pt x="1399258" y="58215"/>
                  </a:lnTo>
                  <a:lnTo>
                    <a:pt x="1446994" y="70833"/>
                  </a:lnTo>
                  <a:lnTo>
                    <a:pt x="1491220" y="84452"/>
                  </a:lnTo>
                  <a:lnTo>
                    <a:pt x="1531716" y="99012"/>
                  </a:lnTo>
                  <a:lnTo>
                    <a:pt x="1568265" y="114448"/>
                  </a:lnTo>
                  <a:lnTo>
                    <a:pt x="1628648" y="147704"/>
                  </a:lnTo>
                  <a:lnTo>
                    <a:pt x="1670625" y="183722"/>
                  </a:lnTo>
                  <a:lnTo>
                    <a:pt x="1692449" y="222004"/>
                  </a:lnTo>
                  <a:lnTo>
                    <a:pt x="1695259" y="241839"/>
                  </a:lnTo>
                  <a:lnTo>
                    <a:pt x="1692449" y="261674"/>
                  </a:lnTo>
                  <a:lnTo>
                    <a:pt x="1670625" y="299956"/>
                  </a:lnTo>
                  <a:lnTo>
                    <a:pt x="1628648" y="335974"/>
                  </a:lnTo>
                  <a:lnTo>
                    <a:pt x="1568265" y="369230"/>
                  </a:lnTo>
                  <a:lnTo>
                    <a:pt x="1531716" y="384666"/>
                  </a:lnTo>
                  <a:lnTo>
                    <a:pt x="1491220" y="399226"/>
                  </a:lnTo>
                  <a:lnTo>
                    <a:pt x="1446994" y="412845"/>
                  </a:lnTo>
                  <a:lnTo>
                    <a:pt x="1399258" y="425463"/>
                  </a:lnTo>
                  <a:lnTo>
                    <a:pt x="1348229" y="437017"/>
                  </a:lnTo>
                  <a:lnTo>
                    <a:pt x="1294125" y="447445"/>
                  </a:lnTo>
                  <a:lnTo>
                    <a:pt x="1237164" y="456685"/>
                  </a:lnTo>
                  <a:lnTo>
                    <a:pt x="1177565" y="464673"/>
                  </a:lnTo>
                  <a:lnTo>
                    <a:pt x="1115546" y="471349"/>
                  </a:lnTo>
                  <a:lnTo>
                    <a:pt x="1051325" y="476650"/>
                  </a:lnTo>
                  <a:lnTo>
                    <a:pt x="985119" y="480513"/>
                  </a:lnTo>
                  <a:lnTo>
                    <a:pt x="917148" y="482877"/>
                  </a:lnTo>
                  <a:lnTo>
                    <a:pt x="847629" y="483678"/>
                  </a:lnTo>
                  <a:lnTo>
                    <a:pt x="778111" y="482877"/>
                  </a:lnTo>
                  <a:lnTo>
                    <a:pt x="710139" y="480513"/>
                  </a:lnTo>
                  <a:lnTo>
                    <a:pt x="643934" y="476650"/>
                  </a:lnTo>
                  <a:lnTo>
                    <a:pt x="579713" y="471349"/>
                  </a:lnTo>
                  <a:lnTo>
                    <a:pt x="517694" y="464673"/>
                  </a:lnTo>
                  <a:lnTo>
                    <a:pt x="458095" y="456685"/>
                  </a:lnTo>
                  <a:lnTo>
                    <a:pt x="401134" y="447445"/>
                  </a:lnTo>
                  <a:lnTo>
                    <a:pt x="347030" y="437017"/>
                  </a:lnTo>
                  <a:lnTo>
                    <a:pt x="296001" y="425463"/>
                  </a:lnTo>
                  <a:lnTo>
                    <a:pt x="248265" y="412845"/>
                  </a:lnTo>
                  <a:lnTo>
                    <a:pt x="204039" y="399226"/>
                  </a:lnTo>
                  <a:lnTo>
                    <a:pt x="163543" y="384666"/>
                  </a:lnTo>
                  <a:lnTo>
                    <a:pt x="126994" y="369230"/>
                  </a:lnTo>
                  <a:lnTo>
                    <a:pt x="66610" y="335974"/>
                  </a:lnTo>
                  <a:lnTo>
                    <a:pt x="24634" y="299956"/>
                  </a:lnTo>
                  <a:lnTo>
                    <a:pt x="2809" y="261674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103387" y="1847626"/>
            <a:ext cx="106287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40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h</a:t>
            </a:r>
            <a:r>
              <a:rPr sz="1500" u="sng" spc="-4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w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_nu</a:t>
            </a:r>
            <a:r>
              <a:rPr sz="1500" u="sng" spc="4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m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ber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316101" y="2759920"/>
            <a:ext cx="1387288" cy="931769"/>
            <a:chOff x="745314" y="3127909"/>
            <a:chExt cx="1572260" cy="1056005"/>
          </a:xfrm>
        </p:grpSpPr>
        <p:sp>
          <p:nvSpPr>
            <p:cNvPr id="30" name="object 30"/>
            <p:cNvSpPr/>
            <p:nvPr/>
          </p:nvSpPr>
          <p:spPr>
            <a:xfrm>
              <a:off x="1558470" y="3132989"/>
              <a:ext cx="459105" cy="54610"/>
            </a:xfrm>
            <a:custGeom>
              <a:avLst/>
              <a:gdLst/>
              <a:ahLst/>
              <a:cxnLst/>
              <a:rect l="l" t="t" r="r" b="b"/>
              <a:pathLst>
                <a:path w="459105" h="54610">
                  <a:moveTo>
                    <a:pt x="458967" y="0"/>
                  </a:moveTo>
                  <a:lnTo>
                    <a:pt x="0" y="54513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750394" y="3694598"/>
              <a:ext cx="1562100" cy="483870"/>
            </a:xfrm>
            <a:custGeom>
              <a:avLst/>
              <a:gdLst/>
              <a:ahLst/>
              <a:cxnLst/>
              <a:rect l="l" t="t" r="r" b="b"/>
              <a:pathLst>
                <a:path w="1562100" h="483870">
                  <a:moveTo>
                    <a:pt x="780867" y="0"/>
                  </a:moveTo>
                  <a:lnTo>
                    <a:pt x="709792" y="988"/>
                  </a:lnTo>
                  <a:lnTo>
                    <a:pt x="640505" y="3896"/>
                  </a:lnTo>
                  <a:lnTo>
                    <a:pt x="573281" y="8638"/>
                  </a:lnTo>
                  <a:lnTo>
                    <a:pt x="508397" y="15130"/>
                  </a:lnTo>
                  <a:lnTo>
                    <a:pt x="446127" y="23285"/>
                  </a:lnTo>
                  <a:lnTo>
                    <a:pt x="386748" y="33018"/>
                  </a:lnTo>
                  <a:lnTo>
                    <a:pt x="330535" y="44244"/>
                  </a:lnTo>
                  <a:lnTo>
                    <a:pt x="277764" y="56877"/>
                  </a:lnTo>
                  <a:lnTo>
                    <a:pt x="228710" y="70833"/>
                  </a:lnTo>
                  <a:lnTo>
                    <a:pt x="183650" y="86025"/>
                  </a:lnTo>
                  <a:lnTo>
                    <a:pt x="142858" y="102368"/>
                  </a:lnTo>
                  <a:lnTo>
                    <a:pt x="106611" y="119778"/>
                  </a:lnTo>
                  <a:lnTo>
                    <a:pt x="48853" y="157453"/>
                  </a:lnTo>
                  <a:lnTo>
                    <a:pt x="12580" y="198368"/>
                  </a:lnTo>
                  <a:lnTo>
                    <a:pt x="0" y="241839"/>
                  </a:lnTo>
                  <a:lnTo>
                    <a:pt x="3191" y="263852"/>
                  </a:lnTo>
                  <a:lnTo>
                    <a:pt x="27893" y="306130"/>
                  </a:lnTo>
                  <a:lnTo>
                    <a:pt x="75184" y="345510"/>
                  </a:lnTo>
                  <a:lnTo>
                    <a:pt x="142858" y="381310"/>
                  </a:lnTo>
                  <a:lnTo>
                    <a:pt x="183650" y="397654"/>
                  </a:lnTo>
                  <a:lnTo>
                    <a:pt x="228710" y="412846"/>
                  </a:lnTo>
                  <a:lnTo>
                    <a:pt x="277764" y="426801"/>
                  </a:lnTo>
                  <a:lnTo>
                    <a:pt x="330535" y="439435"/>
                  </a:lnTo>
                  <a:lnTo>
                    <a:pt x="386748" y="450661"/>
                  </a:lnTo>
                  <a:lnTo>
                    <a:pt x="446127" y="460394"/>
                  </a:lnTo>
                  <a:lnTo>
                    <a:pt x="508397" y="468549"/>
                  </a:lnTo>
                  <a:lnTo>
                    <a:pt x="573281" y="475040"/>
                  </a:lnTo>
                  <a:lnTo>
                    <a:pt x="640505" y="479783"/>
                  </a:lnTo>
                  <a:lnTo>
                    <a:pt x="709792" y="482691"/>
                  </a:lnTo>
                  <a:lnTo>
                    <a:pt x="780867" y="483679"/>
                  </a:lnTo>
                  <a:lnTo>
                    <a:pt x="851942" y="482691"/>
                  </a:lnTo>
                  <a:lnTo>
                    <a:pt x="921229" y="479783"/>
                  </a:lnTo>
                  <a:lnTo>
                    <a:pt x="988452" y="475040"/>
                  </a:lnTo>
                  <a:lnTo>
                    <a:pt x="1053337" y="468549"/>
                  </a:lnTo>
                  <a:lnTo>
                    <a:pt x="1115606" y="460394"/>
                  </a:lnTo>
                  <a:lnTo>
                    <a:pt x="1174986" y="450661"/>
                  </a:lnTo>
                  <a:lnTo>
                    <a:pt x="1231199" y="439435"/>
                  </a:lnTo>
                  <a:lnTo>
                    <a:pt x="1283970" y="426801"/>
                  </a:lnTo>
                  <a:lnTo>
                    <a:pt x="1333023" y="412846"/>
                  </a:lnTo>
                  <a:lnTo>
                    <a:pt x="1378084" y="397654"/>
                  </a:lnTo>
                  <a:lnTo>
                    <a:pt x="1418876" y="381310"/>
                  </a:lnTo>
                  <a:lnTo>
                    <a:pt x="1455123" y="363901"/>
                  </a:lnTo>
                  <a:lnTo>
                    <a:pt x="1512881" y="326225"/>
                  </a:lnTo>
                  <a:lnTo>
                    <a:pt x="1549153" y="285310"/>
                  </a:lnTo>
                  <a:lnTo>
                    <a:pt x="1561734" y="241839"/>
                  </a:lnTo>
                  <a:lnTo>
                    <a:pt x="1558543" y="219827"/>
                  </a:lnTo>
                  <a:lnTo>
                    <a:pt x="1533841" y="177549"/>
                  </a:lnTo>
                  <a:lnTo>
                    <a:pt x="1486550" y="138168"/>
                  </a:lnTo>
                  <a:lnTo>
                    <a:pt x="1418876" y="102368"/>
                  </a:lnTo>
                  <a:lnTo>
                    <a:pt x="1378084" y="86025"/>
                  </a:lnTo>
                  <a:lnTo>
                    <a:pt x="1333023" y="70833"/>
                  </a:lnTo>
                  <a:lnTo>
                    <a:pt x="1283970" y="56877"/>
                  </a:lnTo>
                  <a:lnTo>
                    <a:pt x="1231199" y="44244"/>
                  </a:lnTo>
                  <a:lnTo>
                    <a:pt x="1174986" y="33018"/>
                  </a:lnTo>
                  <a:lnTo>
                    <a:pt x="1115606" y="23285"/>
                  </a:lnTo>
                  <a:lnTo>
                    <a:pt x="1053337" y="15130"/>
                  </a:lnTo>
                  <a:lnTo>
                    <a:pt x="988452" y="8638"/>
                  </a:lnTo>
                  <a:lnTo>
                    <a:pt x="921229" y="3896"/>
                  </a:lnTo>
                  <a:lnTo>
                    <a:pt x="851942" y="988"/>
                  </a:lnTo>
                  <a:lnTo>
                    <a:pt x="780867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750394" y="3694598"/>
              <a:ext cx="1562100" cy="483870"/>
            </a:xfrm>
            <a:custGeom>
              <a:avLst/>
              <a:gdLst/>
              <a:ahLst/>
              <a:cxnLst/>
              <a:rect l="l" t="t" r="r" b="b"/>
              <a:pathLst>
                <a:path w="1562100" h="483870">
                  <a:moveTo>
                    <a:pt x="0" y="241839"/>
                  </a:moveTo>
                  <a:lnTo>
                    <a:pt x="12580" y="198368"/>
                  </a:lnTo>
                  <a:lnTo>
                    <a:pt x="48853" y="157453"/>
                  </a:lnTo>
                  <a:lnTo>
                    <a:pt x="106611" y="119778"/>
                  </a:lnTo>
                  <a:lnTo>
                    <a:pt x="142858" y="102368"/>
                  </a:lnTo>
                  <a:lnTo>
                    <a:pt x="183650" y="86025"/>
                  </a:lnTo>
                  <a:lnTo>
                    <a:pt x="228710" y="70833"/>
                  </a:lnTo>
                  <a:lnTo>
                    <a:pt x="277764" y="56877"/>
                  </a:lnTo>
                  <a:lnTo>
                    <a:pt x="330535" y="44244"/>
                  </a:lnTo>
                  <a:lnTo>
                    <a:pt x="386748" y="33018"/>
                  </a:lnTo>
                  <a:lnTo>
                    <a:pt x="446127" y="23285"/>
                  </a:lnTo>
                  <a:lnTo>
                    <a:pt x="508397" y="15130"/>
                  </a:lnTo>
                  <a:lnTo>
                    <a:pt x="573281" y="8638"/>
                  </a:lnTo>
                  <a:lnTo>
                    <a:pt x="640505" y="3896"/>
                  </a:lnTo>
                  <a:lnTo>
                    <a:pt x="709792" y="988"/>
                  </a:lnTo>
                  <a:lnTo>
                    <a:pt x="780867" y="0"/>
                  </a:lnTo>
                  <a:lnTo>
                    <a:pt x="851941" y="988"/>
                  </a:lnTo>
                  <a:lnTo>
                    <a:pt x="921228" y="3896"/>
                  </a:lnTo>
                  <a:lnTo>
                    <a:pt x="988452" y="8638"/>
                  </a:lnTo>
                  <a:lnTo>
                    <a:pt x="1053336" y="15130"/>
                  </a:lnTo>
                  <a:lnTo>
                    <a:pt x="1115606" y="23285"/>
                  </a:lnTo>
                  <a:lnTo>
                    <a:pt x="1174985" y="33018"/>
                  </a:lnTo>
                  <a:lnTo>
                    <a:pt x="1231198" y="44244"/>
                  </a:lnTo>
                  <a:lnTo>
                    <a:pt x="1283969" y="56877"/>
                  </a:lnTo>
                  <a:lnTo>
                    <a:pt x="1333023" y="70833"/>
                  </a:lnTo>
                  <a:lnTo>
                    <a:pt x="1378084" y="86025"/>
                  </a:lnTo>
                  <a:lnTo>
                    <a:pt x="1418875" y="102368"/>
                  </a:lnTo>
                  <a:lnTo>
                    <a:pt x="1455123" y="119778"/>
                  </a:lnTo>
                  <a:lnTo>
                    <a:pt x="1512881" y="157453"/>
                  </a:lnTo>
                  <a:lnTo>
                    <a:pt x="1549153" y="198368"/>
                  </a:lnTo>
                  <a:lnTo>
                    <a:pt x="1561734" y="241839"/>
                  </a:lnTo>
                  <a:lnTo>
                    <a:pt x="1558543" y="263851"/>
                  </a:lnTo>
                  <a:lnTo>
                    <a:pt x="1533841" y="306129"/>
                  </a:lnTo>
                  <a:lnTo>
                    <a:pt x="1486550" y="345510"/>
                  </a:lnTo>
                  <a:lnTo>
                    <a:pt x="1418875" y="381309"/>
                  </a:lnTo>
                  <a:lnTo>
                    <a:pt x="1378084" y="397653"/>
                  </a:lnTo>
                  <a:lnTo>
                    <a:pt x="1333023" y="412845"/>
                  </a:lnTo>
                  <a:lnTo>
                    <a:pt x="1283969" y="426801"/>
                  </a:lnTo>
                  <a:lnTo>
                    <a:pt x="1231198" y="439434"/>
                  </a:lnTo>
                  <a:lnTo>
                    <a:pt x="1174985" y="450660"/>
                  </a:lnTo>
                  <a:lnTo>
                    <a:pt x="1115606" y="460393"/>
                  </a:lnTo>
                  <a:lnTo>
                    <a:pt x="1053336" y="468548"/>
                  </a:lnTo>
                  <a:lnTo>
                    <a:pt x="988452" y="475040"/>
                  </a:lnTo>
                  <a:lnTo>
                    <a:pt x="921228" y="479782"/>
                  </a:lnTo>
                  <a:lnTo>
                    <a:pt x="851941" y="482690"/>
                  </a:lnTo>
                  <a:lnTo>
                    <a:pt x="780867" y="483678"/>
                  </a:lnTo>
                  <a:lnTo>
                    <a:pt x="709792" y="482690"/>
                  </a:lnTo>
                  <a:lnTo>
                    <a:pt x="640505" y="479782"/>
                  </a:lnTo>
                  <a:lnTo>
                    <a:pt x="573281" y="475040"/>
                  </a:lnTo>
                  <a:lnTo>
                    <a:pt x="508397" y="468548"/>
                  </a:lnTo>
                  <a:lnTo>
                    <a:pt x="446127" y="460393"/>
                  </a:lnTo>
                  <a:lnTo>
                    <a:pt x="386748" y="450660"/>
                  </a:lnTo>
                  <a:lnTo>
                    <a:pt x="330535" y="439434"/>
                  </a:lnTo>
                  <a:lnTo>
                    <a:pt x="277764" y="426801"/>
                  </a:lnTo>
                  <a:lnTo>
                    <a:pt x="228710" y="412845"/>
                  </a:lnTo>
                  <a:lnTo>
                    <a:pt x="183650" y="397653"/>
                  </a:lnTo>
                  <a:lnTo>
                    <a:pt x="142858" y="381309"/>
                  </a:lnTo>
                  <a:lnTo>
                    <a:pt x="106611" y="363900"/>
                  </a:lnTo>
                  <a:lnTo>
                    <a:pt x="48853" y="326225"/>
                  </a:lnTo>
                  <a:lnTo>
                    <a:pt x="12580" y="285310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509749" y="3326802"/>
            <a:ext cx="10533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_sco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65086" y="2594631"/>
            <a:ext cx="973231" cy="435909"/>
            <a:chOff x="460830" y="2940582"/>
            <a:chExt cx="1102995" cy="494030"/>
          </a:xfrm>
        </p:grpSpPr>
        <p:sp>
          <p:nvSpPr>
            <p:cNvPr id="35" name="object 35"/>
            <p:cNvSpPr/>
            <p:nvPr/>
          </p:nvSpPr>
          <p:spPr>
            <a:xfrm>
              <a:off x="465910" y="2945662"/>
              <a:ext cx="1092835" cy="483870"/>
            </a:xfrm>
            <a:custGeom>
              <a:avLst/>
              <a:gdLst/>
              <a:ahLst/>
              <a:cxnLst/>
              <a:rect l="l" t="t" r="r" b="b"/>
              <a:pathLst>
                <a:path w="1092835" h="483870">
                  <a:moveTo>
                    <a:pt x="546279" y="0"/>
                  </a:moveTo>
                  <a:lnTo>
                    <a:pt x="482571" y="1627"/>
                  </a:lnTo>
                  <a:lnTo>
                    <a:pt x="421022" y="6387"/>
                  </a:lnTo>
                  <a:lnTo>
                    <a:pt x="362041" y="14098"/>
                  </a:lnTo>
                  <a:lnTo>
                    <a:pt x="306039" y="24580"/>
                  </a:lnTo>
                  <a:lnTo>
                    <a:pt x="253425" y="37651"/>
                  </a:lnTo>
                  <a:lnTo>
                    <a:pt x="204609" y="53129"/>
                  </a:lnTo>
                  <a:lnTo>
                    <a:pt x="160001" y="70833"/>
                  </a:lnTo>
                  <a:lnTo>
                    <a:pt x="120011" y="90581"/>
                  </a:lnTo>
                  <a:lnTo>
                    <a:pt x="85049" y="112192"/>
                  </a:lnTo>
                  <a:lnTo>
                    <a:pt x="31847" y="160277"/>
                  </a:lnTo>
                  <a:lnTo>
                    <a:pt x="3675" y="213636"/>
                  </a:lnTo>
                  <a:lnTo>
                    <a:pt x="0" y="241839"/>
                  </a:lnTo>
                  <a:lnTo>
                    <a:pt x="3675" y="270043"/>
                  </a:lnTo>
                  <a:lnTo>
                    <a:pt x="31847" y="323402"/>
                  </a:lnTo>
                  <a:lnTo>
                    <a:pt x="85049" y="371487"/>
                  </a:lnTo>
                  <a:lnTo>
                    <a:pt x="120011" y="393098"/>
                  </a:lnTo>
                  <a:lnTo>
                    <a:pt x="160001" y="412846"/>
                  </a:lnTo>
                  <a:lnTo>
                    <a:pt x="204609" y="430550"/>
                  </a:lnTo>
                  <a:lnTo>
                    <a:pt x="253425" y="446028"/>
                  </a:lnTo>
                  <a:lnTo>
                    <a:pt x="306039" y="459098"/>
                  </a:lnTo>
                  <a:lnTo>
                    <a:pt x="362041" y="469580"/>
                  </a:lnTo>
                  <a:lnTo>
                    <a:pt x="421022" y="477292"/>
                  </a:lnTo>
                  <a:lnTo>
                    <a:pt x="482571" y="482052"/>
                  </a:lnTo>
                  <a:lnTo>
                    <a:pt x="546279" y="483679"/>
                  </a:lnTo>
                  <a:lnTo>
                    <a:pt x="609986" y="482052"/>
                  </a:lnTo>
                  <a:lnTo>
                    <a:pt x="671536" y="477292"/>
                  </a:lnTo>
                  <a:lnTo>
                    <a:pt x="730516" y="469580"/>
                  </a:lnTo>
                  <a:lnTo>
                    <a:pt x="786519" y="459098"/>
                  </a:lnTo>
                  <a:lnTo>
                    <a:pt x="839133" y="446028"/>
                  </a:lnTo>
                  <a:lnTo>
                    <a:pt x="887949" y="430550"/>
                  </a:lnTo>
                  <a:lnTo>
                    <a:pt x="932557" y="412846"/>
                  </a:lnTo>
                  <a:lnTo>
                    <a:pt x="972547" y="393098"/>
                  </a:lnTo>
                  <a:lnTo>
                    <a:pt x="1007509" y="371487"/>
                  </a:lnTo>
                  <a:lnTo>
                    <a:pt x="1060711" y="323402"/>
                  </a:lnTo>
                  <a:lnTo>
                    <a:pt x="1088883" y="270043"/>
                  </a:lnTo>
                  <a:lnTo>
                    <a:pt x="1092558" y="241839"/>
                  </a:lnTo>
                  <a:lnTo>
                    <a:pt x="1088883" y="213636"/>
                  </a:lnTo>
                  <a:lnTo>
                    <a:pt x="1060711" y="160277"/>
                  </a:lnTo>
                  <a:lnTo>
                    <a:pt x="1007509" y="112192"/>
                  </a:lnTo>
                  <a:lnTo>
                    <a:pt x="972547" y="90581"/>
                  </a:lnTo>
                  <a:lnTo>
                    <a:pt x="932557" y="70833"/>
                  </a:lnTo>
                  <a:lnTo>
                    <a:pt x="887949" y="53129"/>
                  </a:lnTo>
                  <a:lnTo>
                    <a:pt x="839133" y="37651"/>
                  </a:lnTo>
                  <a:lnTo>
                    <a:pt x="786519" y="24580"/>
                  </a:lnTo>
                  <a:lnTo>
                    <a:pt x="730516" y="14098"/>
                  </a:lnTo>
                  <a:lnTo>
                    <a:pt x="671536" y="6387"/>
                  </a:lnTo>
                  <a:lnTo>
                    <a:pt x="609986" y="1627"/>
                  </a:lnTo>
                  <a:lnTo>
                    <a:pt x="54627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465910" y="2945662"/>
              <a:ext cx="1092835" cy="483870"/>
            </a:xfrm>
            <a:custGeom>
              <a:avLst/>
              <a:gdLst/>
              <a:ahLst/>
              <a:cxnLst/>
              <a:rect l="l" t="t" r="r" b="b"/>
              <a:pathLst>
                <a:path w="1092835" h="483870">
                  <a:moveTo>
                    <a:pt x="0" y="241839"/>
                  </a:moveTo>
                  <a:lnTo>
                    <a:pt x="14427" y="186387"/>
                  </a:lnTo>
                  <a:lnTo>
                    <a:pt x="55524" y="135484"/>
                  </a:lnTo>
                  <a:lnTo>
                    <a:pt x="120011" y="90581"/>
                  </a:lnTo>
                  <a:lnTo>
                    <a:pt x="160001" y="70833"/>
                  </a:lnTo>
                  <a:lnTo>
                    <a:pt x="204609" y="53129"/>
                  </a:lnTo>
                  <a:lnTo>
                    <a:pt x="253425" y="37651"/>
                  </a:lnTo>
                  <a:lnTo>
                    <a:pt x="306039" y="24580"/>
                  </a:lnTo>
                  <a:lnTo>
                    <a:pt x="362041" y="14098"/>
                  </a:lnTo>
                  <a:lnTo>
                    <a:pt x="421022" y="6387"/>
                  </a:lnTo>
                  <a:lnTo>
                    <a:pt x="482571" y="1627"/>
                  </a:lnTo>
                  <a:lnTo>
                    <a:pt x="546279" y="0"/>
                  </a:lnTo>
                  <a:lnTo>
                    <a:pt x="609987" y="1627"/>
                  </a:lnTo>
                  <a:lnTo>
                    <a:pt x="671536" y="6387"/>
                  </a:lnTo>
                  <a:lnTo>
                    <a:pt x="730516" y="14098"/>
                  </a:lnTo>
                  <a:lnTo>
                    <a:pt x="786519" y="24580"/>
                  </a:lnTo>
                  <a:lnTo>
                    <a:pt x="839133" y="37651"/>
                  </a:lnTo>
                  <a:lnTo>
                    <a:pt x="887949" y="53129"/>
                  </a:lnTo>
                  <a:lnTo>
                    <a:pt x="932557" y="70833"/>
                  </a:lnTo>
                  <a:lnTo>
                    <a:pt x="972547" y="90581"/>
                  </a:lnTo>
                  <a:lnTo>
                    <a:pt x="1007509" y="112192"/>
                  </a:lnTo>
                  <a:lnTo>
                    <a:pt x="1060711" y="160276"/>
                  </a:lnTo>
                  <a:lnTo>
                    <a:pt x="1088883" y="213635"/>
                  </a:lnTo>
                  <a:lnTo>
                    <a:pt x="1092558" y="241839"/>
                  </a:lnTo>
                  <a:lnTo>
                    <a:pt x="1088883" y="270043"/>
                  </a:lnTo>
                  <a:lnTo>
                    <a:pt x="1060711" y="323401"/>
                  </a:lnTo>
                  <a:lnTo>
                    <a:pt x="1007509" y="371486"/>
                  </a:lnTo>
                  <a:lnTo>
                    <a:pt x="972547" y="393097"/>
                  </a:lnTo>
                  <a:lnTo>
                    <a:pt x="932557" y="412845"/>
                  </a:lnTo>
                  <a:lnTo>
                    <a:pt x="887949" y="430549"/>
                  </a:lnTo>
                  <a:lnTo>
                    <a:pt x="839133" y="446027"/>
                  </a:lnTo>
                  <a:lnTo>
                    <a:pt x="786519" y="459098"/>
                  </a:lnTo>
                  <a:lnTo>
                    <a:pt x="730516" y="469580"/>
                  </a:lnTo>
                  <a:lnTo>
                    <a:pt x="671536" y="477291"/>
                  </a:lnTo>
                  <a:lnTo>
                    <a:pt x="609987" y="482051"/>
                  </a:lnTo>
                  <a:lnTo>
                    <a:pt x="546279" y="483678"/>
                  </a:lnTo>
                  <a:lnTo>
                    <a:pt x="482571" y="482051"/>
                  </a:lnTo>
                  <a:lnTo>
                    <a:pt x="421022" y="477291"/>
                  </a:lnTo>
                  <a:lnTo>
                    <a:pt x="362041" y="469580"/>
                  </a:lnTo>
                  <a:lnTo>
                    <a:pt x="306039" y="459098"/>
                  </a:lnTo>
                  <a:lnTo>
                    <a:pt x="253425" y="446027"/>
                  </a:lnTo>
                  <a:lnTo>
                    <a:pt x="204609" y="430549"/>
                  </a:lnTo>
                  <a:lnTo>
                    <a:pt x="160001" y="412845"/>
                  </a:lnTo>
                  <a:lnTo>
                    <a:pt x="120011" y="393097"/>
                  </a:lnTo>
                  <a:lnTo>
                    <a:pt x="85049" y="371486"/>
                  </a:lnTo>
                  <a:lnTo>
                    <a:pt x="31847" y="323401"/>
                  </a:lnTo>
                  <a:lnTo>
                    <a:pt x="3675" y="270043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164765" y="2681342"/>
            <a:ext cx="8191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due_da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005102" y="2201783"/>
            <a:ext cx="1019175" cy="1062878"/>
            <a:chOff x="1526182" y="2495354"/>
            <a:chExt cx="1155065" cy="1204595"/>
          </a:xfrm>
        </p:grpSpPr>
        <p:sp>
          <p:nvSpPr>
            <p:cNvPr id="39" name="object 39"/>
            <p:cNvSpPr/>
            <p:nvPr/>
          </p:nvSpPr>
          <p:spPr>
            <a:xfrm>
              <a:off x="1531262" y="3132989"/>
              <a:ext cx="486409" cy="561975"/>
            </a:xfrm>
            <a:custGeom>
              <a:avLst/>
              <a:gdLst/>
              <a:ahLst/>
              <a:cxnLst/>
              <a:rect l="l" t="t" r="r" b="b"/>
              <a:pathLst>
                <a:path w="486410" h="561975">
                  <a:moveTo>
                    <a:pt x="486175" y="0"/>
                  </a:moveTo>
                  <a:lnTo>
                    <a:pt x="0" y="561609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2265686" y="2500434"/>
              <a:ext cx="410209" cy="368935"/>
            </a:xfrm>
            <a:custGeom>
              <a:avLst/>
              <a:gdLst/>
              <a:ahLst/>
              <a:cxnLst/>
              <a:rect l="l" t="t" r="r" b="b"/>
              <a:pathLst>
                <a:path w="410210" h="368935">
                  <a:moveTo>
                    <a:pt x="0" y="0"/>
                  </a:moveTo>
                  <a:lnTo>
                    <a:pt x="410119" y="36886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281715" y="4147970"/>
            <a:ext cx="7286065" cy="1547014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 marR="1599164">
              <a:lnSpc>
                <a:spcPct val="107100"/>
              </a:lnSpc>
              <a:spcBef>
                <a:spcPts val="79"/>
              </a:spcBef>
            </a:pP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Homework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without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course.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homework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must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belong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single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class.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homework.</a:t>
            </a:r>
            <a:endParaRPr sz="1853" dirty="0">
              <a:latin typeface="Verdana"/>
              <a:cs typeface="Verdana"/>
            </a:endParaRPr>
          </a:p>
          <a:p>
            <a:pPr marL="11206">
              <a:spcBef>
                <a:spcPts val="251"/>
              </a:spcBef>
            </a:pP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Different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courses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same homework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number.</a:t>
            </a:r>
            <a:endParaRPr sz="1853" dirty="0">
              <a:latin typeface="Verdana"/>
              <a:cs typeface="Verdana"/>
            </a:endParaRPr>
          </a:p>
          <a:p>
            <a:pPr marL="11206">
              <a:spcBef>
                <a:spcPts val="66"/>
              </a:spcBef>
            </a:pPr>
            <a:r>
              <a:rPr sz="1853" spc="-93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homework,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Courier New"/>
                <a:cs typeface="Courier New"/>
              </a:rPr>
              <a:t>c_number</a:t>
            </a:r>
            <a:r>
              <a:rPr sz="1853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Courier New"/>
                <a:cs typeface="Courier New"/>
              </a:rPr>
              <a:t>hw_number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853" dirty="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25038" y="1082040"/>
            <a:ext cx="759086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18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1853" b="1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9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53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9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853" b="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13" dirty="0">
                <a:solidFill>
                  <a:srgbClr val="292934"/>
                </a:solidFill>
                <a:latin typeface="Verdana"/>
                <a:cs typeface="Verdana"/>
              </a:rPr>
              <a:t>concluded</a:t>
            </a:r>
            <a:r>
              <a:rPr sz="1853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9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853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9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b="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13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1853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4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1853" b="1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13" dirty="0">
                <a:solidFill>
                  <a:srgbClr val="292934"/>
                </a:solidFill>
                <a:latin typeface="Verdana"/>
                <a:cs typeface="Verdana"/>
              </a:rPr>
              <a:t>diagram?</a:t>
            </a:r>
            <a:endParaRPr sz="185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duct&#10;&#10;Description automatically generated">
            <a:extLst>
              <a:ext uri="{FF2B5EF4-FFF2-40B4-BE49-F238E27FC236}">
                <a16:creationId xmlns:a16="http://schemas.microsoft.com/office/drawing/2014/main" id="{D6BC5524-6064-4C9D-7CE8-7366D1D29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051" y="480515"/>
            <a:ext cx="8269897" cy="58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504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14539"/>
            <a:ext cx="9601200" cy="1485900"/>
          </a:xfrm>
        </p:spPr>
        <p:txBody>
          <a:bodyPr>
            <a:normAutofit/>
          </a:bodyPr>
          <a:lstStyle/>
          <a:p>
            <a:r>
              <a:rPr lang="en-US" dirty="0"/>
              <a:t>Inheritance in the E/R Model </a:t>
            </a:r>
            <a:br>
              <a:rPr lang="en-US" dirty="0"/>
            </a:br>
            <a:r>
              <a:rPr lang="en-US" altLang="zh-CN" dirty="0">
                <a:ea typeface="宋体" charset="-122"/>
              </a:rPr>
              <a:t>Subclasses(</a:t>
            </a:r>
            <a:r>
              <a:rPr lang="en-US" altLang="zh-CN" dirty="0" err="1">
                <a:ea typeface="宋体" charset="-122"/>
              </a:rPr>
              <a:t>subentities</a:t>
            </a:r>
            <a:r>
              <a:rPr lang="en-US" altLang="zh-CN" dirty="0">
                <a:ea typeface="宋体" charset="-122"/>
              </a:rPr>
              <a:t>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70785"/>
            <a:ext cx="10364680" cy="431202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ea typeface="宋体" charset="-122"/>
              </a:rPr>
              <a:t>Entity set containing special properties not associated with all members of the set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ea typeface="宋体" charset="-122"/>
              </a:rPr>
              <a:t>Subclass = special case </a:t>
            </a:r>
          </a:p>
          <a:p>
            <a:pPr marL="987552" lvl="2" indent="0">
              <a:lnSpc>
                <a:spcPct val="120000"/>
              </a:lnSpc>
              <a:buNone/>
            </a:pPr>
            <a:r>
              <a:rPr lang="en-US" altLang="zh-CN" sz="2000" dirty="0">
                <a:ea typeface="宋体" charset="-122"/>
              </a:rPr>
              <a:t>   = with its own special properties and/or relationships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ea typeface="宋体" charset="-122"/>
              </a:rPr>
              <a:t>Example: </a:t>
            </a:r>
            <a:r>
              <a:rPr lang="en-US" sz="2400" dirty="0"/>
              <a:t>Products </a:t>
            </a:r>
          </a:p>
          <a:p>
            <a:pPr lvl="3">
              <a:lnSpc>
                <a:spcPct val="120000"/>
              </a:lnSpc>
            </a:pPr>
            <a:r>
              <a:rPr lang="en-US" sz="2000" dirty="0"/>
              <a:t>Software products </a:t>
            </a:r>
          </a:p>
          <a:p>
            <a:pPr lvl="3">
              <a:lnSpc>
                <a:spcPct val="120000"/>
              </a:lnSpc>
            </a:pPr>
            <a:r>
              <a:rPr lang="en-US" sz="2000" dirty="0"/>
              <a:t>Educational products</a:t>
            </a:r>
            <a:endParaRPr lang="en-US" altLang="zh-CN" sz="2000" dirty="0">
              <a:ea typeface="宋体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dirty="0">
                <a:ea typeface="宋体" charset="-122"/>
              </a:rPr>
              <a:t>Let us suppose that in addition to all the </a:t>
            </a:r>
            <a:r>
              <a:rPr lang="en-US" altLang="zh-CN" sz="2400" i="1" dirty="0">
                <a:ea typeface="宋体" charset="-122"/>
              </a:rPr>
              <a:t>properties</a:t>
            </a:r>
            <a:r>
              <a:rPr lang="en-US" altLang="zh-CN" sz="2400" dirty="0">
                <a:ea typeface="宋体" charset="-122"/>
              </a:rPr>
              <a:t> (attributes and relationships) of products, </a:t>
            </a:r>
            <a:r>
              <a:rPr lang="en-US" sz="2400" dirty="0"/>
              <a:t>Software products</a:t>
            </a:r>
            <a:r>
              <a:rPr lang="en-US" altLang="zh-CN" sz="2400" dirty="0">
                <a:ea typeface="宋体" charset="-122"/>
              </a:rPr>
              <a:t> also have the other attributes, e.g. platform</a:t>
            </a:r>
          </a:p>
          <a:p>
            <a:endParaRPr lang="en-US" altLang="zh-CN" sz="1800" dirty="0">
              <a:ea typeface="宋体" charset="-122"/>
            </a:endParaRPr>
          </a:p>
          <a:p>
            <a:pPr>
              <a:lnSpc>
                <a:spcPct val="120000"/>
              </a:lnSpc>
            </a:pPr>
            <a:endParaRPr lang="zh-CN" alt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70603-986F-41E1-A763-220BA9CA5E18}" type="slidenum">
              <a:rPr lang="zh-CN" altLang="en-US" smtClean="0"/>
              <a:pPr>
                <a:defRPr/>
              </a:pPr>
              <a:t>35</a:t>
            </a:fld>
            <a:r>
              <a:rPr lang="zh-CN" altLang="en-US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7576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14539"/>
            <a:ext cx="9601200" cy="1485900"/>
          </a:xfrm>
        </p:spPr>
        <p:txBody>
          <a:bodyPr>
            <a:normAutofit/>
          </a:bodyPr>
          <a:lstStyle/>
          <a:p>
            <a:r>
              <a:rPr lang="en-US" dirty="0"/>
              <a:t>Inheritance in the E/R Model </a:t>
            </a:r>
            <a:br>
              <a:rPr lang="en-US" dirty="0"/>
            </a:br>
            <a:r>
              <a:rPr lang="en-US" altLang="zh-CN" dirty="0">
                <a:ea typeface="宋体" charset="-122"/>
              </a:rPr>
              <a:t>Subclasses(</a:t>
            </a:r>
            <a:r>
              <a:rPr lang="en-US" altLang="zh-CN" dirty="0" err="1">
                <a:ea typeface="宋体" charset="-122"/>
              </a:rPr>
              <a:t>subentities</a:t>
            </a:r>
            <a:r>
              <a:rPr lang="en-US" altLang="zh-CN" dirty="0">
                <a:ea typeface="宋体" charset="-122"/>
              </a:rPr>
              <a:t>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57884"/>
            <a:ext cx="9601200" cy="4312024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charset="-122"/>
              </a:rPr>
              <a:t>Assume subclasses form a tree</a:t>
            </a:r>
          </a:p>
          <a:p>
            <a:pPr lvl="1"/>
            <a:r>
              <a:rPr lang="en-US" altLang="zh-CN" dirty="0">
                <a:ea typeface="宋体" charset="-122"/>
              </a:rPr>
              <a:t>No multiple inheritance</a:t>
            </a:r>
          </a:p>
          <a:p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Isa</a:t>
            </a:r>
            <a:r>
              <a:rPr lang="en-US" altLang="zh-CN" dirty="0">
                <a:ea typeface="宋体" charset="-122"/>
              </a:rPr>
              <a:t> triangles indicate the subclass relationship</a:t>
            </a:r>
          </a:p>
          <a:p>
            <a:pPr lvl="1"/>
            <a:r>
              <a:rPr lang="en-US" altLang="zh-CN" dirty="0">
                <a:ea typeface="宋体" charset="-122"/>
              </a:rPr>
              <a:t>Point to the superclass</a:t>
            </a:r>
          </a:p>
          <a:p>
            <a:pPr>
              <a:lnSpc>
                <a:spcPct val="90000"/>
              </a:lnSpc>
            </a:pPr>
            <a:r>
              <a:rPr lang="en-US" dirty="0"/>
              <a:t>Superclass contains all common attributes</a:t>
            </a:r>
          </a:p>
          <a:p>
            <a:pPr>
              <a:lnSpc>
                <a:spcPct val="90000"/>
              </a:lnSpc>
            </a:pPr>
            <a:r>
              <a:rPr lang="en-US" dirty="0"/>
              <a:t>Subclasses contain specific attributes.</a:t>
            </a:r>
          </a:p>
          <a:p>
            <a:endParaRPr lang="en-US" altLang="zh-CN" sz="1600" dirty="0">
              <a:ea typeface="宋体" charset="-122"/>
            </a:endParaRPr>
          </a:p>
          <a:p>
            <a:pPr>
              <a:lnSpc>
                <a:spcPct val="120000"/>
              </a:lnSpc>
            </a:pPr>
            <a:endParaRPr lang="zh-CN" alt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70603-986F-41E1-A763-220BA9CA5E18}" type="slidenum">
              <a:rPr lang="zh-CN" altLang="en-US" smtClean="0"/>
              <a:pPr>
                <a:defRPr/>
              </a:pPr>
              <a:t>36</a:t>
            </a:fld>
            <a:r>
              <a:rPr lang="zh-CN" altLang="en-US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0406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25040" y="5112411"/>
            <a:ext cx="1452282" cy="387162"/>
            <a:chOff x="1662112" y="5794066"/>
            <a:chExt cx="1645920" cy="438784"/>
          </a:xfrm>
        </p:grpSpPr>
        <p:sp>
          <p:nvSpPr>
            <p:cNvPr id="3" name="object 3"/>
            <p:cNvSpPr/>
            <p:nvPr/>
          </p:nvSpPr>
          <p:spPr>
            <a:xfrm>
              <a:off x="1668779" y="5800733"/>
              <a:ext cx="1632585" cy="425450"/>
            </a:xfrm>
            <a:custGeom>
              <a:avLst/>
              <a:gdLst/>
              <a:ahLst/>
              <a:cxnLst/>
              <a:rect l="l" t="t" r="r" b="b"/>
              <a:pathLst>
                <a:path w="1632585" h="425450">
                  <a:moveTo>
                    <a:pt x="1561307" y="0"/>
                  </a:moveTo>
                  <a:lnTo>
                    <a:pt x="70896" y="0"/>
                  </a:lnTo>
                  <a:lnTo>
                    <a:pt x="43300" y="5571"/>
                  </a:lnTo>
                  <a:lnTo>
                    <a:pt x="20764" y="20764"/>
                  </a:lnTo>
                  <a:lnTo>
                    <a:pt x="5571" y="43300"/>
                  </a:lnTo>
                  <a:lnTo>
                    <a:pt x="0" y="70896"/>
                  </a:lnTo>
                  <a:lnTo>
                    <a:pt x="0" y="354476"/>
                  </a:lnTo>
                  <a:lnTo>
                    <a:pt x="5571" y="382072"/>
                  </a:lnTo>
                  <a:lnTo>
                    <a:pt x="20764" y="404607"/>
                  </a:lnTo>
                  <a:lnTo>
                    <a:pt x="43300" y="419801"/>
                  </a:lnTo>
                  <a:lnTo>
                    <a:pt x="70896" y="425372"/>
                  </a:lnTo>
                  <a:lnTo>
                    <a:pt x="1561307" y="425372"/>
                  </a:lnTo>
                  <a:lnTo>
                    <a:pt x="1588903" y="419801"/>
                  </a:lnTo>
                  <a:lnTo>
                    <a:pt x="1611439" y="404607"/>
                  </a:lnTo>
                  <a:lnTo>
                    <a:pt x="1626632" y="382072"/>
                  </a:lnTo>
                  <a:lnTo>
                    <a:pt x="1632204" y="354476"/>
                  </a:lnTo>
                  <a:lnTo>
                    <a:pt x="1632204" y="70896"/>
                  </a:lnTo>
                  <a:lnTo>
                    <a:pt x="1626632" y="43300"/>
                  </a:lnTo>
                  <a:lnTo>
                    <a:pt x="1611439" y="20764"/>
                  </a:lnTo>
                  <a:lnTo>
                    <a:pt x="1588903" y="5571"/>
                  </a:lnTo>
                  <a:lnTo>
                    <a:pt x="1561307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1668779" y="5800733"/>
              <a:ext cx="1632585" cy="425450"/>
            </a:xfrm>
            <a:custGeom>
              <a:avLst/>
              <a:gdLst/>
              <a:ahLst/>
              <a:cxnLst/>
              <a:rect l="l" t="t" r="r" b="b"/>
              <a:pathLst>
                <a:path w="1632585" h="425450">
                  <a:moveTo>
                    <a:pt x="0" y="70896"/>
                  </a:moveTo>
                  <a:lnTo>
                    <a:pt x="5571" y="43300"/>
                  </a:lnTo>
                  <a:lnTo>
                    <a:pt x="20765" y="20765"/>
                  </a:lnTo>
                  <a:lnTo>
                    <a:pt x="43300" y="5571"/>
                  </a:lnTo>
                  <a:lnTo>
                    <a:pt x="70896" y="0"/>
                  </a:lnTo>
                  <a:lnTo>
                    <a:pt x="1561306" y="0"/>
                  </a:lnTo>
                  <a:lnTo>
                    <a:pt x="1588903" y="5571"/>
                  </a:lnTo>
                  <a:lnTo>
                    <a:pt x="1611438" y="20765"/>
                  </a:lnTo>
                  <a:lnTo>
                    <a:pt x="1626632" y="43300"/>
                  </a:lnTo>
                  <a:lnTo>
                    <a:pt x="1632203" y="70896"/>
                  </a:lnTo>
                  <a:lnTo>
                    <a:pt x="1632203" y="354476"/>
                  </a:lnTo>
                  <a:lnTo>
                    <a:pt x="1626632" y="382072"/>
                  </a:lnTo>
                  <a:lnTo>
                    <a:pt x="1611438" y="404607"/>
                  </a:lnTo>
                  <a:lnTo>
                    <a:pt x="1588903" y="419801"/>
                  </a:lnTo>
                  <a:lnTo>
                    <a:pt x="1561306" y="425372"/>
                  </a:lnTo>
                  <a:lnTo>
                    <a:pt x="70896" y="425372"/>
                  </a:lnTo>
                  <a:lnTo>
                    <a:pt x="43300" y="419801"/>
                  </a:lnTo>
                  <a:lnTo>
                    <a:pt x="20765" y="404607"/>
                  </a:lnTo>
                  <a:lnTo>
                    <a:pt x="5571" y="382072"/>
                  </a:lnTo>
                  <a:lnTo>
                    <a:pt x="0" y="354476"/>
                  </a:lnTo>
                  <a:lnTo>
                    <a:pt x="0" y="70896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98059" y="562764"/>
            <a:ext cx="927847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918931">
              <a:lnSpc>
                <a:spcPct val="100000"/>
              </a:lnSpc>
              <a:spcBef>
                <a:spcPts val="88"/>
              </a:spcBef>
            </a:pPr>
            <a:r>
              <a:rPr spc="-62" dirty="0"/>
              <a:t>E-R</a:t>
            </a:r>
            <a:r>
              <a:rPr spc="-207" dirty="0"/>
              <a:t> </a:t>
            </a:r>
            <a:r>
              <a:rPr spc="-84" dirty="0"/>
              <a:t>Diagrams</a:t>
            </a:r>
            <a:r>
              <a:rPr spc="-194" dirty="0"/>
              <a:t> </a:t>
            </a:r>
            <a:r>
              <a:rPr spc="-49" dirty="0"/>
              <a:t>to</a:t>
            </a:r>
            <a:r>
              <a:rPr spc="-194" dirty="0"/>
              <a:t> </a:t>
            </a:r>
            <a:r>
              <a:rPr spc="-88" dirty="0"/>
              <a:t>Relations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89448" y="1099969"/>
            <a:ext cx="6851276" cy="586888"/>
          </a:xfrm>
          <a:prstGeom prst="rect">
            <a:avLst/>
          </a:prstGeom>
        </p:spPr>
        <p:txBody>
          <a:bodyPr vert="horz" wrap="square" lIns="0" tIns="22412" rIns="0" bIns="0" rtlCol="0">
            <a:spAutoFit/>
          </a:bodyPr>
          <a:lstStyle/>
          <a:p>
            <a:pPr marL="11206" marR="4483">
              <a:lnSpc>
                <a:spcPts val="2206"/>
              </a:lnSpc>
              <a:spcBef>
                <a:spcPts val="176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There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is a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unique table which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assigned the name of the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corresponding entity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relationship set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71467" y="3139688"/>
            <a:ext cx="1116666" cy="348512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16541" rIns="0" bIns="0" rtlCol="0">
            <a:spAutoFit/>
          </a:bodyPr>
          <a:lstStyle/>
          <a:p>
            <a:pPr marL="243741">
              <a:spcBef>
                <a:spcPts val="91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87000" y="3139688"/>
            <a:ext cx="1116666" cy="348512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16541" rIns="0" bIns="0" rtlCol="0">
            <a:spAutoFit/>
          </a:bodyPr>
          <a:lstStyle/>
          <a:p>
            <a:pPr marL="175942">
              <a:spcBef>
                <a:spcPts val="91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63570" y="3088564"/>
            <a:ext cx="1466290" cy="598394"/>
            <a:chOff x="4425779" y="3500373"/>
            <a:chExt cx="1661795" cy="678180"/>
          </a:xfrm>
        </p:grpSpPr>
        <p:sp>
          <p:nvSpPr>
            <p:cNvPr id="10" name="object 10"/>
            <p:cNvSpPr/>
            <p:nvPr/>
          </p:nvSpPr>
          <p:spPr>
            <a:xfrm>
              <a:off x="4430859" y="3505453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825703" y="0"/>
                  </a:moveTo>
                  <a:lnTo>
                    <a:pt x="0" y="333965"/>
                  </a:lnTo>
                  <a:lnTo>
                    <a:pt x="825703" y="667931"/>
                  </a:lnTo>
                  <a:lnTo>
                    <a:pt x="1651406" y="333965"/>
                  </a:lnTo>
                  <a:lnTo>
                    <a:pt x="8257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4430859" y="3505453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0" y="333965"/>
                  </a:moveTo>
                  <a:lnTo>
                    <a:pt x="825703" y="0"/>
                  </a:lnTo>
                  <a:lnTo>
                    <a:pt x="1651406" y="333965"/>
                  </a:lnTo>
                  <a:lnTo>
                    <a:pt x="825703" y="667931"/>
                  </a:lnTo>
                  <a:lnTo>
                    <a:pt x="0" y="33396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08167" y="3250601"/>
            <a:ext cx="57822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ma</a:t>
            </a: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03809" y="2600975"/>
            <a:ext cx="1067921" cy="435909"/>
            <a:chOff x="1298050" y="2947772"/>
            <a:chExt cx="1210310" cy="494030"/>
          </a:xfrm>
        </p:grpSpPr>
        <p:sp>
          <p:nvSpPr>
            <p:cNvPr id="14" name="object 14"/>
            <p:cNvSpPr/>
            <p:nvPr/>
          </p:nvSpPr>
          <p:spPr>
            <a:xfrm>
              <a:off x="1303130" y="2952852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599832" y="0"/>
                  </a:moveTo>
                  <a:lnTo>
                    <a:pt x="534474" y="1418"/>
                  </a:lnTo>
                  <a:lnTo>
                    <a:pt x="471154" y="5575"/>
                  </a:lnTo>
                  <a:lnTo>
                    <a:pt x="410239" y="12323"/>
                  </a:lnTo>
                  <a:lnTo>
                    <a:pt x="352094" y="21515"/>
                  </a:lnTo>
                  <a:lnTo>
                    <a:pt x="297085" y="33003"/>
                  </a:lnTo>
                  <a:lnTo>
                    <a:pt x="245579" y="46639"/>
                  </a:lnTo>
                  <a:lnTo>
                    <a:pt x="197941" y="62277"/>
                  </a:lnTo>
                  <a:lnTo>
                    <a:pt x="154536" y="79768"/>
                  </a:lnTo>
                  <a:lnTo>
                    <a:pt x="115732" y="98966"/>
                  </a:lnTo>
                  <a:lnTo>
                    <a:pt x="81894" y="119723"/>
                  </a:lnTo>
                  <a:lnTo>
                    <a:pt x="30579" y="165323"/>
                  </a:lnTo>
                  <a:lnTo>
                    <a:pt x="3519" y="215389"/>
                  </a:lnTo>
                  <a:lnTo>
                    <a:pt x="0" y="241727"/>
                  </a:lnTo>
                  <a:lnTo>
                    <a:pt x="3519" y="268066"/>
                  </a:lnTo>
                  <a:lnTo>
                    <a:pt x="30579" y="318132"/>
                  </a:lnTo>
                  <a:lnTo>
                    <a:pt x="81894" y="363732"/>
                  </a:lnTo>
                  <a:lnTo>
                    <a:pt x="115732" y="384489"/>
                  </a:lnTo>
                  <a:lnTo>
                    <a:pt x="154536" y="403687"/>
                  </a:lnTo>
                  <a:lnTo>
                    <a:pt x="197941" y="421178"/>
                  </a:lnTo>
                  <a:lnTo>
                    <a:pt x="245579" y="436816"/>
                  </a:lnTo>
                  <a:lnTo>
                    <a:pt x="297085" y="450452"/>
                  </a:lnTo>
                  <a:lnTo>
                    <a:pt x="352094" y="461940"/>
                  </a:lnTo>
                  <a:lnTo>
                    <a:pt x="410239" y="471132"/>
                  </a:lnTo>
                  <a:lnTo>
                    <a:pt x="471154" y="477880"/>
                  </a:lnTo>
                  <a:lnTo>
                    <a:pt x="534474" y="482037"/>
                  </a:lnTo>
                  <a:lnTo>
                    <a:pt x="599832" y="483455"/>
                  </a:lnTo>
                  <a:lnTo>
                    <a:pt x="665190" y="482037"/>
                  </a:lnTo>
                  <a:lnTo>
                    <a:pt x="728510" y="477880"/>
                  </a:lnTo>
                  <a:lnTo>
                    <a:pt x="789425" y="471132"/>
                  </a:lnTo>
                  <a:lnTo>
                    <a:pt x="847570" y="461940"/>
                  </a:lnTo>
                  <a:lnTo>
                    <a:pt x="902579" y="450452"/>
                  </a:lnTo>
                  <a:lnTo>
                    <a:pt x="954086" y="436816"/>
                  </a:lnTo>
                  <a:lnTo>
                    <a:pt x="1001724" y="421178"/>
                  </a:lnTo>
                  <a:lnTo>
                    <a:pt x="1045128" y="403687"/>
                  </a:lnTo>
                  <a:lnTo>
                    <a:pt x="1083932" y="384489"/>
                  </a:lnTo>
                  <a:lnTo>
                    <a:pt x="1117771" y="363732"/>
                  </a:lnTo>
                  <a:lnTo>
                    <a:pt x="1169086" y="318132"/>
                  </a:lnTo>
                  <a:lnTo>
                    <a:pt x="1196146" y="268066"/>
                  </a:lnTo>
                  <a:lnTo>
                    <a:pt x="1199666" y="241727"/>
                  </a:lnTo>
                  <a:lnTo>
                    <a:pt x="1196146" y="215389"/>
                  </a:lnTo>
                  <a:lnTo>
                    <a:pt x="1169086" y="165323"/>
                  </a:lnTo>
                  <a:lnTo>
                    <a:pt x="1117771" y="119723"/>
                  </a:lnTo>
                  <a:lnTo>
                    <a:pt x="1083932" y="98966"/>
                  </a:lnTo>
                  <a:lnTo>
                    <a:pt x="1045128" y="79768"/>
                  </a:lnTo>
                  <a:lnTo>
                    <a:pt x="1001724" y="62277"/>
                  </a:lnTo>
                  <a:lnTo>
                    <a:pt x="954086" y="46639"/>
                  </a:lnTo>
                  <a:lnTo>
                    <a:pt x="902579" y="33003"/>
                  </a:lnTo>
                  <a:lnTo>
                    <a:pt x="847570" y="21515"/>
                  </a:lnTo>
                  <a:lnTo>
                    <a:pt x="789425" y="12323"/>
                  </a:lnTo>
                  <a:lnTo>
                    <a:pt x="728510" y="5575"/>
                  </a:lnTo>
                  <a:lnTo>
                    <a:pt x="665190" y="1418"/>
                  </a:lnTo>
                  <a:lnTo>
                    <a:pt x="59983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1303130" y="2952852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01333" y="2683136"/>
            <a:ext cx="27398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13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pi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d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721732" y="2313627"/>
            <a:ext cx="1067921" cy="435909"/>
            <a:chOff x="2338363" y="2622111"/>
            <a:chExt cx="1210310" cy="494030"/>
          </a:xfrm>
        </p:grpSpPr>
        <p:sp>
          <p:nvSpPr>
            <p:cNvPr id="18" name="object 18"/>
            <p:cNvSpPr/>
            <p:nvPr/>
          </p:nvSpPr>
          <p:spPr>
            <a:xfrm>
              <a:off x="2343443" y="2627191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69">
                  <a:moveTo>
                    <a:pt x="599832" y="0"/>
                  </a:moveTo>
                  <a:lnTo>
                    <a:pt x="534474" y="1418"/>
                  </a:lnTo>
                  <a:lnTo>
                    <a:pt x="471154" y="5575"/>
                  </a:lnTo>
                  <a:lnTo>
                    <a:pt x="410239" y="12323"/>
                  </a:lnTo>
                  <a:lnTo>
                    <a:pt x="352094" y="21514"/>
                  </a:lnTo>
                  <a:lnTo>
                    <a:pt x="297085" y="33002"/>
                  </a:lnTo>
                  <a:lnTo>
                    <a:pt x="245579" y="46639"/>
                  </a:lnTo>
                  <a:lnTo>
                    <a:pt x="197941" y="62276"/>
                  </a:lnTo>
                  <a:lnTo>
                    <a:pt x="154536" y="79768"/>
                  </a:lnTo>
                  <a:lnTo>
                    <a:pt x="115732" y="98966"/>
                  </a:lnTo>
                  <a:lnTo>
                    <a:pt x="81894" y="119722"/>
                  </a:lnTo>
                  <a:lnTo>
                    <a:pt x="30579" y="165322"/>
                  </a:lnTo>
                  <a:lnTo>
                    <a:pt x="3519" y="215388"/>
                  </a:lnTo>
                  <a:lnTo>
                    <a:pt x="0" y="241727"/>
                  </a:lnTo>
                  <a:lnTo>
                    <a:pt x="3519" y="268066"/>
                  </a:lnTo>
                  <a:lnTo>
                    <a:pt x="30579" y="318132"/>
                  </a:lnTo>
                  <a:lnTo>
                    <a:pt x="81894" y="363732"/>
                  </a:lnTo>
                  <a:lnTo>
                    <a:pt x="115732" y="384488"/>
                  </a:lnTo>
                  <a:lnTo>
                    <a:pt x="154536" y="403686"/>
                  </a:lnTo>
                  <a:lnTo>
                    <a:pt x="197941" y="421177"/>
                  </a:lnTo>
                  <a:lnTo>
                    <a:pt x="245579" y="436815"/>
                  </a:lnTo>
                  <a:lnTo>
                    <a:pt x="297085" y="450452"/>
                  </a:lnTo>
                  <a:lnTo>
                    <a:pt x="352094" y="461939"/>
                  </a:lnTo>
                  <a:lnTo>
                    <a:pt x="410239" y="471131"/>
                  </a:lnTo>
                  <a:lnTo>
                    <a:pt x="471154" y="477879"/>
                  </a:lnTo>
                  <a:lnTo>
                    <a:pt x="534474" y="482036"/>
                  </a:lnTo>
                  <a:lnTo>
                    <a:pt x="599832" y="483454"/>
                  </a:lnTo>
                  <a:lnTo>
                    <a:pt x="665190" y="482036"/>
                  </a:lnTo>
                  <a:lnTo>
                    <a:pt x="728510" y="477879"/>
                  </a:lnTo>
                  <a:lnTo>
                    <a:pt x="789425" y="471131"/>
                  </a:lnTo>
                  <a:lnTo>
                    <a:pt x="847570" y="461939"/>
                  </a:lnTo>
                  <a:lnTo>
                    <a:pt x="902579" y="450452"/>
                  </a:lnTo>
                  <a:lnTo>
                    <a:pt x="954085" y="436815"/>
                  </a:lnTo>
                  <a:lnTo>
                    <a:pt x="1001723" y="421177"/>
                  </a:lnTo>
                  <a:lnTo>
                    <a:pt x="1045127" y="403686"/>
                  </a:lnTo>
                  <a:lnTo>
                    <a:pt x="1083931" y="384488"/>
                  </a:lnTo>
                  <a:lnTo>
                    <a:pt x="1117770" y="363732"/>
                  </a:lnTo>
                  <a:lnTo>
                    <a:pt x="1169084" y="318132"/>
                  </a:lnTo>
                  <a:lnTo>
                    <a:pt x="1196145" y="268066"/>
                  </a:lnTo>
                  <a:lnTo>
                    <a:pt x="1199664" y="241727"/>
                  </a:lnTo>
                  <a:lnTo>
                    <a:pt x="1196145" y="215388"/>
                  </a:lnTo>
                  <a:lnTo>
                    <a:pt x="1169084" y="165322"/>
                  </a:lnTo>
                  <a:lnTo>
                    <a:pt x="1117770" y="119722"/>
                  </a:lnTo>
                  <a:lnTo>
                    <a:pt x="1083931" y="98966"/>
                  </a:lnTo>
                  <a:lnTo>
                    <a:pt x="1045127" y="79768"/>
                  </a:lnTo>
                  <a:lnTo>
                    <a:pt x="1001723" y="62276"/>
                  </a:lnTo>
                  <a:lnTo>
                    <a:pt x="954085" y="46639"/>
                  </a:lnTo>
                  <a:lnTo>
                    <a:pt x="902579" y="33002"/>
                  </a:lnTo>
                  <a:lnTo>
                    <a:pt x="847570" y="21514"/>
                  </a:lnTo>
                  <a:lnTo>
                    <a:pt x="789425" y="12323"/>
                  </a:lnTo>
                  <a:lnTo>
                    <a:pt x="728510" y="5575"/>
                  </a:lnTo>
                  <a:lnTo>
                    <a:pt x="665190" y="1418"/>
                  </a:lnTo>
                  <a:lnTo>
                    <a:pt x="59983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2343443" y="2627191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69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08949" y="2395369"/>
            <a:ext cx="49474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30475" y="2350986"/>
            <a:ext cx="3429560" cy="648821"/>
            <a:chOff x="3481604" y="2664451"/>
            <a:chExt cx="3886835" cy="735330"/>
          </a:xfrm>
        </p:grpSpPr>
        <p:sp>
          <p:nvSpPr>
            <p:cNvPr id="22" name="object 22"/>
            <p:cNvSpPr/>
            <p:nvPr/>
          </p:nvSpPr>
          <p:spPr>
            <a:xfrm>
              <a:off x="6163485" y="2669531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69">
                  <a:moveTo>
                    <a:pt x="599833" y="0"/>
                  </a:moveTo>
                  <a:lnTo>
                    <a:pt x="534475" y="1418"/>
                  </a:lnTo>
                  <a:lnTo>
                    <a:pt x="471155" y="5575"/>
                  </a:lnTo>
                  <a:lnTo>
                    <a:pt x="410239" y="12323"/>
                  </a:lnTo>
                  <a:lnTo>
                    <a:pt x="352094" y="21514"/>
                  </a:lnTo>
                  <a:lnTo>
                    <a:pt x="297085" y="33002"/>
                  </a:lnTo>
                  <a:lnTo>
                    <a:pt x="245579" y="46639"/>
                  </a:lnTo>
                  <a:lnTo>
                    <a:pt x="197941" y="62276"/>
                  </a:lnTo>
                  <a:lnTo>
                    <a:pt x="154537" y="79768"/>
                  </a:lnTo>
                  <a:lnTo>
                    <a:pt x="115732" y="98965"/>
                  </a:lnTo>
                  <a:lnTo>
                    <a:pt x="81894" y="119722"/>
                  </a:lnTo>
                  <a:lnTo>
                    <a:pt x="30579" y="165322"/>
                  </a:lnTo>
                  <a:lnTo>
                    <a:pt x="3519" y="215387"/>
                  </a:lnTo>
                  <a:lnTo>
                    <a:pt x="0" y="241726"/>
                  </a:lnTo>
                  <a:lnTo>
                    <a:pt x="3519" y="268065"/>
                  </a:lnTo>
                  <a:lnTo>
                    <a:pt x="30579" y="318131"/>
                  </a:lnTo>
                  <a:lnTo>
                    <a:pt x="81894" y="363731"/>
                  </a:lnTo>
                  <a:lnTo>
                    <a:pt x="115732" y="384488"/>
                  </a:lnTo>
                  <a:lnTo>
                    <a:pt x="154537" y="403686"/>
                  </a:lnTo>
                  <a:lnTo>
                    <a:pt x="197941" y="421177"/>
                  </a:lnTo>
                  <a:lnTo>
                    <a:pt x="245579" y="436815"/>
                  </a:lnTo>
                  <a:lnTo>
                    <a:pt x="297085" y="450451"/>
                  </a:lnTo>
                  <a:lnTo>
                    <a:pt x="352094" y="461939"/>
                  </a:lnTo>
                  <a:lnTo>
                    <a:pt x="410239" y="471131"/>
                  </a:lnTo>
                  <a:lnTo>
                    <a:pt x="471155" y="477879"/>
                  </a:lnTo>
                  <a:lnTo>
                    <a:pt x="534475" y="482036"/>
                  </a:lnTo>
                  <a:lnTo>
                    <a:pt x="599833" y="483454"/>
                  </a:lnTo>
                  <a:lnTo>
                    <a:pt x="665192" y="482036"/>
                  </a:lnTo>
                  <a:lnTo>
                    <a:pt x="728511" y="477879"/>
                  </a:lnTo>
                  <a:lnTo>
                    <a:pt x="789427" y="471131"/>
                  </a:lnTo>
                  <a:lnTo>
                    <a:pt x="847572" y="461939"/>
                  </a:lnTo>
                  <a:lnTo>
                    <a:pt x="902580" y="450451"/>
                  </a:lnTo>
                  <a:lnTo>
                    <a:pt x="954086" y="436815"/>
                  </a:lnTo>
                  <a:lnTo>
                    <a:pt x="1001725" y="421177"/>
                  </a:lnTo>
                  <a:lnTo>
                    <a:pt x="1045129" y="403686"/>
                  </a:lnTo>
                  <a:lnTo>
                    <a:pt x="1083933" y="384488"/>
                  </a:lnTo>
                  <a:lnTo>
                    <a:pt x="1117771" y="363731"/>
                  </a:lnTo>
                  <a:lnTo>
                    <a:pt x="1169086" y="318131"/>
                  </a:lnTo>
                  <a:lnTo>
                    <a:pt x="1196146" y="268065"/>
                  </a:lnTo>
                  <a:lnTo>
                    <a:pt x="1199666" y="241726"/>
                  </a:lnTo>
                  <a:lnTo>
                    <a:pt x="1196146" y="215387"/>
                  </a:lnTo>
                  <a:lnTo>
                    <a:pt x="1169086" y="165322"/>
                  </a:lnTo>
                  <a:lnTo>
                    <a:pt x="1117771" y="119722"/>
                  </a:lnTo>
                  <a:lnTo>
                    <a:pt x="1083933" y="98965"/>
                  </a:lnTo>
                  <a:lnTo>
                    <a:pt x="1045129" y="79768"/>
                  </a:lnTo>
                  <a:lnTo>
                    <a:pt x="1001725" y="62276"/>
                  </a:lnTo>
                  <a:lnTo>
                    <a:pt x="954086" y="46639"/>
                  </a:lnTo>
                  <a:lnTo>
                    <a:pt x="902580" y="33002"/>
                  </a:lnTo>
                  <a:lnTo>
                    <a:pt x="847572" y="21514"/>
                  </a:lnTo>
                  <a:lnTo>
                    <a:pt x="789427" y="12323"/>
                  </a:lnTo>
                  <a:lnTo>
                    <a:pt x="728511" y="5575"/>
                  </a:lnTo>
                  <a:lnTo>
                    <a:pt x="665192" y="1418"/>
                  </a:lnTo>
                  <a:lnTo>
                    <a:pt x="59983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6163485" y="2669531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69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3486684" y="2911113"/>
              <a:ext cx="1362075" cy="483870"/>
            </a:xfrm>
            <a:custGeom>
              <a:avLst/>
              <a:gdLst/>
              <a:ahLst/>
              <a:cxnLst/>
              <a:rect l="l" t="t" r="r" b="b"/>
              <a:pathLst>
                <a:path w="1362075" h="483870">
                  <a:moveTo>
                    <a:pt x="680811" y="0"/>
                  </a:moveTo>
                  <a:lnTo>
                    <a:pt x="611202" y="1248"/>
                  </a:lnTo>
                  <a:lnTo>
                    <a:pt x="543604" y="4911"/>
                  </a:lnTo>
                  <a:lnTo>
                    <a:pt x="478359" y="10867"/>
                  </a:lnTo>
                  <a:lnTo>
                    <a:pt x="415809" y="18996"/>
                  </a:lnTo>
                  <a:lnTo>
                    <a:pt x="356296" y="29175"/>
                  </a:lnTo>
                  <a:lnTo>
                    <a:pt x="300163" y="41283"/>
                  </a:lnTo>
                  <a:lnTo>
                    <a:pt x="247752" y="55199"/>
                  </a:lnTo>
                  <a:lnTo>
                    <a:pt x="199405" y="70800"/>
                  </a:lnTo>
                  <a:lnTo>
                    <a:pt x="155464" y="87966"/>
                  </a:lnTo>
                  <a:lnTo>
                    <a:pt x="116272" y="106575"/>
                  </a:lnTo>
                  <a:lnTo>
                    <a:pt x="82170" y="126506"/>
                  </a:lnTo>
                  <a:lnTo>
                    <a:pt x="30607" y="169845"/>
                  </a:lnTo>
                  <a:lnTo>
                    <a:pt x="3514" y="217012"/>
                  </a:lnTo>
                  <a:lnTo>
                    <a:pt x="0" y="241727"/>
                  </a:lnTo>
                  <a:lnTo>
                    <a:pt x="3514" y="266443"/>
                  </a:lnTo>
                  <a:lnTo>
                    <a:pt x="30607" y="313610"/>
                  </a:lnTo>
                  <a:lnTo>
                    <a:pt x="82170" y="356949"/>
                  </a:lnTo>
                  <a:lnTo>
                    <a:pt x="116272" y="376880"/>
                  </a:lnTo>
                  <a:lnTo>
                    <a:pt x="155464" y="395489"/>
                  </a:lnTo>
                  <a:lnTo>
                    <a:pt x="199405" y="412655"/>
                  </a:lnTo>
                  <a:lnTo>
                    <a:pt x="247752" y="428256"/>
                  </a:lnTo>
                  <a:lnTo>
                    <a:pt x="300163" y="442172"/>
                  </a:lnTo>
                  <a:lnTo>
                    <a:pt x="356296" y="454280"/>
                  </a:lnTo>
                  <a:lnTo>
                    <a:pt x="415809" y="464459"/>
                  </a:lnTo>
                  <a:lnTo>
                    <a:pt x="478359" y="472588"/>
                  </a:lnTo>
                  <a:lnTo>
                    <a:pt x="543604" y="478544"/>
                  </a:lnTo>
                  <a:lnTo>
                    <a:pt x="611202" y="482207"/>
                  </a:lnTo>
                  <a:lnTo>
                    <a:pt x="680811" y="483455"/>
                  </a:lnTo>
                  <a:lnTo>
                    <a:pt x="750420" y="482207"/>
                  </a:lnTo>
                  <a:lnTo>
                    <a:pt x="818018" y="478544"/>
                  </a:lnTo>
                  <a:lnTo>
                    <a:pt x="883263" y="472588"/>
                  </a:lnTo>
                  <a:lnTo>
                    <a:pt x="945813" y="464459"/>
                  </a:lnTo>
                  <a:lnTo>
                    <a:pt x="1005326" y="454280"/>
                  </a:lnTo>
                  <a:lnTo>
                    <a:pt x="1061458" y="442172"/>
                  </a:lnTo>
                  <a:lnTo>
                    <a:pt x="1113870" y="428256"/>
                  </a:lnTo>
                  <a:lnTo>
                    <a:pt x="1162217" y="412655"/>
                  </a:lnTo>
                  <a:lnTo>
                    <a:pt x="1206157" y="395489"/>
                  </a:lnTo>
                  <a:lnTo>
                    <a:pt x="1245349" y="376880"/>
                  </a:lnTo>
                  <a:lnTo>
                    <a:pt x="1279451" y="356949"/>
                  </a:lnTo>
                  <a:lnTo>
                    <a:pt x="1331013" y="313610"/>
                  </a:lnTo>
                  <a:lnTo>
                    <a:pt x="1358106" y="266443"/>
                  </a:lnTo>
                  <a:lnTo>
                    <a:pt x="1361621" y="241727"/>
                  </a:lnTo>
                  <a:lnTo>
                    <a:pt x="1358106" y="217012"/>
                  </a:lnTo>
                  <a:lnTo>
                    <a:pt x="1331013" y="169845"/>
                  </a:lnTo>
                  <a:lnTo>
                    <a:pt x="1279451" y="126506"/>
                  </a:lnTo>
                  <a:lnTo>
                    <a:pt x="1245349" y="106575"/>
                  </a:lnTo>
                  <a:lnTo>
                    <a:pt x="1206157" y="87966"/>
                  </a:lnTo>
                  <a:lnTo>
                    <a:pt x="1162217" y="70800"/>
                  </a:lnTo>
                  <a:lnTo>
                    <a:pt x="1113870" y="55199"/>
                  </a:lnTo>
                  <a:lnTo>
                    <a:pt x="1061458" y="41283"/>
                  </a:lnTo>
                  <a:lnTo>
                    <a:pt x="1005326" y="29175"/>
                  </a:lnTo>
                  <a:lnTo>
                    <a:pt x="945813" y="18996"/>
                  </a:lnTo>
                  <a:lnTo>
                    <a:pt x="883263" y="10867"/>
                  </a:lnTo>
                  <a:lnTo>
                    <a:pt x="818018" y="4911"/>
                  </a:lnTo>
                  <a:lnTo>
                    <a:pt x="750420" y="1248"/>
                  </a:lnTo>
                  <a:lnTo>
                    <a:pt x="68081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3486684" y="2911113"/>
              <a:ext cx="1362075" cy="483870"/>
            </a:xfrm>
            <a:custGeom>
              <a:avLst/>
              <a:gdLst/>
              <a:ahLst/>
              <a:cxnLst/>
              <a:rect l="l" t="t" r="r" b="b"/>
              <a:pathLst>
                <a:path w="1362075" h="483870">
                  <a:moveTo>
                    <a:pt x="0" y="241727"/>
                  </a:moveTo>
                  <a:lnTo>
                    <a:pt x="13831" y="193011"/>
                  </a:lnTo>
                  <a:lnTo>
                    <a:pt x="53501" y="147636"/>
                  </a:lnTo>
                  <a:lnTo>
                    <a:pt x="116271" y="106575"/>
                  </a:lnTo>
                  <a:lnTo>
                    <a:pt x="155464" y="87966"/>
                  </a:lnTo>
                  <a:lnTo>
                    <a:pt x="199404" y="70800"/>
                  </a:lnTo>
                  <a:lnTo>
                    <a:pt x="247751" y="55198"/>
                  </a:lnTo>
                  <a:lnTo>
                    <a:pt x="300162" y="41283"/>
                  </a:lnTo>
                  <a:lnTo>
                    <a:pt x="356295" y="29175"/>
                  </a:lnTo>
                  <a:lnTo>
                    <a:pt x="415808" y="18996"/>
                  </a:lnTo>
                  <a:lnTo>
                    <a:pt x="478358" y="10867"/>
                  </a:lnTo>
                  <a:lnTo>
                    <a:pt x="543603" y="4911"/>
                  </a:lnTo>
                  <a:lnTo>
                    <a:pt x="611201" y="1248"/>
                  </a:lnTo>
                  <a:lnTo>
                    <a:pt x="680810" y="0"/>
                  </a:lnTo>
                  <a:lnTo>
                    <a:pt x="750419" y="1248"/>
                  </a:lnTo>
                  <a:lnTo>
                    <a:pt x="818017" y="4911"/>
                  </a:lnTo>
                  <a:lnTo>
                    <a:pt x="883262" y="10867"/>
                  </a:lnTo>
                  <a:lnTo>
                    <a:pt x="945812" y="18996"/>
                  </a:lnTo>
                  <a:lnTo>
                    <a:pt x="1005324" y="29175"/>
                  </a:lnTo>
                  <a:lnTo>
                    <a:pt x="1061457" y="41283"/>
                  </a:lnTo>
                  <a:lnTo>
                    <a:pt x="1113868" y="55198"/>
                  </a:lnTo>
                  <a:lnTo>
                    <a:pt x="1162216" y="70800"/>
                  </a:lnTo>
                  <a:lnTo>
                    <a:pt x="1206156" y="87966"/>
                  </a:lnTo>
                  <a:lnTo>
                    <a:pt x="1245349" y="106575"/>
                  </a:lnTo>
                  <a:lnTo>
                    <a:pt x="1279450" y="126506"/>
                  </a:lnTo>
                  <a:lnTo>
                    <a:pt x="1331013" y="169845"/>
                  </a:lnTo>
                  <a:lnTo>
                    <a:pt x="1358106" y="217012"/>
                  </a:lnTo>
                  <a:lnTo>
                    <a:pt x="1361620" y="241727"/>
                  </a:lnTo>
                  <a:lnTo>
                    <a:pt x="1358106" y="266443"/>
                  </a:lnTo>
                  <a:lnTo>
                    <a:pt x="1331013" y="313610"/>
                  </a:lnTo>
                  <a:lnTo>
                    <a:pt x="1279450" y="356949"/>
                  </a:lnTo>
                  <a:lnTo>
                    <a:pt x="1245349" y="376880"/>
                  </a:lnTo>
                  <a:lnTo>
                    <a:pt x="1206156" y="395489"/>
                  </a:lnTo>
                  <a:lnTo>
                    <a:pt x="1162216" y="412655"/>
                  </a:lnTo>
                  <a:lnTo>
                    <a:pt x="1113868" y="428256"/>
                  </a:lnTo>
                  <a:lnTo>
                    <a:pt x="1061457" y="442172"/>
                  </a:lnTo>
                  <a:lnTo>
                    <a:pt x="1005324" y="454280"/>
                  </a:lnTo>
                  <a:lnTo>
                    <a:pt x="945812" y="464459"/>
                  </a:lnTo>
                  <a:lnTo>
                    <a:pt x="883262" y="472588"/>
                  </a:lnTo>
                  <a:lnTo>
                    <a:pt x="818017" y="478544"/>
                  </a:lnTo>
                  <a:lnTo>
                    <a:pt x="750419" y="482207"/>
                  </a:lnTo>
                  <a:lnTo>
                    <a:pt x="680810" y="483455"/>
                  </a:lnTo>
                  <a:lnTo>
                    <a:pt x="611201" y="482207"/>
                  </a:lnTo>
                  <a:lnTo>
                    <a:pt x="543603" y="478544"/>
                  </a:lnTo>
                  <a:lnTo>
                    <a:pt x="478358" y="472588"/>
                  </a:lnTo>
                  <a:lnTo>
                    <a:pt x="415808" y="464459"/>
                  </a:lnTo>
                  <a:lnTo>
                    <a:pt x="356295" y="454280"/>
                  </a:lnTo>
                  <a:lnTo>
                    <a:pt x="300162" y="442172"/>
                  </a:lnTo>
                  <a:lnTo>
                    <a:pt x="247751" y="428256"/>
                  </a:lnTo>
                  <a:lnTo>
                    <a:pt x="199404" y="412655"/>
                  </a:lnTo>
                  <a:lnTo>
                    <a:pt x="155464" y="395489"/>
                  </a:lnTo>
                  <a:lnTo>
                    <a:pt x="116271" y="376880"/>
                  </a:lnTo>
                  <a:lnTo>
                    <a:pt x="82170" y="356949"/>
                  </a:lnTo>
                  <a:lnTo>
                    <a:pt x="30607" y="313610"/>
                  </a:lnTo>
                  <a:lnTo>
                    <a:pt x="3514" y="266443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332511" y="2433020"/>
            <a:ext cx="5888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</a:t>
            </a:r>
            <a:r>
              <a:rPr sz="1500" u="sng" spc="-13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707319" y="2350991"/>
            <a:ext cx="5597899" cy="1041587"/>
            <a:chOff x="2322028" y="2664456"/>
            <a:chExt cx="6344285" cy="1180465"/>
          </a:xfrm>
        </p:grpSpPr>
        <p:sp>
          <p:nvSpPr>
            <p:cNvPr id="28" name="object 28"/>
            <p:cNvSpPr/>
            <p:nvPr/>
          </p:nvSpPr>
          <p:spPr>
            <a:xfrm>
              <a:off x="3659701" y="3832373"/>
              <a:ext cx="771525" cy="7620"/>
            </a:xfrm>
            <a:custGeom>
              <a:avLst/>
              <a:gdLst/>
              <a:ahLst/>
              <a:cxnLst/>
              <a:rect l="l" t="t" r="r" b="b"/>
              <a:pathLst>
                <a:path w="771525" h="7620">
                  <a:moveTo>
                    <a:pt x="0" y="0"/>
                  </a:moveTo>
                  <a:lnTo>
                    <a:pt x="771157" y="7046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6082266" y="3832374"/>
              <a:ext cx="750570" cy="7620"/>
            </a:xfrm>
            <a:custGeom>
              <a:avLst/>
              <a:gdLst/>
              <a:ahLst/>
              <a:cxnLst/>
              <a:rect l="l" t="t" r="r" b="b"/>
              <a:pathLst>
                <a:path w="750570" h="7620">
                  <a:moveTo>
                    <a:pt x="0" y="7046"/>
                  </a:moveTo>
                  <a:lnTo>
                    <a:pt x="750067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7506027" y="2669536"/>
              <a:ext cx="1155065" cy="483870"/>
            </a:xfrm>
            <a:custGeom>
              <a:avLst/>
              <a:gdLst/>
              <a:ahLst/>
              <a:cxnLst/>
              <a:rect l="l" t="t" r="r" b="b"/>
              <a:pathLst>
                <a:path w="1155065" h="483869">
                  <a:moveTo>
                    <a:pt x="577463" y="0"/>
                  </a:moveTo>
                  <a:lnTo>
                    <a:pt x="510119" y="1626"/>
                  </a:lnTo>
                  <a:lnTo>
                    <a:pt x="445056" y="6384"/>
                  </a:lnTo>
                  <a:lnTo>
                    <a:pt x="382708" y="14092"/>
                  </a:lnTo>
                  <a:lnTo>
                    <a:pt x="323509" y="24569"/>
                  </a:lnTo>
                  <a:lnTo>
                    <a:pt x="267892" y="37633"/>
                  </a:lnTo>
                  <a:lnTo>
                    <a:pt x="216289" y="53104"/>
                  </a:lnTo>
                  <a:lnTo>
                    <a:pt x="169135" y="70800"/>
                  </a:lnTo>
                  <a:lnTo>
                    <a:pt x="126862" y="90539"/>
                  </a:lnTo>
                  <a:lnTo>
                    <a:pt x="89904" y="112140"/>
                  </a:lnTo>
                  <a:lnTo>
                    <a:pt x="58694" y="135421"/>
                  </a:lnTo>
                  <a:lnTo>
                    <a:pt x="15251" y="186301"/>
                  </a:lnTo>
                  <a:lnTo>
                    <a:pt x="0" y="241727"/>
                  </a:lnTo>
                  <a:lnTo>
                    <a:pt x="3885" y="269918"/>
                  </a:lnTo>
                  <a:lnTo>
                    <a:pt x="33665" y="323252"/>
                  </a:lnTo>
                  <a:lnTo>
                    <a:pt x="89904" y="371315"/>
                  </a:lnTo>
                  <a:lnTo>
                    <a:pt x="126862" y="392915"/>
                  </a:lnTo>
                  <a:lnTo>
                    <a:pt x="169135" y="412654"/>
                  </a:lnTo>
                  <a:lnTo>
                    <a:pt x="216289" y="430350"/>
                  </a:lnTo>
                  <a:lnTo>
                    <a:pt x="267892" y="445820"/>
                  </a:lnTo>
                  <a:lnTo>
                    <a:pt x="323509" y="458885"/>
                  </a:lnTo>
                  <a:lnTo>
                    <a:pt x="382708" y="469362"/>
                  </a:lnTo>
                  <a:lnTo>
                    <a:pt x="445056" y="477070"/>
                  </a:lnTo>
                  <a:lnTo>
                    <a:pt x="510119" y="481828"/>
                  </a:lnTo>
                  <a:lnTo>
                    <a:pt x="577463" y="483454"/>
                  </a:lnTo>
                  <a:lnTo>
                    <a:pt x="644808" y="481828"/>
                  </a:lnTo>
                  <a:lnTo>
                    <a:pt x="709871" y="477070"/>
                  </a:lnTo>
                  <a:lnTo>
                    <a:pt x="772219" y="469362"/>
                  </a:lnTo>
                  <a:lnTo>
                    <a:pt x="831418" y="458885"/>
                  </a:lnTo>
                  <a:lnTo>
                    <a:pt x="887036" y="445820"/>
                  </a:lnTo>
                  <a:lnTo>
                    <a:pt x="938638" y="430350"/>
                  </a:lnTo>
                  <a:lnTo>
                    <a:pt x="985793" y="412654"/>
                  </a:lnTo>
                  <a:lnTo>
                    <a:pt x="1028066" y="392915"/>
                  </a:lnTo>
                  <a:lnTo>
                    <a:pt x="1065024" y="371315"/>
                  </a:lnTo>
                  <a:lnTo>
                    <a:pt x="1096234" y="348033"/>
                  </a:lnTo>
                  <a:lnTo>
                    <a:pt x="1139677" y="297153"/>
                  </a:lnTo>
                  <a:lnTo>
                    <a:pt x="1154929" y="241727"/>
                  </a:lnTo>
                  <a:lnTo>
                    <a:pt x="1151044" y="213537"/>
                  </a:lnTo>
                  <a:lnTo>
                    <a:pt x="1121263" y="160202"/>
                  </a:lnTo>
                  <a:lnTo>
                    <a:pt x="1065024" y="112140"/>
                  </a:lnTo>
                  <a:lnTo>
                    <a:pt x="1028066" y="90539"/>
                  </a:lnTo>
                  <a:lnTo>
                    <a:pt x="985793" y="70800"/>
                  </a:lnTo>
                  <a:lnTo>
                    <a:pt x="938638" y="53104"/>
                  </a:lnTo>
                  <a:lnTo>
                    <a:pt x="887036" y="37633"/>
                  </a:lnTo>
                  <a:lnTo>
                    <a:pt x="831418" y="24569"/>
                  </a:lnTo>
                  <a:lnTo>
                    <a:pt x="772219" y="14092"/>
                  </a:lnTo>
                  <a:lnTo>
                    <a:pt x="709871" y="6384"/>
                  </a:lnTo>
                  <a:lnTo>
                    <a:pt x="644808" y="1626"/>
                  </a:lnTo>
                  <a:lnTo>
                    <a:pt x="57746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7506027" y="2669536"/>
              <a:ext cx="1155065" cy="483870"/>
            </a:xfrm>
            <a:custGeom>
              <a:avLst/>
              <a:gdLst/>
              <a:ahLst/>
              <a:cxnLst/>
              <a:rect l="l" t="t" r="r" b="b"/>
              <a:pathLst>
                <a:path w="1155065" h="483869">
                  <a:moveTo>
                    <a:pt x="0" y="241727"/>
                  </a:moveTo>
                  <a:lnTo>
                    <a:pt x="15251" y="186301"/>
                  </a:lnTo>
                  <a:lnTo>
                    <a:pt x="58694" y="135422"/>
                  </a:lnTo>
                  <a:lnTo>
                    <a:pt x="89904" y="112140"/>
                  </a:lnTo>
                  <a:lnTo>
                    <a:pt x="126862" y="90539"/>
                  </a:lnTo>
                  <a:lnTo>
                    <a:pt x="169135" y="70800"/>
                  </a:lnTo>
                  <a:lnTo>
                    <a:pt x="216290" y="53104"/>
                  </a:lnTo>
                  <a:lnTo>
                    <a:pt x="267892" y="37634"/>
                  </a:lnTo>
                  <a:lnTo>
                    <a:pt x="323510" y="24569"/>
                  </a:lnTo>
                  <a:lnTo>
                    <a:pt x="382709" y="14092"/>
                  </a:lnTo>
                  <a:lnTo>
                    <a:pt x="445057" y="6384"/>
                  </a:lnTo>
                  <a:lnTo>
                    <a:pt x="510120" y="1626"/>
                  </a:lnTo>
                  <a:lnTo>
                    <a:pt x="577464" y="0"/>
                  </a:lnTo>
                  <a:lnTo>
                    <a:pt x="644809" y="1626"/>
                  </a:lnTo>
                  <a:lnTo>
                    <a:pt x="709872" y="6384"/>
                  </a:lnTo>
                  <a:lnTo>
                    <a:pt x="772219" y="14092"/>
                  </a:lnTo>
                  <a:lnTo>
                    <a:pt x="831419" y="24569"/>
                  </a:lnTo>
                  <a:lnTo>
                    <a:pt x="887036" y="37634"/>
                  </a:lnTo>
                  <a:lnTo>
                    <a:pt x="938639" y="53104"/>
                  </a:lnTo>
                  <a:lnTo>
                    <a:pt x="985794" y="70800"/>
                  </a:lnTo>
                  <a:lnTo>
                    <a:pt x="1028067" y="90539"/>
                  </a:lnTo>
                  <a:lnTo>
                    <a:pt x="1065025" y="112140"/>
                  </a:lnTo>
                  <a:lnTo>
                    <a:pt x="1096235" y="135422"/>
                  </a:lnTo>
                  <a:lnTo>
                    <a:pt x="1139678" y="186301"/>
                  </a:lnTo>
                  <a:lnTo>
                    <a:pt x="1154929" y="241727"/>
                  </a:lnTo>
                  <a:lnTo>
                    <a:pt x="1151044" y="269918"/>
                  </a:lnTo>
                  <a:lnTo>
                    <a:pt x="1121264" y="323252"/>
                  </a:lnTo>
                  <a:lnTo>
                    <a:pt x="1065025" y="371315"/>
                  </a:lnTo>
                  <a:lnTo>
                    <a:pt x="1028067" y="392916"/>
                  </a:lnTo>
                  <a:lnTo>
                    <a:pt x="985794" y="412655"/>
                  </a:lnTo>
                  <a:lnTo>
                    <a:pt x="938639" y="430350"/>
                  </a:lnTo>
                  <a:lnTo>
                    <a:pt x="887036" y="445821"/>
                  </a:lnTo>
                  <a:lnTo>
                    <a:pt x="831419" y="458886"/>
                  </a:lnTo>
                  <a:lnTo>
                    <a:pt x="772219" y="469363"/>
                  </a:lnTo>
                  <a:lnTo>
                    <a:pt x="709872" y="477071"/>
                  </a:lnTo>
                  <a:lnTo>
                    <a:pt x="644809" y="481829"/>
                  </a:lnTo>
                  <a:lnTo>
                    <a:pt x="577464" y="483455"/>
                  </a:lnTo>
                  <a:lnTo>
                    <a:pt x="510120" y="481829"/>
                  </a:lnTo>
                  <a:lnTo>
                    <a:pt x="445057" y="477071"/>
                  </a:lnTo>
                  <a:lnTo>
                    <a:pt x="382709" y="469363"/>
                  </a:lnTo>
                  <a:lnTo>
                    <a:pt x="323510" y="458886"/>
                  </a:lnTo>
                  <a:lnTo>
                    <a:pt x="267892" y="445821"/>
                  </a:lnTo>
                  <a:lnTo>
                    <a:pt x="216290" y="430350"/>
                  </a:lnTo>
                  <a:lnTo>
                    <a:pt x="169135" y="412655"/>
                  </a:lnTo>
                  <a:lnTo>
                    <a:pt x="126862" y="392916"/>
                  </a:lnTo>
                  <a:lnTo>
                    <a:pt x="89904" y="371315"/>
                  </a:lnTo>
                  <a:lnTo>
                    <a:pt x="58694" y="348033"/>
                  </a:lnTo>
                  <a:lnTo>
                    <a:pt x="15251" y="297153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6763318" y="3152985"/>
              <a:ext cx="701675" cy="405765"/>
            </a:xfrm>
            <a:custGeom>
              <a:avLst/>
              <a:gdLst/>
              <a:ahLst/>
              <a:cxnLst/>
              <a:rect l="l" t="t" r="r" b="b"/>
              <a:pathLst>
                <a:path w="701675" h="405764">
                  <a:moveTo>
                    <a:pt x="0" y="0"/>
                  </a:moveTo>
                  <a:lnTo>
                    <a:pt x="701500" y="405327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7464820" y="3152990"/>
              <a:ext cx="619125" cy="405765"/>
            </a:xfrm>
            <a:custGeom>
              <a:avLst/>
              <a:gdLst/>
              <a:ahLst/>
              <a:cxnLst/>
              <a:rect l="l" t="t" r="r" b="b"/>
              <a:pathLst>
                <a:path w="619125" h="405764">
                  <a:moveTo>
                    <a:pt x="618672" y="0"/>
                  </a:moveTo>
                  <a:lnTo>
                    <a:pt x="0" y="405322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3027217" y="3323769"/>
              <a:ext cx="659130" cy="234950"/>
            </a:xfrm>
            <a:custGeom>
              <a:avLst/>
              <a:gdLst/>
              <a:ahLst/>
              <a:cxnLst/>
              <a:rect l="l" t="t" r="r" b="b"/>
              <a:pathLst>
                <a:path w="659129" h="234950">
                  <a:moveTo>
                    <a:pt x="658872" y="0"/>
                  </a:moveTo>
                  <a:lnTo>
                    <a:pt x="0" y="234544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2327108" y="3365508"/>
              <a:ext cx="700405" cy="193040"/>
            </a:xfrm>
            <a:custGeom>
              <a:avLst/>
              <a:gdLst/>
              <a:ahLst/>
              <a:cxnLst/>
              <a:rect l="l" t="t" r="r" b="b"/>
              <a:pathLst>
                <a:path w="700405" h="193039">
                  <a:moveTo>
                    <a:pt x="0" y="0"/>
                  </a:moveTo>
                  <a:lnTo>
                    <a:pt x="700107" y="192805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861928" y="2634726"/>
            <a:ext cx="9317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71587" y="2427642"/>
            <a:ext cx="69308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255478" y="2744688"/>
            <a:ext cx="74519" cy="395007"/>
          </a:xfrm>
          <a:custGeom>
            <a:avLst/>
            <a:gdLst/>
            <a:ahLst/>
            <a:cxnLst/>
            <a:rect l="l" t="t" r="r" b="b"/>
            <a:pathLst>
              <a:path w="84455" h="447675">
                <a:moveTo>
                  <a:pt x="0" y="0"/>
                </a:moveTo>
                <a:lnTo>
                  <a:pt x="83940" y="447666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9" name="object 39"/>
          <p:cNvSpPr txBox="1"/>
          <p:nvPr/>
        </p:nvSpPr>
        <p:spPr>
          <a:xfrm>
            <a:off x="2289449" y="4340711"/>
            <a:ext cx="3781425" cy="1045920"/>
          </a:xfrm>
          <a:prstGeom prst="rect">
            <a:avLst/>
          </a:prstGeom>
        </p:spPr>
        <p:txBody>
          <a:bodyPr vert="horz" wrap="square" lIns="0" tIns="16249" rIns="0" bIns="0" rtlCol="0">
            <a:spAutoFit/>
          </a:bodyPr>
          <a:lstStyle/>
          <a:p>
            <a:pPr marL="11206" marR="4483">
              <a:lnSpc>
                <a:spcPct val="124800"/>
              </a:lnSpc>
              <a:spcBef>
                <a:spcPts val="128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product(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 name, description)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company(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 address)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makes(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1853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710593" y="4469523"/>
            <a:ext cx="1946462" cy="842682"/>
            <a:chOff x="6859072" y="5065459"/>
            <a:chExt cx="2205990" cy="955040"/>
          </a:xfrm>
        </p:grpSpPr>
        <p:sp>
          <p:nvSpPr>
            <p:cNvPr id="41" name="object 41"/>
            <p:cNvSpPr/>
            <p:nvPr/>
          </p:nvSpPr>
          <p:spPr>
            <a:xfrm>
              <a:off x="6865740" y="5072127"/>
              <a:ext cx="2192655" cy="941705"/>
            </a:xfrm>
            <a:custGeom>
              <a:avLst/>
              <a:gdLst/>
              <a:ahLst/>
              <a:cxnLst/>
              <a:rect l="l" t="t" r="r" b="b"/>
              <a:pathLst>
                <a:path w="2192654" h="941704">
                  <a:moveTo>
                    <a:pt x="2035312" y="0"/>
                  </a:moveTo>
                  <a:lnTo>
                    <a:pt x="156884" y="0"/>
                  </a:lnTo>
                  <a:lnTo>
                    <a:pt x="107296" y="7997"/>
                  </a:lnTo>
                  <a:lnTo>
                    <a:pt x="64230" y="30269"/>
                  </a:lnTo>
                  <a:lnTo>
                    <a:pt x="30269" y="64230"/>
                  </a:lnTo>
                  <a:lnTo>
                    <a:pt x="7998" y="107296"/>
                  </a:lnTo>
                  <a:lnTo>
                    <a:pt x="0" y="156881"/>
                  </a:lnTo>
                  <a:lnTo>
                    <a:pt x="0" y="784407"/>
                  </a:lnTo>
                  <a:lnTo>
                    <a:pt x="7998" y="833995"/>
                  </a:lnTo>
                  <a:lnTo>
                    <a:pt x="30269" y="877062"/>
                  </a:lnTo>
                  <a:lnTo>
                    <a:pt x="64230" y="911023"/>
                  </a:lnTo>
                  <a:lnTo>
                    <a:pt x="107296" y="933295"/>
                  </a:lnTo>
                  <a:lnTo>
                    <a:pt x="156884" y="941293"/>
                  </a:lnTo>
                  <a:lnTo>
                    <a:pt x="2035312" y="941293"/>
                  </a:lnTo>
                  <a:lnTo>
                    <a:pt x="2084900" y="933295"/>
                  </a:lnTo>
                  <a:lnTo>
                    <a:pt x="2127966" y="911023"/>
                  </a:lnTo>
                  <a:lnTo>
                    <a:pt x="2161927" y="877062"/>
                  </a:lnTo>
                  <a:lnTo>
                    <a:pt x="2184198" y="833995"/>
                  </a:lnTo>
                  <a:lnTo>
                    <a:pt x="2192196" y="784407"/>
                  </a:lnTo>
                  <a:lnTo>
                    <a:pt x="2192196" y="156881"/>
                  </a:lnTo>
                  <a:lnTo>
                    <a:pt x="2184198" y="107296"/>
                  </a:lnTo>
                  <a:lnTo>
                    <a:pt x="2161927" y="64230"/>
                  </a:lnTo>
                  <a:lnTo>
                    <a:pt x="2127966" y="30269"/>
                  </a:lnTo>
                  <a:lnTo>
                    <a:pt x="2084900" y="7997"/>
                  </a:lnTo>
                  <a:lnTo>
                    <a:pt x="2035312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865740" y="5072127"/>
              <a:ext cx="2192655" cy="941705"/>
            </a:xfrm>
            <a:custGeom>
              <a:avLst/>
              <a:gdLst/>
              <a:ahLst/>
              <a:cxnLst/>
              <a:rect l="l" t="t" r="r" b="b"/>
              <a:pathLst>
                <a:path w="2192654" h="941704">
                  <a:moveTo>
                    <a:pt x="0" y="156884"/>
                  </a:moveTo>
                  <a:lnTo>
                    <a:pt x="7998" y="107296"/>
                  </a:lnTo>
                  <a:lnTo>
                    <a:pt x="30269" y="64230"/>
                  </a:lnTo>
                  <a:lnTo>
                    <a:pt x="64230" y="30269"/>
                  </a:lnTo>
                  <a:lnTo>
                    <a:pt x="107296" y="7998"/>
                  </a:lnTo>
                  <a:lnTo>
                    <a:pt x="156884" y="0"/>
                  </a:lnTo>
                  <a:lnTo>
                    <a:pt x="365366" y="0"/>
                  </a:lnTo>
                  <a:lnTo>
                    <a:pt x="913415" y="0"/>
                  </a:lnTo>
                  <a:lnTo>
                    <a:pt x="2035312" y="0"/>
                  </a:lnTo>
                  <a:lnTo>
                    <a:pt x="2084900" y="7998"/>
                  </a:lnTo>
                  <a:lnTo>
                    <a:pt x="2127966" y="30269"/>
                  </a:lnTo>
                  <a:lnTo>
                    <a:pt x="2161927" y="64230"/>
                  </a:lnTo>
                  <a:lnTo>
                    <a:pt x="2184199" y="107296"/>
                  </a:lnTo>
                  <a:lnTo>
                    <a:pt x="2192197" y="156884"/>
                  </a:lnTo>
                  <a:lnTo>
                    <a:pt x="2192197" y="392205"/>
                  </a:lnTo>
                  <a:lnTo>
                    <a:pt x="2192197" y="784408"/>
                  </a:lnTo>
                  <a:lnTo>
                    <a:pt x="2184199" y="833996"/>
                  </a:lnTo>
                  <a:lnTo>
                    <a:pt x="2161927" y="877062"/>
                  </a:lnTo>
                  <a:lnTo>
                    <a:pt x="2127966" y="911023"/>
                  </a:lnTo>
                  <a:lnTo>
                    <a:pt x="2084900" y="933295"/>
                  </a:lnTo>
                  <a:lnTo>
                    <a:pt x="2035312" y="941293"/>
                  </a:lnTo>
                  <a:lnTo>
                    <a:pt x="913415" y="941293"/>
                  </a:lnTo>
                  <a:lnTo>
                    <a:pt x="365366" y="941293"/>
                  </a:lnTo>
                  <a:lnTo>
                    <a:pt x="156884" y="941293"/>
                  </a:lnTo>
                  <a:lnTo>
                    <a:pt x="107296" y="933295"/>
                  </a:lnTo>
                  <a:lnTo>
                    <a:pt x="64230" y="911023"/>
                  </a:lnTo>
                  <a:lnTo>
                    <a:pt x="30269" y="877062"/>
                  </a:lnTo>
                  <a:lnTo>
                    <a:pt x="7998" y="833996"/>
                  </a:lnTo>
                  <a:lnTo>
                    <a:pt x="0" y="784408"/>
                  </a:lnTo>
                  <a:lnTo>
                    <a:pt x="0" y="392205"/>
                  </a:lnTo>
                  <a:lnTo>
                    <a:pt x="0" y="446888"/>
                  </a:lnTo>
                  <a:lnTo>
                    <a:pt x="0" y="156882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018246" y="4596205"/>
            <a:ext cx="1331259" cy="586888"/>
          </a:xfrm>
          <a:prstGeom prst="rect">
            <a:avLst/>
          </a:prstGeom>
        </p:spPr>
        <p:txBody>
          <a:bodyPr vert="horz" wrap="square" lIns="0" tIns="22412" rIns="0" bIns="0" rtlCol="0">
            <a:spAutoFit/>
          </a:bodyPr>
          <a:lstStyle/>
          <a:p>
            <a:pPr marL="11206" marR="4483" indent="129435">
              <a:lnSpc>
                <a:spcPts val="2206"/>
              </a:lnSpc>
              <a:spcBef>
                <a:spcPts val="176"/>
              </a:spcBef>
            </a:pPr>
            <a:r>
              <a:rPr sz="1853" spc="-4" dirty="0">
                <a:solidFill>
                  <a:srgbClr val="FFFFFF"/>
                </a:solidFill>
                <a:latin typeface="Verdana"/>
                <a:cs typeface="Verdana"/>
              </a:rPr>
              <a:t>“Schema </a:t>
            </a:r>
            <a:r>
              <a:rPr sz="1853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FFFFFF"/>
                </a:solidFill>
                <a:latin typeface="Verdana"/>
                <a:cs typeface="Verdana"/>
              </a:rPr>
              <a:t>state</a:t>
            </a:r>
            <a:r>
              <a:rPr sz="1853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853" spc="-4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1853" spc="18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853" dirty="0">
                <a:solidFill>
                  <a:srgbClr val="FFFFFF"/>
                </a:solidFill>
                <a:latin typeface="Verdana"/>
                <a:cs typeface="Verdana"/>
              </a:rPr>
              <a:t>”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047411" y="6113033"/>
            <a:ext cx="2217084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13" dirty="0">
                <a:solidFill>
                  <a:srgbClr val="292934"/>
                </a:solidFill>
                <a:latin typeface="Verdana"/>
                <a:cs typeface="Verdana"/>
              </a:rPr>
              <a:t>[ER</a:t>
            </a:r>
            <a:r>
              <a:rPr sz="1324" spc="-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9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24" spc="-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18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r>
              <a:rPr sz="1324" spc="-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24" spc="-18" dirty="0">
                <a:solidFill>
                  <a:srgbClr val="292934"/>
                </a:solidFill>
                <a:latin typeface="Verdana"/>
                <a:cs typeface="Verdana"/>
              </a:rPr>
              <a:t>worksheet]</a:t>
            </a:r>
            <a:endParaRPr sz="1324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62764"/>
            <a:ext cx="927847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 algn="ctr">
              <a:lnSpc>
                <a:spcPct val="100000"/>
              </a:lnSpc>
              <a:spcBef>
                <a:spcPts val="88"/>
              </a:spcBef>
            </a:pPr>
            <a:r>
              <a:rPr spc="-79" dirty="0"/>
              <a:t>Strong</a:t>
            </a:r>
            <a:r>
              <a:rPr spc="-212" dirty="0"/>
              <a:t> </a:t>
            </a:r>
            <a:r>
              <a:rPr spc="-79" dirty="0"/>
              <a:t>Entity</a:t>
            </a:r>
            <a:r>
              <a:rPr spc="-216" dirty="0"/>
              <a:t> </a:t>
            </a:r>
            <a:r>
              <a:rPr spc="-66" dirty="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2838" y="1065007"/>
            <a:ext cx="3910853" cy="1388231"/>
          </a:xfrm>
          <a:prstGeom prst="rect">
            <a:avLst/>
          </a:prstGeom>
        </p:spPr>
        <p:txBody>
          <a:bodyPr vert="horz" wrap="square" lIns="0" tIns="96931" rIns="0" bIns="0" rtlCol="0">
            <a:spAutoFit/>
          </a:bodyPr>
          <a:lstStyle/>
          <a:p>
            <a:pPr marL="11206">
              <a:spcBef>
                <a:spcPts val="763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Direct</a:t>
            </a:r>
            <a:r>
              <a:rPr sz="1853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map:</a:t>
            </a:r>
            <a:endParaRPr sz="1853">
              <a:latin typeface="Verdana"/>
              <a:cs typeface="Verdana"/>
            </a:endParaRPr>
          </a:p>
          <a:p>
            <a:pPr marL="440414" marR="4483">
              <a:lnSpc>
                <a:spcPct val="117100"/>
              </a:lnSpc>
              <a:spcBef>
                <a:spcPts val="300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853" spc="172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name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Attributes </a:t>
            </a:r>
            <a:r>
              <a:rPr sz="1853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853" spc="463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columns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key: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9449" y="4913555"/>
            <a:ext cx="3781425" cy="983713"/>
          </a:xfrm>
          <a:prstGeom prst="rect">
            <a:avLst/>
          </a:prstGeom>
        </p:spPr>
        <p:txBody>
          <a:bodyPr vert="horz" wrap="square" lIns="0" tIns="16809" rIns="0" bIns="0" rtlCol="0">
            <a:spAutoFit/>
          </a:bodyPr>
          <a:lstStyle/>
          <a:p>
            <a:pPr marL="11206" marR="4483">
              <a:lnSpc>
                <a:spcPct val="117100"/>
              </a:lnSpc>
              <a:spcBef>
                <a:spcPts val="132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product(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 name, description)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company(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 address)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makes(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7909" y="3981140"/>
            <a:ext cx="1116666" cy="349077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17101" rIns="0" bIns="0" rtlCol="0">
            <a:spAutoFit/>
          </a:bodyPr>
          <a:lstStyle/>
          <a:p>
            <a:pPr marL="243741">
              <a:spcBef>
                <a:spcPts val="922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3442" y="3981140"/>
            <a:ext cx="1116666" cy="349077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17101" rIns="0" bIns="0" rtlCol="0">
            <a:spAutoFit/>
          </a:bodyPr>
          <a:lstStyle/>
          <a:p>
            <a:pPr marL="175942">
              <a:spcBef>
                <a:spcPts val="922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630012" y="3930017"/>
            <a:ext cx="1466290" cy="598394"/>
            <a:chOff x="4501080" y="4454019"/>
            <a:chExt cx="1661795" cy="678180"/>
          </a:xfrm>
        </p:grpSpPr>
        <p:sp>
          <p:nvSpPr>
            <p:cNvPr id="8" name="object 8"/>
            <p:cNvSpPr/>
            <p:nvPr/>
          </p:nvSpPr>
          <p:spPr>
            <a:xfrm>
              <a:off x="4506160" y="4459099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825703" y="0"/>
                  </a:moveTo>
                  <a:lnTo>
                    <a:pt x="0" y="333965"/>
                  </a:lnTo>
                  <a:lnTo>
                    <a:pt x="825703" y="667931"/>
                  </a:lnTo>
                  <a:lnTo>
                    <a:pt x="1651406" y="333965"/>
                  </a:lnTo>
                  <a:lnTo>
                    <a:pt x="8257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506160" y="4459099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0" y="333965"/>
                  </a:moveTo>
                  <a:lnTo>
                    <a:pt x="825703" y="0"/>
                  </a:lnTo>
                  <a:lnTo>
                    <a:pt x="1651406" y="333965"/>
                  </a:lnTo>
                  <a:lnTo>
                    <a:pt x="825703" y="667931"/>
                  </a:lnTo>
                  <a:lnTo>
                    <a:pt x="0" y="33396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74608" y="4092388"/>
            <a:ext cx="57822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ma</a:t>
            </a: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70251" y="3442428"/>
            <a:ext cx="1067921" cy="435909"/>
            <a:chOff x="1373351" y="3901418"/>
            <a:chExt cx="1210310" cy="494030"/>
          </a:xfrm>
        </p:grpSpPr>
        <p:sp>
          <p:nvSpPr>
            <p:cNvPr id="12" name="object 12"/>
            <p:cNvSpPr/>
            <p:nvPr/>
          </p:nvSpPr>
          <p:spPr>
            <a:xfrm>
              <a:off x="1378431" y="3906498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599832" y="0"/>
                  </a:moveTo>
                  <a:lnTo>
                    <a:pt x="534474" y="1418"/>
                  </a:lnTo>
                  <a:lnTo>
                    <a:pt x="471154" y="5575"/>
                  </a:lnTo>
                  <a:lnTo>
                    <a:pt x="410239" y="12323"/>
                  </a:lnTo>
                  <a:lnTo>
                    <a:pt x="352094" y="21514"/>
                  </a:lnTo>
                  <a:lnTo>
                    <a:pt x="297085" y="33002"/>
                  </a:lnTo>
                  <a:lnTo>
                    <a:pt x="245579" y="46639"/>
                  </a:lnTo>
                  <a:lnTo>
                    <a:pt x="197941" y="62276"/>
                  </a:lnTo>
                  <a:lnTo>
                    <a:pt x="154536" y="79768"/>
                  </a:lnTo>
                  <a:lnTo>
                    <a:pt x="115732" y="98965"/>
                  </a:lnTo>
                  <a:lnTo>
                    <a:pt x="81894" y="119722"/>
                  </a:lnTo>
                  <a:lnTo>
                    <a:pt x="30579" y="165322"/>
                  </a:lnTo>
                  <a:lnTo>
                    <a:pt x="3519" y="215387"/>
                  </a:lnTo>
                  <a:lnTo>
                    <a:pt x="0" y="241726"/>
                  </a:lnTo>
                  <a:lnTo>
                    <a:pt x="3519" y="268065"/>
                  </a:lnTo>
                  <a:lnTo>
                    <a:pt x="30579" y="318131"/>
                  </a:lnTo>
                  <a:lnTo>
                    <a:pt x="81894" y="363731"/>
                  </a:lnTo>
                  <a:lnTo>
                    <a:pt x="115732" y="384488"/>
                  </a:lnTo>
                  <a:lnTo>
                    <a:pt x="154536" y="403686"/>
                  </a:lnTo>
                  <a:lnTo>
                    <a:pt x="197941" y="421177"/>
                  </a:lnTo>
                  <a:lnTo>
                    <a:pt x="245579" y="436815"/>
                  </a:lnTo>
                  <a:lnTo>
                    <a:pt x="297085" y="450451"/>
                  </a:lnTo>
                  <a:lnTo>
                    <a:pt x="352094" y="461939"/>
                  </a:lnTo>
                  <a:lnTo>
                    <a:pt x="410239" y="471131"/>
                  </a:lnTo>
                  <a:lnTo>
                    <a:pt x="471154" y="477879"/>
                  </a:lnTo>
                  <a:lnTo>
                    <a:pt x="534474" y="482036"/>
                  </a:lnTo>
                  <a:lnTo>
                    <a:pt x="599832" y="483454"/>
                  </a:lnTo>
                  <a:lnTo>
                    <a:pt x="665190" y="482036"/>
                  </a:lnTo>
                  <a:lnTo>
                    <a:pt x="728510" y="477879"/>
                  </a:lnTo>
                  <a:lnTo>
                    <a:pt x="789425" y="471131"/>
                  </a:lnTo>
                  <a:lnTo>
                    <a:pt x="847570" y="461939"/>
                  </a:lnTo>
                  <a:lnTo>
                    <a:pt x="902579" y="450451"/>
                  </a:lnTo>
                  <a:lnTo>
                    <a:pt x="954085" y="436815"/>
                  </a:lnTo>
                  <a:lnTo>
                    <a:pt x="1001723" y="421177"/>
                  </a:lnTo>
                  <a:lnTo>
                    <a:pt x="1045127" y="403686"/>
                  </a:lnTo>
                  <a:lnTo>
                    <a:pt x="1083931" y="384488"/>
                  </a:lnTo>
                  <a:lnTo>
                    <a:pt x="1117770" y="363731"/>
                  </a:lnTo>
                  <a:lnTo>
                    <a:pt x="1169084" y="318131"/>
                  </a:lnTo>
                  <a:lnTo>
                    <a:pt x="1196145" y="268065"/>
                  </a:lnTo>
                  <a:lnTo>
                    <a:pt x="1199664" y="241726"/>
                  </a:lnTo>
                  <a:lnTo>
                    <a:pt x="1196145" y="215387"/>
                  </a:lnTo>
                  <a:lnTo>
                    <a:pt x="1169084" y="165322"/>
                  </a:lnTo>
                  <a:lnTo>
                    <a:pt x="1117770" y="119722"/>
                  </a:lnTo>
                  <a:lnTo>
                    <a:pt x="1083931" y="98965"/>
                  </a:lnTo>
                  <a:lnTo>
                    <a:pt x="1045127" y="79768"/>
                  </a:lnTo>
                  <a:lnTo>
                    <a:pt x="1001723" y="62276"/>
                  </a:lnTo>
                  <a:lnTo>
                    <a:pt x="954085" y="46639"/>
                  </a:lnTo>
                  <a:lnTo>
                    <a:pt x="902579" y="33002"/>
                  </a:lnTo>
                  <a:lnTo>
                    <a:pt x="847570" y="21514"/>
                  </a:lnTo>
                  <a:lnTo>
                    <a:pt x="789425" y="12323"/>
                  </a:lnTo>
                  <a:lnTo>
                    <a:pt x="728510" y="5575"/>
                  </a:lnTo>
                  <a:lnTo>
                    <a:pt x="665190" y="1418"/>
                  </a:lnTo>
                  <a:lnTo>
                    <a:pt x="59983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1378431" y="3906498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267775" y="3524921"/>
            <a:ext cx="27398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13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pi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d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88172" y="3155079"/>
            <a:ext cx="1067921" cy="435909"/>
            <a:chOff x="2413662" y="3575756"/>
            <a:chExt cx="1210310" cy="494030"/>
          </a:xfrm>
        </p:grpSpPr>
        <p:sp>
          <p:nvSpPr>
            <p:cNvPr id="16" name="object 16"/>
            <p:cNvSpPr/>
            <p:nvPr/>
          </p:nvSpPr>
          <p:spPr>
            <a:xfrm>
              <a:off x="2418742" y="3580836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599833" y="0"/>
                  </a:moveTo>
                  <a:lnTo>
                    <a:pt x="534475" y="1418"/>
                  </a:lnTo>
                  <a:lnTo>
                    <a:pt x="471155" y="5575"/>
                  </a:lnTo>
                  <a:lnTo>
                    <a:pt x="410240" y="12323"/>
                  </a:lnTo>
                  <a:lnTo>
                    <a:pt x="352095" y="21515"/>
                  </a:lnTo>
                  <a:lnTo>
                    <a:pt x="297086" y="33003"/>
                  </a:lnTo>
                  <a:lnTo>
                    <a:pt x="245580" y="46639"/>
                  </a:lnTo>
                  <a:lnTo>
                    <a:pt x="197941" y="62277"/>
                  </a:lnTo>
                  <a:lnTo>
                    <a:pt x="154537" y="79768"/>
                  </a:lnTo>
                  <a:lnTo>
                    <a:pt x="115733" y="98966"/>
                  </a:lnTo>
                  <a:lnTo>
                    <a:pt x="81895" y="119723"/>
                  </a:lnTo>
                  <a:lnTo>
                    <a:pt x="30579" y="165323"/>
                  </a:lnTo>
                  <a:lnTo>
                    <a:pt x="3519" y="215389"/>
                  </a:lnTo>
                  <a:lnTo>
                    <a:pt x="0" y="241727"/>
                  </a:lnTo>
                  <a:lnTo>
                    <a:pt x="3519" y="268066"/>
                  </a:lnTo>
                  <a:lnTo>
                    <a:pt x="30579" y="318132"/>
                  </a:lnTo>
                  <a:lnTo>
                    <a:pt x="81895" y="363732"/>
                  </a:lnTo>
                  <a:lnTo>
                    <a:pt x="115733" y="384489"/>
                  </a:lnTo>
                  <a:lnTo>
                    <a:pt x="154537" y="403687"/>
                  </a:lnTo>
                  <a:lnTo>
                    <a:pt x="197941" y="421178"/>
                  </a:lnTo>
                  <a:lnTo>
                    <a:pt x="245580" y="436816"/>
                  </a:lnTo>
                  <a:lnTo>
                    <a:pt x="297086" y="450452"/>
                  </a:lnTo>
                  <a:lnTo>
                    <a:pt x="352095" y="461940"/>
                  </a:lnTo>
                  <a:lnTo>
                    <a:pt x="410240" y="471132"/>
                  </a:lnTo>
                  <a:lnTo>
                    <a:pt x="471155" y="477880"/>
                  </a:lnTo>
                  <a:lnTo>
                    <a:pt x="534475" y="482037"/>
                  </a:lnTo>
                  <a:lnTo>
                    <a:pt x="599833" y="483455"/>
                  </a:lnTo>
                  <a:lnTo>
                    <a:pt x="665192" y="482037"/>
                  </a:lnTo>
                  <a:lnTo>
                    <a:pt x="728511" y="477880"/>
                  </a:lnTo>
                  <a:lnTo>
                    <a:pt x="789427" y="471132"/>
                  </a:lnTo>
                  <a:lnTo>
                    <a:pt x="847572" y="461940"/>
                  </a:lnTo>
                  <a:lnTo>
                    <a:pt x="902580" y="450452"/>
                  </a:lnTo>
                  <a:lnTo>
                    <a:pt x="954086" y="436816"/>
                  </a:lnTo>
                  <a:lnTo>
                    <a:pt x="1001725" y="421178"/>
                  </a:lnTo>
                  <a:lnTo>
                    <a:pt x="1045129" y="403687"/>
                  </a:lnTo>
                  <a:lnTo>
                    <a:pt x="1083933" y="384489"/>
                  </a:lnTo>
                  <a:lnTo>
                    <a:pt x="1117771" y="363732"/>
                  </a:lnTo>
                  <a:lnTo>
                    <a:pt x="1169086" y="318132"/>
                  </a:lnTo>
                  <a:lnTo>
                    <a:pt x="1196146" y="268066"/>
                  </a:lnTo>
                  <a:lnTo>
                    <a:pt x="1199666" y="241727"/>
                  </a:lnTo>
                  <a:lnTo>
                    <a:pt x="1196146" y="215389"/>
                  </a:lnTo>
                  <a:lnTo>
                    <a:pt x="1169086" y="165323"/>
                  </a:lnTo>
                  <a:lnTo>
                    <a:pt x="1117771" y="119723"/>
                  </a:lnTo>
                  <a:lnTo>
                    <a:pt x="1083933" y="98966"/>
                  </a:lnTo>
                  <a:lnTo>
                    <a:pt x="1045129" y="79768"/>
                  </a:lnTo>
                  <a:lnTo>
                    <a:pt x="1001725" y="62277"/>
                  </a:lnTo>
                  <a:lnTo>
                    <a:pt x="954086" y="46639"/>
                  </a:lnTo>
                  <a:lnTo>
                    <a:pt x="902580" y="33003"/>
                  </a:lnTo>
                  <a:lnTo>
                    <a:pt x="847572" y="21515"/>
                  </a:lnTo>
                  <a:lnTo>
                    <a:pt x="789427" y="12323"/>
                  </a:lnTo>
                  <a:lnTo>
                    <a:pt x="728511" y="5575"/>
                  </a:lnTo>
                  <a:lnTo>
                    <a:pt x="665192" y="1418"/>
                  </a:lnTo>
                  <a:lnTo>
                    <a:pt x="59983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2418742" y="3580836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75391" y="3237155"/>
            <a:ext cx="49474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96917" y="3192437"/>
            <a:ext cx="3429560" cy="648821"/>
            <a:chOff x="3556905" y="3618095"/>
            <a:chExt cx="3886835" cy="735330"/>
          </a:xfrm>
        </p:grpSpPr>
        <p:sp>
          <p:nvSpPr>
            <p:cNvPr id="20" name="object 20"/>
            <p:cNvSpPr/>
            <p:nvPr/>
          </p:nvSpPr>
          <p:spPr>
            <a:xfrm>
              <a:off x="6238786" y="3623175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599833" y="0"/>
                  </a:moveTo>
                  <a:lnTo>
                    <a:pt x="534475" y="1418"/>
                  </a:lnTo>
                  <a:lnTo>
                    <a:pt x="471155" y="5575"/>
                  </a:lnTo>
                  <a:lnTo>
                    <a:pt x="410239" y="12323"/>
                  </a:lnTo>
                  <a:lnTo>
                    <a:pt x="352094" y="21515"/>
                  </a:lnTo>
                  <a:lnTo>
                    <a:pt x="297085" y="33003"/>
                  </a:lnTo>
                  <a:lnTo>
                    <a:pt x="245579" y="46639"/>
                  </a:lnTo>
                  <a:lnTo>
                    <a:pt x="197941" y="62277"/>
                  </a:lnTo>
                  <a:lnTo>
                    <a:pt x="154537" y="79768"/>
                  </a:lnTo>
                  <a:lnTo>
                    <a:pt x="115732" y="98966"/>
                  </a:lnTo>
                  <a:lnTo>
                    <a:pt x="81894" y="119723"/>
                  </a:lnTo>
                  <a:lnTo>
                    <a:pt x="30579" y="165323"/>
                  </a:lnTo>
                  <a:lnTo>
                    <a:pt x="3519" y="215389"/>
                  </a:lnTo>
                  <a:lnTo>
                    <a:pt x="0" y="241727"/>
                  </a:lnTo>
                  <a:lnTo>
                    <a:pt x="3519" y="268066"/>
                  </a:lnTo>
                  <a:lnTo>
                    <a:pt x="30579" y="318132"/>
                  </a:lnTo>
                  <a:lnTo>
                    <a:pt x="81894" y="363732"/>
                  </a:lnTo>
                  <a:lnTo>
                    <a:pt x="115732" y="384489"/>
                  </a:lnTo>
                  <a:lnTo>
                    <a:pt x="154537" y="403687"/>
                  </a:lnTo>
                  <a:lnTo>
                    <a:pt x="197941" y="421178"/>
                  </a:lnTo>
                  <a:lnTo>
                    <a:pt x="245579" y="436816"/>
                  </a:lnTo>
                  <a:lnTo>
                    <a:pt x="297085" y="450452"/>
                  </a:lnTo>
                  <a:lnTo>
                    <a:pt x="352094" y="461940"/>
                  </a:lnTo>
                  <a:lnTo>
                    <a:pt x="410239" y="471132"/>
                  </a:lnTo>
                  <a:lnTo>
                    <a:pt x="471155" y="477880"/>
                  </a:lnTo>
                  <a:lnTo>
                    <a:pt x="534475" y="482037"/>
                  </a:lnTo>
                  <a:lnTo>
                    <a:pt x="599833" y="483455"/>
                  </a:lnTo>
                  <a:lnTo>
                    <a:pt x="665192" y="482037"/>
                  </a:lnTo>
                  <a:lnTo>
                    <a:pt x="728511" y="477880"/>
                  </a:lnTo>
                  <a:lnTo>
                    <a:pt x="789427" y="471132"/>
                  </a:lnTo>
                  <a:lnTo>
                    <a:pt x="847572" y="461940"/>
                  </a:lnTo>
                  <a:lnTo>
                    <a:pt x="902580" y="450452"/>
                  </a:lnTo>
                  <a:lnTo>
                    <a:pt x="954086" y="436816"/>
                  </a:lnTo>
                  <a:lnTo>
                    <a:pt x="1001725" y="421178"/>
                  </a:lnTo>
                  <a:lnTo>
                    <a:pt x="1045129" y="403687"/>
                  </a:lnTo>
                  <a:lnTo>
                    <a:pt x="1083933" y="384489"/>
                  </a:lnTo>
                  <a:lnTo>
                    <a:pt x="1117771" y="363732"/>
                  </a:lnTo>
                  <a:lnTo>
                    <a:pt x="1169086" y="318132"/>
                  </a:lnTo>
                  <a:lnTo>
                    <a:pt x="1196146" y="268066"/>
                  </a:lnTo>
                  <a:lnTo>
                    <a:pt x="1199666" y="241727"/>
                  </a:lnTo>
                  <a:lnTo>
                    <a:pt x="1196146" y="215389"/>
                  </a:lnTo>
                  <a:lnTo>
                    <a:pt x="1169086" y="165323"/>
                  </a:lnTo>
                  <a:lnTo>
                    <a:pt x="1117771" y="119723"/>
                  </a:lnTo>
                  <a:lnTo>
                    <a:pt x="1083933" y="98966"/>
                  </a:lnTo>
                  <a:lnTo>
                    <a:pt x="1045129" y="79768"/>
                  </a:lnTo>
                  <a:lnTo>
                    <a:pt x="1001725" y="62277"/>
                  </a:lnTo>
                  <a:lnTo>
                    <a:pt x="954086" y="46639"/>
                  </a:lnTo>
                  <a:lnTo>
                    <a:pt x="902580" y="33003"/>
                  </a:lnTo>
                  <a:lnTo>
                    <a:pt x="847572" y="21515"/>
                  </a:lnTo>
                  <a:lnTo>
                    <a:pt x="789427" y="12323"/>
                  </a:lnTo>
                  <a:lnTo>
                    <a:pt x="728511" y="5575"/>
                  </a:lnTo>
                  <a:lnTo>
                    <a:pt x="665192" y="1418"/>
                  </a:lnTo>
                  <a:lnTo>
                    <a:pt x="59983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6238786" y="3623175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3561985" y="3864758"/>
              <a:ext cx="1362075" cy="483870"/>
            </a:xfrm>
            <a:custGeom>
              <a:avLst/>
              <a:gdLst/>
              <a:ahLst/>
              <a:cxnLst/>
              <a:rect l="l" t="t" r="r" b="b"/>
              <a:pathLst>
                <a:path w="1362075" h="483870">
                  <a:moveTo>
                    <a:pt x="680810" y="0"/>
                  </a:moveTo>
                  <a:lnTo>
                    <a:pt x="611201" y="1248"/>
                  </a:lnTo>
                  <a:lnTo>
                    <a:pt x="543603" y="4911"/>
                  </a:lnTo>
                  <a:lnTo>
                    <a:pt x="478357" y="10867"/>
                  </a:lnTo>
                  <a:lnTo>
                    <a:pt x="415808" y="18996"/>
                  </a:lnTo>
                  <a:lnTo>
                    <a:pt x="356295" y="29175"/>
                  </a:lnTo>
                  <a:lnTo>
                    <a:pt x="300162" y="41283"/>
                  </a:lnTo>
                  <a:lnTo>
                    <a:pt x="247751" y="55198"/>
                  </a:lnTo>
                  <a:lnTo>
                    <a:pt x="199404" y="70800"/>
                  </a:lnTo>
                  <a:lnTo>
                    <a:pt x="155463" y="87966"/>
                  </a:lnTo>
                  <a:lnTo>
                    <a:pt x="116271" y="106575"/>
                  </a:lnTo>
                  <a:lnTo>
                    <a:pt x="82170" y="126505"/>
                  </a:lnTo>
                  <a:lnTo>
                    <a:pt x="30607" y="169845"/>
                  </a:lnTo>
                  <a:lnTo>
                    <a:pt x="3514" y="217012"/>
                  </a:lnTo>
                  <a:lnTo>
                    <a:pt x="0" y="241727"/>
                  </a:lnTo>
                  <a:lnTo>
                    <a:pt x="3514" y="266443"/>
                  </a:lnTo>
                  <a:lnTo>
                    <a:pt x="30607" y="313610"/>
                  </a:lnTo>
                  <a:lnTo>
                    <a:pt x="82170" y="356949"/>
                  </a:lnTo>
                  <a:lnTo>
                    <a:pt x="116271" y="376879"/>
                  </a:lnTo>
                  <a:lnTo>
                    <a:pt x="155463" y="395488"/>
                  </a:lnTo>
                  <a:lnTo>
                    <a:pt x="199404" y="412654"/>
                  </a:lnTo>
                  <a:lnTo>
                    <a:pt x="247751" y="428256"/>
                  </a:lnTo>
                  <a:lnTo>
                    <a:pt x="300162" y="442171"/>
                  </a:lnTo>
                  <a:lnTo>
                    <a:pt x="356295" y="454279"/>
                  </a:lnTo>
                  <a:lnTo>
                    <a:pt x="415808" y="464458"/>
                  </a:lnTo>
                  <a:lnTo>
                    <a:pt x="478357" y="472587"/>
                  </a:lnTo>
                  <a:lnTo>
                    <a:pt x="543603" y="478543"/>
                  </a:lnTo>
                  <a:lnTo>
                    <a:pt x="611201" y="482206"/>
                  </a:lnTo>
                  <a:lnTo>
                    <a:pt x="680810" y="483454"/>
                  </a:lnTo>
                  <a:lnTo>
                    <a:pt x="750419" y="482206"/>
                  </a:lnTo>
                  <a:lnTo>
                    <a:pt x="818017" y="478543"/>
                  </a:lnTo>
                  <a:lnTo>
                    <a:pt x="883262" y="472587"/>
                  </a:lnTo>
                  <a:lnTo>
                    <a:pt x="945812" y="464458"/>
                  </a:lnTo>
                  <a:lnTo>
                    <a:pt x="1005325" y="454279"/>
                  </a:lnTo>
                  <a:lnTo>
                    <a:pt x="1061458" y="442171"/>
                  </a:lnTo>
                  <a:lnTo>
                    <a:pt x="1113869" y="428256"/>
                  </a:lnTo>
                  <a:lnTo>
                    <a:pt x="1162216" y="412654"/>
                  </a:lnTo>
                  <a:lnTo>
                    <a:pt x="1206157" y="395488"/>
                  </a:lnTo>
                  <a:lnTo>
                    <a:pt x="1245349" y="376879"/>
                  </a:lnTo>
                  <a:lnTo>
                    <a:pt x="1279451" y="356949"/>
                  </a:lnTo>
                  <a:lnTo>
                    <a:pt x="1331013" y="313610"/>
                  </a:lnTo>
                  <a:lnTo>
                    <a:pt x="1358106" y="266443"/>
                  </a:lnTo>
                  <a:lnTo>
                    <a:pt x="1361621" y="241727"/>
                  </a:lnTo>
                  <a:lnTo>
                    <a:pt x="1358106" y="217012"/>
                  </a:lnTo>
                  <a:lnTo>
                    <a:pt x="1331013" y="169845"/>
                  </a:lnTo>
                  <a:lnTo>
                    <a:pt x="1279451" y="126505"/>
                  </a:lnTo>
                  <a:lnTo>
                    <a:pt x="1245349" y="106575"/>
                  </a:lnTo>
                  <a:lnTo>
                    <a:pt x="1206157" y="87966"/>
                  </a:lnTo>
                  <a:lnTo>
                    <a:pt x="1162216" y="70800"/>
                  </a:lnTo>
                  <a:lnTo>
                    <a:pt x="1113869" y="55198"/>
                  </a:lnTo>
                  <a:lnTo>
                    <a:pt x="1061458" y="41283"/>
                  </a:lnTo>
                  <a:lnTo>
                    <a:pt x="1005325" y="29175"/>
                  </a:lnTo>
                  <a:lnTo>
                    <a:pt x="945812" y="18996"/>
                  </a:lnTo>
                  <a:lnTo>
                    <a:pt x="883262" y="10867"/>
                  </a:lnTo>
                  <a:lnTo>
                    <a:pt x="818017" y="4911"/>
                  </a:lnTo>
                  <a:lnTo>
                    <a:pt x="750419" y="1248"/>
                  </a:lnTo>
                  <a:lnTo>
                    <a:pt x="68081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3561985" y="3864758"/>
              <a:ext cx="1362075" cy="483870"/>
            </a:xfrm>
            <a:custGeom>
              <a:avLst/>
              <a:gdLst/>
              <a:ahLst/>
              <a:cxnLst/>
              <a:rect l="l" t="t" r="r" b="b"/>
              <a:pathLst>
                <a:path w="1362075" h="483870">
                  <a:moveTo>
                    <a:pt x="0" y="241727"/>
                  </a:moveTo>
                  <a:lnTo>
                    <a:pt x="13831" y="193011"/>
                  </a:lnTo>
                  <a:lnTo>
                    <a:pt x="53501" y="147636"/>
                  </a:lnTo>
                  <a:lnTo>
                    <a:pt x="116271" y="106575"/>
                  </a:lnTo>
                  <a:lnTo>
                    <a:pt x="155464" y="87966"/>
                  </a:lnTo>
                  <a:lnTo>
                    <a:pt x="199404" y="70800"/>
                  </a:lnTo>
                  <a:lnTo>
                    <a:pt x="247751" y="55198"/>
                  </a:lnTo>
                  <a:lnTo>
                    <a:pt x="300162" y="41283"/>
                  </a:lnTo>
                  <a:lnTo>
                    <a:pt x="356295" y="29175"/>
                  </a:lnTo>
                  <a:lnTo>
                    <a:pt x="415808" y="18996"/>
                  </a:lnTo>
                  <a:lnTo>
                    <a:pt x="478358" y="10867"/>
                  </a:lnTo>
                  <a:lnTo>
                    <a:pt x="543603" y="4911"/>
                  </a:lnTo>
                  <a:lnTo>
                    <a:pt x="611201" y="1248"/>
                  </a:lnTo>
                  <a:lnTo>
                    <a:pt x="680810" y="0"/>
                  </a:lnTo>
                  <a:lnTo>
                    <a:pt x="750419" y="1248"/>
                  </a:lnTo>
                  <a:lnTo>
                    <a:pt x="818017" y="4911"/>
                  </a:lnTo>
                  <a:lnTo>
                    <a:pt x="883262" y="10867"/>
                  </a:lnTo>
                  <a:lnTo>
                    <a:pt x="945812" y="18996"/>
                  </a:lnTo>
                  <a:lnTo>
                    <a:pt x="1005324" y="29175"/>
                  </a:lnTo>
                  <a:lnTo>
                    <a:pt x="1061457" y="41283"/>
                  </a:lnTo>
                  <a:lnTo>
                    <a:pt x="1113868" y="55198"/>
                  </a:lnTo>
                  <a:lnTo>
                    <a:pt x="1162216" y="70800"/>
                  </a:lnTo>
                  <a:lnTo>
                    <a:pt x="1206156" y="87966"/>
                  </a:lnTo>
                  <a:lnTo>
                    <a:pt x="1245349" y="106575"/>
                  </a:lnTo>
                  <a:lnTo>
                    <a:pt x="1279450" y="126506"/>
                  </a:lnTo>
                  <a:lnTo>
                    <a:pt x="1331013" y="169845"/>
                  </a:lnTo>
                  <a:lnTo>
                    <a:pt x="1358106" y="217012"/>
                  </a:lnTo>
                  <a:lnTo>
                    <a:pt x="1361620" y="241727"/>
                  </a:lnTo>
                  <a:lnTo>
                    <a:pt x="1358106" y="266443"/>
                  </a:lnTo>
                  <a:lnTo>
                    <a:pt x="1331013" y="313610"/>
                  </a:lnTo>
                  <a:lnTo>
                    <a:pt x="1279450" y="356949"/>
                  </a:lnTo>
                  <a:lnTo>
                    <a:pt x="1245349" y="376880"/>
                  </a:lnTo>
                  <a:lnTo>
                    <a:pt x="1206156" y="395489"/>
                  </a:lnTo>
                  <a:lnTo>
                    <a:pt x="1162216" y="412655"/>
                  </a:lnTo>
                  <a:lnTo>
                    <a:pt x="1113868" y="428256"/>
                  </a:lnTo>
                  <a:lnTo>
                    <a:pt x="1061457" y="442172"/>
                  </a:lnTo>
                  <a:lnTo>
                    <a:pt x="1005324" y="454280"/>
                  </a:lnTo>
                  <a:lnTo>
                    <a:pt x="945812" y="464459"/>
                  </a:lnTo>
                  <a:lnTo>
                    <a:pt x="883262" y="472588"/>
                  </a:lnTo>
                  <a:lnTo>
                    <a:pt x="818017" y="478544"/>
                  </a:lnTo>
                  <a:lnTo>
                    <a:pt x="750419" y="482207"/>
                  </a:lnTo>
                  <a:lnTo>
                    <a:pt x="680810" y="483455"/>
                  </a:lnTo>
                  <a:lnTo>
                    <a:pt x="611201" y="482207"/>
                  </a:lnTo>
                  <a:lnTo>
                    <a:pt x="543603" y="478544"/>
                  </a:lnTo>
                  <a:lnTo>
                    <a:pt x="478358" y="472588"/>
                  </a:lnTo>
                  <a:lnTo>
                    <a:pt x="415808" y="464459"/>
                  </a:lnTo>
                  <a:lnTo>
                    <a:pt x="356295" y="454280"/>
                  </a:lnTo>
                  <a:lnTo>
                    <a:pt x="300162" y="442172"/>
                  </a:lnTo>
                  <a:lnTo>
                    <a:pt x="247751" y="428256"/>
                  </a:lnTo>
                  <a:lnTo>
                    <a:pt x="199404" y="412655"/>
                  </a:lnTo>
                  <a:lnTo>
                    <a:pt x="155464" y="395489"/>
                  </a:lnTo>
                  <a:lnTo>
                    <a:pt x="116271" y="376880"/>
                  </a:lnTo>
                  <a:lnTo>
                    <a:pt x="82170" y="356949"/>
                  </a:lnTo>
                  <a:lnTo>
                    <a:pt x="30607" y="313610"/>
                  </a:lnTo>
                  <a:lnTo>
                    <a:pt x="3514" y="266443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398953" y="3274806"/>
            <a:ext cx="5888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</a:t>
            </a:r>
            <a:r>
              <a:rPr sz="1500" u="sng" spc="-13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773761" y="3192442"/>
            <a:ext cx="5597899" cy="1041587"/>
            <a:chOff x="2397329" y="3618100"/>
            <a:chExt cx="6344285" cy="1180465"/>
          </a:xfrm>
        </p:grpSpPr>
        <p:sp>
          <p:nvSpPr>
            <p:cNvPr id="26" name="object 26"/>
            <p:cNvSpPr/>
            <p:nvPr/>
          </p:nvSpPr>
          <p:spPr>
            <a:xfrm>
              <a:off x="3735002" y="4786019"/>
              <a:ext cx="771525" cy="7620"/>
            </a:xfrm>
            <a:custGeom>
              <a:avLst/>
              <a:gdLst/>
              <a:ahLst/>
              <a:cxnLst/>
              <a:rect l="l" t="t" r="r" b="b"/>
              <a:pathLst>
                <a:path w="771525" h="7620">
                  <a:moveTo>
                    <a:pt x="0" y="0"/>
                  </a:moveTo>
                  <a:lnTo>
                    <a:pt x="771157" y="7046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6157566" y="4786018"/>
              <a:ext cx="750570" cy="7620"/>
            </a:xfrm>
            <a:custGeom>
              <a:avLst/>
              <a:gdLst/>
              <a:ahLst/>
              <a:cxnLst/>
              <a:rect l="l" t="t" r="r" b="b"/>
              <a:pathLst>
                <a:path w="750570" h="7620">
                  <a:moveTo>
                    <a:pt x="0" y="7046"/>
                  </a:moveTo>
                  <a:lnTo>
                    <a:pt x="750067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7581327" y="3623180"/>
              <a:ext cx="1155065" cy="483870"/>
            </a:xfrm>
            <a:custGeom>
              <a:avLst/>
              <a:gdLst/>
              <a:ahLst/>
              <a:cxnLst/>
              <a:rect l="l" t="t" r="r" b="b"/>
              <a:pathLst>
                <a:path w="1155065" h="483870">
                  <a:moveTo>
                    <a:pt x="577465" y="0"/>
                  </a:moveTo>
                  <a:lnTo>
                    <a:pt x="510120" y="1626"/>
                  </a:lnTo>
                  <a:lnTo>
                    <a:pt x="445057" y="6384"/>
                  </a:lnTo>
                  <a:lnTo>
                    <a:pt x="382710" y="14092"/>
                  </a:lnTo>
                  <a:lnTo>
                    <a:pt x="323510" y="24569"/>
                  </a:lnTo>
                  <a:lnTo>
                    <a:pt x="267893" y="37634"/>
                  </a:lnTo>
                  <a:lnTo>
                    <a:pt x="216290" y="53105"/>
                  </a:lnTo>
                  <a:lnTo>
                    <a:pt x="169135" y="70800"/>
                  </a:lnTo>
                  <a:lnTo>
                    <a:pt x="126862" y="90539"/>
                  </a:lnTo>
                  <a:lnTo>
                    <a:pt x="89904" y="112140"/>
                  </a:lnTo>
                  <a:lnTo>
                    <a:pt x="58694" y="135422"/>
                  </a:lnTo>
                  <a:lnTo>
                    <a:pt x="15251" y="186302"/>
                  </a:lnTo>
                  <a:lnTo>
                    <a:pt x="0" y="241727"/>
                  </a:lnTo>
                  <a:lnTo>
                    <a:pt x="3885" y="269918"/>
                  </a:lnTo>
                  <a:lnTo>
                    <a:pt x="33665" y="323252"/>
                  </a:lnTo>
                  <a:lnTo>
                    <a:pt x="89904" y="371315"/>
                  </a:lnTo>
                  <a:lnTo>
                    <a:pt x="126862" y="392916"/>
                  </a:lnTo>
                  <a:lnTo>
                    <a:pt x="169135" y="412655"/>
                  </a:lnTo>
                  <a:lnTo>
                    <a:pt x="216290" y="430350"/>
                  </a:lnTo>
                  <a:lnTo>
                    <a:pt x="267893" y="445821"/>
                  </a:lnTo>
                  <a:lnTo>
                    <a:pt x="323510" y="458886"/>
                  </a:lnTo>
                  <a:lnTo>
                    <a:pt x="382710" y="469363"/>
                  </a:lnTo>
                  <a:lnTo>
                    <a:pt x="445057" y="477071"/>
                  </a:lnTo>
                  <a:lnTo>
                    <a:pt x="510120" y="481829"/>
                  </a:lnTo>
                  <a:lnTo>
                    <a:pt x="577465" y="483455"/>
                  </a:lnTo>
                  <a:lnTo>
                    <a:pt x="644809" y="481829"/>
                  </a:lnTo>
                  <a:lnTo>
                    <a:pt x="709872" y="477071"/>
                  </a:lnTo>
                  <a:lnTo>
                    <a:pt x="772220" y="469363"/>
                  </a:lnTo>
                  <a:lnTo>
                    <a:pt x="831419" y="458886"/>
                  </a:lnTo>
                  <a:lnTo>
                    <a:pt x="887037" y="445821"/>
                  </a:lnTo>
                  <a:lnTo>
                    <a:pt x="938640" y="430350"/>
                  </a:lnTo>
                  <a:lnTo>
                    <a:pt x="985794" y="412655"/>
                  </a:lnTo>
                  <a:lnTo>
                    <a:pt x="1028067" y="392916"/>
                  </a:lnTo>
                  <a:lnTo>
                    <a:pt x="1065025" y="371315"/>
                  </a:lnTo>
                  <a:lnTo>
                    <a:pt x="1096236" y="348033"/>
                  </a:lnTo>
                  <a:lnTo>
                    <a:pt x="1139679" y="297153"/>
                  </a:lnTo>
                  <a:lnTo>
                    <a:pt x="1154930" y="241727"/>
                  </a:lnTo>
                  <a:lnTo>
                    <a:pt x="1151045" y="213537"/>
                  </a:lnTo>
                  <a:lnTo>
                    <a:pt x="1121264" y="160203"/>
                  </a:lnTo>
                  <a:lnTo>
                    <a:pt x="1065025" y="112140"/>
                  </a:lnTo>
                  <a:lnTo>
                    <a:pt x="1028067" y="90539"/>
                  </a:lnTo>
                  <a:lnTo>
                    <a:pt x="985794" y="70800"/>
                  </a:lnTo>
                  <a:lnTo>
                    <a:pt x="938640" y="53105"/>
                  </a:lnTo>
                  <a:lnTo>
                    <a:pt x="887037" y="37634"/>
                  </a:lnTo>
                  <a:lnTo>
                    <a:pt x="831419" y="24569"/>
                  </a:lnTo>
                  <a:lnTo>
                    <a:pt x="772220" y="14092"/>
                  </a:lnTo>
                  <a:lnTo>
                    <a:pt x="709872" y="6384"/>
                  </a:lnTo>
                  <a:lnTo>
                    <a:pt x="644809" y="1626"/>
                  </a:lnTo>
                  <a:lnTo>
                    <a:pt x="57746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7581327" y="3623180"/>
              <a:ext cx="1155065" cy="483870"/>
            </a:xfrm>
            <a:custGeom>
              <a:avLst/>
              <a:gdLst/>
              <a:ahLst/>
              <a:cxnLst/>
              <a:rect l="l" t="t" r="r" b="b"/>
              <a:pathLst>
                <a:path w="1155065" h="483870">
                  <a:moveTo>
                    <a:pt x="0" y="241727"/>
                  </a:moveTo>
                  <a:lnTo>
                    <a:pt x="15251" y="186301"/>
                  </a:lnTo>
                  <a:lnTo>
                    <a:pt x="58694" y="135422"/>
                  </a:lnTo>
                  <a:lnTo>
                    <a:pt x="89904" y="112140"/>
                  </a:lnTo>
                  <a:lnTo>
                    <a:pt x="126862" y="90539"/>
                  </a:lnTo>
                  <a:lnTo>
                    <a:pt x="169135" y="70800"/>
                  </a:lnTo>
                  <a:lnTo>
                    <a:pt x="216290" y="53104"/>
                  </a:lnTo>
                  <a:lnTo>
                    <a:pt x="267892" y="37634"/>
                  </a:lnTo>
                  <a:lnTo>
                    <a:pt x="323510" y="24569"/>
                  </a:lnTo>
                  <a:lnTo>
                    <a:pt x="382709" y="14092"/>
                  </a:lnTo>
                  <a:lnTo>
                    <a:pt x="445057" y="6384"/>
                  </a:lnTo>
                  <a:lnTo>
                    <a:pt x="510120" y="1626"/>
                  </a:lnTo>
                  <a:lnTo>
                    <a:pt x="577464" y="0"/>
                  </a:lnTo>
                  <a:lnTo>
                    <a:pt x="644809" y="1626"/>
                  </a:lnTo>
                  <a:lnTo>
                    <a:pt x="709872" y="6384"/>
                  </a:lnTo>
                  <a:lnTo>
                    <a:pt x="772219" y="14092"/>
                  </a:lnTo>
                  <a:lnTo>
                    <a:pt x="831419" y="24569"/>
                  </a:lnTo>
                  <a:lnTo>
                    <a:pt x="887036" y="37634"/>
                  </a:lnTo>
                  <a:lnTo>
                    <a:pt x="938639" y="53104"/>
                  </a:lnTo>
                  <a:lnTo>
                    <a:pt x="985794" y="70800"/>
                  </a:lnTo>
                  <a:lnTo>
                    <a:pt x="1028067" y="90539"/>
                  </a:lnTo>
                  <a:lnTo>
                    <a:pt x="1065025" y="112140"/>
                  </a:lnTo>
                  <a:lnTo>
                    <a:pt x="1096235" y="135422"/>
                  </a:lnTo>
                  <a:lnTo>
                    <a:pt x="1139678" y="186301"/>
                  </a:lnTo>
                  <a:lnTo>
                    <a:pt x="1154929" y="241727"/>
                  </a:lnTo>
                  <a:lnTo>
                    <a:pt x="1151044" y="269918"/>
                  </a:lnTo>
                  <a:lnTo>
                    <a:pt x="1121264" y="323252"/>
                  </a:lnTo>
                  <a:lnTo>
                    <a:pt x="1065025" y="371315"/>
                  </a:lnTo>
                  <a:lnTo>
                    <a:pt x="1028067" y="392916"/>
                  </a:lnTo>
                  <a:lnTo>
                    <a:pt x="985794" y="412655"/>
                  </a:lnTo>
                  <a:lnTo>
                    <a:pt x="938639" y="430350"/>
                  </a:lnTo>
                  <a:lnTo>
                    <a:pt x="887036" y="445821"/>
                  </a:lnTo>
                  <a:lnTo>
                    <a:pt x="831419" y="458886"/>
                  </a:lnTo>
                  <a:lnTo>
                    <a:pt x="772219" y="469363"/>
                  </a:lnTo>
                  <a:lnTo>
                    <a:pt x="709872" y="477071"/>
                  </a:lnTo>
                  <a:lnTo>
                    <a:pt x="644809" y="481829"/>
                  </a:lnTo>
                  <a:lnTo>
                    <a:pt x="577464" y="483455"/>
                  </a:lnTo>
                  <a:lnTo>
                    <a:pt x="510120" y="481829"/>
                  </a:lnTo>
                  <a:lnTo>
                    <a:pt x="445057" y="477071"/>
                  </a:lnTo>
                  <a:lnTo>
                    <a:pt x="382709" y="469363"/>
                  </a:lnTo>
                  <a:lnTo>
                    <a:pt x="323510" y="458886"/>
                  </a:lnTo>
                  <a:lnTo>
                    <a:pt x="267892" y="445821"/>
                  </a:lnTo>
                  <a:lnTo>
                    <a:pt x="216290" y="430350"/>
                  </a:lnTo>
                  <a:lnTo>
                    <a:pt x="169135" y="412655"/>
                  </a:lnTo>
                  <a:lnTo>
                    <a:pt x="126862" y="392916"/>
                  </a:lnTo>
                  <a:lnTo>
                    <a:pt x="89904" y="371315"/>
                  </a:lnTo>
                  <a:lnTo>
                    <a:pt x="58694" y="348033"/>
                  </a:lnTo>
                  <a:lnTo>
                    <a:pt x="15251" y="297153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6838619" y="4106630"/>
              <a:ext cx="701675" cy="405765"/>
            </a:xfrm>
            <a:custGeom>
              <a:avLst/>
              <a:gdLst/>
              <a:ahLst/>
              <a:cxnLst/>
              <a:rect l="l" t="t" r="r" b="b"/>
              <a:pathLst>
                <a:path w="701675" h="405764">
                  <a:moveTo>
                    <a:pt x="0" y="0"/>
                  </a:moveTo>
                  <a:lnTo>
                    <a:pt x="701500" y="405327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7540120" y="4106636"/>
              <a:ext cx="619125" cy="405765"/>
            </a:xfrm>
            <a:custGeom>
              <a:avLst/>
              <a:gdLst/>
              <a:ahLst/>
              <a:cxnLst/>
              <a:rect l="l" t="t" r="r" b="b"/>
              <a:pathLst>
                <a:path w="619125" h="405764">
                  <a:moveTo>
                    <a:pt x="618672" y="0"/>
                  </a:moveTo>
                  <a:lnTo>
                    <a:pt x="0" y="405322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3102516" y="4277413"/>
              <a:ext cx="659130" cy="234950"/>
            </a:xfrm>
            <a:custGeom>
              <a:avLst/>
              <a:gdLst/>
              <a:ahLst/>
              <a:cxnLst/>
              <a:rect l="l" t="t" r="r" b="b"/>
              <a:pathLst>
                <a:path w="659129" h="234950">
                  <a:moveTo>
                    <a:pt x="658872" y="0"/>
                  </a:moveTo>
                  <a:lnTo>
                    <a:pt x="0" y="234544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2402409" y="4319153"/>
              <a:ext cx="700405" cy="193040"/>
            </a:xfrm>
            <a:custGeom>
              <a:avLst/>
              <a:gdLst/>
              <a:ahLst/>
              <a:cxnLst/>
              <a:rect l="l" t="t" r="r" b="b"/>
              <a:pathLst>
                <a:path w="700405" h="193039">
                  <a:moveTo>
                    <a:pt x="0" y="0"/>
                  </a:moveTo>
                  <a:lnTo>
                    <a:pt x="700107" y="192805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928371" y="3476512"/>
            <a:ext cx="9317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38029" y="3266738"/>
            <a:ext cx="69308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321921" y="3586141"/>
            <a:ext cx="74519" cy="395007"/>
          </a:xfrm>
          <a:custGeom>
            <a:avLst/>
            <a:gdLst/>
            <a:ahLst/>
            <a:cxnLst/>
            <a:rect l="l" t="t" r="r" b="b"/>
            <a:pathLst>
              <a:path w="84455" h="447675">
                <a:moveTo>
                  <a:pt x="0" y="0"/>
                </a:moveTo>
                <a:lnTo>
                  <a:pt x="83940" y="447666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45838" y="5017745"/>
            <a:ext cx="4567518" cy="387162"/>
            <a:chOff x="2252350" y="5686778"/>
            <a:chExt cx="5176520" cy="438784"/>
          </a:xfrm>
        </p:grpSpPr>
        <p:sp>
          <p:nvSpPr>
            <p:cNvPr id="3" name="object 3"/>
            <p:cNvSpPr/>
            <p:nvPr/>
          </p:nvSpPr>
          <p:spPr>
            <a:xfrm>
              <a:off x="2259017" y="5693445"/>
              <a:ext cx="5163185" cy="425450"/>
            </a:xfrm>
            <a:custGeom>
              <a:avLst/>
              <a:gdLst/>
              <a:ahLst/>
              <a:cxnLst/>
              <a:rect l="l" t="t" r="r" b="b"/>
              <a:pathLst>
                <a:path w="5163184" h="425450">
                  <a:moveTo>
                    <a:pt x="5091717" y="0"/>
                  </a:moveTo>
                  <a:lnTo>
                    <a:pt x="70895" y="0"/>
                  </a:lnTo>
                  <a:lnTo>
                    <a:pt x="43299" y="5571"/>
                  </a:lnTo>
                  <a:lnTo>
                    <a:pt x="20764" y="20764"/>
                  </a:lnTo>
                  <a:lnTo>
                    <a:pt x="5571" y="43300"/>
                  </a:lnTo>
                  <a:lnTo>
                    <a:pt x="0" y="70896"/>
                  </a:lnTo>
                  <a:lnTo>
                    <a:pt x="0" y="354476"/>
                  </a:lnTo>
                  <a:lnTo>
                    <a:pt x="5571" y="382072"/>
                  </a:lnTo>
                  <a:lnTo>
                    <a:pt x="20764" y="404607"/>
                  </a:lnTo>
                  <a:lnTo>
                    <a:pt x="43299" y="419801"/>
                  </a:lnTo>
                  <a:lnTo>
                    <a:pt x="70895" y="425372"/>
                  </a:lnTo>
                  <a:lnTo>
                    <a:pt x="5091717" y="425372"/>
                  </a:lnTo>
                  <a:lnTo>
                    <a:pt x="5119312" y="419801"/>
                  </a:lnTo>
                  <a:lnTo>
                    <a:pt x="5141847" y="404607"/>
                  </a:lnTo>
                  <a:lnTo>
                    <a:pt x="5157040" y="382072"/>
                  </a:lnTo>
                  <a:lnTo>
                    <a:pt x="5162612" y="354476"/>
                  </a:lnTo>
                  <a:lnTo>
                    <a:pt x="5162612" y="70896"/>
                  </a:lnTo>
                  <a:lnTo>
                    <a:pt x="5157040" y="43300"/>
                  </a:lnTo>
                  <a:lnTo>
                    <a:pt x="5141847" y="20764"/>
                  </a:lnTo>
                  <a:lnTo>
                    <a:pt x="5119312" y="5571"/>
                  </a:lnTo>
                  <a:lnTo>
                    <a:pt x="5091717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2259017" y="5693445"/>
              <a:ext cx="5163185" cy="425450"/>
            </a:xfrm>
            <a:custGeom>
              <a:avLst/>
              <a:gdLst/>
              <a:ahLst/>
              <a:cxnLst/>
              <a:rect l="l" t="t" r="r" b="b"/>
              <a:pathLst>
                <a:path w="5163184" h="425450">
                  <a:moveTo>
                    <a:pt x="0" y="70896"/>
                  </a:moveTo>
                  <a:lnTo>
                    <a:pt x="5571" y="43300"/>
                  </a:lnTo>
                  <a:lnTo>
                    <a:pt x="20764" y="20765"/>
                  </a:lnTo>
                  <a:lnTo>
                    <a:pt x="43299" y="5571"/>
                  </a:lnTo>
                  <a:lnTo>
                    <a:pt x="70895" y="0"/>
                  </a:lnTo>
                  <a:lnTo>
                    <a:pt x="5091716" y="0"/>
                  </a:lnTo>
                  <a:lnTo>
                    <a:pt x="5119312" y="5571"/>
                  </a:lnTo>
                  <a:lnTo>
                    <a:pt x="5141847" y="20765"/>
                  </a:lnTo>
                  <a:lnTo>
                    <a:pt x="5157040" y="43300"/>
                  </a:lnTo>
                  <a:lnTo>
                    <a:pt x="5162612" y="70896"/>
                  </a:lnTo>
                  <a:lnTo>
                    <a:pt x="5162612" y="354476"/>
                  </a:lnTo>
                  <a:lnTo>
                    <a:pt x="5157040" y="382072"/>
                  </a:lnTo>
                  <a:lnTo>
                    <a:pt x="5141847" y="404607"/>
                  </a:lnTo>
                  <a:lnTo>
                    <a:pt x="5119312" y="419801"/>
                  </a:lnTo>
                  <a:lnTo>
                    <a:pt x="5091716" y="425372"/>
                  </a:lnTo>
                  <a:lnTo>
                    <a:pt x="70895" y="425372"/>
                  </a:lnTo>
                  <a:lnTo>
                    <a:pt x="43299" y="419801"/>
                  </a:lnTo>
                  <a:lnTo>
                    <a:pt x="20764" y="404607"/>
                  </a:lnTo>
                  <a:lnTo>
                    <a:pt x="5571" y="382072"/>
                  </a:lnTo>
                  <a:lnTo>
                    <a:pt x="0" y="354476"/>
                  </a:lnTo>
                  <a:lnTo>
                    <a:pt x="0" y="70896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96958" y="192931"/>
            <a:ext cx="5410760" cy="879393"/>
          </a:xfrm>
          <a:prstGeom prst="rect">
            <a:avLst/>
          </a:prstGeom>
        </p:spPr>
        <p:txBody>
          <a:bodyPr vert="horz" wrap="square" lIns="0" tIns="137272" rIns="0" bIns="0" rtlCol="0" anchor="ctr">
            <a:spAutoFit/>
          </a:bodyPr>
          <a:lstStyle/>
          <a:p>
            <a:pPr marL="11206" marR="4483" indent="871864">
              <a:lnSpc>
                <a:spcPct val="73900"/>
              </a:lnSpc>
              <a:spcBef>
                <a:spcPts val="1081"/>
              </a:spcBef>
            </a:pPr>
            <a:r>
              <a:rPr sz="3177" spc="-115" dirty="0"/>
              <a:t>S</a:t>
            </a:r>
            <a:r>
              <a:rPr sz="3177" spc="-110" dirty="0"/>
              <a:t>tron</a:t>
            </a:r>
            <a:r>
              <a:rPr sz="3177" dirty="0"/>
              <a:t>g</a:t>
            </a:r>
            <a:r>
              <a:rPr sz="3177" spc="-221" dirty="0"/>
              <a:t> </a:t>
            </a:r>
            <a:r>
              <a:rPr sz="3177" spc="-110" dirty="0"/>
              <a:t>En</a:t>
            </a:r>
            <a:r>
              <a:rPr sz="3177" spc="-106" dirty="0"/>
              <a:t>tit</a:t>
            </a:r>
            <a:r>
              <a:rPr sz="3177" dirty="0"/>
              <a:t>y</a:t>
            </a:r>
            <a:r>
              <a:rPr sz="3177" spc="-207" dirty="0"/>
              <a:t> </a:t>
            </a:r>
            <a:r>
              <a:rPr sz="3177" spc="-115" dirty="0"/>
              <a:t>S</a:t>
            </a:r>
            <a:r>
              <a:rPr sz="3177" spc="-110" dirty="0"/>
              <a:t>e</a:t>
            </a:r>
            <a:r>
              <a:rPr sz="3177" dirty="0"/>
              <a:t>t  </a:t>
            </a:r>
            <a:r>
              <a:rPr sz="3177" spc="-124" dirty="0"/>
              <a:t>w</a:t>
            </a:r>
            <a:r>
              <a:rPr sz="3177" spc="-106" dirty="0"/>
              <a:t>it</a:t>
            </a:r>
            <a:r>
              <a:rPr sz="3177" dirty="0"/>
              <a:t>h</a:t>
            </a:r>
            <a:r>
              <a:rPr sz="3177" spc="-212" dirty="0"/>
              <a:t> </a:t>
            </a:r>
            <a:r>
              <a:rPr sz="3177" spc="-110" dirty="0"/>
              <a:t>Co</a:t>
            </a:r>
            <a:r>
              <a:rPr sz="3177" spc="-119" dirty="0"/>
              <a:t>m</a:t>
            </a:r>
            <a:r>
              <a:rPr sz="3177" spc="-115" dirty="0"/>
              <a:t>p</a:t>
            </a:r>
            <a:r>
              <a:rPr sz="3177" spc="-110" dirty="0"/>
              <a:t>o</a:t>
            </a:r>
            <a:r>
              <a:rPr sz="3177" spc="-115" dirty="0"/>
              <a:t>s</a:t>
            </a:r>
            <a:r>
              <a:rPr sz="3177" spc="-106" dirty="0"/>
              <a:t>it</a:t>
            </a:r>
            <a:r>
              <a:rPr sz="3177" dirty="0"/>
              <a:t>e</a:t>
            </a:r>
            <a:r>
              <a:rPr sz="3177" spc="-212" dirty="0"/>
              <a:t> </a:t>
            </a:r>
            <a:r>
              <a:rPr sz="3177" spc="-115" dirty="0"/>
              <a:t>A</a:t>
            </a:r>
            <a:r>
              <a:rPr sz="3177" spc="-106" dirty="0"/>
              <a:t>tt</a:t>
            </a:r>
            <a:r>
              <a:rPr sz="3177" spc="-110" dirty="0"/>
              <a:t>r</a:t>
            </a:r>
            <a:r>
              <a:rPr sz="3177" spc="-106" dirty="0"/>
              <a:t>i</a:t>
            </a:r>
            <a:r>
              <a:rPr sz="3177" spc="-115" dirty="0"/>
              <a:t>b</a:t>
            </a:r>
            <a:r>
              <a:rPr sz="3177" spc="-110" dirty="0"/>
              <a:t>u</a:t>
            </a:r>
            <a:r>
              <a:rPr sz="3177" spc="-106" dirty="0"/>
              <a:t>t</a:t>
            </a:r>
            <a:r>
              <a:rPr sz="3177" dirty="0"/>
              <a:t>e</a:t>
            </a:r>
            <a:endParaRPr sz="3177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5983" y="2184958"/>
            <a:ext cx="4005202" cy="195772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89448" y="5053405"/>
            <a:ext cx="6000750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person(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first_name, middle_name,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last_name)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7240799" y="6927081"/>
            <a:ext cx="2550795" cy="5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500" b="0" i="0" kern="1200">
                <a:solidFill>
                  <a:srgbClr val="292934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US" spc="-15"/>
              <a:t>[ER</a:t>
            </a:r>
            <a:r>
              <a:rPr lang="en-US" spc="-55"/>
              <a:t> </a:t>
            </a:r>
            <a:r>
              <a:rPr lang="en-US" spc="-10"/>
              <a:t>to</a:t>
            </a:r>
            <a:r>
              <a:rPr lang="en-US" spc="-45"/>
              <a:t> </a:t>
            </a:r>
            <a:r>
              <a:rPr lang="en-US" spc="-20"/>
              <a:t>schema</a:t>
            </a:r>
            <a:r>
              <a:rPr lang="en-US" spc="-50"/>
              <a:t> </a:t>
            </a:r>
            <a:r>
              <a:rPr lang="en-US" spc="-20"/>
              <a:t>worksheet]</a:t>
            </a:r>
          </a:p>
          <a:p>
            <a:pPr marR="120014" algn="r">
              <a:spcBef>
                <a:spcPts val="715"/>
              </a:spcBef>
            </a:pPr>
            <a:fld id="{81D60167-4931-47E6-BA6A-407CBD079E47}" type="slidenum">
              <a:rPr sz="1100" smtClean="0">
                <a:solidFill>
                  <a:srgbClr val="CCD1D9"/>
                </a:solidFill>
                <a:latin typeface="Arial MT"/>
                <a:cs typeface="Arial MT"/>
              </a:rPr>
              <a:pPr marR="120014" algn="r">
                <a:spcBef>
                  <a:spcPts val="715"/>
                </a:spcBef>
              </a:pPr>
              <a:t>39</a:t>
            </a:fld>
            <a:endParaRPr lang="en-US" sz="971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7631" y="3758901"/>
            <a:ext cx="59783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pe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88180" y="3113441"/>
            <a:ext cx="27398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pi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1409" y="3108062"/>
            <a:ext cx="49474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24711" y="3108062"/>
            <a:ext cx="57710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ddl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54875" y="3624430"/>
            <a:ext cx="31432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la</a:t>
            </a: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st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48992" y="2586317"/>
            <a:ext cx="32721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f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2838" y="1110726"/>
            <a:ext cx="5563721" cy="773588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marR="4483">
              <a:lnSpc>
                <a:spcPct val="142900"/>
              </a:lnSpc>
              <a:spcBef>
                <a:spcPts val="84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Create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separate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attributes for each component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Don’t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include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higher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level attribute</a:t>
            </a:r>
            <a:endParaRPr sz="185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59555" y="3544523"/>
            <a:ext cx="2135281" cy="1456204"/>
            <a:chOff x="5101229" y="4017126"/>
            <a:chExt cx="2419985" cy="1650364"/>
          </a:xfrm>
        </p:grpSpPr>
        <p:sp>
          <p:nvSpPr>
            <p:cNvPr id="3" name="object 3"/>
            <p:cNvSpPr/>
            <p:nvPr/>
          </p:nvSpPr>
          <p:spPr>
            <a:xfrm>
              <a:off x="5107896" y="4035120"/>
              <a:ext cx="2406650" cy="1625600"/>
            </a:xfrm>
            <a:custGeom>
              <a:avLst/>
              <a:gdLst/>
              <a:ahLst/>
              <a:cxnLst/>
              <a:rect l="l" t="t" r="r" b="b"/>
              <a:pathLst>
                <a:path w="2406650" h="1625600">
                  <a:moveTo>
                    <a:pt x="1164737" y="1511300"/>
                  </a:moveTo>
                  <a:lnTo>
                    <a:pt x="272109" y="1511300"/>
                  </a:lnTo>
                  <a:lnTo>
                    <a:pt x="286009" y="1524000"/>
                  </a:lnTo>
                  <a:lnTo>
                    <a:pt x="314794" y="1536700"/>
                  </a:lnTo>
                  <a:lnTo>
                    <a:pt x="323605" y="1549400"/>
                  </a:lnTo>
                  <a:lnTo>
                    <a:pt x="331370" y="1549400"/>
                  </a:lnTo>
                  <a:lnTo>
                    <a:pt x="338717" y="1562100"/>
                  </a:lnTo>
                  <a:lnTo>
                    <a:pt x="346273" y="1574800"/>
                  </a:lnTo>
                  <a:lnTo>
                    <a:pt x="388660" y="1587500"/>
                  </a:lnTo>
                  <a:lnTo>
                    <a:pt x="478449" y="1612900"/>
                  </a:lnTo>
                  <a:lnTo>
                    <a:pt x="519409" y="1612900"/>
                  </a:lnTo>
                  <a:lnTo>
                    <a:pt x="568734" y="1625600"/>
                  </a:lnTo>
                  <a:lnTo>
                    <a:pt x="900983" y="1625600"/>
                  </a:lnTo>
                  <a:lnTo>
                    <a:pt x="931956" y="1612900"/>
                  </a:lnTo>
                  <a:lnTo>
                    <a:pt x="960120" y="1600200"/>
                  </a:lnTo>
                  <a:lnTo>
                    <a:pt x="1000779" y="1587500"/>
                  </a:lnTo>
                  <a:lnTo>
                    <a:pt x="1020756" y="1587500"/>
                  </a:lnTo>
                  <a:lnTo>
                    <a:pt x="1036566" y="1576225"/>
                  </a:lnTo>
                  <a:lnTo>
                    <a:pt x="1037420" y="1574800"/>
                  </a:lnTo>
                  <a:lnTo>
                    <a:pt x="1070298" y="1574800"/>
                  </a:lnTo>
                  <a:lnTo>
                    <a:pt x="1095546" y="1562100"/>
                  </a:lnTo>
                  <a:lnTo>
                    <a:pt x="1118575" y="1536700"/>
                  </a:lnTo>
                  <a:lnTo>
                    <a:pt x="1141075" y="1524000"/>
                  </a:lnTo>
                  <a:lnTo>
                    <a:pt x="1164737" y="1511300"/>
                  </a:lnTo>
                  <a:close/>
                </a:path>
                <a:path w="2406650" h="1625600">
                  <a:moveTo>
                    <a:pt x="1035894" y="1577348"/>
                  </a:moveTo>
                  <a:lnTo>
                    <a:pt x="1025892" y="1587500"/>
                  </a:lnTo>
                  <a:lnTo>
                    <a:pt x="1029816" y="1587500"/>
                  </a:lnTo>
                  <a:lnTo>
                    <a:pt x="1035894" y="1577348"/>
                  </a:lnTo>
                  <a:close/>
                </a:path>
                <a:path w="2406650" h="1625600">
                  <a:moveTo>
                    <a:pt x="1038026" y="1575184"/>
                  </a:moveTo>
                  <a:lnTo>
                    <a:pt x="1036566" y="1576225"/>
                  </a:lnTo>
                  <a:lnTo>
                    <a:pt x="1035894" y="1577348"/>
                  </a:lnTo>
                  <a:lnTo>
                    <a:pt x="1038026" y="1575184"/>
                  </a:lnTo>
                  <a:close/>
                </a:path>
                <a:path w="2406650" h="1625600">
                  <a:moveTo>
                    <a:pt x="1038565" y="1574800"/>
                  </a:moveTo>
                  <a:lnTo>
                    <a:pt x="1038405" y="1574800"/>
                  </a:lnTo>
                  <a:lnTo>
                    <a:pt x="1038026" y="1575184"/>
                  </a:lnTo>
                  <a:lnTo>
                    <a:pt x="1038565" y="1574800"/>
                  </a:lnTo>
                  <a:close/>
                </a:path>
                <a:path w="2406650" h="1625600">
                  <a:moveTo>
                    <a:pt x="1598686" y="1028700"/>
                  </a:moveTo>
                  <a:lnTo>
                    <a:pt x="47219" y="1028700"/>
                  </a:lnTo>
                  <a:lnTo>
                    <a:pt x="15008" y="1106671"/>
                  </a:lnTo>
                  <a:lnTo>
                    <a:pt x="17899" y="1130300"/>
                  </a:lnTo>
                  <a:lnTo>
                    <a:pt x="19255" y="1181100"/>
                  </a:lnTo>
                  <a:lnTo>
                    <a:pt x="15740" y="1257300"/>
                  </a:lnTo>
                  <a:lnTo>
                    <a:pt x="27635" y="1295400"/>
                  </a:lnTo>
                  <a:lnTo>
                    <a:pt x="34627" y="1308100"/>
                  </a:lnTo>
                  <a:lnTo>
                    <a:pt x="43541" y="1320800"/>
                  </a:lnTo>
                  <a:lnTo>
                    <a:pt x="61203" y="1346200"/>
                  </a:lnTo>
                  <a:lnTo>
                    <a:pt x="94438" y="1397000"/>
                  </a:lnTo>
                  <a:lnTo>
                    <a:pt x="141658" y="1422400"/>
                  </a:lnTo>
                  <a:lnTo>
                    <a:pt x="158574" y="1447800"/>
                  </a:lnTo>
                  <a:lnTo>
                    <a:pt x="173494" y="1460500"/>
                  </a:lnTo>
                  <a:lnTo>
                    <a:pt x="188235" y="1473200"/>
                  </a:lnTo>
                  <a:lnTo>
                    <a:pt x="204617" y="1485900"/>
                  </a:lnTo>
                  <a:lnTo>
                    <a:pt x="240458" y="1511300"/>
                  </a:lnTo>
                  <a:lnTo>
                    <a:pt x="259399" y="1524000"/>
                  </a:lnTo>
                  <a:lnTo>
                    <a:pt x="267795" y="1524000"/>
                  </a:lnTo>
                  <a:lnTo>
                    <a:pt x="272109" y="1511300"/>
                  </a:lnTo>
                  <a:lnTo>
                    <a:pt x="1164737" y="1511300"/>
                  </a:lnTo>
                  <a:lnTo>
                    <a:pt x="1176146" y="1498600"/>
                  </a:lnTo>
                  <a:lnTo>
                    <a:pt x="1200356" y="1498600"/>
                  </a:lnTo>
                  <a:lnTo>
                    <a:pt x="1211955" y="1485900"/>
                  </a:lnTo>
                  <a:lnTo>
                    <a:pt x="1236889" y="1473200"/>
                  </a:lnTo>
                  <a:lnTo>
                    <a:pt x="1255217" y="1460500"/>
                  </a:lnTo>
                  <a:lnTo>
                    <a:pt x="1271589" y="1447800"/>
                  </a:lnTo>
                  <a:lnTo>
                    <a:pt x="1290654" y="1422400"/>
                  </a:lnTo>
                  <a:lnTo>
                    <a:pt x="1312692" y="1409700"/>
                  </a:lnTo>
                  <a:lnTo>
                    <a:pt x="1362086" y="1384300"/>
                  </a:lnTo>
                  <a:lnTo>
                    <a:pt x="1385092" y="1358900"/>
                  </a:lnTo>
                  <a:lnTo>
                    <a:pt x="1394354" y="1358900"/>
                  </a:lnTo>
                  <a:lnTo>
                    <a:pt x="1401738" y="1346200"/>
                  </a:lnTo>
                  <a:lnTo>
                    <a:pt x="1408668" y="1333500"/>
                  </a:lnTo>
                  <a:lnTo>
                    <a:pt x="1416570" y="1320800"/>
                  </a:lnTo>
                  <a:lnTo>
                    <a:pt x="1437821" y="1295400"/>
                  </a:lnTo>
                  <a:lnTo>
                    <a:pt x="1446654" y="1282700"/>
                  </a:lnTo>
                  <a:lnTo>
                    <a:pt x="1449584" y="1282700"/>
                  </a:lnTo>
                  <a:lnTo>
                    <a:pt x="1453124" y="1270000"/>
                  </a:lnTo>
                  <a:lnTo>
                    <a:pt x="1463790" y="1244600"/>
                  </a:lnTo>
                  <a:lnTo>
                    <a:pt x="1471043" y="1231900"/>
                  </a:lnTo>
                  <a:lnTo>
                    <a:pt x="1488379" y="1206500"/>
                  </a:lnTo>
                  <a:lnTo>
                    <a:pt x="1509159" y="1168400"/>
                  </a:lnTo>
                  <a:lnTo>
                    <a:pt x="1526748" y="1143000"/>
                  </a:lnTo>
                  <a:lnTo>
                    <a:pt x="1531869" y="1130300"/>
                  </a:lnTo>
                  <a:lnTo>
                    <a:pt x="1535672" y="1117600"/>
                  </a:lnTo>
                  <a:lnTo>
                    <a:pt x="1538949" y="1104900"/>
                  </a:lnTo>
                  <a:lnTo>
                    <a:pt x="1542488" y="1092200"/>
                  </a:lnTo>
                  <a:lnTo>
                    <a:pt x="1565664" y="1079500"/>
                  </a:lnTo>
                  <a:lnTo>
                    <a:pt x="1575896" y="1066800"/>
                  </a:lnTo>
                  <a:lnTo>
                    <a:pt x="1585164" y="1054100"/>
                  </a:lnTo>
                  <a:lnTo>
                    <a:pt x="1598686" y="1028700"/>
                  </a:lnTo>
                  <a:close/>
                </a:path>
                <a:path w="2406650" h="1625600">
                  <a:moveTo>
                    <a:pt x="1892424" y="812800"/>
                  </a:moveTo>
                  <a:lnTo>
                    <a:pt x="300142" y="812800"/>
                  </a:lnTo>
                  <a:lnTo>
                    <a:pt x="289481" y="825500"/>
                  </a:lnTo>
                  <a:lnTo>
                    <a:pt x="267575" y="850900"/>
                  </a:lnTo>
                  <a:lnTo>
                    <a:pt x="245732" y="863600"/>
                  </a:lnTo>
                  <a:lnTo>
                    <a:pt x="221522" y="876300"/>
                  </a:lnTo>
                  <a:lnTo>
                    <a:pt x="196729" y="889000"/>
                  </a:lnTo>
                  <a:lnTo>
                    <a:pt x="173136" y="901700"/>
                  </a:lnTo>
                  <a:lnTo>
                    <a:pt x="160722" y="914400"/>
                  </a:lnTo>
                  <a:lnTo>
                    <a:pt x="149276" y="927100"/>
                  </a:lnTo>
                  <a:lnTo>
                    <a:pt x="137955" y="939800"/>
                  </a:lnTo>
                  <a:lnTo>
                    <a:pt x="125917" y="952500"/>
                  </a:lnTo>
                  <a:lnTo>
                    <a:pt x="103044" y="977900"/>
                  </a:lnTo>
                  <a:lnTo>
                    <a:pt x="68804" y="1003300"/>
                  </a:lnTo>
                  <a:lnTo>
                    <a:pt x="35576" y="1028700"/>
                  </a:lnTo>
                  <a:lnTo>
                    <a:pt x="15740" y="1054100"/>
                  </a:lnTo>
                  <a:lnTo>
                    <a:pt x="8551" y="1066800"/>
                  </a:lnTo>
                  <a:lnTo>
                    <a:pt x="4977" y="1092200"/>
                  </a:lnTo>
                  <a:lnTo>
                    <a:pt x="2850" y="1117600"/>
                  </a:lnTo>
                  <a:lnTo>
                    <a:pt x="0" y="1143000"/>
                  </a:lnTo>
                  <a:lnTo>
                    <a:pt x="15008" y="1106671"/>
                  </a:lnTo>
                  <a:lnTo>
                    <a:pt x="14791" y="1104900"/>
                  </a:lnTo>
                  <a:lnTo>
                    <a:pt x="13050" y="1079500"/>
                  </a:lnTo>
                  <a:lnTo>
                    <a:pt x="15795" y="1066800"/>
                  </a:lnTo>
                  <a:lnTo>
                    <a:pt x="26145" y="1054100"/>
                  </a:lnTo>
                  <a:lnTo>
                    <a:pt x="47219" y="1028700"/>
                  </a:lnTo>
                  <a:lnTo>
                    <a:pt x="1598686" y="1028700"/>
                  </a:lnTo>
                  <a:lnTo>
                    <a:pt x="1605447" y="1016000"/>
                  </a:lnTo>
                  <a:lnTo>
                    <a:pt x="1619061" y="1003300"/>
                  </a:lnTo>
                  <a:lnTo>
                    <a:pt x="1634650" y="990600"/>
                  </a:lnTo>
                  <a:lnTo>
                    <a:pt x="1651377" y="965200"/>
                  </a:lnTo>
                  <a:lnTo>
                    <a:pt x="1668406" y="952500"/>
                  </a:lnTo>
                  <a:lnTo>
                    <a:pt x="1694298" y="927100"/>
                  </a:lnTo>
                  <a:lnTo>
                    <a:pt x="1711516" y="914400"/>
                  </a:lnTo>
                  <a:lnTo>
                    <a:pt x="1725583" y="914400"/>
                  </a:lnTo>
                  <a:lnTo>
                    <a:pt x="1735020" y="901700"/>
                  </a:lnTo>
                  <a:lnTo>
                    <a:pt x="1762843" y="876300"/>
                  </a:lnTo>
                  <a:lnTo>
                    <a:pt x="1796509" y="863600"/>
                  </a:lnTo>
                  <a:lnTo>
                    <a:pt x="1811616" y="863600"/>
                  </a:lnTo>
                  <a:lnTo>
                    <a:pt x="1825945" y="850900"/>
                  </a:lnTo>
                  <a:lnTo>
                    <a:pt x="1857282" y="825500"/>
                  </a:lnTo>
                  <a:lnTo>
                    <a:pt x="1880166" y="825500"/>
                  </a:lnTo>
                  <a:lnTo>
                    <a:pt x="1892424" y="812800"/>
                  </a:lnTo>
                  <a:close/>
                </a:path>
                <a:path w="2406650" h="1625600">
                  <a:moveTo>
                    <a:pt x="1725583" y="914400"/>
                  </a:moveTo>
                  <a:lnTo>
                    <a:pt x="1720759" y="914400"/>
                  </a:lnTo>
                  <a:lnTo>
                    <a:pt x="1714941" y="927100"/>
                  </a:lnTo>
                  <a:lnTo>
                    <a:pt x="1708583" y="927100"/>
                  </a:lnTo>
                  <a:lnTo>
                    <a:pt x="1703041" y="939800"/>
                  </a:lnTo>
                  <a:lnTo>
                    <a:pt x="1704867" y="939800"/>
                  </a:lnTo>
                  <a:lnTo>
                    <a:pt x="1716146" y="927100"/>
                  </a:lnTo>
                  <a:lnTo>
                    <a:pt x="1725583" y="914400"/>
                  </a:lnTo>
                  <a:close/>
                </a:path>
                <a:path w="2406650" h="1625600">
                  <a:moveTo>
                    <a:pt x="377803" y="762000"/>
                  </a:moveTo>
                  <a:lnTo>
                    <a:pt x="375448" y="762000"/>
                  </a:lnTo>
                  <a:lnTo>
                    <a:pt x="365182" y="774700"/>
                  </a:lnTo>
                  <a:lnTo>
                    <a:pt x="346273" y="800100"/>
                  </a:lnTo>
                  <a:lnTo>
                    <a:pt x="314193" y="812800"/>
                  </a:lnTo>
                  <a:lnTo>
                    <a:pt x="1904500" y="812800"/>
                  </a:lnTo>
                  <a:lnTo>
                    <a:pt x="1951720" y="800100"/>
                  </a:lnTo>
                  <a:lnTo>
                    <a:pt x="1975254" y="787400"/>
                  </a:lnTo>
                  <a:lnTo>
                    <a:pt x="364963" y="787400"/>
                  </a:lnTo>
                  <a:lnTo>
                    <a:pt x="368842" y="774700"/>
                  </a:lnTo>
                  <a:lnTo>
                    <a:pt x="373768" y="774700"/>
                  </a:lnTo>
                  <a:lnTo>
                    <a:pt x="377803" y="762000"/>
                  </a:lnTo>
                  <a:close/>
                </a:path>
                <a:path w="2406650" h="1625600">
                  <a:moveTo>
                    <a:pt x="2035746" y="0"/>
                  </a:moveTo>
                  <a:lnTo>
                    <a:pt x="1609000" y="0"/>
                  </a:lnTo>
                  <a:lnTo>
                    <a:pt x="1557306" y="12700"/>
                  </a:lnTo>
                  <a:lnTo>
                    <a:pt x="1511009" y="25400"/>
                  </a:lnTo>
                  <a:lnTo>
                    <a:pt x="1494605" y="38100"/>
                  </a:lnTo>
                  <a:lnTo>
                    <a:pt x="1478939" y="38100"/>
                  </a:lnTo>
                  <a:lnTo>
                    <a:pt x="1448051" y="63500"/>
                  </a:lnTo>
                  <a:lnTo>
                    <a:pt x="1400366" y="63500"/>
                  </a:lnTo>
                  <a:lnTo>
                    <a:pt x="1385092" y="76200"/>
                  </a:lnTo>
                  <a:lnTo>
                    <a:pt x="1372688" y="76200"/>
                  </a:lnTo>
                  <a:lnTo>
                    <a:pt x="1361121" y="88900"/>
                  </a:lnTo>
                  <a:lnTo>
                    <a:pt x="1349734" y="101600"/>
                  </a:lnTo>
                  <a:lnTo>
                    <a:pt x="1337872" y="101600"/>
                  </a:lnTo>
                  <a:lnTo>
                    <a:pt x="1322473" y="114300"/>
                  </a:lnTo>
                  <a:lnTo>
                    <a:pt x="1306841" y="127000"/>
                  </a:lnTo>
                  <a:lnTo>
                    <a:pt x="1290985" y="127000"/>
                  </a:lnTo>
                  <a:lnTo>
                    <a:pt x="1274914" y="139700"/>
                  </a:lnTo>
                  <a:lnTo>
                    <a:pt x="1251151" y="139700"/>
                  </a:lnTo>
                  <a:lnTo>
                    <a:pt x="1239189" y="152400"/>
                  </a:lnTo>
                  <a:lnTo>
                    <a:pt x="1227695" y="152400"/>
                  </a:lnTo>
                  <a:lnTo>
                    <a:pt x="1215392" y="165100"/>
                  </a:lnTo>
                  <a:lnTo>
                    <a:pt x="1203642" y="165100"/>
                  </a:lnTo>
                  <a:lnTo>
                    <a:pt x="1192114" y="177800"/>
                  </a:lnTo>
                  <a:lnTo>
                    <a:pt x="1180476" y="177800"/>
                  </a:lnTo>
                  <a:lnTo>
                    <a:pt x="1118368" y="228600"/>
                  </a:lnTo>
                  <a:lnTo>
                    <a:pt x="1086772" y="241300"/>
                  </a:lnTo>
                  <a:lnTo>
                    <a:pt x="1054558" y="266700"/>
                  </a:lnTo>
                  <a:lnTo>
                    <a:pt x="1031389" y="266700"/>
                  </a:lnTo>
                  <a:lnTo>
                    <a:pt x="1019309" y="279400"/>
                  </a:lnTo>
                  <a:lnTo>
                    <a:pt x="1007339" y="279400"/>
                  </a:lnTo>
                  <a:lnTo>
                    <a:pt x="988793" y="292100"/>
                  </a:lnTo>
                  <a:lnTo>
                    <a:pt x="973752" y="304800"/>
                  </a:lnTo>
                  <a:lnTo>
                    <a:pt x="959765" y="330200"/>
                  </a:lnTo>
                  <a:lnTo>
                    <a:pt x="944380" y="342900"/>
                  </a:lnTo>
                  <a:lnTo>
                    <a:pt x="932824" y="355600"/>
                  </a:lnTo>
                  <a:lnTo>
                    <a:pt x="920401" y="355600"/>
                  </a:lnTo>
                  <a:lnTo>
                    <a:pt x="908163" y="368300"/>
                  </a:lnTo>
                  <a:lnTo>
                    <a:pt x="897162" y="368300"/>
                  </a:lnTo>
                  <a:lnTo>
                    <a:pt x="888262" y="381000"/>
                  </a:lnTo>
                  <a:lnTo>
                    <a:pt x="880838" y="393700"/>
                  </a:lnTo>
                  <a:lnTo>
                    <a:pt x="873706" y="406400"/>
                  </a:lnTo>
                  <a:lnTo>
                    <a:pt x="865682" y="419100"/>
                  </a:lnTo>
                  <a:lnTo>
                    <a:pt x="858329" y="431800"/>
                  </a:lnTo>
                  <a:lnTo>
                    <a:pt x="850402" y="431800"/>
                  </a:lnTo>
                  <a:lnTo>
                    <a:pt x="842245" y="444500"/>
                  </a:lnTo>
                  <a:lnTo>
                    <a:pt x="834203" y="457200"/>
                  </a:lnTo>
                  <a:lnTo>
                    <a:pt x="816272" y="469900"/>
                  </a:lnTo>
                  <a:lnTo>
                    <a:pt x="801204" y="495300"/>
                  </a:lnTo>
                  <a:lnTo>
                    <a:pt x="771245" y="546100"/>
                  </a:lnTo>
                  <a:lnTo>
                    <a:pt x="735726" y="584200"/>
                  </a:lnTo>
                  <a:lnTo>
                    <a:pt x="692546" y="609600"/>
                  </a:lnTo>
                  <a:lnTo>
                    <a:pt x="684368" y="622300"/>
                  </a:lnTo>
                  <a:lnTo>
                    <a:pt x="669244" y="635000"/>
                  </a:lnTo>
                  <a:lnTo>
                    <a:pt x="661066" y="635000"/>
                  </a:lnTo>
                  <a:lnTo>
                    <a:pt x="630122" y="660400"/>
                  </a:lnTo>
                  <a:lnTo>
                    <a:pt x="610656" y="673100"/>
                  </a:lnTo>
                  <a:lnTo>
                    <a:pt x="592496" y="673100"/>
                  </a:lnTo>
                  <a:lnTo>
                    <a:pt x="565471" y="685800"/>
                  </a:lnTo>
                  <a:lnTo>
                    <a:pt x="519409" y="698500"/>
                  </a:lnTo>
                  <a:lnTo>
                    <a:pt x="506952" y="711200"/>
                  </a:lnTo>
                  <a:lnTo>
                    <a:pt x="495220" y="723900"/>
                  </a:lnTo>
                  <a:lnTo>
                    <a:pt x="483778" y="723900"/>
                  </a:lnTo>
                  <a:lnTo>
                    <a:pt x="472191" y="736600"/>
                  </a:lnTo>
                  <a:lnTo>
                    <a:pt x="429094" y="762000"/>
                  </a:lnTo>
                  <a:lnTo>
                    <a:pt x="398671" y="774700"/>
                  </a:lnTo>
                  <a:lnTo>
                    <a:pt x="378984" y="787400"/>
                  </a:lnTo>
                  <a:lnTo>
                    <a:pt x="1998738" y="787400"/>
                  </a:lnTo>
                  <a:lnTo>
                    <a:pt x="2046157" y="762000"/>
                  </a:lnTo>
                  <a:lnTo>
                    <a:pt x="2091299" y="749300"/>
                  </a:lnTo>
                  <a:lnTo>
                    <a:pt x="2142440" y="749300"/>
                  </a:lnTo>
                  <a:lnTo>
                    <a:pt x="2171810" y="736600"/>
                  </a:lnTo>
                  <a:lnTo>
                    <a:pt x="2219294" y="723900"/>
                  </a:lnTo>
                  <a:lnTo>
                    <a:pt x="2231752" y="711200"/>
                  </a:lnTo>
                  <a:lnTo>
                    <a:pt x="2243484" y="698500"/>
                  </a:lnTo>
                  <a:lnTo>
                    <a:pt x="2254926" y="698500"/>
                  </a:lnTo>
                  <a:lnTo>
                    <a:pt x="2266513" y="685800"/>
                  </a:lnTo>
                  <a:lnTo>
                    <a:pt x="2283599" y="673100"/>
                  </a:lnTo>
                  <a:lnTo>
                    <a:pt x="2298803" y="660400"/>
                  </a:lnTo>
                  <a:lnTo>
                    <a:pt x="2313601" y="635000"/>
                  </a:lnTo>
                  <a:lnTo>
                    <a:pt x="2329472" y="622300"/>
                  </a:lnTo>
                  <a:lnTo>
                    <a:pt x="2342433" y="622300"/>
                  </a:lnTo>
                  <a:lnTo>
                    <a:pt x="2357199" y="609600"/>
                  </a:lnTo>
                  <a:lnTo>
                    <a:pt x="2369905" y="609600"/>
                  </a:lnTo>
                  <a:lnTo>
                    <a:pt x="2376690" y="596900"/>
                  </a:lnTo>
                  <a:lnTo>
                    <a:pt x="2390364" y="520700"/>
                  </a:lnTo>
                  <a:lnTo>
                    <a:pt x="2399670" y="457200"/>
                  </a:lnTo>
                  <a:lnTo>
                    <a:pt x="2404839" y="406400"/>
                  </a:lnTo>
                  <a:lnTo>
                    <a:pt x="2406101" y="368300"/>
                  </a:lnTo>
                  <a:lnTo>
                    <a:pt x="2403687" y="330200"/>
                  </a:lnTo>
                  <a:lnTo>
                    <a:pt x="2397826" y="304800"/>
                  </a:lnTo>
                  <a:lnTo>
                    <a:pt x="2388751" y="266700"/>
                  </a:lnTo>
                  <a:lnTo>
                    <a:pt x="2376690" y="215900"/>
                  </a:lnTo>
                  <a:lnTo>
                    <a:pt x="2370045" y="203200"/>
                  </a:lnTo>
                  <a:lnTo>
                    <a:pt x="2353724" y="177800"/>
                  </a:lnTo>
                  <a:lnTo>
                    <a:pt x="2333146" y="152400"/>
                  </a:lnTo>
                  <a:lnTo>
                    <a:pt x="2313732" y="127000"/>
                  </a:lnTo>
                  <a:lnTo>
                    <a:pt x="2286468" y="88900"/>
                  </a:lnTo>
                  <a:lnTo>
                    <a:pt x="2215424" y="38100"/>
                  </a:lnTo>
                  <a:lnTo>
                    <a:pt x="2187815" y="25400"/>
                  </a:lnTo>
                  <a:lnTo>
                    <a:pt x="2176647" y="25400"/>
                  </a:lnTo>
                  <a:lnTo>
                    <a:pt x="2164977" y="12700"/>
                  </a:lnTo>
                  <a:lnTo>
                    <a:pt x="2088183" y="12700"/>
                  </a:lnTo>
                  <a:lnTo>
                    <a:pt x="2035746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5107896" y="4023794"/>
              <a:ext cx="2406650" cy="1637030"/>
            </a:xfrm>
            <a:custGeom>
              <a:avLst/>
              <a:gdLst/>
              <a:ahLst/>
              <a:cxnLst/>
              <a:rect l="l" t="t" r="r" b="b"/>
              <a:pathLst>
                <a:path w="2406650" h="1637029">
                  <a:moveTo>
                    <a:pt x="0" y="1148995"/>
                  </a:moveTo>
                  <a:lnTo>
                    <a:pt x="2850" y="1125060"/>
                  </a:lnTo>
                  <a:lnTo>
                    <a:pt x="4977" y="1100908"/>
                  </a:lnTo>
                  <a:lnTo>
                    <a:pt x="8550" y="1077190"/>
                  </a:lnTo>
                  <a:lnTo>
                    <a:pt x="15740" y="1054557"/>
                  </a:lnTo>
                  <a:lnTo>
                    <a:pt x="35576" y="1030494"/>
                  </a:lnTo>
                  <a:lnTo>
                    <a:pt x="68803" y="1002798"/>
                  </a:lnTo>
                  <a:lnTo>
                    <a:pt x="103044" y="977372"/>
                  </a:lnTo>
                  <a:lnTo>
                    <a:pt x="125918" y="960119"/>
                  </a:lnTo>
                  <a:lnTo>
                    <a:pt x="137955" y="948552"/>
                  </a:lnTo>
                  <a:lnTo>
                    <a:pt x="149276" y="936203"/>
                  </a:lnTo>
                  <a:lnTo>
                    <a:pt x="160722" y="924007"/>
                  </a:lnTo>
                  <a:lnTo>
                    <a:pt x="173136" y="912901"/>
                  </a:lnTo>
                  <a:lnTo>
                    <a:pt x="196729" y="897027"/>
                  </a:lnTo>
                  <a:lnTo>
                    <a:pt x="221522" y="882743"/>
                  </a:lnTo>
                  <a:lnTo>
                    <a:pt x="245731" y="867799"/>
                  </a:lnTo>
                  <a:lnTo>
                    <a:pt x="267574" y="849942"/>
                  </a:lnTo>
                  <a:lnTo>
                    <a:pt x="289481" y="827208"/>
                  </a:lnTo>
                  <a:lnTo>
                    <a:pt x="300141" y="817791"/>
                  </a:lnTo>
                  <a:lnTo>
                    <a:pt x="314193" y="812644"/>
                  </a:lnTo>
                  <a:lnTo>
                    <a:pt x="346273" y="802723"/>
                  </a:lnTo>
                  <a:lnTo>
                    <a:pt x="365182" y="783689"/>
                  </a:lnTo>
                  <a:lnTo>
                    <a:pt x="375448" y="773213"/>
                  </a:lnTo>
                  <a:lnTo>
                    <a:pt x="379009" y="769607"/>
                  </a:lnTo>
                  <a:lnTo>
                    <a:pt x="377803" y="771181"/>
                  </a:lnTo>
                  <a:lnTo>
                    <a:pt x="373768" y="776246"/>
                  </a:lnTo>
                  <a:lnTo>
                    <a:pt x="368842" y="783114"/>
                  </a:lnTo>
                  <a:lnTo>
                    <a:pt x="364963" y="790095"/>
                  </a:lnTo>
                  <a:lnTo>
                    <a:pt x="364068" y="795500"/>
                  </a:lnTo>
                  <a:lnTo>
                    <a:pt x="368095" y="797639"/>
                  </a:lnTo>
                  <a:lnTo>
                    <a:pt x="429093" y="767576"/>
                  </a:lnTo>
                  <a:lnTo>
                    <a:pt x="472190" y="739764"/>
                  </a:lnTo>
                  <a:lnTo>
                    <a:pt x="495219" y="722971"/>
                  </a:lnTo>
                  <a:lnTo>
                    <a:pt x="506952" y="714970"/>
                  </a:lnTo>
                  <a:lnTo>
                    <a:pt x="519409" y="708285"/>
                  </a:lnTo>
                  <a:lnTo>
                    <a:pt x="565470" y="690093"/>
                  </a:lnTo>
                  <a:lnTo>
                    <a:pt x="592495" y="682641"/>
                  </a:lnTo>
                  <a:lnTo>
                    <a:pt x="610655" y="677990"/>
                  </a:lnTo>
                  <a:lnTo>
                    <a:pt x="630122" y="668198"/>
                  </a:lnTo>
                  <a:lnTo>
                    <a:pt x="661066" y="645326"/>
                  </a:lnTo>
                  <a:lnTo>
                    <a:pt x="669244" y="637800"/>
                  </a:lnTo>
                  <a:lnTo>
                    <a:pt x="676806" y="629587"/>
                  </a:lnTo>
                  <a:lnTo>
                    <a:pt x="684368" y="621373"/>
                  </a:lnTo>
                  <a:lnTo>
                    <a:pt x="692546" y="613847"/>
                  </a:lnTo>
                  <a:lnTo>
                    <a:pt x="717167" y="596288"/>
                  </a:lnTo>
                  <a:lnTo>
                    <a:pt x="735726" y="585003"/>
                  </a:lnTo>
                  <a:lnTo>
                    <a:pt x="752369" y="572401"/>
                  </a:lnTo>
                  <a:lnTo>
                    <a:pt x="771244" y="550888"/>
                  </a:lnTo>
                  <a:lnTo>
                    <a:pt x="786896" y="527126"/>
                  </a:lnTo>
                  <a:lnTo>
                    <a:pt x="801203" y="502351"/>
                  </a:lnTo>
                  <a:lnTo>
                    <a:pt x="816271" y="478236"/>
                  </a:lnTo>
                  <a:lnTo>
                    <a:pt x="834202" y="456450"/>
                  </a:lnTo>
                  <a:lnTo>
                    <a:pt x="842245" y="448735"/>
                  </a:lnTo>
                  <a:lnTo>
                    <a:pt x="850401" y="441121"/>
                  </a:lnTo>
                  <a:lnTo>
                    <a:pt x="858328" y="433303"/>
                  </a:lnTo>
                  <a:lnTo>
                    <a:pt x="865682" y="424971"/>
                  </a:lnTo>
                  <a:lnTo>
                    <a:pt x="873706" y="413242"/>
                  </a:lnTo>
                  <a:lnTo>
                    <a:pt x="880838" y="400838"/>
                  </a:lnTo>
                  <a:lnTo>
                    <a:pt x="888262" y="388695"/>
                  </a:lnTo>
                  <a:lnTo>
                    <a:pt x="897161" y="377752"/>
                  </a:lnTo>
                  <a:lnTo>
                    <a:pt x="908162" y="368921"/>
                  </a:lnTo>
                  <a:lnTo>
                    <a:pt x="920401" y="361613"/>
                  </a:lnTo>
                  <a:lnTo>
                    <a:pt x="932824" y="354504"/>
                  </a:lnTo>
                  <a:lnTo>
                    <a:pt x="944380" y="346273"/>
                  </a:lnTo>
                  <a:lnTo>
                    <a:pt x="959764" y="329607"/>
                  </a:lnTo>
                  <a:lnTo>
                    <a:pt x="973751" y="311069"/>
                  </a:lnTo>
                  <a:lnTo>
                    <a:pt x="988792" y="294394"/>
                  </a:lnTo>
                  <a:lnTo>
                    <a:pt x="1007339" y="283314"/>
                  </a:lnTo>
                  <a:lnTo>
                    <a:pt x="1019309" y="279758"/>
                  </a:lnTo>
                  <a:lnTo>
                    <a:pt x="1031389" y="276455"/>
                  </a:lnTo>
                  <a:lnTo>
                    <a:pt x="1043249" y="272647"/>
                  </a:lnTo>
                  <a:lnTo>
                    <a:pt x="1086772" y="249139"/>
                  </a:lnTo>
                  <a:lnTo>
                    <a:pt x="1149537" y="209422"/>
                  </a:lnTo>
                  <a:lnTo>
                    <a:pt x="1192114" y="180720"/>
                  </a:lnTo>
                  <a:lnTo>
                    <a:pt x="1203642" y="172374"/>
                  </a:lnTo>
                  <a:lnTo>
                    <a:pt x="1215392" y="164409"/>
                  </a:lnTo>
                  <a:lnTo>
                    <a:pt x="1227694" y="157397"/>
                  </a:lnTo>
                  <a:lnTo>
                    <a:pt x="1239188" y="152726"/>
                  </a:lnTo>
                  <a:lnTo>
                    <a:pt x="1251150" y="149195"/>
                  </a:lnTo>
                  <a:lnTo>
                    <a:pt x="1263189" y="145830"/>
                  </a:lnTo>
                  <a:lnTo>
                    <a:pt x="1274914" y="141657"/>
                  </a:lnTo>
                  <a:lnTo>
                    <a:pt x="1322473" y="118707"/>
                  </a:lnTo>
                  <a:lnTo>
                    <a:pt x="1361120" y="93713"/>
                  </a:lnTo>
                  <a:lnTo>
                    <a:pt x="1372688" y="85441"/>
                  </a:lnTo>
                  <a:lnTo>
                    <a:pt x="1385091" y="78698"/>
                  </a:lnTo>
                  <a:lnTo>
                    <a:pt x="1400365" y="73382"/>
                  </a:lnTo>
                  <a:lnTo>
                    <a:pt x="1416157" y="69601"/>
                  </a:lnTo>
                  <a:lnTo>
                    <a:pt x="1432155" y="66433"/>
                  </a:lnTo>
                  <a:lnTo>
                    <a:pt x="1448050" y="62959"/>
                  </a:lnTo>
                  <a:lnTo>
                    <a:pt x="1463568" y="54520"/>
                  </a:lnTo>
                  <a:lnTo>
                    <a:pt x="1478939" y="45702"/>
                  </a:lnTo>
                  <a:lnTo>
                    <a:pt x="1494605" y="37642"/>
                  </a:lnTo>
                  <a:lnTo>
                    <a:pt x="1557305" y="20360"/>
                  </a:lnTo>
                  <a:lnTo>
                    <a:pt x="1608999" y="10227"/>
                  </a:lnTo>
                  <a:lnTo>
                    <a:pt x="1651047" y="2851"/>
                  </a:lnTo>
                  <a:lnTo>
                    <a:pt x="1668405" y="0"/>
                  </a:lnTo>
                  <a:lnTo>
                    <a:pt x="1720878" y="1607"/>
                  </a:lnTo>
                  <a:lnTo>
                    <a:pt x="1773360" y="3004"/>
                  </a:lnTo>
                  <a:lnTo>
                    <a:pt x="1825847" y="4295"/>
                  </a:lnTo>
                  <a:lnTo>
                    <a:pt x="1878334" y="5586"/>
                  </a:lnTo>
                  <a:lnTo>
                    <a:pt x="1930816" y="6982"/>
                  </a:lnTo>
                  <a:lnTo>
                    <a:pt x="1983288" y="8590"/>
                  </a:lnTo>
                  <a:lnTo>
                    <a:pt x="2035745" y="10515"/>
                  </a:lnTo>
                  <a:lnTo>
                    <a:pt x="2088183" y="12863"/>
                  </a:lnTo>
                  <a:lnTo>
                    <a:pt x="2140595" y="15739"/>
                  </a:lnTo>
                  <a:lnTo>
                    <a:pt x="2187814" y="31480"/>
                  </a:lnTo>
                  <a:lnTo>
                    <a:pt x="2251003" y="70866"/>
                  </a:lnTo>
                  <a:lnTo>
                    <a:pt x="2286468" y="97990"/>
                  </a:lnTo>
                  <a:lnTo>
                    <a:pt x="2313732" y="125918"/>
                  </a:lnTo>
                  <a:lnTo>
                    <a:pt x="2353724" y="184486"/>
                  </a:lnTo>
                  <a:lnTo>
                    <a:pt x="2376690" y="220356"/>
                  </a:lnTo>
                  <a:lnTo>
                    <a:pt x="2388750" y="268270"/>
                  </a:lnTo>
                  <a:lnTo>
                    <a:pt x="2397826" y="307154"/>
                  </a:lnTo>
                  <a:lnTo>
                    <a:pt x="2406100" y="375493"/>
                  </a:lnTo>
                  <a:lnTo>
                    <a:pt x="2404839" y="413781"/>
                  </a:lnTo>
                  <a:lnTo>
                    <a:pt x="2399670" y="460701"/>
                  </a:lnTo>
                  <a:lnTo>
                    <a:pt x="2390364" y="520672"/>
                  </a:lnTo>
                  <a:lnTo>
                    <a:pt x="2376690" y="598108"/>
                  </a:lnTo>
                  <a:lnTo>
                    <a:pt x="2342433" y="622092"/>
                  </a:lnTo>
                  <a:lnTo>
                    <a:pt x="2329472" y="629587"/>
                  </a:lnTo>
                  <a:lnTo>
                    <a:pt x="2313600" y="645257"/>
                  </a:lnTo>
                  <a:lnTo>
                    <a:pt x="2298802" y="662136"/>
                  </a:lnTo>
                  <a:lnTo>
                    <a:pt x="2283599" y="678479"/>
                  </a:lnTo>
                  <a:lnTo>
                    <a:pt x="2266512" y="692546"/>
                  </a:lnTo>
                  <a:lnTo>
                    <a:pt x="2254925" y="700811"/>
                  </a:lnTo>
                  <a:lnTo>
                    <a:pt x="2243483" y="709339"/>
                  </a:lnTo>
                  <a:lnTo>
                    <a:pt x="2171810" y="743617"/>
                  </a:lnTo>
                  <a:lnTo>
                    <a:pt x="2119497" y="756223"/>
                  </a:lnTo>
                  <a:lnTo>
                    <a:pt x="2091298" y="760593"/>
                  </a:lnTo>
                  <a:lnTo>
                    <a:pt x="2046157" y="771243"/>
                  </a:lnTo>
                  <a:lnTo>
                    <a:pt x="2022323" y="778370"/>
                  </a:lnTo>
                  <a:lnTo>
                    <a:pt x="1998738" y="786322"/>
                  </a:lnTo>
                  <a:lnTo>
                    <a:pt x="1975254" y="794605"/>
                  </a:lnTo>
                  <a:lnTo>
                    <a:pt x="1951719" y="802723"/>
                  </a:lnTo>
                  <a:lnTo>
                    <a:pt x="1904500" y="818463"/>
                  </a:lnTo>
                  <a:lnTo>
                    <a:pt x="1892423" y="821841"/>
                  </a:lnTo>
                  <a:lnTo>
                    <a:pt x="1880165" y="824849"/>
                  </a:lnTo>
                  <a:lnTo>
                    <a:pt x="1868270" y="828598"/>
                  </a:lnTo>
                  <a:lnTo>
                    <a:pt x="1857281" y="834202"/>
                  </a:lnTo>
                  <a:lnTo>
                    <a:pt x="1825945" y="855688"/>
                  </a:lnTo>
                  <a:lnTo>
                    <a:pt x="1811615" y="864922"/>
                  </a:lnTo>
                  <a:lnTo>
                    <a:pt x="1796509" y="870600"/>
                  </a:lnTo>
                  <a:lnTo>
                    <a:pt x="1762843" y="881422"/>
                  </a:lnTo>
                  <a:lnTo>
                    <a:pt x="1735019" y="909317"/>
                  </a:lnTo>
                  <a:lnTo>
                    <a:pt x="1704867" y="939864"/>
                  </a:lnTo>
                  <a:lnTo>
                    <a:pt x="1668405" y="960119"/>
                  </a:lnTo>
                  <a:lnTo>
                    <a:pt x="1634649" y="989581"/>
                  </a:lnTo>
                  <a:lnTo>
                    <a:pt x="1605446" y="1023078"/>
                  </a:lnTo>
                  <a:lnTo>
                    <a:pt x="1585164" y="1054196"/>
                  </a:lnTo>
                  <a:lnTo>
                    <a:pt x="1575896" y="1067944"/>
                  </a:lnTo>
                  <a:lnTo>
                    <a:pt x="1565664" y="1078933"/>
                  </a:lnTo>
                  <a:lnTo>
                    <a:pt x="1542488" y="1101777"/>
                  </a:lnTo>
                  <a:lnTo>
                    <a:pt x="1538948" y="1113756"/>
                  </a:lnTo>
                  <a:lnTo>
                    <a:pt x="1509159" y="1177704"/>
                  </a:lnTo>
                  <a:lnTo>
                    <a:pt x="1471043" y="1233328"/>
                  </a:lnTo>
                  <a:lnTo>
                    <a:pt x="1463790" y="1243434"/>
                  </a:lnTo>
                  <a:lnTo>
                    <a:pt x="1453123" y="1277182"/>
                  </a:lnTo>
                  <a:lnTo>
                    <a:pt x="1449583" y="1288783"/>
                  </a:lnTo>
                  <a:lnTo>
                    <a:pt x="1446654" y="1291380"/>
                  </a:lnTo>
                  <a:lnTo>
                    <a:pt x="1437821" y="1298115"/>
                  </a:lnTo>
                  <a:lnTo>
                    <a:pt x="1416570" y="1322132"/>
                  </a:lnTo>
                  <a:lnTo>
                    <a:pt x="1408668" y="1333990"/>
                  </a:lnTo>
                  <a:lnTo>
                    <a:pt x="1401737" y="1346610"/>
                  </a:lnTo>
                  <a:lnTo>
                    <a:pt x="1394354" y="1358795"/>
                  </a:lnTo>
                  <a:lnTo>
                    <a:pt x="1385091" y="1369352"/>
                  </a:lnTo>
                  <a:lnTo>
                    <a:pt x="1362085" y="1385937"/>
                  </a:lnTo>
                  <a:lnTo>
                    <a:pt x="1337227" y="1400141"/>
                  </a:lnTo>
                  <a:lnTo>
                    <a:pt x="1312691" y="1414689"/>
                  </a:lnTo>
                  <a:lnTo>
                    <a:pt x="1290653" y="1432310"/>
                  </a:lnTo>
                  <a:lnTo>
                    <a:pt x="1271588" y="1451708"/>
                  </a:lnTo>
                  <a:lnTo>
                    <a:pt x="1255216" y="1467324"/>
                  </a:lnTo>
                  <a:lnTo>
                    <a:pt x="1236888" y="1481172"/>
                  </a:lnTo>
                  <a:lnTo>
                    <a:pt x="1211955" y="1495269"/>
                  </a:lnTo>
                  <a:lnTo>
                    <a:pt x="1200356" y="1499725"/>
                  </a:lnTo>
                  <a:lnTo>
                    <a:pt x="1188219" y="1502899"/>
                  </a:lnTo>
                  <a:lnTo>
                    <a:pt x="1176145" y="1506193"/>
                  </a:lnTo>
                  <a:lnTo>
                    <a:pt x="1164736" y="1511008"/>
                  </a:lnTo>
                  <a:lnTo>
                    <a:pt x="1141075" y="1526915"/>
                  </a:lnTo>
                  <a:lnTo>
                    <a:pt x="1118574" y="1544892"/>
                  </a:lnTo>
                  <a:lnTo>
                    <a:pt x="1095545" y="1561667"/>
                  </a:lnTo>
                  <a:lnTo>
                    <a:pt x="1070298" y="1573967"/>
                  </a:lnTo>
                  <a:lnTo>
                    <a:pt x="1038565" y="1584567"/>
                  </a:lnTo>
                  <a:lnTo>
                    <a:pt x="1020756" y="1590550"/>
                  </a:lnTo>
                  <a:lnTo>
                    <a:pt x="1041265" y="1582686"/>
                  </a:lnTo>
                  <a:lnTo>
                    <a:pt x="1038405" y="1582951"/>
                  </a:lnTo>
                  <a:lnTo>
                    <a:pt x="1000779" y="1593380"/>
                  </a:lnTo>
                  <a:lnTo>
                    <a:pt x="960119" y="1605446"/>
                  </a:lnTo>
                  <a:lnTo>
                    <a:pt x="900982" y="1624761"/>
                  </a:lnTo>
                  <a:lnTo>
                    <a:pt x="865682" y="1636925"/>
                  </a:lnTo>
                  <a:lnTo>
                    <a:pt x="816191" y="1635005"/>
                  </a:lnTo>
                  <a:lnTo>
                    <a:pt x="766668" y="1633521"/>
                  </a:lnTo>
                  <a:lnTo>
                    <a:pt x="717136" y="1632147"/>
                  </a:lnTo>
                  <a:lnTo>
                    <a:pt x="667621" y="1630555"/>
                  </a:lnTo>
                  <a:lnTo>
                    <a:pt x="618146" y="1628416"/>
                  </a:lnTo>
                  <a:lnTo>
                    <a:pt x="568734" y="1625402"/>
                  </a:lnTo>
                  <a:lnTo>
                    <a:pt x="519409" y="1621186"/>
                  </a:lnTo>
                  <a:lnTo>
                    <a:pt x="478449" y="1614164"/>
                  </a:lnTo>
                  <a:lnTo>
                    <a:pt x="433792" y="1602331"/>
                  </a:lnTo>
                  <a:lnTo>
                    <a:pt x="388659" y="1588120"/>
                  </a:lnTo>
                  <a:lnTo>
                    <a:pt x="346273" y="1573967"/>
                  </a:lnTo>
                  <a:lnTo>
                    <a:pt x="331370" y="1557155"/>
                  </a:lnTo>
                  <a:lnTo>
                    <a:pt x="323605" y="1549151"/>
                  </a:lnTo>
                  <a:lnTo>
                    <a:pt x="314794" y="1542487"/>
                  </a:lnTo>
                  <a:lnTo>
                    <a:pt x="286009" y="1526783"/>
                  </a:lnTo>
                  <a:lnTo>
                    <a:pt x="272108" y="1522417"/>
                  </a:lnTo>
                  <a:lnTo>
                    <a:pt x="267794" y="1525121"/>
                  </a:lnTo>
                  <a:lnTo>
                    <a:pt x="267769" y="1530625"/>
                  </a:lnTo>
                  <a:lnTo>
                    <a:pt x="266737" y="1534661"/>
                  </a:lnTo>
                  <a:lnTo>
                    <a:pt x="204616" y="1495269"/>
                  </a:lnTo>
                  <a:lnTo>
                    <a:pt x="173493" y="1463285"/>
                  </a:lnTo>
                  <a:lnTo>
                    <a:pt x="158574" y="1446588"/>
                  </a:lnTo>
                  <a:lnTo>
                    <a:pt x="141657" y="1432310"/>
                  </a:lnTo>
                  <a:lnTo>
                    <a:pt x="94438" y="1400831"/>
                  </a:lnTo>
                  <a:lnTo>
                    <a:pt x="61203" y="1352512"/>
                  </a:lnTo>
                  <a:lnTo>
                    <a:pt x="43541" y="1328143"/>
                  </a:lnTo>
                  <a:lnTo>
                    <a:pt x="34627" y="1313767"/>
                  </a:lnTo>
                  <a:lnTo>
                    <a:pt x="27635" y="1295429"/>
                  </a:lnTo>
                  <a:lnTo>
                    <a:pt x="15740" y="1259173"/>
                  </a:lnTo>
                  <a:lnTo>
                    <a:pt x="19254" y="1183575"/>
                  </a:lnTo>
                  <a:lnTo>
                    <a:pt x="17898" y="1133985"/>
                  </a:lnTo>
                  <a:lnTo>
                    <a:pt x="14790" y="1103622"/>
                  </a:lnTo>
                  <a:lnTo>
                    <a:pt x="13050" y="1085705"/>
                  </a:lnTo>
                  <a:lnTo>
                    <a:pt x="15795" y="1073453"/>
                  </a:lnTo>
                  <a:lnTo>
                    <a:pt x="26145" y="1060084"/>
                  </a:lnTo>
                  <a:lnTo>
                    <a:pt x="47219" y="1038818"/>
                  </a:lnTo>
                </a:path>
              </a:pathLst>
            </a:custGeom>
            <a:ln w="13334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124005" y="5197198"/>
            <a:ext cx="4567518" cy="387162"/>
            <a:chOff x="527606" y="5890158"/>
            <a:chExt cx="5176520" cy="438784"/>
          </a:xfrm>
        </p:grpSpPr>
        <p:sp>
          <p:nvSpPr>
            <p:cNvPr id="6" name="object 6"/>
            <p:cNvSpPr/>
            <p:nvPr/>
          </p:nvSpPr>
          <p:spPr>
            <a:xfrm>
              <a:off x="534273" y="5896825"/>
              <a:ext cx="5163185" cy="425450"/>
            </a:xfrm>
            <a:custGeom>
              <a:avLst/>
              <a:gdLst/>
              <a:ahLst/>
              <a:cxnLst/>
              <a:rect l="l" t="t" r="r" b="b"/>
              <a:pathLst>
                <a:path w="5163185" h="425450">
                  <a:moveTo>
                    <a:pt x="5091716" y="0"/>
                  </a:moveTo>
                  <a:lnTo>
                    <a:pt x="70895" y="0"/>
                  </a:lnTo>
                  <a:lnTo>
                    <a:pt x="43299" y="5571"/>
                  </a:lnTo>
                  <a:lnTo>
                    <a:pt x="20764" y="20764"/>
                  </a:lnTo>
                  <a:lnTo>
                    <a:pt x="5571" y="43300"/>
                  </a:lnTo>
                  <a:lnTo>
                    <a:pt x="0" y="70896"/>
                  </a:lnTo>
                  <a:lnTo>
                    <a:pt x="0" y="354476"/>
                  </a:lnTo>
                  <a:lnTo>
                    <a:pt x="5571" y="382072"/>
                  </a:lnTo>
                  <a:lnTo>
                    <a:pt x="20764" y="404607"/>
                  </a:lnTo>
                  <a:lnTo>
                    <a:pt x="43299" y="419801"/>
                  </a:lnTo>
                  <a:lnTo>
                    <a:pt x="70895" y="425372"/>
                  </a:lnTo>
                  <a:lnTo>
                    <a:pt x="5091716" y="425372"/>
                  </a:lnTo>
                  <a:lnTo>
                    <a:pt x="5119312" y="419801"/>
                  </a:lnTo>
                  <a:lnTo>
                    <a:pt x="5141847" y="404607"/>
                  </a:lnTo>
                  <a:lnTo>
                    <a:pt x="5157040" y="382072"/>
                  </a:lnTo>
                  <a:lnTo>
                    <a:pt x="5162612" y="354476"/>
                  </a:lnTo>
                  <a:lnTo>
                    <a:pt x="5162612" y="70896"/>
                  </a:lnTo>
                  <a:lnTo>
                    <a:pt x="5157040" y="43300"/>
                  </a:lnTo>
                  <a:lnTo>
                    <a:pt x="5141847" y="20764"/>
                  </a:lnTo>
                  <a:lnTo>
                    <a:pt x="5119312" y="5571"/>
                  </a:lnTo>
                  <a:lnTo>
                    <a:pt x="5091716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534273" y="5896825"/>
              <a:ext cx="5163185" cy="425450"/>
            </a:xfrm>
            <a:custGeom>
              <a:avLst/>
              <a:gdLst/>
              <a:ahLst/>
              <a:cxnLst/>
              <a:rect l="l" t="t" r="r" b="b"/>
              <a:pathLst>
                <a:path w="5163185" h="425450">
                  <a:moveTo>
                    <a:pt x="0" y="70896"/>
                  </a:moveTo>
                  <a:lnTo>
                    <a:pt x="5571" y="43300"/>
                  </a:lnTo>
                  <a:lnTo>
                    <a:pt x="20764" y="20765"/>
                  </a:lnTo>
                  <a:lnTo>
                    <a:pt x="43299" y="5571"/>
                  </a:lnTo>
                  <a:lnTo>
                    <a:pt x="70895" y="0"/>
                  </a:lnTo>
                  <a:lnTo>
                    <a:pt x="5091716" y="0"/>
                  </a:lnTo>
                  <a:lnTo>
                    <a:pt x="5119312" y="5571"/>
                  </a:lnTo>
                  <a:lnTo>
                    <a:pt x="5141847" y="20765"/>
                  </a:lnTo>
                  <a:lnTo>
                    <a:pt x="5157040" y="43300"/>
                  </a:lnTo>
                  <a:lnTo>
                    <a:pt x="5162612" y="70896"/>
                  </a:lnTo>
                  <a:lnTo>
                    <a:pt x="5162612" y="354476"/>
                  </a:lnTo>
                  <a:lnTo>
                    <a:pt x="5157040" y="382072"/>
                  </a:lnTo>
                  <a:lnTo>
                    <a:pt x="5141847" y="404607"/>
                  </a:lnTo>
                  <a:lnTo>
                    <a:pt x="5119312" y="419801"/>
                  </a:lnTo>
                  <a:lnTo>
                    <a:pt x="5091716" y="425372"/>
                  </a:lnTo>
                  <a:lnTo>
                    <a:pt x="70895" y="425372"/>
                  </a:lnTo>
                  <a:lnTo>
                    <a:pt x="43299" y="419801"/>
                  </a:lnTo>
                  <a:lnTo>
                    <a:pt x="20764" y="404607"/>
                  </a:lnTo>
                  <a:lnTo>
                    <a:pt x="5571" y="382072"/>
                  </a:lnTo>
                  <a:lnTo>
                    <a:pt x="0" y="354476"/>
                  </a:lnTo>
                  <a:lnTo>
                    <a:pt x="0" y="70896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82973" y="192931"/>
            <a:ext cx="5639360" cy="879393"/>
          </a:xfrm>
          <a:prstGeom prst="rect">
            <a:avLst/>
          </a:prstGeom>
        </p:spPr>
        <p:txBody>
          <a:bodyPr vert="horz" wrap="square" lIns="0" tIns="137272" rIns="0" bIns="0" rtlCol="0" anchor="ctr">
            <a:spAutoFit/>
          </a:bodyPr>
          <a:lstStyle/>
          <a:p>
            <a:pPr marL="11206" marR="4483" indent="986170">
              <a:lnSpc>
                <a:spcPct val="73900"/>
              </a:lnSpc>
              <a:spcBef>
                <a:spcPts val="1081"/>
              </a:spcBef>
            </a:pPr>
            <a:r>
              <a:rPr sz="3177" spc="-115" dirty="0"/>
              <a:t>S</a:t>
            </a:r>
            <a:r>
              <a:rPr sz="3177" spc="-110" dirty="0"/>
              <a:t>tron</a:t>
            </a:r>
            <a:r>
              <a:rPr sz="3177" dirty="0"/>
              <a:t>g</a:t>
            </a:r>
            <a:r>
              <a:rPr sz="3177" spc="-221" dirty="0"/>
              <a:t> </a:t>
            </a:r>
            <a:r>
              <a:rPr sz="3177" spc="-110" dirty="0"/>
              <a:t>En</a:t>
            </a:r>
            <a:r>
              <a:rPr sz="3177" spc="-106" dirty="0"/>
              <a:t>tit</a:t>
            </a:r>
            <a:r>
              <a:rPr sz="3177" dirty="0"/>
              <a:t>y</a:t>
            </a:r>
            <a:r>
              <a:rPr sz="3177" spc="-212" dirty="0"/>
              <a:t> </a:t>
            </a:r>
            <a:r>
              <a:rPr sz="3177" spc="-115" dirty="0"/>
              <a:t>S</a:t>
            </a:r>
            <a:r>
              <a:rPr sz="3177" spc="-110" dirty="0"/>
              <a:t>e</a:t>
            </a:r>
            <a:r>
              <a:rPr sz="3177" dirty="0"/>
              <a:t>t  </a:t>
            </a:r>
            <a:r>
              <a:rPr sz="3177" spc="-124" dirty="0"/>
              <a:t>w</a:t>
            </a:r>
            <a:r>
              <a:rPr sz="3177" spc="-106" dirty="0"/>
              <a:t>it</a:t>
            </a:r>
            <a:r>
              <a:rPr sz="3177" dirty="0"/>
              <a:t>h</a:t>
            </a:r>
            <a:r>
              <a:rPr sz="3177" spc="-212" dirty="0"/>
              <a:t> </a:t>
            </a:r>
            <a:r>
              <a:rPr sz="3177" spc="-119" dirty="0"/>
              <a:t>M</a:t>
            </a:r>
            <a:r>
              <a:rPr sz="3177" spc="-110" dirty="0"/>
              <a:t>u</a:t>
            </a:r>
            <a:r>
              <a:rPr sz="3177" spc="-106" dirty="0"/>
              <a:t>ltiv</a:t>
            </a:r>
            <a:r>
              <a:rPr sz="3177" spc="-110" dirty="0"/>
              <a:t>a</a:t>
            </a:r>
            <a:r>
              <a:rPr sz="3177" spc="-106" dirty="0"/>
              <a:t>l</a:t>
            </a:r>
            <a:r>
              <a:rPr sz="3177" spc="-110" dirty="0"/>
              <a:t>ue</a:t>
            </a:r>
            <a:r>
              <a:rPr sz="3177" dirty="0"/>
              <a:t>d</a:t>
            </a:r>
            <a:r>
              <a:rPr sz="3177" spc="-216" dirty="0"/>
              <a:t> </a:t>
            </a:r>
            <a:r>
              <a:rPr sz="3177" spc="-115" dirty="0"/>
              <a:t>A</a:t>
            </a:r>
            <a:r>
              <a:rPr sz="3177" spc="-106" dirty="0"/>
              <a:t>tt</a:t>
            </a:r>
            <a:r>
              <a:rPr sz="3177" spc="-110" dirty="0"/>
              <a:t>r</a:t>
            </a:r>
            <a:r>
              <a:rPr sz="3177" spc="-106" dirty="0"/>
              <a:t>i</a:t>
            </a:r>
            <a:r>
              <a:rPr sz="3177" spc="-115" dirty="0"/>
              <a:t>b</a:t>
            </a:r>
            <a:r>
              <a:rPr sz="3177" spc="-110" dirty="0"/>
              <a:t>u</a:t>
            </a:r>
            <a:r>
              <a:rPr sz="3177" spc="-106" dirty="0"/>
              <a:t>t</a:t>
            </a:r>
            <a:r>
              <a:rPr sz="3177" dirty="0"/>
              <a:t>e</a:t>
            </a:r>
            <a:endParaRPr sz="3177"/>
          </a:p>
        </p:txBody>
      </p:sp>
      <p:sp>
        <p:nvSpPr>
          <p:cNvPr id="9" name="object 9"/>
          <p:cNvSpPr txBox="1"/>
          <p:nvPr/>
        </p:nvSpPr>
        <p:spPr>
          <a:xfrm>
            <a:off x="2289448" y="4814047"/>
            <a:ext cx="4230221" cy="65437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19000"/>
              </a:lnSpc>
              <a:spcBef>
                <a:spcPts val="88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person(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 name)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person_phone(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phone_number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2838" y="1183340"/>
            <a:ext cx="6764991" cy="176532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separate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multivalued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endParaRPr sz="1853">
              <a:latin typeface="Verdana"/>
              <a:cs typeface="Verdana"/>
            </a:endParaRPr>
          </a:p>
          <a:p>
            <a:pPr>
              <a:spcBef>
                <a:spcPts val="31"/>
              </a:spcBef>
            </a:pPr>
            <a:endParaRPr sz="2118">
              <a:latin typeface="Verdana"/>
              <a:cs typeface="Verdana"/>
            </a:endParaRPr>
          </a:p>
          <a:p>
            <a:pPr marL="11206">
              <a:lnSpc>
                <a:spcPts val="2140"/>
              </a:lnSpc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concatenation,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separated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“_”</a:t>
            </a:r>
            <a:endParaRPr sz="1853">
              <a:latin typeface="Verdana"/>
              <a:cs typeface="Verdana"/>
            </a:endParaRPr>
          </a:p>
          <a:p>
            <a:pPr marL="440414">
              <a:lnSpc>
                <a:spcPts val="2140"/>
              </a:lnSpc>
            </a:pPr>
            <a:r>
              <a:rPr sz="1853" i="1" spc="-4" dirty="0">
                <a:solidFill>
                  <a:srgbClr val="292934"/>
                </a:solidFill>
                <a:latin typeface="Verdana"/>
                <a:cs typeface="Verdana"/>
              </a:rPr>
              <a:t>entityname_attributename</a:t>
            </a:r>
            <a:endParaRPr sz="1853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74">
              <a:latin typeface="Verdana"/>
              <a:cs typeface="Verdana"/>
            </a:endParaRPr>
          </a:p>
          <a:p>
            <a:pPr marL="11206"/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58124" y="4358741"/>
            <a:ext cx="1116666" cy="347946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15981" rIns="0" bIns="0" rtlCol="0">
            <a:spAutoFit/>
          </a:bodyPr>
          <a:lstStyle/>
          <a:p>
            <a:pPr marL="270076">
              <a:spcBef>
                <a:spcPts val="913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205740" y="3736976"/>
            <a:ext cx="917201" cy="435909"/>
            <a:chOff x="6286905" y="4235239"/>
            <a:chExt cx="1039494" cy="494030"/>
          </a:xfrm>
        </p:grpSpPr>
        <p:sp>
          <p:nvSpPr>
            <p:cNvPr id="13" name="object 13"/>
            <p:cNvSpPr/>
            <p:nvPr/>
          </p:nvSpPr>
          <p:spPr>
            <a:xfrm>
              <a:off x="6291985" y="4240319"/>
              <a:ext cx="1029335" cy="483870"/>
            </a:xfrm>
            <a:custGeom>
              <a:avLst/>
              <a:gdLst/>
              <a:ahLst/>
              <a:cxnLst/>
              <a:rect l="l" t="t" r="r" b="b"/>
              <a:pathLst>
                <a:path w="1029334" h="483870">
                  <a:moveTo>
                    <a:pt x="514541" y="0"/>
                  </a:moveTo>
                  <a:lnTo>
                    <a:pt x="449998" y="1883"/>
                  </a:lnTo>
                  <a:lnTo>
                    <a:pt x="387848" y="7382"/>
                  </a:lnTo>
                  <a:lnTo>
                    <a:pt x="328572" y="16271"/>
                  </a:lnTo>
                  <a:lnTo>
                    <a:pt x="272652" y="28322"/>
                  </a:lnTo>
                  <a:lnTo>
                    <a:pt x="220572" y="43309"/>
                  </a:lnTo>
                  <a:lnTo>
                    <a:pt x="172813" y="61006"/>
                  </a:lnTo>
                  <a:lnTo>
                    <a:pt x="129858" y="81186"/>
                  </a:lnTo>
                  <a:lnTo>
                    <a:pt x="92188" y="103623"/>
                  </a:lnTo>
                  <a:lnTo>
                    <a:pt x="60286" y="128090"/>
                  </a:lnTo>
                  <a:lnTo>
                    <a:pt x="15714" y="182208"/>
                  </a:lnTo>
                  <a:lnTo>
                    <a:pt x="0" y="241727"/>
                  </a:lnTo>
                  <a:lnTo>
                    <a:pt x="4009" y="272049"/>
                  </a:lnTo>
                  <a:lnTo>
                    <a:pt x="34634" y="329095"/>
                  </a:lnTo>
                  <a:lnTo>
                    <a:pt x="92188" y="379832"/>
                  </a:lnTo>
                  <a:lnTo>
                    <a:pt x="129858" y="402269"/>
                  </a:lnTo>
                  <a:lnTo>
                    <a:pt x="172813" y="422449"/>
                  </a:lnTo>
                  <a:lnTo>
                    <a:pt x="220572" y="440146"/>
                  </a:lnTo>
                  <a:lnTo>
                    <a:pt x="272652" y="455133"/>
                  </a:lnTo>
                  <a:lnTo>
                    <a:pt x="328572" y="467184"/>
                  </a:lnTo>
                  <a:lnTo>
                    <a:pt x="387848" y="476073"/>
                  </a:lnTo>
                  <a:lnTo>
                    <a:pt x="449998" y="481572"/>
                  </a:lnTo>
                  <a:lnTo>
                    <a:pt x="514541" y="483455"/>
                  </a:lnTo>
                  <a:lnTo>
                    <a:pt x="579084" y="481572"/>
                  </a:lnTo>
                  <a:lnTo>
                    <a:pt x="641234" y="476073"/>
                  </a:lnTo>
                  <a:lnTo>
                    <a:pt x="700510" y="467184"/>
                  </a:lnTo>
                  <a:lnTo>
                    <a:pt x="756429" y="455133"/>
                  </a:lnTo>
                  <a:lnTo>
                    <a:pt x="808509" y="440146"/>
                  </a:lnTo>
                  <a:lnTo>
                    <a:pt x="856268" y="422449"/>
                  </a:lnTo>
                  <a:lnTo>
                    <a:pt x="899223" y="402269"/>
                  </a:lnTo>
                  <a:lnTo>
                    <a:pt x="936893" y="379832"/>
                  </a:lnTo>
                  <a:lnTo>
                    <a:pt x="968795" y="355365"/>
                  </a:lnTo>
                  <a:lnTo>
                    <a:pt x="1013367" y="301247"/>
                  </a:lnTo>
                  <a:lnTo>
                    <a:pt x="1029082" y="241727"/>
                  </a:lnTo>
                  <a:lnTo>
                    <a:pt x="1025073" y="211406"/>
                  </a:lnTo>
                  <a:lnTo>
                    <a:pt x="994447" y="154360"/>
                  </a:lnTo>
                  <a:lnTo>
                    <a:pt x="936893" y="103623"/>
                  </a:lnTo>
                  <a:lnTo>
                    <a:pt x="899223" y="81186"/>
                  </a:lnTo>
                  <a:lnTo>
                    <a:pt x="856268" y="61006"/>
                  </a:lnTo>
                  <a:lnTo>
                    <a:pt x="808509" y="43309"/>
                  </a:lnTo>
                  <a:lnTo>
                    <a:pt x="756429" y="28322"/>
                  </a:lnTo>
                  <a:lnTo>
                    <a:pt x="700510" y="16271"/>
                  </a:lnTo>
                  <a:lnTo>
                    <a:pt x="641234" y="7382"/>
                  </a:lnTo>
                  <a:lnTo>
                    <a:pt x="579084" y="1883"/>
                  </a:lnTo>
                  <a:lnTo>
                    <a:pt x="51454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6291985" y="4240319"/>
              <a:ext cx="1029335" cy="483870"/>
            </a:xfrm>
            <a:custGeom>
              <a:avLst/>
              <a:gdLst/>
              <a:ahLst/>
              <a:cxnLst/>
              <a:rect l="l" t="t" r="r" b="b"/>
              <a:pathLst>
                <a:path w="1029334" h="483870">
                  <a:moveTo>
                    <a:pt x="0" y="241727"/>
                  </a:moveTo>
                  <a:lnTo>
                    <a:pt x="15714" y="182208"/>
                  </a:lnTo>
                  <a:lnTo>
                    <a:pt x="60286" y="128090"/>
                  </a:lnTo>
                  <a:lnTo>
                    <a:pt x="92188" y="103623"/>
                  </a:lnTo>
                  <a:lnTo>
                    <a:pt x="129858" y="81186"/>
                  </a:lnTo>
                  <a:lnTo>
                    <a:pt x="172813" y="61006"/>
                  </a:lnTo>
                  <a:lnTo>
                    <a:pt x="220572" y="43309"/>
                  </a:lnTo>
                  <a:lnTo>
                    <a:pt x="272652" y="28322"/>
                  </a:lnTo>
                  <a:lnTo>
                    <a:pt x="328571" y="16271"/>
                  </a:lnTo>
                  <a:lnTo>
                    <a:pt x="387847" y="7382"/>
                  </a:lnTo>
                  <a:lnTo>
                    <a:pt x="449997" y="1883"/>
                  </a:lnTo>
                  <a:lnTo>
                    <a:pt x="514540" y="0"/>
                  </a:lnTo>
                  <a:lnTo>
                    <a:pt x="579083" y="1883"/>
                  </a:lnTo>
                  <a:lnTo>
                    <a:pt x="641234" y="7382"/>
                  </a:lnTo>
                  <a:lnTo>
                    <a:pt x="700510" y="16271"/>
                  </a:lnTo>
                  <a:lnTo>
                    <a:pt x="756429" y="28322"/>
                  </a:lnTo>
                  <a:lnTo>
                    <a:pt x="808509" y="43309"/>
                  </a:lnTo>
                  <a:lnTo>
                    <a:pt x="856267" y="61006"/>
                  </a:lnTo>
                  <a:lnTo>
                    <a:pt x="899223" y="81186"/>
                  </a:lnTo>
                  <a:lnTo>
                    <a:pt x="936893" y="103623"/>
                  </a:lnTo>
                  <a:lnTo>
                    <a:pt x="968795" y="128090"/>
                  </a:lnTo>
                  <a:lnTo>
                    <a:pt x="1013367" y="182208"/>
                  </a:lnTo>
                  <a:lnTo>
                    <a:pt x="1029081" y="241727"/>
                  </a:lnTo>
                  <a:lnTo>
                    <a:pt x="1025072" y="272049"/>
                  </a:lnTo>
                  <a:lnTo>
                    <a:pt x="994447" y="329094"/>
                  </a:lnTo>
                  <a:lnTo>
                    <a:pt x="936893" y="379832"/>
                  </a:lnTo>
                  <a:lnTo>
                    <a:pt x="899223" y="402268"/>
                  </a:lnTo>
                  <a:lnTo>
                    <a:pt x="856267" y="422449"/>
                  </a:lnTo>
                  <a:lnTo>
                    <a:pt x="808509" y="440146"/>
                  </a:lnTo>
                  <a:lnTo>
                    <a:pt x="756429" y="455133"/>
                  </a:lnTo>
                  <a:lnTo>
                    <a:pt x="700510" y="467184"/>
                  </a:lnTo>
                  <a:lnTo>
                    <a:pt x="641234" y="476073"/>
                  </a:lnTo>
                  <a:lnTo>
                    <a:pt x="579083" y="481572"/>
                  </a:lnTo>
                  <a:lnTo>
                    <a:pt x="514540" y="483455"/>
                  </a:lnTo>
                  <a:lnTo>
                    <a:pt x="449997" y="481572"/>
                  </a:lnTo>
                  <a:lnTo>
                    <a:pt x="387847" y="476073"/>
                  </a:lnTo>
                  <a:lnTo>
                    <a:pt x="328571" y="467184"/>
                  </a:lnTo>
                  <a:lnTo>
                    <a:pt x="272652" y="455133"/>
                  </a:lnTo>
                  <a:lnTo>
                    <a:pt x="220572" y="440146"/>
                  </a:lnTo>
                  <a:lnTo>
                    <a:pt x="172813" y="422449"/>
                  </a:lnTo>
                  <a:lnTo>
                    <a:pt x="129858" y="402268"/>
                  </a:lnTo>
                  <a:lnTo>
                    <a:pt x="92188" y="379832"/>
                  </a:lnTo>
                  <a:lnTo>
                    <a:pt x="60286" y="355365"/>
                  </a:lnTo>
                  <a:lnTo>
                    <a:pt x="15714" y="301247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528008" y="3818068"/>
            <a:ext cx="27398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13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pi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d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439276" y="3732012"/>
            <a:ext cx="917201" cy="435909"/>
            <a:chOff x="7684913" y="4229614"/>
            <a:chExt cx="1039494" cy="494030"/>
          </a:xfrm>
        </p:grpSpPr>
        <p:sp>
          <p:nvSpPr>
            <p:cNvPr id="17" name="object 17"/>
            <p:cNvSpPr/>
            <p:nvPr/>
          </p:nvSpPr>
          <p:spPr>
            <a:xfrm>
              <a:off x="7689993" y="4234694"/>
              <a:ext cx="1029335" cy="483870"/>
            </a:xfrm>
            <a:custGeom>
              <a:avLst/>
              <a:gdLst/>
              <a:ahLst/>
              <a:cxnLst/>
              <a:rect l="l" t="t" r="r" b="b"/>
              <a:pathLst>
                <a:path w="1029334" h="483870">
                  <a:moveTo>
                    <a:pt x="514540" y="0"/>
                  </a:moveTo>
                  <a:lnTo>
                    <a:pt x="449997" y="1883"/>
                  </a:lnTo>
                  <a:lnTo>
                    <a:pt x="387847" y="7382"/>
                  </a:lnTo>
                  <a:lnTo>
                    <a:pt x="328571" y="16270"/>
                  </a:lnTo>
                  <a:lnTo>
                    <a:pt x="272652" y="28322"/>
                  </a:lnTo>
                  <a:lnTo>
                    <a:pt x="220572" y="43309"/>
                  </a:lnTo>
                  <a:lnTo>
                    <a:pt x="172813" y="61006"/>
                  </a:lnTo>
                  <a:lnTo>
                    <a:pt x="129858" y="81186"/>
                  </a:lnTo>
                  <a:lnTo>
                    <a:pt x="92188" y="103623"/>
                  </a:lnTo>
                  <a:lnTo>
                    <a:pt x="60286" y="128090"/>
                  </a:lnTo>
                  <a:lnTo>
                    <a:pt x="15714" y="182207"/>
                  </a:lnTo>
                  <a:lnTo>
                    <a:pt x="0" y="241727"/>
                  </a:lnTo>
                  <a:lnTo>
                    <a:pt x="4009" y="272049"/>
                  </a:lnTo>
                  <a:lnTo>
                    <a:pt x="34634" y="329094"/>
                  </a:lnTo>
                  <a:lnTo>
                    <a:pt x="92188" y="379831"/>
                  </a:lnTo>
                  <a:lnTo>
                    <a:pt x="129858" y="402268"/>
                  </a:lnTo>
                  <a:lnTo>
                    <a:pt x="172813" y="422448"/>
                  </a:lnTo>
                  <a:lnTo>
                    <a:pt x="220572" y="440145"/>
                  </a:lnTo>
                  <a:lnTo>
                    <a:pt x="272652" y="455132"/>
                  </a:lnTo>
                  <a:lnTo>
                    <a:pt x="328571" y="467183"/>
                  </a:lnTo>
                  <a:lnTo>
                    <a:pt x="387847" y="476072"/>
                  </a:lnTo>
                  <a:lnTo>
                    <a:pt x="449997" y="481571"/>
                  </a:lnTo>
                  <a:lnTo>
                    <a:pt x="514540" y="483454"/>
                  </a:lnTo>
                  <a:lnTo>
                    <a:pt x="579083" y="481571"/>
                  </a:lnTo>
                  <a:lnTo>
                    <a:pt x="641233" y="476072"/>
                  </a:lnTo>
                  <a:lnTo>
                    <a:pt x="700509" y="467183"/>
                  </a:lnTo>
                  <a:lnTo>
                    <a:pt x="756428" y="455132"/>
                  </a:lnTo>
                  <a:lnTo>
                    <a:pt x="808508" y="440145"/>
                  </a:lnTo>
                  <a:lnTo>
                    <a:pt x="856267" y="422448"/>
                  </a:lnTo>
                  <a:lnTo>
                    <a:pt x="899222" y="402268"/>
                  </a:lnTo>
                  <a:lnTo>
                    <a:pt x="936892" y="379831"/>
                  </a:lnTo>
                  <a:lnTo>
                    <a:pt x="968794" y="355365"/>
                  </a:lnTo>
                  <a:lnTo>
                    <a:pt x="1013366" y="301247"/>
                  </a:lnTo>
                  <a:lnTo>
                    <a:pt x="1029080" y="241727"/>
                  </a:lnTo>
                  <a:lnTo>
                    <a:pt x="1025071" y="211405"/>
                  </a:lnTo>
                  <a:lnTo>
                    <a:pt x="994446" y="154360"/>
                  </a:lnTo>
                  <a:lnTo>
                    <a:pt x="936892" y="103623"/>
                  </a:lnTo>
                  <a:lnTo>
                    <a:pt x="899222" y="81186"/>
                  </a:lnTo>
                  <a:lnTo>
                    <a:pt x="856267" y="61006"/>
                  </a:lnTo>
                  <a:lnTo>
                    <a:pt x="808508" y="43309"/>
                  </a:lnTo>
                  <a:lnTo>
                    <a:pt x="756428" y="28322"/>
                  </a:lnTo>
                  <a:lnTo>
                    <a:pt x="700509" y="16270"/>
                  </a:lnTo>
                  <a:lnTo>
                    <a:pt x="641233" y="7382"/>
                  </a:lnTo>
                  <a:lnTo>
                    <a:pt x="579083" y="1883"/>
                  </a:lnTo>
                  <a:lnTo>
                    <a:pt x="51454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7689993" y="4234694"/>
              <a:ext cx="1029335" cy="483870"/>
            </a:xfrm>
            <a:custGeom>
              <a:avLst/>
              <a:gdLst/>
              <a:ahLst/>
              <a:cxnLst/>
              <a:rect l="l" t="t" r="r" b="b"/>
              <a:pathLst>
                <a:path w="1029334" h="483870">
                  <a:moveTo>
                    <a:pt x="0" y="241727"/>
                  </a:moveTo>
                  <a:lnTo>
                    <a:pt x="15714" y="182208"/>
                  </a:lnTo>
                  <a:lnTo>
                    <a:pt x="60286" y="128090"/>
                  </a:lnTo>
                  <a:lnTo>
                    <a:pt x="92188" y="103623"/>
                  </a:lnTo>
                  <a:lnTo>
                    <a:pt x="129858" y="81186"/>
                  </a:lnTo>
                  <a:lnTo>
                    <a:pt x="172813" y="61006"/>
                  </a:lnTo>
                  <a:lnTo>
                    <a:pt x="220572" y="43309"/>
                  </a:lnTo>
                  <a:lnTo>
                    <a:pt x="272652" y="28322"/>
                  </a:lnTo>
                  <a:lnTo>
                    <a:pt x="328571" y="16271"/>
                  </a:lnTo>
                  <a:lnTo>
                    <a:pt x="387847" y="7382"/>
                  </a:lnTo>
                  <a:lnTo>
                    <a:pt x="449997" y="1883"/>
                  </a:lnTo>
                  <a:lnTo>
                    <a:pt x="514540" y="0"/>
                  </a:lnTo>
                  <a:lnTo>
                    <a:pt x="579083" y="1883"/>
                  </a:lnTo>
                  <a:lnTo>
                    <a:pt x="641234" y="7382"/>
                  </a:lnTo>
                  <a:lnTo>
                    <a:pt x="700510" y="16271"/>
                  </a:lnTo>
                  <a:lnTo>
                    <a:pt x="756429" y="28322"/>
                  </a:lnTo>
                  <a:lnTo>
                    <a:pt x="808509" y="43309"/>
                  </a:lnTo>
                  <a:lnTo>
                    <a:pt x="856267" y="61006"/>
                  </a:lnTo>
                  <a:lnTo>
                    <a:pt x="899223" y="81186"/>
                  </a:lnTo>
                  <a:lnTo>
                    <a:pt x="936893" y="103623"/>
                  </a:lnTo>
                  <a:lnTo>
                    <a:pt x="968795" y="128090"/>
                  </a:lnTo>
                  <a:lnTo>
                    <a:pt x="1013367" y="182208"/>
                  </a:lnTo>
                  <a:lnTo>
                    <a:pt x="1029081" y="241727"/>
                  </a:lnTo>
                  <a:lnTo>
                    <a:pt x="1025072" y="272049"/>
                  </a:lnTo>
                  <a:lnTo>
                    <a:pt x="994447" y="329094"/>
                  </a:lnTo>
                  <a:lnTo>
                    <a:pt x="936893" y="379832"/>
                  </a:lnTo>
                  <a:lnTo>
                    <a:pt x="899223" y="402268"/>
                  </a:lnTo>
                  <a:lnTo>
                    <a:pt x="856267" y="422449"/>
                  </a:lnTo>
                  <a:lnTo>
                    <a:pt x="808509" y="440146"/>
                  </a:lnTo>
                  <a:lnTo>
                    <a:pt x="756429" y="455133"/>
                  </a:lnTo>
                  <a:lnTo>
                    <a:pt x="700510" y="467184"/>
                  </a:lnTo>
                  <a:lnTo>
                    <a:pt x="641234" y="476073"/>
                  </a:lnTo>
                  <a:lnTo>
                    <a:pt x="579083" y="481572"/>
                  </a:lnTo>
                  <a:lnTo>
                    <a:pt x="514540" y="483455"/>
                  </a:lnTo>
                  <a:lnTo>
                    <a:pt x="449997" y="481572"/>
                  </a:lnTo>
                  <a:lnTo>
                    <a:pt x="387847" y="476073"/>
                  </a:lnTo>
                  <a:lnTo>
                    <a:pt x="328571" y="467184"/>
                  </a:lnTo>
                  <a:lnTo>
                    <a:pt x="272652" y="455133"/>
                  </a:lnTo>
                  <a:lnTo>
                    <a:pt x="220572" y="440146"/>
                  </a:lnTo>
                  <a:lnTo>
                    <a:pt x="172813" y="422449"/>
                  </a:lnTo>
                  <a:lnTo>
                    <a:pt x="129858" y="402268"/>
                  </a:lnTo>
                  <a:lnTo>
                    <a:pt x="92188" y="379832"/>
                  </a:lnTo>
                  <a:lnTo>
                    <a:pt x="60286" y="355365"/>
                  </a:lnTo>
                  <a:lnTo>
                    <a:pt x="15714" y="301247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651236" y="3812689"/>
            <a:ext cx="49474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40754" y="4158661"/>
            <a:ext cx="2561665" cy="667310"/>
            <a:chOff x="5306588" y="4713149"/>
            <a:chExt cx="2903220" cy="756285"/>
          </a:xfrm>
        </p:grpSpPr>
        <p:sp>
          <p:nvSpPr>
            <p:cNvPr id="21" name="object 21"/>
            <p:cNvSpPr/>
            <p:nvPr/>
          </p:nvSpPr>
          <p:spPr>
            <a:xfrm>
              <a:off x="6806525" y="4723774"/>
              <a:ext cx="739140" cy="216535"/>
            </a:xfrm>
            <a:custGeom>
              <a:avLst/>
              <a:gdLst/>
              <a:ahLst/>
              <a:cxnLst/>
              <a:rect l="l" t="t" r="r" b="b"/>
              <a:pathLst>
                <a:path w="739140" h="216535">
                  <a:moveTo>
                    <a:pt x="0" y="0"/>
                  </a:moveTo>
                  <a:lnTo>
                    <a:pt x="738900" y="216131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7545427" y="4718150"/>
              <a:ext cx="659130" cy="222250"/>
            </a:xfrm>
            <a:custGeom>
              <a:avLst/>
              <a:gdLst/>
              <a:ahLst/>
              <a:cxnLst/>
              <a:rect l="l" t="t" r="r" b="b"/>
              <a:pathLst>
                <a:path w="659129" h="222250">
                  <a:moveTo>
                    <a:pt x="659106" y="0"/>
                  </a:moveTo>
                  <a:lnTo>
                    <a:pt x="0" y="221756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6447541" y="5172551"/>
              <a:ext cx="465455" cy="41910"/>
            </a:xfrm>
            <a:custGeom>
              <a:avLst/>
              <a:gdLst/>
              <a:ahLst/>
              <a:cxnLst/>
              <a:rect l="l" t="t" r="r" b="b"/>
              <a:pathLst>
                <a:path w="465454" h="41910">
                  <a:moveTo>
                    <a:pt x="0" y="0"/>
                  </a:moveTo>
                  <a:lnTo>
                    <a:pt x="465399" y="41415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311589" y="4881285"/>
              <a:ext cx="1136015" cy="582930"/>
            </a:xfrm>
            <a:custGeom>
              <a:avLst/>
              <a:gdLst/>
              <a:ahLst/>
              <a:cxnLst/>
              <a:rect l="l" t="t" r="r" b="b"/>
              <a:pathLst>
                <a:path w="1136014" h="582929">
                  <a:moveTo>
                    <a:pt x="0" y="291266"/>
                  </a:moveTo>
                  <a:lnTo>
                    <a:pt x="13100" y="228783"/>
                  </a:lnTo>
                  <a:lnTo>
                    <a:pt x="50552" y="170969"/>
                  </a:lnTo>
                  <a:lnTo>
                    <a:pt x="109586" y="119248"/>
                  </a:lnTo>
                  <a:lnTo>
                    <a:pt x="146329" y="96116"/>
                  </a:lnTo>
                  <a:lnTo>
                    <a:pt x="187428" y="75040"/>
                  </a:lnTo>
                  <a:lnTo>
                    <a:pt x="232536" y="56197"/>
                  </a:lnTo>
                  <a:lnTo>
                    <a:pt x="281307" y="39766"/>
                  </a:lnTo>
                  <a:lnTo>
                    <a:pt x="333394" y="25924"/>
                  </a:lnTo>
                  <a:lnTo>
                    <a:pt x="388451" y="14848"/>
                  </a:lnTo>
                  <a:lnTo>
                    <a:pt x="446131" y="6718"/>
                  </a:lnTo>
                  <a:lnTo>
                    <a:pt x="506088" y="1709"/>
                  </a:lnTo>
                  <a:lnTo>
                    <a:pt x="567975" y="0"/>
                  </a:lnTo>
                  <a:lnTo>
                    <a:pt x="629863" y="1709"/>
                  </a:lnTo>
                  <a:lnTo>
                    <a:pt x="689820" y="6718"/>
                  </a:lnTo>
                  <a:lnTo>
                    <a:pt x="747500" y="14848"/>
                  </a:lnTo>
                  <a:lnTo>
                    <a:pt x="802557" y="25924"/>
                  </a:lnTo>
                  <a:lnTo>
                    <a:pt x="854644" y="39766"/>
                  </a:lnTo>
                  <a:lnTo>
                    <a:pt x="903415" y="56197"/>
                  </a:lnTo>
                  <a:lnTo>
                    <a:pt x="948523" y="75040"/>
                  </a:lnTo>
                  <a:lnTo>
                    <a:pt x="989622" y="96116"/>
                  </a:lnTo>
                  <a:lnTo>
                    <a:pt x="1026365" y="119248"/>
                  </a:lnTo>
                  <a:lnTo>
                    <a:pt x="1058406" y="144258"/>
                  </a:lnTo>
                  <a:lnTo>
                    <a:pt x="1106996" y="199203"/>
                  </a:lnTo>
                  <a:lnTo>
                    <a:pt x="1132619" y="259530"/>
                  </a:lnTo>
                  <a:lnTo>
                    <a:pt x="1135951" y="291266"/>
                  </a:lnTo>
                  <a:lnTo>
                    <a:pt x="1132619" y="323003"/>
                  </a:lnTo>
                  <a:lnTo>
                    <a:pt x="1106996" y="383329"/>
                  </a:lnTo>
                  <a:lnTo>
                    <a:pt x="1058406" y="438274"/>
                  </a:lnTo>
                  <a:lnTo>
                    <a:pt x="1026365" y="463285"/>
                  </a:lnTo>
                  <a:lnTo>
                    <a:pt x="989622" y="486417"/>
                  </a:lnTo>
                  <a:lnTo>
                    <a:pt x="948523" y="507493"/>
                  </a:lnTo>
                  <a:lnTo>
                    <a:pt x="903415" y="526336"/>
                  </a:lnTo>
                  <a:lnTo>
                    <a:pt x="854644" y="542767"/>
                  </a:lnTo>
                  <a:lnTo>
                    <a:pt x="802557" y="556609"/>
                  </a:lnTo>
                  <a:lnTo>
                    <a:pt x="747500" y="567684"/>
                  </a:lnTo>
                  <a:lnTo>
                    <a:pt x="689820" y="575815"/>
                  </a:lnTo>
                  <a:lnTo>
                    <a:pt x="629863" y="580824"/>
                  </a:lnTo>
                  <a:lnTo>
                    <a:pt x="567975" y="582533"/>
                  </a:lnTo>
                  <a:lnTo>
                    <a:pt x="506088" y="580824"/>
                  </a:lnTo>
                  <a:lnTo>
                    <a:pt x="446131" y="575815"/>
                  </a:lnTo>
                  <a:lnTo>
                    <a:pt x="388451" y="567684"/>
                  </a:lnTo>
                  <a:lnTo>
                    <a:pt x="333394" y="556609"/>
                  </a:lnTo>
                  <a:lnTo>
                    <a:pt x="281307" y="542767"/>
                  </a:lnTo>
                  <a:lnTo>
                    <a:pt x="232536" y="526336"/>
                  </a:lnTo>
                  <a:lnTo>
                    <a:pt x="187428" y="507493"/>
                  </a:lnTo>
                  <a:lnTo>
                    <a:pt x="146329" y="486417"/>
                  </a:lnTo>
                  <a:lnTo>
                    <a:pt x="109586" y="463285"/>
                  </a:lnTo>
                  <a:lnTo>
                    <a:pt x="77545" y="438274"/>
                  </a:lnTo>
                  <a:lnTo>
                    <a:pt x="28955" y="383329"/>
                  </a:lnTo>
                  <a:lnTo>
                    <a:pt x="3332" y="323003"/>
                  </a:lnTo>
                  <a:lnTo>
                    <a:pt x="0" y="291266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5383701" y="4935369"/>
              <a:ext cx="1000125" cy="458470"/>
            </a:xfrm>
            <a:custGeom>
              <a:avLst/>
              <a:gdLst/>
              <a:ahLst/>
              <a:cxnLst/>
              <a:rect l="l" t="t" r="r" b="b"/>
              <a:pathLst>
                <a:path w="1000125" h="458470">
                  <a:moveTo>
                    <a:pt x="499778" y="0"/>
                  </a:moveTo>
                  <a:lnTo>
                    <a:pt x="437087" y="1785"/>
                  </a:lnTo>
                  <a:lnTo>
                    <a:pt x="376719" y="6998"/>
                  </a:lnTo>
                  <a:lnTo>
                    <a:pt x="319144" y="15425"/>
                  </a:lnTo>
                  <a:lnTo>
                    <a:pt x="264830" y="26849"/>
                  </a:lnTo>
                  <a:lnTo>
                    <a:pt x="214244" y="41058"/>
                  </a:lnTo>
                  <a:lnTo>
                    <a:pt x="167855" y="57835"/>
                  </a:lnTo>
                  <a:lnTo>
                    <a:pt x="126132" y="76966"/>
                  </a:lnTo>
                  <a:lnTo>
                    <a:pt x="89543" y="98236"/>
                  </a:lnTo>
                  <a:lnTo>
                    <a:pt x="58556" y="121431"/>
                  </a:lnTo>
                  <a:lnTo>
                    <a:pt x="15263" y="172735"/>
                  </a:lnTo>
                  <a:lnTo>
                    <a:pt x="0" y="229161"/>
                  </a:lnTo>
                  <a:lnTo>
                    <a:pt x="3893" y="257907"/>
                  </a:lnTo>
                  <a:lnTo>
                    <a:pt x="33640" y="311987"/>
                  </a:lnTo>
                  <a:lnTo>
                    <a:pt x="89543" y="360086"/>
                  </a:lnTo>
                  <a:lnTo>
                    <a:pt x="126132" y="381357"/>
                  </a:lnTo>
                  <a:lnTo>
                    <a:pt x="167855" y="400488"/>
                  </a:lnTo>
                  <a:lnTo>
                    <a:pt x="214244" y="417265"/>
                  </a:lnTo>
                  <a:lnTo>
                    <a:pt x="264830" y="431473"/>
                  </a:lnTo>
                  <a:lnTo>
                    <a:pt x="319144" y="442898"/>
                  </a:lnTo>
                  <a:lnTo>
                    <a:pt x="376719" y="451325"/>
                  </a:lnTo>
                  <a:lnTo>
                    <a:pt x="437087" y="456538"/>
                  </a:lnTo>
                  <a:lnTo>
                    <a:pt x="499778" y="458323"/>
                  </a:lnTo>
                  <a:lnTo>
                    <a:pt x="562468" y="456538"/>
                  </a:lnTo>
                  <a:lnTo>
                    <a:pt x="622836" y="451325"/>
                  </a:lnTo>
                  <a:lnTo>
                    <a:pt x="680411" y="442898"/>
                  </a:lnTo>
                  <a:lnTo>
                    <a:pt x="734725" y="431473"/>
                  </a:lnTo>
                  <a:lnTo>
                    <a:pt x="785311" y="417265"/>
                  </a:lnTo>
                  <a:lnTo>
                    <a:pt x="831699" y="400488"/>
                  </a:lnTo>
                  <a:lnTo>
                    <a:pt x="873422" y="381357"/>
                  </a:lnTo>
                  <a:lnTo>
                    <a:pt x="910011" y="360086"/>
                  </a:lnTo>
                  <a:lnTo>
                    <a:pt x="940998" y="336891"/>
                  </a:lnTo>
                  <a:lnTo>
                    <a:pt x="984291" y="285587"/>
                  </a:lnTo>
                  <a:lnTo>
                    <a:pt x="999554" y="229161"/>
                  </a:lnTo>
                  <a:lnTo>
                    <a:pt x="995660" y="200415"/>
                  </a:lnTo>
                  <a:lnTo>
                    <a:pt x="965914" y="146336"/>
                  </a:lnTo>
                  <a:lnTo>
                    <a:pt x="910011" y="98236"/>
                  </a:lnTo>
                  <a:lnTo>
                    <a:pt x="873422" y="76966"/>
                  </a:lnTo>
                  <a:lnTo>
                    <a:pt x="831699" y="57835"/>
                  </a:lnTo>
                  <a:lnTo>
                    <a:pt x="785311" y="41058"/>
                  </a:lnTo>
                  <a:lnTo>
                    <a:pt x="734725" y="26849"/>
                  </a:lnTo>
                  <a:lnTo>
                    <a:pt x="680411" y="15425"/>
                  </a:lnTo>
                  <a:lnTo>
                    <a:pt x="622836" y="6998"/>
                  </a:lnTo>
                  <a:lnTo>
                    <a:pt x="562468" y="1785"/>
                  </a:lnTo>
                  <a:lnTo>
                    <a:pt x="49977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5383701" y="4935369"/>
              <a:ext cx="1000125" cy="458470"/>
            </a:xfrm>
            <a:custGeom>
              <a:avLst/>
              <a:gdLst/>
              <a:ahLst/>
              <a:cxnLst/>
              <a:rect l="l" t="t" r="r" b="b"/>
              <a:pathLst>
                <a:path w="1000125" h="458470">
                  <a:moveTo>
                    <a:pt x="0" y="229161"/>
                  </a:moveTo>
                  <a:lnTo>
                    <a:pt x="15263" y="172736"/>
                  </a:lnTo>
                  <a:lnTo>
                    <a:pt x="58556" y="121431"/>
                  </a:lnTo>
                  <a:lnTo>
                    <a:pt x="89543" y="98236"/>
                  </a:lnTo>
                  <a:lnTo>
                    <a:pt x="126132" y="76966"/>
                  </a:lnTo>
                  <a:lnTo>
                    <a:pt x="167855" y="57835"/>
                  </a:lnTo>
                  <a:lnTo>
                    <a:pt x="214243" y="41058"/>
                  </a:lnTo>
                  <a:lnTo>
                    <a:pt x="264829" y="26849"/>
                  </a:lnTo>
                  <a:lnTo>
                    <a:pt x="319144" y="15425"/>
                  </a:lnTo>
                  <a:lnTo>
                    <a:pt x="376719" y="6998"/>
                  </a:lnTo>
                  <a:lnTo>
                    <a:pt x="437086" y="1785"/>
                  </a:lnTo>
                  <a:lnTo>
                    <a:pt x="499777" y="0"/>
                  </a:lnTo>
                  <a:lnTo>
                    <a:pt x="562468" y="1785"/>
                  </a:lnTo>
                  <a:lnTo>
                    <a:pt x="622835" y="6998"/>
                  </a:lnTo>
                  <a:lnTo>
                    <a:pt x="680410" y="15425"/>
                  </a:lnTo>
                  <a:lnTo>
                    <a:pt x="734725" y="26849"/>
                  </a:lnTo>
                  <a:lnTo>
                    <a:pt x="785310" y="41058"/>
                  </a:lnTo>
                  <a:lnTo>
                    <a:pt x="831699" y="57835"/>
                  </a:lnTo>
                  <a:lnTo>
                    <a:pt x="873422" y="76966"/>
                  </a:lnTo>
                  <a:lnTo>
                    <a:pt x="910011" y="98236"/>
                  </a:lnTo>
                  <a:lnTo>
                    <a:pt x="940997" y="121431"/>
                  </a:lnTo>
                  <a:lnTo>
                    <a:pt x="984291" y="172736"/>
                  </a:lnTo>
                  <a:lnTo>
                    <a:pt x="999554" y="229161"/>
                  </a:lnTo>
                  <a:lnTo>
                    <a:pt x="995660" y="257907"/>
                  </a:lnTo>
                  <a:lnTo>
                    <a:pt x="965914" y="311987"/>
                  </a:lnTo>
                  <a:lnTo>
                    <a:pt x="910011" y="360087"/>
                  </a:lnTo>
                  <a:lnTo>
                    <a:pt x="873422" y="381357"/>
                  </a:lnTo>
                  <a:lnTo>
                    <a:pt x="831699" y="400488"/>
                  </a:lnTo>
                  <a:lnTo>
                    <a:pt x="785310" y="417265"/>
                  </a:lnTo>
                  <a:lnTo>
                    <a:pt x="734725" y="431473"/>
                  </a:lnTo>
                  <a:lnTo>
                    <a:pt x="680410" y="442898"/>
                  </a:lnTo>
                  <a:lnTo>
                    <a:pt x="622835" y="451325"/>
                  </a:lnTo>
                  <a:lnTo>
                    <a:pt x="562468" y="456538"/>
                  </a:lnTo>
                  <a:lnTo>
                    <a:pt x="499777" y="458323"/>
                  </a:lnTo>
                  <a:lnTo>
                    <a:pt x="437086" y="456538"/>
                  </a:lnTo>
                  <a:lnTo>
                    <a:pt x="376719" y="451325"/>
                  </a:lnTo>
                  <a:lnTo>
                    <a:pt x="319144" y="442898"/>
                  </a:lnTo>
                  <a:lnTo>
                    <a:pt x="264829" y="431473"/>
                  </a:lnTo>
                  <a:lnTo>
                    <a:pt x="214243" y="417265"/>
                  </a:lnTo>
                  <a:lnTo>
                    <a:pt x="167855" y="400488"/>
                  </a:lnTo>
                  <a:lnTo>
                    <a:pt x="126132" y="381357"/>
                  </a:lnTo>
                  <a:lnTo>
                    <a:pt x="89543" y="360087"/>
                  </a:lnTo>
                  <a:lnTo>
                    <a:pt x="58556" y="336892"/>
                  </a:lnTo>
                  <a:lnTo>
                    <a:pt x="15263" y="285587"/>
                  </a:lnTo>
                  <a:lnTo>
                    <a:pt x="0" y="229161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565226" y="4412428"/>
            <a:ext cx="54460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phone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7240799" y="6927081"/>
            <a:ext cx="2550795" cy="5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500" b="0" i="0" kern="1200">
                <a:solidFill>
                  <a:srgbClr val="292934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US" spc="-15"/>
              <a:t>[ER</a:t>
            </a:r>
            <a:r>
              <a:rPr lang="en-US" spc="-55"/>
              <a:t> </a:t>
            </a:r>
            <a:r>
              <a:rPr lang="en-US" spc="-10"/>
              <a:t>to</a:t>
            </a:r>
            <a:r>
              <a:rPr lang="en-US" spc="-45"/>
              <a:t> </a:t>
            </a:r>
            <a:r>
              <a:rPr lang="en-US" spc="-20"/>
              <a:t>schema</a:t>
            </a:r>
            <a:r>
              <a:rPr lang="en-US" spc="-50"/>
              <a:t> </a:t>
            </a:r>
            <a:r>
              <a:rPr lang="en-US" spc="-20"/>
              <a:t>worksheet]</a:t>
            </a:r>
          </a:p>
          <a:p>
            <a:pPr marR="120014" algn="r">
              <a:spcBef>
                <a:spcPts val="715"/>
              </a:spcBef>
            </a:pPr>
            <a:fld id="{81D60167-4931-47E6-BA6A-407CBD079E47}" type="slidenum">
              <a:rPr sz="1100" smtClean="0">
                <a:solidFill>
                  <a:srgbClr val="CCD1D9"/>
                </a:solidFill>
                <a:latin typeface="Arial MT"/>
                <a:cs typeface="Arial MT"/>
              </a:rPr>
              <a:pPr marR="120014" algn="r">
                <a:spcBef>
                  <a:spcPts val="715"/>
                </a:spcBef>
              </a:pPr>
              <a:t>40</a:t>
            </a:fld>
            <a:endParaRPr spc="-18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24035" y="5625994"/>
            <a:ext cx="2915771" cy="387162"/>
            <a:chOff x="2114306" y="6376126"/>
            <a:chExt cx="3304540" cy="438784"/>
          </a:xfrm>
        </p:grpSpPr>
        <p:sp>
          <p:nvSpPr>
            <p:cNvPr id="3" name="object 3"/>
            <p:cNvSpPr/>
            <p:nvPr/>
          </p:nvSpPr>
          <p:spPr>
            <a:xfrm>
              <a:off x="2120973" y="6382793"/>
              <a:ext cx="3291204" cy="425450"/>
            </a:xfrm>
            <a:custGeom>
              <a:avLst/>
              <a:gdLst/>
              <a:ahLst/>
              <a:cxnLst/>
              <a:rect l="l" t="t" r="r" b="b"/>
              <a:pathLst>
                <a:path w="3291204" h="425450">
                  <a:moveTo>
                    <a:pt x="3219700" y="0"/>
                  </a:moveTo>
                  <a:lnTo>
                    <a:pt x="70896" y="0"/>
                  </a:lnTo>
                  <a:lnTo>
                    <a:pt x="43300" y="5571"/>
                  </a:lnTo>
                  <a:lnTo>
                    <a:pt x="20765" y="20764"/>
                  </a:lnTo>
                  <a:lnTo>
                    <a:pt x="5571" y="43300"/>
                  </a:lnTo>
                  <a:lnTo>
                    <a:pt x="0" y="70896"/>
                  </a:lnTo>
                  <a:lnTo>
                    <a:pt x="0" y="354475"/>
                  </a:lnTo>
                  <a:lnTo>
                    <a:pt x="5571" y="382071"/>
                  </a:lnTo>
                  <a:lnTo>
                    <a:pt x="20765" y="404607"/>
                  </a:lnTo>
                  <a:lnTo>
                    <a:pt x="43300" y="419800"/>
                  </a:lnTo>
                  <a:lnTo>
                    <a:pt x="70896" y="425372"/>
                  </a:lnTo>
                  <a:lnTo>
                    <a:pt x="3219700" y="425372"/>
                  </a:lnTo>
                  <a:lnTo>
                    <a:pt x="3247296" y="419800"/>
                  </a:lnTo>
                  <a:lnTo>
                    <a:pt x="3269831" y="404607"/>
                  </a:lnTo>
                  <a:lnTo>
                    <a:pt x="3285025" y="382071"/>
                  </a:lnTo>
                  <a:lnTo>
                    <a:pt x="3290596" y="354475"/>
                  </a:lnTo>
                  <a:lnTo>
                    <a:pt x="3290596" y="70896"/>
                  </a:lnTo>
                  <a:lnTo>
                    <a:pt x="3285025" y="43300"/>
                  </a:lnTo>
                  <a:lnTo>
                    <a:pt x="3269831" y="20764"/>
                  </a:lnTo>
                  <a:lnTo>
                    <a:pt x="3247296" y="5571"/>
                  </a:lnTo>
                  <a:lnTo>
                    <a:pt x="3219700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2120973" y="6382793"/>
              <a:ext cx="3291204" cy="425450"/>
            </a:xfrm>
            <a:custGeom>
              <a:avLst/>
              <a:gdLst/>
              <a:ahLst/>
              <a:cxnLst/>
              <a:rect l="l" t="t" r="r" b="b"/>
              <a:pathLst>
                <a:path w="3291204" h="425450">
                  <a:moveTo>
                    <a:pt x="0" y="70897"/>
                  </a:moveTo>
                  <a:lnTo>
                    <a:pt x="5571" y="43300"/>
                  </a:lnTo>
                  <a:lnTo>
                    <a:pt x="20765" y="20765"/>
                  </a:lnTo>
                  <a:lnTo>
                    <a:pt x="43300" y="5571"/>
                  </a:lnTo>
                  <a:lnTo>
                    <a:pt x="70896" y="0"/>
                  </a:lnTo>
                  <a:lnTo>
                    <a:pt x="3219699" y="0"/>
                  </a:lnTo>
                  <a:lnTo>
                    <a:pt x="3247296" y="5571"/>
                  </a:lnTo>
                  <a:lnTo>
                    <a:pt x="3269831" y="20765"/>
                  </a:lnTo>
                  <a:lnTo>
                    <a:pt x="3285025" y="43300"/>
                  </a:lnTo>
                  <a:lnTo>
                    <a:pt x="3290596" y="70897"/>
                  </a:lnTo>
                  <a:lnTo>
                    <a:pt x="3290596" y="354475"/>
                  </a:lnTo>
                  <a:lnTo>
                    <a:pt x="3285025" y="382071"/>
                  </a:lnTo>
                  <a:lnTo>
                    <a:pt x="3269831" y="404607"/>
                  </a:lnTo>
                  <a:lnTo>
                    <a:pt x="3247296" y="419801"/>
                  </a:lnTo>
                  <a:lnTo>
                    <a:pt x="3219699" y="425372"/>
                  </a:lnTo>
                  <a:lnTo>
                    <a:pt x="70896" y="425372"/>
                  </a:lnTo>
                  <a:lnTo>
                    <a:pt x="43300" y="419801"/>
                  </a:lnTo>
                  <a:lnTo>
                    <a:pt x="20765" y="404607"/>
                  </a:lnTo>
                  <a:lnTo>
                    <a:pt x="5571" y="382071"/>
                  </a:lnTo>
                  <a:lnTo>
                    <a:pt x="0" y="354475"/>
                  </a:lnTo>
                  <a:lnTo>
                    <a:pt x="0" y="70897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98059" y="562764"/>
            <a:ext cx="927847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0086" algn="ctr">
              <a:lnSpc>
                <a:spcPct val="100000"/>
              </a:lnSpc>
              <a:spcBef>
                <a:spcPts val="88"/>
              </a:spcBef>
            </a:pPr>
            <a:r>
              <a:rPr spc="-71" dirty="0"/>
              <a:t>Weak</a:t>
            </a:r>
            <a:r>
              <a:rPr spc="-207" dirty="0"/>
              <a:t> </a:t>
            </a:r>
            <a:r>
              <a:rPr spc="-84" dirty="0"/>
              <a:t>Entity</a:t>
            </a:r>
            <a:r>
              <a:rPr spc="-212" dirty="0"/>
              <a:t> </a:t>
            </a:r>
            <a:r>
              <a:rPr spc="-66" dirty="0"/>
              <a:t>Set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72838" y="1116105"/>
            <a:ext cx="7624482" cy="1695034"/>
          </a:xfrm>
          <a:prstGeom prst="rect">
            <a:avLst/>
          </a:prstGeom>
        </p:spPr>
        <p:txBody>
          <a:bodyPr vert="horz" wrap="square" lIns="0" tIns="40341" rIns="0" bIns="0" rtlCol="0">
            <a:spAutoFit/>
          </a:bodyPr>
          <a:lstStyle/>
          <a:p>
            <a:pPr marL="11206" marR="4483">
              <a:lnSpc>
                <a:spcPts val="2030"/>
              </a:lnSpc>
              <a:spcBef>
                <a:spcPts val="318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Let </a:t>
            </a:r>
            <a:r>
              <a:rPr sz="1853" i="1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be a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weak entity set and </a:t>
            </a:r>
            <a:r>
              <a:rPr sz="1853" i="1" dirty="0">
                <a:solidFill>
                  <a:srgbClr val="292934"/>
                </a:solidFill>
                <a:latin typeface="Verdana"/>
                <a:cs typeface="Verdana"/>
              </a:rPr>
              <a:t>B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be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 identifying strong entity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which </a:t>
            </a:r>
            <a:r>
              <a:rPr sz="1853" i="1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i="1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depends</a:t>
            </a:r>
            <a:endParaRPr sz="1853">
              <a:latin typeface="Verdana"/>
              <a:cs typeface="Verdana"/>
            </a:endParaRPr>
          </a:p>
          <a:p>
            <a:pPr marL="11206" marR="783333">
              <a:lnSpc>
                <a:spcPts val="3538"/>
              </a:lnSpc>
              <a:spcBef>
                <a:spcPts val="282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 table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with primary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i="1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853" i="1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all </a:t>
            </a:r>
            <a:r>
              <a:rPr sz="1853" i="1" spc="-26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’s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attributes </a:t>
            </a:r>
            <a:r>
              <a:rPr sz="1853" spc="-6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 of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i="1" dirty="0">
                <a:solidFill>
                  <a:srgbClr val="292934"/>
                </a:solidFill>
                <a:latin typeface="Verdana"/>
                <a:cs typeface="Verdana"/>
              </a:rPr>
              <a:t>B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(strong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entity) and</a:t>
            </a:r>
            <a:endParaRPr sz="1853">
              <a:latin typeface="Verdana"/>
              <a:cs typeface="Verdana"/>
            </a:endParaRPr>
          </a:p>
          <a:p>
            <a:pPr marL="1658559">
              <a:lnSpc>
                <a:spcPts val="1610"/>
              </a:lnSpc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discriminator</a:t>
            </a:r>
            <a:r>
              <a:rPr sz="1853" spc="-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i="1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1853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29918" y="3907635"/>
            <a:ext cx="1754281" cy="458321"/>
            <a:chOff x="2120973" y="4428653"/>
            <a:chExt cx="1988185" cy="519430"/>
          </a:xfrm>
        </p:grpSpPr>
        <p:sp>
          <p:nvSpPr>
            <p:cNvPr id="9" name="object 9"/>
            <p:cNvSpPr/>
            <p:nvPr/>
          </p:nvSpPr>
          <p:spPr>
            <a:xfrm>
              <a:off x="3417643" y="4670090"/>
              <a:ext cx="691515" cy="3810"/>
            </a:xfrm>
            <a:custGeom>
              <a:avLst/>
              <a:gdLst/>
              <a:ahLst/>
              <a:cxnLst/>
              <a:rect l="l" t="t" r="r" b="b"/>
              <a:pathLst>
                <a:path w="691514" h="3810">
                  <a:moveTo>
                    <a:pt x="0" y="3369"/>
                  </a:moveTo>
                  <a:lnTo>
                    <a:pt x="691286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20973" y="4428653"/>
              <a:ext cx="1296670" cy="519430"/>
            </a:xfrm>
            <a:custGeom>
              <a:avLst/>
              <a:gdLst/>
              <a:ahLst/>
              <a:cxnLst/>
              <a:rect l="l" t="t" r="r" b="b"/>
              <a:pathLst>
                <a:path w="1296670" h="519429">
                  <a:moveTo>
                    <a:pt x="0" y="0"/>
                  </a:moveTo>
                  <a:lnTo>
                    <a:pt x="1296161" y="0"/>
                  </a:lnTo>
                  <a:lnTo>
                    <a:pt x="1296161" y="519142"/>
                  </a:lnTo>
                  <a:lnTo>
                    <a:pt x="0" y="519142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90833" y="3953952"/>
            <a:ext cx="1031501" cy="289672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58271" rIns="0" bIns="0" rtlCol="0">
            <a:spAutoFit/>
          </a:bodyPr>
          <a:lstStyle/>
          <a:p>
            <a:pPr marL="81807">
              <a:spcBef>
                <a:spcPts val="459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homework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016528" y="4079078"/>
            <a:ext cx="549088" cy="92449"/>
          </a:xfrm>
          <a:custGeom>
            <a:avLst/>
            <a:gdLst/>
            <a:ahLst/>
            <a:cxnLst/>
            <a:rect l="l" t="t" r="r" b="b"/>
            <a:pathLst>
              <a:path w="622300" h="104775">
                <a:moveTo>
                  <a:pt x="613174" y="45944"/>
                </a:moveTo>
                <a:lnTo>
                  <a:pt x="611780" y="45944"/>
                </a:lnTo>
                <a:lnTo>
                  <a:pt x="611959" y="55944"/>
                </a:lnTo>
                <a:lnTo>
                  <a:pt x="593464" y="56276"/>
                </a:lnTo>
                <a:lnTo>
                  <a:pt x="527751" y="96202"/>
                </a:lnTo>
                <a:lnTo>
                  <a:pt x="527000" y="99278"/>
                </a:lnTo>
                <a:lnTo>
                  <a:pt x="529868" y="103999"/>
                </a:lnTo>
                <a:lnTo>
                  <a:pt x="532944" y="104749"/>
                </a:lnTo>
                <a:lnTo>
                  <a:pt x="621791" y="50766"/>
                </a:lnTo>
                <a:lnTo>
                  <a:pt x="613174" y="45944"/>
                </a:lnTo>
                <a:close/>
              </a:path>
              <a:path w="622300" h="104775">
                <a:moveTo>
                  <a:pt x="593285" y="46276"/>
                </a:moveTo>
                <a:lnTo>
                  <a:pt x="0" y="56901"/>
                </a:lnTo>
                <a:lnTo>
                  <a:pt x="179" y="66901"/>
                </a:lnTo>
                <a:lnTo>
                  <a:pt x="593464" y="56276"/>
                </a:lnTo>
                <a:lnTo>
                  <a:pt x="601946" y="51122"/>
                </a:lnTo>
                <a:lnTo>
                  <a:pt x="593285" y="46276"/>
                </a:lnTo>
                <a:close/>
              </a:path>
              <a:path w="622300" h="104775">
                <a:moveTo>
                  <a:pt x="601946" y="51122"/>
                </a:moveTo>
                <a:lnTo>
                  <a:pt x="593464" y="56276"/>
                </a:lnTo>
                <a:lnTo>
                  <a:pt x="611959" y="55944"/>
                </a:lnTo>
                <a:lnTo>
                  <a:pt x="611948" y="55308"/>
                </a:lnTo>
                <a:lnTo>
                  <a:pt x="609427" y="55308"/>
                </a:lnTo>
                <a:lnTo>
                  <a:pt x="601946" y="51122"/>
                </a:lnTo>
                <a:close/>
              </a:path>
              <a:path w="622300" h="104775">
                <a:moveTo>
                  <a:pt x="609272" y="46671"/>
                </a:moveTo>
                <a:lnTo>
                  <a:pt x="601946" y="51122"/>
                </a:lnTo>
                <a:lnTo>
                  <a:pt x="609427" y="55308"/>
                </a:lnTo>
                <a:lnTo>
                  <a:pt x="609272" y="46671"/>
                </a:lnTo>
                <a:close/>
              </a:path>
              <a:path w="622300" h="104775">
                <a:moveTo>
                  <a:pt x="611793" y="46671"/>
                </a:moveTo>
                <a:lnTo>
                  <a:pt x="609272" y="46671"/>
                </a:lnTo>
                <a:lnTo>
                  <a:pt x="609427" y="55308"/>
                </a:lnTo>
                <a:lnTo>
                  <a:pt x="611948" y="55308"/>
                </a:lnTo>
                <a:lnTo>
                  <a:pt x="611793" y="46671"/>
                </a:lnTo>
                <a:close/>
              </a:path>
              <a:path w="622300" h="104775">
                <a:moveTo>
                  <a:pt x="611780" y="45944"/>
                </a:moveTo>
                <a:lnTo>
                  <a:pt x="593285" y="46276"/>
                </a:lnTo>
                <a:lnTo>
                  <a:pt x="601946" y="51122"/>
                </a:lnTo>
                <a:lnTo>
                  <a:pt x="609272" y="46671"/>
                </a:lnTo>
                <a:lnTo>
                  <a:pt x="611793" y="46671"/>
                </a:lnTo>
                <a:lnTo>
                  <a:pt x="611780" y="45944"/>
                </a:lnTo>
                <a:close/>
              </a:path>
              <a:path w="622300" h="104775">
                <a:moveTo>
                  <a:pt x="531068" y="0"/>
                </a:moveTo>
                <a:lnTo>
                  <a:pt x="528021" y="859"/>
                </a:lnTo>
                <a:lnTo>
                  <a:pt x="525324" y="5680"/>
                </a:lnTo>
                <a:lnTo>
                  <a:pt x="526183" y="8727"/>
                </a:lnTo>
                <a:lnTo>
                  <a:pt x="593285" y="46276"/>
                </a:lnTo>
                <a:lnTo>
                  <a:pt x="611780" y="45944"/>
                </a:lnTo>
                <a:lnTo>
                  <a:pt x="613174" y="45944"/>
                </a:lnTo>
                <a:lnTo>
                  <a:pt x="531068" y="0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 txBox="1"/>
          <p:nvPr/>
        </p:nvSpPr>
        <p:spPr>
          <a:xfrm>
            <a:off x="7565147" y="3940957"/>
            <a:ext cx="1031501" cy="289106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57710" rIns="0" bIns="0" rtlCol="0">
            <a:spAutoFit/>
          </a:bodyPr>
          <a:lstStyle/>
          <a:p>
            <a:pPr marL="233095">
              <a:spcBef>
                <a:spcPts val="454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course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20618" y="3768233"/>
            <a:ext cx="1796303" cy="731184"/>
          </a:xfrm>
          <a:custGeom>
            <a:avLst/>
            <a:gdLst/>
            <a:ahLst/>
            <a:cxnLst/>
            <a:rect l="l" t="t" r="r" b="b"/>
            <a:pathLst>
              <a:path w="2035810" h="828675">
                <a:moveTo>
                  <a:pt x="0" y="414191"/>
                </a:moveTo>
                <a:lnTo>
                  <a:pt x="1017726" y="0"/>
                </a:lnTo>
                <a:lnTo>
                  <a:pt x="2035454" y="414191"/>
                </a:lnTo>
                <a:lnTo>
                  <a:pt x="1017726" y="828382"/>
                </a:lnTo>
                <a:lnTo>
                  <a:pt x="0" y="414191"/>
                </a:lnTo>
                <a:close/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15" name="object 15"/>
          <p:cNvGrpSpPr/>
          <p:nvPr/>
        </p:nvGrpSpPr>
        <p:grpSpPr>
          <a:xfrm>
            <a:off x="5391261" y="3837986"/>
            <a:ext cx="1466290" cy="598394"/>
            <a:chOff x="4230495" y="4349717"/>
            <a:chExt cx="1661795" cy="678180"/>
          </a:xfrm>
        </p:grpSpPr>
        <p:sp>
          <p:nvSpPr>
            <p:cNvPr id="16" name="object 16"/>
            <p:cNvSpPr/>
            <p:nvPr/>
          </p:nvSpPr>
          <p:spPr>
            <a:xfrm>
              <a:off x="4235495" y="4354718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825703" y="0"/>
                  </a:moveTo>
                  <a:lnTo>
                    <a:pt x="0" y="333965"/>
                  </a:lnTo>
                  <a:lnTo>
                    <a:pt x="825703" y="667931"/>
                  </a:lnTo>
                  <a:lnTo>
                    <a:pt x="1651406" y="333965"/>
                  </a:lnTo>
                  <a:lnTo>
                    <a:pt x="8257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4235495" y="4354718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0" y="333965"/>
                  </a:moveTo>
                  <a:lnTo>
                    <a:pt x="825703" y="0"/>
                  </a:lnTo>
                  <a:lnTo>
                    <a:pt x="1651406" y="333965"/>
                  </a:lnTo>
                  <a:lnTo>
                    <a:pt x="825703" y="667931"/>
                  </a:lnTo>
                  <a:lnTo>
                    <a:pt x="0" y="33396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27242" y="3992880"/>
            <a:ext cx="43142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hav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74405" y="3152594"/>
            <a:ext cx="978274" cy="429184"/>
            <a:chOff x="7498059" y="3572939"/>
            <a:chExt cx="1108710" cy="486409"/>
          </a:xfrm>
        </p:grpSpPr>
        <p:sp>
          <p:nvSpPr>
            <p:cNvPr id="20" name="object 20"/>
            <p:cNvSpPr/>
            <p:nvPr/>
          </p:nvSpPr>
          <p:spPr>
            <a:xfrm>
              <a:off x="7503139" y="3578019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0" y="0"/>
                  </a:moveTo>
                  <a:lnTo>
                    <a:pt x="485125" y="1601"/>
                  </a:lnTo>
                  <a:lnTo>
                    <a:pt x="423250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6" y="37063"/>
                  </a:lnTo>
                  <a:lnTo>
                    <a:pt x="205692" y="52299"/>
                  </a:lnTo>
                  <a:lnTo>
                    <a:pt x="160848" y="69726"/>
                  </a:lnTo>
                  <a:lnTo>
                    <a:pt x="120646" y="89165"/>
                  </a:lnTo>
                  <a:lnTo>
                    <a:pt x="85499" y="110439"/>
                  </a:lnTo>
                  <a:lnTo>
                    <a:pt x="32015" y="157772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5" y="318348"/>
                  </a:lnTo>
                  <a:lnTo>
                    <a:pt x="85499" y="365681"/>
                  </a:lnTo>
                  <a:lnTo>
                    <a:pt x="120646" y="386955"/>
                  </a:lnTo>
                  <a:lnTo>
                    <a:pt x="160848" y="406394"/>
                  </a:lnTo>
                  <a:lnTo>
                    <a:pt x="205692" y="423821"/>
                  </a:lnTo>
                  <a:lnTo>
                    <a:pt x="254766" y="439057"/>
                  </a:lnTo>
                  <a:lnTo>
                    <a:pt x="307659" y="451923"/>
                  </a:lnTo>
                  <a:lnTo>
                    <a:pt x="363958" y="462241"/>
                  </a:lnTo>
                  <a:lnTo>
                    <a:pt x="423250" y="469833"/>
                  </a:lnTo>
                  <a:lnTo>
                    <a:pt x="485125" y="474518"/>
                  </a:lnTo>
                  <a:lnTo>
                    <a:pt x="549170" y="476120"/>
                  </a:lnTo>
                  <a:lnTo>
                    <a:pt x="613215" y="474518"/>
                  </a:lnTo>
                  <a:lnTo>
                    <a:pt x="675090" y="469833"/>
                  </a:lnTo>
                  <a:lnTo>
                    <a:pt x="734383" y="462241"/>
                  </a:lnTo>
                  <a:lnTo>
                    <a:pt x="790682" y="451923"/>
                  </a:lnTo>
                  <a:lnTo>
                    <a:pt x="843575" y="439057"/>
                  </a:lnTo>
                  <a:lnTo>
                    <a:pt x="892649" y="423821"/>
                  </a:lnTo>
                  <a:lnTo>
                    <a:pt x="937493" y="406394"/>
                  </a:lnTo>
                  <a:lnTo>
                    <a:pt x="977695" y="386955"/>
                  </a:lnTo>
                  <a:lnTo>
                    <a:pt x="1012843" y="365681"/>
                  </a:lnTo>
                  <a:lnTo>
                    <a:pt x="1066326" y="318348"/>
                  </a:lnTo>
                  <a:lnTo>
                    <a:pt x="1094648" y="265823"/>
                  </a:lnTo>
                  <a:lnTo>
                    <a:pt x="1098342" y="238060"/>
                  </a:lnTo>
                  <a:lnTo>
                    <a:pt x="1094648" y="210297"/>
                  </a:lnTo>
                  <a:lnTo>
                    <a:pt x="1066326" y="157772"/>
                  </a:lnTo>
                  <a:lnTo>
                    <a:pt x="1012843" y="110439"/>
                  </a:lnTo>
                  <a:lnTo>
                    <a:pt x="977695" y="89165"/>
                  </a:lnTo>
                  <a:lnTo>
                    <a:pt x="937493" y="69726"/>
                  </a:lnTo>
                  <a:lnTo>
                    <a:pt x="892649" y="52299"/>
                  </a:lnTo>
                  <a:lnTo>
                    <a:pt x="843575" y="37063"/>
                  </a:lnTo>
                  <a:lnTo>
                    <a:pt x="790682" y="24196"/>
                  </a:lnTo>
                  <a:lnTo>
                    <a:pt x="734383" y="13878"/>
                  </a:lnTo>
                  <a:lnTo>
                    <a:pt x="675090" y="6287"/>
                  </a:lnTo>
                  <a:lnTo>
                    <a:pt x="613215" y="1601"/>
                  </a:lnTo>
                  <a:lnTo>
                    <a:pt x="54917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7503139" y="3578019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357237" y="3239844"/>
            <a:ext cx="859491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</a:t>
            </a:r>
            <a:r>
              <a:rPr sz="1500" u="sng" spc="-13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_numbe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r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61045" y="3712325"/>
            <a:ext cx="978274" cy="429184"/>
            <a:chOff x="8389585" y="4207301"/>
            <a:chExt cx="1108710" cy="486409"/>
          </a:xfrm>
        </p:grpSpPr>
        <p:sp>
          <p:nvSpPr>
            <p:cNvPr id="24" name="object 24"/>
            <p:cNvSpPr/>
            <p:nvPr/>
          </p:nvSpPr>
          <p:spPr>
            <a:xfrm>
              <a:off x="8394665" y="4212381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2" y="0"/>
                  </a:moveTo>
                  <a:lnTo>
                    <a:pt x="485126" y="1601"/>
                  </a:lnTo>
                  <a:lnTo>
                    <a:pt x="423251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7" y="37063"/>
                  </a:lnTo>
                  <a:lnTo>
                    <a:pt x="205692" y="52299"/>
                  </a:lnTo>
                  <a:lnTo>
                    <a:pt x="160848" y="69726"/>
                  </a:lnTo>
                  <a:lnTo>
                    <a:pt x="120646" y="89165"/>
                  </a:lnTo>
                  <a:lnTo>
                    <a:pt x="85499" y="110439"/>
                  </a:lnTo>
                  <a:lnTo>
                    <a:pt x="32015" y="157772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5" y="318348"/>
                  </a:lnTo>
                  <a:lnTo>
                    <a:pt x="85499" y="365682"/>
                  </a:lnTo>
                  <a:lnTo>
                    <a:pt x="120646" y="386955"/>
                  </a:lnTo>
                  <a:lnTo>
                    <a:pt x="160848" y="406395"/>
                  </a:lnTo>
                  <a:lnTo>
                    <a:pt x="205692" y="423822"/>
                  </a:lnTo>
                  <a:lnTo>
                    <a:pt x="254767" y="439058"/>
                  </a:lnTo>
                  <a:lnTo>
                    <a:pt x="307659" y="451924"/>
                  </a:lnTo>
                  <a:lnTo>
                    <a:pt x="363958" y="462243"/>
                  </a:lnTo>
                  <a:lnTo>
                    <a:pt x="423251" y="469834"/>
                  </a:lnTo>
                  <a:lnTo>
                    <a:pt x="485126" y="474520"/>
                  </a:lnTo>
                  <a:lnTo>
                    <a:pt x="549172" y="476121"/>
                  </a:lnTo>
                  <a:lnTo>
                    <a:pt x="613217" y="474520"/>
                  </a:lnTo>
                  <a:lnTo>
                    <a:pt x="675092" y="469834"/>
                  </a:lnTo>
                  <a:lnTo>
                    <a:pt x="734384" y="462243"/>
                  </a:lnTo>
                  <a:lnTo>
                    <a:pt x="790683" y="451924"/>
                  </a:lnTo>
                  <a:lnTo>
                    <a:pt x="843576" y="439058"/>
                  </a:lnTo>
                  <a:lnTo>
                    <a:pt x="892650" y="423822"/>
                  </a:lnTo>
                  <a:lnTo>
                    <a:pt x="937494" y="406395"/>
                  </a:lnTo>
                  <a:lnTo>
                    <a:pt x="977696" y="386955"/>
                  </a:lnTo>
                  <a:lnTo>
                    <a:pt x="1012843" y="365682"/>
                  </a:lnTo>
                  <a:lnTo>
                    <a:pt x="1066327" y="318348"/>
                  </a:lnTo>
                  <a:lnTo>
                    <a:pt x="1094648" y="265823"/>
                  </a:lnTo>
                  <a:lnTo>
                    <a:pt x="1098342" y="238060"/>
                  </a:lnTo>
                  <a:lnTo>
                    <a:pt x="1094648" y="210297"/>
                  </a:lnTo>
                  <a:lnTo>
                    <a:pt x="1066327" y="157772"/>
                  </a:lnTo>
                  <a:lnTo>
                    <a:pt x="1012843" y="110439"/>
                  </a:lnTo>
                  <a:lnTo>
                    <a:pt x="977696" y="89165"/>
                  </a:lnTo>
                  <a:lnTo>
                    <a:pt x="937494" y="69726"/>
                  </a:lnTo>
                  <a:lnTo>
                    <a:pt x="892650" y="52299"/>
                  </a:lnTo>
                  <a:lnTo>
                    <a:pt x="843576" y="37063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2" y="6287"/>
                  </a:lnTo>
                  <a:lnTo>
                    <a:pt x="613217" y="1601"/>
                  </a:lnTo>
                  <a:lnTo>
                    <a:pt x="54917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8394665" y="4212381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415972" y="3799242"/>
            <a:ext cx="31712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596568" y="3577182"/>
            <a:ext cx="468966" cy="546847"/>
          </a:xfrm>
          <a:custGeom>
            <a:avLst/>
            <a:gdLst/>
            <a:ahLst/>
            <a:cxnLst/>
            <a:rect l="l" t="t" r="r" b="b"/>
            <a:pathLst>
              <a:path w="531495" h="619760">
                <a:moveTo>
                  <a:pt x="0" y="619581"/>
                </a:moveTo>
                <a:lnTo>
                  <a:pt x="189134" y="0"/>
                </a:lnTo>
              </a:path>
              <a:path w="531495" h="619760">
                <a:moveTo>
                  <a:pt x="0" y="619581"/>
                </a:moveTo>
                <a:lnTo>
                  <a:pt x="531488" y="396302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28" name="object 28"/>
          <p:cNvGrpSpPr/>
          <p:nvPr/>
        </p:nvGrpSpPr>
        <p:grpSpPr>
          <a:xfrm>
            <a:off x="3004834" y="3162664"/>
            <a:ext cx="1481417" cy="429184"/>
            <a:chOff x="1525878" y="3584352"/>
            <a:chExt cx="1678939" cy="486409"/>
          </a:xfrm>
        </p:grpSpPr>
        <p:sp>
          <p:nvSpPr>
            <p:cNvPr id="29" name="object 29"/>
            <p:cNvSpPr/>
            <p:nvPr/>
          </p:nvSpPr>
          <p:spPr>
            <a:xfrm>
              <a:off x="1530958" y="3589432"/>
              <a:ext cx="1668780" cy="476250"/>
            </a:xfrm>
            <a:custGeom>
              <a:avLst/>
              <a:gdLst/>
              <a:ahLst/>
              <a:cxnLst/>
              <a:rect l="l" t="t" r="r" b="b"/>
              <a:pathLst>
                <a:path w="1668780" h="476250">
                  <a:moveTo>
                    <a:pt x="834384" y="0"/>
                  </a:moveTo>
                  <a:lnTo>
                    <a:pt x="762390" y="873"/>
                  </a:lnTo>
                  <a:lnTo>
                    <a:pt x="692097" y="3447"/>
                  </a:lnTo>
                  <a:lnTo>
                    <a:pt x="623755" y="7650"/>
                  </a:lnTo>
                  <a:lnTo>
                    <a:pt x="557614" y="13409"/>
                  </a:lnTo>
                  <a:lnTo>
                    <a:pt x="493925" y="20654"/>
                  </a:lnTo>
                  <a:lnTo>
                    <a:pt x="432939" y="29313"/>
                  </a:lnTo>
                  <a:lnTo>
                    <a:pt x="374906" y="39315"/>
                  </a:lnTo>
                  <a:lnTo>
                    <a:pt x="320076" y="50589"/>
                  </a:lnTo>
                  <a:lnTo>
                    <a:pt x="268700" y="63062"/>
                  </a:lnTo>
                  <a:lnTo>
                    <a:pt x="221028" y="76663"/>
                  </a:lnTo>
                  <a:lnTo>
                    <a:pt x="177311" y="91322"/>
                  </a:lnTo>
                  <a:lnTo>
                    <a:pt x="137799" y="106965"/>
                  </a:lnTo>
                  <a:lnTo>
                    <a:pt x="102743" y="123523"/>
                  </a:lnTo>
                  <a:lnTo>
                    <a:pt x="46999" y="159095"/>
                  </a:lnTo>
                  <a:lnTo>
                    <a:pt x="12083" y="197464"/>
                  </a:lnTo>
                  <a:lnTo>
                    <a:pt x="0" y="238061"/>
                  </a:lnTo>
                  <a:lnTo>
                    <a:pt x="3062" y="258602"/>
                  </a:lnTo>
                  <a:lnTo>
                    <a:pt x="26812" y="298156"/>
                  </a:lnTo>
                  <a:lnTo>
                    <a:pt x="72392" y="335198"/>
                  </a:lnTo>
                  <a:lnTo>
                    <a:pt x="137799" y="369156"/>
                  </a:lnTo>
                  <a:lnTo>
                    <a:pt x="177311" y="384799"/>
                  </a:lnTo>
                  <a:lnTo>
                    <a:pt x="221028" y="399458"/>
                  </a:lnTo>
                  <a:lnTo>
                    <a:pt x="268700" y="413059"/>
                  </a:lnTo>
                  <a:lnTo>
                    <a:pt x="320076" y="425532"/>
                  </a:lnTo>
                  <a:lnTo>
                    <a:pt x="374906" y="436805"/>
                  </a:lnTo>
                  <a:lnTo>
                    <a:pt x="432939" y="446807"/>
                  </a:lnTo>
                  <a:lnTo>
                    <a:pt x="493925" y="455467"/>
                  </a:lnTo>
                  <a:lnTo>
                    <a:pt x="557614" y="462712"/>
                  </a:lnTo>
                  <a:lnTo>
                    <a:pt x="623755" y="468471"/>
                  </a:lnTo>
                  <a:lnTo>
                    <a:pt x="692097" y="472674"/>
                  </a:lnTo>
                  <a:lnTo>
                    <a:pt x="762390" y="475247"/>
                  </a:lnTo>
                  <a:lnTo>
                    <a:pt x="834384" y="476121"/>
                  </a:lnTo>
                  <a:lnTo>
                    <a:pt x="906379" y="475247"/>
                  </a:lnTo>
                  <a:lnTo>
                    <a:pt x="976672" y="472674"/>
                  </a:lnTo>
                  <a:lnTo>
                    <a:pt x="1045014" y="468471"/>
                  </a:lnTo>
                  <a:lnTo>
                    <a:pt x="1111155" y="462712"/>
                  </a:lnTo>
                  <a:lnTo>
                    <a:pt x="1174844" y="455467"/>
                  </a:lnTo>
                  <a:lnTo>
                    <a:pt x="1235830" y="446807"/>
                  </a:lnTo>
                  <a:lnTo>
                    <a:pt x="1293864" y="436805"/>
                  </a:lnTo>
                  <a:lnTo>
                    <a:pt x="1348694" y="425532"/>
                  </a:lnTo>
                  <a:lnTo>
                    <a:pt x="1400070" y="413059"/>
                  </a:lnTo>
                  <a:lnTo>
                    <a:pt x="1447742" y="399458"/>
                  </a:lnTo>
                  <a:lnTo>
                    <a:pt x="1491459" y="384799"/>
                  </a:lnTo>
                  <a:lnTo>
                    <a:pt x="1530971" y="369156"/>
                  </a:lnTo>
                  <a:lnTo>
                    <a:pt x="1566027" y="352598"/>
                  </a:lnTo>
                  <a:lnTo>
                    <a:pt x="1621771" y="317027"/>
                  </a:lnTo>
                  <a:lnTo>
                    <a:pt x="1656687" y="278657"/>
                  </a:lnTo>
                  <a:lnTo>
                    <a:pt x="1668771" y="238061"/>
                  </a:lnTo>
                  <a:lnTo>
                    <a:pt x="1665708" y="217520"/>
                  </a:lnTo>
                  <a:lnTo>
                    <a:pt x="1641958" y="177965"/>
                  </a:lnTo>
                  <a:lnTo>
                    <a:pt x="1596378" y="140923"/>
                  </a:lnTo>
                  <a:lnTo>
                    <a:pt x="1530971" y="106965"/>
                  </a:lnTo>
                  <a:lnTo>
                    <a:pt x="1491459" y="91322"/>
                  </a:lnTo>
                  <a:lnTo>
                    <a:pt x="1447742" y="76663"/>
                  </a:lnTo>
                  <a:lnTo>
                    <a:pt x="1400070" y="63062"/>
                  </a:lnTo>
                  <a:lnTo>
                    <a:pt x="1348694" y="50589"/>
                  </a:lnTo>
                  <a:lnTo>
                    <a:pt x="1293864" y="39315"/>
                  </a:lnTo>
                  <a:lnTo>
                    <a:pt x="1235830" y="29313"/>
                  </a:lnTo>
                  <a:lnTo>
                    <a:pt x="1174844" y="20654"/>
                  </a:lnTo>
                  <a:lnTo>
                    <a:pt x="1111155" y="13409"/>
                  </a:lnTo>
                  <a:lnTo>
                    <a:pt x="1045014" y="7650"/>
                  </a:lnTo>
                  <a:lnTo>
                    <a:pt x="976672" y="3447"/>
                  </a:lnTo>
                  <a:lnTo>
                    <a:pt x="906379" y="873"/>
                  </a:lnTo>
                  <a:lnTo>
                    <a:pt x="83438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0958" y="3589432"/>
              <a:ext cx="1668780" cy="476250"/>
            </a:xfrm>
            <a:custGeom>
              <a:avLst/>
              <a:gdLst/>
              <a:ahLst/>
              <a:cxnLst/>
              <a:rect l="l" t="t" r="r" b="b"/>
              <a:pathLst>
                <a:path w="1668780" h="476250">
                  <a:moveTo>
                    <a:pt x="0" y="238060"/>
                  </a:moveTo>
                  <a:lnTo>
                    <a:pt x="12083" y="197464"/>
                  </a:lnTo>
                  <a:lnTo>
                    <a:pt x="46999" y="159094"/>
                  </a:lnTo>
                  <a:lnTo>
                    <a:pt x="102743" y="123523"/>
                  </a:lnTo>
                  <a:lnTo>
                    <a:pt x="137799" y="106965"/>
                  </a:lnTo>
                  <a:lnTo>
                    <a:pt x="177311" y="91321"/>
                  </a:lnTo>
                  <a:lnTo>
                    <a:pt x="221028" y="76663"/>
                  </a:lnTo>
                  <a:lnTo>
                    <a:pt x="268700" y="63062"/>
                  </a:lnTo>
                  <a:lnTo>
                    <a:pt x="320076" y="50589"/>
                  </a:lnTo>
                  <a:lnTo>
                    <a:pt x="374906" y="39315"/>
                  </a:lnTo>
                  <a:lnTo>
                    <a:pt x="432940" y="29313"/>
                  </a:lnTo>
                  <a:lnTo>
                    <a:pt x="493926" y="20654"/>
                  </a:lnTo>
                  <a:lnTo>
                    <a:pt x="557615" y="13409"/>
                  </a:lnTo>
                  <a:lnTo>
                    <a:pt x="623755" y="7650"/>
                  </a:lnTo>
                  <a:lnTo>
                    <a:pt x="692098" y="3447"/>
                  </a:lnTo>
                  <a:lnTo>
                    <a:pt x="762391" y="873"/>
                  </a:lnTo>
                  <a:lnTo>
                    <a:pt x="834385" y="0"/>
                  </a:lnTo>
                  <a:lnTo>
                    <a:pt x="906379" y="873"/>
                  </a:lnTo>
                  <a:lnTo>
                    <a:pt x="976672" y="3447"/>
                  </a:lnTo>
                  <a:lnTo>
                    <a:pt x="1045015" y="7650"/>
                  </a:lnTo>
                  <a:lnTo>
                    <a:pt x="1111156" y="13409"/>
                  </a:lnTo>
                  <a:lnTo>
                    <a:pt x="1174844" y="20654"/>
                  </a:lnTo>
                  <a:lnTo>
                    <a:pt x="1235831" y="29313"/>
                  </a:lnTo>
                  <a:lnTo>
                    <a:pt x="1293864" y="39315"/>
                  </a:lnTo>
                  <a:lnTo>
                    <a:pt x="1348694" y="50589"/>
                  </a:lnTo>
                  <a:lnTo>
                    <a:pt x="1400070" y="63062"/>
                  </a:lnTo>
                  <a:lnTo>
                    <a:pt x="1447742" y="76663"/>
                  </a:lnTo>
                  <a:lnTo>
                    <a:pt x="1491459" y="91321"/>
                  </a:lnTo>
                  <a:lnTo>
                    <a:pt x="1530971" y="106965"/>
                  </a:lnTo>
                  <a:lnTo>
                    <a:pt x="1566028" y="123523"/>
                  </a:lnTo>
                  <a:lnTo>
                    <a:pt x="1621771" y="159094"/>
                  </a:lnTo>
                  <a:lnTo>
                    <a:pt x="1656687" y="197464"/>
                  </a:lnTo>
                  <a:lnTo>
                    <a:pt x="1668771" y="238060"/>
                  </a:lnTo>
                  <a:lnTo>
                    <a:pt x="1665708" y="258601"/>
                  </a:lnTo>
                  <a:lnTo>
                    <a:pt x="1641958" y="298155"/>
                  </a:lnTo>
                  <a:lnTo>
                    <a:pt x="1596378" y="335197"/>
                  </a:lnTo>
                  <a:lnTo>
                    <a:pt x="1530971" y="369155"/>
                  </a:lnTo>
                  <a:lnTo>
                    <a:pt x="1491459" y="384799"/>
                  </a:lnTo>
                  <a:lnTo>
                    <a:pt x="1447742" y="399457"/>
                  </a:lnTo>
                  <a:lnTo>
                    <a:pt x="1400070" y="413059"/>
                  </a:lnTo>
                  <a:lnTo>
                    <a:pt x="1348694" y="425532"/>
                  </a:lnTo>
                  <a:lnTo>
                    <a:pt x="1293864" y="436805"/>
                  </a:lnTo>
                  <a:lnTo>
                    <a:pt x="1235831" y="446807"/>
                  </a:lnTo>
                  <a:lnTo>
                    <a:pt x="1174844" y="455466"/>
                  </a:lnTo>
                  <a:lnTo>
                    <a:pt x="1111156" y="462711"/>
                  </a:lnTo>
                  <a:lnTo>
                    <a:pt x="1045015" y="468471"/>
                  </a:lnTo>
                  <a:lnTo>
                    <a:pt x="976672" y="472673"/>
                  </a:lnTo>
                  <a:lnTo>
                    <a:pt x="906379" y="475247"/>
                  </a:lnTo>
                  <a:lnTo>
                    <a:pt x="834385" y="476121"/>
                  </a:lnTo>
                  <a:lnTo>
                    <a:pt x="762391" y="475247"/>
                  </a:lnTo>
                  <a:lnTo>
                    <a:pt x="692098" y="472673"/>
                  </a:lnTo>
                  <a:lnTo>
                    <a:pt x="623755" y="468471"/>
                  </a:lnTo>
                  <a:lnTo>
                    <a:pt x="557615" y="462711"/>
                  </a:lnTo>
                  <a:lnTo>
                    <a:pt x="493926" y="455466"/>
                  </a:lnTo>
                  <a:lnTo>
                    <a:pt x="432940" y="446807"/>
                  </a:lnTo>
                  <a:lnTo>
                    <a:pt x="374906" y="436805"/>
                  </a:lnTo>
                  <a:lnTo>
                    <a:pt x="320076" y="425532"/>
                  </a:lnTo>
                  <a:lnTo>
                    <a:pt x="268700" y="413059"/>
                  </a:lnTo>
                  <a:lnTo>
                    <a:pt x="221028" y="399457"/>
                  </a:lnTo>
                  <a:lnTo>
                    <a:pt x="177311" y="384799"/>
                  </a:lnTo>
                  <a:lnTo>
                    <a:pt x="137799" y="369155"/>
                  </a:lnTo>
                  <a:lnTo>
                    <a:pt x="102743" y="352598"/>
                  </a:lnTo>
                  <a:lnTo>
                    <a:pt x="46999" y="317026"/>
                  </a:lnTo>
                  <a:lnTo>
                    <a:pt x="12083" y="278657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199805" y="3221019"/>
            <a:ext cx="10460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49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00" u="sng" spc="-18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hw_number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24925" y="4132187"/>
            <a:ext cx="1365437" cy="917201"/>
            <a:chOff x="868648" y="4683145"/>
            <a:chExt cx="1547495" cy="1039494"/>
          </a:xfrm>
        </p:grpSpPr>
        <p:sp>
          <p:nvSpPr>
            <p:cNvPr id="33" name="object 33"/>
            <p:cNvSpPr/>
            <p:nvPr/>
          </p:nvSpPr>
          <p:spPr>
            <a:xfrm>
              <a:off x="1669177" y="4688225"/>
              <a:ext cx="452120" cy="53975"/>
            </a:xfrm>
            <a:custGeom>
              <a:avLst/>
              <a:gdLst/>
              <a:ahLst/>
              <a:cxnLst/>
              <a:rect l="l" t="t" r="r" b="b"/>
              <a:pathLst>
                <a:path w="452119" h="53975">
                  <a:moveTo>
                    <a:pt x="451796" y="0"/>
                  </a:moveTo>
                  <a:lnTo>
                    <a:pt x="0" y="53661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873728" y="5241059"/>
              <a:ext cx="1537335" cy="476250"/>
            </a:xfrm>
            <a:custGeom>
              <a:avLst/>
              <a:gdLst/>
              <a:ahLst/>
              <a:cxnLst/>
              <a:rect l="l" t="t" r="r" b="b"/>
              <a:pathLst>
                <a:path w="1537335" h="476250">
                  <a:moveTo>
                    <a:pt x="768666" y="0"/>
                  </a:moveTo>
                  <a:lnTo>
                    <a:pt x="698701" y="972"/>
                  </a:lnTo>
                  <a:lnTo>
                    <a:pt x="630497" y="3835"/>
                  </a:lnTo>
                  <a:lnTo>
                    <a:pt x="564324" y="8503"/>
                  </a:lnTo>
                  <a:lnTo>
                    <a:pt x="500453" y="14893"/>
                  </a:lnTo>
                  <a:lnTo>
                    <a:pt x="439156" y="22921"/>
                  </a:lnTo>
                  <a:lnTo>
                    <a:pt x="380705" y="32502"/>
                  </a:lnTo>
                  <a:lnTo>
                    <a:pt x="325370" y="43552"/>
                  </a:lnTo>
                  <a:lnTo>
                    <a:pt x="273424" y="55988"/>
                  </a:lnTo>
                  <a:lnTo>
                    <a:pt x="225137" y="69726"/>
                  </a:lnTo>
                  <a:lnTo>
                    <a:pt x="180780" y="84681"/>
                  </a:lnTo>
                  <a:lnTo>
                    <a:pt x="140626" y="100769"/>
                  </a:lnTo>
                  <a:lnTo>
                    <a:pt x="104945" y="117907"/>
                  </a:lnTo>
                  <a:lnTo>
                    <a:pt x="48089" y="154994"/>
                  </a:lnTo>
                  <a:lnTo>
                    <a:pt x="12384" y="195269"/>
                  </a:lnTo>
                  <a:lnTo>
                    <a:pt x="0" y="238061"/>
                  </a:lnTo>
                  <a:lnTo>
                    <a:pt x="3141" y="259729"/>
                  </a:lnTo>
                  <a:lnTo>
                    <a:pt x="27457" y="301347"/>
                  </a:lnTo>
                  <a:lnTo>
                    <a:pt x="74009" y="340112"/>
                  </a:lnTo>
                  <a:lnTo>
                    <a:pt x="140626" y="375352"/>
                  </a:lnTo>
                  <a:lnTo>
                    <a:pt x="180780" y="391440"/>
                  </a:lnTo>
                  <a:lnTo>
                    <a:pt x="225137" y="406395"/>
                  </a:lnTo>
                  <a:lnTo>
                    <a:pt x="273424" y="420132"/>
                  </a:lnTo>
                  <a:lnTo>
                    <a:pt x="325370" y="432568"/>
                  </a:lnTo>
                  <a:lnTo>
                    <a:pt x="380705" y="443619"/>
                  </a:lnTo>
                  <a:lnTo>
                    <a:pt x="439156" y="453200"/>
                  </a:lnTo>
                  <a:lnTo>
                    <a:pt x="500453" y="461228"/>
                  </a:lnTo>
                  <a:lnTo>
                    <a:pt x="564324" y="467617"/>
                  </a:lnTo>
                  <a:lnTo>
                    <a:pt x="630497" y="472286"/>
                  </a:lnTo>
                  <a:lnTo>
                    <a:pt x="698701" y="475148"/>
                  </a:lnTo>
                  <a:lnTo>
                    <a:pt x="768666" y="476121"/>
                  </a:lnTo>
                  <a:lnTo>
                    <a:pt x="838630" y="475148"/>
                  </a:lnTo>
                  <a:lnTo>
                    <a:pt x="906834" y="472286"/>
                  </a:lnTo>
                  <a:lnTo>
                    <a:pt x="973008" y="467617"/>
                  </a:lnTo>
                  <a:lnTo>
                    <a:pt x="1036878" y="461228"/>
                  </a:lnTo>
                  <a:lnTo>
                    <a:pt x="1098175" y="453200"/>
                  </a:lnTo>
                  <a:lnTo>
                    <a:pt x="1156626" y="443619"/>
                  </a:lnTo>
                  <a:lnTo>
                    <a:pt x="1211961" y="432568"/>
                  </a:lnTo>
                  <a:lnTo>
                    <a:pt x="1263908" y="420132"/>
                  </a:lnTo>
                  <a:lnTo>
                    <a:pt x="1312195" y="406395"/>
                  </a:lnTo>
                  <a:lnTo>
                    <a:pt x="1356551" y="391440"/>
                  </a:lnTo>
                  <a:lnTo>
                    <a:pt x="1396706" y="375352"/>
                  </a:lnTo>
                  <a:lnTo>
                    <a:pt x="1432386" y="358214"/>
                  </a:lnTo>
                  <a:lnTo>
                    <a:pt x="1489242" y="321128"/>
                  </a:lnTo>
                  <a:lnTo>
                    <a:pt x="1524948" y="280853"/>
                  </a:lnTo>
                  <a:lnTo>
                    <a:pt x="1537332" y="238061"/>
                  </a:lnTo>
                  <a:lnTo>
                    <a:pt x="1534191" y="216393"/>
                  </a:lnTo>
                  <a:lnTo>
                    <a:pt x="1509874" y="174775"/>
                  </a:lnTo>
                  <a:lnTo>
                    <a:pt x="1463322" y="136009"/>
                  </a:lnTo>
                  <a:lnTo>
                    <a:pt x="1396706" y="100769"/>
                  </a:lnTo>
                  <a:lnTo>
                    <a:pt x="1356551" y="84681"/>
                  </a:lnTo>
                  <a:lnTo>
                    <a:pt x="1312195" y="69726"/>
                  </a:lnTo>
                  <a:lnTo>
                    <a:pt x="1263908" y="55988"/>
                  </a:lnTo>
                  <a:lnTo>
                    <a:pt x="1211961" y="43552"/>
                  </a:lnTo>
                  <a:lnTo>
                    <a:pt x="1156626" y="32502"/>
                  </a:lnTo>
                  <a:lnTo>
                    <a:pt x="1098175" y="22921"/>
                  </a:lnTo>
                  <a:lnTo>
                    <a:pt x="1036878" y="14893"/>
                  </a:lnTo>
                  <a:lnTo>
                    <a:pt x="973008" y="8503"/>
                  </a:lnTo>
                  <a:lnTo>
                    <a:pt x="906834" y="3835"/>
                  </a:lnTo>
                  <a:lnTo>
                    <a:pt x="838630" y="972"/>
                  </a:lnTo>
                  <a:lnTo>
                    <a:pt x="76866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873728" y="5241059"/>
              <a:ext cx="1537335" cy="476250"/>
            </a:xfrm>
            <a:custGeom>
              <a:avLst/>
              <a:gdLst/>
              <a:ahLst/>
              <a:cxnLst/>
              <a:rect l="l" t="t" r="r" b="b"/>
              <a:pathLst>
                <a:path w="1537335" h="476250">
                  <a:moveTo>
                    <a:pt x="0" y="238060"/>
                  </a:moveTo>
                  <a:lnTo>
                    <a:pt x="12384" y="195268"/>
                  </a:lnTo>
                  <a:lnTo>
                    <a:pt x="48089" y="154993"/>
                  </a:lnTo>
                  <a:lnTo>
                    <a:pt x="104945" y="117906"/>
                  </a:lnTo>
                  <a:lnTo>
                    <a:pt x="140626" y="100769"/>
                  </a:lnTo>
                  <a:lnTo>
                    <a:pt x="180780" y="84681"/>
                  </a:lnTo>
                  <a:lnTo>
                    <a:pt x="225137" y="69726"/>
                  </a:lnTo>
                  <a:lnTo>
                    <a:pt x="273424" y="55988"/>
                  </a:lnTo>
                  <a:lnTo>
                    <a:pt x="325370" y="43552"/>
                  </a:lnTo>
                  <a:lnTo>
                    <a:pt x="380705" y="32502"/>
                  </a:lnTo>
                  <a:lnTo>
                    <a:pt x="439156" y="22921"/>
                  </a:lnTo>
                  <a:lnTo>
                    <a:pt x="500453" y="14893"/>
                  </a:lnTo>
                  <a:lnTo>
                    <a:pt x="564324" y="8503"/>
                  </a:lnTo>
                  <a:lnTo>
                    <a:pt x="630497" y="3835"/>
                  </a:lnTo>
                  <a:lnTo>
                    <a:pt x="698701" y="972"/>
                  </a:lnTo>
                  <a:lnTo>
                    <a:pt x="768666" y="0"/>
                  </a:lnTo>
                  <a:lnTo>
                    <a:pt x="838630" y="972"/>
                  </a:lnTo>
                  <a:lnTo>
                    <a:pt x="906834" y="3835"/>
                  </a:lnTo>
                  <a:lnTo>
                    <a:pt x="973007" y="8503"/>
                  </a:lnTo>
                  <a:lnTo>
                    <a:pt x="1036878" y="14893"/>
                  </a:lnTo>
                  <a:lnTo>
                    <a:pt x="1098175" y="22921"/>
                  </a:lnTo>
                  <a:lnTo>
                    <a:pt x="1156626" y="32502"/>
                  </a:lnTo>
                  <a:lnTo>
                    <a:pt x="1211961" y="43552"/>
                  </a:lnTo>
                  <a:lnTo>
                    <a:pt x="1263907" y="55988"/>
                  </a:lnTo>
                  <a:lnTo>
                    <a:pt x="1312194" y="69726"/>
                  </a:lnTo>
                  <a:lnTo>
                    <a:pt x="1356551" y="84681"/>
                  </a:lnTo>
                  <a:lnTo>
                    <a:pt x="1396705" y="100769"/>
                  </a:lnTo>
                  <a:lnTo>
                    <a:pt x="1432386" y="117906"/>
                  </a:lnTo>
                  <a:lnTo>
                    <a:pt x="1489242" y="154993"/>
                  </a:lnTo>
                  <a:lnTo>
                    <a:pt x="1524947" y="195268"/>
                  </a:lnTo>
                  <a:lnTo>
                    <a:pt x="1537332" y="238060"/>
                  </a:lnTo>
                  <a:lnTo>
                    <a:pt x="1534190" y="259729"/>
                  </a:lnTo>
                  <a:lnTo>
                    <a:pt x="1509874" y="301346"/>
                  </a:lnTo>
                  <a:lnTo>
                    <a:pt x="1463322" y="340111"/>
                  </a:lnTo>
                  <a:lnTo>
                    <a:pt x="1396705" y="375351"/>
                  </a:lnTo>
                  <a:lnTo>
                    <a:pt x="1356551" y="391440"/>
                  </a:lnTo>
                  <a:lnTo>
                    <a:pt x="1312194" y="406395"/>
                  </a:lnTo>
                  <a:lnTo>
                    <a:pt x="1263907" y="420132"/>
                  </a:lnTo>
                  <a:lnTo>
                    <a:pt x="1211961" y="432568"/>
                  </a:lnTo>
                  <a:lnTo>
                    <a:pt x="1156626" y="443619"/>
                  </a:lnTo>
                  <a:lnTo>
                    <a:pt x="1098175" y="453200"/>
                  </a:lnTo>
                  <a:lnTo>
                    <a:pt x="1036878" y="461227"/>
                  </a:lnTo>
                  <a:lnTo>
                    <a:pt x="973007" y="467617"/>
                  </a:lnTo>
                  <a:lnTo>
                    <a:pt x="906834" y="472285"/>
                  </a:lnTo>
                  <a:lnTo>
                    <a:pt x="838630" y="475148"/>
                  </a:lnTo>
                  <a:lnTo>
                    <a:pt x="768666" y="476121"/>
                  </a:lnTo>
                  <a:lnTo>
                    <a:pt x="698701" y="475148"/>
                  </a:lnTo>
                  <a:lnTo>
                    <a:pt x="630497" y="472285"/>
                  </a:lnTo>
                  <a:lnTo>
                    <a:pt x="564324" y="467617"/>
                  </a:lnTo>
                  <a:lnTo>
                    <a:pt x="500453" y="461227"/>
                  </a:lnTo>
                  <a:lnTo>
                    <a:pt x="439156" y="453200"/>
                  </a:lnTo>
                  <a:lnTo>
                    <a:pt x="380705" y="443619"/>
                  </a:lnTo>
                  <a:lnTo>
                    <a:pt x="325370" y="432568"/>
                  </a:lnTo>
                  <a:lnTo>
                    <a:pt x="273424" y="420132"/>
                  </a:lnTo>
                  <a:lnTo>
                    <a:pt x="225137" y="406395"/>
                  </a:lnTo>
                  <a:lnTo>
                    <a:pt x="180780" y="391440"/>
                  </a:lnTo>
                  <a:lnTo>
                    <a:pt x="140626" y="375351"/>
                  </a:lnTo>
                  <a:lnTo>
                    <a:pt x="104945" y="358214"/>
                  </a:lnTo>
                  <a:lnTo>
                    <a:pt x="48089" y="321127"/>
                  </a:lnTo>
                  <a:lnTo>
                    <a:pt x="12384" y="280852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289448" y="4678681"/>
            <a:ext cx="7036174" cy="12757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755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total_scores</a:t>
            </a: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77" dirty="0">
              <a:latin typeface="Arial MT"/>
              <a:cs typeface="Arial MT"/>
            </a:endParaRPr>
          </a:p>
          <a:p>
            <a:pPr marL="11206">
              <a:spcBef>
                <a:spcPts val="1041"/>
              </a:spcBef>
            </a:pP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course(</a:t>
            </a:r>
            <a:r>
              <a:rPr sz="1853" u="sng" spc="-22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c_number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title)</a:t>
            </a:r>
            <a:endParaRPr sz="1853" dirty="0">
              <a:latin typeface="Verdana"/>
              <a:cs typeface="Verdana"/>
            </a:endParaRPr>
          </a:p>
          <a:p>
            <a:pPr marL="11206">
              <a:spcBef>
                <a:spcPts val="596"/>
              </a:spcBef>
            </a:pP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homework(</a:t>
            </a:r>
            <a:r>
              <a:rPr sz="1853" u="sng" spc="-18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c_number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, </a:t>
            </a:r>
            <a:r>
              <a:rPr sz="1853" u="sng" spc="-31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hw_number</a:t>
            </a:r>
            <a:r>
              <a:rPr sz="1853" spc="-31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due_date,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total_scores)</a:t>
            </a:r>
            <a:endParaRPr sz="1853" dirty="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177831" y="3969482"/>
            <a:ext cx="958103" cy="429184"/>
            <a:chOff x="588609" y="4498746"/>
            <a:chExt cx="1085850" cy="486409"/>
          </a:xfrm>
        </p:grpSpPr>
        <p:sp>
          <p:nvSpPr>
            <p:cNvPr id="38" name="object 38"/>
            <p:cNvSpPr/>
            <p:nvPr/>
          </p:nvSpPr>
          <p:spPr>
            <a:xfrm>
              <a:off x="593689" y="4503826"/>
              <a:ext cx="1075690" cy="476250"/>
            </a:xfrm>
            <a:custGeom>
              <a:avLst/>
              <a:gdLst/>
              <a:ahLst/>
              <a:cxnLst/>
              <a:rect l="l" t="t" r="r" b="b"/>
              <a:pathLst>
                <a:path w="1075689" h="476250">
                  <a:moveTo>
                    <a:pt x="537743" y="0"/>
                  </a:moveTo>
                  <a:lnTo>
                    <a:pt x="475031" y="1601"/>
                  </a:lnTo>
                  <a:lnTo>
                    <a:pt x="414444" y="6287"/>
                  </a:lnTo>
                  <a:lnTo>
                    <a:pt x="356384" y="13878"/>
                  </a:lnTo>
                  <a:lnTo>
                    <a:pt x="301257" y="24196"/>
                  </a:lnTo>
                  <a:lnTo>
                    <a:pt x="249465" y="37062"/>
                  </a:lnTo>
                  <a:lnTo>
                    <a:pt x="201412" y="52298"/>
                  </a:lnTo>
                  <a:lnTo>
                    <a:pt x="157501" y="69725"/>
                  </a:lnTo>
                  <a:lnTo>
                    <a:pt x="118136" y="89165"/>
                  </a:lnTo>
                  <a:lnTo>
                    <a:pt x="83720" y="110438"/>
                  </a:lnTo>
                  <a:lnTo>
                    <a:pt x="31349" y="157771"/>
                  </a:lnTo>
                  <a:lnTo>
                    <a:pt x="3617" y="210297"/>
                  </a:lnTo>
                  <a:lnTo>
                    <a:pt x="0" y="238060"/>
                  </a:lnTo>
                  <a:lnTo>
                    <a:pt x="3617" y="265823"/>
                  </a:lnTo>
                  <a:lnTo>
                    <a:pt x="31349" y="318348"/>
                  </a:lnTo>
                  <a:lnTo>
                    <a:pt x="83720" y="365681"/>
                  </a:lnTo>
                  <a:lnTo>
                    <a:pt x="118136" y="386954"/>
                  </a:lnTo>
                  <a:lnTo>
                    <a:pt x="157501" y="406394"/>
                  </a:lnTo>
                  <a:lnTo>
                    <a:pt x="201412" y="423821"/>
                  </a:lnTo>
                  <a:lnTo>
                    <a:pt x="249465" y="439057"/>
                  </a:lnTo>
                  <a:lnTo>
                    <a:pt x="301257" y="451923"/>
                  </a:lnTo>
                  <a:lnTo>
                    <a:pt x="356384" y="462241"/>
                  </a:lnTo>
                  <a:lnTo>
                    <a:pt x="414444" y="469833"/>
                  </a:lnTo>
                  <a:lnTo>
                    <a:pt x="475031" y="474518"/>
                  </a:lnTo>
                  <a:lnTo>
                    <a:pt x="537743" y="476120"/>
                  </a:lnTo>
                  <a:lnTo>
                    <a:pt x="600456" y="474518"/>
                  </a:lnTo>
                  <a:lnTo>
                    <a:pt x="661043" y="469833"/>
                  </a:lnTo>
                  <a:lnTo>
                    <a:pt x="719102" y="462241"/>
                  </a:lnTo>
                  <a:lnTo>
                    <a:pt x="774229" y="451923"/>
                  </a:lnTo>
                  <a:lnTo>
                    <a:pt x="826021" y="439057"/>
                  </a:lnTo>
                  <a:lnTo>
                    <a:pt x="874075" y="423821"/>
                  </a:lnTo>
                  <a:lnTo>
                    <a:pt x="917985" y="406394"/>
                  </a:lnTo>
                  <a:lnTo>
                    <a:pt x="957351" y="386954"/>
                  </a:lnTo>
                  <a:lnTo>
                    <a:pt x="991767" y="365681"/>
                  </a:lnTo>
                  <a:lnTo>
                    <a:pt x="1044137" y="318348"/>
                  </a:lnTo>
                  <a:lnTo>
                    <a:pt x="1071869" y="265823"/>
                  </a:lnTo>
                  <a:lnTo>
                    <a:pt x="1075487" y="238060"/>
                  </a:lnTo>
                  <a:lnTo>
                    <a:pt x="1071869" y="210297"/>
                  </a:lnTo>
                  <a:lnTo>
                    <a:pt x="1044137" y="157771"/>
                  </a:lnTo>
                  <a:lnTo>
                    <a:pt x="991767" y="110438"/>
                  </a:lnTo>
                  <a:lnTo>
                    <a:pt x="957351" y="89165"/>
                  </a:lnTo>
                  <a:lnTo>
                    <a:pt x="917985" y="69725"/>
                  </a:lnTo>
                  <a:lnTo>
                    <a:pt x="874075" y="52298"/>
                  </a:lnTo>
                  <a:lnTo>
                    <a:pt x="826021" y="37062"/>
                  </a:lnTo>
                  <a:lnTo>
                    <a:pt x="774229" y="24196"/>
                  </a:lnTo>
                  <a:lnTo>
                    <a:pt x="719102" y="13878"/>
                  </a:lnTo>
                  <a:lnTo>
                    <a:pt x="661043" y="6287"/>
                  </a:lnTo>
                  <a:lnTo>
                    <a:pt x="600456" y="1601"/>
                  </a:lnTo>
                  <a:lnTo>
                    <a:pt x="53774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593689" y="4503826"/>
              <a:ext cx="1075690" cy="476250"/>
            </a:xfrm>
            <a:custGeom>
              <a:avLst/>
              <a:gdLst/>
              <a:ahLst/>
              <a:cxnLst/>
              <a:rect l="l" t="t" r="r" b="b"/>
              <a:pathLst>
                <a:path w="1075689" h="476250">
                  <a:moveTo>
                    <a:pt x="0" y="238060"/>
                  </a:moveTo>
                  <a:lnTo>
                    <a:pt x="14202" y="183475"/>
                  </a:lnTo>
                  <a:lnTo>
                    <a:pt x="54656" y="133367"/>
                  </a:lnTo>
                  <a:lnTo>
                    <a:pt x="118136" y="89165"/>
                  </a:lnTo>
                  <a:lnTo>
                    <a:pt x="157501" y="69726"/>
                  </a:lnTo>
                  <a:lnTo>
                    <a:pt x="201412" y="52299"/>
                  </a:lnTo>
                  <a:lnTo>
                    <a:pt x="249465" y="37063"/>
                  </a:lnTo>
                  <a:lnTo>
                    <a:pt x="301257" y="24196"/>
                  </a:lnTo>
                  <a:lnTo>
                    <a:pt x="356384" y="13878"/>
                  </a:lnTo>
                  <a:lnTo>
                    <a:pt x="414444" y="6287"/>
                  </a:lnTo>
                  <a:lnTo>
                    <a:pt x="475031" y="1601"/>
                  </a:lnTo>
                  <a:lnTo>
                    <a:pt x="537743" y="0"/>
                  </a:lnTo>
                  <a:lnTo>
                    <a:pt x="600456" y="1601"/>
                  </a:lnTo>
                  <a:lnTo>
                    <a:pt x="661043" y="6287"/>
                  </a:lnTo>
                  <a:lnTo>
                    <a:pt x="719102" y="13878"/>
                  </a:lnTo>
                  <a:lnTo>
                    <a:pt x="774229" y="24196"/>
                  </a:lnTo>
                  <a:lnTo>
                    <a:pt x="826021" y="37063"/>
                  </a:lnTo>
                  <a:lnTo>
                    <a:pt x="874075" y="52299"/>
                  </a:lnTo>
                  <a:lnTo>
                    <a:pt x="917986" y="69726"/>
                  </a:lnTo>
                  <a:lnTo>
                    <a:pt x="957351" y="89165"/>
                  </a:lnTo>
                  <a:lnTo>
                    <a:pt x="991767" y="110439"/>
                  </a:lnTo>
                  <a:lnTo>
                    <a:pt x="1044137" y="157772"/>
                  </a:lnTo>
                  <a:lnTo>
                    <a:pt x="1071869" y="210297"/>
                  </a:lnTo>
                  <a:lnTo>
                    <a:pt x="1075487" y="238060"/>
                  </a:lnTo>
                  <a:lnTo>
                    <a:pt x="1071869" y="265823"/>
                  </a:lnTo>
                  <a:lnTo>
                    <a:pt x="1044137" y="318348"/>
                  </a:lnTo>
                  <a:lnTo>
                    <a:pt x="991767" y="365682"/>
                  </a:lnTo>
                  <a:lnTo>
                    <a:pt x="957351" y="386955"/>
                  </a:lnTo>
                  <a:lnTo>
                    <a:pt x="917986" y="406395"/>
                  </a:lnTo>
                  <a:lnTo>
                    <a:pt x="874075" y="423822"/>
                  </a:lnTo>
                  <a:lnTo>
                    <a:pt x="826021" y="439058"/>
                  </a:lnTo>
                  <a:lnTo>
                    <a:pt x="774229" y="451924"/>
                  </a:lnTo>
                  <a:lnTo>
                    <a:pt x="719102" y="462242"/>
                  </a:lnTo>
                  <a:lnTo>
                    <a:pt x="661043" y="469834"/>
                  </a:lnTo>
                  <a:lnTo>
                    <a:pt x="600456" y="474519"/>
                  </a:lnTo>
                  <a:lnTo>
                    <a:pt x="537743" y="476121"/>
                  </a:lnTo>
                  <a:lnTo>
                    <a:pt x="475031" y="474519"/>
                  </a:lnTo>
                  <a:lnTo>
                    <a:pt x="414444" y="469834"/>
                  </a:lnTo>
                  <a:lnTo>
                    <a:pt x="356384" y="462242"/>
                  </a:lnTo>
                  <a:lnTo>
                    <a:pt x="301257" y="451924"/>
                  </a:lnTo>
                  <a:lnTo>
                    <a:pt x="249465" y="439058"/>
                  </a:lnTo>
                  <a:lnTo>
                    <a:pt x="201412" y="423822"/>
                  </a:lnTo>
                  <a:lnTo>
                    <a:pt x="157501" y="406395"/>
                  </a:lnTo>
                  <a:lnTo>
                    <a:pt x="118136" y="386955"/>
                  </a:lnTo>
                  <a:lnTo>
                    <a:pt x="83720" y="365682"/>
                  </a:lnTo>
                  <a:lnTo>
                    <a:pt x="31349" y="318348"/>
                  </a:lnTo>
                  <a:lnTo>
                    <a:pt x="3617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275849" y="4041289"/>
            <a:ext cx="80794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due_date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103229" y="3582841"/>
            <a:ext cx="1003487" cy="1046069"/>
            <a:chOff x="1637393" y="4060553"/>
            <a:chExt cx="1137285" cy="1185545"/>
          </a:xfrm>
        </p:grpSpPr>
        <p:sp>
          <p:nvSpPr>
            <p:cNvPr id="42" name="object 42"/>
            <p:cNvSpPr/>
            <p:nvPr/>
          </p:nvSpPr>
          <p:spPr>
            <a:xfrm>
              <a:off x="1642394" y="4688225"/>
              <a:ext cx="478790" cy="553085"/>
            </a:xfrm>
            <a:custGeom>
              <a:avLst/>
              <a:gdLst/>
              <a:ahLst/>
              <a:cxnLst/>
              <a:rect l="l" t="t" r="r" b="b"/>
              <a:pathLst>
                <a:path w="478789" h="553085">
                  <a:moveTo>
                    <a:pt x="478579" y="0"/>
                  </a:moveTo>
                  <a:lnTo>
                    <a:pt x="0" y="552834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2365343" y="4065554"/>
              <a:ext cx="403860" cy="363220"/>
            </a:xfrm>
            <a:custGeom>
              <a:avLst/>
              <a:gdLst/>
              <a:ahLst/>
              <a:cxnLst/>
              <a:rect l="l" t="t" r="r" b="b"/>
              <a:pathLst>
                <a:path w="403860" h="363220">
                  <a:moveTo>
                    <a:pt x="0" y="0"/>
                  </a:moveTo>
                  <a:lnTo>
                    <a:pt x="403711" y="363099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xfrm>
            <a:off x="7240799" y="6927081"/>
            <a:ext cx="2550795" cy="514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500" b="0" i="0" kern="1200">
                <a:solidFill>
                  <a:srgbClr val="292934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US" spc="-15"/>
              <a:t>[ER</a:t>
            </a:r>
            <a:r>
              <a:rPr lang="en-US" spc="-55"/>
              <a:t> </a:t>
            </a:r>
            <a:r>
              <a:rPr lang="en-US" spc="-10"/>
              <a:t>to</a:t>
            </a:r>
            <a:r>
              <a:rPr lang="en-US" spc="-45"/>
              <a:t> </a:t>
            </a:r>
            <a:r>
              <a:rPr lang="en-US" spc="-20"/>
              <a:t>schema</a:t>
            </a:r>
            <a:r>
              <a:rPr lang="en-US" spc="-50"/>
              <a:t> </a:t>
            </a:r>
            <a:r>
              <a:rPr lang="en-US" spc="-20"/>
              <a:t>worksheet]</a:t>
            </a:r>
          </a:p>
          <a:p>
            <a:pPr marR="120014" algn="r">
              <a:spcBef>
                <a:spcPts val="715"/>
              </a:spcBef>
            </a:pPr>
            <a:fld id="{81D60167-4931-47E6-BA6A-407CBD079E47}" type="slidenum">
              <a:rPr sz="1100" smtClean="0">
                <a:solidFill>
                  <a:srgbClr val="CCD1D9"/>
                </a:solidFill>
                <a:latin typeface="Arial MT"/>
                <a:cs typeface="Arial MT"/>
              </a:rPr>
              <a:pPr marR="120014" algn="r">
                <a:spcBef>
                  <a:spcPts val="715"/>
                </a:spcBef>
              </a:pPr>
              <a:t>41</a:t>
            </a:fld>
            <a:endParaRPr spc="-18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94312" y="4733364"/>
            <a:ext cx="6568888" cy="5816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course_id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title,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credits)</a:t>
            </a:r>
            <a:endParaRPr sz="1853">
              <a:latin typeface="Verdana"/>
              <a:cs typeface="Verdana"/>
            </a:endParaRPr>
          </a:p>
          <a:p>
            <a:pPr marL="11206"/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section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course_id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sec_id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u="sng" spc="-3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semester</a:t>
            </a:r>
            <a:r>
              <a:rPr sz="1853" spc="-3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62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1853" u="sng" spc="-62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ear,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enroll_limit)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8059" y="562764"/>
            <a:ext cx="927847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527825">
              <a:lnSpc>
                <a:spcPct val="100000"/>
              </a:lnSpc>
              <a:spcBef>
                <a:spcPts val="88"/>
              </a:spcBef>
            </a:pPr>
            <a:r>
              <a:rPr spc="-75" dirty="0"/>
              <a:t>Let’s</a:t>
            </a:r>
            <a:r>
              <a:rPr spc="-202" dirty="0"/>
              <a:t> </a:t>
            </a:r>
            <a:r>
              <a:rPr spc="-75" dirty="0"/>
              <a:t>try:</a:t>
            </a:r>
            <a:r>
              <a:rPr spc="-194" dirty="0"/>
              <a:t> </a:t>
            </a:r>
            <a:r>
              <a:rPr spc="-62" dirty="0"/>
              <a:t>E-R</a:t>
            </a:r>
            <a:r>
              <a:rPr spc="-202" dirty="0"/>
              <a:t> </a:t>
            </a:r>
            <a:r>
              <a:rPr spc="-49" dirty="0"/>
              <a:t>to</a:t>
            </a:r>
            <a:r>
              <a:rPr spc="-194" dirty="0"/>
              <a:t> </a:t>
            </a:r>
            <a:r>
              <a:rPr spc="-88" dirty="0"/>
              <a:t>Relations</a:t>
            </a:r>
            <a:r>
              <a:rPr spc="-194" dirty="0"/>
              <a:t> </a:t>
            </a:r>
            <a:r>
              <a:rPr spc="-62" dirty="0"/>
              <a:t>(2)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95907" y="1094590"/>
            <a:ext cx="6438900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1853" b="1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b="1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1853" b="1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-4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1853" b="1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1853" b="1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1853" b="1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1853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2794" y="2061371"/>
            <a:ext cx="6502363" cy="16246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62699" y="3223707"/>
            <a:ext cx="61968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io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7240799" y="6927081"/>
            <a:ext cx="2550795" cy="489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500" b="0" i="0" kern="1200">
                <a:solidFill>
                  <a:srgbClr val="292934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US" spc="-15" dirty="0"/>
              <a:t>[ER</a:t>
            </a:r>
            <a:r>
              <a:rPr lang="en-US" spc="-55" dirty="0"/>
              <a:t> </a:t>
            </a:r>
            <a:r>
              <a:rPr lang="en-US" spc="-10" dirty="0"/>
              <a:t>to</a:t>
            </a:r>
            <a:r>
              <a:rPr lang="en-US" spc="-45" dirty="0"/>
              <a:t> </a:t>
            </a:r>
            <a:r>
              <a:rPr lang="en-US" spc="-20" dirty="0"/>
              <a:t>schema]</a:t>
            </a:r>
          </a:p>
          <a:p>
            <a:pPr marR="120014" algn="r">
              <a:spcBef>
                <a:spcPts val="715"/>
              </a:spcBef>
            </a:pPr>
            <a:fld id="{81D60167-4931-47E6-BA6A-407CBD079E47}" type="slidenum">
              <a:rPr sz="1100" smtClean="0">
                <a:solidFill>
                  <a:srgbClr val="CCD1D9"/>
                </a:solidFill>
                <a:latin typeface="Arial MT"/>
                <a:cs typeface="Arial MT"/>
              </a:rPr>
              <a:pPr marR="120014" algn="r">
                <a:spcBef>
                  <a:spcPts val="715"/>
                </a:spcBef>
              </a:pPr>
              <a:t>42</a:t>
            </a:fld>
            <a:endParaRPr sz="971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5727" y="3223707"/>
            <a:ext cx="5877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ou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se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4622" y="2301239"/>
            <a:ext cx="57822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edi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3031" y="2271656"/>
            <a:ext cx="31712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07935" y="2669688"/>
            <a:ext cx="83764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ou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e_id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46502" y="3210261"/>
            <a:ext cx="98499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sec_course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81408" y="2451846"/>
            <a:ext cx="38884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ea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07087" y="2153322"/>
            <a:ext cx="79785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eme</a:t>
            </a: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96342" y="2516392"/>
            <a:ext cx="56589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_id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03262" y="2906357"/>
            <a:ext cx="920002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enroll_limit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4054" y="362188"/>
            <a:ext cx="8471647" cy="445922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841606">
              <a:lnSpc>
                <a:spcPct val="100000"/>
              </a:lnSpc>
              <a:spcBef>
                <a:spcPts val="88"/>
              </a:spcBef>
            </a:pPr>
            <a:r>
              <a:rPr lang="en-US" sz="2824" spc="-115" dirty="0"/>
              <a:t>R</a:t>
            </a:r>
            <a:r>
              <a:rPr lang="en-US" sz="2824" spc="-110" dirty="0"/>
              <a:t>e</a:t>
            </a:r>
            <a:r>
              <a:rPr lang="en-US" sz="2824" spc="-101" dirty="0"/>
              <a:t>l</a:t>
            </a:r>
            <a:r>
              <a:rPr lang="en-US" sz="2824" spc="-110" dirty="0"/>
              <a:t>a</a:t>
            </a:r>
            <a:r>
              <a:rPr lang="en-US" sz="2824" spc="-106" dirty="0"/>
              <a:t>t</a:t>
            </a:r>
            <a:r>
              <a:rPr lang="en-US" sz="2824" spc="-101" dirty="0"/>
              <a:t>i</a:t>
            </a:r>
            <a:r>
              <a:rPr lang="en-US" sz="2824" spc="-110" dirty="0"/>
              <a:t>o</a:t>
            </a:r>
            <a:r>
              <a:rPr lang="en-US" sz="2824" spc="-106" dirty="0"/>
              <a:t>n</a:t>
            </a:r>
            <a:r>
              <a:rPr lang="en-US" sz="2824" spc="-115" dirty="0"/>
              <a:t>s</a:t>
            </a:r>
            <a:r>
              <a:rPr lang="en-US" sz="2824" spc="-110" dirty="0"/>
              <a:t>h</a:t>
            </a:r>
            <a:r>
              <a:rPr lang="en-US" sz="2824" spc="-101" dirty="0"/>
              <a:t>i</a:t>
            </a:r>
            <a:r>
              <a:rPr lang="en-US" sz="2824" dirty="0"/>
              <a:t>p</a:t>
            </a:r>
            <a:r>
              <a:rPr lang="en-US" sz="2824" spc="-216" dirty="0"/>
              <a:t> </a:t>
            </a:r>
            <a:r>
              <a:rPr lang="en-US" sz="2824" spc="-115" dirty="0"/>
              <a:t>S</a:t>
            </a:r>
            <a:r>
              <a:rPr lang="en-US" sz="2824" spc="-110" dirty="0"/>
              <a:t>e</a:t>
            </a:r>
            <a:r>
              <a:rPr lang="en-US" sz="2824" spc="-106" dirty="0"/>
              <a:t>t</a:t>
            </a:r>
            <a:r>
              <a:rPr lang="en-US" sz="2824" dirty="0"/>
              <a:t>:  </a:t>
            </a:r>
            <a:r>
              <a:rPr lang="en-US" sz="2824" spc="-119" dirty="0"/>
              <a:t>M</a:t>
            </a:r>
            <a:r>
              <a:rPr lang="en-US" sz="2824" spc="-106" dirty="0"/>
              <a:t>a</a:t>
            </a:r>
            <a:r>
              <a:rPr lang="en-US" sz="2824" spc="-110" dirty="0"/>
              <a:t>n</a:t>
            </a:r>
            <a:r>
              <a:rPr lang="en-US" sz="2824" spc="-115" dirty="0"/>
              <a:t>y</a:t>
            </a:r>
            <a:r>
              <a:rPr lang="en-US" sz="2824" spc="-101" dirty="0"/>
              <a:t>-</a:t>
            </a:r>
            <a:r>
              <a:rPr lang="en-US" sz="2824" spc="-106" dirty="0"/>
              <a:t>t</a:t>
            </a:r>
            <a:r>
              <a:rPr lang="en-US" sz="2824" spc="-110" dirty="0"/>
              <a:t>o</a:t>
            </a:r>
            <a:r>
              <a:rPr lang="en-US" sz="2824" spc="-101" dirty="0"/>
              <a:t>-</a:t>
            </a:r>
            <a:r>
              <a:rPr lang="en-US" sz="2824" spc="-119" dirty="0"/>
              <a:t>O</a:t>
            </a:r>
            <a:r>
              <a:rPr lang="en-US" sz="2824" spc="-110" dirty="0"/>
              <a:t>n</a:t>
            </a:r>
            <a:r>
              <a:rPr lang="en-US" sz="2824" dirty="0"/>
              <a:t>e</a:t>
            </a:r>
            <a:r>
              <a:rPr lang="en-US" sz="2824" spc="-207" dirty="0"/>
              <a:t> </a:t>
            </a:r>
            <a:r>
              <a:rPr lang="en-US" sz="2824" dirty="0"/>
              <a:t>/</a:t>
            </a:r>
            <a:r>
              <a:rPr lang="en-US" sz="2824" spc="-207" dirty="0"/>
              <a:t> </a:t>
            </a:r>
            <a:r>
              <a:rPr lang="en-US" sz="2824" spc="-119" dirty="0"/>
              <a:t>O</a:t>
            </a:r>
            <a:r>
              <a:rPr lang="en-US" sz="2824" spc="-110" dirty="0"/>
              <a:t>ne</a:t>
            </a:r>
            <a:r>
              <a:rPr lang="en-US" sz="2824" spc="-101" dirty="0"/>
              <a:t>-</a:t>
            </a:r>
            <a:r>
              <a:rPr lang="en-US" sz="2824" spc="-106" dirty="0"/>
              <a:t>t</a:t>
            </a:r>
            <a:r>
              <a:rPr lang="en-US" sz="2824" spc="-110" dirty="0"/>
              <a:t>o</a:t>
            </a:r>
            <a:r>
              <a:rPr lang="en-US" sz="2824" spc="-101" dirty="0"/>
              <a:t>-</a:t>
            </a:r>
            <a:r>
              <a:rPr lang="en-US" sz="2824" spc="-119" dirty="0"/>
              <a:t>M</a:t>
            </a:r>
            <a:r>
              <a:rPr lang="en-US" sz="2824" spc="-106" dirty="0"/>
              <a:t>a</a:t>
            </a:r>
            <a:r>
              <a:rPr lang="en-US" sz="2824" spc="-110" dirty="0"/>
              <a:t>n</a:t>
            </a:r>
            <a:r>
              <a:rPr lang="en-US" sz="2824" dirty="0"/>
              <a:t>y</a:t>
            </a:r>
            <a:endParaRPr sz="2824" spc="-18" dirty="0">
              <a:solidFill>
                <a:srgbClr val="292934"/>
              </a:solidFill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37185" y="3160433"/>
            <a:ext cx="1143000" cy="500343"/>
            <a:chOff x="2129210" y="3581824"/>
            <a:chExt cx="1295400" cy="567055"/>
          </a:xfrm>
        </p:grpSpPr>
        <p:sp>
          <p:nvSpPr>
            <p:cNvPr id="9" name="object 9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78402" y="3283772"/>
            <a:ext cx="66002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mother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19352" y="3164916"/>
            <a:ext cx="1134035" cy="36209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9988" rIns="0" bIns="0" rtlCol="0">
            <a:spAutoFit/>
          </a:bodyPr>
          <a:lstStyle/>
          <a:p>
            <a:pPr marL="178743">
              <a:spcBef>
                <a:spcPts val="1024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child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62288" y="3113053"/>
            <a:ext cx="1489262" cy="607919"/>
            <a:chOff x="4197660" y="3528126"/>
            <a:chExt cx="1687830" cy="688975"/>
          </a:xfrm>
        </p:grpSpPr>
        <p:sp>
          <p:nvSpPr>
            <p:cNvPr id="14" name="object 14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680244" y="3309943"/>
            <a:ext cx="83063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mother of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441826" y="3364355"/>
            <a:ext cx="5082428" cy="1107701"/>
            <a:chOff x="887802" y="3812935"/>
            <a:chExt cx="5760085" cy="1255395"/>
          </a:xfrm>
        </p:grpSpPr>
        <p:sp>
          <p:nvSpPr>
            <p:cNvPr id="18" name="object 18"/>
            <p:cNvSpPr/>
            <p:nvPr/>
          </p:nvSpPr>
          <p:spPr>
            <a:xfrm>
              <a:off x="3419318" y="3812935"/>
              <a:ext cx="783590" cy="106680"/>
            </a:xfrm>
            <a:custGeom>
              <a:avLst/>
              <a:gdLst/>
              <a:ahLst/>
              <a:cxnLst/>
              <a:rect l="l" t="t" r="r" b="b"/>
              <a:pathLst>
                <a:path w="783589" h="106679">
                  <a:moveTo>
                    <a:pt x="91707" y="0"/>
                  </a:moveTo>
                  <a:lnTo>
                    <a:pt x="0" y="52379"/>
                  </a:lnTo>
                  <a:lnTo>
                    <a:pt x="90735" y="106425"/>
                  </a:lnTo>
                  <a:lnTo>
                    <a:pt x="93852" y="105636"/>
                  </a:lnTo>
                  <a:lnTo>
                    <a:pt x="96724" y="100815"/>
                  </a:lnTo>
                  <a:lnTo>
                    <a:pt x="95934" y="97697"/>
                  </a:lnTo>
                  <a:lnTo>
                    <a:pt x="28823" y="57722"/>
                  </a:lnTo>
                  <a:lnTo>
                    <a:pt x="10036" y="57551"/>
                  </a:lnTo>
                  <a:lnTo>
                    <a:pt x="10129" y="47391"/>
                  </a:lnTo>
                  <a:lnTo>
                    <a:pt x="29219" y="47391"/>
                  </a:lnTo>
                  <a:lnTo>
                    <a:pt x="96746" y="8822"/>
                  </a:lnTo>
                  <a:lnTo>
                    <a:pt x="97593" y="5720"/>
                  </a:lnTo>
                  <a:lnTo>
                    <a:pt x="94810" y="847"/>
                  </a:lnTo>
                  <a:lnTo>
                    <a:pt x="91707" y="0"/>
                  </a:lnTo>
                  <a:close/>
                </a:path>
                <a:path w="783589" h="106679">
                  <a:moveTo>
                    <a:pt x="28918" y="47563"/>
                  </a:moveTo>
                  <a:lnTo>
                    <a:pt x="20162" y="52564"/>
                  </a:lnTo>
                  <a:lnTo>
                    <a:pt x="28823" y="57722"/>
                  </a:lnTo>
                  <a:lnTo>
                    <a:pt x="783375" y="64617"/>
                  </a:lnTo>
                  <a:lnTo>
                    <a:pt x="783468" y="54458"/>
                  </a:lnTo>
                  <a:lnTo>
                    <a:pt x="28918" y="47563"/>
                  </a:lnTo>
                  <a:close/>
                </a:path>
                <a:path w="783589" h="106679">
                  <a:moveTo>
                    <a:pt x="10129" y="47391"/>
                  </a:moveTo>
                  <a:lnTo>
                    <a:pt x="10036" y="57551"/>
                  </a:lnTo>
                  <a:lnTo>
                    <a:pt x="28823" y="57722"/>
                  </a:lnTo>
                  <a:lnTo>
                    <a:pt x="27414" y="56883"/>
                  </a:lnTo>
                  <a:lnTo>
                    <a:pt x="12600" y="56883"/>
                  </a:lnTo>
                  <a:lnTo>
                    <a:pt x="12680" y="48107"/>
                  </a:lnTo>
                  <a:lnTo>
                    <a:pt x="27965" y="48107"/>
                  </a:lnTo>
                  <a:lnTo>
                    <a:pt x="28918" y="47563"/>
                  </a:lnTo>
                  <a:lnTo>
                    <a:pt x="10129" y="47391"/>
                  </a:lnTo>
                  <a:close/>
                </a:path>
                <a:path w="783589" h="106679">
                  <a:moveTo>
                    <a:pt x="12680" y="48107"/>
                  </a:moveTo>
                  <a:lnTo>
                    <a:pt x="12600" y="56883"/>
                  </a:lnTo>
                  <a:lnTo>
                    <a:pt x="20162" y="52564"/>
                  </a:lnTo>
                  <a:lnTo>
                    <a:pt x="12680" y="48107"/>
                  </a:lnTo>
                  <a:close/>
                </a:path>
                <a:path w="783589" h="106679">
                  <a:moveTo>
                    <a:pt x="20162" y="52564"/>
                  </a:moveTo>
                  <a:lnTo>
                    <a:pt x="12600" y="56883"/>
                  </a:lnTo>
                  <a:lnTo>
                    <a:pt x="27414" y="56883"/>
                  </a:lnTo>
                  <a:lnTo>
                    <a:pt x="20162" y="52564"/>
                  </a:lnTo>
                  <a:close/>
                </a:path>
                <a:path w="783589" h="106679">
                  <a:moveTo>
                    <a:pt x="27965" y="48107"/>
                  </a:moveTo>
                  <a:lnTo>
                    <a:pt x="12680" y="48107"/>
                  </a:lnTo>
                  <a:lnTo>
                    <a:pt x="20162" y="52564"/>
                  </a:lnTo>
                  <a:lnTo>
                    <a:pt x="27965" y="48107"/>
                  </a:lnTo>
                  <a:close/>
                </a:path>
                <a:path w="783589" h="106679">
                  <a:moveTo>
                    <a:pt x="29219" y="47391"/>
                  </a:moveTo>
                  <a:lnTo>
                    <a:pt x="10129" y="47391"/>
                  </a:lnTo>
                  <a:lnTo>
                    <a:pt x="28918" y="47563"/>
                  </a:lnTo>
                  <a:lnTo>
                    <a:pt x="29219" y="47391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5880359" y="3865315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4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4" y="1038889"/>
                  </a:lnTo>
                  <a:lnTo>
                    <a:pt x="2598988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8" y="332066"/>
                  </a:lnTo>
                  <a:lnTo>
                    <a:pt x="2552524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50299" y="4621305"/>
            <a:ext cx="5792321" cy="563733"/>
          </a:xfrm>
          <a:prstGeom prst="rect">
            <a:avLst/>
          </a:prstGeom>
        </p:spPr>
        <p:txBody>
          <a:bodyPr vert="horz" wrap="square" lIns="0" tIns="560" rIns="0" bIns="0" rtlCol="0">
            <a:spAutoFit/>
          </a:bodyPr>
          <a:lstStyle/>
          <a:p>
            <a:pPr marL="11206" marR="4483">
              <a:lnSpc>
                <a:spcPct val="102899"/>
              </a:lnSpc>
              <a:spcBef>
                <a:spcPts val="22"/>
              </a:spcBef>
            </a:pP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lang="en-US"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mother</a:t>
            </a:r>
            <a:r>
              <a:rPr lang="en-US"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lang="en-US" sz="1853" spc="53" dirty="0">
                <a:solidFill>
                  <a:srgbClr val="292934"/>
                </a:solidFill>
                <a:latin typeface="Verdana"/>
                <a:cs typeface="Verdana"/>
              </a:rPr>
              <a:t> have</a:t>
            </a:r>
            <a:r>
              <a:rPr lang="en-US"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lang="en-US" sz="1853" spc="62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853" spc="-9" dirty="0">
                <a:solidFill>
                  <a:srgbClr val="292934"/>
                </a:solidFill>
                <a:latin typeface="Verdana"/>
                <a:cs typeface="Verdana"/>
              </a:rPr>
              <a:t>children.</a:t>
            </a:r>
            <a:br>
              <a:rPr lang="en-US" sz="1853" spc="-9" dirty="0">
                <a:solidFill>
                  <a:srgbClr val="292934"/>
                </a:solidFill>
                <a:latin typeface="Verdana"/>
                <a:cs typeface="Verdana"/>
              </a:rPr>
            </a:br>
            <a:r>
              <a:rPr lang="en-US" sz="1853" spc="-9" dirty="0">
                <a:solidFill>
                  <a:srgbClr val="292934"/>
                </a:solidFill>
                <a:latin typeface="Verdana"/>
                <a:cs typeface="Verdana"/>
              </a:rPr>
              <a:t>Each child has one mother.</a:t>
            </a:r>
            <a:endParaRPr lang="en-US" sz="1853" dirty="0">
              <a:latin typeface="Verdana"/>
              <a:cs typeface="Verdan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2489" y="5359998"/>
            <a:ext cx="7772399" cy="65890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741246" y="5339750"/>
            <a:ext cx="6724650" cy="350206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4434" rIns="0" bIns="0" rtlCol="0">
            <a:spAutoFit/>
          </a:bodyPr>
          <a:lstStyle/>
          <a:p>
            <a:pPr marL="309859">
              <a:spcBef>
                <a:spcPts val="507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“at</a:t>
            </a:r>
            <a:r>
              <a:rPr sz="1853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1853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one”</a:t>
            </a:r>
            <a:r>
              <a:rPr sz="1853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53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1853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1853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78519" y="6183968"/>
            <a:ext cx="7585822" cy="18840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147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27761" y="3935506"/>
            <a:ext cx="1998009" cy="394150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67239" marR="4483" indent="-56593">
              <a:lnSpc>
                <a:spcPts val="1421"/>
              </a:lnSpc>
              <a:spcBef>
                <a:spcPts val="274"/>
              </a:spcBef>
            </a:pP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324">
              <a:latin typeface="Arial MT"/>
              <a:cs typeface="Arial M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136C03-F9CF-1FAF-FE27-CB134A3C41DB}"/>
              </a:ext>
            </a:extLst>
          </p:cNvPr>
          <p:cNvSpPr txBox="1"/>
          <p:nvPr/>
        </p:nvSpPr>
        <p:spPr>
          <a:xfrm>
            <a:off x="6897388" y="4270511"/>
            <a:ext cx="3737362" cy="1069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88" spc="-4" dirty="0">
                <a:solidFill>
                  <a:srgbClr val="292934"/>
                </a:solidFill>
                <a:latin typeface="Verdana"/>
                <a:cs typeface="Verdana"/>
              </a:rPr>
              <a:t>mother(</a:t>
            </a:r>
            <a:r>
              <a:rPr lang="en-US" sz="1588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SSN</a:t>
            </a:r>
            <a:r>
              <a:rPr lang="en-US" sz="1588" spc="-4" dirty="0">
                <a:solidFill>
                  <a:srgbClr val="292934"/>
                </a:solidFill>
                <a:latin typeface="Verdana"/>
                <a:cs typeface="Verdana"/>
              </a:rPr>
              <a:t>, name) </a:t>
            </a:r>
            <a:r>
              <a:rPr lang="en-US" sz="1588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</a:p>
          <a:p>
            <a:r>
              <a:rPr lang="en-US" sz="1588" spc="-4" dirty="0">
                <a:solidFill>
                  <a:srgbClr val="292934"/>
                </a:solidFill>
                <a:latin typeface="Verdana"/>
                <a:cs typeface="Verdana"/>
              </a:rPr>
              <a:t>child(</a:t>
            </a:r>
            <a:r>
              <a:rPr lang="en-US" sz="1588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SSN</a:t>
            </a:r>
            <a:r>
              <a:rPr lang="en-US" sz="1588" spc="-4" dirty="0">
                <a:solidFill>
                  <a:srgbClr val="292934"/>
                </a:solidFill>
                <a:latin typeface="Verdana"/>
                <a:cs typeface="Verdana"/>
              </a:rPr>
              <a:t>, name) </a:t>
            </a:r>
            <a:r>
              <a:rPr lang="en-US" sz="15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</a:p>
          <a:p>
            <a:r>
              <a:rPr lang="en-US" sz="1588" spc="-4" dirty="0" err="1">
                <a:solidFill>
                  <a:srgbClr val="292934"/>
                </a:solidFill>
                <a:latin typeface="Verdana"/>
                <a:cs typeface="Verdana"/>
              </a:rPr>
              <a:t>motherOf</a:t>
            </a:r>
            <a:r>
              <a:rPr lang="en-US" sz="1588" spc="-4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lang="en-US" sz="1588" u="sng" spc="-4" dirty="0" err="1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ChildSSN</a:t>
            </a:r>
            <a:r>
              <a:rPr lang="en-US" sz="1588" spc="-4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lang="en-US" sz="1588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588" spc="-4" dirty="0" err="1">
                <a:solidFill>
                  <a:srgbClr val="292934"/>
                </a:solidFill>
                <a:latin typeface="Verdana"/>
                <a:cs typeface="Verdana"/>
              </a:rPr>
              <a:t>motherSSN</a:t>
            </a:r>
            <a:r>
              <a:rPr lang="en-US" sz="1588" spc="-4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lang="en-US" sz="1588" dirty="0">
              <a:latin typeface="Verdana"/>
              <a:cs typeface="Verdana"/>
            </a:endParaRPr>
          </a:p>
          <a:p>
            <a:endParaRPr lang="en-US" sz="1588" dirty="0"/>
          </a:p>
        </p:txBody>
      </p:sp>
      <p:sp>
        <p:nvSpPr>
          <p:cNvPr id="31" name="object 7">
            <a:extLst>
              <a:ext uri="{FF2B5EF4-FFF2-40B4-BE49-F238E27FC236}">
                <a16:creationId xmlns:a16="http://schemas.microsoft.com/office/drawing/2014/main" id="{366347F4-F276-926B-0F60-024D36876203}"/>
              </a:ext>
            </a:extLst>
          </p:cNvPr>
          <p:cNvSpPr txBox="1"/>
          <p:nvPr/>
        </p:nvSpPr>
        <p:spPr>
          <a:xfrm>
            <a:off x="2239617" y="1167204"/>
            <a:ext cx="7485529" cy="1007248"/>
          </a:xfrm>
          <a:prstGeom prst="rect">
            <a:avLst/>
          </a:prstGeom>
        </p:spPr>
        <p:txBody>
          <a:bodyPr vert="horz" wrap="square" lIns="0" tIns="42022" rIns="0" bIns="0" rtlCol="0">
            <a:spAutoFit/>
          </a:bodyPr>
          <a:lstStyle/>
          <a:p>
            <a:pPr marL="921733" marR="806867" indent="-911087">
              <a:lnSpc>
                <a:spcPts val="2012"/>
              </a:lnSpc>
              <a:spcBef>
                <a:spcPts val="331"/>
              </a:spcBef>
            </a:pPr>
            <a:r>
              <a:rPr sz="1853" spc="-40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both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participating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1853" spc="-6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 attributes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itself</a:t>
            </a:r>
            <a:endParaRPr sz="1853" dirty="0">
              <a:latin typeface="Verdana"/>
              <a:cs typeface="Verdana"/>
            </a:endParaRPr>
          </a:p>
          <a:p>
            <a:pPr marL="11206">
              <a:spcBef>
                <a:spcPts val="1279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 entity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set on the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“many”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side</a:t>
            </a:r>
            <a:endParaRPr sz="1853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37893" y="5694515"/>
            <a:ext cx="3644713" cy="387162"/>
            <a:chOff x="543345" y="6453784"/>
            <a:chExt cx="4130675" cy="438784"/>
          </a:xfrm>
        </p:grpSpPr>
        <p:sp>
          <p:nvSpPr>
            <p:cNvPr id="3" name="object 3"/>
            <p:cNvSpPr/>
            <p:nvPr/>
          </p:nvSpPr>
          <p:spPr>
            <a:xfrm>
              <a:off x="550013" y="6460451"/>
              <a:ext cx="4117340" cy="425450"/>
            </a:xfrm>
            <a:custGeom>
              <a:avLst/>
              <a:gdLst/>
              <a:ahLst/>
              <a:cxnLst/>
              <a:rect l="l" t="t" r="r" b="b"/>
              <a:pathLst>
                <a:path w="4117340" h="425450">
                  <a:moveTo>
                    <a:pt x="4046276" y="0"/>
                  </a:moveTo>
                  <a:lnTo>
                    <a:pt x="70897" y="0"/>
                  </a:lnTo>
                  <a:lnTo>
                    <a:pt x="43301" y="5571"/>
                  </a:lnTo>
                  <a:lnTo>
                    <a:pt x="20765" y="20765"/>
                  </a:lnTo>
                  <a:lnTo>
                    <a:pt x="5571" y="43301"/>
                  </a:lnTo>
                  <a:lnTo>
                    <a:pt x="0" y="70898"/>
                  </a:lnTo>
                  <a:lnTo>
                    <a:pt x="0" y="354474"/>
                  </a:lnTo>
                  <a:lnTo>
                    <a:pt x="5571" y="382070"/>
                  </a:lnTo>
                  <a:lnTo>
                    <a:pt x="20765" y="404606"/>
                  </a:lnTo>
                  <a:lnTo>
                    <a:pt x="43301" y="419800"/>
                  </a:lnTo>
                  <a:lnTo>
                    <a:pt x="70897" y="425372"/>
                  </a:lnTo>
                  <a:lnTo>
                    <a:pt x="4046276" y="425372"/>
                  </a:lnTo>
                  <a:lnTo>
                    <a:pt x="4073873" y="419800"/>
                  </a:lnTo>
                  <a:lnTo>
                    <a:pt x="4096408" y="404606"/>
                  </a:lnTo>
                  <a:lnTo>
                    <a:pt x="4111602" y="382070"/>
                  </a:lnTo>
                  <a:lnTo>
                    <a:pt x="4117174" y="354474"/>
                  </a:lnTo>
                  <a:lnTo>
                    <a:pt x="4117174" y="70898"/>
                  </a:lnTo>
                  <a:lnTo>
                    <a:pt x="4111602" y="43301"/>
                  </a:lnTo>
                  <a:lnTo>
                    <a:pt x="4096408" y="20765"/>
                  </a:lnTo>
                  <a:lnTo>
                    <a:pt x="4073873" y="5571"/>
                  </a:lnTo>
                  <a:lnTo>
                    <a:pt x="4046276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550013" y="6460451"/>
              <a:ext cx="4117340" cy="425450"/>
            </a:xfrm>
            <a:custGeom>
              <a:avLst/>
              <a:gdLst/>
              <a:ahLst/>
              <a:cxnLst/>
              <a:rect l="l" t="t" r="r" b="b"/>
              <a:pathLst>
                <a:path w="4117340" h="425450">
                  <a:moveTo>
                    <a:pt x="0" y="70898"/>
                  </a:moveTo>
                  <a:lnTo>
                    <a:pt x="5571" y="43301"/>
                  </a:lnTo>
                  <a:lnTo>
                    <a:pt x="20765" y="20765"/>
                  </a:lnTo>
                  <a:lnTo>
                    <a:pt x="43301" y="5571"/>
                  </a:lnTo>
                  <a:lnTo>
                    <a:pt x="70897" y="0"/>
                  </a:lnTo>
                  <a:lnTo>
                    <a:pt x="4046275" y="0"/>
                  </a:lnTo>
                  <a:lnTo>
                    <a:pt x="4073872" y="5571"/>
                  </a:lnTo>
                  <a:lnTo>
                    <a:pt x="4096408" y="20765"/>
                  </a:lnTo>
                  <a:lnTo>
                    <a:pt x="4111602" y="43301"/>
                  </a:lnTo>
                  <a:lnTo>
                    <a:pt x="4117173" y="70898"/>
                  </a:lnTo>
                  <a:lnTo>
                    <a:pt x="4117173" y="354474"/>
                  </a:lnTo>
                  <a:lnTo>
                    <a:pt x="4111602" y="382071"/>
                  </a:lnTo>
                  <a:lnTo>
                    <a:pt x="4096408" y="404607"/>
                  </a:lnTo>
                  <a:lnTo>
                    <a:pt x="4073872" y="419801"/>
                  </a:lnTo>
                  <a:lnTo>
                    <a:pt x="4046275" y="425372"/>
                  </a:lnTo>
                  <a:lnTo>
                    <a:pt x="70897" y="425372"/>
                  </a:lnTo>
                  <a:lnTo>
                    <a:pt x="43301" y="419801"/>
                  </a:lnTo>
                  <a:lnTo>
                    <a:pt x="20765" y="404607"/>
                  </a:lnTo>
                  <a:lnTo>
                    <a:pt x="5571" y="382071"/>
                  </a:lnTo>
                  <a:lnTo>
                    <a:pt x="0" y="354474"/>
                  </a:lnTo>
                  <a:lnTo>
                    <a:pt x="0" y="70898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256228" y="5010373"/>
            <a:ext cx="3781425" cy="982015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 marR="4483">
              <a:lnSpc>
                <a:spcPct val="116700"/>
              </a:lnSpc>
              <a:spcBef>
                <a:spcPts val="119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product(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 name, description) </a:t>
            </a:r>
            <a:r>
              <a:rPr sz="1853" spc="-6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company(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 address)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makes(</a:t>
            </a:r>
            <a:r>
              <a:rPr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cname,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quantity)</a:t>
            </a:r>
            <a:endParaRPr sz="1853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29999" y="192931"/>
            <a:ext cx="6146426" cy="879393"/>
          </a:xfrm>
          <a:prstGeom prst="rect">
            <a:avLst/>
          </a:prstGeom>
        </p:spPr>
        <p:txBody>
          <a:bodyPr vert="horz" wrap="square" lIns="0" tIns="137272" rIns="0" bIns="0" rtlCol="0" anchor="ctr">
            <a:spAutoFit/>
          </a:bodyPr>
          <a:lstStyle/>
          <a:p>
            <a:pPr marL="11206" marR="4483" indent="1238876">
              <a:lnSpc>
                <a:spcPct val="73900"/>
              </a:lnSpc>
              <a:spcBef>
                <a:spcPts val="1081"/>
              </a:spcBef>
            </a:pPr>
            <a:r>
              <a:rPr sz="3177" spc="-115" dirty="0"/>
              <a:t>R</a:t>
            </a:r>
            <a:r>
              <a:rPr sz="3177" spc="-110" dirty="0"/>
              <a:t>e</a:t>
            </a:r>
            <a:r>
              <a:rPr sz="3177" spc="-101" dirty="0"/>
              <a:t>l</a:t>
            </a:r>
            <a:r>
              <a:rPr sz="3177" spc="-110" dirty="0"/>
              <a:t>a</a:t>
            </a:r>
            <a:r>
              <a:rPr sz="3177" spc="-106" dirty="0"/>
              <a:t>t</a:t>
            </a:r>
            <a:r>
              <a:rPr sz="3177" spc="-101" dirty="0"/>
              <a:t>i</a:t>
            </a:r>
            <a:r>
              <a:rPr sz="3177" spc="-110" dirty="0"/>
              <a:t>o</a:t>
            </a:r>
            <a:r>
              <a:rPr sz="3177" spc="-106" dirty="0"/>
              <a:t>n</a:t>
            </a:r>
            <a:r>
              <a:rPr sz="3177" spc="-115" dirty="0"/>
              <a:t>s</a:t>
            </a:r>
            <a:r>
              <a:rPr sz="3177" spc="-110" dirty="0"/>
              <a:t>h</a:t>
            </a:r>
            <a:r>
              <a:rPr sz="3177" spc="-101" dirty="0"/>
              <a:t>i</a:t>
            </a:r>
            <a:r>
              <a:rPr sz="3177" dirty="0"/>
              <a:t>p</a:t>
            </a:r>
            <a:r>
              <a:rPr sz="3177" spc="-216" dirty="0"/>
              <a:t> </a:t>
            </a:r>
            <a:r>
              <a:rPr sz="3177" spc="-115" dirty="0"/>
              <a:t>S</a:t>
            </a:r>
            <a:r>
              <a:rPr sz="3177" spc="-110" dirty="0"/>
              <a:t>e</a:t>
            </a:r>
            <a:r>
              <a:rPr sz="3177" spc="-106" dirty="0"/>
              <a:t>t</a:t>
            </a:r>
            <a:r>
              <a:rPr sz="3177" dirty="0"/>
              <a:t>:  </a:t>
            </a:r>
            <a:r>
              <a:rPr sz="3177" spc="-119" dirty="0"/>
              <a:t>M</a:t>
            </a:r>
            <a:r>
              <a:rPr sz="3177" spc="-106" dirty="0"/>
              <a:t>a</a:t>
            </a:r>
            <a:r>
              <a:rPr sz="3177" spc="-110" dirty="0"/>
              <a:t>n</a:t>
            </a:r>
            <a:r>
              <a:rPr sz="3177" spc="-115" dirty="0"/>
              <a:t>y</a:t>
            </a:r>
            <a:r>
              <a:rPr sz="3177" spc="-101" dirty="0"/>
              <a:t>-</a:t>
            </a:r>
            <a:r>
              <a:rPr sz="3177" spc="-106" dirty="0"/>
              <a:t>t</a:t>
            </a:r>
            <a:r>
              <a:rPr sz="3177" spc="-110" dirty="0"/>
              <a:t>o</a:t>
            </a:r>
            <a:r>
              <a:rPr sz="3177" spc="-101" dirty="0"/>
              <a:t>-</a:t>
            </a:r>
            <a:r>
              <a:rPr sz="3177" spc="-119" dirty="0"/>
              <a:t>O</a:t>
            </a:r>
            <a:r>
              <a:rPr sz="3177" spc="-110" dirty="0"/>
              <a:t>n</a:t>
            </a:r>
            <a:r>
              <a:rPr sz="3177" dirty="0"/>
              <a:t>e</a:t>
            </a:r>
            <a:r>
              <a:rPr sz="3177" spc="-207" dirty="0"/>
              <a:t> </a:t>
            </a:r>
            <a:r>
              <a:rPr sz="3177" dirty="0"/>
              <a:t>/</a:t>
            </a:r>
            <a:r>
              <a:rPr sz="3177" spc="-207" dirty="0"/>
              <a:t> </a:t>
            </a:r>
            <a:r>
              <a:rPr sz="3177" spc="-119" dirty="0"/>
              <a:t>O</a:t>
            </a:r>
            <a:r>
              <a:rPr sz="3177" spc="-110" dirty="0"/>
              <a:t>ne</a:t>
            </a:r>
            <a:r>
              <a:rPr sz="3177" spc="-101" dirty="0"/>
              <a:t>-</a:t>
            </a:r>
            <a:r>
              <a:rPr sz="3177" spc="-106" dirty="0"/>
              <a:t>t</a:t>
            </a:r>
            <a:r>
              <a:rPr sz="3177" spc="-110" dirty="0"/>
              <a:t>o</a:t>
            </a:r>
            <a:r>
              <a:rPr sz="3177" spc="-101" dirty="0"/>
              <a:t>-</a:t>
            </a:r>
            <a:r>
              <a:rPr sz="3177" spc="-119" dirty="0"/>
              <a:t>M</a:t>
            </a:r>
            <a:r>
              <a:rPr sz="3177" spc="-106" dirty="0"/>
              <a:t>a</a:t>
            </a:r>
            <a:r>
              <a:rPr sz="3177" spc="-110" dirty="0"/>
              <a:t>n</a:t>
            </a:r>
            <a:r>
              <a:rPr sz="3177" dirty="0"/>
              <a:t>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39617" y="1167204"/>
            <a:ext cx="7485529" cy="1007248"/>
          </a:xfrm>
          <a:prstGeom prst="rect">
            <a:avLst/>
          </a:prstGeom>
        </p:spPr>
        <p:txBody>
          <a:bodyPr vert="horz" wrap="square" lIns="0" tIns="42022" rIns="0" bIns="0" rtlCol="0">
            <a:spAutoFit/>
          </a:bodyPr>
          <a:lstStyle/>
          <a:p>
            <a:pPr marL="921733" marR="806867" indent="-911087">
              <a:lnSpc>
                <a:spcPts val="2012"/>
              </a:lnSpc>
              <a:spcBef>
                <a:spcPts val="331"/>
              </a:spcBef>
            </a:pPr>
            <a:r>
              <a:rPr sz="1853" spc="-40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both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participating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1853" spc="-6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 attributes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itself</a:t>
            </a:r>
            <a:endParaRPr sz="1853" dirty="0">
              <a:latin typeface="Verdana"/>
              <a:cs typeface="Verdana"/>
            </a:endParaRPr>
          </a:p>
          <a:p>
            <a:pPr marL="11206">
              <a:spcBef>
                <a:spcPts val="1279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 entity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set on the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“many”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side</a:t>
            </a:r>
            <a:endParaRPr sz="1853" dirty="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3879" y="2697369"/>
            <a:ext cx="6501024" cy="22352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04328" y="3629809"/>
            <a:ext cx="650501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52204" y="3629809"/>
            <a:ext cx="78721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ompan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08167" y="3635187"/>
            <a:ext cx="57822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ma</a:t>
            </a: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01333" y="3065032"/>
            <a:ext cx="27398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pi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08949" y="2779954"/>
            <a:ext cx="49474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32511" y="2814917"/>
            <a:ext cx="5888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61928" y="3019313"/>
            <a:ext cx="9317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71587" y="2809539"/>
            <a:ext cx="69308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91541" y="4409739"/>
            <a:ext cx="68299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quan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13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ty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82516" y="5248932"/>
            <a:ext cx="3620060" cy="658346"/>
            <a:chOff x="4900584" y="5948789"/>
            <a:chExt cx="4102735" cy="746125"/>
          </a:xfrm>
        </p:grpSpPr>
        <p:sp>
          <p:nvSpPr>
            <p:cNvPr id="19" name="object 19"/>
            <p:cNvSpPr/>
            <p:nvPr/>
          </p:nvSpPr>
          <p:spPr>
            <a:xfrm>
              <a:off x="4907252" y="5955456"/>
              <a:ext cx="4089400" cy="732790"/>
            </a:xfrm>
            <a:custGeom>
              <a:avLst/>
              <a:gdLst/>
              <a:ahLst/>
              <a:cxnLst/>
              <a:rect l="l" t="t" r="r" b="b"/>
              <a:pathLst>
                <a:path w="4089400" h="732790">
                  <a:moveTo>
                    <a:pt x="1907618" y="478480"/>
                  </a:moveTo>
                  <a:lnTo>
                    <a:pt x="972633" y="478480"/>
                  </a:lnTo>
                  <a:lnTo>
                    <a:pt x="0" y="732768"/>
                  </a:lnTo>
                  <a:lnTo>
                    <a:pt x="1907618" y="478480"/>
                  </a:lnTo>
                  <a:close/>
                </a:path>
                <a:path w="4089400" h="732790">
                  <a:moveTo>
                    <a:pt x="4009501" y="0"/>
                  </a:moveTo>
                  <a:lnTo>
                    <a:pt x="429058" y="0"/>
                  </a:lnTo>
                  <a:lnTo>
                    <a:pt x="398016" y="6266"/>
                  </a:lnTo>
                  <a:lnTo>
                    <a:pt x="372668" y="23357"/>
                  </a:lnTo>
                  <a:lnTo>
                    <a:pt x="355577" y="48705"/>
                  </a:lnTo>
                  <a:lnTo>
                    <a:pt x="349310" y="79747"/>
                  </a:lnTo>
                  <a:lnTo>
                    <a:pt x="349310" y="398731"/>
                  </a:lnTo>
                  <a:lnTo>
                    <a:pt x="355577" y="429773"/>
                  </a:lnTo>
                  <a:lnTo>
                    <a:pt x="372668" y="455122"/>
                  </a:lnTo>
                  <a:lnTo>
                    <a:pt x="398016" y="472213"/>
                  </a:lnTo>
                  <a:lnTo>
                    <a:pt x="429058" y="478480"/>
                  </a:lnTo>
                  <a:lnTo>
                    <a:pt x="4009501" y="478480"/>
                  </a:lnTo>
                  <a:lnTo>
                    <a:pt x="4040543" y="472213"/>
                  </a:lnTo>
                  <a:lnTo>
                    <a:pt x="4065892" y="455122"/>
                  </a:lnTo>
                  <a:lnTo>
                    <a:pt x="4082983" y="429773"/>
                  </a:lnTo>
                  <a:lnTo>
                    <a:pt x="4089250" y="398731"/>
                  </a:lnTo>
                  <a:lnTo>
                    <a:pt x="4089250" y="79747"/>
                  </a:lnTo>
                  <a:lnTo>
                    <a:pt x="4082983" y="48705"/>
                  </a:lnTo>
                  <a:lnTo>
                    <a:pt x="4065892" y="23357"/>
                  </a:lnTo>
                  <a:lnTo>
                    <a:pt x="4040543" y="6266"/>
                  </a:lnTo>
                  <a:lnTo>
                    <a:pt x="400950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4907252" y="5955456"/>
              <a:ext cx="4089400" cy="732790"/>
            </a:xfrm>
            <a:custGeom>
              <a:avLst/>
              <a:gdLst/>
              <a:ahLst/>
              <a:cxnLst/>
              <a:rect l="l" t="t" r="r" b="b"/>
              <a:pathLst>
                <a:path w="4089400" h="732790">
                  <a:moveTo>
                    <a:pt x="349310" y="79748"/>
                  </a:moveTo>
                  <a:lnTo>
                    <a:pt x="355577" y="48706"/>
                  </a:lnTo>
                  <a:lnTo>
                    <a:pt x="372668" y="23357"/>
                  </a:lnTo>
                  <a:lnTo>
                    <a:pt x="398016" y="6267"/>
                  </a:lnTo>
                  <a:lnTo>
                    <a:pt x="429058" y="0"/>
                  </a:lnTo>
                  <a:lnTo>
                    <a:pt x="972633" y="0"/>
                  </a:lnTo>
                  <a:lnTo>
                    <a:pt x="1907618" y="0"/>
                  </a:lnTo>
                  <a:lnTo>
                    <a:pt x="4009502" y="0"/>
                  </a:lnTo>
                  <a:lnTo>
                    <a:pt x="4040543" y="6267"/>
                  </a:lnTo>
                  <a:lnTo>
                    <a:pt x="4065891" y="23357"/>
                  </a:lnTo>
                  <a:lnTo>
                    <a:pt x="4082982" y="48706"/>
                  </a:lnTo>
                  <a:lnTo>
                    <a:pt x="4089249" y="79748"/>
                  </a:lnTo>
                  <a:lnTo>
                    <a:pt x="4089249" y="279114"/>
                  </a:lnTo>
                  <a:lnTo>
                    <a:pt x="4089249" y="398732"/>
                  </a:lnTo>
                  <a:lnTo>
                    <a:pt x="4082982" y="429774"/>
                  </a:lnTo>
                  <a:lnTo>
                    <a:pt x="4065891" y="455123"/>
                  </a:lnTo>
                  <a:lnTo>
                    <a:pt x="4040543" y="472213"/>
                  </a:lnTo>
                  <a:lnTo>
                    <a:pt x="4009502" y="478480"/>
                  </a:lnTo>
                  <a:lnTo>
                    <a:pt x="1907618" y="478480"/>
                  </a:lnTo>
                  <a:lnTo>
                    <a:pt x="0" y="732768"/>
                  </a:lnTo>
                  <a:lnTo>
                    <a:pt x="972633" y="478480"/>
                  </a:lnTo>
                  <a:lnTo>
                    <a:pt x="429058" y="478480"/>
                  </a:lnTo>
                  <a:lnTo>
                    <a:pt x="398016" y="472213"/>
                  </a:lnTo>
                  <a:lnTo>
                    <a:pt x="372668" y="455123"/>
                  </a:lnTo>
                  <a:lnTo>
                    <a:pt x="355577" y="429774"/>
                  </a:lnTo>
                  <a:lnTo>
                    <a:pt x="349310" y="398732"/>
                  </a:lnTo>
                  <a:lnTo>
                    <a:pt x="349310" y="279114"/>
                  </a:lnTo>
                  <a:lnTo>
                    <a:pt x="349310" y="79748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60550" y="5340274"/>
            <a:ext cx="29891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FFFFFF"/>
                </a:solidFill>
                <a:latin typeface="Verdana"/>
                <a:cs typeface="Verdana"/>
              </a:rPr>
              <a:t>Primary</a:t>
            </a:r>
            <a:r>
              <a:rPr sz="1500" spc="-31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3" dirty="0">
                <a:solidFill>
                  <a:srgbClr val="FFFFFF"/>
                </a:solidFill>
                <a:latin typeface="Verdana"/>
                <a:cs typeface="Verdana"/>
              </a:rPr>
              <a:t>key</a:t>
            </a:r>
            <a:r>
              <a:rPr sz="1500" spc="-31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4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500" spc="-26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9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5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13" dirty="0">
                <a:solidFill>
                  <a:srgbClr val="FFFFFF"/>
                </a:solidFill>
                <a:latin typeface="Verdana"/>
                <a:cs typeface="Verdana"/>
              </a:rPr>
              <a:t>“many”</a:t>
            </a:r>
            <a:r>
              <a:rPr sz="1500" spc="-26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00" spc="-9" dirty="0">
                <a:solidFill>
                  <a:srgbClr val="FFFFFF"/>
                </a:solidFill>
                <a:latin typeface="Verdana"/>
                <a:cs typeface="Verdana"/>
              </a:rPr>
              <a:t>side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739AA-7E9E-9900-ECFB-14F68095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BA558E-77E3-7FF1-17AE-6D8521A92A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0961" y="324925"/>
            <a:ext cx="8471647" cy="60885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014747">
              <a:lnSpc>
                <a:spcPct val="100000"/>
              </a:lnSpc>
              <a:spcBef>
                <a:spcPts val="88"/>
              </a:spcBef>
            </a:pPr>
            <a:r>
              <a:rPr lang="en-US" sz="3177" spc="-110" dirty="0"/>
              <a:t>Re</a:t>
            </a:r>
            <a:r>
              <a:rPr lang="en-US" sz="3177" spc="-106" dirty="0"/>
              <a:t>l</a:t>
            </a:r>
            <a:r>
              <a:rPr lang="en-US" sz="3177" spc="-110" dirty="0"/>
              <a:t>a</a:t>
            </a:r>
            <a:r>
              <a:rPr lang="en-US" sz="3177" spc="-106" dirty="0"/>
              <a:t>ti</a:t>
            </a:r>
            <a:r>
              <a:rPr lang="en-US" sz="3177" spc="-101" dirty="0"/>
              <a:t>o</a:t>
            </a:r>
            <a:r>
              <a:rPr lang="en-US" sz="3177" spc="-110" dirty="0"/>
              <a:t>n</a:t>
            </a:r>
            <a:r>
              <a:rPr lang="en-US" sz="3177" spc="-101" dirty="0"/>
              <a:t>s</a:t>
            </a:r>
            <a:r>
              <a:rPr lang="en-US" sz="3177" spc="-110" dirty="0"/>
              <a:t>h</a:t>
            </a:r>
            <a:r>
              <a:rPr lang="en-US" sz="3177" spc="-106" dirty="0"/>
              <a:t>i</a:t>
            </a:r>
            <a:r>
              <a:rPr lang="en-US" sz="3177" dirty="0"/>
              <a:t>p</a:t>
            </a:r>
            <a:r>
              <a:rPr lang="en-US" sz="3883" spc="-216" dirty="0"/>
              <a:t> </a:t>
            </a:r>
            <a:r>
              <a:rPr lang="en-US" sz="3883" spc="-101" dirty="0"/>
              <a:t>S</a:t>
            </a:r>
            <a:r>
              <a:rPr lang="en-US" sz="3883" spc="-106" dirty="0"/>
              <a:t>et</a:t>
            </a:r>
            <a:r>
              <a:rPr lang="en-US" sz="3883" dirty="0"/>
              <a:t>:</a:t>
            </a:r>
            <a:r>
              <a:rPr lang="en-US" sz="3883" spc="-202" dirty="0"/>
              <a:t> </a:t>
            </a:r>
            <a:r>
              <a:rPr lang="en-US" sz="3883" spc="-110" dirty="0"/>
              <a:t>On</a:t>
            </a:r>
            <a:r>
              <a:rPr lang="en-US" sz="3883" spc="-106" dirty="0"/>
              <a:t>e-t</a:t>
            </a:r>
            <a:r>
              <a:rPr lang="en-US" sz="3883" spc="-101" dirty="0"/>
              <a:t>o</a:t>
            </a:r>
            <a:r>
              <a:rPr lang="en-US" sz="3883" spc="-106" dirty="0"/>
              <a:t>-One</a:t>
            </a:r>
            <a:endParaRPr spc="-22" dirty="0">
              <a:solidFill>
                <a:srgbClr val="292934"/>
              </a:solidFill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21E9C8E5-FDDE-18E1-7ED2-A1459E75AF42}"/>
              </a:ext>
            </a:extLst>
          </p:cNvPr>
          <p:cNvGrpSpPr/>
          <p:nvPr/>
        </p:nvGrpSpPr>
        <p:grpSpPr>
          <a:xfrm>
            <a:off x="3537185" y="3180693"/>
            <a:ext cx="1143000" cy="500343"/>
            <a:chOff x="2129210" y="3604785"/>
            <a:chExt cx="1295400" cy="56705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A4803D2-6E08-6CD7-CF26-1D8FE150ED0C}"/>
                </a:ext>
              </a:extLst>
            </p:cNvPr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5E3DD2A-4A4F-E3C0-0719-E71EF5BC1617}"/>
                </a:ext>
              </a:extLst>
            </p:cNvPr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189F118-DE05-CD7D-021C-75C6A9ABF169}"/>
              </a:ext>
            </a:extLst>
          </p:cNvPr>
          <p:cNvSpPr txBox="1"/>
          <p:nvPr/>
        </p:nvSpPr>
        <p:spPr>
          <a:xfrm>
            <a:off x="3778402" y="3305286"/>
            <a:ext cx="66002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EA5CD785-C47E-00F7-12DF-02AEF82FB4D1}"/>
              </a:ext>
            </a:extLst>
          </p:cNvPr>
          <p:cNvGrpSpPr/>
          <p:nvPr/>
        </p:nvGrpSpPr>
        <p:grpSpPr>
          <a:xfrm>
            <a:off x="7514869" y="3180693"/>
            <a:ext cx="1143000" cy="500343"/>
            <a:chOff x="6637252" y="3604785"/>
            <a:chExt cx="1295400" cy="56705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8729421-13E3-1175-2434-FEFD17400EBB}"/>
                </a:ext>
              </a:extLst>
            </p:cNvPr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DCC7FBE-646A-C977-C4FF-5D5CBD284CBF}"/>
                </a:ext>
              </a:extLst>
            </p:cNvPr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4B714C2E-BD90-2A6A-E647-6F058B6CDEA2}"/>
              </a:ext>
            </a:extLst>
          </p:cNvPr>
          <p:cNvSpPr txBox="1"/>
          <p:nvPr/>
        </p:nvSpPr>
        <p:spPr>
          <a:xfrm>
            <a:off x="7687357" y="3305286"/>
            <a:ext cx="79785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passport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68115312-5B98-0B7C-B46A-7D2D32724ACC}"/>
              </a:ext>
            </a:extLst>
          </p:cNvPr>
          <p:cNvGrpSpPr/>
          <p:nvPr/>
        </p:nvGrpSpPr>
        <p:grpSpPr>
          <a:xfrm>
            <a:off x="5362288" y="3133313"/>
            <a:ext cx="1489262" cy="607919"/>
            <a:chOff x="4197660" y="3551087"/>
            <a:chExt cx="1687830" cy="688975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C2D0698-46D0-E244-99BB-21F8D349E12B}"/>
                </a:ext>
              </a:extLst>
            </p:cNvPr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57B2C8C-E88F-4F30-4D12-145DF56EF9AD}"/>
                </a:ext>
              </a:extLst>
            </p:cNvPr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50BD9FA4-11C5-118F-2C68-25D1D8302BBB}"/>
              </a:ext>
            </a:extLst>
          </p:cNvPr>
          <p:cNvSpPr txBox="1"/>
          <p:nvPr/>
        </p:nvSpPr>
        <p:spPr>
          <a:xfrm>
            <a:off x="5814050" y="3310666"/>
            <a:ext cx="58550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500" spc="-9" dirty="0">
                <a:solidFill>
                  <a:srgbClr val="292934"/>
                </a:solidFill>
                <a:latin typeface="Arial MT"/>
                <a:cs typeface="Arial MT"/>
              </a:rPr>
              <a:t>owns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17" name="object 17">
            <a:extLst>
              <a:ext uri="{FF2B5EF4-FFF2-40B4-BE49-F238E27FC236}">
                <a16:creationId xmlns:a16="http://schemas.microsoft.com/office/drawing/2014/main" id="{DC80E7AD-E8FD-69B8-9024-9AE994415B65}"/>
              </a:ext>
            </a:extLst>
          </p:cNvPr>
          <p:cNvGrpSpPr/>
          <p:nvPr/>
        </p:nvGrpSpPr>
        <p:grpSpPr>
          <a:xfrm>
            <a:off x="4675516" y="3384616"/>
            <a:ext cx="4902013" cy="1120588"/>
            <a:chOff x="3419318" y="3835898"/>
            <a:chExt cx="5555615" cy="1270000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85015E52-5169-7EF7-1241-7AFCE7D5978B}"/>
                </a:ext>
              </a:extLst>
            </p:cNvPr>
            <p:cNvSpPr/>
            <p:nvPr/>
          </p:nvSpPr>
          <p:spPr>
            <a:xfrm>
              <a:off x="3419310" y="3835908"/>
              <a:ext cx="3223260" cy="106680"/>
            </a:xfrm>
            <a:custGeom>
              <a:avLst/>
              <a:gdLst/>
              <a:ahLst/>
              <a:cxnLst/>
              <a:rect l="l" t="t" r="r" b="b"/>
              <a:pathLst>
                <a:path w="3223259" h="106679">
                  <a:moveTo>
                    <a:pt x="783475" y="54457"/>
                  </a:moveTo>
                  <a:lnTo>
                    <a:pt x="28917" y="47561"/>
                  </a:lnTo>
                  <a:lnTo>
                    <a:pt x="29222" y="47383"/>
                  </a:lnTo>
                  <a:lnTo>
                    <a:pt x="96748" y="8813"/>
                  </a:lnTo>
                  <a:lnTo>
                    <a:pt x="97599" y="5715"/>
                  </a:lnTo>
                  <a:lnTo>
                    <a:pt x="94818" y="838"/>
                  </a:lnTo>
                  <a:lnTo>
                    <a:pt x="91706" y="0"/>
                  </a:lnTo>
                  <a:lnTo>
                    <a:pt x="0" y="52374"/>
                  </a:lnTo>
                  <a:lnTo>
                    <a:pt x="90741" y="106426"/>
                  </a:lnTo>
                  <a:lnTo>
                    <a:pt x="93853" y="105625"/>
                  </a:lnTo>
                  <a:lnTo>
                    <a:pt x="96723" y="100812"/>
                  </a:lnTo>
                  <a:lnTo>
                    <a:pt x="95935" y="97688"/>
                  </a:lnTo>
                  <a:lnTo>
                    <a:pt x="28829" y="57721"/>
                  </a:lnTo>
                  <a:lnTo>
                    <a:pt x="783374" y="64617"/>
                  </a:lnTo>
                  <a:lnTo>
                    <a:pt x="783475" y="54457"/>
                  </a:lnTo>
                  <a:close/>
                </a:path>
                <a:path w="3223259" h="106679">
                  <a:moveTo>
                    <a:pt x="3223044" y="52374"/>
                  </a:moveTo>
                  <a:lnTo>
                    <a:pt x="3214306" y="47383"/>
                  </a:lnTo>
                  <a:lnTo>
                    <a:pt x="3131324" y="12"/>
                  </a:lnTo>
                  <a:lnTo>
                    <a:pt x="3128213" y="863"/>
                  </a:lnTo>
                  <a:lnTo>
                    <a:pt x="3125432" y="5740"/>
                  </a:lnTo>
                  <a:lnTo>
                    <a:pt x="3126282" y="8839"/>
                  </a:lnTo>
                  <a:lnTo>
                    <a:pt x="3194126" y="47561"/>
                  </a:lnTo>
                  <a:lnTo>
                    <a:pt x="2460993" y="54457"/>
                  </a:lnTo>
                  <a:lnTo>
                    <a:pt x="2461095" y="64617"/>
                  </a:lnTo>
                  <a:lnTo>
                    <a:pt x="3194215" y="57721"/>
                  </a:lnTo>
                  <a:lnTo>
                    <a:pt x="3127121" y="97713"/>
                  </a:lnTo>
                  <a:lnTo>
                    <a:pt x="3126333" y="100838"/>
                  </a:lnTo>
                  <a:lnTo>
                    <a:pt x="3129203" y="105651"/>
                  </a:lnTo>
                  <a:lnTo>
                    <a:pt x="3132315" y="106438"/>
                  </a:lnTo>
                  <a:lnTo>
                    <a:pt x="3223044" y="52374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66471D81-4B69-3F00-44B0-19506C422DAE}"/>
                </a:ext>
              </a:extLst>
            </p:cNvPr>
            <p:cNvSpPr/>
            <p:nvPr/>
          </p:nvSpPr>
          <p:spPr>
            <a:xfrm>
              <a:off x="6295716" y="3951456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2552523" y="431213"/>
                  </a:moveTo>
                  <a:lnTo>
                    <a:pt x="119369" y="431213"/>
                  </a:lnTo>
                  <a:lnTo>
                    <a:pt x="72905" y="440594"/>
                  </a:lnTo>
                  <a:lnTo>
                    <a:pt x="34962" y="466176"/>
                  </a:lnTo>
                  <a:lnTo>
                    <a:pt x="9380" y="504119"/>
                  </a:lnTo>
                  <a:lnTo>
                    <a:pt x="0" y="550580"/>
                  </a:lnTo>
                  <a:lnTo>
                    <a:pt x="0" y="1028045"/>
                  </a:lnTo>
                  <a:lnTo>
                    <a:pt x="9380" y="1074510"/>
                  </a:lnTo>
                  <a:lnTo>
                    <a:pt x="34962" y="1112454"/>
                  </a:lnTo>
                  <a:lnTo>
                    <a:pt x="72905" y="1138036"/>
                  </a:lnTo>
                  <a:lnTo>
                    <a:pt x="119369" y="1147417"/>
                  </a:lnTo>
                  <a:lnTo>
                    <a:pt x="2552523" y="1147417"/>
                  </a:lnTo>
                  <a:lnTo>
                    <a:pt x="2598987" y="1138036"/>
                  </a:lnTo>
                  <a:lnTo>
                    <a:pt x="2636931" y="1112454"/>
                  </a:lnTo>
                  <a:lnTo>
                    <a:pt x="2662512" y="1074510"/>
                  </a:lnTo>
                  <a:lnTo>
                    <a:pt x="2671893" y="1028045"/>
                  </a:lnTo>
                  <a:lnTo>
                    <a:pt x="2671892" y="550580"/>
                  </a:lnTo>
                  <a:lnTo>
                    <a:pt x="2662512" y="504119"/>
                  </a:lnTo>
                  <a:lnTo>
                    <a:pt x="2636931" y="466176"/>
                  </a:lnTo>
                  <a:lnTo>
                    <a:pt x="2598987" y="440594"/>
                  </a:lnTo>
                  <a:lnTo>
                    <a:pt x="2552523" y="431213"/>
                  </a:lnTo>
                  <a:close/>
                </a:path>
                <a:path w="2672079" h="1147445">
                  <a:moveTo>
                    <a:pt x="275177" y="0"/>
                  </a:moveTo>
                  <a:lnTo>
                    <a:pt x="445315" y="431213"/>
                  </a:lnTo>
                  <a:lnTo>
                    <a:pt x="1113288" y="431213"/>
                  </a:lnTo>
                  <a:lnTo>
                    <a:pt x="275177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8733CC8-0C4B-D424-0557-E0482DFB1A84}"/>
                </a:ext>
              </a:extLst>
            </p:cNvPr>
            <p:cNvSpPr/>
            <p:nvPr/>
          </p:nvSpPr>
          <p:spPr>
            <a:xfrm>
              <a:off x="6295716" y="3951457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0" y="550583"/>
                  </a:moveTo>
                  <a:lnTo>
                    <a:pt x="9380" y="504118"/>
                  </a:lnTo>
                  <a:lnTo>
                    <a:pt x="34962" y="466175"/>
                  </a:lnTo>
                  <a:lnTo>
                    <a:pt x="72906" y="440593"/>
                  </a:lnTo>
                  <a:lnTo>
                    <a:pt x="119370" y="431212"/>
                  </a:lnTo>
                  <a:lnTo>
                    <a:pt x="445315" y="431212"/>
                  </a:lnTo>
                  <a:lnTo>
                    <a:pt x="275178" y="0"/>
                  </a:lnTo>
                  <a:lnTo>
                    <a:pt x="1113289" y="431212"/>
                  </a:lnTo>
                  <a:lnTo>
                    <a:pt x="2552523" y="431212"/>
                  </a:lnTo>
                  <a:lnTo>
                    <a:pt x="2598988" y="440593"/>
                  </a:lnTo>
                  <a:lnTo>
                    <a:pt x="2636931" y="466175"/>
                  </a:lnTo>
                  <a:lnTo>
                    <a:pt x="2662513" y="504118"/>
                  </a:lnTo>
                  <a:lnTo>
                    <a:pt x="2671894" y="550583"/>
                  </a:lnTo>
                  <a:lnTo>
                    <a:pt x="2671894" y="729630"/>
                  </a:lnTo>
                  <a:lnTo>
                    <a:pt x="2671894" y="1028045"/>
                  </a:lnTo>
                  <a:lnTo>
                    <a:pt x="2662513" y="1074509"/>
                  </a:lnTo>
                  <a:lnTo>
                    <a:pt x="2636931" y="1112453"/>
                  </a:lnTo>
                  <a:lnTo>
                    <a:pt x="2598988" y="1138035"/>
                  </a:lnTo>
                  <a:lnTo>
                    <a:pt x="2552523" y="1147416"/>
                  </a:lnTo>
                  <a:lnTo>
                    <a:pt x="1113289" y="1147416"/>
                  </a:lnTo>
                  <a:lnTo>
                    <a:pt x="445315" y="1147416"/>
                  </a:lnTo>
                  <a:lnTo>
                    <a:pt x="119370" y="1147416"/>
                  </a:lnTo>
                  <a:lnTo>
                    <a:pt x="72906" y="1138035"/>
                  </a:lnTo>
                  <a:lnTo>
                    <a:pt x="34962" y="1112453"/>
                  </a:lnTo>
                  <a:lnTo>
                    <a:pt x="9380" y="1074509"/>
                  </a:lnTo>
                  <a:lnTo>
                    <a:pt x="0" y="1028045"/>
                  </a:lnTo>
                  <a:lnTo>
                    <a:pt x="0" y="729630"/>
                  </a:lnTo>
                  <a:lnTo>
                    <a:pt x="0" y="550580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AF045A2B-CA48-6951-85DA-3E857DACD38C}"/>
              </a:ext>
            </a:extLst>
          </p:cNvPr>
          <p:cNvSpPr txBox="1"/>
          <p:nvPr/>
        </p:nvSpPr>
        <p:spPr>
          <a:xfrm>
            <a:off x="2250299" y="4623995"/>
            <a:ext cx="6348132" cy="568798"/>
          </a:xfrm>
          <a:prstGeom prst="rect">
            <a:avLst/>
          </a:prstGeom>
        </p:spPr>
        <p:txBody>
          <a:bodyPr vert="horz" wrap="square" lIns="0" tIns="560" rIns="0" bIns="0" rtlCol="0">
            <a:spAutoFit/>
          </a:bodyPr>
          <a:lstStyle/>
          <a:p>
            <a:pPr marL="11206" marR="4483">
              <a:lnSpc>
                <a:spcPct val="103800"/>
              </a:lnSpc>
              <a:spcBef>
                <a:spcPts val="4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1853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853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owned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1853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1853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1853" spc="4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853" spc="-9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.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own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1853" spc="4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1853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1853" spc="4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853" spc="-9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1853" dirty="0">
              <a:latin typeface="Verdana"/>
              <a:cs typeface="Verdana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56D7147B-39B5-5B3E-CD58-2642F98146D8}"/>
              </a:ext>
            </a:extLst>
          </p:cNvPr>
          <p:cNvSpPr txBox="1"/>
          <p:nvPr/>
        </p:nvSpPr>
        <p:spPr>
          <a:xfrm>
            <a:off x="7393473" y="3967779"/>
            <a:ext cx="1998009" cy="394150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67239" marR="4483" indent="-56593">
              <a:lnSpc>
                <a:spcPts val="1421"/>
              </a:lnSpc>
              <a:spcBef>
                <a:spcPts val="274"/>
              </a:spcBef>
            </a:pP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324">
              <a:latin typeface="Arial MT"/>
              <a:cs typeface="Arial MT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F0E01ABE-8332-3EE4-9229-C87FD893270C}"/>
              </a:ext>
            </a:extLst>
          </p:cNvPr>
          <p:cNvGrpSpPr/>
          <p:nvPr/>
        </p:nvGrpSpPr>
        <p:grpSpPr>
          <a:xfrm>
            <a:off x="2395720" y="3543261"/>
            <a:ext cx="2370044" cy="928968"/>
            <a:chOff x="835549" y="4015696"/>
            <a:chExt cx="2686050" cy="105283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159BC1B9-2F43-5994-F671-4730D35D38A8}"/>
                </a:ext>
              </a:extLst>
            </p:cNvPr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3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3" y="1038889"/>
                  </a:lnTo>
                  <a:lnTo>
                    <a:pt x="2598987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7" y="332066"/>
                  </a:lnTo>
                  <a:lnTo>
                    <a:pt x="2552523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68643907-ABE3-C3F9-AFD6-FC3794926358}"/>
                </a:ext>
              </a:extLst>
            </p:cNvPr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87CFD9DC-6225-F97B-A481-D2C04A120B71}"/>
              </a:ext>
            </a:extLst>
          </p:cNvPr>
          <p:cNvSpPr txBox="1"/>
          <p:nvPr/>
        </p:nvSpPr>
        <p:spPr>
          <a:xfrm>
            <a:off x="2581655" y="3935506"/>
            <a:ext cx="1998009" cy="394150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67239" marR="4483" indent="-56593">
              <a:lnSpc>
                <a:spcPts val="1421"/>
              </a:lnSpc>
              <a:spcBef>
                <a:spcPts val="274"/>
              </a:spcBef>
            </a:pP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24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9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324" spc="-26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324" spc="-31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24" spc="-22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324">
              <a:latin typeface="Arial MT"/>
              <a:cs typeface="Arial MT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5BBC0FF1-9E09-DD04-E69B-CC6F49D17317}"/>
              </a:ext>
            </a:extLst>
          </p:cNvPr>
          <p:cNvSpPr txBox="1"/>
          <p:nvPr/>
        </p:nvSpPr>
        <p:spPr>
          <a:xfrm>
            <a:off x="1978519" y="6183968"/>
            <a:ext cx="7585822" cy="188404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147" spc="-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147" spc="-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147" spc="-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147" spc="-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147" spc="-9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147">
              <a:latin typeface="Verdana"/>
              <a:cs typeface="Verdana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6FCE38D6-29BA-65B8-4F79-8F8277C7F46B}"/>
              </a:ext>
            </a:extLst>
          </p:cNvPr>
          <p:cNvSpPr txBox="1"/>
          <p:nvPr/>
        </p:nvSpPr>
        <p:spPr>
          <a:xfrm>
            <a:off x="2254758" y="5317781"/>
            <a:ext cx="4841501" cy="60731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06700"/>
              </a:lnSpc>
              <a:spcBef>
                <a:spcPts val="88"/>
              </a:spcBef>
            </a:pPr>
            <a:r>
              <a:rPr lang="en-US" sz="1853" spc="-4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lang="en-US" sz="1853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SSN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 name)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endParaRPr lang="en-US" sz="1853" dirty="0">
              <a:solidFill>
                <a:srgbClr val="292934"/>
              </a:solidFill>
              <a:latin typeface="Verdana"/>
              <a:cs typeface="Verdana"/>
            </a:endParaRPr>
          </a:p>
          <a:p>
            <a:pPr marL="11206" marR="4483">
              <a:lnSpc>
                <a:spcPct val="106700"/>
              </a:lnSpc>
              <a:spcBef>
                <a:spcPts val="88"/>
              </a:spcBef>
            </a:pPr>
            <a:r>
              <a:rPr lang="en-US" sz="1853" spc="-4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lang="en-US" sz="1853" u="sng" spc="-4" dirty="0" err="1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passportNo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SSN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1853" dirty="0">
              <a:latin typeface="Verdana"/>
              <a:cs typeface="Verdana"/>
            </a:endParaRPr>
          </a:p>
        </p:txBody>
      </p:sp>
      <p:sp>
        <p:nvSpPr>
          <p:cNvPr id="35" name="object 5">
            <a:extLst>
              <a:ext uri="{FF2B5EF4-FFF2-40B4-BE49-F238E27FC236}">
                <a16:creationId xmlns:a16="http://schemas.microsoft.com/office/drawing/2014/main" id="{18766AE9-E107-913B-FA0B-F62021E53E1A}"/>
              </a:ext>
            </a:extLst>
          </p:cNvPr>
          <p:cNvSpPr txBox="1"/>
          <p:nvPr/>
        </p:nvSpPr>
        <p:spPr>
          <a:xfrm>
            <a:off x="2239617" y="997770"/>
            <a:ext cx="7641291" cy="187032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1206">
              <a:spcBef>
                <a:spcPts val="1125"/>
              </a:spcBef>
            </a:pPr>
            <a:r>
              <a:rPr sz="1853" spc="-40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 Either side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can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used as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main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 table</a:t>
            </a:r>
            <a:endParaRPr sz="1853" dirty="0">
              <a:latin typeface="Verdana"/>
              <a:cs typeface="Verdana"/>
            </a:endParaRPr>
          </a:p>
          <a:p>
            <a:pPr marL="971602" marR="4483" indent="-63877">
              <a:lnSpc>
                <a:spcPts val="1862"/>
              </a:lnSpc>
              <a:spcBef>
                <a:spcPts val="1125"/>
              </a:spcBef>
            </a:pPr>
            <a:r>
              <a:rPr sz="1677" spc="-9" dirty="0">
                <a:solidFill>
                  <a:srgbClr val="292934"/>
                </a:solidFill>
                <a:latin typeface="Verdana"/>
                <a:cs typeface="Verdana"/>
              </a:rPr>
              <a:t>(Which</a:t>
            </a:r>
            <a:r>
              <a:rPr sz="1677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4" dirty="0">
                <a:solidFill>
                  <a:srgbClr val="292934"/>
                </a:solidFill>
                <a:latin typeface="Verdana"/>
                <a:cs typeface="Verdana"/>
              </a:rPr>
              <a:t>side?</a:t>
            </a: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4" dirty="0">
                <a:solidFill>
                  <a:srgbClr val="292934"/>
                </a:solidFill>
                <a:latin typeface="Verdana"/>
                <a:cs typeface="Verdana"/>
              </a:rPr>
              <a:t>doesn’t</a:t>
            </a: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44" dirty="0">
                <a:solidFill>
                  <a:srgbClr val="292934"/>
                </a:solidFill>
                <a:latin typeface="Verdana"/>
                <a:cs typeface="Verdana"/>
              </a:rPr>
              <a:t>matter.</a:t>
            </a:r>
            <a:r>
              <a:rPr sz="1677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4" dirty="0">
                <a:solidFill>
                  <a:srgbClr val="292934"/>
                </a:solidFill>
                <a:latin typeface="Verdana"/>
                <a:cs typeface="Verdana"/>
              </a:rPr>
              <a:t>Pick</a:t>
            </a:r>
            <a:r>
              <a:rPr sz="1677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4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677" spc="-9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1677" spc="-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9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13" dirty="0">
                <a:solidFill>
                  <a:srgbClr val="292934"/>
                </a:solidFill>
                <a:latin typeface="Verdana"/>
                <a:cs typeface="Verdana"/>
              </a:rPr>
              <a:t>makes</a:t>
            </a:r>
            <a:r>
              <a:rPr sz="1677" spc="-4" dirty="0">
                <a:solidFill>
                  <a:srgbClr val="292934"/>
                </a:solidFill>
                <a:latin typeface="Verdana"/>
                <a:cs typeface="Verdana"/>
              </a:rPr>
              <a:t> the </a:t>
            </a:r>
            <a:r>
              <a:rPr sz="1677" spc="-9" dirty="0">
                <a:solidFill>
                  <a:srgbClr val="292934"/>
                </a:solidFill>
                <a:latin typeface="Verdana"/>
                <a:cs typeface="Verdana"/>
              </a:rPr>
              <a:t>most </a:t>
            </a:r>
            <a:r>
              <a:rPr sz="1677" spc="-57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9" dirty="0">
                <a:solidFill>
                  <a:srgbClr val="292934"/>
                </a:solidFill>
                <a:latin typeface="Verdana"/>
                <a:cs typeface="Verdana"/>
              </a:rPr>
              <a:t>sense)</a:t>
            </a:r>
            <a:endParaRPr sz="1677" dirty="0">
              <a:latin typeface="Verdana"/>
              <a:cs typeface="Verdana"/>
            </a:endParaRPr>
          </a:p>
          <a:p>
            <a:pPr marL="908285">
              <a:spcBef>
                <a:spcPts val="855"/>
              </a:spcBef>
            </a:pPr>
            <a:r>
              <a:rPr sz="1677" spc="-9" dirty="0">
                <a:solidFill>
                  <a:srgbClr val="292934"/>
                </a:solidFill>
                <a:latin typeface="Verdana"/>
                <a:cs typeface="Verdana"/>
              </a:rPr>
              <a:t>Add</a:t>
            </a:r>
            <a:r>
              <a:rPr sz="1677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677" spc="-9" dirty="0">
                <a:solidFill>
                  <a:srgbClr val="292934"/>
                </a:solidFill>
                <a:latin typeface="Verdana"/>
                <a:cs typeface="Verdana"/>
              </a:rPr>
              <a:t> other</a:t>
            </a:r>
            <a:r>
              <a:rPr sz="1677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13" dirty="0">
                <a:solidFill>
                  <a:srgbClr val="292934"/>
                </a:solidFill>
                <a:latin typeface="Verdana"/>
                <a:cs typeface="Verdana"/>
              </a:rPr>
              <a:t>side’s </a:t>
            </a:r>
            <a:r>
              <a:rPr sz="1677" spc="-9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677" spc="-13" dirty="0">
                <a:solidFill>
                  <a:srgbClr val="292934"/>
                </a:solidFill>
                <a:latin typeface="Verdana"/>
                <a:cs typeface="Verdana"/>
              </a:rPr>
              <a:t> key </a:t>
            </a:r>
            <a:r>
              <a:rPr sz="1677" spc="-4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677" spc="-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endParaRPr sz="1677" dirty="0">
              <a:latin typeface="Verdana"/>
              <a:cs typeface="Verdana"/>
            </a:endParaRPr>
          </a:p>
          <a:p>
            <a:pPr marL="11206">
              <a:spcBef>
                <a:spcPts val="1240"/>
              </a:spcBef>
            </a:pP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set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you </a:t>
            </a:r>
            <a:r>
              <a:rPr sz="1853" spc="-4" dirty="0">
                <a:solidFill>
                  <a:srgbClr val="292934"/>
                </a:solidFill>
                <a:latin typeface="Verdana"/>
                <a:cs typeface="Verdana"/>
              </a:rPr>
              <a:t>pick</a:t>
            </a:r>
            <a:endParaRPr sz="1853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706260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1429" y="281523"/>
            <a:ext cx="6965015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0" dirty="0"/>
              <a:t>C</a:t>
            </a:r>
            <a:r>
              <a:rPr sz="3794" spc="-119" dirty="0"/>
              <a:t>R</a:t>
            </a:r>
            <a:r>
              <a:rPr sz="3794" spc="-110" dirty="0"/>
              <a:t>E</a:t>
            </a:r>
            <a:r>
              <a:rPr sz="3794" spc="-124" dirty="0"/>
              <a:t>A</a:t>
            </a:r>
            <a:r>
              <a:rPr sz="3794" spc="-115" dirty="0"/>
              <a:t>T</a:t>
            </a:r>
            <a:r>
              <a:rPr sz="3794" dirty="0"/>
              <a:t>E</a:t>
            </a:r>
            <a:r>
              <a:rPr sz="3794" spc="-216" dirty="0"/>
              <a:t> </a:t>
            </a:r>
            <a:r>
              <a:rPr sz="3794" spc="-115" dirty="0"/>
              <a:t>T</a:t>
            </a:r>
            <a:r>
              <a:rPr sz="3794" spc="-124" dirty="0"/>
              <a:t>A</a:t>
            </a:r>
            <a:r>
              <a:rPr sz="3794" spc="-115" dirty="0"/>
              <a:t>BL</a:t>
            </a:r>
            <a:r>
              <a:rPr sz="3794" dirty="0"/>
              <a:t>E</a:t>
            </a:r>
            <a:r>
              <a:rPr sz="3794" spc="-216" dirty="0"/>
              <a:t> </a:t>
            </a:r>
            <a:r>
              <a:rPr sz="3794" spc="-110" dirty="0"/>
              <a:t>(E</a:t>
            </a:r>
            <a:r>
              <a:rPr sz="3794" spc="-115" dirty="0"/>
              <a:t>n</a:t>
            </a:r>
            <a:r>
              <a:rPr sz="3794" spc="-110" dirty="0"/>
              <a:t>tit</a:t>
            </a:r>
            <a:r>
              <a:rPr sz="3794" dirty="0"/>
              <a:t>y</a:t>
            </a:r>
            <a:r>
              <a:rPr sz="3794" spc="-224" dirty="0"/>
              <a:t> </a:t>
            </a:r>
            <a:r>
              <a:rPr sz="3794" spc="-124" dirty="0"/>
              <a:t>S</a:t>
            </a:r>
            <a:r>
              <a:rPr sz="3794" spc="-110" dirty="0"/>
              <a:t>et</a:t>
            </a:r>
            <a:r>
              <a:rPr sz="3794" dirty="0"/>
              <a:t>)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2049215" y="4675543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0890" y="4675543"/>
            <a:ext cx="192461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person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09827" y="4898764"/>
            <a:ext cx="974351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id</a:t>
            </a:r>
            <a:r>
              <a:rPr sz="1765" spc="-6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INT,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9826" y="5135431"/>
            <a:ext cx="2334185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name</a:t>
            </a:r>
            <a:r>
              <a:rPr sz="1765" spc="-5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VARCHAR(40),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9826" y="5369411"/>
            <a:ext cx="2877671" cy="529003"/>
          </a:xfrm>
          <a:prstGeom prst="rect">
            <a:avLst/>
          </a:prstGeom>
        </p:spPr>
        <p:txBody>
          <a:bodyPr vert="horz" wrap="square" lIns="0" tIns="56590" rIns="0" bIns="0" rtlCol="0">
            <a:spAutoFit/>
          </a:bodyPr>
          <a:lstStyle/>
          <a:p>
            <a:pPr marL="11206" marR="4483">
              <a:lnSpc>
                <a:spcPts val="1755"/>
              </a:lnSpc>
              <a:spcBef>
                <a:spcPts val="446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address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VARCHAR(255), </a:t>
            </a:r>
            <a:r>
              <a:rPr sz="1765" spc="-10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(id)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6222" y="4675543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37897" y="4675543"/>
            <a:ext cx="192461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person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46835" y="4898764"/>
            <a:ext cx="974351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id</a:t>
            </a:r>
            <a:r>
              <a:rPr sz="1765" spc="-6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INT,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46834" y="5135431"/>
            <a:ext cx="3149974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first_name</a:t>
            </a:r>
            <a:r>
              <a:rPr sz="1765" spc="-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VARCHAR(20),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46834" y="5369411"/>
            <a:ext cx="3149974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middle_name</a:t>
            </a:r>
            <a:r>
              <a:rPr sz="1765" spc="-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VARCHAR(3),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46835" y="5592632"/>
            <a:ext cx="3013822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last_name</a:t>
            </a:r>
            <a:r>
              <a:rPr sz="1765" spc="-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VARCHAR(20),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46835" y="5829300"/>
            <a:ext cx="2605928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 KEY (id)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73057" y="1062316"/>
            <a:ext cx="0" cy="5117726"/>
          </a:xfrm>
          <a:custGeom>
            <a:avLst/>
            <a:gdLst/>
            <a:ahLst/>
            <a:cxnLst/>
            <a:rect l="l" t="t" r="r" b="b"/>
            <a:pathLst>
              <a:path h="5800090">
                <a:moveTo>
                  <a:pt x="0" y="0"/>
                </a:moveTo>
                <a:lnTo>
                  <a:pt x="1" y="5799908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 txBox="1"/>
          <p:nvPr/>
        </p:nvSpPr>
        <p:spPr>
          <a:xfrm>
            <a:off x="2049216" y="3430344"/>
            <a:ext cx="1381125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person(</a:t>
            </a:r>
            <a:r>
              <a:rPr sz="1765" u="sng" spc="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id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44820" y="3430344"/>
            <a:ext cx="702609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name,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60544" y="3430344"/>
            <a:ext cx="1110503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address)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27650" y="1338312"/>
            <a:ext cx="1134035" cy="356999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4946" rIns="0" bIns="0" rtlCol="0">
            <a:spAutoFit/>
          </a:bodyPr>
          <a:lstStyle/>
          <a:p>
            <a:pPr marL="274559">
              <a:spcBef>
                <a:spcPts val="984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219976" y="2046399"/>
            <a:ext cx="1084729" cy="442632"/>
            <a:chOff x="636372" y="2319252"/>
            <a:chExt cx="1229360" cy="501650"/>
          </a:xfrm>
        </p:grpSpPr>
        <p:sp>
          <p:nvSpPr>
            <p:cNvPr id="21" name="object 21"/>
            <p:cNvSpPr/>
            <p:nvPr/>
          </p:nvSpPr>
          <p:spPr>
            <a:xfrm>
              <a:off x="641452" y="2324332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3" y="272321"/>
                  </a:lnTo>
                  <a:lnTo>
                    <a:pt x="1218708" y="245564"/>
                  </a:lnTo>
                  <a:lnTo>
                    <a:pt x="1215133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641452" y="2324332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76959" y="2140772"/>
            <a:ext cx="1697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id</a:t>
            </a:r>
            <a:endParaRPr sz="1500" dirty="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389449" y="2103725"/>
            <a:ext cx="1084729" cy="442632"/>
            <a:chOff x="1961775" y="2384221"/>
            <a:chExt cx="1229360" cy="501650"/>
          </a:xfrm>
        </p:grpSpPr>
        <p:sp>
          <p:nvSpPr>
            <p:cNvPr id="25" name="object 25"/>
            <p:cNvSpPr/>
            <p:nvPr/>
          </p:nvSpPr>
          <p:spPr>
            <a:xfrm>
              <a:off x="1966855" y="2389301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1966855" y="2389301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681332" y="2197248"/>
            <a:ext cx="50034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137829" y="1815771"/>
            <a:ext cx="2343710" cy="598394"/>
            <a:chOff x="1676605" y="2057874"/>
            <a:chExt cx="2656205" cy="678180"/>
          </a:xfrm>
        </p:grpSpPr>
        <p:sp>
          <p:nvSpPr>
            <p:cNvPr id="29" name="object 29"/>
            <p:cNvSpPr/>
            <p:nvPr/>
          </p:nvSpPr>
          <p:spPr>
            <a:xfrm>
              <a:off x="3241329" y="2239520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5" y="0"/>
                  </a:moveTo>
                  <a:lnTo>
                    <a:pt x="479847" y="1652"/>
                  </a:lnTo>
                  <a:lnTo>
                    <a:pt x="418645" y="6485"/>
                  </a:lnTo>
                  <a:lnTo>
                    <a:pt x="359997" y="14316"/>
                  </a:lnTo>
                  <a:lnTo>
                    <a:pt x="304311" y="24959"/>
                  </a:lnTo>
                  <a:lnTo>
                    <a:pt x="251994" y="38231"/>
                  </a:lnTo>
                  <a:lnTo>
                    <a:pt x="203454" y="53948"/>
                  </a:lnTo>
                  <a:lnTo>
                    <a:pt x="159097" y="71924"/>
                  </a:lnTo>
                  <a:lnTo>
                    <a:pt x="119333" y="91976"/>
                  </a:lnTo>
                  <a:lnTo>
                    <a:pt x="84568" y="113920"/>
                  </a:lnTo>
                  <a:lnTo>
                    <a:pt x="31667" y="162746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8" y="377209"/>
                  </a:lnTo>
                  <a:lnTo>
                    <a:pt x="119333" y="399153"/>
                  </a:lnTo>
                  <a:lnTo>
                    <a:pt x="159097" y="419205"/>
                  </a:lnTo>
                  <a:lnTo>
                    <a:pt x="203454" y="437181"/>
                  </a:lnTo>
                  <a:lnTo>
                    <a:pt x="251994" y="452897"/>
                  </a:lnTo>
                  <a:lnTo>
                    <a:pt x="304311" y="466169"/>
                  </a:lnTo>
                  <a:lnTo>
                    <a:pt x="359997" y="476813"/>
                  </a:lnTo>
                  <a:lnTo>
                    <a:pt x="418645" y="484643"/>
                  </a:lnTo>
                  <a:lnTo>
                    <a:pt x="479847" y="489477"/>
                  </a:lnTo>
                  <a:lnTo>
                    <a:pt x="543195" y="491129"/>
                  </a:lnTo>
                  <a:lnTo>
                    <a:pt x="606543" y="489477"/>
                  </a:lnTo>
                  <a:lnTo>
                    <a:pt x="667745" y="484643"/>
                  </a:lnTo>
                  <a:lnTo>
                    <a:pt x="726392" y="476813"/>
                  </a:lnTo>
                  <a:lnTo>
                    <a:pt x="782078" y="466169"/>
                  </a:lnTo>
                  <a:lnTo>
                    <a:pt x="834395" y="452897"/>
                  </a:lnTo>
                  <a:lnTo>
                    <a:pt x="882936" y="437181"/>
                  </a:lnTo>
                  <a:lnTo>
                    <a:pt x="927292" y="419205"/>
                  </a:lnTo>
                  <a:lnTo>
                    <a:pt x="967056" y="399153"/>
                  </a:lnTo>
                  <a:lnTo>
                    <a:pt x="1001821" y="377209"/>
                  </a:lnTo>
                  <a:lnTo>
                    <a:pt x="1054723" y="328383"/>
                  </a:lnTo>
                  <a:lnTo>
                    <a:pt x="1082736" y="274202"/>
                  </a:lnTo>
                  <a:lnTo>
                    <a:pt x="1086391" y="245564"/>
                  </a:lnTo>
                  <a:lnTo>
                    <a:pt x="1082736" y="216926"/>
                  </a:lnTo>
                  <a:lnTo>
                    <a:pt x="1054723" y="162746"/>
                  </a:lnTo>
                  <a:lnTo>
                    <a:pt x="1001821" y="113920"/>
                  </a:lnTo>
                  <a:lnTo>
                    <a:pt x="967056" y="91976"/>
                  </a:lnTo>
                  <a:lnTo>
                    <a:pt x="927292" y="71924"/>
                  </a:lnTo>
                  <a:lnTo>
                    <a:pt x="882936" y="53948"/>
                  </a:lnTo>
                  <a:lnTo>
                    <a:pt x="834395" y="38231"/>
                  </a:lnTo>
                  <a:lnTo>
                    <a:pt x="782078" y="24959"/>
                  </a:lnTo>
                  <a:lnTo>
                    <a:pt x="726392" y="14316"/>
                  </a:lnTo>
                  <a:lnTo>
                    <a:pt x="667745" y="6485"/>
                  </a:lnTo>
                  <a:lnTo>
                    <a:pt x="606543" y="1652"/>
                  </a:lnTo>
                  <a:lnTo>
                    <a:pt x="54319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3241329" y="2239520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2534263" y="2062954"/>
              <a:ext cx="866775" cy="248920"/>
            </a:xfrm>
            <a:custGeom>
              <a:avLst/>
              <a:gdLst/>
              <a:ahLst/>
              <a:cxnLst/>
              <a:rect l="l" t="t" r="r" b="b"/>
              <a:pathLst>
                <a:path w="866775" h="248919">
                  <a:moveTo>
                    <a:pt x="866164" y="248489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2534263" y="2062955"/>
              <a:ext cx="42545" cy="326390"/>
            </a:xfrm>
            <a:custGeom>
              <a:avLst/>
              <a:gdLst/>
              <a:ahLst/>
              <a:cxnLst/>
              <a:rect l="l" t="t" r="r" b="b"/>
              <a:pathLst>
                <a:path w="42544" h="326389">
                  <a:moveTo>
                    <a:pt x="41946" y="326346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1681685" y="2062954"/>
              <a:ext cx="852805" cy="333375"/>
            </a:xfrm>
            <a:custGeom>
              <a:avLst/>
              <a:gdLst/>
              <a:ahLst/>
              <a:cxnLst/>
              <a:rect l="l" t="t" r="r" b="b"/>
              <a:pathLst>
                <a:path w="852805" h="333375">
                  <a:moveTo>
                    <a:pt x="0" y="333301"/>
                  </a:moveTo>
                  <a:lnTo>
                    <a:pt x="852578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666344" y="2057400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029228" y="1128646"/>
            <a:ext cx="1080807" cy="442632"/>
            <a:chOff x="8353524" y="1279132"/>
            <a:chExt cx="1224915" cy="501650"/>
          </a:xfrm>
        </p:grpSpPr>
        <p:sp>
          <p:nvSpPr>
            <p:cNvPr id="36" name="object 36"/>
            <p:cNvSpPr/>
            <p:nvPr/>
          </p:nvSpPr>
          <p:spPr>
            <a:xfrm>
              <a:off x="8358604" y="1284212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607209" y="0"/>
                  </a:moveTo>
                  <a:lnTo>
                    <a:pt x="541047" y="1440"/>
                  </a:lnTo>
                  <a:lnTo>
                    <a:pt x="476949" y="5663"/>
                  </a:lnTo>
                  <a:lnTo>
                    <a:pt x="415284" y="12519"/>
                  </a:lnTo>
                  <a:lnTo>
                    <a:pt x="356424" y="21856"/>
                  </a:lnTo>
                  <a:lnTo>
                    <a:pt x="300739" y="33526"/>
                  </a:lnTo>
                  <a:lnTo>
                    <a:pt x="248599" y="47379"/>
                  </a:lnTo>
                  <a:lnTo>
                    <a:pt x="200375" y="63265"/>
                  </a:lnTo>
                  <a:lnTo>
                    <a:pt x="156437" y="81035"/>
                  </a:lnTo>
                  <a:lnTo>
                    <a:pt x="117156" y="100537"/>
                  </a:lnTo>
                  <a:lnTo>
                    <a:pt x="82902" y="121623"/>
                  </a:lnTo>
                  <a:lnTo>
                    <a:pt x="30955" y="167947"/>
                  </a:lnTo>
                  <a:lnTo>
                    <a:pt x="3563" y="218807"/>
                  </a:lnTo>
                  <a:lnTo>
                    <a:pt x="0" y="245564"/>
                  </a:lnTo>
                  <a:lnTo>
                    <a:pt x="3563" y="272321"/>
                  </a:lnTo>
                  <a:lnTo>
                    <a:pt x="30955" y="323182"/>
                  </a:lnTo>
                  <a:lnTo>
                    <a:pt x="82902" y="369506"/>
                  </a:lnTo>
                  <a:lnTo>
                    <a:pt x="117156" y="390592"/>
                  </a:lnTo>
                  <a:lnTo>
                    <a:pt x="156437" y="410094"/>
                  </a:lnTo>
                  <a:lnTo>
                    <a:pt x="200375" y="427863"/>
                  </a:lnTo>
                  <a:lnTo>
                    <a:pt x="248599" y="443749"/>
                  </a:lnTo>
                  <a:lnTo>
                    <a:pt x="300739" y="457602"/>
                  </a:lnTo>
                  <a:lnTo>
                    <a:pt x="356424" y="469272"/>
                  </a:lnTo>
                  <a:lnTo>
                    <a:pt x="415284" y="478610"/>
                  </a:lnTo>
                  <a:lnTo>
                    <a:pt x="476949" y="485465"/>
                  </a:lnTo>
                  <a:lnTo>
                    <a:pt x="541047" y="489688"/>
                  </a:lnTo>
                  <a:lnTo>
                    <a:pt x="607209" y="491129"/>
                  </a:lnTo>
                  <a:lnTo>
                    <a:pt x="673372" y="489688"/>
                  </a:lnTo>
                  <a:lnTo>
                    <a:pt x="737470" y="485465"/>
                  </a:lnTo>
                  <a:lnTo>
                    <a:pt x="799135" y="478610"/>
                  </a:lnTo>
                  <a:lnTo>
                    <a:pt x="857995" y="469272"/>
                  </a:lnTo>
                  <a:lnTo>
                    <a:pt x="913680" y="457602"/>
                  </a:lnTo>
                  <a:lnTo>
                    <a:pt x="965819" y="443749"/>
                  </a:lnTo>
                  <a:lnTo>
                    <a:pt x="1014044" y="427863"/>
                  </a:lnTo>
                  <a:lnTo>
                    <a:pt x="1057981" y="410094"/>
                  </a:lnTo>
                  <a:lnTo>
                    <a:pt x="1097263" y="390592"/>
                  </a:lnTo>
                  <a:lnTo>
                    <a:pt x="1131517" y="369506"/>
                  </a:lnTo>
                  <a:lnTo>
                    <a:pt x="1183463" y="323182"/>
                  </a:lnTo>
                  <a:lnTo>
                    <a:pt x="1210856" y="272321"/>
                  </a:lnTo>
                  <a:lnTo>
                    <a:pt x="1214419" y="245564"/>
                  </a:lnTo>
                  <a:lnTo>
                    <a:pt x="1210856" y="218807"/>
                  </a:lnTo>
                  <a:lnTo>
                    <a:pt x="1183463" y="167947"/>
                  </a:lnTo>
                  <a:lnTo>
                    <a:pt x="1131517" y="121623"/>
                  </a:lnTo>
                  <a:lnTo>
                    <a:pt x="1097263" y="100537"/>
                  </a:lnTo>
                  <a:lnTo>
                    <a:pt x="1057981" y="81035"/>
                  </a:lnTo>
                  <a:lnTo>
                    <a:pt x="1014044" y="63265"/>
                  </a:lnTo>
                  <a:lnTo>
                    <a:pt x="965819" y="47379"/>
                  </a:lnTo>
                  <a:lnTo>
                    <a:pt x="913680" y="33526"/>
                  </a:lnTo>
                  <a:lnTo>
                    <a:pt x="857995" y="21856"/>
                  </a:lnTo>
                  <a:lnTo>
                    <a:pt x="799135" y="12519"/>
                  </a:lnTo>
                  <a:lnTo>
                    <a:pt x="737470" y="5663"/>
                  </a:lnTo>
                  <a:lnTo>
                    <a:pt x="673372" y="1440"/>
                  </a:lnTo>
                  <a:lnTo>
                    <a:pt x="6072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8358604" y="1284212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0" y="245564"/>
                  </a:moveTo>
                  <a:lnTo>
                    <a:pt x="14005" y="192885"/>
                  </a:lnTo>
                  <a:lnTo>
                    <a:pt x="54045" y="144143"/>
                  </a:lnTo>
                  <a:lnTo>
                    <a:pt x="117156" y="100537"/>
                  </a:lnTo>
                  <a:lnTo>
                    <a:pt x="156437" y="81034"/>
                  </a:lnTo>
                  <a:lnTo>
                    <a:pt x="200375" y="63265"/>
                  </a:lnTo>
                  <a:lnTo>
                    <a:pt x="248599" y="47379"/>
                  </a:lnTo>
                  <a:lnTo>
                    <a:pt x="300739" y="33526"/>
                  </a:lnTo>
                  <a:lnTo>
                    <a:pt x="356424" y="21856"/>
                  </a:lnTo>
                  <a:lnTo>
                    <a:pt x="415284" y="12519"/>
                  </a:lnTo>
                  <a:lnTo>
                    <a:pt x="476948" y="5663"/>
                  </a:lnTo>
                  <a:lnTo>
                    <a:pt x="541047" y="1440"/>
                  </a:lnTo>
                  <a:lnTo>
                    <a:pt x="607209" y="0"/>
                  </a:lnTo>
                  <a:lnTo>
                    <a:pt x="673371" y="1440"/>
                  </a:lnTo>
                  <a:lnTo>
                    <a:pt x="737470" y="5663"/>
                  </a:lnTo>
                  <a:lnTo>
                    <a:pt x="799134" y="12519"/>
                  </a:lnTo>
                  <a:lnTo>
                    <a:pt x="857994" y="21856"/>
                  </a:lnTo>
                  <a:lnTo>
                    <a:pt x="913679" y="33526"/>
                  </a:lnTo>
                  <a:lnTo>
                    <a:pt x="965819" y="47379"/>
                  </a:lnTo>
                  <a:lnTo>
                    <a:pt x="1014043" y="63265"/>
                  </a:lnTo>
                  <a:lnTo>
                    <a:pt x="1057981" y="81034"/>
                  </a:lnTo>
                  <a:lnTo>
                    <a:pt x="1097262" y="100537"/>
                  </a:lnTo>
                  <a:lnTo>
                    <a:pt x="1131517" y="121623"/>
                  </a:lnTo>
                  <a:lnTo>
                    <a:pt x="1183463" y="167947"/>
                  </a:lnTo>
                  <a:lnTo>
                    <a:pt x="1210856" y="218807"/>
                  </a:lnTo>
                  <a:lnTo>
                    <a:pt x="1214419" y="245564"/>
                  </a:lnTo>
                  <a:lnTo>
                    <a:pt x="1210856" y="272321"/>
                  </a:lnTo>
                  <a:lnTo>
                    <a:pt x="1183463" y="323182"/>
                  </a:lnTo>
                  <a:lnTo>
                    <a:pt x="1131517" y="369506"/>
                  </a:lnTo>
                  <a:lnTo>
                    <a:pt x="1097262" y="390592"/>
                  </a:lnTo>
                  <a:lnTo>
                    <a:pt x="1057981" y="410094"/>
                  </a:lnTo>
                  <a:lnTo>
                    <a:pt x="1014043" y="427863"/>
                  </a:lnTo>
                  <a:lnTo>
                    <a:pt x="965819" y="443749"/>
                  </a:lnTo>
                  <a:lnTo>
                    <a:pt x="913679" y="457602"/>
                  </a:lnTo>
                  <a:lnTo>
                    <a:pt x="857994" y="469272"/>
                  </a:lnTo>
                  <a:lnTo>
                    <a:pt x="799134" y="478610"/>
                  </a:lnTo>
                  <a:lnTo>
                    <a:pt x="737470" y="485465"/>
                  </a:lnTo>
                  <a:lnTo>
                    <a:pt x="673371" y="489688"/>
                  </a:lnTo>
                  <a:lnTo>
                    <a:pt x="607209" y="491129"/>
                  </a:lnTo>
                  <a:lnTo>
                    <a:pt x="541047" y="489688"/>
                  </a:lnTo>
                  <a:lnTo>
                    <a:pt x="476948" y="485465"/>
                  </a:lnTo>
                  <a:lnTo>
                    <a:pt x="415284" y="478610"/>
                  </a:lnTo>
                  <a:lnTo>
                    <a:pt x="356424" y="469272"/>
                  </a:lnTo>
                  <a:lnTo>
                    <a:pt x="300739" y="457602"/>
                  </a:lnTo>
                  <a:lnTo>
                    <a:pt x="248599" y="443749"/>
                  </a:lnTo>
                  <a:lnTo>
                    <a:pt x="200375" y="427863"/>
                  </a:lnTo>
                  <a:lnTo>
                    <a:pt x="156437" y="410094"/>
                  </a:lnTo>
                  <a:lnTo>
                    <a:pt x="117156" y="390592"/>
                  </a:lnTo>
                  <a:lnTo>
                    <a:pt x="82901" y="369506"/>
                  </a:lnTo>
                  <a:lnTo>
                    <a:pt x="30955" y="323182"/>
                  </a:lnTo>
                  <a:lnTo>
                    <a:pt x="3563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403636" y="1223682"/>
            <a:ext cx="33113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f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st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32595" y="2296146"/>
            <a:ext cx="1134035" cy="356432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4385" rIns="0" bIns="0" rtlCol="0">
            <a:spAutoFit/>
          </a:bodyPr>
          <a:lstStyle/>
          <a:p>
            <a:pPr marL="274559">
              <a:spcBef>
                <a:spcPts val="979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271513" y="1664582"/>
            <a:ext cx="931769" cy="442632"/>
            <a:chOff x="5228114" y="1886526"/>
            <a:chExt cx="1056005" cy="501650"/>
          </a:xfrm>
        </p:grpSpPr>
        <p:sp>
          <p:nvSpPr>
            <p:cNvPr id="41" name="object 41"/>
            <p:cNvSpPr/>
            <p:nvPr/>
          </p:nvSpPr>
          <p:spPr>
            <a:xfrm>
              <a:off x="5233194" y="1891606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522709" y="0"/>
                  </a:moveTo>
                  <a:lnTo>
                    <a:pt x="457141" y="1913"/>
                  </a:lnTo>
                  <a:lnTo>
                    <a:pt x="394004" y="7499"/>
                  </a:lnTo>
                  <a:lnTo>
                    <a:pt x="333787" y="16529"/>
                  </a:lnTo>
                  <a:lnTo>
                    <a:pt x="276981" y="28771"/>
                  </a:lnTo>
                  <a:lnTo>
                    <a:pt x="224074" y="43996"/>
                  </a:lnTo>
                  <a:lnTo>
                    <a:pt x="175557" y="61974"/>
                  </a:lnTo>
                  <a:lnTo>
                    <a:pt x="131920" y="82475"/>
                  </a:lnTo>
                  <a:lnTo>
                    <a:pt x="93652" y="105268"/>
                  </a:lnTo>
                  <a:lnTo>
                    <a:pt x="61243" y="130123"/>
                  </a:lnTo>
                  <a:lnTo>
                    <a:pt x="15964" y="185100"/>
                  </a:lnTo>
                  <a:lnTo>
                    <a:pt x="0" y="245564"/>
                  </a:lnTo>
                  <a:lnTo>
                    <a:pt x="4072" y="276367"/>
                  </a:lnTo>
                  <a:lnTo>
                    <a:pt x="35184" y="334318"/>
                  </a:lnTo>
                  <a:lnTo>
                    <a:pt x="93652" y="385860"/>
                  </a:lnTo>
                  <a:lnTo>
                    <a:pt x="131920" y="408653"/>
                  </a:lnTo>
                  <a:lnTo>
                    <a:pt x="175557" y="429154"/>
                  </a:lnTo>
                  <a:lnTo>
                    <a:pt x="224074" y="447132"/>
                  </a:lnTo>
                  <a:lnTo>
                    <a:pt x="276981" y="462357"/>
                  </a:lnTo>
                  <a:lnTo>
                    <a:pt x="333787" y="474599"/>
                  </a:lnTo>
                  <a:lnTo>
                    <a:pt x="394004" y="483629"/>
                  </a:lnTo>
                  <a:lnTo>
                    <a:pt x="457141" y="489216"/>
                  </a:lnTo>
                  <a:lnTo>
                    <a:pt x="522709" y="491129"/>
                  </a:lnTo>
                  <a:lnTo>
                    <a:pt x="588276" y="489216"/>
                  </a:lnTo>
                  <a:lnTo>
                    <a:pt x="651413" y="483629"/>
                  </a:lnTo>
                  <a:lnTo>
                    <a:pt x="711630" y="474599"/>
                  </a:lnTo>
                  <a:lnTo>
                    <a:pt x="768436" y="462357"/>
                  </a:lnTo>
                  <a:lnTo>
                    <a:pt x="821343" y="447132"/>
                  </a:lnTo>
                  <a:lnTo>
                    <a:pt x="869860" y="429154"/>
                  </a:lnTo>
                  <a:lnTo>
                    <a:pt x="913497" y="408653"/>
                  </a:lnTo>
                  <a:lnTo>
                    <a:pt x="951765" y="385860"/>
                  </a:lnTo>
                  <a:lnTo>
                    <a:pt x="984173" y="361005"/>
                  </a:lnTo>
                  <a:lnTo>
                    <a:pt x="1029453" y="306028"/>
                  </a:lnTo>
                  <a:lnTo>
                    <a:pt x="1045417" y="245564"/>
                  </a:lnTo>
                  <a:lnTo>
                    <a:pt x="1041344" y="214761"/>
                  </a:lnTo>
                  <a:lnTo>
                    <a:pt x="1010232" y="156810"/>
                  </a:lnTo>
                  <a:lnTo>
                    <a:pt x="951765" y="105268"/>
                  </a:lnTo>
                  <a:lnTo>
                    <a:pt x="913497" y="82475"/>
                  </a:lnTo>
                  <a:lnTo>
                    <a:pt x="869860" y="61974"/>
                  </a:lnTo>
                  <a:lnTo>
                    <a:pt x="821343" y="43996"/>
                  </a:lnTo>
                  <a:lnTo>
                    <a:pt x="768436" y="28771"/>
                  </a:lnTo>
                  <a:lnTo>
                    <a:pt x="711630" y="16529"/>
                  </a:lnTo>
                  <a:lnTo>
                    <a:pt x="651413" y="7499"/>
                  </a:lnTo>
                  <a:lnTo>
                    <a:pt x="588276" y="1913"/>
                  </a:lnTo>
                  <a:lnTo>
                    <a:pt x="5227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5233194" y="1891606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0" y="245564"/>
                  </a:moveTo>
                  <a:lnTo>
                    <a:pt x="15963" y="185100"/>
                  </a:lnTo>
                  <a:lnTo>
                    <a:pt x="61243" y="130123"/>
                  </a:lnTo>
                  <a:lnTo>
                    <a:pt x="93651" y="105268"/>
                  </a:lnTo>
                  <a:lnTo>
                    <a:pt x="131919" y="82475"/>
                  </a:lnTo>
                  <a:lnTo>
                    <a:pt x="175556" y="61974"/>
                  </a:lnTo>
                  <a:lnTo>
                    <a:pt x="224073" y="43997"/>
                  </a:lnTo>
                  <a:lnTo>
                    <a:pt x="276980" y="28771"/>
                  </a:lnTo>
                  <a:lnTo>
                    <a:pt x="333787" y="16529"/>
                  </a:lnTo>
                  <a:lnTo>
                    <a:pt x="394003" y="7499"/>
                  </a:lnTo>
                  <a:lnTo>
                    <a:pt x="457140" y="1913"/>
                  </a:lnTo>
                  <a:lnTo>
                    <a:pt x="522708" y="0"/>
                  </a:lnTo>
                  <a:lnTo>
                    <a:pt x="588275" y="1913"/>
                  </a:lnTo>
                  <a:lnTo>
                    <a:pt x="651412" y="7499"/>
                  </a:lnTo>
                  <a:lnTo>
                    <a:pt x="711629" y="16529"/>
                  </a:lnTo>
                  <a:lnTo>
                    <a:pt x="768436" y="28771"/>
                  </a:lnTo>
                  <a:lnTo>
                    <a:pt x="821342" y="43997"/>
                  </a:lnTo>
                  <a:lnTo>
                    <a:pt x="869859" y="61974"/>
                  </a:lnTo>
                  <a:lnTo>
                    <a:pt x="913496" y="82475"/>
                  </a:lnTo>
                  <a:lnTo>
                    <a:pt x="951764" y="105268"/>
                  </a:lnTo>
                  <a:lnTo>
                    <a:pt x="984173" y="130123"/>
                  </a:lnTo>
                  <a:lnTo>
                    <a:pt x="1029452" y="185100"/>
                  </a:lnTo>
                  <a:lnTo>
                    <a:pt x="1045416" y="245564"/>
                  </a:lnTo>
                  <a:lnTo>
                    <a:pt x="1041343" y="276367"/>
                  </a:lnTo>
                  <a:lnTo>
                    <a:pt x="1010232" y="334318"/>
                  </a:lnTo>
                  <a:lnTo>
                    <a:pt x="951764" y="385861"/>
                  </a:lnTo>
                  <a:lnTo>
                    <a:pt x="913496" y="408654"/>
                  </a:lnTo>
                  <a:lnTo>
                    <a:pt x="869859" y="429154"/>
                  </a:lnTo>
                  <a:lnTo>
                    <a:pt x="821342" y="447132"/>
                  </a:lnTo>
                  <a:lnTo>
                    <a:pt x="768436" y="462357"/>
                  </a:lnTo>
                  <a:lnTo>
                    <a:pt x="711629" y="474600"/>
                  </a:lnTo>
                  <a:lnTo>
                    <a:pt x="651412" y="483629"/>
                  </a:lnTo>
                  <a:lnTo>
                    <a:pt x="588275" y="489216"/>
                  </a:lnTo>
                  <a:lnTo>
                    <a:pt x="522708" y="491129"/>
                  </a:lnTo>
                  <a:lnTo>
                    <a:pt x="457140" y="489216"/>
                  </a:lnTo>
                  <a:lnTo>
                    <a:pt x="394003" y="483629"/>
                  </a:lnTo>
                  <a:lnTo>
                    <a:pt x="333787" y="474600"/>
                  </a:lnTo>
                  <a:lnTo>
                    <a:pt x="276980" y="462357"/>
                  </a:lnTo>
                  <a:lnTo>
                    <a:pt x="224073" y="447132"/>
                  </a:lnTo>
                  <a:lnTo>
                    <a:pt x="175556" y="429154"/>
                  </a:lnTo>
                  <a:lnTo>
                    <a:pt x="131919" y="408654"/>
                  </a:lnTo>
                  <a:lnTo>
                    <a:pt x="93651" y="385861"/>
                  </a:lnTo>
                  <a:lnTo>
                    <a:pt x="61243" y="361006"/>
                  </a:lnTo>
                  <a:lnTo>
                    <a:pt x="15963" y="306029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652045" y="1758874"/>
            <a:ext cx="1697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665492" y="1659539"/>
            <a:ext cx="1790700" cy="442632"/>
            <a:chOff x="5674624" y="1880811"/>
            <a:chExt cx="2029460" cy="501650"/>
          </a:xfrm>
        </p:grpSpPr>
        <p:sp>
          <p:nvSpPr>
            <p:cNvPr id="45" name="object 45"/>
            <p:cNvSpPr/>
            <p:nvPr/>
          </p:nvSpPr>
          <p:spPr>
            <a:xfrm>
              <a:off x="5674624" y="2248423"/>
              <a:ext cx="165100" cy="12700"/>
            </a:xfrm>
            <a:custGeom>
              <a:avLst/>
              <a:gdLst/>
              <a:ahLst/>
              <a:cxnLst/>
              <a:rect l="l" t="t" r="r" b="b"/>
              <a:pathLst>
                <a:path w="165100" h="12700">
                  <a:moveTo>
                    <a:pt x="1651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65100" y="12700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6653394" y="1885891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522707" y="0"/>
                  </a:moveTo>
                  <a:lnTo>
                    <a:pt x="457140" y="1913"/>
                  </a:lnTo>
                  <a:lnTo>
                    <a:pt x="394003" y="7499"/>
                  </a:lnTo>
                  <a:lnTo>
                    <a:pt x="333786" y="16529"/>
                  </a:lnTo>
                  <a:lnTo>
                    <a:pt x="276980" y="28771"/>
                  </a:lnTo>
                  <a:lnTo>
                    <a:pt x="224073" y="43997"/>
                  </a:lnTo>
                  <a:lnTo>
                    <a:pt x="175556" y="61975"/>
                  </a:lnTo>
                  <a:lnTo>
                    <a:pt x="131919" y="82475"/>
                  </a:lnTo>
                  <a:lnTo>
                    <a:pt x="93651" y="105268"/>
                  </a:lnTo>
                  <a:lnTo>
                    <a:pt x="61243" y="130123"/>
                  </a:lnTo>
                  <a:lnTo>
                    <a:pt x="15963" y="185100"/>
                  </a:lnTo>
                  <a:lnTo>
                    <a:pt x="0" y="245564"/>
                  </a:lnTo>
                  <a:lnTo>
                    <a:pt x="4072" y="276367"/>
                  </a:lnTo>
                  <a:lnTo>
                    <a:pt x="35184" y="334318"/>
                  </a:lnTo>
                  <a:lnTo>
                    <a:pt x="93651" y="385861"/>
                  </a:lnTo>
                  <a:lnTo>
                    <a:pt x="131919" y="408654"/>
                  </a:lnTo>
                  <a:lnTo>
                    <a:pt x="175556" y="429154"/>
                  </a:lnTo>
                  <a:lnTo>
                    <a:pt x="224073" y="447132"/>
                  </a:lnTo>
                  <a:lnTo>
                    <a:pt x="276980" y="462357"/>
                  </a:lnTo>
                  <a:lnTo>
                    <a:pt x="333786" y="474600"/>
                  </a:lnTo>
                  <a:lnTo>
                    <a:pt x="394003" y="483629"/>
                  </a:lnTo>
                  <a:lnTo>
                    <a:pt x="457140" y="489216"/>
                  </a:lnTo>
                  <a:lnTo>
                    <a:pt x="522707" y="491129"/>
                  </a:lnTo>
                  <a:lnTo>
                    <a:pt x="588275" y="489216"/>
                  </a:lnTo>
                  <a:lnTo>
                    <a:pt x="651412" y="483629"/>
                  </a:lnTo>
                  <a:lnTo>
                    <a:pt x="711628" y="474600"/>
                  </a:lnTo>
                  <a:lnTo>
                    <a:pt x="768435" y="462357"/>
                  </a:lnTo>
                  <a:lnTo>
                    <a:pt x="821342" y="447132"/>
                  </a:lnTo>
                  <a:lnTo>
                    <a:pt x="869859" y="429154"/>
                  </a:lnTo>
                  <a:lnTo>
                    <a:pt x="913496" y="408654"/>
                  </a:lnTo>
                  <a:lnTo>
                    <a:pt x="951763" y="385861"/>
                  </a:lnTo>
                  <a:lnTo>
                    <a:pt x="984172" y="361006"/>
                  </a:lnTo>
                  <a:lnTo>
                    <a:pt x="1029451" y="306029"/>
                  </a:lnTo>
                  <a:lnTo>
                    <a:pt x="1045415" y="245564"/>
                  </a:lnTo>
                  <a:lnTo>
                    <a:pt x="1041343" y="214761"/>
                  </a:lnTo>
                  <a:lnTo>
                    <a:pt x="1010231" y="156811"/>
                  </a:lnTo>
                  <a:lnTo>
                    <a:pt x="951763" y="105268"/>
                  </a:lnTo>
                  <a:lnTo>
                    <a:pt x="913496" y="82475"/>
                  </a:lnTo>
                  <a:lnTo>
                    <a:pt x="869859" y="61975"/>
                  </a:lnTo>
                  <a:lnTo>
                    <a:pt x="821342" y="43997"/>
                  </a:lnTo>
                  <a:lnTo>
                    <a:pt x="768435" y="28771"/>
                  </a:lnTo>
                  <a:lnTo>
                    <a:pt x="711628" y="16529"/>
                  </a:lnTo>
                  <a:lnTo>
                    <a:pt x="651412" y="7499"/>
                  </a:lnTo>
                  <a:lnTo>
                    <a:pt x="588275" y="1913"/>
                  </a:lnTo>
                  <a:lnTo>
                    <a:pt x="522707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6653394" y="1885891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0" y="245564"/>
                  </a:moveTo>
                  <a:lnTo>
                    <a:pt x="15963" y="185100"/>
                  </a:lnTo>
                  <a:lnTo>
                    <a:pt x="61243" y="130123"/>
                  </a:lnTo>
                  <a:lnTo>
                    <a:pt x="93651" y="105268"/>
                  </a:lnTo>
                  <a:lnTo>
                    <a:pt x="131919" y="82475"/>
                  </a:lnTo>
                  <a:lnTo>
                    <a:pt x="175556" y="61974"/>
                  </a:lnTo>
                  <a:lnTo>
                    <a:pt x="224073" y="43997"/>
                  </a:lnTo>
                  <a:lnTo>
                    <a:pt x="276980" y="28771"/>
                  </a:lnTo>
                  <a:lnTo>
                    <a:pt x="333787" y="16529"/>
                  </a:lnTo>
                  <a:lnTo>
                    <a:pt x="394003" y="7499"/>
                  </a:lnTo>
                  <a:lnTo>
                    <a:pt x="457140" y="1913"/>
                  </a:lnTo>
                  <a:lnTo>
                    <a:pt x="522708" y="0"/>
                  </a:lnTo>
                  <a:lnTo>
                    <a:pt x="588275" y="1913"/>
                  </a:lnTo>
                  <a:lnTo>
                    <a:pt x="651412" y="7499"/>
                  </a:lnTo>
                  <a:lnTo>
                    <a:pt x="711629" y="16529"/>
                  </a:lnTo>
                  <a:lnTo>
                    <a:pt x="768436" y="28771"/>
                  </a:lnTo>
                  <a:lnTo>
                    <a:pt x="821342" y="43997"/>
                  </a:lnTo>
                  <a:lnTo>
                    <a:pt x="869859" y="61974"/>
                  </a:lnTo>
                  <a:lnTo>
                    <a:pt x="913496" y="82475"/>
                  </a:lnTo>
                  <a:lnTo>
                    <a:pt x="951764" y="105268"/>
                  </a:lnTo>
                  <a:lnTo>
                    <a:pt x="984173" y="130123"/>
                  </a:lnTo>
                  <a:lnTo>
                    <a:pt x="1029452" y="185100"/>
                  </a:lnTo>
                  <a:lnTo>
                    <a:pt x="1045416" y="245564"/>
                  </a:lnTo>
                  <a:lnTo>
                    <a:pt x="1041343" y="276367"/>
                  </a:lnTo>
                  <a:lnTo>
                    <a:pt x="1010232" y="334318"/>
                  </a:lnTo>
                  <a:lnTo>
                    <a:pt x="951764" y="385861"/>
                  </a:lnTo>
                  <a:lnTo>
                    <a:pt x="913496" y="408654"/>
                  </a:lnTo>
                  <a:lnTo>
                    <a:pt x="869859" y="429154"/>
                  </a:lnTo>
                  <a:lnTo>
                    <a:pt x="821342" y="447132"/>
                  </a:lnTo>
                  <a:lnTo>
                    <a:pt x="768436" y="462357"/>
                  </a:lnTo>
                  <a:lnTo>
                    <a:pt x="711629" y="474600"/>
                  </a:lnTo>
                  <a:lnTo>
                    <a:pt x="651412" y="483629"/>
                  </a:lnTo>
                  <a:lnTo>
                    <a:pt x="588275" y="489216"/>
                  </a:lnTo>
                  <a:lnTo>
                    <a:pt x="522708" y="491129"/>
                  </a:lnTo>
                  <a:lnTo>
                    <a:pt x="457140" y="489216"/>
                  </a:lnTo>
                  <a:lnTo>
                    <a:pt x="394003" y="483629"/>
                  </a:lnTo>
                  <a:lnTo>
                    <a:pt x="333787" y="474600"/>
                  </a:lnTo>
                  <a:lnTo>
                    <a:pt x="276980" y="462357"/>
                  </a:lnTo>
                  <a:lnTo>
                    <a:pt x="224073" y="447132"/>
                  </a:lnTo>
                  <a:lnTo>
                    <a:pt x="175556" y="429154"/>
                  </a:lnTo>
                  <a:lnTo>
                    <a:pt x="131919" y="408654"/>
                  </a:lnTo>
                  <a:lnTo>
                    <a:pt x="93651" y="385861"/>
                  </a:lnTo>
                  <a:lnTo>
                    <a:pt x="61243" y="361006"/>
                  </a:lnTo>
                  <a:lnTo>
                    <a:pt x="15963" y="306029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740061" y="1753496"/>
            <a:ext cx="50034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732728" y="1659539"/>
            <a:ext cx="3377452" cy="641537"/>
            <a:chOff x="5750824" y="1880811"/>
            <a:chExt cx="3827779" cy="727075"/>
          </a:xfrm>
        </p:grpSpPr>
        <p:sp>
          <p:nvSpPr>
            <p:cNvPr id="50" name="object 50"/>
            <p:cNvSpPr/>
            <p:nvPr/>
          </p:nvSpPr>
          <p:spPr>
            <a:xfrm>
              <a:off x="5755904" y="2382735"/>
              <a:ext cx="751205" cy="219710"/>
            </a:xfrm>
            <a:custGeom>
              <a:avLst/>
              <a:gdLst/>
              <a:ahLst/>
              <a:cxnLst/>
              <a:rect l="l" t="t" r="r" b="b"/>
              <a:pathLst>
                <a:path w="751204" h="219710">
                  <a:moveTo>
                    <a:pt x="0" y="0"/>
                  </a:moveTo>
                  <a:lnTo>
                    <a:pt x="750629" y="21956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6506532" y="2377022"/>
              <a:ext cx="669925" cy="225425"/>
            </a:xfrm>
            <a:custGeom>
              <a:avLst/>
              <a:gdLst/>
              <a:ahLst/>
              <a:cxnLst/>
              <a:rect l="l" t="t" r="r" b="b"/>
              <a:pathLst>
                <a:path w="669925" h="225425">
                  <a:moveTo>
                    <a:pt x="669569" y="0"/>
                  </a:moveTo>
                  <a:lnTo>
                    <a:pt x="0" y="225276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8358605" y="1885891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607209" y="0"/>
                  </a:moveTo>
                  <a:lnTo>
                    <a:pt x="541047" y="1440"/>
                  </a:lnTo>
                  <a:lnTo>
                    <a:pt x="476949" y="5663"/>
                  </a:lnTo>
                  <a:lnTo>
                    <a:pt x="415284" y="12519"/>
                  </a:lnTo>
                  <a:lnTo>
                    <a:pt x="356424" y="21856"/>
                  </a:lnTo>
                  <a:lnTo>
                    <a:pt x="300739" y="33526"/>
                  </a:lnTo>
                  <a:lnTo>
                    <a:pt x="248599" y="47379"/>
                  </a:lnTo>
                  <a:lnTo>
                    <a:pt x="200375" y="63265"/>
                  </a:lnTo>
                  <a:lnTo>
                    <a:pt x="156437" y="81035"/>
                  </a:lnTo>
                  <a:lnTo>
                    <a:pt x="117156" y="100537"/>
                  </a:lnTo>
                  <a:lnTo>
                    <a:pt x="82902" y="121623"/>
                  </a:lnTo>
                  <a:lnTo>
                    <a:pt x="30955" y="167947"/>
                  </a:lnTo>
                  <a:lnTo>
                    <a:pt x="3563" y="218807"/>
                  </a:lnTo>
                  <a:lnTo>
                    <a:pt x="0" y="245564"/>
                  </a:lnTo>
                  <a:lnTo>
                    <a:pt x="3563" y="272321"/>
                  </a:lnTo>
                  <a:lnTo>
                    <a:pt x="30955" y="323182"/>
                  </a:lnTo>
                  <a:lnTo>
                    <a:pt x="82902" y="369506"/>
                  </a:lnTo>
                  <a:lnTo>
                    <a:pt x="117156" y="390592"/>
                  </a:lnTo>
                  <a:lnTo>
                    <a:pt x="156437" y="410094"/>
                  </a:lnTo>
                  <a:lnTo>
                    <a:pt x="200375" y="427863"/>
                  </a:lnTo>
                  <a:lnTo>
                    <a:pt x="248599" y="443749"/>
                  </a:lnTo>
                  <a:lnTo>
                    <a:pt x="300739" y="457602"/>
                  </a:lnTo>
                  <a:lnTo>
                    <a:pt x="356424" y="469272"/>
                  </a:lnTo>
                  <a:lnTo>
                    <a:pt x="415284" y="478610"/>
                  </a:lnTo>
                  <a:lnTo>
                    <a:pt x="476949" y="485465"/>
                  </a:lnTo>
                  <a:lnTo>
                    <a:pt x="541047" y="489688"/>
                  </a:lnTo>
                  <a:lnTo>
                    <a:pt x="607209" y="491129"/>
                  </a:lnTo>
                  <a:lnTo>
                    <a:pt x="673372" y="489688"/>
                  </a:lnTo>
                  <a:lnTo>
                    <a:pt x="737470" y="485465"/>
                  </a:lnTo>
                  <a:lnTo>
                    <a:pt x="799135" y="478610"/>
                  </a:lnTo>
                  <a:lnTo>
                    <a:pt x="857995" y="469272"/>
                  </a:lnTo>
                  <a:lnTo>
                    <a:pt x="913680" y="457602"/>
                  </a:lnTo>
                  <a:lnTo>
                    <a:pt x="965819" y="443749"/>
                  </a:lnTo>
                  <a:lnTo>
                    <a:pt x="1014044" y="427863"/>
                  </a:lnTo>
                  <a:lnTo>
                    <a:pt x="1057981" y="410094"/>
                  </a:lnTo>
                  <a:lnTo>
                    <a:pt x="1097263" y="390592"/>
                  </a:lnTo>
                  <a:lnTo>
                    <a:pt x="1131517" y="369506"/>
                  </a:lnTo>
                  <a:lnTo>
                    <a:pt x="1183463" y="323182"/>
                  </a:lnTo>
                  <a:lnTo>
                    <a:pt x="1210856" y="272321"/>
                  </a:lnTo>
                  <a:lnTo>
                    <a:pt x="1214419" y="245564"/>
                  </a:lnTo>
                  <a:lnTo>
                    <a:pt x="1210856" y="218807"/>
                  </a:lnTo>
                  <a:lnTo>
                    <a:pt x="1183463" y="167947"/>
                  </a:lnTo>
                  <a:lnTo>
                    <a:pt x="1131517" y="121623"/>
                  </a:lnTo>
                  <a:lnTo>
                    <a:pt x="1097263" y="100537"/>
                  </a:lnTo>
                  <a:lnTo>
                    <a:pt x="1057981" y="81035"/>
                  </a:lnTo>
                  <a:lnTo>
                    <a:pt x="1014044" y="63265"/>
                  </a:lnTo>
                  <a:lnTo>
                    <a:pt x="965819" y="47379"/>
                  </a:lnTo>
                  <a:lnTo>
                    <a:pt x="913680" y="33526"/>
                  </a:lnTo>
                  <a:lnTo>
                    <a:pt x="857995" y="21856"/>
                  </a:lnTo>
                  <a:lnTo>
                    <a:pt x="799135" y="12519"/>
                  </a:lnTo>
                  <a:lnTo>
                    <a:pt x="737470" y="5663"/>
                  </a:lnTo>
                  <a:lnTo>
                    <a:pt x="673372" y="1440"/>
                  </a:lnTo>
                  <a:lnTo>
                    <a:pt x="6072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8358605" y="1885891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0" y="245564"/>
                  </a:moveTo>
                  <a:lnTo>
                    <a:pt x="14005" y="192885"/>
                  </a:lnTo>
                  <a:lnTo>
                    <a:pt x="54045" y="144143"/>
                  </a:lnTo>
                  <a:lnTo>
                    <a:pt x="117156" y="100537"/>
                  </a:lnTo>
                  <a:lnTo>
                    <a:pt x="156437" y="81034"/>
                  </a:lnTo>
                  <a:lnTo>
                    <a:pt x="200375" y="63265"/>
                  </a:lnTo>
                  <a:lnTo>
                    <a:pt x="248599" y="47379"/>
                  </a:lnTo>
                  <a:lnTo>
                    <a:pt x="300739" y="33526"/>
                  </a:lnTo>
                  <a:lnTo>
                    <a:pt x="356424" y="21856"/>
                  </a:lnTo>
                  <a:lnTo>
                    <a:pt x="415284" y="12519"/>
                  </a:lnTo>
                  <a:lnTo>
                    <a:pt x="476948" y="5663"/>
                  </a:lnTo>
                  <a:lnTo>
                    <a:pt x="541047" y="1440"/>
                  </a:lnTo>
                  <a:lnTo>
                    <a:pt x="607209" y="0"/>
                  </a:lnTo>
                  <a:lnTo>
                    <a:pt x="673371" y="1440"/>
                  </a:lnTo>
                  <a:lnTo>
                    <a:pt x="737470" y="5663"/>
                  </a:lnTo>
                  <a:lnTo>
                    <a:pt x="799134" y="12519"/>
                  </a:lnTo>
                  <a:lnTo>
                    <a:pt x="857994" y="21856"/>
                  </a:lnTo>
                  <a:lnTo>
                    <a:pt x="913679" y="33526"/>
                  </a:lnTo>
                  <a:lnTo>
                    <a:pt x="965819" y="47379"/>
                  </a:lnTo>
                  <a:lnTo>
                    <a:pt x="1014043" y="63265"/>
                  </a:lnTo>
                  <a:lnTo>
                    <a:pt x="1057981" y="81034"/>
                  </a:lnTo>
                  <a:lnTo>
                    <a:pt x="1097262" y="100537"/>
                  </a:lnTo>
                  <a:lnTo>
                    <a:pt x="1131517" y="121623"/>
                  </a:lnTo>
                  <a:lnTo>
                    <a:pt x="1183463" y="167947"/>
                  </a:lnTo>
                  <a:lnTo>
                    <a:pt x="1210856" y="218807"/>
                  </a:lnTo>
                  <a:lnTo>
                    <a:pt x="1214419" y="245564"/>
                  </a:lnTo>
                  <a:lnTo>
                    <a:pt x="1210856" y="272321"/>
                  </a:lnTo>
                  <a:lnTo>
                    <a:pt x="1183463" y="323182"/>
                  </a:lnTo>
                  <a:lnTo>
                    <a:pt x="1131517" y="369506"/>
                  </a:lnTo>
                  <a:lnTo>
                    <a:pt x="1097262" y="390592"/>
                  </a:lnTo>
                  <a:lnTo>
                    <a:pt x="1057981" y="410094"/>
                  </a:lnTo>
                  <a:lnTo>
                    <a:pt x="1014043" y="427863"/>
                  </a:lnTo>
                  <a:lnTo>
                    <a:pt x="965819" y="443749"/>
                  </a:lnTo>
                  <a:lnTo>
                    <a:pt x="913679" y="457602"/>
                  </a:lnTo>
                  <a:lnTo>
                    <a:pt x="857994" y="469272"/>
                  </a:lnTo>
                  <a:lnTo>
                    <a:pt x="799134" y="478610"/>
                  </a:lnTo>
                  <a:lnTo>
                    <a:pt x="737470" y="485465"/>
                  </a:lnTo>
                  <a:lnTo>
                    <a:pt x="673371" y="489688"/>
                  </a:lnTo>
                  <a:lnTo>
                    <a:pt x="607209" y="491129"/>
                  </a:lnTo>
                  <a:lnTo>
                    <a:pt x="541047" y="489688"/>
                  </a:lnTo>
                  <a:lnTo>
                    <a:pt x="476948" y="485465"/>
                  </a:lnTo>
                  <a:lnTo>
                    <a:pt x="415284" y="478610"/>
                  </a:lnTo>
                  <a:lnTo>
                    <a:pt x="356424" y="469272"/>
                  </a:lnTo>
                  <a:lnTo>
                    <a:pt x="300739" y="457602"/>
                  </a:lnTo>
                  <a:lnTo>
                    <a:pt x="248599" y="443749"/>
                  </a:lnTo>
                  <a:lnTo>
                    <a:pt x="200375" y="427863"/>
                  </a:lnTo>
                  <a:lnTo>
                    <a:pt x="156437" y="410094"/>
                  </a:lnTo>
                  <a:lnTo>
                    <a:pt x="117156" y="390592"/>
                  </a:lnTo>
                  <a:lnTo>
                    <a:pt x="82901" y="369506"/>
                  </a:lnTo>
                  <a:lnTo>
                    <a:pt x="30955" y="323182"/>
                  </a:lnTo>
                  <a:lnTo>
                    <a:pt x="3563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9277384" y="1753496"/>
            <a:ext cx="58438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dd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9029228" y="2183317"/>
            <a:ext cx="1080807" cy="442632"/>
            <a:chOff x="8353524" y="2474426"/>
            <a:chExt cx="1224915" cy="501650"/>
          </a:xfrm>
        </p:grpSpPr>
        <p:sp>
          <p:nvSpPr>
            <p:cNvPr id="56" name="object 56"/>
            <p:cNvSpPr/>
            <p:nvPr/>
          </p:nvSpPr>
          <p:spPr>
            <a:xfrm>
              <a:off x="8358604" y="2479506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607209" y="0"/>
                  </a:moveTo>
                  <a:lnTo>
                    <a:pt x="541047" y="1440"/>
                  </a:lnTo>
                  <a:lnTo>
                    <a:pt x="476949" y="5663"/>
                  </a:lnTo>
                  <a:lnTo>
                    <a:pt x="415284" y="12519"/>
                  </a:lnTo>
                  <a:lnTo>
                    <a:pt x="356424" y="21856"/>
                  </a:lnTo>
                  <a:lnTo>
                    <a:pt x="300739" y="33526"/>
                  </a:lnTo>
                  <a:lnTo>
                    <a:pt x="248599" y="47379"/>
                  </a:lnTo>
                  <a:lnTo>
                    <a:pt x="200375" y="63265"/>
                  </a:lnTo>
                  <a:lnTo>
                    <a:pt x="156437" y="81034"/>
                  </a:lnTo>
                  <a:lnTo>
                    <a:pt x="117156" y="100537"/>
                  </a:lnTo>
                  <a:lnTo>
                    <a:pt x="82902" y="121623"/>
                  </a:lnTo>
                  <a:lnTo>
                    <a:pt x="30955" y="167947"/>
                  </a:lnTo>
                  <a:lnTo>
                    <a:pt x="3563" y="218807"/>
                  </a:lnTo>
                  <a:lnTo>
                    <a:pt x="0" y="245564"/>
                  </a:lnTo>
                  <a:lnTo>
                    <a:pt x="3563" y="272321"/>
                  </a:lnTo>
                  <a:lnTo>
                    <a:pt x="30955" y="323182"/>
                  </a:lnTo>
                  <a:lnTo>
                    <a:pt x="82902" y="369506"/>
                  </a:lnTo>
                  <a:lnTo>
                    <a:pt x="117156" y="390592"/>
                  </a:lnTo>
                  <a:lnTo>
                    <a:pt x="156437" y="410094"/>
                  </a:lnTo>
                  <a:lnTo>
                    <a:pt x="200375" y="427863"/>
                  </a:lnTo>
                  <a:lnTo>
                    <a:pt x="248599" y="443749"/>
                  </a:lnTo>
                  <a:lnTo>
                    <a:pt x="300739" y="457602"/>
                  </a:lnTo>
                  <a:lnTo>
                    <a:pt x="356424" y="469272"/>
                  </a:lnTo>
                  <a:lnTo>
                    <a:pt x="415284" y="478610"/>
                  </a:lnTo>
                  <a:lnTo>
                    <a:pt x="476949" y="485465"/>
                  </a:lnTo>
                  <a:lnTo>
                    <a:pt x="541047" y="489688"/>
                  </a:lnTo>
                  <a:lnTo>
                    <a:pt x="607209" y="491129"/>
                  </a:lnTo>
                  <a:lnTo>
                    <a:pt x="673372" y="489688"/>
                  </a:lnTo>
                  <a:lnTo>
                    <a:pt x="737470" y="485465"/>
                  </a:lnTo>
                  <a:lnTo>
                    <a:pt x="799135" y="478610"/>
                  </a:lnTo>
                  <a:lnTo>
                    <a:pt x="857995" y="469272"/>
                  </a:lnTo>
                  <a:lnTo>
                    <a:pt x="913680" y="457602"/>
                  </a:lnTo>
                  <a:lnTo>
                    <a:pt x="965819" y="443749"/>
                  </a:lnTo>
                  <a:lnTo>
                    <a:pt x="1014044" y="427863"/>
                  </a:lnTo>
                  <a:lnTo>
                    <a:pt x="1057981" y="410094"/>
                  </a:lnTo>
                  <a:lnTo>
                    <a:pt x="1097263" y="390592"/>
                  </a:lnTo>
                  <a:lnTo>
                    <a:pt x="1131517" y="369506"/>
                  </a:lnTo>
                  <a:lnTo>
                    <a:pt x="1183463" y="323182"/>
                  </a:lnTo>
                  <a:lnTo>
                    <a:pt x="1210856" y="272321"/>
                  </a:lnTo>
                  <a:lnTo>
                    <a:pt x="1214419" y="245564"/>
                  </a:lnTo>
                  <a:lnTo>
                    <a:pt x="1210856" y="218807"/>
                  </a:lnTo>
                  <a:lnTo>
                    <a:pt x="1183463" y="167947"/>
                  </a:lnTo>
                  <a:lnTo>
                    <a:pt x="1131517" y="121623"/>
                  </a:lnTo>
                  <a:lnTo>
                    <a:pt x="1097263" y="100537"/>
                  </a:lnTo>
                  <a:lnTo>
                    <a:pt x="1057981" y="81034"/>
                  </a:lnTo>
                  <a:lnTo>
                    <a:pt x="1014044" y="63265"/>
                  </a:lnTo>
                  <a:lnTo>
                    <a:pt x="965819" y="47379"/>
                  </a:lnTo>
                  <a:lnTo>
                    <a:pt x="913680" y="33526"/>
                  </a:lnTo>
                  <a:lnTo>
                    <a:pt x="857995" y="21856"/>
                  </a:lnTo>
                  <a:lnTo>
                    <a:pt x="799135" y="12519"/>
                  </a:lnTo>
                  <a:lnTo>
                    <a:pt x="737470" y="5663"/>
                  </a:lnTo>
                  <a:lnTo>
                    <a:pt x="673372" y="1440"/>
                  </a:lnTo>
                  <a:lnTo>
                    <a:pt x="6072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8358604" y="2479506"/>
              <a:ext cx="1214755" cy="491490"/>
            </a:xfrm>
            <a:custGeom>
              <a:avLst/>
              <a:gdLst/>
              <a:ahLst/>
              <a:cxnLst/>
              <a:rect l="l" t="t" r="r" b="b"/>
              <a:pathLst>
                <a:path w="1214754" h="491489">
                  <a:moveTo>
                    <a:pt x="0" y="245564"/>
                  </a:moveTo>
                  <a:lnTo>
                    <a:pt x="14005" y="192885"/>
                  </a:lnTo>
                  <a:lnTo>
                    <a:pt x="54045" y="144143"/>
                  </a:lnTo>
                  <a:lnTo>
                    <a:pt x="117156" y="100537"/>
                  </a:lnTo>
                  <a:lnTo>
                    <a:pt x="156437" y="81034"/>
                  </a:lnTo>
                  <a:lnTo>
                    <a:pt x="200375" y="63265"/>
                  </a:lnTo>
                  <a:lnTo>
                    <a:pt x="248599" y="47379"/>
                  </a:lnTo>
                  <a:lnTo>
                    <a:pt x="300739" y="33526"/>
                  </a:lnTo>
                  <a:lnTo>
                    <a:pt x="356424" y="21856"/>
                  </a:lnTo>
                  <a:lnTo>
                    <a:pt x="415284" y="12519"/>
                  </a:lnTo>
                  <a:lnTo>
                    <a:pt x="476948" y="5663"/>
                  </a:lnTo>
                  <a:lnTo>
                    <a:pt x="541047" y="1440"/>
                  </a:lnTo>
                  <a:lnTo>
                    <a:pt x="607209" y="0"/>
                  </a:lnTo>
                  <a:lnTo>
                    <a:pt x="673371" y="1440"/>
                  </a:lnTo>
                  <a:lnTo>
                    <a:pt x="737470" y="5663"/>
                  </a:lnTo>
                  <a:lnTo>
                    <a:pt x="799134" y="12519"/>
                  </a:lnTo>
                  <a:lnTo>
                    <a:pt x="857994" y="21856"/>
                  </a:lnTo>
                  <a:lnTo>
                    <a:pt x="913679" y="33526"/>
                  </a:lnTo>
                  <a:lnTo>
                    <a:pt x="965819" y="47379"/>
                  </a:lnTo>
                  <a:lnTo>
                    <a:pt x="1014043" y="63265"/>
                  </a:lnTo>
                  <a:lnTo>
                    <a:pt x="1057981" y="81034"/>
                  </a:lnTo>
                  <a:lnTo>
                    <a:pt x="1097262" y="100537"/>
                  </a:lnTo>
                  <a:lnTo>
                    <a:pt x="1131517" y="121623"/>
                  </a:lnTo>
                  <a:lnTo>
                    <a:pt x="1183463" y="167947"/>
                  </a:lnTo>
                  <a:lnTo>
                    <a:pt x="1210856" y="218807"/>
                  </a:lnTo>
                  <a:lnTo>
                    <a:pt x="1214419" y="245564"/>
                  </a:lnTo>
                  <a:lnTo>
                    <a:pt x="1210856" y="272321"/>
                  </a:lnTo>
                  <a:lnTo>
                    <a:pt x="1183463" y="323182"/>
                  </a:lnTo>
                  <a:lnTo>
                    <a:pt x="1131517" y="369506"/>
                  </a:lnTo>
                  <a:lnTo>
                    <a:pt x="1097262" y="390592"/>
                  </a:lnTo>
                  <a:lnTo>
                    <a:pt x="1057981" y="410094"/>
                  </a:lnTo>
                  <a:lnTo>
                    <a:pt x="1014043" y="427863"/>
                  </a:lnTo>
                  <a:lnTo>
                    <a:pt x="965819" y="443749"/>
                  </a:lnTo>
                  <a:lnTo>
                    <a:pt x="913679" y="457602"/>
                  </a:lnTo>
                  <a:lnTo>
                    <a:pt x="857994" y="469272"/>
                  </a:lnTo>
                  <a:lnTo>
                    <a:pt x="799134" y="478610"/>
                  </a:lnTo>
                  <a:lnTo>
                    <a:pt x="737470" y="485465"/>
                  </a:lnTo>
                  <a:lnTo>
                    <a:pt x="673371" y="489688"/>
                  </a:lnTo>
                  <a:lnTo>
                    <a:pt x="607209" y="491129"/>
                  </a:lnTo>
                  <a:lnTo>
                    <a:pt x="541047" y="489688"/>
                  </a:lnTo>
                  <a:lnTo>
                    <a:pt x="476948" y="485465"/>
                  </a:lnTo>
                  <a:lnTo>
                    <a:pt x="415284" y="478610"/>
                  </a:lnTo>
                  <a:lnTo>
                    <a:pt x="356424" y="469272"/>
                  </a:lnTo>
                  <a:lnTo>
                    <a:pt x="300739" y="457602"/>
                  </a:lnTo>
                  <a:lnTo>
                    <a:pt x="248599" y="443749"/>
                  </a:lnTo>
                  <a:lnTo>
                    <a:pt x="200375" y="427863"/>
                  </a:lnTo>
                  <a:lnTo>
                    <a:pt x="156437" y="410094"/>
                  </a:lnTo>
                  <a:lnTo>
                    <a:pt x="117156" y="390592"/>
                  </a:lnTo>
                  <a:lnTo>
                    <a:pt x="82901" y="369506"/>
                  </a:lnTo>
                  <a:lnTo>
                    <a:pt x="30955" y="323182"/>
                  </a:lnTo>
                  <a:lnTo>
                    <a:pt x="3563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9409614" y="2277931"/>
            <a:ext cx="31880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ast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8447056" y="1345321"/>
            <a:ext cx="591671" cy="1063999"/>
            <a:chOff x="7693730" y="1524697"/>
            <a:chExt cx="670560" cy="1205865"/>
          </a:xfrm>
        </p:grpSpPr>
        <p:sp>
          <p:nvSpPr>
            <p:cNvPr id="60" name="object 60"/>
            <p:cNvSpPr/>
            <p:nvPr/>
          </p:nvSpPr>
          <p:spPr>
            <a:xfrm>
              <a:off x="7698810" y="1529777"/>
              <a:ext cx="660400" cy="601980"/>
            </a:xfrm>
            <a:custGeom>
              <a:avLst/>
              <a:gdLst/>
              <a:ahLst/>
              <a:cxnLst/>
              <a:rect l="l" t="t" r="r" b="b"/>
              <a:pathLst>
                <a:path w="660400" h="601980">
                  <a:moveTo>
                    <a:pt x="659795" y="0"/>
                  </a:moveTo>
                  <a:lnTo>
                    <a:pt x="0" y="60167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7698810" y="2131456"/>
              <a:ext cx="660400" cy="0"/>
            </a:xfrm>
            <a:custGeom>
              <a:avLst/>
              <a:gdLst/>
              <a:ahLst/>
              <a:cxnLst/>
              <a:rect l="l" t="t" r="r" b="b"/>
              <a:pathLst>
                <a:path w="660400">
                  <a:moveTo>
                    <a:pt x="659795" y="0"/>
                  </a:moveTo>
                  <a:lnTo>
                    <a:pt x="0" y="1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7698810" y="2131456"/>
              <a:ext cx="660400" cy="593725"/>
            </a:xfrm>
            <a:custGeom>
              <a:avLst/>
              <a:gdLst/>
              <a:ahLst/>
              <a:cxnLst/>
              <a:rect l="l" t="t" r="r" b="b"/>
              <a:pathLst>
                <a:path w="660400" h="593725">
                  <a:moveTo>
                    <a:pt x="659795" y="593613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3592925" y="3092824"/>
            <a:ext cx="488016" cy="247650"/>
            <a:chOff x="2192381" y="3505201"/>
            <a:chExt cx="553085" cy="280670"/>
          </a:xfrm>
        </p:grpSpPr>
        <p:sp>
          <p:nvSpPr>
            <p:cNvPr id="64" name="object 64"/>
            <p:cNvSpPr/>
            <p:nvPr/>
          </p:nvSpPr>
          <p:spPr>
            <a:xfrm>
              <a:off x="2207621" y="352044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5" h="250189">
                  <a:moveTo>
                    <a:pt x="391886" y="0"/>
                  </a:moveTo>
                  <a:lnTo>
                    <a:pt x="130629" y="0"/>
                  </a:lnTo>
                  <a:lnTo>
                    <a:pt x="130629" y="125045"/>
                  </a:lnTo>
                  <a:lnTo>
                    <a:pt x="0" y="125045"/>
                  </a:lnTo>
                  <a:lnTo>
                    <a:pt x="261258" y="250092"/>
                  </a:lnTo>
                  <a:lnTo>
                    <a:pt x="522516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2207621" y="352044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5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3592925" y="4276174"/>
            <a:ext cx="488016" cy="247650"/>
            <a:chOff x="2192381" y="4846331"/>
            <a:chExt cx="553085" cy="280670"/>
          </a:xfrm>
        </p:grpSpPr>
        <p:sp>
          <p:nvSpPr>
            <p:cNvPr id="67" name="object 67"/>
            <p:cNvSpPr/>
            <p:nvPr/>
          </p:nvSpPr>
          <p:spPr>
            <a:xfrm>
              <a:off x="2207621" y="486157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5" h="250189">
                  <a:moveTo>
                    <a:pt x="391886" y="0"/>
                  </a:moveTo>
                  <a:lnTo>
                    <a:pt x="130629" y="0"/>
                  </a:lnTo>
                  <a:lnTo>
                    <a:pt x="130629" y="125045"/>
                  </a:lnTo>
                  <a:lnTo>
                    <a:pt x="0" y="125045"/>
                  </a:lnTo>
                  <a:lnTo>
                    <a:pt x="261258" y="250090"/>
                  </a:lnTo>
                  <a:lnTo>
                    <a:pt x="522516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8"/>
            <p:cNvSpPr/>
            <p:nvPr/>
          </p:nvSpPr>
          <p:spPr>
            <a:xfrm>
              <a:off x="2207621" y="486157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5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7942088" y="3092824"/>
            <a:ext cx="488016" cy="247650"/>
            <a:chOff x="7121433" y="3505201"/>
            <a:chExt cx="553085" cy="280670"/>
          </a:xfrm>
        </p:grpSpPr>
        <p:sp>
          <p:nvSpPr>
            <p:cNvPr id="70" name="object 70"/>
            <p:cNvSpPr/>
            <p:nvPr/>
          </p:nvSpPr>
          <p:spPr>
            <a:xfrm>
              <a:off x="7136673" y="352044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391886" y="0"/>
                  </a:moveTo>
                  <a:lnTo>
                    <a:pt x="130629" y="0"/>
                  </a:lnTo>
                  <a:lnTo>
                    <a:pt x="130629" y="125045"/>
                  </a:lnTo>
                  <a:lnTo>
                    <a:pt x="0" y="125045"/>
                  </a:lnTo>
                  <a:lnTo>
                    <a:pt x="261258" y="250092"/>
                  </a:lnTo>
                  <a:lnTo>
                    <a:pt x="522514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7136673" y="352044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7942088" y="4276174"/>
            <a:ext cx="488016" cy="247650"/>
            <a:chOff x="7121433" y="4846331"/>
            <a:chExt cx="553085" cy="280670"/>
          </a:xfrm>
        </p:grpSpPr>
        <p:sp>
          <p:nvSpPr>
            <p:cNvPr id="73" name="object 73"/>
            <p:cNvSpPr/>
            <p:nvPr/>
          </p:nvSpPr>
          <p:spPr>
            <a:xfrm>
              <a:off x="7136673" y="486157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391886" y="0"/>
                  </a:moveTo>
                  <a:lnTo>
                    <a:pt x="130629" y="0"/>
                  </a:lnTo>
                  <a:lnTo>
                    <a:pt x="130629" y="125045"/>
                  </a:lnTo>
                  <a:lnTo>
                    <a:pt x="0" y="125045"/>
                  </a:lnTo>
                  <a:lnTo>
                    <a:pt x="261258" y="250090"/>
                  </a:lnTo>
                  <a:lnTo>
                    <a:pt x="522514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4" name="object 74"/>
            <p:cNvSpPr/>
            <p:nvPr/>
          </p:nvSpPr>
          <p:spPr>
            <a:xfrm>
              <a:off x="7136673" y="486157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6260064" y="3430344"/>
            <a:ext cx="4021231" cy="554085"/>
          </a:xfrm>
          <a:prstGeom prst="rect">
            <a:avLst/>
          </a:prstGeom>
        </p:spPr>
        <p:txBody>
          <a:bodyPr vert="horz" wrap="square" lIns="0" tIns="36979" rIns="0" bIns="0" rtlCol="0">
            <a:spAutoFit/>
          </a:bodyPr>
          <a:lstStyle/>
          <a:p>
            <a:pPr marL="883630" marR="4483" indent="-872985">
              <a:lnSpc>
                <a:spcPts val="1950"/>
              </a:lnSpc>
              <a:spcBef>
                <a:spcPts val="291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person(</a:t>
            </a:r>
            <a:r>
              <a:rPr sz="1765" u="sng" spc="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id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first_name,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middle_name,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last_name)</a:t>
            </a:r>
            <a:endParaRPr sz="1765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1429" y="281523"/>
            <a:ext cx="6965015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0" dirty="0"/>
              <a:t>C</a:t>
            </a:r>
            <a:r>
              <a:rPr sz="3794" spc="-119" dirty="0"/>
              <a:t>R</a:t>
            </a:r>
            <a:r>
              <a:rPr sz="3794" spc="-110" dirty="0"/>
              <a:t>E</a:t>
            </a:r>
            <a:r>
              <a:rPr sz="3794" spc="-124" dirty="0"/>
              <a:t>A</a:t>
            </a:r>
            <a:r>
              <a:rPr sz="3794" spc="-115" dirty="0"/>
              <a:t>T</a:t>
            </a:r>
            <a:r>
              <a:rPr sz="3794" dirty="0"/>
              <a:t>E</a:t>
            </a:r>
            <a:r>
              <a:rPr sz="3794" spc="-216" dirty="0"/>
              <a:t> </a:t>
            </a:r>
            <a:r>
              <a:rPr sz="3794" spc="-115" dirty="0"/>
              <a:t>T</a:t>
            </a:r>
            <a:r>
              <a:rPr sz="3794" spc="-124" dirty="0"/>
              <a:t>A</a:t>
            </a:r>
            <a:r>
              <a:rPr sz="3794" spc="-115" dirty="0"/>
              <a:t>BL</a:t>
            </a:r>
            <a:r>
              <a:rPr sz="3794" dirty="0"/>
              <a:t>E</a:t>
            </a:r>
            <a:r>
              <a:rPr sz="3794" spc="-216" dirty="0"/>
              <a:t> </a:t>
            </a:r>
            <a:r>
              <a:rPr sz="3794" spc="-110" dirty="0"/>
              <a:t>(E</a:t>
            </a:r>
            <a:r>
              <a:rPr sz="3794" spc="-115" dirty="0"/>
              <a:t>n</a:t>
            </a:r>
            <a:r>
              <a:rPr sz="3794" spc="-110" dirty="0"/>
              <a:t>tit</a:t>
            </a:r>
            <a:r>
              <a:rPr sz="3794" dirty="0"/>
              <a:t>y</a:t>
            </a:r>
            <a:r>
              <a:rPr sz="3794" spc="-224" dirty="0"/>
              <a:t> </a:t>
            </a:r>
            <a:r>
              <a:rPr sz="3794" spc="-124" dirty="0"/>
              <a:t>S</a:t>
            </a:r>
            <a:r>
              <a:rPr sz="3794" spc="-110" dirty="0"/>
              <a:t>et</a:t>
            </a:r>
            <a:r>
              <a:rPr sz="3794" dirty="0"/>
              <a:t>)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2221263" y="4274821"/>
            <a:ext cx="5867400" cy="100575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950"/>
              </a:lnSpc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person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id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INT,</a:t>
            </a:r>
            <a:endParaRPr sz="1765">
              <a:latin typeface="Courier New"/>
              <a:cs typeface="Courier New"/>
            </a:endParaRPr>
          </a:p>
          <a:p>
            <a:pPr marL="3000535">
              <a:lnSpc>
                <a:spcPts val="1809"/>
              </a:lnSpc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name</a:t>
            </a:r>
            <a:r>
              <a:rPr sz="1765" spc="-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VARCHAR(40),</a:t>
            </a:r>
            <a:endParaRPr sz="1765">
              <a:latin typeface="Courier New"/>
              <a:cs typeface="Courier New"/>
            </a:endParaRPr>
          </a:p>
          <a:p>
            <a:pPr marL="3000535" marR="4483">
              <a:lnSpc>
                <a:spcPts val="1862"/>
              </a:lnSpc>
              <a:spcBef>
                <a:spcPts val="137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address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VARCHAR(255), </a:t>
            </a:r>
            <a:r>
              <a:rPr sz="1765" spc="-10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(id)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1263" y="5361343"/>
            <a:ext cx="4101353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person_phone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id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36140" y="5361343"/>
            <a:ext cx="3557868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INT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person(id),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1605" y="5598010"/>
            <a:ext cx="3557307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981"/>
              </a:lnSpc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phone</a:t>
            </a:r>
            <a:r>
              <a:rPr sz="1765" spc="-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1981"/>
              </a:lnSpc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(id,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phone)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94662" y="1864330"/>
            <a:ext cx="1134035" cy="363787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31669" rIns="0" bIns="0" rtlCol="0">
            <a:spAutoFit/>
          </a:bodyPr>
          <a:lstStyle/>
          <a:p>
            <a:pPr marL="274559">
              <a:spcBef>
                <a:spcPts val="1037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33582" y="1232766"/>
            <a:ext cx="931769" cy="442632"/>
            <a:chOff x="3711792" y="1397135"/>
            <a:chExt cx="1056005" cy="501650"/>
          </a:xfrm>
        </p:grpSpPr>
        <p:sp>
          <p:nvSpPr>
            <p:cNvPr id="9" name="object 9"/>
            <p:cNvSpPr/>
            <p:nvPr/>
          </p:nvSpPr>
          <p:spPr>
            <a:xfrm>
              <a:off x="3716872" y="1402215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522709" y="0"/>
                  </a:moveTo>
                  <a:lnTo>
                    <a:pt x="457141" y="1913"/>
                  </a:lnTo>
                  <a:lnTo>
                    <a:pt x="394004" y="7499"/>
                  </a:lnTo>
                  <a:lnTo>
                    <a:pt x="333787" y="16529"/>
                  </a:lnTo>
                  <a:lnTo>
                    <a:pt x="276981" y="28771"/>
                  </a:lnTo>
                  <a:lnTo>
                    <a:pt x="224074" y="43997"/>
                  </a:lnTo>
                  <a:lnTo>
                    <a:pt x="175557" y="61975"/>
                  </a:lnTo>
                  <a:lnTo>
                    <a:pt x="131920" y="82475"/>
                  </a:lnTo>
                  <a:lnTo>
                    <a:pt x="93652" y="105268"/>
                  </a:lnTo>
                  <a:lnTo>
                    <a:pt x="61243" y="130123"/>
                  </a:lnTo>
                  <a:lnTo>
                    <a:pt x="15964" y="185100"/>
                  </a:lnTo>
                  <a:lnTo>
                    <a:pt x="0" y="245564"/>
                  </a:lnTo>
                  <a:lnTo>
                    <a:pt x="4072" y="276367"/>
                  </a:lnTo>
                  <a:lnTo>
                    <a:pt x="35184" y="334318"/>
                  </a:lnTo>
                  <a:lnTo>
                    <a:pt x="93652" y="385861"/>
                  </a:lnTo>
                  <a:lnTo>
                    <a:pt x="131920" y="408654"/>
                  </a:lnTo>
                  <a:lnTo>
                    <a:pt x="175557" y="429154"/>
                  </a:lnTo>
                  <a:lnTo>
                    <a:pt x="224074" y="447132"/>
                  </a:lnTo>
                  <a:lnTo>
                    <a:pt x="276981" y="462357"/>
                  </a:lnTo>
                  <a:lnTo>
                    <a:pt x="333787" y="474600"/>
                  </a:lnTo>
                  <a:lnTo>
                    <a:pt x="394004" y="483629"/>
                  </a:lnTo>
                  <a:lnTo>
                    <a:pt x="457141" y="489216"/>
                  </a:lnTo>
                  <a:lnTo>
                    <a:pt x="522709" y="491129"/>
                  </a:lnTo>
                  <a:lnTo>
                    <a:pt x="588276" y="489216"/>
                  </a:lnTo>
                  <a:lnTo>
                    <a:pt x="651413" y="483629"/>
                  </a:lnTo>
                  <a:lnTo>
                    <a:pt x="711630" y="474600"/>
                  </a:lnTo>
                  <a:lnTo>
                    <a:pt x="768436" y="462357"/>
                  </a:lnTo>
                  <a:lnTo>
                    <a:pt x="821343" y="447132"/>
                  </a:lnTo>
                  <a:lnTo>
                    <a:pt x="869860" y="429154"/>
                  </a:lnTo>
                  <a:lnTo>
                    <a:pt x="913497" y="408654"/>
                  </a:lnTo>
                  <a:lnTo>
                    <a:pt x="951765" y="385861"/>
                  </a:lnTo>
                  <a:lnTo>
                    <a:pt x="984173" y="361006"/>
                  </a:lnTo>
                  <a:lnTo>
                    <a:pt x="1029453" y="306029"/>
                  </a:lnTo>
                  <a:lnTo>
                    <a:pt x="1045417" y="245564"/>
                  </a:lnTo>
                  <a:lnTo>
                    <a:pt x="1041344" y="214761"/>
                  </a:lnTo>
                  <a:lnTo>
                    <a:pt x="1010232" y="156811"/>
                  </a:lnTo>
                  <a:lnTo>
                    <a:pt x="951765" y="105268"/>
                  </a:lnTo>
                  <a:lnTo>
                    <a:pt x="913497" y="82475"/>
                  </a:lnTo>
                  <a:lnTo>
                    <a:pt x="869860" y="61975"/>
                  </a:lnTo>
                  <a:lnTo>
                    <a:pt x="821343" y="43997"/>
                  </a:lnTo>
                  <a:lnTo>
                    <a:pt x="768436" y="28771"/>
                  </a:lnTo>
                  <a:lnTo>
                    <a:pt x="711630" y="16529"/>
                  </a:lnTo>
                  <a:lnTo>
                    <a:pt x="651413" y="7499"/>
                  </a:lnTo>
                  <a:lnTo>
                    <a:pt x="588276" y="1913"/>
                  </a:lnTo>
                  <a:lnTo>
                    <a:pt x="5227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716872" y="1402215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0" y="245564"/>
                  </a:moveTo>
                  <a:lnTo>
                    <a:pt x="15963" y="185100"/>
                  </a:lnTo>
                  <a:lnTo>
                    <a:pt x="61243" y="130123"/>
                  </a:lnTo>
                  <a:lnTo>
                    <a:pt x="93651" y="105268"/>
                  </a:lnTo>
                  <a:lnTo>
                    <a:pt x="131919" y="82475"/>
                  </a:lnTo>
                  <a:lnTo>
                    <a:pt x="175556" y="61974"/>
                  </a:lnTo>
                  <a:lnTo>
                    <a:pt x="224073" y="43997"/>
                  </a:lnTo>
                  <a:lnTo>
                    <a:pt x="276980" y="28771"/>
                  </a:lnTo>
                  <a:lnTo>
                    <a:pt x="333787" y="16529"/>
                  </a:lnTo>
                  <a:lnTo>
                    <a:pt x="394003" y="7499"/>
                  </a:lnTo>
                  <a:lnTo>
                    <a:pt x="457140" y="1913"/>
                  </a:lnTo>
                  <a:lnTo>
                    <a:pt x="522708" y="0"/>
                  </a:lnTo>
                  <a:lnTo>
                    <a:pt x="588275" y="1913"/>
                  </a:lnTo>
                  <a:lnTo>
                    <a:pt x="651412" y="7499"/>
                  </a:lnTo>
                  <a:lnTo>
                    <a:pt x="711629" y="16529"/>
                  </a:lnTo>
                  <a:lnTo>
                    <a:pt x="768436" y="28771"/>
                  </a:lnTo>
                  <a:lnTo>
                    <a:pt x="821342" y="43997"/>
                  </a:lnTo>
                  <a:lnTo>
                    <a:pt x="869859" y="61974"/>
                  </a:lnTo>
                  <a:lnTo>
                    <a:pt x="913496" y="82475"/>
                  </a:lnTo>
                  <a:lnTo>
                    <a:pt x="951764" y="105268"/>
                  </a:lnTo>
                  <a:lnTo>
                    <a:pt x="984173" y="130123"/>
                  </a:lnTo>
                  <a:lnTo>
                    <a:pt x="1029452" y="185100"/>
                  </a:lnTo>
                  <a:lnTo>
                    <a:pt x="1045416" y="245564"/>
                  </a:lnTo>
                  <a:lnTo>
                    <a:pt x="1041343" y="276367"/>
                  </a:lnTo>
                  <a:lnTo>
                    <a:pt x="1010232" y="334318"/>
                  </a:lnTo>
                  <a:lnTo>
                    <a:pt x="951764" y="385861"/>
                  </a:lnTo>
                  <a:lnTo>
                    <a:pt x="913496" y="408654"/>
                  </a:lnTo>
                  <a:lnTo>
                    <a:pt x="869859" y="429154"/>
                  </a:lnTo>
                  <a:lnTo>
                    <a:pt x="821342" y="447132"/>
                  </a:lnTo>
                  <a:lnTo>
                    <a:pt x="768436" y="462357"/>
                  </a:lnTo>
                  <a:lnTo>
                    <a:pt x="711629" y="474600"/>
                  </a:lnTo>
                  <a:lnTo>
                    <a:pt x="651412" y="483629"/>
                  </a:lnTo>
                  <a:lnTo>
                    <a:pt x="588275" y="489216"/>
                  </a:lnTo>
                  <a:lnTo>
                    <a:pt x="522708" y="491129"/>
                  </a:lnTo>
                  <a:lnTo>
                    <a:pt x="457140" y="489216"/>
                  </a:lnTo>
                  <a:lnTo>
                    <a:pt x="394003" y="483629"/>
                  </a:lnTo>
                  <a:lnTo>
                    <a:pt x="333787" y="474600"/>
                  </a:lnTo>
                  <a:lnTo>
                    <a:pt x="276980" y="462357"/>
                  </a:lnTo>
                  <a:lnTo>
                    <a:pt x="224073" y="447132"/>
                  </a:lnTo>
                  <a:lnTo>
                    <a:pt x="175556" y="429154"/>
                  </a:lnTo>
                  <a:lnTo>
                    <a:pt x="131919" y="408654"/>
                  </a:lnTo>
                  <a:lnTo>
                    <a:pt x="93651" y="385861"/>
                  </a:lnTo>
                  <a:lnTo>
                    <a:pt x="61243" y="361006"/>
                  </a:lnTo>
                  <a:lnTo>
                    <a:pt x="15963" y="306029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14111" y="1328568"/>
            <a:ext cx="1697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27559" y="1227725"/>
            <a:ext cx="1790700" cy="442632"/>
            <a:chOff x="4158300" y="1391422"/>
            <a:chExt cx="2029460" cy="501650"/>
          </a:xfrm>
        </p:grpSpPr>
        <p:sp>
          <p:nvSpPr>
            <p:cNvPr id="13" name="object 13"/>
            <p:cNvSpPr/>
            <p:nvPr/>
          </p:nvSpPr>
          <p:spPr>
            <a:xfrm>
              <a:off x="4158300" y="1759032"/>
              <a:ext cx="165100" cy="12700"/>
            </a:xfrm>
            <a:custGeom>
              <a:avLst/>
              <a:gdLst/>
              <a:ahLst/>
              <a:cxnLst/>
              <a:rect l="l" t="t" r="r" b="b"/>
              <a:pathLst>
                <a:path w="165100" h="12700">
                  <a:moveTo>
                    <a:pt x="1651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65100" y="12700"/>
                  </a:lnTo>
                  <a:lnTo>
                    <a:pt x="165100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137071" y="1396502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522707" y="0"/>
                  </a:moveTo>
                  <a:lnTo>
                    <a:pt x="457140" y="1913"/>
                  </a:lnTo>
                  <a:lnTo>
                    <a:pt x="394003" y="7499"/>
                  </a:lnTo>
                  <a:lnTo>
                    <a:pt x="333786" y="16529"/>
                  </a:lnTo>
                  <a:lnTo>
                    <a:pt x="276980" y="28771"/>
                  </a:lnTo>
                  <a:lnTo>
                    <a:pt x="224073" y="43996"/>
                  </a:lnTo>
                  <a:lnTo>
                    <a:pt x="175556" y="61974"/>
                  </a:lnTo>
                  <a:lnTo>
                    <a:pt x="131919" y="82475"/>
                  </a:lnTo>
                  <a:lnTo>
                    <a:pt x="93651" y="105268"/>
                  </a:lnTo>
                  <a:lnTo>
                    <a:pt x="61243" y="130123"/>
                  </a:lnTo>
                  <a:lnTo>
                    <a:pt x="15963" y="185100"/>
                  </a:lnTo>
                  <a:lnTo>
                    <a:pt x="0" y="245564"/>
                  </a:lnTo>
                  <a:lnTo>
                    <a:pt x="4072" y="276367"/>
                  </a:lnTo>
                  <a:lnTo>
                    <a:pt x="35184" y="334318"/>
                  </a:lnTo>
                  <a:lnTo>
                    <a:pt x="93651" y="385861"/>
                  </a:lnTo>
                  <a:lnTo>
                    <a:pt x="131919" y="408654"/>
                  </a:lnTo>
                  <a:lnTo>
                    <a:pt x="175556" y="429154"/>
                  </a:lnTo>
                  <a:lnTo>
                    <a:pt x="224073" y="447132"/>
                  </a:lnTo>
                  <a:lnTo>
                    <a:pt x="276980" y="462357"/>
                  </a:lnTo>
                  <a:lnTo>
                    <a:pt x="333786" y="474600"/>
                  </a:lnTo>
                  <a:lnTo>
                    <a:pt x="394003" y="483629"/>
                  </a:lnTo>
                  <a:lnTo>
                    <a:pt x="457140" y="489216"/>
                  </a:lnTo>
                  <a:lnTo>
                    <a:pt x="522707" y="491129"/>
                  </a:lnTo>
                  <a:lnTo>
                    <a:pt x="588275" y="489216"/>
                  </a:lnTo>
                  <a:lnTo>
                    <a:pt x="651412" y="483629"/>
                  </a:lnTo>
                  <a:lnTo>
                    <a:pt x="711628" y="474600"/>
                  </a:lnTo>
                  <a:lnTo>
                    <a:pt x="768435" y="462357"/>
                  </a:lnTo>
                  <a:lnTo>
                    <a:pt x="821342" y="447132"/>
                  </a:lnTo>
                  <a:lnTo>
                    <a:pt x="869859" y="429154"/>
                  </a:lnTo>
                  <a:lnTo>
                    <a:pt x="913496" y="408654"/>
                  </a:lnTo>
                  <a:lnTo>
                    <a:pt x="951763" y="385861"/>
                  </a:lnTo>
                  <a:lnTo>
                    <a:pt x="984172" y="361006"/>
                  </a:lnTo>
                  <a:lnTo>
                    <a:pt x="1029451" y="306029"/>
                  </a:lnTo>
                  <a:lnTo>
                    <a:pt x="1045415" y="245564"/>
                  </a:lnTo>
                  <a:lnTo>
                    <a:pt x="1041343" y="214761"/>
                  </a:lnTo>
                  <a:lnTo>
                    <a:pt x="1010231" y="156810"/>
                  </a:lnTo>
                  <a:lnTo>
                    <a:pt x="951763" y="105268"/>
                  </a:lnTo>
                  <a:lnTo>
                    <a:pt x="913496" y="82475"/>
                  </a:lnTo>
                  <a:lnTo>
                    <a:pt x="869859" y="61974"/>
                  </a:lnTo>
                  <a:lnTo>
                    <a:pt x="821342" y="43996"/>
                  </a:lnTo>
                  <a:lnTo>
                    <a:pt x="768435" y="28771"/>
                  </a:lnTo>
                  <a:lnTo>
                    <a:pt x="711628" y="16529"/>
                  </a:lnTo>
                  <a:lnTo>
                    <a:pt x="651412" y="7499"/>
                  </a:lnTo>
                  <a:lnTo>
                    <a:pt x="588275" y="1913"/>
                  </a:lnTo>
                  <a:lnTo>
                    <a:pt x="522707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5137071" y="1396502"/>
              <a:ext cx="1045844" cy="491490"/>
            </a:xfrm>
            <a:custGeom>
              <a:avLst/>
              <a:gdLst/>
              <a:ahLst/>
              <a:cxnLst/>
              <a:rect l="l" t="t" r="r" b="b"/>
              <a:pathLst>
                <a:path w="1045845" h="491489">
                  <a:moveTo>
                    <a:pt x="0" y="245564"/>
                  </a:moveTo>
                  <a:lnTo>
                    <a:pt x="15963" y="185100"/>
                  </a:lnTo>
                  <a:lnTo>
                    <a:pt x="61243" y="130123"/>
                  </a:lnTo>
                  <a:lnTo>
                    <a:pt x="93651" y="105268"/>
                  </a:lnTo>
                  <a:lnTo>
                    <a:pt x="131919" y="82475"/>
                  </a:lnTo>
                  <a:lnTo>
                    <a:pt x="175556" y="61974"/>
                  </a:lnTo>
                  <a:lnTo>
                    <a:pt x="224073" y="43997"/>
                  </a:lnTo>
                  <a:lnTo>
                    <a:pt x="276980" y="28771"/>
                  </a:lnTo>
                  <a:lnTo>
                    <a:pt x="333787" y="16529"/>
                  </a:lnTo>
                  <a:lnTo>
                    <a:pt x="394003" y="7499"/>
                  </a:lnTo>
                  <a:lnTo>
                    <a:pt x="457140" y="1913"/>
                  </a:lnTo>
                  <a:lnTo>
                    <a:pt x="522708" y="0"/>
                  </a:lnTo>
                  <a:lnTo>
                    <a:pt x="588275" y="1913"/>
                  </a:lnTo>
                  <a:lnTo>
                    <a:pt x="651412" y="7499"/>
                  </a:lnTo>
                  <a:lnTo>
                    <a:pt x="711629" y="16529"/>
                  </a:lnTo>
                  <a:lnTo>
                    <a:pt x="768436" y="28771"/>
                  </a:lnTo>
                  <a:lnTo>
                    <a:pt x="821342" y="43997"/>
                  </a:lnTo>
                  <a:lnTo>
                    <a:pt x="869859" y="61974"/>
                  </a:lnTo>
                  <a:lnTo>
                    <a:pt x="913496" y="82475"/>
                  </a:lnTo>
                  <a:lnTo>
                    <a:pt x="951764" y="105268"/>
                  </a:lnTo>
                  <a:lnTo>
                    <a:pt x="984173" y="130123"/>
                  </a:lnTo>
                  <a:lnTo>
                    <a:pt x="1029452" y="185100"/>
                  </a:lnTo>
                  <a:lnTo>
                    <a:pt x="1045416" y="245564"/>
                  </a:lnTo>
                  <a:lnTo>
                    <a:pt x="1041343" y="276367"/>
                  </a:lnTo>
                  <a:lnTo>
                    <a:pt x="1010232" y="334318"/>
                  </a:lnTo>
                  <a:lnTo>
                    <a:pt x="951764" y="385861"/>
                  </a:lnTo>
                  <a:lnTo>
                    <a:pt x="913496" y="408654"/>
                  </a:lnTo>
                  <a:lnTo>
                    <a:pt x="869859" y="429154"/>
                  </a:lnTo>
                  <a:lnTo>
                    <a:pt x="821342" y="447132"/>
                  </a:lnTo>
                  <a:lnTo>
                    <a:pt x="768436" y="462357"/>
                  </a:lnTo>
                  <a:lnTo>
                    <a:pt x="711629" y="474600"/>
                  </a:lnTo>
                  <a:lnTo>
                    <a:pt x="651412" y="483629"/>
                  </a:lnTo>
                  <a:lnTo>
                    <a:pt x="588275" y="489216"/>
                  </a:lnTo>
                  <a:lnTo>
                    <a:pt x="522708" y="491129"/>
                  </a:lnTo>
                  <a:lnTo>
                    <a:pt x="457140" y="489216"/>
                  </a:lnTo>
                  <a:lnTo>
                    <a:pt x="394003" y="483629"/>
                  </a:lnTo>
                  <a:lnTo>
                    <a:pt x="333787" y="474600"/>
                  </a:lnTo>
                  <a:lnTo>
                    <a:pt x="276980" y="462357"/>
                  </a:lnTo>
                  <a:lnTo>
                    <a:pt x="224073" y="447132"/>
                  </a:lnTo>
                  <a:lnTo>
                    <a:pt x="175556" y="429154"/>
                  </a:lnTo>
                  <a:lnTo>
                    <a:pt x="131919" y="408654"/>
                  </a:lnTo>
                  <a:lnTo>
                    <a:pt x="93651" y="385861"/>
                  </a:lnTo>
                  <a:lnTo>
                    <a:pt x="61243" y="361006"/>
                  </a:lnTo>
                  <a:lnTo>
                    <a:pt x="15963" y="306029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402129" y="1323190"/>
            <a:ext cx="50034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54795" y="1661075"/>
            <a:ext cx="2602566" cy="677396"/>
            <a:chOff x="2715834" y="1882551"/>
            <a:chExt cx="2949575" cy="767715"/>
          </a:xfrm>
        </p:grpSpPr>
        <p:sp>
          <p:nvSpPr>
            <p:cNvPr id="18" name="object 18"/>
            <p:cNvSpPr/>
            <p:nvPr/>
          </p:nvSpPr>
          <p:spPr>
            <a:xfrm>
              <a:off x="4239581" y="1893345"/>
              <a:ext cx="751205" cy="219710"/>
            </a:xfrm>
            <a:custGeom>
              <a:avLst/>
              <a:gdLst/>
              <a:ahLst/>
              <a:cxnLst/>
              <a:rect l="l" t="t" r="r" b="b"/>
              <a:pathLst>
                <a:path w="751204" h="219710">
                  <a:moveTo>
                    <a:pt x="0" y="0"/>
                  </a:moveTo>
                  <a:lnTo>
                    <a:pt x="750629" y="21956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4990210" y="1887631"/>
              <a:ext cx="669925" cy="225425"/>
            </a:xfrm>
            <a:custGeom>
              <a:avLst/>
              <a:gdLst/>
              <a:ahLst/>
              <a:cxnLst/>
              <a:rect l="l" t="t" r="r" b="b"/>
              <a:pathLst>
                <a:path w="669925" h="225425">
                  <a:moveTo>
                    <a:pt x="669569" y="0"/>
                  </a:moveTo>
                  <a:lnTo>
                    <a:pt x="0" y="225276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3874897" y="2349246"/>
              <a:ext cx="473075" cy="42545"/>
            </a:xfrm>
            <a:custGeom>
              <a:avLst/>
              <a:gdLst/>
              <a:ahLst/>
              <a:cxnLst/>
              <a:rect l="l" t="t" r="r" b="b"/>
              <a:pathLst>
                <a:path w="473075" h="42544">
                  <a:moveTo>
                    <a:pt x="0" y="0"/>
                  </a:moveTo>
                  <a:lnTo>
                    <a:pt x="472787" y="4207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2720914" y="2053356"/>
              <a:ext cx="1154430" cy="591820"/>
            </a:xfrm>
            <a:custGeom>
              <a:avLst/>
              <a:gdLst/>
              <a:ahLst/>
              <a:cxnLst/>
              <a:rect l="l" t="t" r="r" b="b"/>
              <a:pathLst>
                <a:path w="1154429" h="591819">
                  <a:moveTo>
                    <a:pt x="0" y="295890"/>
                  </a:moveTo>
                  <a:lnTo>
                    <a:pt x="13308" y="232414"/>
                  </a:lnTo>
                  <a:lnTo>
                    <a:pt x="51355" y="173683"/>
                  </a:lnTo>
                  <a:lnTo>
                    <a:pt x="78776" y="146548"/>
                  </a:lnTo>
                  <a:lnTo>
                    <a:pt x="111325" y="121141"/>
                  </a:lnTo>
                  <a:lnTo>
                    <a:pt x="148652" y="97641"/>
                  </a:lnTo>
                  <a:lnTo>
                    <a:pt x="190403" y="76231"/>
                  </a:lnTo>
                  <a:lnTo>
                    <a:pt x="236227" y="57089"/>
                  </a:lnTo>
                  <a:lnTo>
                    <a:pt x="285772" y="40397"/>
                  </a:lnTo>
                  <a:lnTo>
                    <a:pt x="338686" y="26335"/>
                  </a:lnTo>
                  <a:lnTo>
                    <a:pt x="394617" y="15084"/>
                  </a:lnTo>
                  <a:lnTo>
                    <a:pt x="453213" y="6824"/>
                  </a:lnTo>
                  <a:lnTo>
                    <a:pt x="514121" y="1736"/>
                  </a:lnTo>
                  <a:lnTo>
                    <a:pt x="576991" y="0"/>
                  </a:lnTo>
                  <a:lnTo>
                    <a:pt x="639861" y="1736"/>
                  </a:lnTo>
                  <a:lnTo>
                    <a:pt x="700769" y="6824"/>
                  </a:lnTo>
                  <a:lnTo>
                    <a:pt x="759365" y="15084"/>
                  </a:lnTo>
                  <a:lnTo>
                    <a:pt x="815296" y="26335"/>
                  </a:lnTo>
                  <a:lnTo>
                    <a:pt x="868210" y="40397"/>
                  </a:lnTo>
                  <a:lnTo>
                    <a:pt x="917755" y="57089"/>
                  </a:lnTo>
                  <a:lnTo>
                    <a:pt x="963579" y="76231"/>
                  </a:lnTo>
                  <a:lnTo>
                    <a:pt x="1005330" y="97641"/>
                  </a:lnTo>
                  <a:lnTo>
                    <a:pt x="1042657" y="121141"/>
                  </a:lnTo>
                  <a:lnTo>
                    <a:pt x="1075206" y="146548"/>
                  </a:lnTo>
                  <a:lnTo>
                    <a:pt x="1102627" y="173683"/>
                  </a:lnTo>
                  <a:lnTo>
                    <a:pt x="1140674" y="232414"/>
                  </a:lnTo>
                  <a:lnTo>
                    <a:pt x="1153982" y="295890"/>
                  </a:lnTo>
                  <a:lnTo>
                    <a:pt x="1150597" y="328130"/>
                  </a:lnTo>
                  <a:lnTo>
                    <a:pt x="1124567" y="389414"/>
                  </a:lnTo>
                  <a:lnTo>
                    <a:pt x="1075206" y="445231"/>
                  </a:lnTo>
                  <a:lnTo>
                    <a:pt x="1042657" y="470638"/>
                  </a:lnTo>
                  <a:lnTo>
                    <a:pt x="1005330" y="494138"/>
                  </a:lnTo>
                  <a:lnTo>
                    <a:pt x="963579" y="515549"/>
                  </a:lnTo>
                  <a:lnTo>
                    <a:pt x="917755" y="534690"/>
                  </a:lnTo>
                  <a:lnTo>
                    <a:pt x="868210" y="551382"/>
                  </a:lnTo>
                  <a:lnTo>
                    <a:pt x="815296" y="565444"/>
                  </a:lnTo>
                  <a:lnTo>
                    <a:pt x="759365" y="576695"/>
                  </a:lnTo>
                  <a:lnTo>
                    <a:pt x="700769" y="584955"/>
                  </a:lnTo>
                  <a:lnTo>
                    <a:pt x="639861" y="590044"/>
                  </a:lnTo>
                  <a:lnTo>
                    <a:pt x="576991" y="591780"/>
                  </a:lnTo>
                  <a:lnTo>
                    <a:pt x="514121" y="590044"/>
                  </a:lnTo>
                  <a:lnTo>
                    <a:pt x="453213" y="584955"/>
                  </a:lnTo>
                  <a:lnTo>
                    <a:pt x="394617" y="576695"/>
                  </a:lnTo>
                  <a:lnTo>
                    <a:pt x="338686" y="565444"/>
                  </a:lnTo>
                  <a:lnTo>
                    <a:pt x="285772" y="551382"/>
                  </a:lnTo>
                  <a:lnTo>
                    <a:pt x="236227" y="534690"/>
                  </a:lnTo>
                  <a:lnTo>
                    <a:pt x="190403" y="515549"/>
                  </a:lnTo>
                  <a:lnTo>
                    <a:pt x="148652" y="494138"/>
                  </a:lnTo>
                  <a:lnTo>
                    <a:pt x="111325" y="470638"/>
                  </a:lnTo>
                  <a:lnTo>
                    <a:pt x="78776" y="445231"/>
                  </a:lnTo>
                  <a:lnTo>
                    <a:pt x="51355" y="418096"/>
                  </a:lnTo>
                  <a:lnTo>
                    <a:pt x="13308" y="359365"/>
                  </a:lnTo>
                  <a:lnTo>
                    <a:pt x="0" y="29589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4171" y="2108299"/>
              <a:ext cx="1016000" cy="466090"/>
            </a:xfrm>
            <a:custGeom>
              <a:avLst/>
              <a:gdLst/>
              <a:ahLst/>
              <a:cxnLst/>
              <a:rect l="l" t="t" r="r" b="b"/>
              <a:pathLst>
                <a:path w="1016000" h="466089">
                  <a:moveTo>
                    <a:pt x="507710" y="0"/>
                  </a:moveTo>
                  <a:lnTo>
                    <a:pt x="444024" y="1813"/>
                  </a:lnTo>
                  <a:lnTo>
                    <a:pt x="382698" y="7109"/>
                  </a:lnTo>
                  <a:lnTo>
                    <a:pt x="324209" y="15670"/>
                  </a:lnTo>
                  <a:lnTo>
                    <a:pt x="269033" y="27276"/>
                  </a:lnTo>
                  <a:lnTo>
                    <a:pt x="217644" y="41709"/>
                  </a:lnTo>
                  <a:lnTo>
                    <a:pt x="170519" y="58753"/>
                  </a:lnTo>
                  <a:lnTo>
                    <a:pt x="128134" y="78188"/>
                  </a:lnTo>
                  <a:lnTo>
                    <a:pt x="90964" y="99796"/>
                  </a:lnTo>
                  <a:lnTo>
                    <a:pt x="59486" y="123359"/>
                  </a:lnTo>
                  <a:lnTo>
                    <a:pt x="15505" y="175478"/>
                  </a:lnTo>
                  <a:lnTo>
                    <a:pt x="0" y="232799"/>
                  </a:lnTo>
                  <a:lnTo>
                    <a:pt x="3955" y="262001"/>
                  </a:lnTo>
                  <a:lnTo>
                    <a:pt x="34174" y="316939"/>
                  </a:lnTo>
                  <a:lnTo>
                    <a:pt x="90964" y="365803"/>
                  </a:lnTo>
                  <a:lnTo>
                    <a:pt x="128134" y="387411"/>
                  </a:lnTo>
                  <a:lnTo>
                    <a:pt x="170519" y="406846"/>
                  </a:lnTo>
                  <a:lnTo>
                    <a:pt x="217644" y="423889"/>
                  </a:lnTo>
                  <a:lnTo>
                    <a:pt x="269033" y="438323"/>
                  </a:lnTo>
                  <a:lnTo>
                    <a:pt x="324209" y="449929"/>
                  </a:lnTo>
                  <a:lnTo>
                    <a:pt x="382698" y="458489"/>
                  </a:lnTo>
                  <a:lnTo>
                    <a:pt x="444024" y="463785"/>
                  </a:lnTo>
                  <a:lnTo>
                    <a:pt x="507710" y="465599"/>
                  </a:lnTo>
                  <a:lnTo>
                    <a:pt x="571396" y="463785"/>
                  </a:lnTo>
                  <a:lnTo>
                    <a:pt x="632722" y="458489"/>
                  </a:lnTo>
                  <a:lnTo>
                    <a:pt x="691210" y="449929"/>
                  </a:lnTo>
                  <a:lnTo>
                    <a:pt x="746387" y="438323"/>
                  </a:lnTo>
                  <a:lnTo>
                    <a:pt x="797776" y="423889"/>
                  </a:lnTo>
                  <a:lnTo>
                    <a:pt x="844901" y="406846"/>
                  </a:lnTo>
                  <a:lnTo>
                    <a:pt x="887286" y="387411"/>
                  </a:lnTo>
                  <a:lnTo>
                    <a:pt x="924456" y="365803"/>
                  </a:lnTo>
                  <a:lnTo>
                    <a:pt x="955934" y="342239"/>
                  </a:lnTo>
                  <a:lnTo>
                    <a:pt x="999914" y="290121"/>
                  </a:lnTo>
                  <a:lnTo>
                    <a:pt x="1015420" y="232799"/>
                  </a:lnTo>
                  <a:lnTo>
                    <a:pt x="1011465" y="203597"/>
                  </a:lnTo>
                  <a:lnTo>
                    <a:pt x="981246" y="148659"/>
                  </a:lnTo>
                  <a:lnTo>
                    <a:pt x="924456" y="99796"/>
                  </a:lnTo>
                  <a:lnTo>
                    <a:pt x="887286" y="78188"/>
                  </a:lnTo>
                  <a:lnTo>
                    <a:pt x="844901" y="58753"/>
                  </a:lnTo>
                  <a:lnTo>
                    <a:pt x="797776" y="41709"/>
                  </a:lnTo>
                  <a:lnTo>
                    <a:pt x="746387" y="27276"/>
                  </a:lnTo>
                  <a:lnTo>
                    <a:pt x="691210" y="15670"/>
                  </a:lnTo>
                  <a:lnTo>
                    <a:pt x="632722" y="7109"/>
                  </a:lnTo>
                  <a:lnTo>
                    <a:pt x="571396" y="1813"/>
                  </a:lnTo>
                  <a:lnTo>
                    <a:pt x="50771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2794171" y="2108299"/>
              <a:ext cx="1016000" cy="466090"/>
            </a:xfrm>
            <a:custGeom>
              <a:avLst/>
              <a:gdLst/>
              <a:ahLst/>
              <a:cxnLst/>
              <a:rect l="l" t="t" r="r" b="b"/>
              <a:pathLst>
                <a:path w="1016000" h="466089">
                  <a:moveTo>
                    <a:pt x="0" y="232799"/>
                  </a:moveTo>
                  <a:lnTo>
                    <a:pt x="15505" y="175478"/>
                  </a:lnTo>
                  <a:lnTo>
                    <a:pt x="59486" y="123359"/>
                  </a:lnTo>
                  <a:lnTo>
                    <a:pt x="90964" y="99796"/>
                  </a:lnTo>
                  <a:lnTo>
                    <a:pt x="128134" y="78188"/>
                  </a:lnTo>
                  <a:lnTo>
                    <a:pt x="170519" y="58753"/>
                  </a:lnTo>
                  <a:lnTo>
                    <a:pt x="217644" y="41709"/>
                  </a:lnTo>
                  <a:lnTo>
                    <a:pt x="269033" y="27276"/>
                  </a:lnTo>
                  <a:lnTo>
                    <a:pt x="324209" y="15670"/>
                  </a:lnTo>
                  <a:lnTo>
                    <a:pt x="382698" y="7109"/>
                  </a:lnTo>
                  <a:lnTo>
                    <a:pt x="444024" y="1813"/>
                  </a:lnTo>
                  <a:lnTo>
                    <a:pt x="507710" y="0"/>
                  </a:lnTo>
                  <a:lnTo>
                    <a:pt x="571396" y="1813"/>
                  </a:lnTo>
                  <a:lnTo>
                    <a:pt x="632721" y="7109"/>
                  </a:lnTo>
                  <a:lnTo>
                    <a:pt x="691210" y="15670"/>
                  </a:lnTo>
                  <a:lnTo>
                    <a:pt x="746387" y="27276"/>
                  </a:lnTo>
                  <a:lnTo>
                    <a:pt x="797776" y="41709"/>
                  </a:lnTo>
                  <a:lnTo>
                    <a:pt x="844901" y="58753"/>
                  </a:lnTo>
                  <a:lnTo>
                    <a:pt x="887286" y="78188"/>
                  </a:lnTo>
                  <a:lnTo>
                    <a:pt x="924455" y="99796"/>
                  </a:lnTo>
                  <a:lnTo>
                    <a:pt x="955934" y="123359"/>
                  </a:lnTo>
                  <a:lnTo>
                    <a:pt x="999914" y="175478"/>
                  </a:lnTo>
                  <a:lnTo>
                    <a:pt x="1015420" y="232799"/>
                  </a:lnTo>
                  <a:lnTo>
                    <a:pt x="1011464" y="262001"/>
                  </a:lnTo>
                  <a:lnTo>
                    <a:pt x="981246" y="316939"/>
                  </a:lnTo>
                  <a:lnTo>
                    <a:pt x="924455" y="365802"/>
                  </a:lnTo>
                  <a:lnTo>
                    <a:pt x="887286" y="387410"/>
                  </a:lnTo>
                  <a:lnTo>
                    <a:pt x="844901" y="406845"/>
                  </a:lnTo>
                  <a:lnTo>
                    <a:pt x="797776" y="423889"/>
                  </a:lnTo>
                  <a:lnTo>
                    <a:pt x="746387" y="438322"/>
                  </a:lnTo>
                  <a:lnTo>
                    <a:pt x="691210" y="449928"/>
                  </a:lnTo>
                  <a:lnTo>
                    <a:pt x="632721" y="458489"/>
                  </a:lnTo>
                  <a:lnTo>
                    <a:pt x="571396" y="463785"/>
                  </a:lnTo>
                  <a:lnTo>
                    <a:pt x="507710" y="465598"/>
                  </a:lnTo>
                  <a:lnTo>
                    <a:pt x="444024" y="463785"/>
                  </a:lnTo>
                  <a:lnTo>
                    <a:pt x="382698" y="458489"/>
                  </a:lnTo>
                  <a:lnTo>
                    <a:pt x="324209" y="449928"/>
                  </a:lnTo>
                  <a:lnTo>
                    <a:pt x="269033" y="438322"/>
                  </a:lnTo>
                  <a:lnTo>
                    <a:pt x="217644" y="423889"/>
                  </a:lnTo>
                  <a:lnTo>
                    <a:pt x="170519" y="406845"/>
                  </a:lnTo>
                  <a:lnTo>
                    <a:pt x="128134" y="387410"/>
                  </a:lnTo>
                  <a:lnTo>
                    <a:pt x="90964" y="365802"/>
                  </a:lnTo>
                  <a:lnTo>
                    <a:pt x="59486" y="342239"/>
                  </a:lnTo>
                  <a:lnTo>
                    <a:pt x="15505" y="290120"/>
                  </a:lnTo>
                  <a:lnTo>
                    <a:pt x="0" y="23279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14492" y="1941754"/>
            <a:ext cx="55301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phone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624048" y="1664213"/>
            <a:ext cx="1562659" cy="450476"/>
            <a:chOff x="5627654" y="1886108"/>
            <a:chExt cx="1771014" cy="510540"/>
          </a:xfrm>
        </p:grpSpPr>
        <p:sp>
          <p:nvSpPr>
            <p:cNvPr id="26" name="object 26"/>
            <p:cNvSpPr/>
            <p:nvPr/>
          </p:nvSpPr>
          <p:spPr>
            <a:xfrm>
              <a:off x="6306737" y="1891188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4" h="491489">
                  <a:moveTo>
                    <a:pt x="543195" y="0"/>
                  </a:moveTo>
                  <a:lnTo>
                    <a:pt x="479847" y="1652"/>
                  </a:lnTo>
                  <a:lnTo>
                    <a:pt x="418645" y="6485"/>
                  </a:lnTo>
                  <a:lnTo>
                    <a:pt x="359998" y="14316"/>
                  </a:lnTo>
                  <a:lnTo>
                    <a:pt x="304312" y="24959"/>
                  </a:lnTo>
                  <a:lnTo>
                    <a:pt x="251995" y="38231"/>
                  </a:lnTo>
                  <a:lnTo>
                    <a:pt x="203454" y="53947"/>
                  </a:lnTo>
                  <a:lnTo>
                    <a:pt x="159098" y="71924"/>
                  </a:lnTo>
                  <a:lnTo>
                    <a:pt x="119334" y="91976"/>
                  </a:lnTo>
                  <a:lnTo>
                    <a:pt x="84569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9" y="377209"/>
                  </a:lnTo>
                  <a:lnTo>
                    <a:pt x="119334" y="399153"/>
                  </a:lnTo>
                  <a:lnTo>
                    <a:pt x="159098" y="419205"/>
                  </a:lnTo>
                  <a:lnTo>
                    <a:pt x="203454" y="437181"/>
                  </a:lnTo>
                  <a:lnTo>
                    <a:pt x="251995" y="452897"/>
                  </a:lnTo>
                  <a:lnTo>
                    <a:pt x="304312" y="466169"/>
                  </a:lnTo>
                  <a:lnTo>
                    <a:pt x="359998" y="476813"/>
                  </a:lnTo>
                  <a:lnTo>
                    <a:pt x="418645" y="484643"/>
                  </a:lnTo>
                  <a:lnTo>
                    <a:pt x="479847" y="489477"/>
                  </a:lnTo>
                  <a:lnTo>
                    <a:pt x="543195" y="491129"/>
                  </a:lnTo>
                  <a:lnTo>
                    <a:pt x="606543" y="489477"/>
                  </a:lnTo>
                  <a:lnTo>
                    <a:pt x="667745" y="484643"/>
                  </a:lnTo>
                  <a:lnTo>
                    <a:pt x="726393" y="476813"/>
                  </a:lnTo>
                  <a:lnTo>
                    <a:pt x="782079" y="466169"/>
                  </a:lnTo>
                  <a:lnTo>
                    <a:pt x="834396" y="452897"/>
                  </a:lnTo>
                  <a:lnTo>
                    <a:pt x="882937" y="437181"/>
                  </a:lnTo>
                  <a:lnTo>
                    <a:pt x="927293" y="419205"/>
                  </a:lnTo>
                  <a:lnTo>
                    <a:pt x="967058" y="399153"/>
                  </a:lnTo>
                  <a:lnTo>
                    <a:pt x="1001823" y="377209"/>
                  </a:lnTo>
                  <a:lnTo>
                    <a:pt x="1054724" y="328383"/>
                  </a:lnTo>
                  <a:lnTo>
                    <a:pt x="1082737" y="274202"/>
                  </a:lnTo>
                  <a:lnTo>
                    <a:pt x="1086392" y="245564"/>
                  </a:lnTo>
                  <a:lnTo>
                    <a:pt x="1082737" y="216926"/>
                  </a:lnTo>
                  <a:lnTo>
                    <a:pt x="1054724" y="162745"/>
                  </a:lnTo>
                  <a:lnTo>
                    <a:pt x="1001823" y="113920"/>
                  </a:lnTo>
                  <a:lnTo>
                    <a:pt x="967058" y="91976"/>
                  </a:lnTo>
                  <a:lnTo>
                    <a:pt x="927293" y="71924"/>
                  </a:lnTo>
                  <a:lnTo>
                    <a:pt x="882937" y="53947"/>
                  </a:lnTo>
                  <a:lnTo>
                    <a:pt x="834396" y="38231"/>
                  </a:lnTo>
                  <a:lnTo>
                    <a:pt x="782079" y="24959"/>
                  </a:lnTo>
                  <a:lnTo>
                    <a:pt x="726393" y="14316"/>
                  </a:lnTo>
                  <a:lnTo>
                    <a:pt x="667745" y="6485"/>
                  </a:lnTo>
                  <a:lnTo>
                    <a:pt x="606543" y="1652"/>
                  </a:lnTo>
                  <a:lnTo>
                    <a:pt x="54319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6306737" y="1891188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4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632734" y="2136753"/>
              <a:ext cx="674370" cy="254635"/>
            </a:xfrm>
            <a:custGeom>
              <a:avLst/>
              <a:gdLst/>
              <a:ahLst/>
              <a:cxnLst/>
              <a:rect l="l" t="t" r="r" b="b"/>
              <a:pathLst>
                <a:path w="674370" h="254635">
                  <a:moveTo>
                    <a:pt x="674003" y="0"/>
                  </a:moveTo>
                  <a:lnTo>
                    <a:pt x="0" y="25456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371116" y="1750806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80240" y="2967765"/>
            <a:ext cx="3421716" cy="534472"/>
          </a:xfrm>
          <a:prstGeom prst="rect">
            <a:avLst/>
          </a:prstGeom>
        </p:spPr>
        <p:txBody>
          <a:bodyPr vert="horz" wrap="square" lIns="0" tIns="39781" rIns="0" bIns="0" rtlCol="0">
            <a:spAutoFit/>
          </a:bodyPr>
          <a:lstStyle/>
          <a:p>
            <a:pPr marL="11206" marR="4483">
              <a:lnSpc>
                <a:spcPts val="1924"/>
              </a:lnSpc>
              <a:spcBef>
                <a:spcPts val="313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person(</a:t>
            </a:r>
            <a:r>
              <a:rPr sz="1765" u="sng" spc="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id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, name,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address) </a:t>
            </a:r>
            <a:r>
              <a:rPr sz="1765" spc="-10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person_phone(</a:t>
            </a:r>
            <a:r>
              <a:rPr sz="1765" u="sng" spc="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id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u="sng" spc="4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phone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)</a:t>
            </a:r>
            <a:endParaRPr sz="1765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846896" y="2644536"/>
            <a:ext cx="488016" cy="247650"/>
            <a:chOff x="4746881" y="2997141"/>
            <a:chExt cx="553085" cy="280670"/>
          </a:xfrm>
        </p:grpSpPr>
        <p:sp>
          <p:nvSpPr>
            <p:cNvPr id="32" name="object 32"/>
            <p:cNvSpPr/>
            <p:nvPr/>
          </p:nvSpPr>
          <p:spPr>
            <a:xfrm>
              <a:off x="4762121" y="301238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391886" y="0"/>
                  </a:moveTo>
                  <a:lnTo>
                    <a:pt x="130628" y="0"/>
                  </a:lnTo>
                  <a:lnTo>
                    <a:pt x="130628" y="125045"/>
                  </a:lnTo>
                  <a:lnTo>
                    <a:pt x="0" y="125045"/>
                  </a:lnTo>
                  <a:lnTo>
                    <a:pt x="261258" y="250092"/>
                  </a:lnTo>
                  <a:lnTo>
                    <a:pt x="522514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4762121" y="3012381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846896" y="3858623"/>
            <a:ext cx="488016" cy="247650"/>
            <a:chOff x="4746881" y="4373106"/>
            <a:chExt cx="553085" cy="280670"/>
          </a:xfrm>
        </p:grpSpPr>
        <p:sp>
          <p:nvSpPr>
            <p:cNvPr id="35" name="object 35"/>
            <p:cNvSpPr/>
            <p:nvPr/>
          </p:nvSpPr>
          <p:spPr>
            <a:xfrm>
              <a:off x="4762121" y="4388346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391886" y="0"/>
                  </a:moveTo>
                  <a:lnTo>
                    <a:pt x="130628" y="0"/>
                  </a:lnTo>
                  <a:lnTo>
                    <a:pt x="130628" y="125045"/>
                  </a:lnTo>
                  <a:lnTo>
                    <a:pt x="0" y="125045"/>
                  </a:lnTo>
                  <a:lnTo>
                    <a:pt x="261258" y="250090"/>
                  </a:lnTo>
                  <a:lnTo>
                    <a:pt x="522514" y="125045"/>
                  </a:lnTo>
                  <a:lnTo>
                    <a:pt x="391886" y="125045"/>
                  </a:lnTo>
                  <a:lnTo>
                    <a:pt x="391886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4762121" y="4388346"/>
              <a:ext cx="522605" cy="250190"/>
            </a:xfrm>
            <a:custGeom>
              <a:avLst/>
              <a:gdLst/>
              <a:ahLst/>
              <a:cxnLst/>
              <a:rect l="l" t="t" r="r" b="b"/>
              <a:pathLst>
                <a:path w="522604" h="250189">
                  <a:moveTo>
                    <a:pt x="0" y="125046"/>
                  </a:moveTo>
                  <a:lnTo>
                    <a:pt x="130628" y="125046"/>
                  </a:lnTo>
                  <a:lnTo>
                    <a:pt x="130628" y="0"/>
                  </a:lnTo>
                  <a:lnTo>
                    <a:pt x="391886" y="0"/>
                  </a:lnTo>
                  <a:lnTo>
                    <a:pt x="391886" y="125046"/>
                  </a:lnTo>
                  <a:lnTo>
                    <a:pt x="522515" y="125046"/>
                  </a:lnTo>
                  <a:lnTo>
                    <a:pt x="261257" y="250091"/>
                  </a:lnTo>
                  <a:lnTo>
                    <a:pt x="0" y="125046"/>
                  </a:lnTo>
                  <a:close/>
                </a:path>
              </a:pathLst>
            </a:custGeom>
            <a:ln w="30479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0706" y="281523"/>
            <a:ext cx="7484969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0" dirty="0"/>
              <a:t>C</a:t>
            </a:r>
            <a:r>
              <a:rPr sz="3794" spc="-119" dirty="0"/>
              <a:t>R</a:t>
            </a:r>
            <a:r>
              <a:rPr sz="3794" spc="-110" dirty="0"/>
              <a:t>E</a:t>
            </a:r>
            <a:r>
              <a:rPr sz="3794" spc="-124" dirty="0"/>
              <a:t>A</a:t>
            </a:r>
            <a:r>
              <a:rPr sz="3794" spc="-115" dirty="0"/>
              <a:t>T</a:t>
            </a:r>
            <a:r>
              <a:rPr sz="3794" dirty="0"/>
              <a:t>E</a:t>
            </a:r>
            <a:r>
              <a:rPr sz="3794" spc="-216" dirty="0"/>
              <a:t> </a:t>
            </a:r>
            <a:r>
              <a:rPr sz="3794" spc="-115" dirty="0"/>
              <a:t>T</a:t>
            </a:r>
            <a:r>
              <a:rPr sz="3794" spc="-124" dirty="0"/>
              <a:t>A</a:t>
            </a:r>
            <a:r>
              <a:rPr sz="3794" spc="-115" dirty="0"/>
              <a:t>BL</a:t>
            </a:r>
            <a:r>
              <a:rPr sz="3794" dirty="0"/>
              <a:t>E</a:t>
            </a:r>
            <a:r>
              <a:rPr sz="3794" spc="-216" dirty="0"/>
              <a:t> </a:t>
            </a:r>
            <a:r>
              <a:rPr sz="3794" spc="-110" dirty="0"/>
              <a:t>(</a:t>
            </a:r>
            <a:r>
              <a:rPr sz="3794" spc="-124" dirty="0"/>
              <a:t>O</a:t>
            </a:r>
            <a:r>
              <a:rPr sz="3794" spc="-115" dirty="0"/>
              <a:t>n</a:t>
            </a:r>
            <a:r>
              <a:rPr sz="3794" spc="-128" dirty="0"/>
              <a:t>e</a:t>
            </a:r>
            <a:r>
              <a:rPr sz="3794" spc="-106" dirty="0"/>
              <a:t>-t</a:t>
            </a:r>
            <a:r>
              <a:rPr sz="3794" spc="-115" dirty="0"/>
              <a:t>o</a:t>
            </a:r>
            <a:r>
              <a:rPr sz="3794" spc="-106" dirty="0"/>
              <a:t>-</a:t>
            </a:r>
            <a:r>
              <a:rPr sz="3794" spc="-124" dirty="0"/>
              <a:t>O</a:t>
            </a:r>
            <a:r>
              <a:rPr sz="3794" spc="-115" dirty="0"/>
              <a:t>n</a:t>
            </a:r>
            <a:r>
              <a:rPr sz="3794" spc="-110" dirty="0"/>
              <a:t>e</a:t>
            </a:r>
            <a:r>
              <a:rPr sz="3794" dirty="0"/>
              <a:t>)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2186541" y="2819849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38215" y="2819849"/>
            <a:ext cx="478155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product(pid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7154" y="3043069"/>
            <a:ext cx="2742079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 KEY (pid)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6541" y="3446481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7154" y="3446480"/>
            <a:ext cx="2697256" cy="540694"/>
          </a:xfrm>
          <a:prstGeom prst="rect">
            <a:avLst/>
          </a:prstGeom>
        </p:spPr>
        <p:txBody>
          <a:bodyPr vert="horz" wrap="square" lIns="0" tIns="45943" rIns="0" bIns="0" rtlCol="0">
            <a:spAutoFit/>
          </a:bodyPr>
          <a:lstStyle/>
          <a:p>
            <a:pPr marL="11206" marR="4483" indent="90772">
              <a:lnSpc>
                <a:spcPts val="1862"/>
              </a:lnSpc>
              <a:spcBef>
                <a:spcPts val="361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-5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company(cname </a:t>
            </a:r>
            <a:r>
              <a:rPr sz="1765" spc="-104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66225" y="3446481"/>
            <a:ext cx="2561665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2539">
              <a:lnSpc>
                <a:spcPts val="1990"/>
              </a:lnSpc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r>
              <a:rPr sz="1765" spc="-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1990"/>
              </a:lnSpc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169732" y="4142163"/>
          <a:ext cx="7986431" cy="981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5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58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9047">
                <a:tc>
                  <a:txBody>
                    <a:bodyPr/>
                    <a:lstStyle/>
                    <a:p>
                      <a:pPr marL="31750">
                        <a:lnSpc>
                          <a:spcPts val="1910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CREATE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910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TABLE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910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makes(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0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ts val="1945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cname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ts val="1945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VARCHAR(100)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45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UNIQUE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45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REFERENCES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45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company(cname),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030346" y="4612810"/>
          <a:ext cx="6581772" cy="74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1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40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9047">
                <a:tc>
                  <a:txBody>
                    <a:bodyPr/>
                    <a:lstStyle/>
                    <a:p>
                      <a:pPr marL="31750">
                        <a:lnSpc>
                          <a:spcPts val="1910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pid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10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VARCHAR(100)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10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UNIQUE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10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REFERENCES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10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product(pid),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047">
                <a:tc>
                  <a:txBody>
                    <a:bodyPr/>
                    <a:lstStyle/>
                    <a:p>
                      <a:pPr marL="31750">
                        <a:lnSpc>
                          <a:spcPts val="1945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...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945"/>
                        </a:lnSpc>
                      </a:pPr>
                      <a:r>
                        <a:rPr sz="1800" spc="10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102152" y="1111624"/>
            <a:ext cx="734433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13" dirty="0">
                <a:solidFill>
                  <a:srgbClr val="292934"/>
                </a:solidFill>
                <a:latin typeface="Verdana"/>
                <a:cs typeface="Verdana"/>
              </a:rPr>
              <a:t>Option</a:t>
            </a:r>
            <a:r>
              <a:rPr sz="1853" b="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9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853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86534" y="5265153"/>
            <a:ext cx="3715871" cy="442632"/>
            <a:chOff x="598472" y="5967173"/>
            <a:chExt cx="4211320" cy="501650"/>
          </a:xfrm>
        </p:grpSpPr>
        <p:sp>
          <p:nvSpPr>
            <p:cNvPr id="13" name="object 13"/>
            <p:cNvSpPr/>
            <p:nvPr/>
          </p:nvSpPr>
          <p:spPr>
            <a:xfrm>
              <a:off x="605245" y="5973946"/>
              <a:ext cx="4197985" cy="487680"/>
            </a:xfrm>
            <a:custGeom>
              <a:avLst/>
              <a:gdLst/>
              <a:ahLst/>
              <a:cxnLst/>
              <a:rect l="l" t="t" r="r" b="b"/>
              <a:pathLst>
                <a:path w="4197985" h="487679">
                  <a:moveTo>
                    <a:pt x="4116248" y="0"/>
                  </a:moveTo>
                  <a:lnTo>
                    <a:pt x="81283" y="0"/>
                  </a:lnTo>
                  <a:lnTo>
                    <a:pt x="49644" y="6387"/>
                  </a:lnTo>
                  <a:lnTo>
                    <a:pt x="23807" y="23807"/>
                  </a:lnTo>
                  <a:lnTo>
                    <a:pt x="6387" y="49644"/>
                  </a:lnTo>
                  <a:lnTo>
                    <a:pt x="0" y="81283"/>
                  </a:lnTo>
                  <a:lnTo>
                    <a:pt x="1" y="406401"/>
                  </a:lnTo>
                  <a:lnTo>
                    <a:pt x="6387" y="438035"/>
                  </a:lnTo>
                  <a:lnTo>
                    <a:pt x="23807" y="463872"/>
                  </a:lnTo>
                  <a:lnTo>
                    <a:pt x="49644" y="481292"/>
                  </a:lnTo>
                  <a:lnTo>
                    <a:pt x="81283" y="487680"/>
                  </a:lnTo>
                  <a:lnTo>
                    <a:pt x="4116248" y="487680"/>
                  </a:lnTo>
                  <a:lnTo>
                    <a:pt x="4173723" y="463872"/>
                  </a:lnTo>
                  <a:lnTo>
                    <a:pt x="4197529" y="406401"/>
                  </a:lnTo>
                  <a:lnTo>
                    <a:pt x="4197530" y="81283"/>
                  </a:lnTo>
                  <a:lnTo>
                    <a:pt x="4191143" y="49644"/>
                  </a:lnTo>
                  <a:lnTo>
                    <a:pt x="4173723" y="23807"/>
                  </a:lnTo>
                  <a:lnTo>
                    <a:pt x="4147887" y="6387"/>
                  </a:lnTo>
                  <a:lnTo>
                    <a:pt x="411624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605245" y="5973946"/>
              <a:ext cx="4197985" cy="487680"/>
            </a:xfrm>
            <a:custGeom>
              <a:avLst/>
              <a:gdLst/>
              <a:ahLst/>
              <a:cxnLst/>
              <a:rect l="l" t="t" r="r" b="b"/>
              <a:pathLst>
                <a:path w="4197985" h="487679">
                  <a:moveTo>
                    <a:pt x="0" y="81283"/>
                  </a:moveTo>
                  <a:lnTo>
                    <a:pt x="6387" y="49644"/>
                  </a:lnTo>
                  <a:lnTo>
                    <a:pt x="23807" y="23807"/>
                  </a:lnTo>
                  <a:lnTo>
                    <a:pt x="49644" y="6387"/>
                  </a:lnTo>
                  <a:lnTo>
                    <a:pt x="81283" y="0"/>
                  </a:lnTo>
                  <a:lnTo>
                    <a:pt x="699588" y="0"/>
                  </a:lnTo>
                  <a:lnTo>
                    <a:pt x="1748971" y="0"/>
                  </a:lnTo>
                  <a:lnTo>
                    <a:pt x="4116248" y="0"/>
                  </a:lnTo>
                  <a:lnTo>
                    <a:pt x="4147887" y="6387"/>
                  </a:lnTo>
                  <a:lnTo>
                    <a:pt x="4173724" y="23807"/>
                  </a:lnTo>
                  <a:lnTo>
                    <a:pt x="4191144" y="49644"/>
                  </a:lnTo>
                  <a:lnTo>
                    <a:pt x="4197531" y="81283"/>
                  </a:lnTo>
                  <a:lnTo>
                    <a:pt x="4197531" y="284481"/>
                  </a:lnTo>
                  <a:lnTo>
                    <a:pt x="4197531" y="406400"/>
                  </a:lnTo>
                  <a:lnTo>
                    <a:pt x="4191144" y="438035"/>
                  </a:lnTo>
                  <a:lnTo>
                    <a:pt x="4173724" y="463872"/>
                  </a:lnTo>
                  <a:lnTo>
                    <a:pt x="4147887" y="481292"/>
                  </a:lnTo>
                  <a:lnTo>
                    <a:pt x="4116248" y="487679"/>
                  </a:lnTo>
                  <a:lnTo>
                    <a:pt x="1748971" y="487679"/>
                  </a:lnTo>
                  <a:lnTo>
                    <a:pt x="699588" y="487679"/>
                  </a:lnTo>
                  <a:lnTo>
                    <a:pt x="81283" y="487679"/>
                  </a:lnTo>
                  <a:lnTo>
                    <a:pt x="49644" y="481292"/>
                  </a:lnTo>
                  <a:lnTo>
                    <a:pt x="23807" y="463872"/>
                  </a:lnTo>
                  <a:lnTo>
                    <a:pt x="6387" y="438035"/>
                  </a:lnTo>
                  <a:lnTo>
                    <a:pt x="0" y="406396"/>
                  </a:lnTo>
                  <a:lnTo>
                    <a:pt x="0" y="259436"/>
                  </a:lnTo>
                  <a:lnTo>
                    <a:pt x="0" y="284481"/>
                  </a:lnTo>
                  <a:lnTo>
                    <a:pt x="0" y="8128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91227" y="5321450"/>
            <a:ext cx="3106271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FFFFFF"/>
                </a:solidFill>
                <a:latin typeface="Courier New"/>
                <a:cs typeface="Courier New"/>
              </a:rPr>
              <a:t>PRIMARY KEY (cname, </a:t>
            </a:r>
            <a:r>
              <a:rPr sz="1677" spc="4" dirty="0">
                <a:solidFill>
                  <a:srgbClr val="FFFFFF"/>
                </a:solidFill>
                <a:latin typeface="Courier New"/>
                <a:cs typeface="Courier New"/>
              </a:rPr>
              <a:t>pid)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39615" y="4418703"/>
            <a:ext cx="154081" cy="430306"/>
          </a:xfrm>
          <a:custGeom>
            <a:avLst/>
            <a:gdLst/>
            <a:ahLst/>
            <a:cxnLst/>
            <a:rect l="l" t="t" r="r" b="b"/>
            <a:pathLst>
              <a:path w="174625" h="487679">
                <a:moveTo>
                  <a:pt x="174171" y="487679"/>
                </a:moveTo>
                <a:lnTo>
                  <a:pt x="106376" y="486539"/>
                </a:lnTo>
                <a:lnTo>
                  <a:pt x="51013" y="483429"/>
                </a:lnTo>
                <a:lnTo>
                  <a:pt x="13687" y="478815"/>
                </a:lnTo>
                <a:lnTo>
                  <a:pt x="0" y="473166"/>
                </a:lnTo>
                <a:lnTo>
                  <a:pt x="0" y="14513"/>
                </a:lnTo>
                <a:lnTo>
                  <a:pt x="13687" y="8864"/>
                </a:lnTo>
                <a:lnTo>
                  <a:pt x="51013" y="4250"/>
                </a:lnTo>
                <a:lnTo>
                  <a:pt x="106376" y="1140"/>
                </a:lnTo>
                <a:lnTo>
                  <a:pt x="174171" y="0"/>
                </a:lnTo>
              </a:path>
            </a:pathLst>
          </a:custGeom>
          <a:ln w="40639">
            <a:solidFill>
              <a:srgbClr val="0048AA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 txBox="1"/>
          <p:nvPr/>
        </p:nvSpPr>
        <p:spPr>
          <a:xfrm>
            <a:off x="6144430" y="5423069"/>
            <a:ext cx="3889562" cy="333281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1072" rIns="0" bIns="0" rtlCol="0">
            <a:spAutoFit/>
          </a:bodyPr>
          <a:lstStyle/>
          <a:p>
            <a:pPr marL="304256">
              <a:spcBef>
                <a:spcPts val="481"/>
              </a:spcBef>
            </a:pP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 need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 all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tables?</a:t>
            </a:r>
            <a:endParaRPr sz="1765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44511" y="1805945"/>
            <a:ext cx="1134035" cy="362656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30549" rIns="0" bIns="0" rtlCol="0">
            <a:spAutoFit/>
          </a:bodyPr>
          <a:lstStyle/>
          <a:p>
            <a:pPr marL="247663">
              <a:spcBef>
                <a:spcPts val="102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22194" y="1805945"/>
            <a:ext cx="1134035" cy="362656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30549" rIns="0" bIns="0" rtlCol="0">
            <a:spAutoFit/>
          </a:bodyPr>
          <a:lstStyle/>
          <a:p>
            <a:pPr marL="178743">
              <a:spcBef>
                <a:spcPts val="102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65130" y="1754083"/>
            <a:ext cx="1489262" cy="607919"/>
            <a:chOff x="4200881" y="1987960"/>
            <a:chExt cx="1687830" cy="688975"/>
          </a:xfrm>
        </p:grpSpPr>
        <p:sp>
          <p:nvSpPr>
            <p:cNvPr id="22" name="object 22"/>
            <p:cNvSpPr/>
            <p:nvPr/>
          </p:nvSpPr>
          <p:spPr>
            <a:xfrm>
              <a:off x="4205961" y="1993040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205961" y="1993040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816891" y="1930997"/>
            <a:ext cx="58606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akes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678355" y="2005393"/>
            <a:ext cx="2844053" cy="94129"/>
          </a:xfrm>
          <a:custGeom>
            <a:avLst/>
            <a:gdLst/>
            <a:ahLst/>
            <a:cxnLst/>
            <a:rect l="l" t="t" r="r" b="b"/>
            <a:pathLst>
              <a:path w="3223259" h="106680">
                <a:moveTo>
                  <a:pt x="783463" y="54457"/>
                </a:moveTo>
                <a:lnTo>
                  <a:pt x="28917" y="47561"/>
                </a:lnTo>
                <a:lnTo>
                  <a:pt x="29210" y="47383"/>
                </a:lnTo>
                <a:lnTo>
                  <a:pt x="96748" y="8813"/>
                </a:lnTo>
                <a:lnTo>
                  <a:pt x="97586" y="5715"/>
                </a:lnTo>
                <a:lnTo>
                  <a:pt x="94805" y="838"/>
                </a:lnTo>
                <a:lnTo>
                  <a:pt x="91706" y="0"/>
                </a:lnTo>
                <a:lnTo>
                  <a:pt x="0" y="52374"/>
                </a:lnTo>
                <a:lnTo>
                  <a:pt x="90728" y="106426"/>
                </a:lnTo>
                <a:lnTo>
                  <a:pt x="93853" y="105625"/>
                </a:lnTo>
                <a:lnTo>
                  <a:pt x="96723" y="100812"/>
                </a:lnTo>
                <a:lnTo>
                  <a:pt x="95935" y="97688"/>
                </a:lnTo>
                <a:lnTo>
                  <a:pt x="28829" y="57721"/>
                </a:lnTo>
                <a:lnTo>
                  <a:pt x="783374" y="64617"/>
                </a:lnTo>
                <a:lnTo>
                  <a:pt x="783463" y="54457"/>
                </a:lnTo>
                <a:close/>
              </a:path>
              <a:path w="3223259" h="106680">
                <a:moveTo>
                  <a:pt x="3223031" y="52374"/>
                </a:moveTo>
                <a:lnTo>
                  <a:pt x="3214306" y="47383"/>
                </a:lnTo>
                <a:lnTo>
                  <a:pt x="3131312" y="12"/>
                </a:lnTo>
                <a:lnTo>
                  <a:pt x="3128213" y="863"/>
                </a:lnTo>
                <a:lnTo>
                  <a:pt x="3125432" y="5740"/>
                </a:lnTo>
                <a:lnTo>
                  <a:pt x="3126282" y="8839"/>
                </a:lnTo>
                <a:lnTo>
                  <a:pt x="3194113" y="47561"/>
                </a:lnTo>
                <a:lnTo>
                  <a:pt x="2460993" y="54457"/>
                </a:lnTo>
                <a:lnTo>
                  <a:pt x="2461082" y="64617"/>
                </a:lnTo>
                <a:lnTo>
                  <a:pt x="3194215" y="57721"/>
                </a:lnTo>
                <a:lnTo>
                  <a:pt x="3127108" y="97713"/>
                </a:lnTo>
                <a:lnTo>
                  <a:pt x="3126321" y="100838"/>
                </a:lnTo>
                <a:lnTo>
                  <a:pt x="3129191" y="105651"/>
                </a:lnTo>
                <a:lnTo>
                  <a:pt x="3132315" y="106438"/>
                </a:lnTo>
                <a:lnTo>
                  <a:pt x="3223031" y="52374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0706" y="281523"/>
            <a:ext cx="7484969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0" dirty="0"/>
              <a:t>C</a:t>
            </a:r>
            <a:r>
              <a:rPr sz="3794" spc="-119" dirty="0"/>
              <a:t>R</a:t>
            </a:r>
            <a:r>
              <a:rPr sz="3794" spc="-110" dirty="0"/>
              <a:t>E</a:t>
            </a:r>
            <a:r>
              <a:rPr sz="3794" spc="-124" dirty="0"/>
              <a:t>A</a:t>
            </a:r>
            <a:r>
              <a:rPr sz="3794" spc="-115" dirty="0"/>
              <a:t>T</a:t>
            </a:r>
            <a:r>
              <a:rPr sz="3794" dirty="0"/>
              <a:t>E</a:t>
            </a:r>
            <a:r>
              <a:rPr sz="3794" spc="-216" dirty="0"/>
              <a:t> </a:t>
            </a:r>
            <a:r>
              <a:rPr sz="3794" spc="-115" dirty="0"/>
              <a:t>T</a:t>
            </a:r>
            <a:r>
              <a:rPr sz="3794" spc="-124" dirty="0"/>
              <a:t>A</a:t>
            </a:r>
            <a:r>
              <a:rPr sz="3794" spc="-115" dirty="0"/>
              <a:t>BL</a:t>
            </a:r>
            <a:r>
              <a:rPr sz="3794" dirty="0"/>
              <a:t>E</a:t>
            </a:r>
            <a:r>
              <a:rPr sz="3794" spc="-216" dirty="0"/>
              <a:t> </a:t>
            </a:r>
            <a:r>
              <a:rPr sz="3794" spc="-110" dirty="0"/>
              <a:t>(</a:t>
            </a:r>
            <a:r>
              <a:rPr sz="3794" spc="-124" dirty="0"/>
              <a:t>O</a:t>
            </a:r>
            <a:r>
              <a:rPr sz="3794" spc="-115" dirty="0"/>
              <a:t>n</a:t>
            </a:r>
            <a:r>
              <a:rPr sz="3794" spc="-128" dirty="0"/>
              <a:t>e</a:t>
            </a:r>
            <a:r>
              <a:rPr sz="3794" spc="-106" dirty="0"/>
              <a:t>-t</a:t>
            </a:r>
            <a:r>
              <a:rPr sz="3794" spc="-115" dirty="0"/>
              <a:t>o</a:t>
            </a:r>
            <a:r>
              <a:rPr sz="3794" spc="-106" dirty="0"/>
              <a:t>-</a:t>
            </a:r>
            <a:r>
              <a:rPr sz="3794" spc="-124" dirty="0"/>
              <a:t>O</a:t>
            </a:r>
            <a:r>
              <a:rPr sz="3794" spc="-115" dirty="0"/>
              <a:t>n</a:t>
            </a:r>
            <a:r>
              <a:rPr sz="3794" spc="-110" dirty="0"/>
              <a:t>e</a:t>
            </a:r>
            <a:r>
              <a:rPr sz="3794" dirty="0"/>
              <a:t>)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2314039" y="3328147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74653" y="3328147"/>
            <a:ext cx="2425513" cy="534472"/>
          </a:xfrm>
          <a:prstGeom prst="rect">
            <a:avLst/>
          </a:prstGeom>
        </p:spPr>
        <p:txBody>
          <a:bodyPr vert="horz" wrap="square" lIns="0" tIns="39781" rIns="0" bIns="0" rtlCol="0">
            <a:spAutoFit/>
          </a:bodyPr>
          <a:lstStyle/>
          <a:p>
            <a:pPr marL="11206" marR="4483" indent="90772">
              <a:lnSpc>
                <a:spcPts val="1924"/>
              </a:lnSpc>
              <a:spcBef>
                <a:spcPts val="313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-5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product(pid </a:t>
            </a:r>
            <a:r>
              <a:rPr sz="1765" spc="-104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21823" y="3328147"/>
            <a:ext cx="1745316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2539">
              <a:lnSpc>
                <a:spcPts val="2021"/>
              </a:lnSpc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2021"/>
              </a:lnSpc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80699" y="3328147"/>
            <a:ext cx="566457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14040" y="3976295"/>
            <a:ext cx="6865284" cy="1060067"/>
          </a:xfrm>
          <a:prstGeom prst="rect">
            <a:avLst/>
          </a:prstGeom>
        </p:spPr>
        <p:txBody>
          <a:bodyPr vert="horz" wrap="square" lIns="0" tIns="45943" rIns="0" bIns="0" rtlCol="0">
            <a:spAutoFit/>
          </a:bodyPr>
          <a:lstStyle/>
          <a:p>
            <a:pPr marL="868502" marR="728421" indent="-857856">
              <a:lnSpc>
                <a:spcPts val="1862"/>
              </a:lnSpc>
              <a:spcBef>
                <a:spcPts val="361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company(cname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1765" spc="-104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pid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1765" dirty="0">
              <a:latin typeface="Courier New"/>
              <a:cs typeface="Courier New"/>
            </a:endParaRPr>
          </a:p>
          <a:p>
            <a:pPr marL="871864">
              <a:lnSpc>
                <a:spcPts val="1963"/>
              </a:lnSpc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(cname),</a:t>
            </a:r>
            <a:endParaRPr sz="1765" dirty="0">
              <a:latin typeface="Courier New"/>
              <a:cs typeface="Courier New"/>
            </a:endParaRPr>
          </a:p>
          <a:p>
            <a:pPr marL="871864">
              <a:lnSpc>
                <a:spcPts val="2065"/>
              </a:lnSpc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FOREIGN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product(pid)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2152" y="1114313"/>
            <a:ext cx="8029015" cy="565996"/>
          </a:xfrm>
          <a:prstGeom prst="rect">
            <a:avLst/>
          </a:prstGeom>
        </p:spPr>
        <p:txBody>
          <a:bodyPr vert="horz" wrap="square" lIns="0" tIns="2801" rIns="0" bIns="0" rtlCol="0">
            <a:spAutoFit/>
          </a:bodyPr>
          <a:lstStyle/>
          <a:p>
            <a:pPr marL="11206" marR="4483">
              <a:lnSpc>
                <a:spcPct val="102899"/>
              </a:lnSpc>
              <a:spcBef>
                <a:spcPts val="22"/>
              </a:spcBef>
            </a:pPr>
            <a:r>
              <a:rPr sz="1853" b="1" spc="13" dirty="0">
                <a:solidFill>
                  <a:srgbClr val="292934"/>
                </a:solidFill>
                <a:latin typeface="Verdana"/>
                <a:cs typeface="Verdana"/>
              </a:rPr>
              <a:t>Option</a:t>
            </a:r>
            <a:r>
              <a:rPr sz="1853" b="1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9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sets,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store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853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one </a:t>
            </a:r>
            <a:r>
              <a:rPr sz="1853" spc="-6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entity,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44511" y="2190154"/>
            <a:ext cx="1134035" cy="363222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31109" rIns="0" bIns="0" rtlCol="0">
            <a:spAutoFit/>
          </a:bodyPr>
          <a:lstStyle/>
          <a:p>
            <a:pPr marL="247663">
              <a:spcBef>
                <a:spcPts val="1032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22194" y="2190154"/>
            <a:ext cx="1134035" cy="363222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31109" rIns="0" bIns="0" rtlCol="0">
            <a:spAutoFit/>
          </a:bodyPr>
          <a:lstStyle/>
          <a:p>
            <a:pPr marL="178743">
              <a:spcBef>
                <a:spcPts val="1032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65130" y="2138291"/>
            <a:ext cx="1489262" cy="607919"/>
            <a:chOff x="4200881" y="2423396"/>
            <a:chExt cx="1687830" cy="688975"/>
          </a:xfrm>
        </p:grpSpPr>
        <p:sp>
          <p:nvSpPr>
            <p:cNvPr id="12" name="object 12"/>
            <p:cNvSpPr/>
            <p:nvPr/>
          </p:nvSpPr>
          <p:spPr>
            <a:xfrm>
              <a:off x="4205961" y="242847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4205961" y="242847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816891" y="2315583"/>
            <a:ext cx="58606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akes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78355" y="2389598"/>
            <a:ext cx="2844053" cy="94129"/>
          </a:xfrm>
          <a:custGeom>
            <a:avLst/>
            <a:gdLst/>
            <a:ahLst/>
            <a:cxnLst/>
            <a:rect l="l" t="t" r="r" b="b"/>
            <a:pathLst>
              <a:path w="3223259" h="106680">
                <a:moveTo>
                  <a:pt x="783463" y="54457"/>
                </a:moveTo>
                <a:lnTo>
                  <a:pt x="28917" y="47561"/>
                </a:lnTo>
                <a:lnTo>
                  <a:pt x="29210" y="47396"/>
                </a:lnTo>
                <a:lnTo>
                  <a:pt x="96748" y="8826"/>
                </a:lnTo>
                <a:lnTo>
                  <a:pt x="97586" y="5715"/>
                </a:lnTo>
                <a:lnTo>
                  <a:pt x="94805" y="850"/>
                </a:lnTo>
                <a:lnTo>
                  <a:pt x="91706" y="0"/>
                </a:lnTo>
                <a:lnTo>
                  <a:pt x="0" y="52374"/>
                </a:lnTo>
                <a:lnTo>
                  <a:pt x="90728" y="106426"/>
                </a:lnTo>
                <a:lnTo>
                  <a:pt x="93853" y="105638"/>
                </a:lnTo>
                <a:lnTo>
                  <a:pt x="96723" y="100812"/>
                </a:lnTo>
                <a:lnTo>
                  <a:pt x="95935" y="97701"/>
                </a:lnTo>
                <a:lnTo>
                  <a:pt x="28816" y="57721"/>
                </a:lnTo>
                <a:lnTo>
                  <a:pt x="783374" y="64617"/>
                </a:lnTo>
                <a:lnTo>
                  <a:pt x="783463" y="54457"/>
                </a:lnTo>
                <a:close/>
              </a:path>
              <a:path w="3223259" h="106680">
                <a:moveTo>
                  <a:pt x="3223031" y="52374"/>
                </a:moveTo>
                <a:lnTo>
                  <a:pt x="3214306" y="47396"/>
                </a:lnTo>
                <a:lnTo>
                  <a:pt x="3131312" y="25"/>
                </a:lnTo>
                <a:lnTo>
                  <a:pt x="3128213" y="876"/>
                </a:lnTo>
                <a:lnTo>
                  <a:pt x="3125432" y="5740"/>
                </a:lnTo>
                <a:lnTo>
                  <a:pt x="3126282" y="8851"/>
                </a:lnTo>
                <a:lnTo>
                  <a:pt x="3194113" y="47574"/>
                </a:lnTo>
                <a:lnTo>
                  <a:pt x="2460993" y="54457"/>
                </a:lnTo>
                <a:lnTo>
                  <a:pt x="2461082" y="64617"/>
                </a:lnTo>
                <a:lnTo>
                  <a:pt x="3194215" y="57734"/>
                </a:lnTo>
                <a:lnTo>
                  <a:pt x="3127108" y="97726"/>
                </a:lnTo>
                <a:lnTo>
                  <a:pt x="3126321" y="100838"/>
                </a:lnTo>
                <a:lnTo>
                  <a:pt x="3129191" y="105664"/>
                </a:lnTo>
                <a:lnTo>
                  <a:pt x="3132315" y="106451"/>
                </a:lnTo>
                <a:lnTo>
                  <a:pt x="3223031" y="52374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8714" y="5783727"/>
            <a:ext cx="8511988" cy="46928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331581" y="5816862"/>
            <a:ext cx="7540999" cy="333281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1072" rIns="0" bIns="0" rtlCol="0">
            <a:spAutoFit/>
          </a:bodyPr>
          <a:lstStyle/>
          <a:p>
            <a:pPr marL="243741">
              <a:spcBef>
                <a:spcPts val="481"/>
              </a:spcBef>
            </a:pP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use</a:t>
            </a:r>
            <a:r>
              <a:rPr sz="1765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one-to-one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Verdana"/>
                <a:cs typeface="Verdana"/>
              </a:rPr>
              <a:t>fact.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Better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765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fewer</a:t>
            </a:r>
            <a:r>
              <a:rPr sz="1765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endParaRPr sz="1765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4071" y="281523"/>
            <a:ext cx="8177493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0" dirty="0"/>
              <a:t>C</a:t>
            </a:r>
            <a:r>
              <a:rPr sz="3794" spc="-119" dirty="0"/>
              <a:t>R</a:t>
            </a:r>
            <a:r>
              <a:rPr sz="3794" spc="-110" dirty="0"/>
              <a:t>E</a:t>
            </a:r>
            <a:r>
              <a:rPr sz="3794" spc="-124" dirty="0"/>
              <a:t>A</a:t>
            </a:r>
            <a:r>
              <a:rPr sz="3794" spc="-115" dirty="0"/>
              <a:t>T</a:t>
            </a:r>
            <a:r>
              <a:rPr sz="3794" dirty="0"/>
              <a:t>E</a:t>
            </a:r>
            <a:r>
              <a:rPr sz="3794" spc="-216" dirty="0"/>
              <a:t> </a:t>
            </a:r>
            <a:r>
              <a:rPr sz="3794" spc="-115" dirty="0"/>
              <a:t>T</a:t>
            </a:r>
            <a:r>
              <a:rPr sz="3794" spc="-124" dirty="0"/>
              <a:t>A</a:t>
            </a:r>
            <a:r>
              <a:rPr sz="3794" spc="-115" dirty="0"/>
              <a:t>BL</a:t>
            </a:r>
            <a:r>
              <a:rPr sz="3794" dirty="0"/>
              <a:t>E</a:t>
            </a:r>
            <a:r>
              <a:rPr sz="3794" spc="-216" dirty="0"/>
              <a:t> </a:t>
            </a:r>
            <a:r>
              <a:rPr sz="3794" spc="-110" dirty="0"/>
              <a:t>(</a:t>
            </a:r>
            <a:r>
              <a:rPr sz="3794" spc="-128" dirty="0"/>
              <a:t>M</a:t>
            </a:r>
            <a:r>
              <a:rPr sz="3794" spc="-115" dirty="0"/>
              <a:t>an</a:t>
            </a:r>
            <a:r>
              <a:rPr sz="3794" spc="-137" dirty="0"/>
              <a:t>y</a:t>
            </a:r>
            <a:r>
              <a:rPr sz="3794" spc="-106" dirty="0"/>
              <a:t>-t</a:t>
            </a:r>
            <a:r>
              <a:rPr sz="3794" spc="-115" dirty="0"/>
              <a:t>o</a:t>
            </a:r>
            <a:r>
              <a:rPr sz="3794" spc="-106" dirty="0"/>
              <a:t>-</a:t>
            </a:r>
            <a:r>
              <a:rPr sz="3794" spc="-128" dirty="0"/>
              <a:t>M</a:t>
            </a:r>
            <a:r>
              <a:rPr sz="3794" spc="-110" dirty="0"/>
              <a:t>a</a:t>
            </a:r>
            <a:r>
              <a:rPr sz="3794" spc="-119" dirty="0"/>
              <a:t>ny</a:t>
            </a:r>
            <a:r>
              <a:rPr sz="3794" dirty="0"/>
              <a:t>)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3544511" y="1729102"/>
            <a:ext cx="1134035" cy="361524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9428" rIns="0" bIns="0" rtlCol="0">
            <a:spAutoFit/>
          </a:bodyPr>
          <a:lstStyle/>
          <a:p>
            <a:pPr marL="247663">
              <a:spcBef>
                <a:spcPts val="1019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2194" y="1729102"/>
            <a:ext cx="1134035" cy="361524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9428" rIns="0" bIns="0" rtlCol="0">
            <a:spAutoFit/>
          </a:bodyPr>
          <a:lstStyle/>
          <a:p>
            <a:pPr marL="178743">
              <a:spcBef>
                <a:spcPts val="1019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65130" y="1677240"/>
            <a:ext cx="1489262" cy="607919"/>
            <a:chOff x="4200881" y="1900871"/>
            <a:chExt cx="1687830" cy="688975"/>
          </a:xfrm>
        </p:grpSpPr>
        <p:sp>
          <p:nvSpPr>
            <p:cNvPr id="6" name="object 6"/>
            <p:cNvSpPr/>
            <p:nvPr/>
          </p:nvSpPr>
          <p:spPr>
            <a:xfrm>
              <a:off x="4205961" y="190595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4205961" y="190595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16891" y="1855694"/>
            <a:ext cx="58606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akes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73897" y="1970276"/>
            <a:ext cx="2853018" cy="15688"/>
            <a:chOff x="3417483" y="2232979"/>
            <a:chExt cx="3233420" cy="17780"/>
          </a:xfrm>
        </p:grpSpPr>
        <p:sp>
          <p:nvSpPr>
            <p:cNvPr id="10" name="object 10"/>
            <p:cNvSpPr/>
            <p:nvPr/>
          </p:nvSpPr>
          <p:spPr>
            <a:xfrm>
              <a:off x="3422563" y="2238059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19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5883580" y="2238060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19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14039" y="2803712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4653" y="2803712"/>
            <a:ext cx="2425513" cy="554085"/>
          </a:xfrm>
          <a:prstGeom prst="rect">
            <a:avLst/>
          </a:prstGeom>
        </p:spPr>
        <p:txBody>
          <a:bodyPr vert="horz" wrap="square" lIns="0" tIns="36979" rIns="0" bIns="0" rtlCol="0">
            <a:spAutoFit/>
          </a:bodyPr>
          <a:lstStyle/>
          <a:p>
            <a:pPr marL="11206" marR="4483" indent="90772">
              <a:lnSpc>
                <a:spcPts val="1950"/>
              </a:lnSpc>
              <a:spcBef>
                <a:spcPts val="291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-5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product(pid </a:t>
            </a:r>
            <a:r>
              <a:rPr sz="1765" spc="-104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21823" y="2803712"/>
            <a:ext cx="1745316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2539">
              <a:lnSpc>
                <a:spcPts val="2034"/>
              </a:lnSpc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2034"/>
              </a:lnSpc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80699" y="2803712"/>
            <a:ext cx="566457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14039" y="3454549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74652" y="3454549"/>
            <a:ext cx="2697256" cy="546163"/>
          </a:xfrm>
          <a:prstGeom prst="rect">
            <a:avLst/>
          </a:prstGeom>
        </p:spPr>
        <p:txBody>
          <a:bodyPr vert="horz" wrap="square" lIns="0" tIns="29134" rIns="0" bIns="0" rtlCol="0">
            <a:spAutoFit/>
          </a:bodyPr>
          <a:lstStyle/>
          <a:p>
            <a:pPr marL="11206" marR="4483" indent="90772">
              <a:lnSpc>
                <a:spcPts val="2030"/>
              </a:lnSpc>
              <a:spcBef>
                <a:spcPts val="229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-5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company(cname </a:t>
            </a:r>
            <a:r>
              <a:rPr sz="1765" spc="-104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93723" y="3454549"/>
            <a:ext cx="2561665" cy="5505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2539">
              <a:lnSpc>
                <a:spcPts val="2074"/>
              </a:lnSpc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r>
              <a:rPr sz="1765" spc="-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2074"/>
              </a:lnSpc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14040" y="4116145"/>
            <a:ext cx="7137587" cy="99305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937"/>
              </a:lnSpc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makes(</a:t>
            </a:r>
            <a:endParaRPr sz="1765" dirty="0">
              <a:latin typeface="Courier New"/>
              <a:cs typeface="Courier New"/>
            </a:endParaRPr>
          </a:p>
          <a:p>
            <a:pPr marL="871864" marR="4483">
              <a:lnSpc>
                <a:spcPct val="87500"/>
              </a:lnSpc>
              <a:spcBef>
                <a:spcPts val="84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cname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company(cname), 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pid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r>
              <a:rPr sz="1765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765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product(pid),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1765" spc="-104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(cname,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pid)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4511" y="1744471"/>
            <a:ext cx="1134035" cy="362656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30549" rIns="0" bIns="0" rtlCol="0">
            <a:spAutoFit/>
          </a:bodyPr>
          <a:lstStyle/>
          <a:p>
            <a:pPr marL="247663">
              <a:spcBef>
                <a:spcPts val="102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2194" y="1744471"/>
            <a:ext cx="1134035" cy="362656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30549" rIns="0" bIns="0" rtlCol="0">
            <a:spAutoFit/>
          </a:bodyPr>
          <a:lstStyle/>
          <a:p>
            <a:pPr marL="178743">
              <a:spcBef>
                <a:spcPts val="102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65130" y="1692608"/>
            <a:ext cx="1489262" cy="607919"/>
            <a:chOff x="4200881" y="1918289"/>
            <a:chExt cx="1687830" cy="688975"/>
          </a:xfrm>
        </p:grpSpPr>
        <p:sp>
          <p:nvSpPr>
            <p:cNvPr id="5" name="object 5"/>
            <p:cNvSpPr/>
            <p:nvPr/>
          </p:nvSpPr>
          <p:spPr>
            <a:xfrm>
              <a:off x="4205961" y="192336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4205961" y="192336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16891" y="1869140"/>
            <a:ext cx="58606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akes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73897" y="1943931"/>
            <a:ext cx="2848535" cy="94129"/>
            <a:chOff x="3417483" y="2203122"/>
            <a:chExt cx="3228340" cy="106680"/>
          </a:xfrm>
        </p:grpSpPr>
        <p:sp>
          <p:nvSpPr>
            <p:cNvPr id="9" name="object 9"/>
            <p:cNvSpPr/>
            <p:nvPr/>
          </p:nvSpPr>
          <p:spPr>
            <a:xfrm>
              <a:off x="3422563" y="2255478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19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5883532" y="2203122"/>
              <a:ext cx="762635" cy="106680"/>
            </a:xfrm>
            <a:custGeom>
              <a:avLst/>
              <a:gdLst/>
              <a:ahLst/>
              <a:cxnLst/>
              <a:rect l="l" t="t" r="r" b="b"/>
              <a:pathLst>
                <a:path w="762634" h="106680">
                  <a:moveTo>
                    <a:pt x="753309" y="47369"/>
                  </a:moveTo>
                  <a:lnTo>
                    <a:pt x="751911" y="47369"/>
                  </a:lnTo>
                  <a:lnTo>
                    <a:pt x="752006" y="57529"/>
                  </a:lnTo>
                  <a:lnTo>
                    <a:pt x="733220" y="57706"/>
                  </a:lnTo>
                  <a:lnTo>
                    <a:pt x="666121" y="97697"/>
                  </a:lnTo>
                  <a:lnTo>
                    <a:pt x="665332" y="100815"/>
                  </a:lnTo>
                  <a:lnTo>
                    <a:pt x="668205" y="105636"/>
                  </a:lnTo>
                  <a:lnTo>
                    <a:pt x="671323" y="106424"/>
                  </a:lnTo>
                  <a:lnTo>
                    <a:pt x="762044" y="52355"/>
                  </a:lnTo>
                  <a:lnTo>
                    <a:pt x="753309" y="47369"/>
                  </a:lnTo>
                  <a:close/>
                </a:path>
                <a:path w="762634" h="106680">
                  <a:moveTo>
                    <a:pt x="733124" y="47546"/>
                  </a:moveTo>
                  <a:lnTo>
                    <a:pt x="0" y="54434"/>
                  </a:lnTo>
                  <a:lnTo>
                    <a:pt x="95" y="64593"/>
                  </a:lnTo>
                  <a:lnTo>
                    <a:pt x="733220" y="57706"/>
                  </a:lnTo>
                  <a:lnTo>
                    <a:pt x="741881" y="52544"/>
                  </a:lnTo>
                  <a:lnTo>
                    <a:pt x="733124" y="47546"/>
                  </a:lnTo>
                  <a:close/>
                </a:path>
                <a:path w="762634" h="106680">
                  <a:moveTo>
                    <a:pt x="741881" y="52544"/>
                  </a:moveTo>
                  <a:lnTo>
                    <a:pt x="733220" y="57706"/>
                  </a:lnTo>
                  <a:lnTo>
                    <a:pt x="752006" y="57529"/>
                  </a:lnTo>
                  <a:lnTo>
                    <a:pt x="752000" y="56861"/>
                  </a:lnTo>
                  <a:lnTo>
                    <a:pt x="749444" y="56861"/>
                  </a:lnTo>
                  <a:lnTo>
                    <a:pt x="741881" y="52544"/>
                  </a:lnTo>
                  <a:close/>
                </a:path>
                <a:path w="762634" h="106680">
                  <a:moveTo>
                    <a:pt x="749362" y="48086"/>
                  </a:moveTo>
                  <a:lnTo>
                    <a:pt x="741881" y="52544"/>
                  </a:lnTo>
                  <a:lnTo>
                    <a:pt x="749444" y="56861"/>
                  </a:lnTo>
                  <a:lnTo>
                    <a:pt x="749362" y="48086"/>
                  </a:lnTo>
                  <a:close/>
                </a:path>
                <a:path w="762634" h="106680">
                  <a:moveTo>
                    <a:pt x="751917" y="48086"/>
                  </a:moveTo>
                  <a:lnTo>
                    <a:pt x="749362" y="48086"/>
                  </a:lnTo>
                  <a:lnTo>
                    <a:pt x="749444" y="56861"/>
                  </a:lnTo>
                  <a:lnTo>
                    <a:pt x="752000" y="56861"/>
                  </a:lnTo>
                  <a:lnTo>
                    <a:pt x="751917" y="48086"/>
                  </a:lnTo>
                  <a:close/>
                </a:path>
                <a:path w="762634" h="106680">
                  <a:moveTo>
                    <a:pt x="751911" y="47369"/>
                  </a:moveTo>
                  <a:lnTo>
                    <a:pt x="733124" y="47546"/>
                  </a:lnTo>
                  <a:lnTo>
                    <a:pt x="741881" y="52544"/>
                  </a:lnTo>
                  <a:lnTo>
                    <a:pt x="749362" y="48086"/>
                  </a:lnTo>
                  <a:lnTo>
                    <a:pt x="751917" y="48086"/>
                  </a:lnTo>
                  <a:lnTo>
                    <a:pt x="751911" y="47369"/>
                  </a:lnTo>
                  <a:close/>
                </a:path>
                <a:path w="762634" h="106680">
                  <a:moveTo>
                    <a:pt x="670323" y="0"/>
                  </a:moveTo>
                  <a:lnTo>
                    <a:pt x="667219" y="847"/>
                  </a:lnTo>
                  <a:lnTo>
                    <a:pt x="664438" y="5720"/>
                  </a:lnTo>
                  <a:lnTo>
                    <a:pt x="665286" y="8823"/>
                  </a:lnTo>
                  <a:lnTo>
                    <a:pt x="733124" y="47546"/>
                  </a:lnTo>
                  <a:lnTo>
                    <a:pt x="753309" y="47369"/>
                  </a:lnTo>
                  <a:lnTo>
                    <a:pt x="670323" y="0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98059" y="434108"/>
            <a:ext cx="9278471" cy="945738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9526" algn="ctr">
              <a:lnSpc>
                <a:spcPts val="3472"/>
              </a:lnSpc>
              <a:spcBef>
                <a:spcPts val="88"/>
              </a:spcBef>
            </a:pPr>
            <a:r>
              <a:rPr spc="-62" dirty="0"/>
              <a:t>CREATE</a:t>
            </a:r>
            <a:r>
              <a:rPr spc="-185" dirty="0"/>
              <a:t> </a:t>
            </a:r>
            <a:r>
              <a:rPr spc="-57" dirty="0"/>
              <a:t>TABLE</a:t>
            </a:r>
          </a:p>
          <a:p>
            <a:pPr marL="8965" algn="ctr">
              <a:lnSpc>
                <a:spcPts val="3472"/>
              </a:lnSpc>
            </a:pPr>
            <a:r>
              <a:rPr spc="-71" dirty="0"/>
              <a:t>(One-to-Many</a:t>
            </a:r>
            <a:r>
              <a:rPr spc="-185" dirty="0"/>
              <a:t> </a:t>
            </a:r>
            <a:r>
              <a:rPr dirty="0"/>
              <a:t>/</a:t>
            </a:r>
            <a:r>
              <a:rPr spc="-172" dirty="0"/>
              <a:t> </a:t>
            </a:r>
            <a:r>
              <a:rPr spc="-71" dirty="0"/>
              <a:t>Many-to-One)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12"/>
          </p:nvPr>
        </p:nvSpPr>
        <p:spPr>
          <a:xfrm>
            <a:off x="9256059" y="5691627"/>
            <a:ext cx="2420471" cy="15600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3619">
              <a:lnSpc>
                <a:spcPts val="1160"/>
              </a:lnSpc>
            </a:pPr>
            <a:fld id="{81D60167-4931-47E6-BA6A-407CBD079E47}" type="slidenum">
              <a:rPr dirty="0"/>
              <a:pPr marL="33619">
                <a:lnSpc>
                  <a:spcPts val="1160"/>
                </a:lnSpc>
              </a:pPr>
              <a:t>51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2186541" y="2774128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47154" y="2774127"/>
            <a:ext cx="2425513" cy="554085"/>
          </a:xfrm>
          <a:prstGeom prst="rect">
            <a:avLst/>
          </a:prstGeom>
        </p:spPr>
        <p:txBody>
          <a:bodyPr vert="horz" wrap="square" lIns="0" tIns="36979" rIns="0" bIns="0" rtlCol="0">
            <a:spAutoFit/>
          </a:bodyPr>
          <a:lstStyle/>
          <a:p>
            <a:pPr marL="11206" marR="4483" indent="90772">
              <a:lnSpc>
                <a:spcPts val="1950"/>
              </a:lnSpc>
              <a:spcBef>
                <a:spcPts val="291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-5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product(pid </a:t>
            </a:r>
            <a:r>
              <a:rPr sz="1765" spc="-104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94325" y="2774128"/>
            <a:ext cx="1745316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2539">
              <a:lnSpc>
                <a:spcPts val="2034"/>
              </a:lnSpc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2034"/>
              </a:lnSpc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53202" y="2774128"/>
            <a:ext cx="566457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6541" y="3422276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47154" y="3422276"/>
            <a:ext cx="2697256" cy="546163"/>
          </a:xfrm>
          <a:prstGeom prst="rect">
            <a:avLst/>
          </a:prstGeom>
        </p:spPr>
        <p:txBody>
          <a:bodyPr vert="horz" wrap="square" lIns="0" tIns="29134" rIns="0" bIns="0" rtlCol="0">
            <a:spAutoFit/>
          </a:bodyPr>
          <a:lstStyle/>
          <a:p>
            <a:pPr marL="11206" marR="4483" indent="90772">
              <a:lnSpc>
                <a:spcPts val="2030"/>
              </a:lnSpc>
              <a:spcBef>
                <a:spcPts val="229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-5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company(cname </a:t>
            </a:r>
            <a:r>
              <a:rPr sz="1765" spc="-104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66225" y="3422276"/>
            <a:ext cx="2561665" cy="5505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2539">
              <a:lnSpc>
                <a:spcPts val="2074"/>
              </a:lnSpc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r>
              <a:rPr sz="1765" spc="-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2074"/>
              </a:lnSpc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86541" y="4083872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7154" y="4083872"/>
            <a:ext cx="793376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1979">
              <a:lnSpc>
                <a:spcPts val="1950"/>
              </a:lnSpc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1950"/>
              </a:lnSpc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cname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62942" y="4083872"/>
            <a:ext cx="5325596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1979">
              <a:lnSpc>
                <a:spcPts val="1950"/>
              </a:lnSpc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makes(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1950"/>
              </a:lnSpc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company(cname),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47154" y="4543762"/>
            <a:ext cx="2198034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pid</a:t>
            </a:r>
            <a:r>
              <a:rPr sz="1765" spc="-5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47154" y="4780430"/>
            <a:ext cx="2332504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58387" y="4543762"/>
            <a:ext cx="3965762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990"/>
              </a:lnSpc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product(pid),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765">
              <a:latin typeface="Courier New"/>
              <a:cs typeface="Courier New"/>
            </a:endParaRPr>
          </a:p>
          <a:p>
            <a:pPr marL="146805">
              <a:lnSpc>
                <a:spcPts val="1990"/>
              </a:lnSpc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64557" y="1418485"/>
            <a:ext cx="7344335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13" dirty="0">
                <a:solidFill>
                  <a:srgbClr val="292934"/>
                </a:solidFill>
                <a:latin typeface="Verdana"/>
                <a:cs typeface="Verdana"/>
              </a:rPr>
              <a:t>Option</a:t>
            </a:r>
            <a:r>
              <a:rPr sz="1853" b="1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9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853" dirty="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094324" y="5265146"/>
            <a:ext cx="6236074" cy="442632"/>
            <a:chOff x="493968" y="5967165"/>
            <a:chExt cx="7067550" cy="501650"/>
          </a:xfrm>
        </p:grpSpPr>
        <p:sp>
          <p:nvSpPr>
            <p:cNvPr id="27" name="object 27"/>
            <p:cNvSpPr/>
            <p:nvPr/>
          </p:nvSpPr>
          <p:spPr>
            <a:xfrm>
              <a:off x="500742" y="5973938"/>
              <a:ext cx="7054215" cy="487680"/>
            </a:xfrm>
            <a:custGeom>
              <a:avLst/>
              <a:gdLst/>
              <a:ahLst/>
              <a:cxnLst/>
              <a:rect l="l" t="t" r="r" b="b"/>
              <a:pathLst>
                <a:path w="7054215" h="487679">
                  <a:moveTo>
                    <a:pt x="6972664" y="0"/>
                  </a:moveTo>
                  <a:lnTo>
                    <a:pt x="81277" y="0"/>
                  </a:lnTo>
                  <a:lnTo>
                    <a:pt x="49640" y="6387"/>
                  </a:lnTo>
                  <a:lnTo>
                    <a:pt x="23805" y="23805"/>
                  </a:lnTo>
                  <a:lnTo>
                    <a:pt x="6387" y="49641"/>
                  </a:lnTo>
                  <a:lnTo>
                    <a:pt x="0" y="81278"/>
                  </a:lnTo>
                  <a:lnTo>
                    <a:pt x="0" y="406401"/>
                  </a:lnTo>
                  <a:lnTo>
                    <a:pt x="6387" y="438038"/>
                  </a:lnTo>
                  <a:lnTo>
                    <a:pt x="23805" y="463873"/>
                  </a:lnTo>
                  <a:lnTo>
                    <a:pt x="49640" y="481292"/>
                  </a:lnTo>
                  <a:lnTo>
                    <a:pt x="81277" y="487679"/>
                  </a:lnTo>
                  <a:lnTo>
                    <a:pt x="6972664" y="487679"/>
                  </a:lnTo>
                  <a:lnTo>
                    <a:pt x="7004300" y="481292"/>
                  </a:lnTo>
                  <a:lnTo>
                    <a:pt x="7030135" y="463873"/>
                  </a:lnTo>
                  <a:lnTo>
                    <a:pt x="7047554" y="438038"/>
                  </a:lnTo>
                  <a:lnTo>
                    <a:pt x="7053941" y="406401"/>
                  </a:lnTo>
                  <a:lnTo>
                    <a:pt x="7053941" y="81278"/>
                  </a:lnTo>
                  <a:lnTo>
                    <a:pt x="7047554" y="49641"/>
                  </a:lnTo>
                  <a:lnTo>
                    <a:pt x="7030135" y="23805"/>
                  </a:lnTo>
                  <a:lnTo>
                    <a:pt x="7004300" y="6387"/>
                  </a:lnTo>
                  <a:lnTo>
                    <a:pt x="697266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00742" y="5973938"/>
              <a:ext cx="7054215" cy="487680"/>
            </a:xfrm>
            <a:custGeom>
              <a:avLst/>
              <a:gdLst/>
              <a:ahLst/>
              <a:cxnLst/>
              <a:rect l="l" t="t" r="r" b="b"/>
              <a:pathLst>
                <a:path w="7054215" h="487679">
                  <a:moveTo>
                    <a:pt x="0" y="81278"/>
                  </a:moveTo>
                  <a:lnTo>
                    <a:pt x="6387" y="49641"/>
                  </a:lnTo>
                  <a:lnTo>
                    <a:pt x="23805" y="23805"/>
                  </a:lnTo>
                  <a:lnTo>
                    <a:pt x="49640" y="6387"/>
                  </a:lnTo>
                  <a:lnTo>
                    <a:pt x="81277" y="0"/>
                  </a:lnTo>
                  <a:lnTo>
                    <a:pt x="1175657" y="0"/>
                  </a:lnTo>
                  <a:lnTo>
                    <a:pt x="2939142" y="0"/>
                  </a:lnTo>
                  <a:lnTo>
                    <a:pt x="6972664" y="0"/>
                  </a:lnTo>
                  <a:lnTo>
                    <a:pt x="7004301" y="6387"/>
                  </a:lnTo>
                  <a:lnTo>
                    <a:pt x="7030136" y="23805"/>
                  </a:lnTo>
                  <a:lnTo>
                    <a:pt x="7047555" y="49641"/>
                  </a:lnTo>
                  <a:lnTo>
                    <a:pt x="7053942" y="81278"/>
                  </a:lnTo>
                  <a:lnTo>
                    <a:pt x="7053942" y="284483"/>
                  </a:lnTo>
                  <a:lnTo>
                    <a:pt x="7053942" y="406401"/>
                  </a:lnTo>
                  <a:lnTo>
                    <a:pt x="7047555" y="438038"/>
                  </a:lnTo>
                  <a:lnTo>
                    <a:pt x="7030136" y="463873"/>
                  </a:lnTo>
                  <a:lnTo>
                    <a:pt x="7004301" y="481292"/>
                  </a:lnTo>
                  <a:lnTo>
                    <a:pt x="6972664" y="487679"/>
                  </a:lnTo>
                  <a:lnTo>
                    <a:pt x="2939142" y="487679"/>
                  </a:lnTo>
                  <a:lnTo>
                    <a:pt x="1175657" y="487679"/>
                  </a:lnTo>
                  <a:lnTo>
                    <a:pt x="81277" y="487679"/>
                  </a:lnTo>
                  <a:lnTo>
                    <a:pt x="49640" y="481292"/>
                  </a:lnTo>
                  <a:lnTo>
                    <a:pt x="23805" y="463873"/>
                  </a:lnTo>
                  <a:lnTo>
                    <a:pt x="6387" y="438038"/>
                  </a:lnTo>
                  <a:lnTo>
                    <a:pt x="0" y="406401"/>
                  </a:lnTo>
                  <a:lnTo>
                    <a:pt x="0" y="253193"/>
                  </a:lnTo>
                  <a:lnTo>
                    <a:pt x="0" y="284483"/>
                  </a:lnTo>
                  <a:lnTo>
                    <a:pt x="0" y="81278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0012" y="5321450"/>
            <a:ext cx="5804087" cy="52748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FFFFFF"/>
                </a:solidFill>
                <a:latin typeface="Courier New"/>
                <a:cs typeface="Courier New"/>
              </a:rPr>
              <a:t>FOREIGN</a:t>
            </a:r>
            <a:r>
              <a:rPr sz="1677" spc="22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FFFFFF"/>
                </a:solidFill>
                <a:latin typeface="Courier New"/>
                <a:cs typeface="Courier New"/>
              </a:rPr>
              <a:t>KEY</a:t>
            </a:r>
            <a:r>
              <a:rPr sz="1677" spc="26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FFFFFF"/>
                </a:solidFill>
                <a:latin typeface="Courier New"/>
                <a:cs typeface="Courier New"/>
              </a:rPr>
              <a:t>(cname)</a:t>
            </a:r>
            <a:r>
              <a:rPr sz="1677" spc="26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FFFFFF"/>
                </a:solidFill>
                <a:latin typeface="Courier New"/>
                <a:cs typeface="Courier New"/>
              </a:rPr>
              <a:t>REFERENCES</a:t>
            </a:r>
            <a:r>
              <a:rPr sz="1677" spc="26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FFFFFF"/>
                </a:solidFill>
                <a:latin typeface="Courier New"/>
                <a:cs typeface="Courier New"/>
              </a:rPr>
              <a:t>company(cname)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868711" y="4412552"/>
            <a:ext cx="138393" cy="224118"/>
          </a:xfrm>
          <a:custGeom>
            <a:avLst/>
            <a:gdLst/>
            <a:ahLst/>
            <a:cxnLst/>
            <a:rect l="l" t="t" r="r" b="b"/>
            <a:pathLst>
              <a:path w="156844" h="254000">
                <a:moveTo>
                  <a:pt x="156749" y="253593"/>
                </a:moveTo>
                <a:lnTo>
                  <a:pt x="95735" y="252567"/>
                </a:lnTo>
                <a:lnTo>
                  <a:pt x="45910" y="249767"/>
                </a:lnTo>
                <a:lnTo>
                  <a:pt x="12318" y="245615"/>
                </a:lnTo>
                <a:lnTo>
                  <a:pt x="0" y="240531"/>
                </a:lnTo>
                <a:lnTo>
                  <a:pt x="0" y="13061"/>
                </a:lnTo>
                <a:lnTo>
                  <a:pt x="12318" y="7977"/>
                </a:lnTo>
                <a:lnTo>
                  <a:pt x="45910" y="3825"/>
                </a:lnTo>
                <a:lnTo>
                  <a:pt x="95735" y="1026"/>
                </a:lnTo>
                <a:lnTo>
                  <a:pt x="156749" y="0"/>
                </a:lnTo>
              </a:path>
            </a:pathLst>
          </a:custGeom>
          <a:ln w="40639">
            <a:solidFill>
              <a:srgbClr val="0048AA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1679" y="5817197"/>
            <a:ext cx="4483249" cy="742277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186302" y="5832231"/>
            <a:ext cx="3889562" cy="341719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56029" rIns="0" bIns="0" rtlCol="0">
            <a:spAutoFit/>
          </a:bodyPr>
          <a:lstStyle/>
          <a:p>
            <a:pPr marL="221328">
              <a:spcBef>
                <a:spcPts val="441"/>
              </a:spcBef>
            </a:pP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Do we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these tables?</a:t>
            </a:r>
            <a:endParaRPr sz="185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4511" y="2220886"/>
            <a:ext cx="1134035" cy="36209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9988" rIns="0" bIns="0" rtlCol="0">
            <a:spAutoFit/>
          </a:bodyPr>
          <a:lstStyle/>
          <a:p>
            <a:pPr marL="247663">
              <a:spcBef>
                <a:spcPts val="1024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2194" y="2220886"/>
            <a:ext cx="1134035" cy="36209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9988" rIns="0" bIns="0" rtlCol="0">
            <a:spAutoFit/>
          </a:bodyPr>
          <a:lstStyle/>
          <a:p>
            <a:pPr marL="178743">
              <a:spcBef>
                <a:spcPts val="1024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65130" y="2169023"/>
            <a:ext cx="1489262" cy="607919"/>
            <a:chOff x="4200881" y="2458225"/>
            <a:chExt cx="1687830" cy="688975"/>
          </a:xfrm>
        </p:grpSpPr>
        <p:sp>
          <p:nvSpPr>
            <p:cNvPr id="5" name="object 5"/>
            <p:cNvSpPr/>
            <p:nvPr/>
          </p:nvSpPr>
          <p:spPr>
            <a:xfrm>
              <a:off x="4205961" y="246330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4205961" y="2463305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16891" y="2345166"/>
            <a:ext cx="58606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akes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73897" y="2420346"/>
            <a:ext cx="2848535" cy="94129"/>
            <a:chOff x="3417483" y="2743059"/>
            <a:chExt cx="3228340" cy="106680"/>
          </a:xfrm>
        </p:grpSpPr>
        <p:sp>
          <p:nvSpPr>
            <p:cNvPr id="9" name="object 9"/>
            <p:cNvSpPr/>
            <p:nvPr/>
          </p:nvSpPr>
          <p:spPr>
            <a:xfrm>
              <a:off x="3422563" y="2795414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19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5883532" y="2743059"/>
              <a:ext cx="762635" cy="106680"/>
            </a:xfrm>
            <a:custGeom>
              <a:avLst/>
              <a:gdLst/>
              <a:ahLst/>
              <a:cxnLst/>
              <a:rect l="l" t="t" r="r" b="b"/>
              <a:pathLst>
                <a:path w="762634" h="106680">
                  <a:moveTo>
                    <a:pt x="753311" y="47371"/>
                  </a:moveTo>
                  <a:lnTo>
                    <a:pt x="751911" y="47371"/>
                  </a:lnTo>
                  <a:lnTo>
                    <a:pt x="752006" y="57529"/>
                  </a:lnTo>
                  <a:lnTo>
                    <a:pt x="733222" y="57706"/>
                  </a:lnTo>
                  <a:lnTo>
                    <a:pt x="666121" y="97697"/>
                  </a:lnTo>
                  <a:lnTo>
                    <a:pt x="665332" y="100816"/>
                  </a:lnTo>
                  <a:lnTo>
                    <a:pt x="668205" y="105636"/>
                  </a:lnTo>
                  <a:lnTo>
                    <a:pt x="671323" y="106425"/>
                  </a:lnTo>
                  <a:lnTo>
                    <a:pt x="762044" y="52355"/>
                  </a:lnTo>
                  <a:lnTo>
                    <a:pt x="753311" y="47371"/>
                  </a:lnTo>
                  <a:close/>
                </a:path>
                <a:path w="762634" h="106680">
                  <a:moveTo>
                    <a:pt x="733127" y="47547"/>
                  </a:moveTo>
                  <a:lnTo>
                    <a:pt x="0" y="54434"/>
                  </a:lnTo>
                  <a:lnTo>
                    <a:pt x="95" y="64594"/>
                  </a:lnTo>
                  <a:lnTo>
                    <a:pt x="733222" y="57706"/>
                  </a:lnTo>
                  <a:lnTo>
                    <a:pt x="741882" y="52545"/>
                  </a:lnTo>
                  <a:lnTo>
                    <a:pt x="733127" y="47547"/>
                  </a:lnTo>
                  <a:close/>
                </a:path>
                <a:path w="762634" h="106680">
                  <a:moveTo>
                    <a:pt x="741882" y="52545"/>
                  </a:moveTo>
                  <a:lnTo>
                    <a:pt x="733222" y="57706"/>
                  </a:lnTo>
                  <a:lnTo>
                    <a:pt x="752006" y="57529"/>
                  </a:lnTo>
                  <a:lnTo>
                    <a:pt x="752000" y="56861"/>
                  </a:lnTo>
                  <a:lnTo>
                    <a:pt x="749444" y="56861"/>
                  </a:lnTo>
                  <a:lnTo>
                    <a:pt x="741882" y="52545"/>
                  </a:lnTo>
                  <a:close/>
                </a:path>
                <a:path w="762634" h="106680">
                  <a:moveTo>
                    <a:pt x="749362" y="48087"/>
                  </a:moveTo>
                  <a:lnTo>
                    <a:pt x="741882" y="52545"/>
                  </a:lnTo>
                  <a:lnTo>
                    <a:pt x="749444" y="56861"/>
                  </a:lnTo>
                  <a:lnTo>
                    <a:pt x="749362" y="48087"/>
                  </a:lnTo>
                  <a:close/>
                </a:path>
                <a:path w="762634" h="106680">
                  <a:moveTo>
                    <a:pt x="751917" y="48087"/>
                  </a:moveTo>
                  <a:lnTo>
                    <a:pt x="749362" y="48087"/>
                  </a:lnTo>
                  <a:lnTo>
                    <a:pt x="749444" y="56861"/>
                  </a:lnTo>
                  <a:lnTo>
                    <a:pt x="752000" y="56861"/>
                  </a:lnTo>
                  <a:lnTo>
                    <a:pt x="751917" y="48087"/>
                  </a:lnTo>
                  <a:close/>
                </a:path>
                <a:path w="762634" h="106680">
                  <a:moveTo>
                    <a:pt x="751911" y="47371"/>
                  </a:moveTo>
                  <a:lnTo>
                    <a:pt x="733127" y="47547"/>
                  </a:lnTo>
                  <a:lnTo>
                    <a:pt x="741882" y="52545"/>
                  </a:lnTo>
                  <a:lnTo>
                    <a:pt x="749362" y="48087"/>
                  </a:lnTo>
                  <a:lnTo>
                    <a:pt x="751917" y="48087"/>
                  </a:lnTo>
                  <a:lnTo>
                    <a:pt x="751911" y="47371"/>
                  </a:lnTo>
                  <a:close/>
                </a:path>
                <a:path w="762634" h="106680">
                  <a:moveTo>
                    <a:pt x="670323" y="0"/>
                  </a:moveTo>
                  <a:lnTo>
                    <a:pt x="667219" y="848"/>
                  </a:lnTo>
                  <a:lnTo>
                    <a:pt x="664438" y="5721"/>
                  </a:lnTo>
                  <a:lnTo>
                    <a:pt x="665286" y="8823"/>
                  </a:lnTo>
                  <a:lnTo>
                    <a:pt x="733127" y="47547"/>
                  </a:lnTo>
                  <a:lnTo>
                    <a:pt x="753311" y="47371"/>
                  </a:lnTo>
                  <a:lnTo>
                    <a:pt x="670323" y="0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398059" y="434108"/>
            <a:ext cx="9278471" cy="945738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9526" algn="ctr">
              <a:lnSpc>
                <a:spcPts val="3472"/>
              </a:lnSpc>
              <a:spcBef>
                <a:spcPts val="88"/>
              </a:spcBef>
            </a:pPr>
            <a:r>
              <a:rPr spc="-62" dirty="0"/>
              <a:t>CREATE</a:t>
            </a:r>
            <a:r>
              <a:rPr spc="-185" dirty="0"/>
              <a:t> </a:t>
            </a:r>
            <a:r>
              <a:rPr spc="-57" dirty="0"/>
              <a:t>TABLE</a:t>
            </a:r>
          </a:p>
          <a:p>
            <a:pPr marL="8965" algn="ctr">
              <a:lnSpc>
                <a:spcPts val="3472"/>
              </a:lnSpc>
            </a:pPr>
            <a:r>
              <a:rPr spc="-71" dirty="0"/>
              <a:t>(One-to-Many</a:t>
            </a:r>
            <a:r>
              <a:rPr spc="-185" dirty="0"/>
              <a:t> </a:t>
            </a:r>
            <a:r>
              <a:rPr dirty="0"/>
              <a:t>/</a:t>
            </a:r>
            <a:r>
              <a:rPr spc="-172" dirty="0"/>
              <a:t> </a:t>
            </a:r>
            <a:r>
              <a:rPr spc="-71" dirty="0"/>
              <a:t>Many-to-One)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186541" y="3250154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53939" y="3250154"/>
            <a:ext cx="1518397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product(pid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85659" y="3250154"/>
            <a:ext cx="1653988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47154" y="3250154"/>
            <a:ext cx="793376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1979">
              <a:lnSpc>
                <a:spcPts val="2034"/>
              </a:lnSpc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2034"/>
              </a:lnSpc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cname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53202" y="3250154"/>
            <a:ext cx="566457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62877" y="3497579"/>
            <a:ext cx="179014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47154" y="3755764"/>
            <a:ext cx="6549278" cy="5505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2065"/>
              </a:lnSpc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-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(pid),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2065"/>
              </a:lnSpc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FOREIGN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company(cname)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86541" y="4414670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38215" y="4414670"/>
            <a:ext cx="702609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53939" y="4414670"/>
            <a:ext cx="179014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company(cname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47154" y="4414669"/>
            <a:ext cx="5280772" cy="546163"/>
          </a:xfrm>
          <a:prstGeom prst="rect">
            <a:avLst/>
          </a:prstGeom>
        </p:spPr>
        <p:txBody>
          <a:bodyPr vert="horz" wrap="square" lIns="0" tIns="29134" rIns="0" bIns="0" rtlCol="0">
            <a:spAutoFit/>
          </a:bodyPr>
          <a:lstStyle/>
          <a:p>
            <a:pPr marL="11206" marR="4483" indent="2810585">
              <a:lnSpc>
                <a:spcPts val="2030"/>
              </a:lnSpc>
              <a:spcBef>
                <a:spcPts val="229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VARCHAR(100),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1765" spc="-10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86542" y="1496200"/>
            <a:ext cx="7978028" cy="565996"/>
          </a:xfrm>
          <a:prstGeom prst="rect">
            <a:avLst/>
          </a:prstGeom>
        </p:spPr>
        <p:txBody>
          <a:bodyPr vert="horz" wrap="square" lIns="0" tIns="2801" rIns="0" bIns="0" rtlCol="0">
            <a:spAutoFit/>
          </a:bodyPr>
          <a:lstStyle/>
          <a:p>
            <a:pPr marL="11206" marR="4483">
              <a:lnSpc>
                <a:spcPct val="102899"/>
              </a:lnSpc>
              <a:spcBef>
                <a:spcPts val="22"/>
              </a:spcBef>
            </a:pPr>
            <a:r>
              <a:rPr sz="1853" b="1" spc="13" dirty="0">
                <a:solidFill>
                  <a:srgbClr val="292934"/>
                </a:solidFill>
                <a:latin typeface="Verdana"/>
                <a:cs typeface="Verdana"/>
              </a:rPr>
              <a:t>Option</a:t>
            </a:r>
            <a:r>
              <a:rPr sz="1853" b="1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b="1" spc="9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sets,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store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853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1853" spc="3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853" spc="-6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“one” side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side,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853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5995" y="174372"/>
            <a:ext cx="7654738" cy="945738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8965" algn="ctr">
              <a:lnSpc>
                <a:spcPts val="3472"/>
              </a:lnSpc>
              <a:spcBef>
                <a:spcPts val="88"/>
              </a:spcBef>
            </a:pPr>
            <a:r>
              <a:rPr spc="-62" dirty="0"/>
              <a:t>CREATE</a:t>
            </a:r>
            <a:r>
              <a:rPr spc="-185" dirty="0"/>
              <a:t> </a:t>
            </a:r>
            <a:r>
              <a:rPr spc="-57" dirty="0"/>
              <a:t>TABLE</a:t>
            </a:r>
          </a:p>
          <a:p>
            <a:pPr marL="7845" algn="ctr">
              <a:lnSpc>
                <a:spcPts val="3472"/>
              </a:lnSpc>
            </a:pPr>
            <a:r>
              <a:rPr spc="-71" dirty="0"/>
              <a:t>(Multi-Way</a:t>
            </a:r>
            <a:r>
              <a:rPr spc="-199" dirty="0"/>
              <a:t> </a:t>
            </a:r>
            <a:r>
              <a:rPr spc="-75" dirty="0"/>
              <a:t>Relations)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672" y="3070412"/>
            <a:ext cx="79337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59283" y="3070412"/>
            <a:ext cx="6190129" cy="3141931"/>
          </a:xfrm>
          <a:prstGeom prst="rect">
            <a:avLst/>
          </a:prstGeom>
        </p:spPr>
        <p:txBody>
          <a:bodyPr vert="horz" wrap="square" lIns="0" tIns="45384" rIns="0" bIns="0" rtlCol="0">
            <a:spAutoFit/>
          </a:bodyPr>
          <a:lstStyle/>
          <a:p>
            <a:pPr marL="11206" marR="1635585" indent="38662">
              <a:lnSpc>
                <a:spcPts val="1755"/>
              </a:lnSpc>
              <a:spcBef>
                <a:spcPts val="357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677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product(pid</a:t>
            </a:r>
            <a:r>
              <a:rPr sz="1677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r>
              <a:rPr sz="1677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1677" spc="-99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677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(pid)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 );</a:t>
            </a:r>
            <a:endParaRPr sz="1677">
              <a:latin typeface="Courier New"/>
              <a:cs typeface="Courier New"/>
            </a:endParaRPr>
          </a:p>
          <a:p>
            <a:pPr marL="11206" marR="1250083" indent="38662">
              <a:lnSpc>
                <a:spcPts val="1844"/>
              </a:lnSpc>
              <a:spcBef>
                <a:spcPts val="1182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677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company(cname</a:t>
            </a:r>
            <a:r>
              <a:rPr sz="1677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VARCHAR(100),</a:t>
            </a:r>
            <a:r>
              <a:rPr sz="1677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1677" spc="-99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677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(cname)</a:t>
            </a:r>
            <a:r>
              <a:rPr sz="1677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677">
              <a:latin typeface="Courier New"/>
              <a:cs typeface="Courier New"/>
            </a:endParaRPr>
          </a:p>
          <a:p>
            <a:pPr marL="49869">
              <a:lnSpc>
                <a:spcPts val="1928"/>
              </a:lnSpc>
              <a:spcBef>
                <a:spcPts val="878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677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person</a:t>
            </a:r>
            <a:r>
              <a:rPr sz="1677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r>
              <a:rPr sz="1677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677">
              <a:latin typeface="Courier New"/>
              <a:cs typeface="Courier New"/>
            </a:endParaRPr>
          </a:p>
          <a:p>
            <a:pPr marL="11206">
              <a:lnSpc>
                <a:spcPts val="1928"/>
              </a:lnSpc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(personid)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 );</a:t>
            </a:r>
            <a:endParaRPr sz="1677">
              <a:latin typeface="Courier New"/>
              <a:cs typeface="Courier New"/>
            </a:endParaRPr>
          </a:p>
          <a:p>
            <a:pPr marL="49869">
              <a:lnSpc>
                <a:spcPts val="1844"/>
              </a:lnSpc>
              <a:spcBef>
                <a:spcPts val="909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677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buys(</a:t>
            </a:r>
            <a:endParaRPr sz="1677">
              <a:latin typeface="Courier New"/>
              <a:cs typeface="Courier New"/>
            </a:endParaRPr>
          </a:p>
          <a:p>
            <a:pPr marL="11206" marR="4483">
              <a:lnSpc>
                <a:spcPct val="80400"/>
              </a:lnSpc>
              <a:spcBef>
                <a:spcPts val="224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cname</a:t>
            </a:r>
            <a:r>
              <a:rPr sz="1677" spc="7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r>
              <a:rPr sz="1677" spc="7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677" spc="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company(cname), </a:t>
            </a:r>
            <a:r>
              <a:rPr sz="1677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pid</a:t>
            </a:r>
            <a:r>
              <a:rPr sz="1677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VARCHAR(100)</a:t>
            </a:r>
            <a:r>
              <a:rPr sz="1677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677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product(pid), </a:t>
            </a:r>
            <a:r>
              <a:rPr sz="1677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personID</a:t>
            </a:r>
            <a:r>
              <a:rPr sz="1677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VARCHAR(10)</a:t>
            </a:r>
            <a:r>
              <a:rPr sz="1677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REFERENCE</a:t>
            </a:r>
            <a:r>
              <a:rPr sz="1677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person(personID), </a:t>
            </a:r>
            <a:r>
              <a:rPr sz="1677" spc="-99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price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 FLOAT,</a:t>
            </a:r>
            <a:endParaRPr sz="1677">
              <a:latin typeface="Courier New"/>
              <a:cs typeface="Courier New"/>
            </a:endParaRPr>
          </a:p>
          <a:p>
            <a:pPr marL="11206">
              <a:lnSpc>
                <a:spcPts val="1588"/>
              </a:lnSpc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677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677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(cname,</a:t>
            </a:r>
            <a:r>
              <a:rPr sz="1677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pid,</a:t>
            </a:r>
            <a:r>
              <a:rPr sz="1677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personID,)</a:t>
            </a:r>
            <a:r>
              <a:rPr sz="1677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8672" y="3675530"/>
            <a:ext cx="79337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8672" y="4280647"/>
            <a:ext cx="79337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8672" y="4885765"/>
            <a:ext cx="79337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55495" y="5512398"/>
            <a:ext cx="536762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4" dirty="0">
                <a:solidFill>
                  <a:srgbClr val="292934"/>
                </a:solidFill>
                <a:latin typeface="Courier New"/>
                <a:cs typeface="Courier New"/>
              </a:rPr>
              <a:t>...,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3503" y="1823846"/>
            <a:ext cx="1043828" cy="315132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83484" rIns="0" bIns="0" rtlCol="0">
            <a:spAutoFit/>
          </a:bodyPr>
          <a:lstStyle/>
          <a:p>
            <a:pPr marL="229173">
              <a:spcBef>
                <a:spcPts val="657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87818" y="1823846"/>
            <a:ext cx="1043828" cy="315132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83484" rIns="0" bIns="0" rtlCol="0">
            <a:spAutoFit/>
          </a:bodyPr>
          <a:lstStyle/>
          <a:p>
            <a:pPr marL="202277">
              <a:spcBef>
                <a:spcPts val="657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03028" y="1757333"/>
            <a:ext cx="1368799" cy="525556"/>
            <a:chOff x="4243832" y="1991644"/>
            <a:chExt cx="1551305" cy="595630"/>
          </a:xfrm>
        </p:grpSpPr>
        <p:sp>
          <p:nvSpPr>
            <p:cNvPr id="12" name="object 12"/>
            <p:cNvSpPr/>
            <p:nvPr/>
          </p:nvSpPr>
          <p:spPr>
            <a:xfrm>
              <a:off x="4248912" y="1996724"/>
              <a:ext cx="1541145" cy="585470"/>
            </a:xfrm>
            <a:custGeom>
              <a:avLst/>
              <a:gdLst/>
              <a:ahLst/>
              <a:cxnLst/>
              <a:rect l="l" t="t" r="r" b="b"/>
              <a:pathLst>
                <a:path w="1541145" h="585469">
                  <a:moveTo>
                    <a:pt x="770534" y="0"/>
                  </a:moveTo>
                  <a:lnTo>
                    <a:pt x="0" y="292608"/>
                  </a:lnTo>
                  <a:lnTo>
                    <a:pt x="770534" y="585215"/>
                  </a:lnTo>
                  <a:lnTo>
                    <a:pt x="1541068" y="292608"/>
                  </a:lnTo>
                  <a:lnTo>
                    <a:pt x="77053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4248912" y="1996724"/>
              <a:ext cx="1541145" cy="585470"/>
            </a:xfrm>
            <a:custGeom>
              <a:avLst/>
              <a:gdLst/>
              <a:ahLst/>
              <a:cxnLst/>
              <a:rect l="l" t="t" r="r" b="b"/>
              <a:pathLst>
                <a:path w="1541145" h="585469">
                  <a:moveTo>
                    <a:pt x="0" y="292607"/>
                  </a:moveTo>
                  <a:lnTo>
                    <a:pt x="770534" y="0"/>
                  </a:lnTo>
                  <a:lnTo>
                    <a:pt x="1541068" y="292607"/>
                  </a:lnTo>
                  <a:lnTo>
                    <a:pt x="770534" y="585215"/>
                  </a:lnTo>
                  <a:lnTo>
                    <a:pt x="0" y="292607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64877" y="2448495"/>
            <a:ext cx="1043828" cy="31400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82363" rIns="0" bIns="0" rtlCol="0">
            <a:spAutoFit/>
          </a:bodyPr>
          <a:lstStyle/>
          <a:p>
            <a:pPr marL="133917">
              <a:spcBef>
                <a:spcPts val="649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636463" y="1181829"/>
            <a:ext cx="894789" cy="435909"/>
            <a:chOff x="4508391" y="1339406"/>
            <a:chExt cx="1014094" cy="494030"/>
          </a:xfrm>
        </p:grpSpPr>
        <p:sp>
          <p:nvSpPr>
            <p:cNvPr id="16" name="object 16"/>
            <p:cNvSpPr/>
            <p:nvPr/>
          </p:nvSpPr>
          <p:spPr>
            <a:xfrm>
              <a:off x="4513471" y="1344486"/>
              <a:ext cx="1003935" cy="483870"/>
            </a:xfrm>
            <a:custGeom>
              <a:avLst/>
              <a:gdLst/>
              <a:ahLst/>
              <a:cxnLst/>
              <a:rect l="l" t="t" r="r" b="b"/>
              <a:pathLst>
                <a:path w="1003935" h="483869">
                  <a:moveTo>
                    <a:pt x="501705" y="0"/>
                  </a:moveTo>
                  <a:lnTo>
                    <a:pt x="438772" y="1884"/>
                  </a:lnTo>
                  <a:lnTo>
                    <a:pt x="378172" y="7385"/>
                  </a:lnTo>
                  <a:lnTo>
                    <a:pt x="320375" y="16278"/>
                  </a:lnTo>
                  <a:lnTo>
                    <a:pt x="265851" y="28335"/>
                  </a:lnTo>
                  <a:lnTo>
                    <a:pt x="215070" y="43329"/>
                  </a:lnTo>
                  <a:lnTo>
                    <a:pt x="168502" y="61034"/>
                  </a:lnTo>
                  <a:lnTo>
                    <a:pt x="126619" y="81224"/>
                  </a:lnTo>
                  <a:lnTo>
                    <a:pt x="89888" y="103671"/>
                  </a:lnTo>
                  <a:lnTo>
                    <a:pt x="58782" y="128149"/>
                  </a:lnTo>
                  <a:lnTo>
                    <a:pt x="15322" y="182292"/>
                  </a:lnTo>
                  <a:lnTo>
                    <a:pt x="0" y="241839"/>
                  </a:lnTo>
                  <a:lnTo>
                    <a:pt x="3908" y="272175"/>
                  </a:lnTo>
                  <a:lnTo>
                    <a:pt x="33770" y="329247"/>
                  </a:lnTo>
                  <a:lnTo>
                    <a:pt x="89888" y="380008"/>
                  </a:lnTo>
                  <a:lnTo>
                    <a:pt x="126619" y="402455"/>
                  </a:lnTo>
                  <a:lnTo>
                    <a:pt x="168502" y="422644"/>
                  </a:lnTo>
                  <a:lnTo>
                    <a:pt x="215070" y="440349"/>
                  </a:lnTo>
                  <a:lnTo>
                    <a:pt x="265851" y="455344"/>
                  </a:lnTo>
                  <a:lnTo>
                    <a:pt x="320375" y="467400"/>
                  </a:lnTo>
                  <a:lnTo>
                    <a:pt x="378172" y="476293"/>
                  </a:lnTo>
                  <a:lnTo>
                    <a:pt x="438772" y="481795"/>
                  </a:lnTo>
                  <a:lnTo>
                    <a:pt x="501705" y="483679"/>
                  </a:lnTo>
                  <a:lnTo>
                    <a:pt x="564638" y="481795"/>
                  </a:lnTo>
                  <a:lnTo>
                    <a:pt x="625238" y="476293"/>
                  </a:lnTo>
                  <a:lnTo>
                    <a:pt x="683035" y="467400"/>
                  </a:lnTo>
                  <a:lnTo>
                    <a:pt x="737559" y="455344"/>
                  </a:lnTo>
                  <a:lnTo>
                    <a:pt x="788340" y="440349"/>
                  </a:lnTo>
                  <a:lnTo>
                    <a:pt x="834907" y="422644"/>
                  </a:lnTo>
                  <a:lnTo>
                    <a:pt x="876791" y="402455"/>
                  </a:lnTo>
                  <a:lnTo>
                    <a:pt x="913521" y="380008"/>
                  </a:lnTo>
                  <a:lnTo>
                    <a:pt x="944627" y="355529"/>
                  </a:lnTo>
                  <a:lnTo>
                    <a:pt x="988087" y="301387"/>
                  </a:lnTo>
                  <a:lnTo>
                    <a:pt x="1003410" y="241839"/>
                  </a:lnTo>
                  <a:lnTo>
                    <a:pt x="999501" y="211503"/>
                  </a:lnTo>
                  <a:lnTo>
                    <a:pt x="969640" y="154432"/>
                  </a:lnTo>
                  <a:lnTo>
                    <a:pt x="913521" y="103671"/>
                  </a:lnTo>
                  <a:lnTo>
                    <a:pt x="876791" y="81224"/>
                  </a:lnTo>
                  <a:lnTo>
                    <a:pt x="834907" y="61034"/>
                  </a:lnTo>
                  <a:lnTo>
                    <a:pt x="788340" y="43329"/>
                  </a:lnTo>
                  <a:lnTo>
                    <a:pt x="737559" y="28335"/>
                  </a:lnTo>
                  <a:lnTo>
                    <a:pt x="683035" y="16278"/>
                  </a:lnTo>
                  <a:lnTo>
                    <a:pt x="625238" y="7385"/>
                  </a:lnTo>
                  <a:lnTo>
                    <a:pt x="564638" y="1884"/>
                  </a:lnTo>
                  <a:lnTo>
                    <a:pt x="50170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4513471" y="1344486"/>
              <a:ext cx="1003935" cy="483870"/>
            </a:xfrm>
            <a:custGeom>
              <a:avLst/>
              <a:gdLst/>
              <a:ahLst/>
              <a:cxnLst/>
              <a:rect l="l" t="t" r="r" b="b"/>
              <a:pathLst>
                <a:path w="1003935" h="483869">
                  <a:moveTo>
                    <a:pt x="0" y="241839"/>
                  </a:moveTo>
                  <a:lnTo>
                    <a:pt x="15322" y="182292"/>
                  </a:lnTo>
                  <a:lnTo>
                    <a:pt x="58782" y="128149"/>
                  </a:lnTo>
                  <a:lnTo>
                    <a:pt x="89888" y="103671"/>
                  </a:lnTo>
                  <a:lnTo>
                    <a:pt x="126619" y="81224"/>
                  </a:lnTo>
                  <a:lnTo>
                    <a:pt x="168502" y="61034"/>
                  </a:lnTo>
                  <a:lnTo>
                    <a:pt x="215070" y="43329"/>
                  </a:lnTo>
                  <a:lnTo>
                    <a:pt x="265851" y="28335"/>
                  </a:lnTo>
                  <a:lnTo>
                    <a:pt x="320375" y="16278"/>
                  </a:lnTo>
                  <a:lnTo>
                    <a:pt x="378172" y="7385"/>
                  </a:lnTo>
                  <a:lnTo>
                    <a:pt x="438772" y="1884"/>
                  </a:lnTo>
                  <a:lnTo>
                    <a:pt x="501705" y="0"/>
                  </a:lnTo>
                  <a:lnTo>
                    <a:pt x="564638" y="1884"/>
                  </a:lnTo>
                  <a:lnTo>
                    <a:pt x="625238" y="7385"/>
                  </a:lnTo>
                  <a:lnTo>
                    <a:pt x="683035" y="16278"/>
                  </a:lnTo>
                  <a:lnTo>
                    <a:pt x="737559" y="28335"/>
                  </a:lnTo>
                  <a:lnTo>
                    <a:pt x="788340" y="43329"/>
                  </a:lnTo>
                  <a:lnTo>
                    <a:pt x="834908" y="61034"/>
                  </a:lnTo>
                  <a:lnTo>
                    <a:pt x="876792" y="81224"/>
                  </a:lnTo>
                  <a:lnTo>
                    <a:pt x="913522" y="103671"/>
                  </a:lnTo>
                  <a:lnTo>
                    <a:pt x="944628" y="128149"/>
                  </a:lnTo>
                  <a:lnTo>
                    <a:pt x="988088" y="182292"/>
                  </a:lnTo>
                  <a:lnTo>
                    <a:pt x="1003411" y="241839"/>
                  </a:lnTo>
                  <a:lnTo>
                    <a:pt x="999502" y="272175"/>
                  </a:lnTo>
                  <a:lnTo>
                    <a:pt x="969640" y="329246"/>
                  </a:lnTo>
                  <a:lnTo>
                    <a:pt x="913522" y="380007"/>
                  </a:lnTo>
                  <a:lnTo>
                    <a:pt x="876792" y="402454"/>
                  </a:lnTo>
                  <a:lnTo>
                    <a:pt x="834908" y="422644"/>
                  </a:lnTo>
                  <a:lnTo>
                    <a:pt x="788340" y="440349"/>
                  </a:lnTo>
                  <a:lnTo>
                    <a:pt x="737559" y="455343"/>
                  </a:lnTo>
                  <a:lnTo>
                    <a:pt x="683035" y="467400"/>
                  </a:lnTo>
                  <a:lnTo>
                    <a:pt x="625238" y="476292"/>
                  </a:lnTo>
                  <a:lnTo>
                    <a:pt x="564638" y="481794"/>
                  </a:lnTo>
                  <a:lnTo>
                    <a:pt x="501705" y="483678"/>
                  </a:lnTo>
                  <a:lnTo>
                    <a:pt x="438772" y="481794"/>
                  </a:lnTo>
                  <a:lnTo>
                    <a:pt x="378172" y="476292"/>
                  </a:lnTo>
                  <a:lnTo>
                    <a:pt x="320375" y="467400"/>
                  </a:lnTo>
                  <a:lnTo>
                    <a:pt x="265851" y="455343"/>
                  </a:lnTo>
                  <a:lnTo>
                    <a:pt x="215070" y="440349"/>
                  </a:lnTo>
                  <a:lnTo>
                    <a:pt x="168502" y="422644"/>
                  </a:lnTo>
                  <a:lnTo>
                    <a:pt x="126619" y="402454"/>
                  </a:lnTo>
                  <a:lnTo>
                    <a:pt x="89888" y="380007"/>
                  </a:lnTo>
                  <a:lnTo>
                    <a:pt x="58782" y="355529"/>
                  </a:lnTo>
                  <a:lnTo>
                    <a:pt x="15322" y="301386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865486" y="1272091"/>
            <a:ext cx="4364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18335" y="1810856"/>
            <a:ext cx="1054474" cy="435909"/>
            <a:chOff x="1087847" y="2052304"/>
            <a:chExt cx="1195070" cy="494030"/>
          </a:xfrm>
        </p:grpSpPr>
        <p:sp>
          <p:nvSpPr>
            <p:cNvPr id="20" name="object 20"/>
            <p:cNvSpPr/>
            <p:nvPr/>
          </p:nvSpPr>
          <p:spPr>
            <a:xfrm>
              <a:off x="1092927" y="2057384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10" h="483869">
                  <a:moveTo>
                    <a:pt x="592182" y="0"/>
                  </a:moveTo>
                  <a:lnTo>
                    <a:pt x="527658" y="1419"/>
                  </a:lnTo>
                  <a:lnTo>
                    <a:pt x="465145" y="5577"/>
                  </a:lnTo>
                  <a:lnTo>
                    <a:pt x="405007" y="12329"/>
                  </a:lnTo>
                  <a:lnTo>
                    <a:pt x="347603" y="21525"/>
                  </a:lnTo>
                  <a:lnTo>
                    <a:pt x="293296" y="33018"/>
                  </a:lnTo>
                  <a:lnTo>
                    <a:pt x="242447" y="46660"/>
                  </a:lnTo>
                  <a:lnTo>
                    <a:pt x="195416" y="62305"/>
                  </a:lnTo>
                  <a:lnTo>
                    <a:pt x="152565" y="79805"/>
                  </a:lnTo>
                  <a:lnTo>
                    <a:pt x="114256" y="99012"/>
                  </a:lnTo>
                  <a:lnTo>
                    <a:pt x="80850" y="119778"/>
                  </a:lnTo>
                  <a:lnTo>
                    <a:pt x="30189" y="165399"/>
                  </a:lnTo>
                  <a:lnTo>
                    <a:pt x="3474" y="215488"/>
                  </a:lnTo>
                  <a:lnTo>
                    <a:pt x="0" y="241839"/>
                  </a:lnTo>
                  <a:lnTo>
                    <a:pt x="3474" y="268190"/>
                  </a:lnTo>
                  <a:lnTo>
                    <a:pt x="30189" y="318279"/>
                  </a:lnTo>
                  <a:lnTo>
                    <a:pt x="80850" y="363901"/>
                  </a:lnTo>
                  <a:lnTo>
                    <a:pt x="114256" y="384667"/>
                  </a:lnTo>
                  <a:lnTo>
                    <a:pt x="152565" y="403873"/>
                  </a:lnTo>
                  <a:lnTo>
                    <a:pt x="195416" y="421373"/>
                  </a:lnTo>
                  <a:lnTo>
                    <a:pt x="242447" y="437018"/>
                  </a:lnTo>
                  <a:lnTo>
                    <a:pt x="293296" y="450661"/>
                  </a:lnTo>
                  <a:lnTo>
                    <a:pt x="347603" y="462154"/>
                  </a:lnTo>
                  <a:lnTo>
                    <a:pt x="405007" y="471350"/>
                  </a:lnTo>
                  <a:lnTo>
                    <a:pt x="465145" y="478101"/>
                  </a:lnTo>
                  <a:lnTo>
                    <a:pt x="527658" y="482260"/>
                  </a:lnTo>
                  <a:lnTo>
                    <a:pt x="592182" y="483679"/>
                  </a:lnTo>
                  <a:lnTo>
                    <a:pt x="656707" y="482260"/>
                  </a:lnTo>
                  <a:lnTo>
                    <a:pt x="719219" y="478101"/>
                  </a:lnTo>
                  <a:lnTo>
                    <a:pt x="779358" y="471350"/>
                  </a:lnTo>
                  <a:lnTo>
                    <a:pt x="836761" y="462154"/>
                  </a:lnTo>
                  <a:lnTo>
                    <a:pt x="891068" y="450661"/>
                  </a:lnTo>
                  <a:lnTo>
                    <a:pt x="941917" y="437018"/>
                  </a:lnTo>
                  <a:lnTo>
                    <a:pt x="988948" y="421373"/>
                  </a:lnTo>
                  <a:lnTo>
                    <a:pt x="1031798" y="403873"/>
                  </a:lnTo>
                  <a:lnTo>
                    <a:pt x="1070108" y="384667"/>
                  </a:lnTo>
                  <a:lnTo>
                    <a:pt x="1103514" y="363901"/>
                  </a:lnTo>
                  <a:lnTo>
                    <a:pt x="1154175" y="318279"/>
                  </a:lnTo>
                  <a:lnTo>
                    <a:pt x="1180890" y="268190"/>
                  </a:lnTo>
                  <a:lnTo>
                    <a:pt x="1184364" y="241839"/>
                  </a:lnTo>
                  <a:lnTo>
                    <a:pt x="1180890" y="215488"/>
                  </a:lnTo>
                  <a:lnTo>
                    <a:pt x="1154175" y="165399"/>
                  </a:lnTo>
                  <a:lnTo>
                    <a:pt x="1103514" y="119778"/>
                  </a:lnTo>
                  <a:lnTo>
                    <a:pt x="1070108" y="99012"/>
                  </a:lnTo>
                  <a:lnTo>
                    <a:pt x="1031798" y="79805"/>
                  </a:lnTo>
                  <a:lnTo>
                    <a:pt x="988948" y="62305"/>
                  </a:lnTo>
                  <a:lnTo>
                    <a:pt x="941917" y="46660"/>
                  </a:lnTo>
                  <a:lnTo>
                    <a:pt x="891068" y="33018"/>
                  </a:lnTo>
                  <a:lnTo>
                    <a:pt x="836761" y="21525"/>
                  </a:lnTo>
                  <a:lnTo>
                    <a:pt x="779358" y="12329"/>
                  </a:lnTo>
                  <a:lnTo>
                    <a:pt x="719219" y="5577"/>
                  </a:lnTo>
                  <a:lnTo>
                    <a:pt x="656707" y="1419"/>
                  </a:lnTo>
                  <a:lnTo>
                    <a:pt x="59218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1092927" y="2057384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10" h="483869">
                  <a:moveTo>
                    <a:pt x="0" y="241839"/>
                  </a:moveTo>
                  <a:lnTo>
                    <a:pt x="13658" y="189959"/>
                  </a:lnTo>
                  <a:lnTo>
                    <a:pt x="52707" y="141956"/>
                  </a:lnTo>
                  <a:lnTo>
                    <a:pt x="114256" y="99012"/>
                  </a:lnTo>
                  <a:lnTo>
                    <a:pt x="152566" y="79805"/>
                  </a:lnTo>
                  <a:lnTo>
                    <a:pt x="195416" y="62305"/>
                  </a:lnTo>
                  <a:lnTo>
                    <a:pt x="242447" y="46660"/>
                  </a:lnTo>
                  <a:lnTo>
                    <a:pt x="293296" y="33018"/>
                  </a:lnTo>
                  <a:lnTo>
                    <a:pt x="347603" y="21525"/>
                  </a:lnTo>
                  <a:lnTo>
                    <a:pt x="405006" y="12329"/>
                  </a:lnTo>
                  <a:lnTo>
                    <a:pt x="465145" y="5577"/>
                  </a:lnTo>
                  <a:lnTo>
                    <a:pt x="527657" y="1419"/>
                  </a:lnTo>
                  <a:lnTo>
                    <a:pt x="592182" y="0"/>
                  </a:lnTo>
                  <a:lnTo>
                    <a:pt x="656707" y="1419"/>
                  </a:lnTo>
                  <a:lnTo>
                    <a:pt x="719219" y="5577"/>
                  </a:lnTo>
                  <a:lnTo>
                    <a:pt x="779357" y="12329"/>
                  </a:lnTo>
                  <a:lnTo>
                    <a:pt x="836761" y="21525"/>
                  </a:lnTo>
                  <a:lnTo>
                    <a:pt x="891068" y="33018"/>
                  </a:lnTo>
                  <a:lnTo>
                    <a:pt x="941917" y="46660"/>
                  </a:lnTo>
                  <a:lnTo>
                    <a:pt x="988948" y="62305"/>
                  </a:lnTo>
                  <a:lnTo>
                    <a:pt x="1031798" y="79805"/>
                  </a:lnTo>
                  <a:lnTo>
                    <a:pt x="1070107" y="99012"/>
                  </a:lnTo>
                  <a:lnTo>
                    <a:pt x="1103514" y="119778"/>
                  </a:lnTo>
                  <a:lnTo>
                    <a:pt x="1154174" y="165399"/>
                  </a:lnTo>
                  <a:lnTo>
                    <a:pt x="1180889" y="215488"/>
                  </a:lnTo>
                  <a:lnTo>
                    <a:pt x="1184364" y="241839"/>
                  </a:lnTo>
                  <a:lnTo>
                    <a:pt x="1180889" y="268190"/>
                  </a:lnTo>
                  <a:lnTo>
                    <a:pt x="1154174" y="318279"/>
                  </a:lnTo>
                  <a:lnTo>
                    <a:pt x="1103514" y="363900"/>
                  </a:lnTo>
                  <a:lnTo>
                    <a:pt x="1070107" y="384666"/>
                  </a:lnTo>
                  <a:lnTo>
                    <a:pt x="1031798" y="403873"/>
                  </a:lnTo>
                  <a:lnTo>
                    <a:pt x="988948" y="421372"/>
                  </a:lnTo>
                  <a:lnTo>
                    <a:pt x="941917" y="437017"/>
                  </a:lnTo>
                  <a:lnTo>
                    <a:pt x="891068" y="450660"/>
                  </a:lnTo>
                  <a:lnTo>
                    <a:pt x="836761" y="462153"/>
                  </a:lnTo>
                  <a:lnTo>
                    <a:pt x="779357" y="471349"/>
                  </a:lnTo>
                  <a:lnTo>
                    <a:pt x="719219" y="478100"/>
                  </a:lnTo>
                  <a:lnTo>
                    <a:pt x="656707" y="482259"/>
                  </a:lnTo>
                  <a:lnTo>
                    <a:pt x="592182" y="483678"/>
                  </a:lnTo>
                  <a:lnTo>
                    <a:pt x="527657" y="482259"/>
                  </a:lnTo>
                  <a:lnTo>
                    <a:pt x="465145" y="478100"/>
                  </a:lnTo>
                  <a:lnTo>
                    <a:pt x="405006" y="471349"/>
                  </a:lnTo>
                  <a:lnTo>
                    <a:pt x="347603" y="462153"/>
                  </a:lnTo>
                  <a:lnTo>
                    <a:pt x="293296" y="450660"/>
                  </a:lnTo>
                  <a:lnTo>
                    <a:pt x="242447" y="437017"/>
                  </a:lnTo>
                  <a:lnTo>
                    <a:pt x="195416" y="421372"/>
                  </a:lnTo>
                  <a:lnTo>
                    <a:pt x="152566" y="403873"/>
                  </a:lnTo>
                  <a:lnTo>
                    <a:pt x="114256" y="384666"/>
                  </a:lnTo>
                  <a:lnTo>
                    <a:pt x="80850" y="363900"/>
                  </a:lnTo>
                  <a:lnTo>
                    <a:pt x="30189" y="318279"/>
                  </a:lnTo>
                  <a:lnTo>
                    <a:pt x="3474" y="268190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062529" y="1608604"/>
            <a:ext cx="2029946" cy="844924"/>
            <a:chOff x="3857933" y="1823085"/>
            <a:chExt cx="2300605" cy="957580"/>
          </a:xfrm>
        </p:grpSpPr>
        <p:sp>
          <p:nvSpPr>
            <p:cNvPr id="23" name="object 23"/>
            <p:cNvSpPr/>
            <p:nvPr/>
          </p:nvSpPr>
          <p:spPr>
            <a:xfrm>
              <a:off x="3863013" y="2289332"/>
              <a:ext cx="386080" cy="2540"/>
            </a:xfrm>
            <a:custGeom>
              <a:avLst/>
              <a:gdLst/>
              <a:ahLst/>
              <a:cxnLst/>
              <a:rect l="l" t="t" r="r" b="b"/>
              <a:pathLst>
                <a:path w="386079" h="2539">
                  <a:moveTo>
                    <a:pt x="385898" y="0"/>
                  </a:moveTo>
                  <a:lnTo>
                    <a:pt x="0" y="202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5015177" y="1828165"/>
              <a:ext cx="4445" cy="168910"/>
            </a:xfrm>
            <a:custGeom>
              <a:avLst/>
              <a:gdLst/>
              <a:ahLst/>
              <a:cxnLst/>
              <a:rect l="l" t="t" r="r" b="b"/>
              <a:pathLst>
                <a:path w="4445" h="168910">
                  <a:moveTo>
                    <a:pt x="4268" y="168558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248912" y="2289332"/>
              <a:ext cx="0" cy="45085"/>
            </a:xfrm>
            <a:custGeom>
              <a:avLst/>
              <a:gdLst/>
              <a:ahLst/>
              <a:cxnLst/>
              <a:rect l="l" t="t" r="r" b="b"/>
              <a:pathLst>
                <a:path h="45085">
                  <a:moveTo>
                    <a:pt x="0" y="0"/>
                  </a:moveTo>
                  <a:lnTo>
                    <a:pt x="1" y="4472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5789980" y="2289332"/>
              <a:ext cx="363855" cy="2540"/>
            </a:xfrm>
            <a:custGeom>
              <a:avLst/>
              <a:gdLst/>
              <a:ahLst/>
              <a:cxnLst/>
              <a:rect l="l" t="t" r="r" b="b"/>
              <a:pathLst>
                <a:path w="363854" h="2539">
                  <a:moveTo>
                    <a:pt x="363279" y="2025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5018581" y="2581942"/>
              <a:ext cx="1270" cy="193040"/>
            </a:xfrm>
            <a:custGeom>
              <a:avLst/>
              <a:gdLst/>
              <a:ahLst/>
              <a:cxnLst/>
              <a:rect l="l" t="t" r="r" b="b"/>
              <a:pathLst>
                <a:path w="1270" h="193039">
                  <a:moveTo>
                    <a:pt x="0" y="193017"/>
                  </a:moveTo>
                  <a:lnTo>
                    <a:pt x="86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763774" y="1906793"/>
            <a:ext cx="79841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pe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son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473558" y="1795489"/>
            <a:ext cx="1054474" cy="435909"/>
            <a:chOff x="7723766" y="2034888"/>
            <a:chExt cx="1195070" cy="494030"/>
          </a:xfrm>
        </p:grpSpPr>
        <p:sp>
          <p:nvSpPr>
            <p:cNvPr id="30" name="object 30"/>
            <p:cNvSpPr/>
            <p:nvPr/>
          </p:nvSpPr>
          <p:spPr>
            <a:xfrm>
              <a:off x="7728846" y="2039968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09" h="483869">
                  <a:moveTo>
                    <a:pt x="592181" y="0"/>
                  </a:moveTo>
                  <a:lnTo>
                    <a:pt x="527657" y="1419"/>
                  </a:lnTo>
                  <a:lnTo>
                    <a:pt x="465145" y="5577"/>
                  </a:lnTo>
                  <a:lnTo>
                    <a:pt x="405006" y="12329"/>
                  </a:lnTo>
                  <a:lnTo>
                    <a:pt x="347603" y="21525"/>
                  </a:lnTo>
                  <a:lnTo>
                    <a:pt x="293296" y="33018"/>
                  </a:lnTo>
                  <a:lnTo>
                    <a:pt x="242447" y="46660"/>
                  </a:lnTo>
                  <a:lnTo>
                    <a:pt x="195416" y="62305"/>
                  </a:lnTo>
                  <a:lnTo>
                    <a:pt x="152565" y="79805"/>
                  </a:lnTo>
                  <a:lnTo>
                    <a:pt x="114256" y="99011"/>
                  </a:lnTo>
                  <a:lnTo>
                    <a:pt x="80850" y="119778"/>
                  </a:lnTo>
                  <a:lnTo>
                    <a:pt x="30189" y="165398"/>
                  </a:lnTo>
                  <a:lnTo>
                    <a:pt x="3474" y="215487"/>
                  </a:lnTo>
                  <a:lnTo>
                    <a:pt x="0" y="241838"/>
                  </a:lnTo>
                  <a:lnTo>
                    <a:pt x="3474" y="268189"/>
                  </a:lnTo>
                  <a:lnTo>
                    <a:pt x="30189" y="318278"/>
                  </a:lnTo>
                  <a:lnTo>
                    <a:pt x="80850" y="363899"/>
                  </a:lnTo>
                  <a:lnTo>
                    <a:pt x="114256" y="384665"/>
                  </a:lnTo>
                  <a:lnTo>
                    <a:pt x="152565" y="403872"/>
                  </a:lnTo>
                  <a:lnTo>
                    <a:pt x="195416" y="421372"/>
                  </a:lnTo>
                  <a:lnTo>
                    <a:pt x="242447" y="437017"/>
                  </a:lnTo>
                  <a:lnTo>
                    <a:pt x="293296" y="450660"/>
                  </a:lnTo>
                  <a:lnTo>
                    <a:pt x="347603" y="462153"/>
                  </a:lnTo>
                  <a:lnTo>
                    <a:pt x="405006" y="471349"/>
                  </a:lnTo>
                  <a:lnTo>
                    <a:pt x="465145" y="478100"/>
                  </a:lnTo>
                  <a:lnTo>
                    <a:pt x="527657" y="482259"/>
                  </a:lnTo>
                  <a:lnTo>
                    <a:pt x="592181" y="483678"/>
                  </a:lnTo>
                  <a:lnTo>
                    <a:pt x="656706" y="482259"/>
                  </a:lnTo>
                  <a:lnTo>
                    <a:pt x="719218" y="478100"/>
                  </a:lnTo>
                  <a:lnTo>
                    <a:pt x="779357" y="471349"/>
                  </a:lnTo>
                  <a:lnTo>
                    <a:pt x="836760" y="462153"/>
                  </a:lnTo>
                  <a:lnTo>
                    <a:pt x="891067" y="450660"/>
                  </a:lnTo>
                  <a:lnTo>
                    <a:pt x="941916" y="437017"/>
                  </a:lnTo>
                  <a:lnTo>
                    <a:pt x="988947" y="421372"/>
                  </a:lnTo>
                  <a:lnTo>
                    <a:pt x="1031797" y="403872"/>
                  </a:lnTo>
                  <a:lnTo>
                    <a:pt x="1070107" y="384665"/>
                  </a:lnTo>
                  <a:lnTo>
                    <a:pt x="1103513" y="363899"/>
                  </a:lnTo>
                  <a:lnTo>
                    <a:pt x="1154174" y="318278"/>
                  </a:lnTo>
                  <a:lnTo>
                    <a:pt x="1180889" y="268189"/>
                  </a:lnTo>
                  <a:lnTo>
                    <a:pt x="1184363" y="241838"/>
                  </a:lnTo>
                  <a:lnTo>
                    <a:pt x="1180889" y="215487"/>
                  </a:lnTo>
                  <a:lnTo>
                    <a:pt x="1154174" y="165398"/>
                  </a:lnTo>
                  <a:lnTo>
                    <a:pt x="1103513" y="119778"/>
                  </a:lnTo>
                  <a:lnTo>
                    <a:pt x="1070107" y="99011"/>
                  </a:lnTo>
                  <a:lnTo>
                    <a:pt x="1031797" y="79805"/>
                  </a:lnTo>
                  <a:lnTo>
                    <a:pt x="988947" y="62305"/>
                  </a:lnTo>
                  <a:lnTo>
                    <a:pt x="941916" y="46660"/>
                  </a:lnTo>
                  <a:lnTo>
                    <a:pt x="891067" y="33018"/>
                  </a:lnTo>
                  <a:lnTo>
                    <a:pt x="836760" y="21525"/>
                  </a:lnTo>
                  <a:lnTo>
                    <a:pt x="779357" y="12329"/>
                  </a:lnTo>
                  <a:lnTo>
                    <a:pt x="719218" y="5577"/>
                  </a:lnTo>
                  <a:lnTo>
                    <a:pt x="656706" y="1419"/>
                  </a:lnTo>
                  <a:lnTo>
                    <a:pt x="59218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7728846" y="2039968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09" h="483869">
                  <a:moveTo>
                    <a:pt x="0" y="241839"/>
                  </a:moveTo>
                  <a:lnTo>
                    <a:pt x="13658" y="189959"/>
                  </a:lnTo>
                  <a:lnTo>
                    <a:pt x="52707" y="141956"/>
                  </a:lnTo>
                  <a:lnTo>
                    <a:pt x="114256" y="99012"/>
                  </a:lnTo>
                  <a:lnTo>
                    <a:pt x="152566" y="79805"/>
                  </a:lnTo>
                  <a:lnTo>
                    <a:pt x="195416" y="62305"/>
                  </a:lnTo>
                  <a:lnTo>
                    <a:pt x="242447" y="46660"/>
                  </a:lnTo>
                  <a:lnTo>
                    <a:pt x="293296" y="33018"/>
                  </a:lnTo>
                  <a:lnTo>
                    <a:pt x="347603" y="21525"/>
                  </a:lnTo>
                  <a:lnTo>
                    <a:pt x="405006" y="12329"/>
                  </a:lnTo>
                  <a:lnTo>
                    <a:pt x="465145" y="5577"/>
                  </a:lnTo>
                  <a:lnTo>
                    <a:pt x="527657" y="1419"/>
                  </a:lnTo>
                  <a:lnTo>
                    <a:pt x="592182" y="0"/>
                  </a:lnTo>
                  <a:lnTo>
                    <a:pt x="656707" y="1419"/>
                  </a:lnTo>
                  <a:lnTo>
                    <a:pt x="719219" y="5577"/>
                  </a:lnTo>
                  <a:lnTo>
                    <a:pt x="779357" y="12329"/>
                  </a:lnTo>
                  <a:lnTo>
                    <a:pt x="836761" y="21525"/>
                  </a:lnTo>
                  <a:lnTo>
                    <a:pt x="891068" y="33018"/>
                  </a:lnTo>
                  <a:lnTo>
                    <a:pt x="941917" y="46660"/>
                  </a:lnTo>
                  <a:lnTo>
                    <a:pt x="988948" y="62305"/>
                  </a:lnTo>
                  <a:lnTo>
                    <a:pt x="1031798" y="79805"/>
                  </a:lnTo>
                  <a:lnTo>
                    <a:pt x="1070107" y="99012"/>
                  </a:lnTo>
                  <a:lnTo>
                    <a:pt x="1103514" y="119778"/>
                  </a:lnTo>
                  <a:lnTo>
                    <a:pt x="1154174" y="165399"/>
                  </a:lnTo>
                  <a:lnTo>
                    <a:pt x="1180889" y="215488"/>
                  </a:lnTo>
                  <a:lnTo>
                    <a:pt x="1184364" y="241839"/>
                  </a:lnTo>
                  <a:lnTo>
                    <a:pt x="1180889" y="268190"/>
                  </a:lnTo>
                  <a:lnTo>
                    <a:pt x="1154174" y="318279"/>
                  </a:lnTo>
                  <a:lnTo>
                    <a:pt x="1103514" y="363900"/>
                  </a:lnTo>
                  <a:lnTo>
                    <a:pt x="1070107" y="384666"/>
                  </a:lnTo>
                  <a:lnTo>
                    <a:pt x="1031798" y="403873"/>
                  </a:lnTo>
                  <a:lnTo>
                    <a:pt x="988948" y="421372"/>
                  </a:lnTo>
                  <a:lnTo>
                    <a:pt x="941917" y="437017"/>
                  </a:lnTo>
                  <a:lnTo>
                    <a:pt x="891068" y="450660"/>
                  </a:lnTo>
                  <a:lnTo>
                    <a:pt x="836761" y="462153"/>
                  </a:lnTo>
                  <a:lnTo>
                    <a:pt x="779357" y="471349"/>
                  </a:lnTo>
                  <a:lnTo>
                    <a:pt x="719219" y="478100"/>
                  </a:lnTo>
                  <a:lnTo>
                    <a:pt x="656707" y="482259"/>
                  </a:lnTo>
                  <a:lnTo>
                    <a:pt x="592182" y="483678"/>
                  </a:lnTo>
                  <a:lnTo>
                    <a:pt x="527657" y="482259"/>
                  </a:lnTo>
                  <a:lnTo>
                    <a:pt x="465145" y="478100"/>
                  </a:lnTo>
                  <a:lnTo>
                    <a:pt x="405006" y="471349"/>
                  </a:lnTo>
                  <a:lnTo>
                    <a:pt x="347603" y="462153"/>
                  </a:lnTo>
                  <a:lnTo>
                    <a:pt x="293296" y="450660"/>
                  </a:lnTo>
                  <a:lnTo>
                    <a:pt x="242447" y="437017"/>
                  </a:lnTo>
                  <a:lnTo>
                    <a:pt x="195416" y="421372"/>
                  </a:lnTo>
                  <a:lnTo>
                    <a:pt x="152566" y="403873"/>
                  </a:lnTo>
                  <a:lnTo>
                    <a:pt x="114256" y="384666"/>
                  </a:lnTo>
                  <a:lnTo>
                    <a:pt x="80850" y="363900"/>
                  </a:lnTo>
                  <a:lnTo>
                    <a:pt x="30189" y="318279"/>
                  </a:lnTo>
                  <a:lnTo>
                    <a:pt x="3474" y="268190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879721" y="1893345"/>
            <a:ext cx="27678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00452" y="1893345"/>
            <a:ext cx="42582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buys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131326" y="2013359"/>
            <a:ext cx="346822" cy="8965"/>
          </a:xfrm>
          <a:custGeom>
            <a:avLst/>
            <a:gdLst/>
            <a:ahLst/>
            <a:cxnLst/>
            <a:rect l="l" t="t" r="r" b="b"/>
            <a:pathLst>
              <a:path w="393065" h="10160">
                <a:moveTo>
                  <a:pt x="392943" y="0"/>
                </a:moveTo>
                <a:lnTo>
                  <a:pt x="0" y="9550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35" name="object 35"/>
          <p:cNvGrpSpPr/>
          <p:nvPr/>
        </p:nvGrpSpPr>
        <p:grpSpPr>
          <a:xfrm>
            <a:off x="7018719" y="2425568"/>
            <a:ext cx="1054474" cy="435909"/>
            <a:chOff x="6074949" y="2748977"/>
            <a:chExt cx="1195070" cy="494030"/>
          </a:xfrm>
        </p:grpSpPr>
        <p:sp>
          <p:nvSpPr>
            <p:cNvPr id="36" name="object 36"/>
            <p:cNvSpPr/>
            <p:nvPr/>
          </p:nvSpPr>
          <p:spPr>
            <a:xfrm>
              <a:off x="6080029" y="2754057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09" h="483869">
                  <a:moveTo>
                    <a:pt x="592181" y="0"/>
                  </a:moveTo>
                  <a:lnTo>
                    <a:pt x="527657" y="1419"/>
                  </a:lnTo>
                  <a:lnTo>
                    <a:pt x="465145" y="5577"/>
                  </a:lnTo>
                  <a:lnTo>
                    <a:pt x="405006" y="12329"/>
                  </a:lnTo>
                  <a:lnTo>
                    <a:pt x="347603" y="21525"/>
                  </a:lnTo>
                  <a:lnTo>
                    <a:pt x="293296" y="33018"/>
                  </a:lnTo>
                  <a:lnTo>
                    <a:pt x="242447" y="46660"/>
                  </a:lnTo>
                  <a:lnTo>
                    <a:pt x="195416" y="62305"/>
                  </a:lnTo>
                  <a:lnTo>
                    <a:pt x="152565" y="79805"/>
                  </a:lnTo>
                  <a:lnTo>
                    <a:pt x="114256" y="99012"/>
                  </a:lnTo>
                  <a:lnTo>
                    <a:pt x="80850" y="119778"/>
                  </a:lnTo>
                  <a:lnTo>
                    <a:pt x="30189" y="165399"/>
                  </a:lnTo>
                  <a:lnTo>
                    <a:pt x="3474" y="215488"/>
                  </a:lnTo>
                  <a:lnTo>
                    <a:pt x="0" y="241839"/>
                  </a:lnTo>
                  <a:lnTo>
                    <a:pt x="3474" y="268190"/>
                  </a:lnTo>
                  <a:lnTo>
                    <a:pt x="30189" y="318279"/>
                  </a:lnTo>
                  <a:lnTo>
                    <a:pt x="80850" y="363900"/>
                  </a:lnTo>
                  <a:lnTo>
                    <a:pt x="114256" y="384666"/>
                  </a:lnTo>
                  <a:lnTo>
                    <a:pt x="152565" y="403872"/>
                  </a:lnTo>
                  <a:lnTo>
                    <a:pt x="195416" y="421372"/>
                  </a:lnTo>
                  <a:lnTo>
                    <a:pt x="242447" y="437017"/>
                  </a:lnTo>
                  <a:lnTo>
                    <a:pt x="293296" y="450660"/>
                  </a:lnTo>
                  <a:lnTo>
                    <a:pt x="347603" y="462153"/>
                  </a:lnTo>
                  <a:lnTo>
                    <a:pt x="405006" y="471349"/>
                  </a:lnTo>
                  <a:lnTo>
                    <a:pt x="465145" y="478100"/>
                  </a:lnTo>
                  <a:lnTo>
                    <a:pt x="527657" y="482259"/>
                  </a:lnTo>
                  <a:lnTo>
                    <a:pt x="592181" y="483678"/>
                  </a:lnTo>
                  <a:lnTo>
                    <a:pt x="656706" y="482259"/>
                  </a:lnTo>
                  <a:lnTo>
                    <a:pt x="719219" y="478100"/>
                  </a:lnTo>
                  <a:lnTo>
                    <a:pt x="779357" y="471349"/>
                  </a:lnTo>
                  <a:lnTo>
                    <a:pt x="836761" y="462153"/>
                  </a:lnTo>
                  <a:lnTo>
                    <a:pt x="891068" y="450660"/>
                  </a:lnTo>
                  <a:lnTo>
                    <a:pt x="941917" y="437017"/>
                  </a:lnTo>
                  <a:lnTo>
                    <a:pt x="988948" y="421372"/>
                  </a:lnTo>
                  <a:lnTo>
                    <a:pt x="1031799" y="403872"/>
                  </a:lnTo>
                  <a:lnTo>
                    <a:pt x="1070108" y="384666"/>
                  </a:lnTo>
                  <a:lnTo>
                    <a:pt x="1103514" y="363900"/>
                  </a:lnTo>
                  <a:lnTo>
                    <a:pt x="1154175" y="318279"/>
                  </a:lnTo>
                  <a:lnTo>
                    <a:pt x="1180890" y="268190"/>
                  </a:lnTo>
                  <a:lnTo>
                    <a:pt x="1184365" y="241839"/>
                  </a:lnTo>
                  <a:lnTo>
                    <a:pt x="1180890" y="215488"/>
                  </a:lnTo>
                  <a:lnTo>
                    <a:pt x="1154175" y="165399"/>
                  </a:lnTo>
                  <a:lnTo>
                    <a:pt x="1103514" y="119778"/>
                  </a:lnTo>
                  <a:lnTo>
                    <a:pt x="1070108" y="99012"/>
                  </a:lnTo>
                  <a:lnTo>
                    <a:pt x="1031799" y="79805"/>
                  </a:lnTo>
                  <a:lnTo>
                    <a:pt x="988948" y="62305"/>
                  </a:lnTo>
                  <a:lnTo>
                    <a:pt x="941917" y="46660"/>
                  </a:lnTo>
                  <a:lnTo>
                    <a:pt x="891068" y="33018"/>
                  </a:lnTo>
                  <a:lnTo>
                    <a:pt x="836761" y="21525"/>
                  </a:lnTo>
                  <a:lnTo>
                    <a:pt x="779357" y="12329"/>
                  </a:lnTo>
                  <a:lnTo>
                    <a:pt x="719219" y="5577"/>
                  </a:lnTo>
                  <a:lnTo>
                    <a:pt x="656706" y="1419"/>
                  </a:lnTo>
                  <a:lnTo>
                    <a:pt x="59218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6080029" y="2754057"/>
              <a:ext cx="1184910" cy="483870"/>
            </a:xfrm>
            <a:custGeom>
              <a:avLst/>
              <a:gdLst/>
              <a:ahLst/>
              <a:cxnLst/>
              <a:rect l="l" t="t" r="r" b="b"/>
              <a:pathLst>
                <a:path w="1184909" h="483869">
                  <a:moveTo>
                    <a:pt x="0" y="241839"/>
                  </a:moveTo>
                  <a:lnTo>
                    <a:pt x="13658" y="189959"/>
                  </a:lnTo>
                  <a:lnTo>
                    <a:pt x="52707" y="141956"/>
                  </a:lnTo>
                  <a:lnTo>
                    <a:pt x="114256" y="99012"/>
                  </a:lnTo>
                  <a:lnTo>
                    <a:pt x="152566" y="79805"/>
                  </a:lnTo>
                  <a:lnTo>
                    <a:pt x="195416" y="62305"/>
                  </a:lnTo>
                  <a:lnTo>
                    <a:pt x="242447" y="46660"/>
                  </a:lnTo>
                  <a:lnTo>
                    <a:pt x="293296" y="33018"/>
                  </a:lnTo>
                  <a:lnTo>
                    <a:pt x="347603" y="21525"/>
                  </a:lnTo>
                  <a:lnTo>
                    <a:pt x="405006" y="12329"/>
                  </a:lnTo>
                  <a:lnTo>
                    <a:pt x="465145" y="5577"/>
                  </a:lnTo>
                  <a:lnTo>
                    <a:pt x="527657" y="1419"/>
                  </a:lnTo>
                  <a:lnTo>
                    <a:pt x="592182" y="0"/>
                  </a:lnTo>
                  <a:lnTo>
                    <a:pt x="656707" y="1419"/>
                  </a:lnTo>
                  <a:lnTo>
                    <a:pt x="719219" y="5577"/>
                  </a:lnTo>
                  <a:lnTo>
                    <a:pt x="779357" y="12329"/>
                  </a:lnTo>
                  <a:lnTo>
                    <a:pt x="836761" y="21525"/>
                  </a:lnTo>
                  <a:lnTo>
                    <a:pt x="891068" y="33018"/>
                  </a:lnTo>
                  <a:lnTo>
                    <a:pt x="941917" y="46660"/>
                  </a:lnTo>
                  <a:lnTo>
                    <a:pt x="988948" y="62305"/>
                  </a:lnTo>
                  <a:lnTo>
                    <a:pt x="1031798" y="79805"/>
                  </a:lnTo>
                  <a:lnTo>
                    <a:pt x="1070107" y="99012"/>
                  </a:lnTo>
                  <a:lnTo>
                    <a:pt x="1103514" y="119778"/>
                  </a:lnTo>
                  <a:lnTo>
                    <a:pt x="1154174" y="165399"/>
                  </a:lnTo>
                  <a:lnTo>
                    <a:pt x="1180889" y="215488"/>
                  </a:lnTo>
                  <a:lnTo>
                    <a:pt x="1184364" y="241839"/>
                  </a:lnTo>
                  <a:lnTo>
                    <a:pt x="1180889" y="268190"/>
                  </a:lnTo>
                  <a:lnTo>
                    <a:pt x="1154174" y="318279"/>
                  </a:lnTo>
                  <a:lnTo>
                    <a:pt x="1103514" y="363900"/>
                  </a:lnTo>
                  <a:lnTo>
                    <a:pt x="1070107" y="384666"/>
                  </a:lnTo>
                  <a:lnTo>
                    <a:pt x="1031798" y="403873"/>
                  </a:lnTo>
                  <a:lnTo>
                    <a:pt x="988948" y="421372"/>
                  </a:lnTo>
                  <a:lnTo>
                    <a:pt x="941917" y="437017"/>
                  </a:lnTo>
                  <a:lnTo>
                    <a:pt x="891068" y="450660"/>
                  </a:lnTo>
                  <a:lnTo>
                    <a:pt x="836761" y="462153"/>
                  </a:lnTo>
                  <a:lnTo>
                    <a:pt x="779357" y="471349"/>
                  </a:lnTo>
                  <a:lnTo>
                    <a:pt x="719219" y="478100"/>
                  </a:lnTo>
                  <a:lnTo>
                    <a:pt x="656707" y="482259"/>
                  </a:lnTo>
                  <a:lnTo>
                    <a:pt x="592182" y="483678"/>
                  </a:lnTo>
                  <a:lnTo>
                    <a:pt x="527657" y="482259"/>
                  </a:lnTo>
                  <a:lnTo>
                    <a:pt x="465145" y="478100"/>
                  </a:lnTo>
                  <a:lnTo>
                    <a:pt x="405006" y="471349"/>
                  </a:lnTo>
                  <a:lnTo>
                    <a:pt x="347603" y="462153"/>
                  </a:lnTo>
                  <a:lnTo>
                    <a:pt x="293296" y="450660"/>
                  </a:lnTo>
                  <a:lnTo>
                    <a:pt x="242447" y="437017"/>
                  </a:lnTo>
                  <a:lnTo>
                    <a:pt x="195416" y="421372"/>
                  </a:lnTo>
                  <a:lnTo>
                    <a:pt x="152566" y="403873"/>
                  </a:lnTo>
                  <a:lnTo>
                    <a:pt x="114256" y="384666"/>
                  </a:lnTo>
                  <a:lnTo>
                    <a:pt x="80850" y="363900"/>
                  </a:lnTo>
                  <a:lnTo>
                    <a:pt x="30189" y="318279"/>
                  </a:lnTo>
                  <a:lnTo>
                    <a:pt x="3474" y="268190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265012" y="2522667"/>
            <a:ext cx="5961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cna</a:t>
            </a:r>
            <a:r>
              <a:rPr sz="1500" spc="9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608384" y="2704912"/>
            <a:ext cx="415177" cy="3362"/>
          </a:xfrm>
          <a:custGeom>
            <a:avLst/>
            <a:gdLst/>
            <a:ahLst/>
            <a:cxnLst/>
            <a:rect l="l" t="t" r="r" b="b"/>
            <a:pathLst>
              <a:path w="470535" h="3810">
                <a:moveTo>
                  <a:pt x="470126" y="0"/>
                </a:moveTo>
                <a:lnTo>
                  <a:pt x="0" y="3395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0" name="object 40"/>
          <p:cNvSpPr/>
          <p:nvPr/>
        </p:nvSpPr>
        <p:spPr>
          <a:xfrm>
            <a:off x="3667847" y="2021787"/>
            <a:ext cx="355787" cy="7284"/>
          </a:xfrm>
          <a:custGeom>
            <a:avLst/>
            <a:gdLst/>
            <a:ahLst/>
            <a:cxnLst/>
            <a:rect l="l" t="t" r="r" b="b"/>
            <a:pathLst>
              <a:path w="403225" h="8255">
                <a:moveTo>
                  <a:pt x="403077" y="0"/>
                </a:moveTo>
                <a:lnTo>
                  <a:pt x="0" y="7866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323" y="238494"/>
            <a:ext cx="7666504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62" dirty="0"/>
              <a:t>CREATE</a:t>
            </a:r>
            <a:r>
              <a:rPr spc="-163" dirty="0"/>
              <a:t> </a:t>
            </a:r>
            <a:r>
              <a:rPr spc="-57" dirty="0"/>
              <a:t>TABLE</a:t>
            </a:r>
            <a:r>
              <a:rPr spc="-163" dirty="0"/>
              <a:t> </a:t>
            </a:r>
            <a:r>
              <a:rPr spc="-57" dirty="0"/>
              <a:t>(Weak</a:t>
            </a:r>
            <a:r>
              <a:rPr spc="-168" dirty="0"/>
              <a:t> </a:t>
            </a:r>
            <a:r>
              <a:rPr spc="-71" dirty="0"/>
              <a:t>Entity</a:t>
            </a:r>
            <a:r>
              <a:rPr spc="-172" dirty="0"/>
              <a:t> </a:t>
            </a:r>
            <a:r>
              <a:rPr spc="-57" dirty="0"/>
              <a:t>Set)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6541" y="4081183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7154" y="4081182"/>
            <a:ext cx="5416363" cy="534472"/>
          </a:xfrm>
          <a:prstGeom prst="rect">
            <a:avLst/>
          </a:prstGeom>
        </p:spPr>
        <p:txBody>
          <a:bodyPr vert="horz" wrap="square" lIns="0" tIns="39781" rIns="0" bIns="0" rtlCol="0">
            <a:spAutoFit/>
          </a:bodyPr>
          <a:lstStyle/>
          <a:p>
            <a:pPr marL="11206" marR="4483" indent="90772">
              <a:lnSpc>
                <a:spcPts val="1924"/>
              </a:lnSpc>
              <a:spcBef>
                <a:spcPts val="313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course(c_number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1765" spc="-104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(c_number)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6542" y="4729331"/>
            <a:ext cx="7545481" cy="802644"/>
          </a:xfrm>
          <a:prstGeom prst="rect">
            <a:avLst/>
          </a:prstGeom>
        </p:spPr>
        <p:txBody>
          <a:bodyPr vert="horz" wrap="square" lIns="0" tIns="29134" rIns="0" bIns="0" rtlCol="0">
            <a:spAutoFit/>
          </a:bodyPr>
          <a:lstStyle/>
          <a:p>
            <a:pPr marL="871864" marR="4483" indent="-860658">
              <a:lnSpc>
                <a:spcPts val="2030"/>
              </a:lnSpc>
              <a:spcBef>
                <a:spcPts val="229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homework(hw_number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VARCHAR(10),</a:t>
            </a:r>
            <a:r>
              <a:rPr sz="1765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..., 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c_number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VARCHAR(10)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REFERENCES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course(c_number), </a:t>
            </a:r>
            <a:r>
              <a:rPr sz="1765" spc="-104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(c_number,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hw_number)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);</a:t>
            </a:r>
            <a:endParaRPr sz="1765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84704" y="2183117"/>
            <a:ext cx="1790700" cy="474569"/>
            <a:chOff x="2069731" y="2474199"/>
            <a:chExt cx="2029460" cy="537845"/>
          </a:xfrm>
        </p:grpSpPr>
        <p:sp>
          <p:nvSpPr>
            <p:cNvPr id="7" name="object 7"/>
            <p:cNvSpPr/>
            <p:nvPr/>
          </p:nvSpPr>
          <p:spPr>
            <a:xfrm>
              <a:off x="3391547" y="2704713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3391547" y="2782070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2074811" y="2479279"/>
              <a:ext cx="1316990" cy="527685"/>
            </a:xfrm>
            <a:custGeom>
              <a:avLst/>
              <a:gdLst/>
              <a:ahLst/>
              <a:cxnLst/>
              <a:rect l="l" t="t" r="r" b="b"/>
              <a:pathLst>
                <a:path w="1316989" h="527685">
                  <a:moveTo>
                    <a:pt x="0" y="0"/>
                  </a:moveTo>
                  <a:lnTo>
                    <a:pt x="1316735" y="0"/>
                  </a:lnTo>
                  <a:lnTo>
                    <a:pt x="1316735" y="527382"/>
                  </a:lnTo>
                  <a:lnTo>
                    <a:pt x="0" y="52738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51068" y="2234651"/>
            <a:ext cx="1048310" cy="302119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70597" rIns="0" bIns="0" rtlCol="0">
            <a:spAutoFit/>
          </a:bodyPr>
          <a:lstStyle/>
          <a:p>
            <a:pPr marL="82928">
              <a:spcBef>
                <a:spcPts val="556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homework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31139" y="2361763"/>
            <a:ext cx="557493" cy="94129"/>
          </a:xfrm>
          <a:custGeom>
            <a:avLst/>
            <a:gdLst/>
            <a:ahLst/>
            <a:cxnLst/>
            <a:rect l="l" t="t" r="r" b="b"/>
            <a:pathLst>
              <a:path w="631825" h="106680">
                <a:moveTo>
                  <a:pt x="622908" y="46673"/>
                </a:moveTo>
                <a:lnTo>
                  <a:pt x="621492" y="46673"/>
                </a:lnTo>
                <a:lnTo>
                  <a:pt x="621675" y="56832"/>
                </a:lnTo>
                <a:lnTo>
                  <a:pt x="602885" y="57169"/>
                </a:lnTo>
                <a:lnTo>
                  <a:pt x="536129" y="97729"/>
                </a:lnTo>
                <a:lnTo>
                  <a:pt x="535365" y="100854"/>
                </a:lnTo>
                <a:lnTo>
                  <a:pt x="538279" y="105650"/>
                </a:lnTo>
                <a:lnTo>
                  <a:pt x="541404" y="106412"/>
                </a:lnTo>
                <a:lnTo>
                  <a:pt x="631662" y="51572"/>
                </a:lnTo>
                <a:lnTo>
                  <a:pt x="622908" y="46673"/>
                </a:lnTo>
                <a:close/>
              </a:path>
              <a:path w="631825" h="106680">
                <a:moveTo>
                  <a:pt x="602704" y="47010"/>
                </a:moveTo>
                <a:lnTo>
                  <a:pt x="0" y="57804"/>
                </a:lnTo>
                <a:lnTo>
                  <a:pt x="182" y="67962"/>
                </a:lnTo>
                <a:lnTo>
                  <a:pt x="602885" y="57169"/>
                </a:lnTo>
                <a:lnTo>
                  <a:pt x="611502" y="51933"/>
                </a:lnTo>
                <a:lnTo>
                  <a:pt x="602704" y="47010"/>
                </a:lnTo>
                <a:close/>
              </a:path>
              <a:path w="631825" h="106680">
                <a:moveTo>
                  <a:pt x="611502" y="51933"/>
                </a:moveTo>
                <a:lnTo>
                  <a:pt x="602885" y="57169"/>
                </a:lnTo>
                <a:lnTo>
                  <a:pt x="621675" y="56832"/>
                </a:lnTo>
                <a:lnTo>
                  <a:pt x="621663" y="56186"/>
                </a:lnTo>
                <a:lnTo>
                  <a:pt x="619102" y="56186"/>
                </a:lnTo>
                <a:lnTo>
                  <a:pt x="611502" y="51933"/>
                </a:lnTo>
                <a:close/>
              </a:path>
              <a:path w="631825" h="106680">
                <a:moveTo>
                  <a:pt x="618944" y="47411"/>
                </a:moveTo>
                <a:lnTo>
                  <a:pt x="611502" y="51933"/>
                </a:lnTo>
                <a:lnTo>
                  <a:pt x="619102" y="56186"/>
                </a:lnTo>
                <a:lnTo>
                  <a:pt x="618944" y="47411"/>
                </a:lnTo>
                <a:close/>
              </a:path>
              <a:path w="631825" h="106680">
                <a:moveTo>
                  <a:pt x="621505" y="47411"/>
                </a:moveTo>
                <a:lnTo>
                  <a:pt x="618944" y="47411"/>
                </a:lnTo>
                <a:lnTo>
                  <a:pt x="619102" y="56186"/>
                </a:lnTo>
                <a:lnTo>
                  <a:pt x="621663" y="56186"/>
                </a:lnTo>
                <a:lnTo>
                  <a:pt x="621505" y="47411"/>
                </a:lnTo>
                <a:close/>
              </a:path>
              <a:path w="631825" h="106680">
                <a:moveTo>
                  <a:pt x="621492" y="46673"/>
                </a:moveTo>
                <a:lnTo>
                  <a:pt x="602704" y="47010"/>
                </a:lnTo>
                <a:lnTo>
                  <a:pt x="611502" y="51933"/>
                </a:lnTo>
                <a:lnTo>
                  <a:pt x="618944" y="47411"/>
                </a:lnTo>
                <a:lnTo>
                  <a:pt x="621505" y="47411"/>
                </a:lnTo>
                <a:lnTo>
                  <a:pt x="621492" y="46673"/>
                </a:lnTo>
                <a:close/>
              </a:path>
              <a:path w="631825" h="106680">
                <a:moveTo>
                  <a:pt x="539498" y="0"/>
                </a:moveTo>
                <a:lnTo>
                  <a:pt x="536403" y="873"/>
                </a:lnTo>
                <a:lnTo>
                  <a:pt x="533662" y="5770"/>
                </a:lnTo>
                <a:lnTo>
                  <a:pt x="534537" y="8865"/>
                </a:lnTo>
                <a:lnTo>
                  <a:pt x="602704" y="47010"/>
                </a:lnTo>
                <a:lnTo>
                  <a:pt x="621492" y="46673"/>
                </a:lnTo>
                <a:lnTo>
                  <a:pt x="622908" y="46673"/>
                </a:lnTo>
                <a:lnTo>
                  <a:pt x="539498" y="0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 txBox="1"/>
          <p:nvPr/>
        </p:nvSpPr>
        <p:spPr>
          <a:xfrm>
            <a:off x="7588468" y="2221449"/>
            <a:ext cx="1048310" cy="301553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70037" rIns="0" bIns="0" rtlCol="0">
            <a:spAutoFit/>
          </a:bodyPr>
          <a:lstStyle/>
          <a:p>
            <a:pPr marL="237017">
              <a:spcBef>
                <a:spcPts val="552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course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06723" y="2045984"/>
            <a:ext cx="1824878" cy="742950"/>
          </a:xfrm>
          <a:custGeom>
            <a:avLst/>
            <a:gdLst/>
            <a:ahLst/>
            <a:cxnLst/>
            <a:rect l="l" t="t" r="r" b="b"/>
            <a:pathLst>
              <a:path w="2068195" h="842010">
                <a:moveTo>
                  <a:pt x="0" y="420765"/>
                </a:moveTo>
                <a:lnTo>
                  <a:pt x="1033881" y="0"/>
                </a:lnTo>
                <a:lnTo>
                  <a:pt x="2067763" y="420765"/>
                </a:lnTo>
                <a:lnTo>
                  <a:pt x="1033881" y="841531"/>
                </a:lnTo>
                <a:lnTo>
                  <a:pt x="0" y="420765"/>
                </a:lnTo>
                <a:close/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14" name="object 14"/>
          <p:cNvGrpSpPr/>
          <p:nvPr/>
        </p:nvGrpSpPr>
        <p:grpSpPr>
          <a:xfrm>
            <a:off x="5380074" y="2116844"/>
            <a:ext cx="1489262" cy="607919"/>
            <a:chOff x="4217817" y="2399089"/>
            <a:chExt cx="1687830" cy="688975"/>
          </a:xfrm>
        </p:grpSpPr>
        <p:sp>
          <p:nvSpPr>
            <p:cNvPr id="15" name="object 15"/>
            <p:cNvSpPr/>
            <p:nvPr/>
          </p:nvSpPr>
          <p:spPr>
            <a:xfrm>
              <a:off x="4222897" y="240416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2897" y="240416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24742" y="2288688"/>
            <a:ext cx="43646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have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309054" y="1420642"/>
            <a:ext cx="993962" cy="435909"/>
            <a:chOff x="7537328" y="1610061"/>
            <a:chExt cx="1126490" cy="494030"/>
          </a:xfrm>
        </p:grpSpPr>
        <p:sp>
          <p:nvSpPr>
            <p:cNvPr id="19" name="object 19"/>
            <p:cNvSpPr/>
            <p:nvPr/>
          </p:nvSpPr>
          <p:spPr>
            <a:xfrm>
              <a:off x="7542408" y="1615141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557888" y="0"/>
                  </a:moveTo>
                  <a:lnTo>
                    <a:pt x="492826" y="1627"/>
                  </a:lnTo>
                  <a:lnTo>
                    <a:pt x="429969" y="6387"/>
                  </a:lnTo>
                  <a:lnTo>
                    <a:pt x="369735" y="14098"/>
                  </a:lnTo>
                  <a:lnTo>
                    <a:pt x="312543" y="24580"/>
                  </a:lnTo>
                  <a:lnTo>
                    <a:pt x="258811" y="37651"/>
                  </a:lnTo>
                  <a:lnTo>
                    <a:pt x="208957" y="53129"/>
                  </a:lnTo>
                  <a:lnTo>
                    <a:pt x="163402" y="70833"/>
                  </a:lnTo>
                  <a:lnTo>
                    <a:pt x="122562" y="90581"/>
                  </a:lnTo>
                  <a:lnTo>
                    <a:pt x="86856" y="112192"/>
                  </a:lnTo>
                  <a:lnTo>
                    <a:pt x="56704" y="135484"/>
                  </a:lnTo>
                  <a:lnTo>
                    <a:pt x="14734" y="186388"/>
                  </a:lnTo>
                  <a:lnTo>
                    <a:pt x="0" y="241839"/>
                  </a:lnTo>
                  <a:lnTo>
                    <a:pt x="3753" y="270043"/>
                  </a:lnTo>
                  <a:lnTo>
                    <a:pt x="32524" y="323402"/>
                  </a:lnTo>
                  <a:lnTo>
                    <a:pt x="86856" y="371487"/>
                  </a:lnTo>
                  <a:lnTo>
                    <a:pt x="122562" y="393098"/>
                  </a:lnTo>
                  <a:lnTo>
                    <a:pt x="163402" y="412846"/>
                  </a:lnTo>
                  <a:lnTo>
                    <a:pt x="208957" y="430550"/>
                  </a:lnTo>
                  <a:lnTo>
                    <a:pt x="258811" y="446028"/>
                  </a:lnTo>
                  <a:lnTo>
                    <a:pt x="312543" y="459098"/>
                  </a:lnTo>
                  <a:lnTo>
                    <a:pt x="369735" y="469580"/>
                  </a:lnTo>
                  <a:lnTo>
                    <a:pt x="429969" y="477292"/>
                  </a:lnTo>
                  <a:lnTo>
                    <a:pt x="492826" y="482052"/>
                  </a:lnTo>
                  <a:lnTo>
                    <a:pt x="557888" y="483679"/>
                  </a:lnTo>
                  <a:lnTo>
                    <a:pt x="622949" y="482052"/>
                  </a:lnTo>
                  <a:lnTo>
                    <a:pt x="685806" y="477292"/>
                  </a:lnTo>
                  <a:lnTo>
                    <a:pt x="746041" y="469580"/>
                  </a:lnTo>
                  <a:lnTo>
                    <a:pt x="803233" y="459098"/>
                  </a:lnTo>
                  <a:lnTo>
                    <a:pt x="856965" y="446028"/>
                  </a:lnTo>
                  <a:lnTo>
                    <a:pt x="906819" y="430550"/>
                  </a:lnTo>
                  <a:lnTo>
                    <a:pt x="952375" y="412846"/>
                  </a:lnTo>
                  <a:lnTo>
                    <a:pt x="993215" y="393098"/>
                  </a:lnTo>
                  <a:lnTo>
                    <a:pt x="1028920" y="371487"/>
                  </a:lnTo>
                  <a:lnTo>
                    <a:pt x="1059072" y="348194"/>
                  </a:lnTo>
                  <a:lnTo>
                    <a:pt x="1101043" y="297291"/>
                  </a:lnTo>
                  <a:lnTo>
                    <a:pt x="1115777" y="241839"/>
                  </a:lnTo>
                  <a:lnTo>
                    <a:pt x="1112024" y="213636"/>
                  </a:lnTo>
                  <a:lnTo>
                    <a:pt x="1083253" y="160277"/>
                  </a:lnTo>
                  <a:lnTo>
                    <a:pt x="1028920" y="112192"/>
                  </a:lnTo>
                  <a:lnTo>
                    <a:pt x="993215" y="90581"/>
                  </a:lnTo>
                  <a:lnTo>
                    <a:pt x="952375" y="70833"/>
                  </a:lnTo>
                  <a:lnTo>
                    <a:pt x="906819" y="53129"/>
                  </a:lnTo>
                  <a:lnTo>
                    <a:pt x="856965" y="37651"/>
                  </a:lnTo>
                  <a:lnTo>
                    <a:pt x="803233" y="24580"/>
                  </a:lnTo>
                  <a:lnTo>
                    <a:pt x="746041" y="14098"/>
                  </a:lnTo>
                  <a:lnTo>
                    <a:pt x="685806" y="6387"/>
                  </a:lnTo>
                  <a:lnTo>
                    <a:pt x="622949" y="1627"/>
                  </a:lnTo>
                  <a:lnTo>
                    <a:pt x="55788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7542408" y="1615141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393306" y="1522206"/>
            <a:ext cx="872377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c_nu</a:t>
            </a:r>
            <a:r>
              <a:rPr sz="1500" u="sng" spc="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m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ber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108181" y="1989258"/>
            <a:ext cx="993962" cy="435909"/>
            <a:chOff x="8443005" y="2254493"/>
            <a:chExt cx="1126490" cy="494030"/>
          </a:xfrm>
        </p:grpSpPr>
        <p:sp>
          <p:nvSpPr>
            <p:cNvPr id="23" name="object 23"/>
            <p:cNvSpPr/>
            <p:nvPr/>
          </p:nvSpPr>
          <p:spPr>
            <a:xfrm>
              <a:off x="8448085" y="2259573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557889" y="0"/>
                  </a:moveTo>
                  <a:lnTo>
                    <a:pt x="492827" y="1627"/>
                  </a:lnTo>
                  <a:lnTo>
                    <a:pt x="429970" y="6387"/>
                  </a:lnTo>
                  <a:lnTo>
                    <a:pt x="369736" y="14098"/>
                  </a:lnTo>
                  <a:lnTo>
                    <a:pt x="312543" y="24580"/>
                  </a:lnTo>
                  <a:lnTo>
                    <a:pt x="258811" y="37651"/>
                  </a:lnTo>
                  <a:lnTo>
                    <a:pt x="208958" y="53129"/>
                  </a:lnTo>
                  <a:lnTo>
                    <a:pt x="163402" y="70833"/>
                  </a:lnTo>
                  <a:lnTo>
                    <a:pt x="122562" y="90581"/>
                  </a:lnTo>
                  <a:lnTo>
                    <a:pt x="86856" y="112192"/>
                  </a:lnTo>
                  <a:lnTo>
                    <a:pt x="56704" y="135484"/>
                  </a:lnTo>
                  <a:lnTo>
                    <a:pt x="14734" y="186388"/>
                  </a:lnTo>
                  <a:lnTo>
                    <a:pt x="0" y="241839"/>
                  </a:lnTo>
                  <a:lnTo>
                    <a:pt x="3753" y="270043"/>
                  </a:lnTo>
                  <a:lnTo>
                    <a:pt x="32524" y="323402"/>
                  </a:lnTo>
                  <a:lnTo>
                    <a:pt x="86856" y="371487"/>
                  </a:lnTo>
                  <a:lnTo>
                    <a:pt x="122562" y="393098"/>
                  </a:lnTo>
                  <a:lnTo>
                    <a:pt x="163402" y="412846"/>
                  </a:lnTo>
                  <a:lnTo>
                    <a:pt x="208958" y="430550"/>
                  </a:lnTo>
                  <a:lnTo>
                    <a:pt x="258811" y="446028"/>
                  </a:lnTo>
                  <a:lnTo>
                    <a:pt x="312543" y="459098"/>
                  </a:lnTo>
                  <a:lnTo>
                    <a:pt x="369736" y="469580"/>
                  </a:lnTo>
                  <a:lnTo>
                    <a:pt x="429970" y="477292"/>
                  </a:lnTo>
                  <a:lnTo>
                    <a:pt x="492827" y="482052"/>
                  </a:lnTo>
                  <a:lnTo>
                    <a:pt x="557889" y="483679"/>
                  </a:lnTo>
                  <a:lnTo>
                    <a:pt x="622951" y="482052"/>
                  </a:lnTo>
                  <a:lnTo>
                    <a:pt x="685808" y="477292"/>
                  </a:lnTo>
                  <a:lnTo>
                    <a:pt x="746042" y="469580"/>
                  </a:lnTo>
                  <a:lnTo>
                    <a:pt x="803234" y="459098"/>
                  </a:lnTo>
                  <a:lnTo>
                    <a:pt x="856966" y="446028"/>
                  </a:lnTo>
                  <a:lnTo>
                    <a:pt x="906820" y="430550"/>
                  </a:lnTo>
                  <a:lnTo>
                    <a:pt x="952376" y="412846"/>
                  </a:lnTo>
                  <a:lnTo>
                    <a:pt x="993215" y="393098"/>
                  </a:lnTo>
                  <a:lnTo>
                    <a:pt x="1028921" y="371487"/>
                  </a:lnTo>
                  <a:lnTo>
                    <a:pt x="1059073" y="348194"/>
                  </a:lnTo>
                  <a:lnTo>
                    <a:pt x="1101043" y="297291"/>
                  </a:lnTo>
                  <a:lnTo>
                    <a:pt x="1115777" y="241839"/>
                  </a:lnTo>
                  <a:lnTo>
                    <a:pt x="1112024" y="213636"/>
                  </a:lnTo>
                  <a:lnTo>
                    <a:pt x="1083253" y="160277"/>
                  </a:lnTo>
                  <a:lnTo>
                    <a:pt x="1028921" y="112192"/>
                  </a:lnTo>
                  <a:lnTo>
                    <a:pt x="993215" y="90581"/>
                  </a:lnTo>
                  <a:lnTo>
                    <a:pt x="952376" y="70833"/>
                  </a:lnTo>
                  <a:lnTo>
                    <a:pt x="906820" y="53129"/>
                  </a:lnTo>
                  <a:lnTo>
                    <a:pt x="856966" y="37651"/>
                  </a:lnTo>
                  <a:lnTo>
                    <a:pt x="803234" y="24580"/>
                  </a:lnTo>
                  <a:lnTo>
                    <a:pt x="746042" y="14098"/>
                  </a:lnTo>
                  <a:lnTo>
                    <a:pt x="685808" y="6387"/>
                  </a:lnTo>
                  <a:lnTo>
                    <a:pt x="622951" y="1627"/>
                  </a:lnTo>
                  <a:lnTo>
                    <a:pt x="55788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8448085" y="2259573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468848" y="2089673"/>
            <a:ext cx="31992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636259" y="1851901"/>
            <a:ext cx="476810" cy="555812"/>
          </a:xfrm>
          <a:custGeom>
            <a:avLst/>
            <a:gdLst/>
            <a:ahLst/>
            <a:cxnLst/>
            <a:rect l="l" t="t" r="r" b="b"/>
            <a:pathLst>
              <a:path w="540384" h="629919">
                <a:moveTo>
                  <a:pt x="0" y="629416"/>
                </a:moveTo>
                <a:lnTo>
                  <a:pt x="192136" y="0"/>
                </a:lnTo>
              </a:path>
              <a:path w="540384" h="629919">
                <a:moveTo>
                  <a:pt x="0" y="629416"/>
                </a:moveTo>
                <a:lnTo>
                  <a:pt x="539925" y="402593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27" name="object 27"/>
          <p:cNvGrpSpPr/>
          <p:nvPr/>
        </p:nvGrpSpPr>
        <p:grpSpPr>
          <a:xfrm>
            <a:off x="2955838" y="1430874"/>
            <a:ext cx="1504950" cy="435909"/>
            <a:chOff x="1470350" y="1621657"/>
            <a:chExt cx="1705610" cy="494030"/>
          </a:xfrm>
        </p:grpSpPr>
        <p:sp>
          <p:nvSpPr>
            <p:cNvPr id="28" name="object 28"/>
            <p:cNvSpPr/>
            <p:nvPr/>
          </p:nvSpPr>
          <p:spPr>
            <a:xfrm>
              <a:off x="1475430" y="1626737"/>
              <a:ext cx="1695450" cy="483870"/>
            </a:xfrm>
            <a:custGeom>
              <a:avLst/>
              <a:gdLst/>
              <a:ahLst/>
              <a:cxnLst/>
              <a:rect l="l" t="t" r="r" b="b"/>
              <a:pathLst>
                <a:path w="1695450" h="483869">
                  <a:moveTo>
                    <a:pt x="847629" y="0"/>
                  </a:moveTo>
                  <a:lnTo>
                    <a:pt x="778111" y="801"/>
                  </a:lnTo>
                  <a:lnTo>
                    <a:pt x="710140" y="3165"/>
                  </a:lnTo>
                  <a:lnTo>
                    <a:pt x="643934" y="7028"/>
                  </a:lnTo>
                  <a:lnTo>
                    <a:pt x="579713" y="12329"/>
                  </a:lnTo>
                  <a:lnTo>
                    <a:pt x="517694" y="19004"/>
                  </a:lnTo>
                  <a:lnTo>
                    <a:pt x="458095" y="26993"/>
                  </a:lnTo>
                  <a:lnTo>
                    <a:pt x="401134" y="36233"/>
                  </a:lnTo>
                  <a:lnTo>
                    <a:pt x="347030" y="46660"/>
                  </a:lnTo>
                  <a:lnTo>
                    <a:pt x="296001" y="58215"/>
                  </a:lnTo>
                  <a:lnTo>
                    <a:pt x="248265" y="70833"/>
                  </a:lnTo>
                  <a:lnTo>
                    <a:pt x="204039" y="84452"/>
                  </a:lnTo>
                  <a:lnTo>
                    <a:pt x="163543" y="99012"/>
                  </a:lnTo>
                  <a:lnTo>
                    <a:pt x="126994" y="114448"/>
                  </a:lnTo>
                  <a:lnTo>
                    <a:pt x="66611" y="147704"/>
                  </a:lnTo>
                  <a:lnTo>
                    <a:pt x="24634" y="183722"/>
                  </a:lnTo>
                  <a:lnTo>
                    <a:pt x="2809" y="222005"/>
                  </a:lnTo>
                  <a:lnTo>
                    <a:pt x="0" y="241839"/>
                  </a:lnTo>
                  <a:lnTo>
                    <a:pt x="2809" y="261674"/>
                  </a:lnTo>
                  <a:lnTo>
                    <a:pt x="24634" y="299956"/>
                  </a:lnTo>
                  <a:lnTo>
                    <a:pt x="66611" y="335974"/>
                  </a:lnTo>
                  <a:lnTo>
                    <a:pt x="126994" y="369229"/>
                  </a:lnTo>
                  <a:lnTo>
                    <a:pt x="163543" y="384666"/>
                  </a:lnTo>
                  <a:lnTo>
                    <a:pt x="204039" y="399225"/>
                  </a:lnTo>
                  <a:lnTo>
                    <a:pt x="248265" y="412845"/>
                  </a:lnTo>
                  <a:lnTo>
                    <a:pt x="296001" y="425463"/>
                  </a:lnTo>
                  <a:lnTo>
                    <a:pt x="347030" y="437017"/>
                  </a:lnTo>
                  <a:lnTo>
                    <a:pt x="401134" y="447445"/>
                  </a:lnTo>
                  <a:lnTo>
                    <a:pt x="458095" y="456684"/>
                  </a:lnTo>
                  <a:lnTo>
                    <a:pt x="517694" y="464673"/>
                  </a:lnTo>
                  <a:lnTo>
                    <a:pt x="579713" y="471349"/>
                  </a:lnTo>
                  <a:lnTo>
                    <a:pt x="643934" y="476649"/>
                  </a:lnTo>
                  <a:lnTo>
                    <a:pt x="710140" y="480512"/>
                  </a:lnTo>
                  <a:lnTo>
                    <a:pt x="778111" y="482876"/>
                  </a:lnTo>
                  <a:lnTo>
                    <a:pt x="847629" y="483678"/>
                  </a:lnTo>
                  <a:lnTo>
                    <a:pt x="917148" y="482876"/>
                  </a:lnTo>
                  <a:lnTo>
                    <a:pt x="985119" y="480512"/>
                  </a:lnTo>
                  <a:lnTo>
                    <a:pt x="1051325" y="476649"/>
                  </a:lnTo>
                  <a:lnTo>
                    <a:pt x="1115546" y="471349"/>
                  </a:lnTo>
                  <a:lnTo>
                    <a:pt x="1177565" y="464673"/>
                  </a:lnTo>
                  <a:lnTo>
                    <a:pt x="1237164" y="456684"/>
                  </a:lnTo>
                  <a:lnTo>
                    <a:pt x="1294125" y="447445"/>
                  </a:lnTo>
                  <a:lnTo>
                    <a:pt x="1348229" y="437017"/>
                  </a:lnTo>
                  <a:lnTo>
                    <a:pt x="1399258" y="425463"/>
                  </a:lnTo>
                  <a:lnTo>
                    <a:pt x="1446994" y="412845"/>
                  </a:lnTo>
                  <a:lnTo>
                    <a:pt x="1491220" y="399225"/>
                  </a:lnTo>
                  <a:lnTo>
                    <a:pt x="1531716" y="384666"/>
                  </a:lnTo>
                  <a:lnTo>
                    <a:pt x="1568265" y="369229"/>
                  </a:lnTo>
                  <a:lnTo>
                    <a:pt x="1628648" y="335974"/>
                  </a:lnTo>
                  <a:lnTo>
                    <a:pt x="1670625" y="299956"/>
                  </a:lnTo>
                  <a:lnTo>
                    <a:pt x="1692449" y="261674"/>
                  </a:lnTo>
                  <a:lnTo>
                    <a:pt x="1695259" y="241839"/>
                  </a:lnTo>
                  <a:lnTo>
                    <a:pt x="1692449" y="222005"/>
                  </a:lnTo>
                  <a:lnTo>
                    <a:pt x="1670625" y="183722"/>
                  </a:lnTo>
                  <a:lnTo>
                    <a:pt x="1628648" y="147704"/>
                  </a:lnTo>
                  <a:lnTo>
                    <a:pt x="1568265" y="114448"/>
                  </a:lnTo>
                  <a:lnTo>
                    <a:pt x="1531716" y="99012"/>
                  </a:lnTo>
                  <a:lnTo>
                    <a:pt x="1491220" y="84452"/>
                  </a:lnTo>
                  <a:lnTo>
                    <a:pt x="1446994" y="70833"/>
                  </a:lnTo>
                  <a:lnTo>
                    <a:pt x="1399258" y="58215"/>
                  </a:lnTo>
                  <a:lnTo>
                    <a:pt x="1348229" y="46660"/>
                  </a:lnTo>
                  <a:lnTo>
                    <a:pt x="1294125" y="36233"/>
                  </a:lnTo>
                  <a:lnTo>
                    <a:pt x="1237164" y="26993"/>
                  </a:lnTo>
                  <a:lnTo>
                    <a:pt x="1177565" y="19004"/>
                  </a:lnTo>
                  <a:lnTo>
                    <a:pt x="1115546" y="12329"/>
                  </a:lnTo>
                  <a:lnTo>
                    <a:pt x="1051325" y="7028"/>
                  </a:lnTo>
                  <a:lnTo>
                    <a:pt x="985119" y="3165"/>
                  </a:lnTo>
                  <a:lnTo>
                    <a:pt x="917148" y="801"/>
                  </a:lnTo>
                  <a:lnTo>
                    <a:pt x="8476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1475430" y="1626737"/>
              <a:ext cx="1695450" cy="483870"/>
            </a:xfrm>
            <a:custGeom>
              <a:avLst/>
              <a:gdLst/>
              <a:ahLst/>
              <a:cxnLst/>
              <a:rect l="l" t="t" r="r" b="b"/>
              <a:pathLst>
                <a:path w="1695450" h="483869">
                  <a:moveTo>
                    <a:pt x="0" y="241839"/>
                  </a:moveTo>
                  <a:lnTo>
                    <a:pt x="11094" y="202611"/>
                  </a:lnTo>
                  <a:lnTo>
                    <a:pt x="43212" y="165399"/>
                  </a:lnTo>
                  <a:lnTo>
                    <a:pt x="94610" y="130700"/>
                  </a:lnTo>
                  <a:lnTo>
                    <a:pt x="163543" y="99012"/>
                  </a:lnTo>
                  <a:lnTo>
                    <a:pt x="204039" y="84452"/>
                  </a:lnTo>
                  <a:lnTo>
                    <a:pt x="248265" y="70833"/>
                  </a:lnTo>
                  <a:lnTo>
                    <a:pt x="296001" y="58215"/>
                  </a:lnTo>
                  <a:lnTo>
                    <a:pt x="347030" y="46660"/>
                  </a:lnTo>
                  <a:lnTo>
                    <a:pt x="401134" y="36233"/>
                  </a:lnTo>
                  <a:lnTo>
                    <a:pt x="458095" y="26993"/>
                  </a:lnTo>
                  <a:lnTo>
                    <a:pt x="517694" y="19004"/>
                  </a:lnTo>
                  <a:lnTo>
                    <a:pt x="579713" y="12329"/>
                  </a:lnTo>
                  <a:lnTo>
                    <a:pt x="643934" y="7028"/>
                  </a:lnTo>
                  <a:lnTo>
                    <a:pt x="710139" y="3165"/>
                  </a:lnTo>
                  <a:lnTo>
                    <a:pt x="778111" y="801"/>
                  </a:lnTo>
                  <a:lnTo>
                    <a:pt x="847629" y="0"/>
                  </a:lnTo>
                  <a:lnTo>
                    <a:pt x="917148" y="801"/>
                  </a:lnTo>
                  <a:lnTo>
                    <a:pt x="985119" y="3165"/>
                  </a:lnTo>
                  <a:lnTo>
                    <a:pt x="1051325" y="7028"/>
                  </a:lnTo>
                  <a:lnTo>
                    <a:pt x="1115546" y="12329"/>
                  </a:lnTo>
                  <a:lnTo>
                    <a:pt x="1177565" y="19004"/>
                  </a:lnTo>
                  <a:lnTo>
                    <a:pt x="1237164" y="26993"/>
                  </a:lnTo>
                  <a:lnTo>
                    <a:pt x="1294125" y="36233"/>
                  </a:lnTo>
                  <a:lnTo>
                    <a:pt x="1348229" y="46660"/>
                  </a:lnTo>
                  <a:lnTo>
                    <a:pt x="1399258" y="58215"/>
                  </a:lnTo>
                  <a:lnTo>
                    <a:pt x="1446994" y="70833"/>
                  </a:lnTo>
                  <a:lnTo>
                    <a:pt x="1491220" y="84452"/>
                  </a:lnTo>
                  <a:lnTo>
                    <a:pt x="1531716" y="99012"/>
                  </a:lnTo>
                  <a:lnTo>
                    <a:pt x="1568265" y="114448"/>
                  </a:lnTo>
                  <a:lnTo>
                    <a:pt x="1628648" y="147704"/>
                  </a:lnTo>
                  <a:lnTo>
                    <a:pt x="1670625" y="183722"/>
                  </a:lnTo>
                  <a:lnTo>
                    <a:pt x="1692449" y="222004"/>
                  </a:lnTo>
                  <a:lnTo>
                    <a:pt x="1695259" y="241839"/>
                  </a:lnTo>
                  <a:lnTo>
                    <a:pt x="1692449" y="261674"/>
                  </a:lnTo>
                  <a:lnTo>
                    <a:pt x="1670625" y="299956"/>
                  </a:lnTo>
                  <a:lnTo>
                    <a:pt x="1628648" y="335974"/>
                  </a:lnTo>
                  <a:lnTo>
                    <a:pt x="1568265" y="369230"/>
                  </a:lnTo>
                  <a:lnTo>
                    <a:pt x="1531716" y="384666"/>
                  </a:lnTo>
                  <a:lnTo>
                    <a:pt x="1491220" y="399226"/>
                  </a:lnTo>
                  <a:lnTo>
                    <a:pt x="1446994" y="412845"/>
                  </a:lnTo>
                  <a:lnTo>
                    <a:pt x="1399258" y="425463"/>
                  </a:lnTo>
                  <a:lnTo>
                    <a:pt x="1348229" y="437017"/>
                  </a:lnTo>
                  <a:lnTo>
                    <a:pt x="1294125" y="447445"/>
                  </a:lnTo>
                  <a:lnTo>
                    <a:pt x="1237164" y="456685"/>
                  </a:lnTo>
                  <a:lnTo>
                    <a:pt x="1177565" y="464673"/>
                  </a:lnTo>
                  <a:lnTo>
                    <a:pt x="1115546" y="471349"/>
                  </a:lnTo>
                  <a:lnTo>
                    <a:pt x="1051325" y="476650"/>
                  </a:lnTo>
                  <a:lnTo>
                    <a:pt x="985119" y="480513"/>
                  </a:lnTo>
                  <a:lnTo>
                    <a:pt x="917148" y="482877"/>
                  </a:lnTo>
                  <a:lnTo>
                    <a:pt x="847629" y="483678"/>
                  </a:lnTo>
                  <a:lnTo>
                    <a:pt x="778111" y="482877"/>
                  </a:lnTo>
                  <a:lnTo>
                    <a:pt x="710139" y="480513"/>
                  </a:lnTo>
                  <a:lnTo>
                    <a:pt x="643934" y="476650"/>
                  </a:lnTo>
                  <a:lnTo>
                    <a:pt x="579713" y="471349"/>
                  </a:lnTo>
                  <a:lnTo>
                    <a:pt x="517694" y="464673"/>
                  </a:lnTo>
                  <a:lnTo>
                    <a:pt x="458095" y="456685"/>
                  </a:lnTo>
                  <a:lnTo>
                    <a:pt x="401134" y="447445"/>
                  </a:lnTo>
                  <a:lnTo>
                    <a:pt x="347030" y="437017"/>
                  </a:lnTo>
                  <a:lnTo>
                    <a:pt x="296001" y="425463"/>
                  </a:lnTo>
                  <a:lnTo>
                    <a:pt x="248265" y="412845"/>
                  </a:lnTo>
                  <a:lnTo>
                    <a:pt x="204039" y="399226"/>
                  </a:lnTo>
                  <a:lnTo>
                    <a:pt x="163543" y="384666"/>
                  </a:lnTo>
                  <a:lnTo>
                    <a:pt x="126994" y="369230"/>
                  </a:lnTo>
                  <a:lnTo>
                    <a:pt x="66610" y="335974"/>
                  </a:lnTo>
                  <a:lnTo>
                    <a:pt x="24634" y="299956"/>
                  </a:lnTo>
                  <a:lnTo>
                    <a:pt x="2809" y="261674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154012" y="1503381"/>
            <a:ext cx="106287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spc="-40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h</a:t>
            </a:r>
            <a:r>
              <a:rPr sz="1500" u="sng" spc="-4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w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_nu</a:t>
            </a:r>
            <a:r>
              <a:rPr sz="1500" u="sng" spc="4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m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ber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66725" y="2415787"/>
            <a:ext cx="1387288" cy="931769"/>
            <a:chOff x="802688" y="2737891"/>
            <a:chExt cx="1572260" cy="1056005"/>
          </a:xfrm>
        </p:grpSpPr>
        <p:sp>
          <p:nvSpPr>
            <p:cNvPr id="32" name="object 32"/>
            <p:cNvSpPr/>
            <p:nvPr/>
          </p:nvSpPr>
          <p:spPr>
            <a:xfrm>
              <a:off x="1615844" y="2742971"/>
              <a:ext cx="459105" cy="54610"/>
            </a:xfrm>
            <a:custGeom>
              <a:avLst/>
              <a:gdLst/>
              <a:ahLst/>
              <a:cxnLst/>
              <a:rect l="l" t="t" r="r" b="b"/>
              <a:pathLst>
                <a:path w="459105" h="54610">
                  <a:moveTo>
                    <a:pt x="458967" y="0"/>
                  </a:moveTo>
                  <a:lnTo>
                    <a:pt x="0" y="54513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807768" y="3304580"/>
              <a:ext cx="1562100" cy="483870"/>
            </a:xfrm>
            <a:custGeom>
              <a:avLst/>
              <a:gdLst/>
              <a:ahLst/>
              <a:cxnLst/>
              <a:rect l="l" t="t" r="r" b="b"/>
              <a:pathLst>
                <a:path w="1562100" h="483870">
                  <a:moveTo>
                    <a:pt x="780866" y="0"/>
                  </a:moveTo>
                  <a:lnTo>
                    <a:pt x="709792" y="988"/>
                  </a:lnTo>
                  <a:lnTo>
                    <a:pt x="640505" y="3896"/>
                  </a:lnTo>
                  <a:lnTo>
                    <a:pt x="573281" y="8638"/>
                  </a:lnTo>
                  <a:lnTo>
                    <a:pt x="508397" y="15130"/>
                  </a:lnTo>
                  <a:lnTo>
                    <a:pt x="446127" y="23285"/>
                  </a:lnTo>
                  <a:lnTo>
                    <a:pt x="386748" y="33018"/>
                  </a:lnTo>
                  <a:lnTo>
                    <a:pt x="330535" y="44244"/>
                  </a:lnTo>
                  <a:lnTo>
                    <a:pt x="277764" y="56877"/>
                  </a:lnTo>
                  <a:lnTo>
                    <a:pt x="228710" y="70833"/>
                  </a:lnTo>
                  <a:lnTo>
                    <a:pt x="183650" y="86025"/>
                  </a:lnTo>
                  <a:lnTo>
                    <a:pt x="142858" y="102368"/>
                  </a:lnTo>
                  <a:lnTo>
                    <a:pt x="106611" y="119778"/>
                  </a:lnTo>
                  <a:lnTo>
                    <a:pt x="48853" y="157453"/>
                  </a:lnTo>
                  <a:lnTo>
                    <a:pt x="12580" y="198368"/>
                  </a:lnTo>
                  <a:lnTo>
                    <a:pt x="0" y="241839"/>
                  </a:lnTo>
                  <a:lnTo>
                    <a:pt x="3191" y="263852"/>
                  </a:lnTo>
                  <a:lnTo>
                    <a:pt x="27893" y="306130"/>
                  </a:lnTo>
                  <a:lnTo>
                    <a:pt x="75184" y="345510"/>
                  </a:lnTo>
                  <a:lnTo>
                    <a:pt x="142858" y="381310"/>
                  </a:lnTo>
                  <a:lnTo>
                    <a:pt x="183650" y="397654"/>
                  </a:lnTo>
                  <a:lnTo>
                    <a:pt x="228710" y="412846"/>
                  </a:lnTo>
                  <a:lnTo>
                    <a:pt x="277764" y="426801"/>
                  </a:lnTo>
                  <a:lnTo>
                    <a:pt x="330535" y="439435"/>
                  </a:lnTo>
                  <a:lnTo>
                    <a:pt x="386748" y="450661"/>
                  </a:lnTo>
                  <a:lnTo>
                    <a:pt x="446127" y="460394"/>
                  </a:lnTo>
                  <a:lnTo>
                    <a:pt x="508397" y="468549"/>
                  </a:lnTo>
                  <a:lnTo>
                    <a:pt x="573281" y="475040"/>
                  </a:lnTo>
                  <a:lnTo>
                    <a:pt x="640505" y="479783"/>
                  </a:lnTo>
                  <a:lnTo>
                    <a:pt x="709792" y="482691"/>
                  </a:lnTo>
                  <a:lnTo>
                    <a:pt x="780866" y="483679"/>
                  </a:lnTo>
                  <a:lnTo>
                    <a:pt x="851941" y="482691"/>
                  </a:lnTo>
                  <a:lnTo>
                    <a:pt x="921228" y="479783"/>
                  </a:lnTo>
                  <a:lnTo>
                    <a:pt x="988452" y="475040"/>
                  </a:lnTo>
                  <a:lnTo>
                    <a:pt x="1053336" y="468549"/>
                  </a:lnTo>
                  <a:lnTo>
                    <a:pt x="1115606" y="460394"/>
                  </a:lnTo>
                  <a:lnTo>
                    <a:pt x="1174985" y="450661"/>
                  </a:lnTo>
                  <a:lnTo>
                    <a:pt x="1231198" y="439435"/>
                  </a:lnTo>
                  <a:lnTo>
                    <a:pt x="1283969" y="426801"/>
                  </a:lnTo>
                  <a:lnTo>
                    <a:pt x="1333023" y="412846"/>
                  </a:lnTo>
                  <a:lnTo>
                    <a:pt x="1378084" y="397654"/>
                  </a:lnTo>
                  <a:lnTo>
                    <a:pt x="1418875" y="381310"/>
                  </a:lnTo>
                  <a:lnTo>
                    <a:pt x="1455122" y="363901"/>
                  </a:lnTo>
                  <a:lnTo>
                    <a:pt x="1512881" y="326225"/>
                  </a:lnTo>
                  <a:lnTo>
                    <a:pt x="1549153" y="285310"/>
                  </a:lnTo>
                  <a:lnTo>
                    <a:pt x="1561733" y="241839"/>
                  </a:lnTo>
                  <a:lnTo>
                    <a:pt x="1558542" y="219827"/>
                  </a:lnTo>
                  <a:lnTo>
                    <a:pt x="1533840" y="177549"/>
                  </a:lnTo>
                  <a:lnTo>
                    <a:pt x="1486549" y="138168"/>
                  </a:lnTo>
                  <a:lnTo>
                    <a:pt x="1418875" y="102368"/>
                  </a:lnTo>
                  <a:lnTo>
                    <a:pt x="1378084" y="86025"/>
                  </a:lnTo>
                  <a:lnTo>
                    <a:pt x="1333023" y="70833"/>
                  </a:lnTo>
                  <a:lnTo>
                    <a:pt x="1283969" y="56877"/>
                  </a:lnTo>
                  <a:lnTo>
                    <a:pt x="1231198" y="44244"/>
                  </a:lnTo>
                  <a:lnTo>
                    <a:pt x="1174985" y="33018"/>
                  </a:lnTo>
                  <a:lnTo>
                    <a:pt x="1115606" y="23285"/>
                  </a:lnTo>
                  <a:lnTo>
                    <a:pt x="1053336" y="15130"/>
                  </a:lnTo>
                  <a:lnTo>
                    <a:pt x="988452" y="8638"/>
                  </a:lnTo>
                  <a:lnTo>
                    <a:pt x="921228" y="3896"/>
                  </a:lnTo>
                  <a:lnTo>
                    <a:pt x="851941" y="988"/>
                  </a:lnTo>
                  <a:lnTo>
                    <a:pt x="78086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807768" y="3304580"/>
              <a:ext cx="1562100" cy="483870"/>
            </a:xfrm>
            <a:custGeom>
              <a:avLst/>
              <a:gdLst/>
              <a:ahLst/>
              <a:cxnLst/>
              <a:rect l="l" t="t" r="r" b="b"/>
              <a:pathLst>
                <a:path w="1562100" h="483870">
                  <a:moveTo>
                    <a:pt x="0" y="241839"/>
                  </a:moveTo>
                  <a:lnTo>
                    <a:pt x="12580" y="198368"/>
                  </a:lnTo>
                  <a:lnTo>
                    <a:pt x="48853" y="157453"/>
                  </a:lnTo>
                  <a:lnTo>
                    <a:pt x="106611" y="119778"/>
                  </a:lnTo>
                  <a:lnTo>
                    <a:pt x="142858" y="102368"/>
                  </a:lnTo>
                  <a:lnTo>
                    <a:pt x="183650" y="86025"/>
                  </a:lnTo>
                  <a:lnTo>
                    <a:pt x="228710" y="70833"/>
                  </a:lnTo>
                  <a:lnTo>
                    <a:pt x="277764" y="56877"/>
                  </a:lnTo>
                  <a:lnTo>
                    <a:pt x="330535" y="44244"/>
                  </a:lnTo>
                  <a:lnTo>
                    <a:pt x="386748" y="33018"/>
                  </a:lnTo>
                  <a:lnTo>
                    <a:pt x="446127" y="23285"/>
                  </a:lnTo>
                  <a:lnTo>
                    <a:pt x="508397" y="15130"/>
                  </a:lnTo>
                  <a:lnTo>
                    <a:pt x="573281" y="8638"/>
                  </a:lnTo>
                  <a:lnTo>
                    <a:pt x="640505" y="3896"/>
                  </a:lnTo>
                  <a:lnTo>
                    <a:pt x="709792" y="988"/>
                  </a:lnTo>
                  <a:lnTo>
                    <a:pt x="780867" y="0"/>
                  </a:lnTo>
                  <a:lnTo>
                    <a:pt x="851941" y="988"/>
                  </a:lnTo>
                  <a:lnTo>
                    <a:pt x="921228" y="3896"/>
                  </a:lnTo>
                  <a:lnTo>
                    <a:pt x="988452" y="8638"/>
                  </a:lnTo>
                  <a:lnTo>
                    <a:pt x="1053336" y="15130"/>
                  </a:lnTo>
                  <a:lnTo>
                    <a:pt x="1115606" y="23285"/>
                  </a:lnTo>
                  <a:lnTo>
                    <a:pt x="1174985" y="33018"/>
                  </a:lnTo>
                  <a:lnTo>
                    <a:pt x="1231198" y="44244"/>
                  </a:lnTo>
                  <a:lnTo>
                    <a:pt x="1283969" y="56877"/>
                  </a:lnTo>
                  <a:lnTo>
                    <a:pt x="1333023" y="70833"/>
                  </a:lnTo>
                  <a:lnTo>
                    <a:pt x="1378084" y="86025"/>
                  </a:lnTo>
                  <a:lnTo>
                    <a:pt x="1418875" y="102368"/>
                  </a:lnTo>
                  <a:lnTo>
                    <a:pt x="1455123" y="119778"/>
                  </a:lnTo>
                  <a:lnTo>
                    <a:pt x="1512881" y="157453"/>
                  </a:lnTo>
                  <a:lnTo>
                    <a:pt x="1549153" y="198368"/>
                  </a:lnTo>
                  <a:lnTo>
                    <a:pt x="1561734" y="241839"/>
                  </a:lnTo>
                  <a:lnTo>
                    <a:pt x="1558543" y="263851"/>
                  </a:lnTo>
                  <a:lnTo>
                    <a:pt x="1533841" y="306129"/>
                  </a:lnTo>
                  <a:lnTo>
                    <a:pt x="1486550" y="345510"/>
                  </a:lnTo>
                  <a:lnTo>
                    <a:pt x="1418875" y="381309"/>
                  </a:lnTo>
                  <a:lnTo>
                    <a:pt x="1378084" y="397653"/>
                  </a:lnTo>
                  <a:lnTo>
                    <a:pt x="1333023" y="412845"/>
                  </a:lnTo>
                  <a:lnTo>
                    <a:pt x="1283969" y="426801"/>
                  </a:lnTo>
                  <a:lnTo>
                    <a:pt x="1231198" y="439434"/>
                  </a:lnTo>
                  <a:lnTo>
                    <a:pt x="1174985" y="450660"/>
                  </a:lnTo>
                  <a:lnTo>
                    <a:pt x="1115606" y="460393"/>
                  </a:lnTo>
                  <a:lnTo>
                    <a:pt x="1053336" y="468548"/>
                  </a:lnTo>
                  <a:lnTo>
                    <a:pt x="988452" y="475040"/>
                  </a:lnTo>
                  <a:lnTo>
                    <a:pt x="921228" y="479782"/>
                  </a:lnTo>
                  <a:lnTo>
                    <a:pt x="851941" y="482690"/>
                  </a:lnTo>
                  <a:lnTo>
                    <a:pt x="780867" y="483678"/>
                  </a:lnTo>
                  <a:lnTo>
                    <a:pt x="709792" y="482690"/>
                  </a:lnTo>
                  <a:lnTo>
                    <a:pt x="640505" y="479782"/>
                  </a:lnTo>
                  <a:lnTo>
                    <a:pt x="573281" y="475040"/>
                  </a:lnTo>
                  <a:lnTo>
                    <a:pt x="508397" y="468548"/>
                  </a:lnTo>
                  <a:lnTo>
                    <a:pt x="446127" y="460393"/>
                  </a:lnTo>
                  <a:lnTo>
                    <a:pt x="386748" y="450660"/>
                  </a:lnTo>
                  <a:lnTo>
                    <a:pt x="330535" y="439434"/>
                  </a:lnTo>
                  <a:lnTo>
                    <a:pt x="277764" y="426801"/>
                  </a:lnTo>
                  <a:lnTo>
                    <a:pt x="228710" y="412845"/>
                  </a:lnTo>
                  <a:lnTo>
                    <a:pt x="183650" y="397653"/>
                  </a:lnTo>
                  <a:lnTo>
                    <a:pt x="142858" y="381309"/>
                  </a:lnTo>
                  <a:lnTo>
                    <a:pt x="106611" y="363900"/>
                  </a:lnTo>
                  <a:lnTo>
                    <a:pt x="48853" y="326225"/>
                  </a:lnTo>
                  <a:lnTo>
                    <a:pt x="12580" y="285310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560373" y="2982557"/>
            <a:ext cx="10533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500" spc="-4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_sco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115710" y="2250497"/>
            <a:ext cx="973231" cy="435909"/>
            <a:chOff x="518204" y="2550563"/>
            <a:chExt cx="1102995" cy="494030"/>
          </a:xfrm>
        </p:grpSpPr>
        <p:sp>
          <p:nvSpPr>
            <p:cNvPr id="37" name="object 37"/>
            <p:cNvSpPr/>
            <p:nvPr/>
          </p:nvSpPr>
          <p:spPr>
            <a:xfrm>
              <a:off x="523284" y="2555643"/>
              <a:ext cx="1092835" cy="483870"/>
            </a:xfrm>
            <a:custGeom>
              <a:avLst/>
              <a:gdLst/>
              <a:ahLst/>
              <a:cxnLst/>
              <a:rect l="l" t="t" r="r" b="b"/>
              <a:pathLst>
                <a:path w="1092835" h="483869">
                  <a:moveTo>
                    <a:pt x="546279" y="0"/>
                  </a:moveTo>
                  <a:lnTo>
                    <a:pt x="482571" y="1627"/>
                  </a:lnTo>
                  <a:lnTo>
                    <a:pt x="421022" y="6387"/>
                  </a:lnTo>
                  <a:lnTo>
                    <a:pt x="362041" y="14098"/>
                  </a:lnTo>
                  <a:lnTo>
                    <a:pt x="306039" y="24580"/>
                  </a:lnTo>
                  <a:lnTo>
                    <a:pt x="253425" y="37651"/>
                  </a:lnTo>
                  <a:lnTo>
                    <a:pt x="204609" y="53129"/>
                  </a:lnTo>
                  <a:lnTo>
                    <a:pt x="160001" y="70833"/>
                  </a:lnTo>
                  <a:lnTo>
                    <a:pt x="120011" y="90581"/>
                  </a:lnTo>
                  <a:lnTo>
                    <a:pt x="85049" y="112192"/>
                  </a:lnTo>
                  <a:lnTo>
                    <a:pt x="31847" y="160277"/>
                  </a:lnTo>
                  <a:lnTo>
                    <a:pt x="3675" y="213636"/>
                  </a:lnTo>
                  <a:lnTo>
                    <a:pt x="0" y="241839"/>
                  </a:lnTo>
                  <a:lnTo>
                    <a:pt x="3675" y="270043"/>
                  </a:lnTo>
                  <a:lnTo>
                    <a:pt x="31847" y="323402"/>
                  </a:lnTo>
                  <a:lnTo>
                    <a:pt x="85049" y="371487"/>
                  </a:lnTo>
                  <a:lnTo>
                    <a:pt x="120011" y="393098"/>
                  </a:lnTo>
                  <a:lnTo>
                    <a:pt x="160001" y="412846"/>
                  </a:lnTo>
                  <a:lnTo>
                    <a:pt x="204609" y="430550"/>
                  </a:lnTo>
                  <a:lnTo>
                    <a:pt x="253425" y="446028"/>
                  </a:lnTo>
                  <a:lnTo>
                    <a:pt x="306039" y="459098"/>
                  </a:lnTo>
                  <a:lnTo>
                    <a:pt x="362041" y="469580"/>
                  </a:lnTo>
                  <a:lnTo>
                    <a:pt x="421022" y="477292"/>
                  </a:lnTo>
                  <a:lnTo>
                    <a:pt x="482571" y="482052"/>
                  </a:lnTo>
                  <a:lnTo>
                    <a:pt x="546279" y="483679"/>
                  </a:lnTo>
                  <a:lnTo>
                    <a:pt x="609987" y="482052"/>
                  </a:lnTo>
                  <a:lnTo>
                    <a:pt x="671536" y="477292"/>
                  </a:lnTo>
                  <a:lnTo>
                    <a:pt x="730517" y="469580"/>
                  </a:lnTo>
                  <a:lnTo>
                    <a:pt x="786519" y="459098"/>
                  </a:lnTo>
                  <a:lnTo>
                    <a:pt x="839133" y="446028"/>
                  </a:lnTo>
                  <a:lnTo>
                    <a:pt x="887949" y="430550"/>
                  </a:lnTo>
                  <a:lnTo>
                    <a:pt x="932557" y="412846"/>
                  </a:lnTo>
                  <a:lnTo>
                    <a:pt x="972547" y="393098"/>
                  </a:lnTo>
                  <a:lnTo>
                    <a:pt x="1007509" y="371487"/>
                  </a:lnTo>
                  <a:lnTo>
                    <a:pt x="1060711" y="323402"/>
                  </a:lnTo>
                  <a:lnTo>
                    <a:pt x="1088883" y="270043"/>
                  </a:lnTo>
                  <a:lnTo>
                    <a:pt x="1092558" y="241839"/>
                  </a:lnTo>
                  <a:lnTo>
                    <a:pt x="1088883" y="213636"/>
                  </a:lnTo>
                  <a:lnTo>
                    <a:pt x="1060711" y="160277"/>
                  </a:lnTo>
                  <a:lnTo>
                    <a:pt x="1007509" y="112192"/>
                  </a:lnTo>
                  <a:lnTo>
                    <a:pt x="972547" y="90581"/>
                  </a:lnTo>
                  <a:lnTo>
                    <a:pt x="932557" y="70833"/>
                  </a:lnTo>
                  <a:lnTo>
                    <a:pt x="887949" y="53129"/>
                  </a:lnTo>
                  <a:lnTo>
                    <a:pt x="839133" y="37651"/>
                  </a:lnTo>
                  <a:lnTo>
                    <a:pt x="786519" y="24580"/>
                  </a:lnTo>
                  <a:lnTo>
                    <a:pt x="730517" y="14098"/>
                  </a:lnTo>
                  <a:lnTo>
                    <a:pt x="671536" y="6387"/>
                  </a:lnTo>
                  <a:lnTo>
                    <a:pt x="609987" y="1627"/>
                  </a:lnTo>
                  <a:lnTo>
                    <a:pt x="54627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523284" y="2555643"/>
              <a:ext cx="1092835" cy="483870"/>
            </a:xfrm>
            <a:custGeom>
              <a:avLst/>
              <a:gdLst/>
              <a:ahLst/>
              <a:cxnLst/>
              <a:rect l="l" t="t" r="r" b="b"/>
              <a:pathLst>
                <a:path w="1092835" h="483869">
                  <a:moveTo>
                    <a:pt x="0" y="241839"/>
                  </a:moveTo>
                  <a:lnTo>
                    <a:pt x="14427" y="186387"/>
                  </a:lnTo>
                  <a:lnTo>
                    <a:pt x="55524" y="135484"/>
                  </a:lnTo>
                  <a:lnTo>
                    <a:pt x="120011" y="90581"/>
                  </a:lnTo>
                  <a:lnTo>
                    <a:pt x="160001" y="70833"/>
                  </a:lnTo>
                  <a:lnTo>
                    <a:pt x="204609" y="53129"/>
                  </a:lnTo>
                  <a:lnTo>
                    <a:pt x="253425" y="37651"/>
                  </a:lnTo>
                  <a:lnTo>
                    <a:pt x="306039" y="24580"/>
                  </a:lnTo>
                  <a:lnTo>
                    <a:pt x="362041" y="14098"/>
                  </a:lnTo>
                  <a:lnTo>
                    <a:pt x="421022" y="6387"/>
                  </a:lnTo>
                  <a:lnTo>
                    <a:pt x="482571" y="1627"/>
                  </a:lnTo>
                  <a:lnTo>
                    <a:pt x="546279" y="0"/>
                  </a:lnTo>
                  <a:lnTo>
                    <a:pt x="609987" y="1627"/>
                  </a:lnTo>
                  <a:lnTo>
                    <a:pt x="671536" y="6387"/>
                  </a:lnTo>
                  <a:lnTo>
                    <a:pt x="730516" y="14098"/>
                  </a:lnTo>
                  <a:lnTo>
                    <a:pt x="786519" y="24580"/>
                  </a:lnTo>
                  <a:lnTo>
                    <a:pt x="839133" y="37651"/>
                  </a:lnTo>
                  <a:lnTo>
                    <a:pt x="887949" y="53129"/>
                  </a:lnTo>
                  <a:lnTo>
                    <a:pt x="932557" y="70833"/>
                  </a:lnTo>
                  <a:lnTo>
                    <a:pt x="972547" y="90581"/>
                  </a:lnTo>
                  <a:lnTo>
                    <a:pt x="1007509" y="112192"/>
                  </a:lnTo>
                  <a:lnTo>
                    <a:pt x="1060711" y="160276"/>
                  </a:lnTo>
                  <a:lnTo>
                    <a:pt x="1088883" y="213635"/>
                  </a:lnTo>
                  <a:lnTo>
                    <a:pt x="1092558" y="241839"/>
                  </a:lnTo>
                  <a:lnTo>
                    <a:pt x="1088883" y="270043"/>
                  </a:lnTo>
                  <a:lnTo>
                    <a:pt x="1060711" y="323401"/>
                  </a:lnTo>
                  <a:lnTo>
                    <a:pt x="1007509" y="371486"/>
                  </a:lnTo>
                  <a:lnTo>
                    <a:pt x="972547" y="393097"/>
                  </a:lnTo>
                  <a:lnTo>
                    <a:pt x="932557" y="412845"/>
                  </a:lnTo>
                  <a:lnTo>
                    <a:pt x="887949" y="430549"/>
                  </a:lnTo>
                  <a:lnTo>
                    <a:pt x="839133" y="446027"/>
                  </a:lnTo>
                  <a:lnTo>
                    <a:pt x="786519" y="459098"/>
                  </a:lnTo>
                  <a:lnTo>
                    <a:pt x="730516" y="469580"/>
                  </a:lnTo>
                  <a:lnTo>
                    <a:pt x="671536" y="477291"/>
                  </a:lnTo>
                  <a:lnTo>
                    <a:pt x="609987" y="482051"/>
                  </a:lnTo>
                  <a:lnTo>
                    <a:pt x="546279" y="483678"/>
                  </a:lnTo>
                  <a:lnTo>
                    <a:pt x="482571" y="482051"/>
                  </a:lnTo>
                  <a:lnTo>
                    <a:pt x="421022" y="477291"/>
                  </a:lnTo>
                  <a:lnTo>
                    <a:pt x="362041" y="469580"/>
                  </a:lnTo>
                  <a:lnTo>
                    <a:pt x="306039" y="459098"/>
                  </a:lnTo>
                  <a:lnTo>
                    <a:pt x="253425" y="446027"/>
                  </a:lnTo>
                  <a:lnTo>
                    <a:pt x="204609" y="430549"/>
                  </a:lnTo>
                  <a:lnTo>
                    <a:pt x="160001" y="412845"/>
                  </a:lnTo>
                  <a:lnTo>
                    <a:pt x="120011" y="393097"/>
                  </a:lnTo>
                  <a:lnTo>
                    <a:pt x="85049" y="371486"/>
                  </a:lnTo>
                  <a:lnTo>
                    <a:pt x="31847" y="323401"/>
                  </a:lnTo>
                  <a:lnTo>
                    <a:pt x="3675" y="270043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215389" y="2337098"/>
            <a:ext cx="8191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due_da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55725" y="1857650"/>
            <a:ext cx="1019175" cy="1062878"/>
            <a:chOff x="1583555" y="2105336"/>
            <a:chExt cx="1155065" cy="1204595"/>
          </a:xfrm>
        </p:grpSpPr>
        <p:sp>
          <p:nvSpPr>
            <p:cNvPr id="41" name="object 41"/>
            <p:cNvSpPr/>
            <p:nvPr/>
          </p:nvSpPr>
          <p:spPr>
            <a:xfrm>
              <a:off x="1588635" y="2742971"/>
              <a:ext cx="486409" cy="561975"/>
            </a:xfrm>
            <a:custGeom>
              <a:avLst/>
              <a:gdLst/>
              <a:ahLst/>
              <a:cxnLst/>
              <a:rect l="l" t="t" r="r" b="b"/>
              <a:pathLst>
                <a:path w="486410" h="561975">
                  <a:moveTo>
                    <a:pt x="486175" y="0"/>
                  </a:moveTo>
                  <a:lnTo>
                    <a:pt x="0" y="561609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2323059" y="2110416"/>
              <a:ext cx="410209" cy="368935"/>
            </a:xfrm>
            <a:custGeom>
              <a:avLst/>
              <a:gdLst/>
              <a:ahLst/>
              <a:cxnLst/>
              <a:rect l="l" t="t" r="r" b="b"/>
              <a:pathLst>
                <a:path w="410210" h="368935">
                  <a:moveTo>
                    <a:pt x="0" y="0"/>
                  </a:moveTo>
                  <a:lnTo>
                    <a:pt x="410119" y="36886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1611" y="338001"/>
            <a:ext cx="7182971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24" dirty="0"/>
              <a:t>A</a:t>
            </a:r>
            <a:r>
              <a:rPr sz="3794" spc="-115" dirty="0"/>
              <a:t>L</a:t>
            </a:r>
            <a:r>
              <a:rPr sz="3794" spc="-119" dirty="0"/>
              <a:t>T</a:t>
            </a:r>
            <a:r>
              <a:rPr sz="3794" spc="-110" dirty="0"/>
              <a:t>E</a:t>
            </a:r>
            <a:r>
              <a:rPr sz="3794" dirty="0"/>
              <a:t>R</a:t>
            </a:r>
            <a:r>
              <a:rPr sz="3794" spc="-234" dirty="0"/>
              <a:t> </a:t>
            </a:r>
            <a:r>
              <a:rPr sz="3794" spc="-119" dirty="0"/>
              <a:t>T</a:t>
            </a:r>
            <a:r>
              <a:rPr sz="3794" spc="-124" dirty="0"/>
              <a:t>A</a:t>
            </a:r>
            <a:r>
              <a:rPr sz="3794" spc="-115" dirty="0"/>
              <a:t>B</a:t>
            </a:r>
            <a:r>
              <a:rPr sz="3794" spc="-110" dirty="0"/>
              <a:t>L</a:t>
            </a:r>
            <a:r>
              <a:rPr sz="3794" dirty="0"/>
              <a:t>E</a:t>
            </a:r>
            <a:r>
              <a:rPr sz="3794" spc="-221" dirty="0"/>
              <a:t> </a:t>
            </a:r>
            <a:r>
              <a:rPr sz="3794" dirty="0"/>
              <a:t>…</a:t>
            </a:r>
            <a:r>
              <a:rPr sz="3794" spc="-229" dirty="0"/>
              <a:t> </a:t>
            </a:r>
            <a:r>
              <a:rPr sz="3794" spc="-124" dirty="0"/>
              <a:t>A</a:t>
            </a:r>
            <a:r>
              <a:rPr sz="3794" spc="-119" dirty="0"/>
              <a:t>D</a:t>
            </a:r>
            <a:r>
              <a:rPr sz="3794" spc="-115" dirty="0"/>
              <a:t>D/D</a:t>
            </a:r>
            <a:r>
              <a:rPr sz="3794" spc="-124" dirty="0"/>
              <a:t>R</a:t>
            </a:r>
            <a:r>
              <a:rPr sz="3794" spc="-119" dirty="0"/>
              <a:t>O</a:t>
            </a:r>
            <a:r>
              <a:rPr sz="3794" dirty="0"/>
              <a:t>P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2586112" y="3250154"/>
            <a:ext cx="2605928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ALTER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company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6112" y="3529853"/>
            <a:ext cx="2742079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ADD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ceo</a:t>
            </a:r>
            <a:r>
              <a:rPr sz="1765" spc="-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VARCHAR(40);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9728" y="3694382"/>
            <a:ext cx="1134035" cy="36209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9988" rIns="0" bIns="0" rtlCol="0">
            <a:spAutoFit/>
          </a:bodyPr>
          <a:lstStyle/>
          <a:p>
            <a:pPr marL="178743">
              <a:spcBef>
                <a:spcPts val="1024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475719" y="3000811"/>
            <a:ext cx="1084729" cy="442632"/>
            <a:chOff x="5459548" y="3400919"/>
            <a:chExt cx="1229360" cy="501650"/>
          </a:xfrm>
        </p:grpSpPr>
        <p:sp>
          <p:nvSpPr>
            <p:cNvPr id="7" name="object 7"/>
            <p:cNvSpPr/>
            <p:nvPr/>
          </p:nvSpPr>
          <p:spPr>
            <a:xfrm>
              <a:off x="5464628" y="340599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2" y="5663"/>
                  </a:lnTo>
                  <a:lnTo>
                    <a:pt x="416750" y="12519"/>
                  </a:lnTo>
                  <a:lnTo>
                    <a:pt x="357682" y="21856"/>
                  </a:lnTo>
                  <a:lnTo>
                    <a:pt x="301800" y="33526"/>
                  </a:lnTo>
                  <a:lnTo>
                    <a:pt x="249477" y="47379"/>
                  </a:lnTo>
                  <a:lnTo>
                    <a:pt x="201082" y="63265"/>
                  </a:lnTo>
                  <a:lnTo>
                    <a:pt x="156989" y="81035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69" y="390592"/>
                  </a:lnTo>
                  <a:lnTo>
                    <a:pt x="156989" y="410095"/>
                  </a:lnTo>
                  <a:lnTo>
                    <a:pt x="201082" y="427864"/>
                  </a:lnTo>
                  <a:lnTo>
                    <a:pt x="249477" y="443750"/>
                  </a:lnTo>
                  <a:lnTo>
                    <a:pt x="301800" y="457603"/>
                  </a:lnTo>
                  <a:lnTo>
                    <a:pt x="357682" y="469273"/>
                  </a:lnTo>
                  <a:lnTo>
                    <a:pt x="416750" y="478611"/>
                  </a:lnTo>
                  <a:lnTo>
                    <a:pt x="478632" y="485466"/>
                  </a:lnTo>
                  <a:lnTo>
                    <a:pt x="542957" y="489689"/>
                  </a:lnTo>
                  <a:lnTo>
                    <a:pt x="609353" y="491130"/>
                  </a:lnTo>
                  <a:lnTo>
                    <a:pt x="675749" y="489689"/>
                  </a:lnTo>
                  <a:lnTo>
                    <a:pt x="740074" y="485466"/>
                  </a:lnTo>
                  <a:lnTo>
                    <a:pt x="801956" y="478611"/>
                  </a:lnTo>
                  <a:lnTo>
                    <a:pt x="861024" y="469273"/>
                  </a:lnTo>
                  <a:lnTo>
                    <a:pt x="916906" y="457603"/>
                  </a:lnTo>
                  <a:lnTo>
                    <a:pt x="969230" y="443750"/>
                  </a:lnTo>
                  <a:lnTo>
                    <a:pt x="1017625" y="427864"/>
                  </a:lnTo>
                  <a:lnTo>
                    <a:pt x="1061718" y="410095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5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5464628" y="340599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719789" y="3095512"/>
            <a:ext cx="5961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cna</a:t>
            </a:r>
            <a:r>
              <a:rPr sz="1500" u="sng" spc="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m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13385" y="3000816"/>
            <a:ext cx="1710018" cy="698126"/>
            <a:chOff x="6068903" y="3400925"/>
            <a:chExt cx="1938020" cy="791210"/>
          </a:xfrm>
        </p:grpSpPr>
        <p:sp>
          <p:nvSpPr>
            <p:cNvPr id="11" name="object 11"/>
            <p:cNvSpPr/>
            <p:nvPr/>
          </p:nvSpPr>
          <p:spPr>
            <a:xfrm>
              <a:off x="6828480" y="3406005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6"/>
                  </a:lnTo>
                  <a:lnTo>
                    <a:pt x="240174" y="47379"/>
                  </a:lnTo>
                  <a:lnTo>
                    <a:pt x="193584" y="63265"/>
                  </a:lnTo>
                  <a:lnTo>
                    <a:pt x="151135" y="81034"/>
                  </a:lnTo>
                  <a:lnTo>
                    <a:pt x="113185" y="100537"/>
                  </a:lnTo>
                  <a:lnTo>
                    <a:pt x="80092" y="121623"/>
                  </a:lnTo>
                  <a:lnTo>
                    <a:pt x="29906" y="167947"/>
                  </a:lnTo>
                  <a:lnTo>
                    <a:pt x="3442" y="218807"/>
                  </a:lnTo>
                  <a:lnTo>
                    <a:pt x="0" y="245564"/>
                  </a:lnTo>
                  <a:lnTo>
                    <a:pt x="3442" y="272321"/>
                  </a:lnTo>
                  <a:lnTo>
                    <a:pt x="29906" y="323182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4"/>
                  </a:lnTo>
                  <a:lnTo>
                    <a:pt x="193584" y="427863"/>
                  </a:lnTo>
                  <a:lnTo>
                    <a:pt x="240174" y="443749"/>
                  </a:lnTo>
                  <a:lnTo>
                    <a:pt x="290547" y="457602"/>
                  </a:lnTo>
                  <a:lnTo>
                    <a:pt x="344344" y="469272"/>
                  </a:lnTo>
                  <a:lnTo>
                    <a:pt x="401210" y="478610"/>
                  </a:lnTo>
                  <a:lnTo>
                    <a:pt x="460784" y="485465"/>
                  </a:lnTo>
                  <a:lnTo>
                    <a:pt x="522710" y="489688"/>
                  </a:lnTo>
                  <a:lnTo>
                    <a:pt x="586630" y="491129"/>
                  </a:lnTo>
                  <a:lnTo>
                    <a:pt x="650550" y="489688"/>
                  </a:lnTo>
                  <a:lnTo>
                    <a:pt x="712476" y="485465"/>
                  </a:lnTo>
                  <a:lnTo>
                    <a:pt x="772051" y="478610"/>
                  </a:lnTo>
                  <a:lnTo>
                    <a:pt x="828916" y="469272"/>
                  </a:lnTo>
                  <a:lnTo>
                    <a:pt x="882714" y="457602"/>
                  </a:lnTo>
                  <a:lnTo>
                    <a:pt x="933087" y="443749"/>
                  </a:lnTo>
                  <a:lnTo>
                    <a:pt x="979676" y="427863"/>
                  </a:lnTo>
                  <a:lnTo>
                    <a:pt x="1022125" y="410094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2"/>
                  </a:lnTo>
                  <a:lnTo>
                    <a:pt x="1169819" y="272321"/>
                  </a:lnTo>
                  <a:lnTo>
                    <a:pt x="1173261" y="245564"/>
                  </a:lnTo>
                  <a:lnTo>
                    <a:pt x="1169819" y="218807"/>
                  </a:lnTo>
                  <a:lnTo>
                    <a:pt x="1143354" y="167947"/>
                  </a:lnTo>
                  <a:lnTo>
                    <a:pt x="1093169" y="121623"/>
                  </a:lnTo>
                  <a:lnTo>
                    <a:pt x="1060075" y="100537"/>
                  </a:lnTo>
                  <a:lnTo>
                    <a:pt x="1022125" y="81034"/>
                  </a:lnTo>
                  <a:lnTo>
                    <a:pt x="979676" y="63265"/>
                  </a:lnTo>
                  <a:lnTo>
                    <a:pt x="933087" y="47379"/>
                  </a:lnTo>
                  <a:lnTo>
                    <a:pt x="882714" y="33526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6828480" y="3406005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6073983" y="3897129"/>
              <a:ext cx="713105" cy="290195"/>
            </a:xfrm>
            <a:custGeom>
              <a:avLst/>
              <a:gdLst/>
              <a:ahLst/>
              <a:cxnLst/>
              <a:rect l="l" t="t" r="r" b="b"/>
              <a:pathLst>
                <a:path w="713104" h="290195">
                  <a:moveTo>
                    <a:pt x="0" y="0"/>
                  </a:moveTo>
                  <a:lnTo>
                    <a:pt x="712635" y="28983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6786618" y="3897134"/>
              <a:ext cx="628650" cy="290195"/>
            </a:xfrm>
            <a:custGeom>
              <a:avLst/>
              <a:gdLst/>
              <a:ahLst/>
              <a:cxnLst/>
              <a:rect l="l" t="t" r="r" b="b"/>
              <a:pathLst>
                <a:path w="628650" h="290195">
                  <a:moveTo>
                    <a:pt x="628492" y="0"/>
                  </a:moveTo>
                  <a:lnTo>
                    <a:pt x="0" y="28983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876948" y="3090134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755313" y="3538695"/>
            <a:ext cx="956982" cy="442632"/>
            <a:chOff x="8043088" y="4010521"/>
            <a:chExt cx="1084580" cy="501650"/>
          </a:xfrm>
        </p:grpSpPr>
        <p:sp>
          <p:nvSpPr>
            <p:cNvPr id="17" name="object 17"/>
            <p:cNvSpPr/>
            <p:nvPr/>
          </p:nvSpPr>
          <p:spPr>
            <a:xfrm>
              <a:off x="8048168" y="4015601"/>
              <a:ext cx="1074420" cy="491490"/>
            </a:xfrm>
            <a:custGeom>
              <a:avLst/>
              <a:gdLst/>
              <a:ahLst/>
              <a:cxnLst/>
              <a:rect l="l" t="t" r="r" b="b"/>
              <a:pathLst>
                <a:path w="1074420" h="491489">
                  <a:moveTo>
                    <a:pt x="537029" y="0"/>
                  </a:moveTo>
                  <a:lnTo>
                    <a:pt x="474400" y="1652"/>
                  </a:lnTo>
                  <a:lnTo>
                    <a:pt x="413893" y="6485"/>
                  </a:lnTo>
                  <a:lnTo>
                    <a:pt x="355911" y="14316"/>
                  </a:lnTo>
                  <a:lnTo>
                    <a:pt x="300857" y="24959"/>
                  </a:lnTo>
                  <a:lnTo>
                    <a:pt x="249134" y="38231"/>
                  </a:lnTo>
                  <a:lnTo>
                    <a:pt x="201145" y="53947"/>
                  </a:lnTo>
                  <a:lnTo>
                    <a:pt x="157292" y="71924"/>
                  </a:lnTo>
                  <a:lnTo>
                    <a:pt x="117979" y="91976"/>
                  </a:lnTo>
                  <a:lnTo>
                    <a:pt x="83609" y="113920"/>
                  </a:lnTo>
                  <a:lnTo>
                    <a:pt x="31308" y="162745"/>
                  </a:lnTo>
                  <a:lnTo>
                    <a:pt x="3612" y="216926"/>
                  </a:lnTo>
                  <a:lnTo>
                    <a:pt x="0" y="245564"/>
                  </a:lnTo>
                  <a:lnTo>
                    <a:pt x="3612" y="274202"/>
                  </a:lnTo>
                  <a:lnTo>
                    <a:pt x="31308" y="328383"/>
                  </a:lnTo>
                  <a:lnTo>
                    <a:pt x="83609" y="377209"/>
                  </a:lnTo>
                  <a:lnTo>
                    <a:pt x="117979" y="399153"/>
                  </a:lnTo>
                  <a:lnTo>
                    <a:pt x="157292" y="419205"/>
                  </a:lnTo>
                  <a:lnTo>
                    <a:pt x="201145" y="437181"/>
                  </a:lnTo>
                  <a:lnTo>
                    <a:pt x="249134" y="452897"/>
                  </a:lnTo>
                  <a:lnTo>
                    <a:pt x="300857" y="466169"/>
                  </a:lnTo>
                  <a:lnTo>
                    <a:pt x="355911" y="476813"/>
                  </a:lnTo>
                  <a:lnTo>
                    <a:pt x="413893" y="484643"/>
                  </a:lnTo>
                  <a:lnTo>
                    <a:pt x="474400" y="489477"/>
                  </a:lnTo>
                  <a:lnTo>
                    <a:pt x="537029" y="491129"/>
                  </a:lnTo>
                  <a:lnTo>
                    <a:pt x="599658" y="489477"/>
                  </a:lnTo>
                  <a:lnTo>
                    <a:pt x="660165" y="484643"/>
                  </a:lnTo>
                  <a:lnTo>
                    <a:pt x="718146" y="476813"/>
                  </a:lnTo>
                  <a:lnTo>
                    <a:pt x="773200" y="466169"/>
                  </a:lnTo>
                  <a:lnTo>
                    <a:pt x="824923" y="452897"/>
                  </a:lnTo>
                  <a:lnTo>
                    <a:pt x="872913" y="437181"/>
                  </a:lnTo>
                  <a:lnTo>
                    <a:pt x="916765" y="419205"/>
                  </a:lnTo>
                  <a:lnTo>
                    <a:pt x="956078" y="399153"/>
                  </a:lnTo>
                  <a:lnTo>
                    <a:pt x="990449" y="377209"/>
                  </a:lnTo>
                  <a:lnTo>
                    <a:pt x="1042749" y="328383"/>
                  </a:lnTo>
                  <a:lnTo>
                    <a:pt x="1070445" y="274202"/>
                  </a:lnTo>
                  <a:lnTo>
                    <a:pt x="1074058" y="245564"/>
                  </a:lnTo>
                  <a:lnTo>
                    <a:pt x="1070445" y="216926"/>
                  </a:lnTo>
                  <a:lnTo>
                    <a:pt x="1042749" y="162745"/>
                  </a:lnTo>
                  <a:lnTo>
                    <a:pt x="990449" y="113920"/>
                  </a:lnTo>
                  <a:lnTo>
                    <a:pt x="956078" y="91976"/>
                  </a:lnTo>
                  <a:lnTo>
                    <a:pt x="916765" y="71924"/>
                  </a:lnTo>
                  <a:lnTo>
                    <a:pt x="872913" y="53947"/>
                  </a:lnTo>
                  <a:lnTo>
                    <a:pt x="824923" y="38231"/>
                  </a:lnTo>
                  <a:lnTo>
                    <a:pt x="773200" y="24959"/>
                  </a:lnTo>
                  <a:lnTo>
                    <a:pt x="718146" y="14316"/>
                  </a:lnTo>
                  <a:lnTo>
                    <a:pt x="660165" y="6485"/>
                  </a:lnTo>
                  <a:lnTo>
                    <a:pt x="599658" y="1652"/>
                  </a:lnTo>
                  <a:lnTo>
                    <a:pt x="5370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8048168" y="4015601"/>
              <a:ext cx="1074420" cy="491490"/>
            </a:xfrm>
            <a:custGeom>
              <a:avLst/>
              <a:gdLst/>
              <a:ahLst/>
              <a:cxnLst/>
              <a:rect l="l" t="t" r="r" b="b"/>
              <a:pathLst>
                <a:path w="1074420" h="491489">
                  <a:moveTo>
                    <a:pt x="0" y="245564"/>
                  </a:moveTo>
                  <a:lnTo>
                    <a:pt x="14183" y="189259"/>
                  </a:lnTo>
                  <a:lnTo>
                    <a:pt x="54584" y="137571"/>
                  </a:lnTo>
                  <a:lnTo>
                    <a:pt x="117979" y="91976"/>
                  </a:lnTo>
                  <a:lnTo>
                    <a:pt x="157292" y="71924"/>
                  </a:lnTo>
                  <a:lnTo>
                    <a:pt x="201144" y="53947"/>
                  </a:lnTo>
                  <a:lnTo>
                    <a:pt x="249133" y="38231"/>
                  </a:lnTo>
                  <a:lnTo>
                    <a:pt x="300857" y="24959"/>
                  </a:lnTo>
                  <a:lnTo>
                    <a:pt x="355911" y="14316"/>
                  </a:lnTo>
                  <a:lnTo>
                    <a:pt x="413893" y="6485"/>
                  </a:lnTo>
                  <a:lnTo>
                    <a:pt x="474399" y="1652"/>
                  </a:lnTo>
                  <a:lnTo>
                    <a:pt x="537028" y="0"/>
                  </a:lnTo>
                  <a:lnTo>
                    <a:pt x="599657" y="1652"/>
                  </a:lnTo>
                  <a:lnTo>
                    <a:pt x="660164" y="6485"/>
                  </a:lnTo>
                  <a:lnTo>
                    <a:pt x="718146" y="14316"/>
                  </a:lnTo>
                  <a:lnTo>
                    <a:pt x="773200" y="24959"/>
                  </a:lnTo>
                  <a:lnTo>
                    <a:pt x="824923" y="38231"/>
                  </a:lnTo>
                  <a:lnTo>
                    <a:pt x="872912" y="53947"/>
                  </a:lnTo>
                  <a:lnTo>
                    <a:pt x="916765" y="71924"/>
                  </a:lnTo>
                  <a:lnTo>
                    <a:pt x="956078" y="91976"/>
                  </a:lnTo>
                  <a:lnTo>
                    <a:pt x="990448" y="113920"/>
                  </a:lnTo>
                  <a:lnTo>
                    <a:pt x="1042749" y="162745"/>
                  </a:lnTo>
                  <a:lnTo>
                    <a:pt x="1070444" y="216926"/>
                  </a:lnTo>
                  <a:lnTo>
                    <a:pt x="1074057" y="245564"/>
                  </a:lnTo>
                  <a:lnTo>
                    <a:pt x="1070444" y="274202"/>
                  </a:lnTo>
                  <a:lnTo>
                    <a:pt x="1042749" y="328383"/>
                  </a:lnTo>
                  <a:lnTo>
                    <a:pt x="990448" y="377209"/>
                  </a:lnTo>
                  <a:lnTo>
                    <a:pt x="956078" y="399153"/>
                  </a:lnTo>
                  <a:lnTo>
                    <a:pt x="916765" y="419205"/>
                  </a:lnTo>
                  <a:lnTo>
                    <a:pt x="872912" y="437181"/>
                  </a:lnTo>
                  <a:lnTo>
                    <a:pt x="824923" y="452898"/>
                  </a:lnTo>
                  <a:lnTo>
                    <a:pt x="773200" y="466170"/>
                  </a:lnTo>
                  <a:lnTo>
                    <a:pt x="718146" y="476813"/>
                  </a:lnTo>
                  <a:lnTo>
                    <a:pt x="660164" y="484644"/>
                  </a:lnTo>
                  <a:lnTo>
                    <a:pt x="599657" y="489477"/>
                  </a:lnTo>
                  <a:lnTo>
                    <a:pt x="537028" y="491129"/>
                  </a:lnTo>
                  <a:lnTo>
                    <a:pt x="474399" y="489477"/>
                  </a:lnTo>
                  <a:lnTo>
                    <a:pt x="413893" y="484644"/>
                  </a:lnTo>
                  <a:lnTo>
                    <a:pt x="355911" y="476813"/>
                  </a:lnTo>
                  <a:lnTo>
                    <a:pt x="300857" y="466170"/>
                  </a:lnTo>
                  <a:lnTo>
                    <a:pt x="249133" y="452898"/>
                  </a:lnTo>
                  <a:lnTo>
                    <a:pt x="201144" y="437181"/>
                  </a:lnTo>
                  <a:lnTo>
                    <a:pt x="157292" y="419205"/>
                  </a:lnTo>
                  <a:lnTo>
                    <a:pt x="117979" y="399153"/>
                  </a:lnTo>
                  <a:lnTo>
                    <a:pt x="83608" y="377209"/>
                  </a:lnTo>
                  <a:lnTo>
                    <a:pt x="31308" y="328383"/>
                  </a:lnTo>
                  <a:lnTo>
                    <a:pt x="3612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060724" y="3628016"/>
            <a:ext cx="33057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ceo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13596" y="3759852"/>
            <a:ext cx="546287" cy="180415"/>
          </a:xfrm>
          <a:custGeom>
            <a:avLst/>
            <a:gdLst/>
            <a:ahLst/>
            <a:cxnLst/>
            <a:rect l="l" t="t" r="r" b="b"/>
            <a:pathLst>
              <a:path w="619125" h="204470">
                <a:moveTo>
                  <a:pt x="619026" y="0"/>
                </a:moveTo>
                <a:lnTo>
                  <a:pt x="0" y="204211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21" name="object 21"/>
          <p:cNvGrpSpPr/>
          <p:nvPr/>
        </p:nvGrpSpPr>
        <p:grpSpPr>
          <a:xfrm>
            <a:off x="5514943" y="3447291"/>
            <a:ext cx="747432" cy="317126"/>
            <a:chOff x="4370669" y="3906930"/>
            <a:chExt cx="847090" cy="359410"/>
          </a:xfrm>
        </p:grpSpPr>
        <p:sp>
          <p:nvSpPr>
            <p:cNvPr id="22" name="object 22"/>
            <p:cNvSpPr/>
            <p:nvPr/>
          </p:nvSpPr>
          <p:spPr>
            <a:xfrm>
              <a:off x="4384762" y="3921023"/>
              <a:ext cx="819150" cy="331470"/>
            </a:xfrm>
            <a:custGeom>
              <a:avLst/>
              <a:gdLst/>
              <a:ahLst/>
              <a:cxnLst/>
              <a:rect l="l" t="t" r="r" b="b"/>
              <a:pathLst>
                <a:path w="819150" h="331470">
                  <a:moveTo>
                    <a:pt x="653143" y="0"/>
                  </a:moveTo>
                  <a:lnTo>
                    <a:pt x="653143" y="82731"/>
                  </a:lnTo>
                  <a:lnTo>
                    <a:pt x="0" y="82731"/>
                  </a:lnTo>
                  <a:lnTo>
                    <a:pt x="0" y="248194"/>
                  </a:lnTo>
                  <a:lnTo>
                    <a:pt x="653143" y="248194"/>
                  </a:lnTo>
                  <a:lnTo>
                    <a:pt x="653143" y="330926"/>
                  </a:lnTo>
                  <a:lnTo>
                    <a:pt x="818605" y="165463"/>
                  </a:lnTo>
                  <a:lnTo>
                    <a:pt x="653143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384762" y="3921023"/>
              <a:ext cx="819150" cy="331470"/>
            </a:xfrm>
            <a:custGeom>
              <a:avLst/>
              <a:gdLst/>
              <a:ahLst/>
              <a:cxnLst/>
              <a:rect l="l" t="t" r="r" b="b"/>
              <a:pathLst>
                <a:path w="819150" h="331470">
                  <a:moveTo>
                    <a:pt x="0" y="82731"/>
                  </a:moveTo>
                  <a:lnTo>
                    <a:pt x="653143" y="82731"/>
                  </a:lnTo>
                  <a:lnTo>
                    <a:pt x="653143" y="0"/>
                  </a:lnTo>
                  <a:lnTo>
                    <a:pt x="818605" y="165463"/>
                  </a:lnTo>
                  <a:lnTo>
                    <a:pt x="653143" y="330925"/>
                  </a:lnTo>
                  <a:lnTo>
                    <a:pt x="653143" y="248194"/>
                  </a:lnTo>
                  <a:lnTo>
                    <a:pt x="0" y="248194"/>
                  </a:lnTo>
                  <a:lnTo>
                    <a:pt x="0" y="82731"/>
                  </a:lnTo>
                  <a:close/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593608" y="2019266"/>
            <a:ext cx="1134035" cy="36209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9988" rIns="0" bIns="0" rtlCol="0">
            <a:spAutoFit/>
          </a:bodyPr>
          <a:lstStyle/>
          <a:p>
            <a:pPr marL="178743">
              <a:spcBef>
                <a:spcPts val="1024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989598" y="1294958"/>
            <a:ext cx="1084729" cy="442632"/>
            <a:chOff x="1508611" y="1467619"/>
            <a:chExt cx="1229360" cy="501650"/>
          </a:xfrm>
        </p:grpSpPr>
        <p:sp>
          <p:nvSpPr>
            <p:cNvPr id="26" name="object 26"/>
            <p:cNvSpPr/>
            <p:nvPr/>
          </p:nvSpPr>
          <p:spPr>
            <a:xfrm>
              <a:off x="1513691" y="147269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50" y="489688"/>
                  </a:lnTo>
                  <a:lnTo>
                    <a:pt x="740075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7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7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5" y="5663"/>
                  </a:lnTo>
                  <a:lnTo>
                    <a:pt x="675750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1513691" y="147269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233670" y="1390425"/>
            <a:ext cx="5961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cna</a:t>
            </a:r>
            <a:r>
              <a:rPr sz="1500" u="sng" spc="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m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27264" y="1294963"/>
            <a:ext cx="1710018" cy="728943"/>
            <a:chOff x="2117966" y="1467624"/>
            <a:chExt cx="1938020" cy="826135"/>
          </a:xfrm>
        </p:grpSpPr>
        <p:sp>
          <p:nvSpPr>
            <p:cNvPr id="30" name="object 30"/>
            <p:cNvSpPr/>
            <p:nvPr/>
          </p:nvSpPr>
          <p:spPr>
            <a:xfrm>
              <a:off x="2877543" y="1472704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6"/>
                  </a:lnTo>
                  <a:lnTo>
                    <a:pt x="240174" y="47379"/>
                  </a:lnTo>
                  <a:lnTo>
                    <a:pt x="193584" y="63265"/>
                  </a:lnTo>
                  <a:lnTo>
                    <a:pt x="151135" y="81034"/>
                  </a:lnTo>
                  <a:lnTo>
                    <a:pt x="113185" y="100537"/>
                  </a:lnTo>
                  <a:lnTo>
                    <a:pt x="80092" y="121623"/>
                  </a:lnTo>
                  <a:lnTo>
                    <a:pt x="29906" y="167947"/>
                  </a:lnTo>
                  <a:lnTo>
                    <a:pt x="3442" y="218807"/>
                  </a:lnTo>
                  <a:lnTo>
                    <a:pt x="0" y="245564"/>
                  </a:lnTo>
                  <a:lnTo>
                    <a:pt x="3442" y="272321"/>
                  </a:lnTo>
                  <a:lnTo>
                    <a:pt x="29906" y="323182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4"/>
                  </a:lnTo>
                  <a:lnTo>
                    <a:pt x="193584" y="427863"/>
                  </a:lnTo>
                  <a:lnTo>
                    <a:pt x="240174" y="443749"/>
                  </a:lnTo>
                  <a:lnTo>
                    <a:pt x="290547" y="457602"/>
                  </a:lnTo>
                  <a:lnTo>
                    <a:pt x="344344" y="469272"/>
                  </a:lnTo>
                  <a:lnTo>
                    <a:pt x="401210" y="478610"/>
                  </a:lnTo>
                  <a:lnTo>
                    <a:pt x="460784" y="485465"/>
                  </a:lnTo>
                  <a:lnTo>
                    <a:pt x="522710" y="489688"/>
                  </a:lnTo>
                  <a:lnTo>
                    <a:pt x="586630" y="491129"/>
                  </a:lnTo>
                  <a:lnTo>
                    <a:pt x="650550" y="489688"/>
                  </a:lnTo>
                  <a:lnTo>
                    <a:pt x="712476" y="485465"/>
                  </a:lnTo>
                  <a:lnTo>
                    <a:pt x="772051" y="478610"/>
                  </a:lnTo>
                  <a:lnTo>
                    <a:pt x="828916" y="469272"/>
                  </a:lnTo>
                  <a:lnTo>
                    <a:pt x="882714" y="457602"/>
                  </a:lnTo>
                  <a:lnTo>
                    <a:pt x="933087" y="443749"/>
                  </a:lnTo>
                  <a:lnTo>
                    <a:pt x="979676" y="427863"/>
                  </a:lnTo>
                  <a:lnTo>
                    <a:pt x="1022125" y="410094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2"/>
                  </a:lnTo>
                  <a:lnTo>
                    <a:pt x="1169819" y="272321"/>
                  </a:lnTo>
                  <a:lnTo>
                    <a:pt x="1173261" y="245564"/>
                  </a:lnTo>
                  <a:lnTo>
                    <a:pt x="1169819" y="218807"/>
                  </a:lnTo>
                  <a:lnTo>
                    <a:pt x="1143354" y="167947"/>
                  </a:lnTo>
                  <a:lnTo>
                    <a:pt x="1093169" y="121623"/>
                  </a:lnTo>
                  <a:lnTo>
                    <a:pt x="1060075" y="100537"/>
                  </a:lnTo>
                  <a:lnTo>
                    <a:pt x="1022125" y="81034"/>
                  </a:lnTo>
                  <a:lnTo>
                    <a:pt x="979676" y="63265"/>
                  </a:lnTo>
                  <a:lnTo>
                    <a:pt x="933087" y="47379"/>
                  </a:lnTo>
                  <a:lnTo>
                    <a:pt x="882714" y="33526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2877543" y="1472704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2123046" y="1963828"/>
              <a:ext cx="713105" cy="325120"/>
            </a:xfrm>
            <a:custGeom>
              <a:avLst/>
              <a:gdLst/>
              <a:ahLst/>
              <a:cxnLst/>
              <a:rect l="l" t="t" r="r" b="b"/>
              <a:pathLst>
                <a:path w="713105" h="325119">
                  <a:moveTo>
                    <a:pt x="0" y="0"/>
                  </a:moveTo>
                  <a:lnTo>
                    <a:pt x="712635" y="324673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2835682" y="1963834"/>
              <a:ext cx="628650" cy="325120"/>
            </a:xfrm>
            <a:custGeom>
              <a:avLst/>
              <a:gdLst/>
              <a:ahLst/>
              <a:cxnLst/>
              <a:rect l="l" t="t" r="r" b="b"/>
              <a:pathLst>
                <a:path w="628650" h="325119">
                  <a:moveTo>
                    <a:pt x="628492" y="0"/>
                  </a:moveTo>
                  <a:lnTo>
                    <a:pt x="0" y="32466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390828" y="1382357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78854" y="1281504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CREATE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39468" y="1281504"/>
            <a:ext cx="2469776" cy="5648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 marR="4483" indent="90772">
              <a:lnSpc>
                <a:spcPct val="104000"/>
              </a:lnSpc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company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(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 cname</a:t>
            </a:r>
            <a:r>
              <a:rPr sz="1765" spc="-5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VARCHAR(40),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39468" y="1830145"/>
            <a:ext cx="2878231" cy="573310"/>
          </a:xfrm>
          <a:prstGeom prst="rect">
            <a:avLst/>
          </a:prstGeom>
        </p:spPr>
        <p:txBody>
          <a:bodyPr vert="horz" wrap="square" lIns="0" tIns="8965" rIns="0" bIns="0" rtlCol="0">
            <a:spAutoFit/>
          </a:bodyPr>
          <a:lstStyle/>
          <a:p>
            <a:pPr marL="11206" marR="4483">
              <a:lnSpc>
                <a:spcPts val="2224"/>
              </a:lnSpc>
              <a:spcBef>
                <a:spcPts val="71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address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VARCHAR(255), </a:t>
            </a:r>
            <a:r>
              <a:rPr sz="1765" spc="-10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PRIMARY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KEY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(cname));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961989" y="2706698"/>
            <a:ext cx="8262097" cy="0"/>
          </a:xfrm>
          <a:custGeom>
            <a:avLst/>
            <a:gdLst/>
            <a:ahLst/>
            <a:cxnLst/>
            <a:rect l="l" t="t" r="r" b="b"/>
            <a:pathLst>
              <a:path w="9363710">
                <a:moveTo>
                  <a:pt x="0" y="0"/>
                </a:moveTo>
                <a:lnTo>
                  <a:pt x="9363455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9" name="object 39"/>
          <p:cNvSpPr txBox="1"/>
          <p:nvPr/>
        </p:nvSpPr>
        <p:spPr>
          <a:xfrm>
            <a:off x="3401836" y="5095090"/>
            <a:ext cx="702609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86112" y="5095090"/>
            <a:ext cx="1244974" cy="56736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ALTER</a:t>
            </a:r>
            <a:endParaRPr sz="1765">
              <a:latin typeface="Courier New"/>
              <a:cs typeface="Courier New"/>
            </a:endParaRPr>
          </a:p>
          <a:p>
            <a:pPr marL="11206">
              <a:spcBef>
                <a:spcPts val="84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DROP</a:t>
            </a:r>
            <a:r>
              <a:rPr sz="1765" spc="-4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ceo;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17560" y="5095090"/>
            <a:ext cx="974351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company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079728" y="5537079"/>
            <a:ext cx="1134035" cy="36209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29988" rIns="0" bIns="0" rtlCol="0">
            <a:spAutoFit/>
          </a:bodyPr>
          <a:lstStyle/>
          <a:p>
            <a:pPr marL="178743">
              <a:spcBef>
                <a:spcPts val="1024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475719" y="4828139"/>
            <a:ext cx="1084729" cy="442632"/>
            <a:chOff x="5459548" y="5471891"/>
            <a:chExt cx="1229360" cy="501650"/>
          </a:xfrm>
        </p:grpSpPr>
        <p:sp>
          <p:nvSpPr>
            <p:cNvPr id="44" name="object 44"/>
            <p:cNvSpPr/>
            <p:nvPr/>
          </p:nvSpPr>
          <p:spPr>
            <a:xfrm>
              <a:off x="5464628" y="5476971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2" y="5663"/>
                  </a:lnTo>
                  <a:lnTo>
                    <a:pt x="416750" y="12519"/>
                  </a:lnTo>
                  <a:lnTo>
                    <a:pt x="357682" y="21856"/>
                  </a:lnTo>
                  <a:lnTo>
                    <a:pt x="301800" y="33526"/>
                  </a:lnTo>
                  <a:lnTo>
                    <a:pt x="249477" y="47379"/>
                  </a:lnTo>
                  <a:lnTo>
                    <a:pt x="201082" y="63265"/>
                  </a:lnTo>
                  <a:lnTo>
                    <a:pt x="156989" y="81034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69" y="390592"/>
                  </a:lnTo>
                  <a:lnTo>
                    <a:pt x="156989" y="410094"/>
                  </a:lnTo>
                  <a:lnTo>
                    <a:pt x="201082" y="427863"/>
                  </a:lnTo>
                  <a:lnTo>
                    <a:pt x="249477" y="443749"/>
                  </a:lnTo>
                  <a:lnTo>
                    <a:pt x="301800" y="457602"/>
                  </a:lnTo>
                  <a:lnTo>
                    <a:pt x="357682" y="469272"/>
                  </a:lnTo>
                  <a:lnTo>
                    <a:pt x="416750" y="478610"/>
                  </a:lnTo>
                  <a:lnTo>
                    <a:pt x="478632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5464628" y="5476971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719789" y="4921623"/>
            <a:ext cx="59615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cna</a:t>
            </a:r>
            <a:r>
              <a:rPr sz="1500" u="sng" spc="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m</a:t>
            </a:r>
            <a:r>
              <a:rPr sz="15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013385" y="4828143"/>
            <a:ext cx="1710018" cy="713815"/>
            <a:chOff x="6068903" y="5471896"/>
            <a:chExt cx="1938020" cy="808990"/>
          </a:xfrm>
        </p:grpSpPr>
        <p:sp>
          <p:nvSpPr>
            <p:cNvPr id="48" name="object 48"/>
            <p:cNvSpPr/>
            <p:nvPr/>
          </p:nvSpPr>
          <p:spPr>
            <a:xfrm>
              <a:off x="6828480" y="5476976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6"/>
                  </a:lnTo>
                  <a:lnTo>
                    <a:pt x="240174" y="47379"/>
                  </a:lnTo>
                  <a:lnTo>
                    <a:pt x="193584" y="63265"/>
                  </a:lnTo>
                  <a:lnTo>
                    <a:pt x="151135" y="81034"/>
                  </a:lnTo>
                  <a:lnTo>
                    <a:pt x="113185" y="100537"/>
                  </a:lnTo>
                  <a:lnTo>
                    <a:pt x="80092" y="121623"/>
                  </a:lnTo>
                  <a:lnTo>
                    <a:pt x="29906" y="167947"/>
                  </a:lnTo>
                  <a:lnTo>
                    <a:pt x="3442" y="218807"/>
                  </a:lnTo>
                  <a:lnTo>
                    <a:pt x="0" y="245564"/>
                  </a:lnTo>
                  <a:lnTo>
                    <a:pt x="3442" y="272321"/>
                  </a:lnTo>
                  <a:lnTo>
                    <a:pt x="29906" y="323182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4"/>
                  </a:lnTo>
                  <a:lnTo>
                    <a:pt x="193584" y="427863"/>
                  </a:lnTo>
                  <a:lnTo>
                    <a:pt x="240174" y="443749"/>
                  </a:lnTo>
                  <a:lnTo>
                    <a:pt x="290547" y="457602"/>
                  </a:lnTo>
                  <a:lnTo>
                    <a:pt x="344344" y="469272"/>
                  </a:lnTo>
                  <a:lnTo>
                    <a:pt x="401210" y="478610"/>
                  </a:lnTo>
                  <a:lnTo>
                    <a:pt x="460784" y="485465"/>
                  </a:lnTo>
                  <a:lnTo>
                    <a:pt x="522710" y="489688"/>
                  </a:lnTo>
                  <a:lnTo>
                    <a:pt x="586630" y="491129"/>
                  </a:lnTo>
                  <a:lnTo>
                    <a:pt x="650550" y="489688"/>
                  </a:lnTo>
                  <a:lnTo>
                    <a:pt x="712476" y="485465"/>
                  </a:lnTo>
                  <a:lnTo>
                    <a:pt x="772051" y="478610"/>
                  </a:lnTo>
                  <a:lnTo>
                    <a:pt x="828916" y="469272"/>
                  </a:lnTo>
                  <a:lnTo>
                    <a:pt x="882714" y="457602"/>
                  </a:lnTo>
                  <a:lnTo>
                    <a:pt x="933087" y="443749"/>
                  </a:lnTo>
                  <a:lnTo>
                    <a:pt x="979676" y="427863"/>
                  </a:lnTo>
                  <a:lnTo>
                    <a:pt x="1022125" y="410094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2"/>
                  </a:lnTo>
                  <a:lnTo>
                    <a:pt x="1169819" y="272321"/>
                  </a:lnTo>
                  <a:lnTo>
                    <a:pt x="1173261" y="245564"/>
                  </a:lnTo>
                  <a:lnTo>
                    <a:pt x="1169819" y="218807"/>
                  </a:lnTo>
                  <a:lnTo>
                    <a:pt x="1143354" y="167947"/>
                  </a:lnTo>
                  <a:lnTo>
                    <a:pt x="1093169" y="121623"/>
                  </a:lnTo>
                  <a:lnTo>
                    <a:pt x="1060075" y="100537"/>
                  </a:lnTo>
                  <a:lnTo>
                    <a:pt x="1022125" y="81034"/>
                  </a:lnTo>
                  <a:lnTo>
                    <a:pt x="979676" y="63265"/>
                  </a:lnTo>
                  <a:lnTo>
                    <a:pt x="933087" y="47379"/>
                  </a:lnTo>
                  <a:lnTo>
                    <a:pt x="882714" y="33526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6828480" y="5476976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6073983" y="5968100"/>
              <a:ext cx="713105" cy="307340"/>
            </a:xfrm>
            <a:custGeom>
              <a:avLst/>
              <a:gdLst/>
              <a:ahLst/>
              <a:cxnLst/>
              <a:rect l="l" t="t" r="r" b="b"/>
              <a:pathLst>
                <a:path w="713104" h="307339">
                  <a:moveTo>
                    <a:pt x="0" y="0"/>
                  </a:moveTo>
                  <a:lnTo>
                    <a:pt x="712635" y="30725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6786618" y="5968105"/>
              <a:ext cx="628650" cy="307340"/>
            </a:xfrm>
            <a:custGeom>
              <a:avLst/>
              <a:gdLst/>
              <a:ahLst/>
              <a:cxnLst/>
              <a:rect l="l" t="t" r="r" b="b"/>
              <a:pathLst>
                <a:path w="628650" h="307339">
                  <a:moveTo>
                    <a:pt x="628492" y="0"/>
                  </a:moveTo>
                  <a:lnTo>
                    <a:pt x="0" y="30725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876948" y="4916245"/>
            <a:ext cx="70204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500" spc="4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5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514943" y="5120934"/>
            <a:ext cx="747432" cy="317126"/>
            <a:chOff x="4370669" y="5803725"/>
            <a:chExt cx="847090" cy="359410"/>
          </a:xfrm>
        </p:grpSpPr>
        <p:sp>
          <p:nvSpPr>
            <p:cNvPr id="54" name="object 54"/>
            <p:cNvSpPr/>
            <p:nvPr/>
          </p:nvSpPr>
          <p:spPr>
            <a:xfrm>
              <a:off x="4384762" y="5817819"/>
              <a:ext cx="819150" cy="331470"/>
            </a:xfrm>
            <a:custGeom>
              <a:avLst/>
              <a:gdLst/>
              <a:ahLst/>
              <a:cxnLst/>
              <a:rect l="l" t="t" r="r" b="b"/>
              <a:pathLst>
                <a:path w="819150" h="331470">
                  <a:moveTo>
                    <a:pt x="653143" y="0"/>
                  </a:moveTo>
                  <a:lnTo>
                    <a:pt x="653143" y="82731"/>
                  </a:lnTo>
                  <a:lnTo>
                    <a:pt x="0" y="82731"/>
                  </a:lnTo>
                  <a:lnTo>
                    <a:pt x="0" y="248193"/>
                  </a:lnTo>
                  <a:lnTo>
                    <a:pt x="653143" y="248193"/>
                  </a:lnTo>
                  <a:lnTo>
                    <a:pt x="653143" y="330925"/>
                  </a:lnTo>
                  <a:lnTo>
                    <a:pt x="818605" y="165463"/>
                  </a:lnTo>
                  <a:lnTo>
                    <a:pt x="653143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4384762" y="5817819"/>
              <a:ext cx="819150" cy="331470"/>
            </a:xfrm>
            <a:custGeom>
              <a:avLst/>
              <a:gdLst/>
              <a:ahLst/>
              <a:cxnLst/>
              <a:rect l="l" t="t" r="r" b="b"/>
              <a:pathLst>
                <a:path w="819150" h="331470">
                  <a:moveTo>
                    <a:pt x="0" y="82731"/>
                  </a:moveTo>
                  <a:lnTo>
                    <a:pt x="653143" y="82731"/>
                  </a:lnTo>
                  <a:lnTo>
                    <a:pt x="653143" y="0"/>
                  </a:lnTo>
                  <a:lnTo>
                    <a:pt x="818605" y="165463"/>
                  </a:lnTo>
                  <a:lnTo>
                    <a:pt x="653143" y="330925"/>
                  </a:lnTo>
                  <a:lnTo>
                    <a:pt x="653143" y="248194"/>
                  </a:lnTo>
                  <a:lnTo>
                    <a:pt x="0" y="248194"/>
                  </a:lnTo>
                  <a:lnTo>
                    <a:pt x="0" y="82731"/>
                  </a:lnTo>
                  <a:close/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6" name="object 56"/>
          <p:cNvSpPr/>
          <p:nvPr/>
        </p:nvSpPr>
        <p:spPr>
          <a:xfrm>
            <a:off x="1961989" y="4499640"/>
            <a:ext cx="8262097" cy="0"/>
          </a:xfrm>
          <a:custGeom>
            <a:avLst/>
            <a:gdLst/>
            <a:ahLst/>
            <a:cxnLst/>
            <a:rect l="l" t="t" r="r" b="b"/>
            <a:pathLst>
              <a:path w="9363710">
                <a:moveTo>
                  <a:pt x="0" y="0"/>
                </a:moveTo>
                <a:lnTo>
                  <a:pt x="9363455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0005" y="338001"/>
            <a:ext cx="5986743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0" dirty="0"/>
              <a:t>I</a:t>
            </a:r>
            <a:r>
              <a:rPr sz="3794" spc="-119" dirty="0"/>
              <a:t>N</a:t>
            </a:r>
            <a:r>
              <a:rPr sz="3794" spc="-124" dirty="0"/>
              <a:t>S</a:t>
            </a:r>
            <a:r>
              <a:rPr sz="3794" spc="-115" dirty="0"/>
              <a:t>E</a:t>
            </a:r>
            <a:r>
              <a:rPr sz="3794" spc="-124" dirty="0"/>
              <a:t>R</a:t>
            </a:r>
            <a:r>
              <a:rPr sz="3794" dirty="0"/>
              <a:t>T</a:t>
            </a:r>
            <a:r>
              <a:rPr sz="3794" spc="-229" dirty="0"/>
              <a:t> </a:t>
            </a:r>
            <a:r>
              <a:rPr sz="3794" spc="-110" dirty="0"/>
              <a:t>I</a:t>
            </a:r>
            <a:r>
              <a:rPr sz="3794" spc="-119" dirty="0"/>
              <a:t>NT</a:t>
            </a:r>
            <a:r>
              <a:rPr sz="3794" dirty="0"/>
              <a:t>O</a:t>
            </a:r>
            <a:r>
              <a:rPr sz="3794" spc="-224" dirty="0"/>
              <a:t> </a:t>
            </a:r>
            <a:r>
              <a:rPr sz="3794" dirty="0"/>
              <a:t>…</a:t>
            </a:r>
            <a:r>
              <a:rPr sz="3794" spc="-229" dirty="0"/>
              <a:t> </a:t>
            </a:r>
            <a:r>
              <a:rPr sz="3794" spc="-124" dirty="0"/>
              <a:t>VA</a:t>
            </a:r>
            <a:r>
              <a:rPr sz="3794" spc="-110" dirty="0"/>
              <a:t>L</a:t>
            </a:r>
            <a:r>
              <a:rPr sz="3794" spc="-119" dirty="0"/>
              <a:t>U</a:t>
            </a:r>
            <a:r>
              <a:rPr sz="3794" dirty="0"/>
              <a:t>E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4217965" y="3126442"/>
            <a:ext cx="566457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INTO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97868" y="3126442"/>
            <a:ext cx="2062443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6291" y="3126441"/>
            <a:ext cx="838200" cy="546163"/>
          </a:xfrm>
          <a:prstGeom prst="rect">
            <a:avLst/>
          </a:prstGeom>
        </p:spPr>
        <p:txBody>
          <a:bodyPr vert="horz" wrap="square" lIns="0" tIns="29134" rIns="0" bIns="0" rtlCol="0">
            <a:spAutoFit/>
          </a:bodyPr>
          <a:lstStyle/>
          <a:p>
            <a:pPr marL="11206" marR="4483">
              <a:lnSpc>
                <a:spcPts val="2030"/>
              </a:lnSpc>
              <a:spcBef>
                <a:spcPts val="229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INSERT  VALUES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7965" y="3373419"/>
            <a:ext cx="3973046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853" spc="4" dirty="0">
                <a:solidFill>
                  <a:srgbClr val="292934"/>
                </a:solidFill>
                <a:latin typeface="Courier New"/>
                <a:cs typeface="Courier New"/>
              </a:rPr>
              <a:t>“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9999”,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“85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Engineer’s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Way”,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8469" y="1035422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8135" y="3642807"/>
            <a:ext cx="5249956" cy="78537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59871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“Database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Systems”,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“Humpty”);</a:t>
            </a:r>
            <a:endParaRPr sz="1765">
              <a:latin typeface="Courier New"/>
              <a:cs typeface="Courier New"/>
            </a:endParaRPr>
          </a:p>
          <a:p>
            <a:pPr>
              <a:spcBef>
                <a:spcPts val="22"/>
              </a:spcBef>
            </a:pPr>
            <a:endParaRPr sz="1765">
              <a:latin typeface="Courier New"/>
              <a:cs typeface="Courier New"/>
            </a:endParaRPr>
          </a:p>
          <a:p>
            <a:pPr marL="11206"/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Student_lecture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971380" y="1297109"/>
          <a:ext cx="733088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980289" y="3570246"/>
            <a:ext cx="855009" cy="1071843"/>
            <a:chOff x="364728" y="4046279"/>
            <a:chExt cx="969010" cy="1214755"/>
          </a:xfrm>
        </p:grpSpPr>
        <p:sp>
          <p:nvSpPr>
            <p:cNvPr id="12" name="object 12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0005" y="338001"/>
            <a:ext cx="5986743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0" dirty="0"/>
              <a:t>I</a:t>
            </a:r>
            <a:r>
              <a:rPr sz="3794" spc="-119" dirty="0"/>
              <a:t>N</a:t>
            </a:r>
            <a:r>
              <a:rPr sz="3794" spc="-124" dirty="0"/>
              <a:t>S</a:t>
            </a:r>
            <a:r>
              <a:rPr sz="3794" spc="-115" dirty="0"/>
              <a:t>E</a:t>
            </a:r>
            <a:r>
              <a:rPr sz="3794" spc="-124" dirty="0"/>
              <a:t>R</a:t>
            </a:r>
            <a:r>
              <a:rPr sz="3794" dirty="0"/>
              <a:t>T</a:t>
            </a:r>
            <a:r>
              <a:rPr sz="3794" spc="-229" dirty="0"/>
              <a:t> </a:t>
            </a:r>
            <a:r>
              <a:rPr sz="3794" spc="-110" dirty="0"/>
              <a:t>I</a:t>
            </a:r>
            <a:r>
              <a:rPr sz="3794" spc="-119" dirty="0"/>
              <a:t>NT</a:t>
            </a:r>
            <a:r>
              <a:rPr sz="3794" dirty="0"/>
              <a:t>O</a:t>
            </a:r>
            <a:r>
              <a:rPr sz="3794" spc="-224" dirty="0"/>
              <a:t> </a:t>
            </a:r>
            <a:r>
              <a:rPr sz="3794" dirty="0"/>
              <a:t>…</a:t>
            </a:r>
            <a:r>
              <a:rPr sz="3794" spc="-229" dirty="0"/>
              <a:t> </a:t>
            </a:r>
            <a:r>
              <a:rPr sz="3794" spc="-124" dirty="0"/>
              <a:t>VA</a:t>
            </a:r>
            <a:r>
              <a:rPr sz="3794" spc="-110" dirty="0"/>
              <a:t>L</a:t>
            </a:r>
            <a:r>
              <a:rPr sz="3794" spc="-119" dirty="0"/>
              <a:t>U</a:t>
            </a:r>
            <a:r>
              <a:rPr sz="3794" dirty="0"/>
              <a:t>E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4217965" y="3126442"/>
            <a:ext cx="566457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INTO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97868" y="3126442"/>
            <a:ext cx="2062443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6291" y="3126441"/>
            <a:ext cx="838200" cy="546163"/>
          </a:xfrm>
          <a:prstGeom prst="rect">
            <a:avLst/>
          </a:prstGeom>
        </p:spPr>
        <p:txBody>
          <a:bodyPr vert="horz" wrap="square" lIns="0" tIns="29134" rIns="0" bIns="0" rtlCol="0">
            <a:spAutoFit/>
          </a:bodyPr>
          <a:lstStyle/>
          <a:p>
            <a:pPr marL="11206" marR="4483">
              <a:lnSpc>
                <a:spcPts val="2030"/>
              </a:lnSpc>
              <a:spcBef>
                <a:spcPts val="229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INSERT  VALUES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7965" y="3373419"/>
            <a:ext cx="3973046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1853" spc="4" dirty="0">
                <a:solidFill>
                  <a:srgbClr val="292934"/>
                </a:solidFill>
                <a:latin typeface="Courier New"/>
                <a:cs typeface="Courier New"/>
              </a:rPr>
              <a:t>“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9999”,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“85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Engineer’s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Way”,</a:t>
            </a:r>
            <a:endParaRPr sz="1765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8469" y="1035422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78135" y="3642807"/>
            <a:ext cx="5249956" cy="78537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59871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“Database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Systems”,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“Humpty”);</a:t>
            </a:r>
            <a:endParaRPr sz="1765">
              <a:latin typeface="Courier New"/>
              <a:cs typeface="Courier New"/>
            </a:endParaRPr>
          </a:p>
          <a:p>
            <a:pPr>
              <a:spcBef>
                <a:spcPts val="22"/>
              </a:spcBef>
            </a:pPr>
            <a:endParaRPr sz="1765">
              <a:latin typeface="Courier New"/>
              <a:cs typeface="Courier New"/>
            </a:endParaRPr>
          </a:p>
          <a:p>
            <a:pPr marL="11206"/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Student_lecture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971380" y="1297109"/>
          <a:ext cx="733088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980289" y="3570246"/>
            <a:ext cx="855009" cy="1071843"/>
            <a:chOff x="364728" y="4046279"/>
            <a:chExt cx="969010" cy="1214755"/>
          </a:xfrm>
        </p:grpSpPr>
        <p:sp>
          <p:nvSpPr>
            <p:cNvPr id="12" name="object 12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BAE5D0AE-7B28-6E84-EEFC-F2E9962423BD}"/>
              </a:ext>
            </a:extLst>
          </p:cNvPr>
          <p:cNvGraphicFramePr>
            <a:graphicFrameLocks noGrp="1"/>
          </p:cNvGraphicFramePr>
          <p:nvPr/>
        </p:nvGraphicFramePr>
        <p:xfrm>
          <a:off x="2833985" y="4754070"/>
          <a:ext cx="7330889" cy="1882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>
                          <a:latin typeface="Verdana"/>
                          <a:cs typeface="Verdana"/>
                        </a:rPr>
                        <a:t>9999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>
                          <a:latin typeface="Verdana"/>
                          <a:cs typeface="Verdana"/>
                        </a:rPr>
                        <a:t>85 Engineer’s Way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>
                          <a:latin typeface="Verdana"/>
                          <a:cs typeface="Verdana"/>
                        </a:rPr>
                        <a:t>Database Systems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 err="1">
                          <a:latin typeface="Verdana"/>
                          <a:cs typeface="Verdana"/>
                        </a:rPr>
                        <a:t>Humpty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002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4785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399" y="338001"/>
            <a:ext cx="6556001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9" dirty="0"/>
              <a:t>U</a:t>
            </a:r>
            <a:r>
              <a:rPr sz="3794" spc="-110" dirty="0"/>
              <a:t>P</a:t>
            </a:r>
            <a:r>
              <a:rPr sz="3794" spc="-115" dirty="0"/>
              <a:t>D</a:t>
            </a:r>
            <a:r>
              <a:rPr sz="3794" spc="-124" dirty="0"/>
              <a:t>A</a:t>
            </a:r>
            <a:r>
              <a:rPr sz="3794" spc="-115" dirty="0"/>
              <a:t>T</a:t>
            </a:r>
            <a:r>
              <a:rPr sz="3794" dirty="0"/>
              <a:t>E</a:t>
            </a:r>
            <a:r>
              <a:rPr sz="3794" spc="-224" dirty="0"/>
              <a:t> </a:t>
            </a:r>
            <a:r>
              <a:rPr sz="3794" dirty="0"/>
              <a:t>…</a:t>
            </a:r>
            <a:r>
              <a:rPr sz="3794" spc="-229" dirty="0"/>
              <a:t> </a:t>
            </a:r>
            <a:r>
              <a:rPr sz="3794" spc="-119" dirty="0"/>
              <a:t>S</a:t>
            </a:r>
            <a:r>
              <a:rPr sz="3794" spc="-110" dirty="0"/>
              <a:t>E</a:t>
            </a:r>
            <a:r>
              <a:rPr sz="3794" dirty="0"/>
              <a:t>T</a:t>
            </a:r>
            <a:r>
              <a:rPr sz="3794" spc="-224" dirty="0"/>
              <a:t> </a:t>
            </a:r>
            <a:r>
              <a:rPr sz="3794" spc="-101" dirty="0"/>
              <a:t>..</a:t>
            </a:r>
            <a:r>
              <a:rPr sz="3794" dirty="0"/>
              <a:t>.</a:t>
            </a:r>
            <a:r>
              <a:rPr sz="3794" spc="-212" dirty="0"/>
              <a:t> </a:t>
            </a:r>
            <a:r>
              <a:rPr sz="3794" spc="-132" dirty="0"/>
              <a:t>W</a:t>
            </a:r>
            <a:r>
              <a:rPr sz="3794" spc="-119" dirty="0"/>
              <a:t>H</a:t>
            </a:r>
            <a:r>
              <a:rPr sz="3794" spc="-110" dirty="0"/>
              <a:t>E</a:t>
            </a:r>
            <a:r>
              <a:rPr sz="3794" spc="-124" dirty="0"/>
              <a:t>RE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1948469" y="1035422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39571" y="4416827"/>
          <a:ext cx="7330889" cy="1882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>
                          <a:latin typeface="Verdana"/>
                          <a:cs typeface="Verdana"/>
                        </a:rPr>
                        <a:t>9999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>
                          <a:latin typeface="Verdana"/>
                          <a:cs typeface="Verdana"/>
                        </a:rPr>
                        <a:t>85 Engineer’s Way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>
                          <a:latin typeface="Verdana"/>
                          <a:cs typeface="Verdana"/>
                        </a:rPr>
                        <a:t>Database Systems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 err="1">
                          <a:latin typeface="Verdana"/>
                          <a:cs typeface="Verdana"/>
                        </a:rPr>
                        <a:t>Humpty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55612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978136" y="3126442"/>
            <a:ext cx="4797799" cy="130282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99213">
              <a:lnSpc>
                <a:spcPts val="2034"/>
              </a:lnSpc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UPDATE</a:t>
            </a:r>
            <a:r>
              <a:rPr sz="1765" spc="-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1765">
              <a:latin typeface="Courier New"/>
              <a:cs typeface="Courier New"/>
            </a:endParaRPr>
          </a:p>
          <a:p>
            <a:pPr marL="299213" marR="4483">
              <a:lnSpc>
                <a:spcPts val="2030"/>
              </a:lnSpc>
              <a:spcBef>
                <a:spcPts val="53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SET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“Humpty” </a:t>
            </a:r>
            <a:r>
              <a:rPr sz="1765" spc="-104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1765" spc="18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S_id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765" spc="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“5678”;</a:t>
            </a:r>
            <a:endParaRPr sz="1765"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1809">
              <a:latin typeface="Courier New"/>
              <a:cs typeface="Courier New"/>
            </a:endParaRPr>
          </a:p>
          <a:p>
            <a:pPr marL="11206"/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Student_lecture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71380" y="1297109"/>
          <a:ext cx="733088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1980289" y="3570246"/>
            <a:ext cx="855009" cy="1071843"/>
            <a:chOff x="364728" y="4046279"/>
            <a:chExt cx="969010" cy="1214755"/>
          </a:xfrm>
        </p:grpSpPr>
        <p:sp>
          <p:nvSpPr>
            <p:cNvPr id="8" name="object 8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2664" y="338001"/>
            <a:ext cx="6309471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5" dirty="0"/>
              <a:t>D</a:t>
            </a:r>
            <a:r>
              <a:rPr sz="3794" spc="-110" dirty="0"/>
              <a:t>E</a:t>
            </a:r>
            <a:r>
              <a:rPr sz="3794" spc="-115" dirty="0"/>
              <a:t>LE</a:t>
            </a:r>
            <a:r>
              <a:rPr sz="3794" spc="-119" dirty="0"/>
              <a:t>T</a:t>
            </a:r>
            <a:r>
              <a:rPr sz="3794" dirty="0"/>
              <a:t>E</a:t>
            </a:r>
            <a:r>
              <a:rPr sz="3794" spc="-221" dirty="0"/>
              <a:t> </a:t>
            </a:r>
            <a:r>
              <a:rPr sz="3794" spc="-119" dirty="0"/>
              <a:t>F</a:t>
            </a:r>
            <a:r>
              <a:rPr sz="3794" spc="-124" dirty="0"/>
              <a:t>R</a:t>
            </a:r>
            <a:r>
              <a:rPr sz="3794" spc="-119" dirty="0"/>
              <a:t>O</a:t>
            </a:r>
            <a:r>
              <a:rPr sz="3794" dirty="0"/>
              <a:t>M</a:t>
            </a:r>
            <a:r>
              <a:rPr sz="3794" spc="-234" dirty="0"/>
              <a:t> </a:t>
            </a:r>
            <a:r>
              <a:rPr sz="3794" dirty="0"/>
              <a:t>…</a:t>
            </a:r>
            <a:r>
              <a:rPr sz="3794" spc="-229" dirty="0"/>
              <a:t> </a:t>
            </a:r>
            <a:r>
              <a:rPr sz="3794" spc="-132" dirty="0"/>
              <a:t>W</a:t>
            </a:r>
            <a:r>
              <a:rPr sz="3794" spc="-119" dirty="0"/>
              <a:t>H</a:t>
            </a:r>
            <a:r>
              <a:rPr sz="3794" spc="-110" dirty="0"/>
              <a:t>E</a:t>
            </a:r>
            <a:r>
              <a:rPr sz="3794" spc="-124" dirty="0"/>
              <a:t>RE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3266292" y="3126441"/>
            <a:ext cx="3694018" cy="554085"/>
          </a:xfrm>
          <a:prstGeom prst="rect">
            <a:avLst/>
          </a:prstGeom>
        </p:spPr>
        <p:txBody>
          <a:bodyPr vert="horz" wrap="square" lIns="0" tIns="36979" rIns="0" bIns="0" rtlCol="0">
            <a:spAutoFit/>
          </a:bodyPr>
          <a:lstStyle/>
          <a:p>
            <a:pPr marL="11206" marR="4483">
              <a:lnSpc>
                <a:spcPts val="1950"/>
              </a:lnSpc>
              <a:spcBef>
                <a:spcPts val="291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DELETE FROM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Student_lecture </a:t>
            </a:r>
            <a:r>
              <a:rPr sz="1765" spc="-10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2080" y="3373867"/>
            <a:ext cx="4101353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765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”Humpty”;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8469" y="1035422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39571" y="4416827"/>
          <a:ext cx="7330889" cy="1344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978136" y="4168588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971380" y="1297110"/>
          <a:ext cx="7330889" cy="1882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>
                          <a:latin typeface="Verdana"/>
                          <a:cs typeface="Verdana"/>
                        </a:rPr>
                        <a:t>9999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>
                          <a:latin typeface="Verdana"/>
                          <a:cs typeface="Verdana"/>
                        </a:rPr>
                        <a:t>85 Engineer’s Way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>
                          <a:latin typeface="Verdana"/>
                          <a:cs typeface="Verdana"/>
                        </a:rPr>
                        <a:t>Database Systems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lang="en-US" sz="1400" dirty="0" err="1">
                          <a:latin typeface="Verdana"/>
                          <a:cs typeface="Verdana"/>
                        </a:rPr>
                        <a:t>Humpty</a:t>
                      </a:r>
                      <a:endParaRPr sz="1400" dirty="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948379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1980289" y="3570246"/>
            <a:ext cx="855009" cy="1071843"/>
            <a:chOff x="364728" y="4046279"/>
            <a:chExt cx="969010" cy="1214755"/>
          </a:xfrm>
        </p:grpSpPr>
        <p:sp>
          <p:nvSpPr>
            <p:cNvPr id="10" name="object 10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1923" y="283317"/>
            <a:ext cx="7724215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01" dirty="0"/>
              <a:t>Aggregation:</a:t>
            </a:r>
            <a:r>
              <a:rPr spc="-224" dirty="0"/>
              <a:t> </a:t>
            </a:r>
            <a:r>
              <a:rPr spc="-88" dirty="0"/>
              <a:t>Order</a:t>
            </a:r>
            <a:r>
              <a:rPr spc="-234" dirty="0"/>
              <a:t> </a:t>
            </a:r>
            <a:r>
              <a:rPr spc="-9" dirty="0"/>
              <a:t>of</a:t>
            </a:r>
            <a:r>
              <a:rPr spc="-304" dirty="0"/>
              <a:t> </a:t>
            </a:r>
            <a:r>
              <a:rPr spc="-93" dirty="0"/>
              <a:t>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12999" y="3043069"/>
            <a:ext cx="8073838" cy="295725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93347" indent="-382141">
              <a:spcBef>
                <a:spcPts val="88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FROM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generates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765">
              <a:latin typeface="Verdana"/>
              <a:cs typeface="Verdana"/>
            </a:endParaRPr>
          </a:p>
          <a:p>
            <a:pPr marL="393347" indent="-382141">
              <a:spcBef>
                <a:spcPts val="1310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WHERE</a:t>
            </a:r>
            <a:r>
              <a:rPr sz="1765" spc="-6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generated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1765">
              <a:latin typeface="Verdana"/>
              <a:cs typeface="Verdana"/>
            </a:endParaRPr>
          </a:p>
          <a:p>
            <a:pPr marL="393347" marR="292489" indent="-382701">
              <a:lnSpc>
                <a:spcPts val="1950"/>
              </a:lnSpc>
              <a:spcBef>
                <a:spcPts val="1434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GROUP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aggregates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by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(note: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sort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result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Verdana"/>
                <a:cs typeface="Verdana"/>
              </a:rPr>
              <a:t>set)</a:t>
            </a:r>
            <a:endParaRPr sz="1765">
              <a:latin typeface="Verdana"/>
              <a:cs typeface="Verdana"/>
            </a:endParaRPr>
          </a:p>
          <a:p>
            <a:pPr marL="393347" marR="253266" indent="-382701">
              <a:lnSpc>
                <a:spcPts val="1862"/>
              </a:lnSpc>
              <a:spcBef>
                <a:spcPts val="1465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C00000"/>
                </a:solidFill>
                <a:latin typeface="Verdana"/>
                <a:cs typeface="Verdana"/>
              </a:rPr>
              <a:t>HAVING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1765">
              <a:latin typeface="Verdana"/>
              <a:cs typeface="Verdana"/>
            </a:endParaRPr>
          </a:p>
          <a:p>
            <a:pPr marL="393347" indent="-382141">
              <a:spcBef>
                <a:spcPts val="1297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SELECT</a:t>
            </a:r>
            <a:r>
              <a:rPr sz="1765" spc="-7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transforms</a:t>
            </a:r>
            <a:r>
              <a:rPr sz="1765" spc="-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765">
              <a:latin typeface="Verdana"/>
              <a:cs typeface="Verdana"/>
            </a:endParaRPr>
          </a:p>
          <a:p>
            <a:pPr marL="393347" indent="-382141">
              <a:spcBef>
                <a:spcPts val="1249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sorts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transformed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765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5240" y="1093044"/>
            <a:ext cx="7115735" cy="1497789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59951" rIns="0" bIns="0" rtlCol="0">
            <a:spAutoFit/>
          </a:bodyPr>
          <a:lstStyle/>
          <a:p>
            <a:pPr marL="792298">
              <a:lnSpc>
                <a:spcPts val="1884"/>
              </a:lnSpc>
              <a:spcBef>
                <a:spcPts val="472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select_list</a:t>
            </a:r>
            <a:endParaRPr sz="1677">
              <a:latin typeface="Courier New"/>
              <a:cs typeface="Courier New"/>
            </a:endParaRPr>
          </a:p>
          <a:p>
            <a:pPr marL="792298">
              <a:lnSpc>
                <a:spcPts val="1809"/>
              </a:lnSpc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677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table_source</a:t>
            </a:r>
            <a:endParaRPr sz="1677">
              <a:latin typeface="Courier New"/>
              <a:cs typeface="Courier New"/>
            </a:endParaRPr>
          </a:p>
          <a:p>
            <a:pPr marL="792298" marR="2462064">
              <a:lnSpc>
                <a:spcPct val="92100"/>
              </a:lnSpc>
              <a:spcBef>
                <a:spcPts val="84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[WHERE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677" spc="-9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[GROUP</a:t>
            </a:r>
            <a:r>
              <a:rPr sz="1677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677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group_by_expression</a:t>
            </a:r>
            <a:r>
              <a:rPr sz="1677" spc="-9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[HAVING</a:t>
            </a:r>
            <a:r>
              <a:rPr sz="1677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677" spc="-9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677">
              <a:latin typeface="Courier New"/>
              <a:cs typeface="Courier New"/>
            </a:endParaRPr>
          </a:p>
          <a:p>
            <a:pPr marL="792298">
              <a:lnSpc>
                <a:spcPts val="1844"/>
              </a:lnSpc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[ORDER</a:t>
            </a:r>
            <a:r>
              <a:rPr sz="1677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dirty="0">
                <a:solidFill>
                  <a:srgbClr val="292934"/>
                </a:solidFill>
                <a:latin typeface="Courier New"/>
                <a:cs typeface="Courier New"/>
              </a:rPr>
              <a:t>order_expression</a:t>
            </a:r>
            <a:r>
              <a:rPr sz="1677" i="1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[ASC</a:t>
            </a:r>
            <a:r>
              <a:rPr sz="1677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|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DESC]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-44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677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5292" y="2821192"/>
            <a:ext cx="2450054" cy="7422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029672" y="2835447"/>
            <a:ext cx="2113990" cy="34228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56590" rIns="0" bIns="0" rtlCol="0">
            <a:spAutoFit/>
          </a:bodyPr>
          <a:lstStyle/>
          <a:p>
            <a:pPr marL="268956">
              <a:spcBef>
                <a:spcPts val="446"/>
              </a:spcBef>
            </a:pP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1853" spc="8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C00000"/>
                </a:solidFill>
                <a:latin typeface="Verdana"/>
                <a:cs typeface="Verdana"/>
              </a:rPr>
              <a:t>matter</a:t>
            </a:r>
            <a:endParaRPr sz="185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4718" y="338001"/>
            <a:ext cx="4695825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9" dirty="0"/>
              <a:t>S</a:t>
            </a:r>
            <a:r>
              <a:rPr sz="3794" spc="-115" dirty="0"/>
              <a:t>EL</a:t>
            </a:r>
            <a:r>
              <a:rPr sz="3794" spc="-110" dirty="0"/>
              <a:t>EC</a:t>
            </a:r>
            <a:r>
              <a:rPr sz="3794" dirty="0"/>
              <a:t>T</a:t>
            </a:r>
            <a:r>
              <a:rPr sz="3794" spc="-229" dirty="0"/>
              <a:t> </a:t>
            </a:r>
            <a:r>
              <a:rPr sz="3794" dirty="0"/>
              <a:t>*</a:t>
            </a:r>
            <a:r>
              <a:rPr sz="3794" spc="-221" dirty="0"/>
              <a:t> </a:t>
            </a:r>
            <a:r>
              <a:rPr sz="3794" spc="-115" dirty="0"/>
              <a:t>F</a:t>
            </a:r>
            <a:r>
              <a:rPr sz="3794" spc="-124" dirty="0"/>
              <a:t>RO</a:t>
            </a:r>
            <a:r>
              <a:rPr sz="3794" dirty="0"/>
              <a:t>M</a:t>
            </a:r>
            <a:r>
              <a:rPr sz="3794" spc="-234" dirty="0"/>
              <a:t> </a:t>
            </a:r>
            <a:r>
              <a:rPr sz="3794" spc="-101" dirty="0"/>
              <a:t>..</a:t>
            </a:r>
            <a:r>
              <a:rPr sz="3794" dirty="0"/>
              <a:t>.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3266292" y="3234018"/>
            <a:ext cx="4100232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Student_lecture;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8469" y="1035422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39571" y="4416827"/>
          <a:ext cx="733088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71380" y="1297109"/>
          <a:ext cx="733088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1980289" y="3570246"/>
            <a:ext cx="855009" cy="1071843"/>
            <a:chOff x="364728" y="4046279"/>
            <a:chExt cx="969010" cy="1214755"/>
          </a:xfrm>
        </p:grpSpPr>
        <p:sp>
          <p:nvSpPr>
            <p:cNvPr id="8" name="object 8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5836" y="338001"/>
            <a:ext cx="6534710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9" dirty="0"/>
              <a:t>S</a:t>
            </a:r>
            <a:r>
              <a:rPr sz="3794" spc="-115" dirty="0"/>
              <a:t>EL</a:t>
            </a:r>
            <a:r>
              <a:rPr sz="3794" spc="-110" dirty="0"/>
              <a:t>EC</a:t>
            </a:r>
            <a:r>
              <a:rPr sz="3794" dirty="0"/>
              <a:t>T</a:t>
            </a:r>
            <a:r>
              <a:rPr sz="3794" spc="-229" dirty="0"/>
              <a:t> </a:t>
            </a:r>
            <a:r>
              <a:rPr sz="3794" spc="-119" dirty="0"/>
              <a:t>S</a:t>
            </a:r>
            <a:r>
              <a:rPr sz="3794" spc="-115" dirty="0"/>
              <a:t>p</a:t>
            </a:r>
            <a:r>
              <a:rPr sz="3794" spc="-110" dirty="0"/>
              <a:t>e</a:t>
            </a:r>
            <a:r>
              <a:rPr sz="3794" spc="-119" dirty="0"/>
              <a:t>c</a:t>
            </a:r>
            <a:r>
              <a:rPr sz="3794" spc="-110" dirty="0"/>
              <a:t>ifi</a:t>
            </a:r>
            <a:r>
              <a:rPr sz="3794" dirty="0"/>
              <a:t>c</a:t>
            </a:r>
            <a:r>
              <a:rPr sz="3794" spc="-224" dirty="0"/>
              <a:t> </a:t>
            </a:r>
            <a:r>
              <a:rPr sz="3794" spc="-124" dirty="0"/>
              <a:t>A</a:t>
            </a:r>
            <a:r>
              <a:rPr sz="3794" spc="-106" dirty="0"/>
              <a:t>tt</a:t>
            </a:r>
            <a:r>
              <a:rPr sz="3794" spc="-110" dirty="0"/>
              <a:t>ri</a:t>
            </a:r>
            <a:r>
              <a:rPr sz="3794" spc="-115" dirty="0"/>
              <a:t>b</a:t>
            </a:r>
            <a:r>
              <a:rPr sz="3794" spc="-119" dirty="0"/>
              <a:t>u</a:t>
            </a:r>
            <a:r>
              <a:rPr sz="3794" spc="-106" dirty="0"/>
              <a:t>t</a:t>
            </a:r>
            <a:r>
              <a:rPr sz="3794" dirty="0"/>
              <a:t>e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3266291" y="3234018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8045" y="3234018"/>
            <a:ext cx="700928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S_id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3824" y="3234018"/>
            <a:ext cx="83820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Course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5499" y="3234018"/>
            <a:ext cx="566457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65409" y="3234018"/>
            <a:ext cx="2196913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Student_lecture;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8469" y="1035422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939571" y="4416827"/>
          <a:ext cx="3242983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971380" y="1297109"/>
          <a:ext cx="733088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980289" y="3570246"/>
            <a:ext cx="855009" cy="1071843"/>
            <a:chOff x="364728" y="4046279"/>
            <a:chExt cx="969010" cy="1214755"/>
          </a:xfrm>
        </p:grpSpPr>
        <p:sp>
          <p:nvSpPr>
            <p:cNvPr id="12" name="object 12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9717" y="4596205"/>
            <a:ext cx="3006762" cy="72345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076011" y="4561716"/>
            <a:ext cx="2626659" cy="40508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18782" rIns="0" bIns="0" rtlCol="0">
            <a:spAutoFit/>
          </a:bodyPr>
          <a:lstStyle/>
          <a:p>
            <a:pPr marL="607391">
              <a:spcBef>
                <a:spcPts val="935"/>
              </a:spcBef>
            </a:pP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“Projection”</a:t>
            </a:r>
            <a:endParaRPr sz="185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66291" y="3234018"/>
            <a:ext cx="3965762" cy="573310"/>
          </a:xfrm>
          <a:prstGeom prst="rect">
            <a:avLst/>
          </a:prstGeom>
        </p:spPr>
        <p:txBody>
          <a:bodyPr vert="horz" wrap="square" lIns="0" tIns="8965" rIns="0" bIns="0" rtlCol="0">
            <a:spAutoFit/>
          </a:bodyPr>
          <a:lstStyle/>
          <a:p>
            <a:pPr marL="11206" marR="4483">
              <a:lnSpc>
                <a:spcPts val="2224"/>
              </a:lnSpc>
              <a:spcBef>
                <a:spcPts val="71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SELECT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*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FROM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Student_lecture </a:t>
            </a:r>
            <a:r>
              <a:rPr sz="1765" spc="-10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WHERE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82079" y="3516405"/>
            <a:ext cx="4235824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765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“Minnie”</a:t>
            </a:r>
            <a:r>
              <a:rPr sz="1765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8469" y="1035422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39571" y="4416827"/>
          <a:ext cx="7330889" cy="806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71380" y="1297109"/>
          <a:ext cx="733088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1980289" y="3570246"/>
            <a:ext cx="855009" cy="1071843"/>
            <a:chOff x="364728" y="4046279"/>
            <a:chExt cx="969010" cy="1214755"/>
          </a:xfrm>
        </p:grpSpPr>
        <p:sp>
          <p:nvSpPr>
            <p:cNvPr id="8" name="object 8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52276" y="291385"/>
            <a:ext cx="7887260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19" dirty="0"/>
              <a:t>S</a:t>
            </a:r>
            <a:r>
              <a:rPr sz="3794" spc="-115" dirty="0"/>
              <a:t>EL</a:t>
            </a:r>
            <a:r>
              <a:rPr sz="3794" spc="-110" dirty="0"/>
              <a:t>EC</a:t>
            </a:r>
            <a:r>
              <a:rPr sz="3794" dirty="0"/>
              <a:t>T</a:t>
            </a:r>
            <a:r>
              <a:rPr sz="3794" spc="-229" dirty="0"/>
              <a:t> </a:t>
            </a:r>
            <a:r>
              <a:rPr sz="3794" spc="-132" dirty="0"/>
              <a:t>w</a:t>
            </a:r>
            <a:r>
              <a:rPr sz="3794" spc="-115" dirty="0"/>
              <a:t>i</a:t>
            </a:r>
            <a:r>
              <a:rPr sz="3794" spc="-106" dirty="0"/>
              <a:t>t</a:t>
            </a:r>
            <a:r>
              <a:rPr sz="3794" dirty="0"/>
              <a:t>h</a:t>
            </a:r>
            <a:r>
              <a:rPr sz="3794" spc="-229" dirty="0"/>
              <a:t> </a:t>
            </a:r>
            <a:r>
              <a:rPr sz="3794" spc="-128" dirty="0"/>
              <a:t>W</a:t>
            </a:r>
            <a:r>
              <a:rPr sz="3794" spc="-124" dirty="0"/>
              <a:t>H</a:t>
            </a:r>
            <a:r>
              <a:rPr sz="3794" spc="-110" dirty="0"/>
              <a:t>E</a:t>
            </a:r>
            <a:r>
              <a:rPr sz="3794" spc="-124" dirty="0"/>
              <a:t>R</a:t>
            </a:r>
            <a:r>
              <a:rPr sz="3794" dirty="0"/>
              <a:t>E</a:t>
            </a:r>
            <a:r>
              <a:rPr sz="3794" spc="-221" dirty="0"/>
              <a:t> </a:t>
            </a:r>
            <a:r>
              <a:rPr sz="3794" spc="-110" dirty="0"/>
              <a:t>C</a:t>
            </a:r>
            <a:r>
              <a:rPr sz="3794" spc="-115" dirty="0"/>
              <a:t>la</a:t>
            </a:r>
            <a:r>
              <a:rPr sz="3794" spc="-119" dirty="0"/>
              <a:t>u</a:t>
            </a:r>
            <a:r>
              <a:rPr sz="3794" spc="-110" dirty="0"/>
              <a:t>s</a:t>
            </a:r>
            <a:r>
              <a:rPr sz="3794" dirty="0"/>
              <a:t>e</a:t>
            </a:r>
            <a:r>
              <a:rPr sz="3794" spc="-340" dirty="0"/>
              <a:t> </a:t>
            </a:r>
            <a:r>
              <a:rPr spc="-79" dirty="0">
                <a:latin typeface="Verdana"/>
                <a:cs typeface="Verdana"/>
              </a:rPr>
              <a:t>(1)</a:t>
            </a:r>
            <a:endParaRPr sz="3794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6118" y="3000487"/>
            <a:ext cx="7284944" cy="490330"/>
          </a:xfrm>
          <a:prstGeom prst="rect">
            <a:avLst/>
          </a:prstGeom>
        </p:spPr>
        <p:txBody>
          <a:bodyPr vert="horz" wrap="square" lIns="0" tIns="53788" rIns="0" bIns="0" rtlCol="0">
            <a:spAutoFit/>
          </a:bodyPr>
          <a:lstStyle/>
          <a:p>
            <a:pPr marL="11206" marR="4483">
              <a:lnSpc>
                <a:spcPts val="1677"/>
              </a:lnSpc>
              <a:spcBef>
                <a:spcPts val="424"/>
              </a:spcBef>
            </a:pP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677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Courses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Minnie</a:t>
            </a:r>
            <a:r>
              <a:rPr sz="1677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31" dirty="0">
                <a:solidFill>
                  <a:srgbClr val="292934"/>
                </a:solidFill>
                <a:latin typeface="Verdana"/>
                <a:cs typeface="Verdana"/>
              </a:rPr>
              <a:t>TA.</a:t>
            </a: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Also,</a:t>
            </a:r>
            <a:r>
              <a:rPr sz="1677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677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S_id</a:t>
            </a:r>
            <a:r>
              <a:rPr sz="1677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takes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those </a:t>
            </a:r>
            <a:r>
              <a:rPr sz="1677" spc="-57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courses</a:t>
            </a:r>
            <a:endParaRPr sz="1677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08094" y="3738877"/>
            <a:ext cx="8175812" cy="2574551"/>
          </a:xfrm>
          <a:custGeom>
            <a:avLst/>
            <a:gdLst/>
            <a:ahLst/>
            <a:cxnLst/>
            <a:rect l="l" t="t" r="r" b="b"/>
            <a:pathLst>
              <a:path w="9265920" h="2917825">
                <a:moveTo>
                  <a:pt x="0" y="0"/>
                </a:moveTo>
                <a:lnTo>
                  <a:pt x="9265919" y="0"/>
                </a:lnTo>
                <a:lnTo>
                  <a:pt x="9265919" y="2917421"/>
                </a:lnTo>
                <a:lnTo>
                  <a:pt x="0" y="291742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2440251" y="1019286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88776" y="238494"/>
            <a:ext cx="8012206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62" dirty="0"/>
              <a:t>Recap</a:t>
            </a:r>
            <a:r>
              <a:rPr spc="-176" dirty="0"/>
              <a:t> </a:t>
            </a:r>
            <a:r>
              <a:rPr spc="-35" dirty="0"/>
              <a:t>1:</a:t>
            </a:r>
            <a:r>
              <a:rPr spc="-180" dirty="0"/>
              <a:t> </a:t>
            </a:r>
            <a:r>
              <a:rPr spc="-57" dirty="0"/>
              <a:t>SELECT</a:t>
            </a:r>
            <a:r>
              <a:rPr spc="-172" dirty="0"/>
              <a:t> </a:t>
            </a:r>
            <a:r>
              <a:rPr spc="-44" dirty="0"/>
              <a:t>..</a:t>
            </a:r>
            <a:r>
              <a:rPr spc="-180" dirty="0"/>
              <a:t> </a:t>
            </a:r>
            <a:r>
              <a:rPr spc="-53" dirty="0"/>
              <a:t>FROM</a:t>
            </a:r>
            <a:r>
              <a:rPr spc="-163" dirty="0"/>
              <a:t> </a:t>
            </a:r>
            <a:r>
              <a:rPr spc="-44" dirty="0"/>
              <a:t>..</a:t>
            </a:r>
            <a:r>
              <a:rPr spc="-180" dirty="0"/>
              <a:t> </a:t>
            </a:r>
            <a:r>
              <a:rPr spc="-71" dirty="0"/>
              <a:t>WHERE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63161" y="1281740"/>
          <a:ext cx="733088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56CC42-6D08-EF40-847F-B42F8A76D488}"/>
              </a:ext>
            </a:extLst>
          </p:cNvPr>
          <p:cNvSpPr txBox="1"/>
          <p:nvPr/>
        </p:nvSpPr>
        <p:spPr>
          <a:xfrm>
            <a:off x="2318599" y="3946100"/>
            <a:ext cx="4430828" cy="1069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30">
              <a:spcBef>
                <a:spcPts val="154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58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distinct Course</a:t>
            </a:r>
            <a:endParaRPr lang="en-US" sz="1588" dirty="0">
              <a:latin typeface="Courier New"/>
              <a:cs typeface="Courier New"/>
            </a:endParaRPr>
          </a:p>
          <a:p>
            <a:pPr marL="85730">
              <a:spcBef>
                <a:spcPts val="22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588" spc="-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9" dirty="0" err="1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lang="en-US" sz="1588" dirty="0">
              <a:latin typeface="Courier New"/>
              <a:cs typeface="Courier New"/>
            </a:endParaRPr>
          </a:p>
          <a:p>
            <a:pPr marL="85730">
              <a:spcBef>
                <a:spcPts val="40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WHERE </a:t>
            </a:r>
            <a:r>
              <a:rPr lang="en-US" sz="1588" spc="4" dirty="0" err="1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= “Minnie”</a:t>
            </a:r>
            <a:endParaRPr lang="en-US" sz="1588" dirty="0">
              <a:latin typeface="Courier New"/>
              <a:cs typeface="Courier New"/>
            </a:endParaRPr>
          </a:p>
          <a:p>
            <a:endParaRPr lang="en-US" sz="1588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46003-0519-70E4-571B-7A4FB1CC041E}"/>
              </a:ext>
            </a:extLst>
          </p:cNvPr>
          <p:cNvSpPr txBox="1"/>
          <p:nvPr/>
        </p:nvSpPr>
        <p:spPr>
          <a:xfrm>
            <a:off x="2343048" y="5145655"/>
            <a:ext cx="4430828" cy="1069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30">
              <a:spcBef>
                <a:spcPts val="154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58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4" dirty="0" err="1">
                <a:solidFill>
                  <a:srgbClr val="292934"/>
                </a:solidFill>
                <a:latin typeface="Courier New"/>
                <a:cs typeface="Courier New"/>
              </a:rPr>
              <a:t>S_id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, Course</a:t>
            </a:r>
            <a:endParaRPr lang="en-US" sz="1588" dirty="0">
              <a:latin typeface="Courier New"/>
              <a:cs typeface="Courier New"/>
            </a:endParaRPr>
          </a:p>
          <a:p>
            <a:pPr marL="85730">
              <a:spcBef>
                <a:spcPts val="22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588" spc="-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9" dirty="0" err="1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lang="en-US" sz="1588" dirty="0">
              <a:latin typeface="Courier New"/>
              <a:cs typeface="Courier New"/>
            </a:endParaRPr>
          </a:p>
          <a:p>
            <a:pPr marL="85730">
              <a:spcBef>
                <a:spcPts val="40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WHERE </a:t>
            </a:r>
            <a:r>
              <a:rPr lang="en-US" sz="1588" spc="4" dirty="0" err="1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= “Minnie”</a:t>
            </a:r>
            <a:endParaRPr lang="en-US" sz="1588" dirty="0">
              <a:latin typeface="Courier New"/>
              <a:cs typeface="Courier New"/>
            </a:endParaRPr>
          </a:p>
          <a:p>
            <a:endParaRPr lang="en-US" sz="1588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0295" y="338001"/>
            <a:ext cx="6006912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24" dirty="0"/>
              <a:t>OR</a:t>
            </a:r>
            <a:r>
              <a:rPr sz="3794" spc="-119" dirty="0"/>
              <a:t>D</a:t>
            </a:r>
            <a:r>
              <a:rPr sz="3794" spc="-110" dirty="0"/>
              <a:t>E</a:t>
            </a:r>
            <a:r>
              <a:rPr sz="3794" dirty="0"/>
              <a:t>R</a:t>
            </a:r>
            <a:r>
              <a:rPr sz="3794" spc="-229" dirty="0"/>
              <a:t> </a:t>
            </a:r>
            <a:r>
              <a:rPr sz="3794" spc="-115" dirty="0"/>
              <a:t>B</a:t>
            </a:r>
            <a:r>
              <a:rPr sz="3794" dirty="0"/>
              <a:t>Y</a:t>
            </a:r>
            <a:r>
              <a:rPr sz="3794" spc="-224" dirty="0"/>
              <a:t> </a:t>
            </a:r>
            <a:r>
              <a:rPr sz="3794" spc="-110" dirty="0"/>
              <a:t>(</a:t>
            </a:r>
            <a:r>
              <a:rPr sz="3794" spc="-124" dirty="0"/>
              <a:t>A</a:t>
            </a:r>
            <a:r>
              <a:rPr sz="3794" spc="-110" dirty="0"/>
              <a:t>s</a:t>
            </a:r>
            <a:r>
              <a:rPr sz="3794" spc="-115" dirty="0"/>
              <a:t>c</a:t>
            </a:r>
            <a:r>
              <a:rPr sz="3794" spc="-110" dirty="0"/>
              <a:t>e</a:t>
            </a:r>
            <a:r>
              <a:rPr sz="3794" spc="-115" dirty="0"/>
              <a:t>nd</a:t>
            </a:r>
            <a:r>
              <a:rPr sz="3794" spc="-110" dirty="0"/>
              <a:t>i</a:t>
            </a:r>
            <a:r>
              <a:rPr sz="3794" spc="-115" dirty="0"/>
              <a:t>ng</a:t>
            </a:r>
            <a:r>
              <a:rPr sz="3794" dirty="0"/>
              <a:t>)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4082080" y="3481443"/>
            <a:ext cx="2470337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8045" y="3234018"/>
            <a:ext cx="4509807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2034"/>
              </a:lnSpc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S_id, Course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FROM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1765">
              <a:latin typeface="Courier New"/>
              <a:cs typeface="Courier New"/>
            </a:endParaRPr>
          </a:p>
          <a:p>
            <a:pPr marL="2458702">
              <a:lnSpc>
                <a:spcPts val="2034"/>
              </a:lnSpc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&lt;&gt;</a:t>
            </a:r>
            <a:r>
              <a:rPr sz="1765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“Dumpty”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6291" y="3234018"/>
            <a:ext cx="838200" cy="797176"/>
          </a:xfrm>
          <a:prstGeom prst="rect">
            <a:avLst/>
          </a:prstGeom>
        </p:spPr>
        <p:txBody>
          <a:bodyPr vert="horz" wrap="square" lIns="0" tIns="26894" rIns="0" bIns="0" rtlCol="0">
            <a:spAutoFit/>
          </a:bodyPr>
          <a:lstStyle/>
          <a:p>
            <a:pPr marL="11206" marR="4483">
              <a:lnSpc>
                <a:spcPct val="94000"/>
              </a:lnSpc>
              <a:spcBef>
                <a:spcPts val="212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SELECT  WHERE </a:t>
            </a:r>
            <a:r>
              <a:rPr sz="1765" spc="-10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ORDER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82016" y="3739627"/>
            <a:ext cx="1108822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765" spc="-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S_id;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8469" y="1035422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971380" y="1297109"/>
          <a:ext cx="733088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1980289" y="3570246"/>
            <a:ext cx="855009" cy="1071843"/>
            <a:chOff x="364728" y="4046279"/>
            <a:chExt cx="969010" cy="1214755"/>
          </a:xfrm>
        </p:grpSpPr>
        <p:sp>
          <p:nvSpPr>
            <p:cNvPr id="10" name="object 10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904532" y="4250858"/>
            <a:ext cx="3239621" cy="736787"/>
            <a:chOff x="5945536" y="4817639"/>
            <a:chExt cx="3671570" cy="835025"/>
          </a:xfrm>
        </p:grpSpPr>
        <p:sp>
          <p:nvSpPr>
            <p:cNvPr id="14" name="object 14"/>
            <p:cNvSpPr/>
            <p:nvPr/>
          </p:nvSpPr>
          <p:spPr>
            <a:xfrm>
              <a:off x="5952309" y="4824412"/>
              <a:ext cx="3657600" cy="821055"/>
            </a:xfrm>
            <a:custGeom>
              <a:avLst/>
              <a:gdLst/>
              <a:ahLst/>
              <a:cxnLst/>
              <a:rect l="l" t="t" r="r" b="b"/>
              <a:pathLst>
                <a:path w="3657600" h="821054">
                  <a:moveTo>
                    <a:pt x="3520775" y="0"/>
                  </a:moveTo>
                  <a:lnTo>
                    <a:pt x="136823" y="0"/>
                  </a:lnTo>
                  <a:lnTo>
                    <a:pt x="93576" y="6975"/>
                  </a:lnTo>
                  <a:lnTo>
                    <a:pt x="56017" y="26399"/>
                  </a:lnTo>
                  <a:lnTo>
                    <a:pt x="26399" y="56017"/>
                  </a:lnTo>
                  <a:lnTo>
                    <a:pt x="6975" y="93577"/>
                  </a:lnTo>
                  <a:lnTo>
                    <a:pt x="0" y="136824"/>
                  </a:lnTo>
                  <a:lnTo>
                    <a:pt x="0" y="684098"/>
                  </a:lnTo>
                  <a:lnTo>
                    <a:pt x="6975" y="727341"/>
                  </a:lnTo>
                  <a:lnTo>
                    <a:pt x="26399" y="764901"/>
                  </a:lnTo>
                  <a:lnTo>
                    <a:pt x="56017" y="794519"/>
                  </a:lnTo>
                  <a:lnTo>
                    <a:pt x="93576" y="813943"/>
                  </a:lnTo>
                  <a:lnTo>
                    <a:pt x="136823" y="820919"/>
                  </a:lnTo>
                  <a:lnTo>
                    <a:pt x="3520775" y="820919"/>
                  </a:lnTo>
                  <a:lnTo>
                    <a:pt x="3564022" y="813943"/>
                  </a:lnTo>
                  <a:lnTo>
                    <a:pt x="3601582" y="794519"/>
                  </a:lnTo>
                  <a:lnTo>
                    <a:pt x="3631200" y="764901"/>
                  </a:lnTo>
                  <a:lnTo>
                    <a:pt x="3650624" y="727341"/>
                  </a:lnTo>
                  <a:lnTo>
                    <a:pt x="3657599" y="684098"/>
                  </a:lnTo>
                  <a:lnTo>
                    <a:pt x="3657600" y="136824"/>
                  </a:lnTo>
                  <a:lnTo>
                    <a:pt x="3650624" y="93577"/>
                  </a:lnTo>
                  <a:lnTo>
                    <a:pt x="3631200" y="56017"/>
                  </a:lnTo>
                  <a:lnTo>
                    <a:pt x="3601582" y="26399"/>
                  </a:lnTo>
                  <a:lnTo>
                    <a:pt x="3564022" y="6975"/>
                  </a:lnTo>
                  <a:lnTo>
                    <a:pt x="3520775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5952309" y="4824412"/>
              <a:ext cx="3657600" cy="821055"/>
            </a:xfrm>
            <a:custGeom>
              <a:avLst/>
              <a:gdLst/>
              <a:ahLst/>
              <a:cxnLst/>
              <a:rect l="l" t="t" r="r" b="b"/>
              <a:pathLst>
                <a:path w="3657600" h="821054">
                  <a:moveTo>
                    <a:pt x="0" y="136824"/>
                  </a:moveTo>
                  <a:lnTo>
                    <a:pt x="6975" y="93577"/>
                  </a:lnTo>
                  <a:lnTo>
                    <a:pt x="26399" y="56017"/>
                  </a:lnTo>
                  <a:lnTo>
                    <a:pt x="56017" y="26399"/>
                  </a:lnTo>
                  <a:lnTo>
                    <a:pt x="93577" y="6975"/>
                  </a:lnTo>
                  <a:lnTo>
                    <a:pt x="136823" y="0"/>
                  </a:lnTo>
                  <a:lnTo>
                    <a:pt x="609599" y="0"/>
                  </a:lnTo>
                  <a:lnTo>
                    <a:pt x="1523999" y="0"/>
                  </a:lnTo>
                  <a:lnTo>
                    <a:pt x="3520776" y="0"/>
                  </a:lnTo>
                  <a:lnTo>
                    <a:pt x="3564023" y="6975"/>
                  </a:lnTo>
                  <a:lnTo>
                    <a:pt x="3601582" y="26399"/>
                  </a:lnTo>
                  <a:lnTo>
                    <a:pt x="3631200" y="56017"/>
                  </a:lnTo>
                  <a:lnTo>
                    <a:pt x="3650624" y="93577"/>
                  </a:lnTo>
                  <a:lnTo>
                    <a:pt x="3657599" y="136824"/>
                  </a:lnTo>
                  <a:lnTo>
                    <a:pt x="3657599" y="478869"/>
                  </a:lnTo>
                  <a:lnTo>
                    <a:pt x="3657599" y="684098"/>
                  </a:lnTo>
                  <a:lnTo>
                    <a:pt x="3650624" y="727341"/>
                  </a:lnTo>
                  <a:lnTo>
                    <a:pt x="3631200" y="764901"/>
                  </a:lnTo>
                  <a:lnTo>
                    <a:pt x="3601582" y="794520"/>
                  </a:lnTo>
                  <a:lnTo>
                    <a:pt x="3564023" y="813944"/>
                  </a:lnTo>
                  <a:lnTo>
                    <a:pt x="3520776" y="820919"/>
                  </a:lnTo>
                  <a:lnTo>
                    <a:pt x="1523999" y="820919"/>
                  </a:lnTo>
                  <a:lnTo>
                    <a:pt x="609599" y="820919"/>
                  </a:lnTo>
                  <a:lnTo>
                    <a:pt x="136823" y="820919"/>
                  </a:lnTo>
                  <a:lnTo>
                    <a:pt x="93577" y="813944"/>
                  </a:lnTo>
                  <a:lnTo>
                    <a:pt x="56017" y="794520"/>
                  </a:lnTo>
                  <a:lnTo>
                    <a:pt x="26399" y="764901"/>
                  </a:lnTo>
                  <a:lnTo>
                    <a:pt x="6975" y="727341"/>
                  </a:lnTo>
                  <a:lnTo>
                    <a:pt x="0" y="684094"/>
                  </a:lnTo>
                  <a:lnTo>
                    <a:pt x="0" y="436713"/>
                  </a:lnTo>
                  <a:lnTo>
                    <a:pt x="0" y="478869"/>
                  </a:lnTo>
                  <a:lnTo>
                    <a:pt x="0" y="136824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163760" y="4326368"/>
            <a:ext cx="2720788" cy="529783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460586" marR="4483" indent="-449940">
              <a:lnSpc>
                <a:spcPct val="101099"/>
              </a:lnSpc>
              <a:spcBef>
                <a:spcPts val="66"/>
              </a:spcBef>
            </a:pPr>
            <a:r>
              <a:rPr sz="1677" dirty="0">
                <a:solidFill>
                  <a:srgbClr val="FFFFFF"/>
                </a:solidFill>
                <a:latin typeface="Courier New"/>
                <a:cs typeface="Courier New"/>
              </a:rPr>
              <a:t>Ascending, by </a:t>
            </a:r>
            <a:r>
              <a:rPr sz="1677" spc="4" dirty="0">
                <a:solidFill>
                  <a:srgbClr val="FFFFFF"/>
                </a:solidFill>
                <a:latin typeface="Courier New"/>
                <a:cs typeface="Courier New"/>
              </a:rPr>
              <a:t>default </a:t>
            </a:r>
            <a:r>
              <a:rPr sz="1677" spc="-997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FFFFFF"/>
                </a:solidFill>
                <a:latin typeface="Courier New"/>
                <a:cs typeface="Courier New"/>
              </a:rPr>
              <a:t>Or</a:t>
            </a:r>
            <a:r>
              <a:rPr sz="1677" spc="-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FFFFFF"/>
                </a:solidFill>
                <a:latin typeface="Courier New"/>
                <a:cs typeface="Courier New"/>
              </a:rPr>
              <a:t>include </a:t>
            </a:r>
            <a:r>
              <a:rPr sz="1677" spc="4" dirty="0">
                <a:solidFill>
                  <a:srgbClr val="FFFFFF"/>
                </a:solidFill>
                <a:latin typeface="Courier New"/>
                <a:cs typeface="Courier New"/>
              </a:rPr>
              <a:t>ASC</a:t>
            </a:r>
            <a:endParaRPr sz="1677">
              <a:latin typeface="Courier New"/>
              <a:cs typeface="Courier New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036901" y="4437317"/>
          <a:ext cx="3242983" cy="1344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3700" y="338001"/>
            <a:ext cx="6339728" cy="59519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794" spc="-124" dirty="0"/>
              <a:t>OR</a:t>
            </a:r>
            <a:r>
              <a:rPr sz="3794" spc="-119" dirty="0"/>
              <a:t>D</a:t>
            </a:r>
            <a:r>
              <a:rPr sz="3794" spc="-110" dirty="0"/>
              <a:t>E</a:t>
            </a:r>
            <a:r>
              <a:rPr sz="3794" dirty="0"/>
              <a:t>R</a:t>
            </a:r>
            <a:r>
              <a:rPr sz="3794" spc="-229" dirty="0"/>
              <a:t> </a:t>
            </a:r>
            <a:r>
              <a:rPr sz="3794" spc="-115" dirty="0"/>
              <a:t>B</a:t>
            </a:r>
            <a:r>
              <a:rPr sz="3794" dirty="0"/>
              <a:t>Y</a:t>
            </a:r>
            <a:r>
              <a:rPr sz="3794" spc="-224" dirty="0"/>
              <a:t> </a:t>
            </a:r>
            <a:r>
              <a:rPr sz="3794" spc="-110" dirty="0"/>
              <a:t>(</a:t>
            </a:r>
            <a:r>
              <a:rPr sz="3794" spc="-119" dirty="0"/>
              <a:t>D</a:t>
            </a:r>
            <a:r>
              <a:rPr sz="3794" spc="-110" dirty="0"/>
              <a:t>es</a:t>
            </a:r>
            <a:r>
              <a:rPr sz="3794" spc="-115" dirty="0"/>
              <a:t>c</a:t>
            </a:r>
            <a:r>
              <a:rPr sz="3794" spc="-110" dirty="0"/>
              <a:t>e</a:t>
            </a:r>
            <a:r>
              <a:rPr sz="3794" spc="-115" dirty="0"/>
              <a:t>nd</a:t>
            </a:r>
            <a:r>
              <a:rPr sz="3794" spc="-110" dirty="0"/>
              <a:t>i</a:t>
            </a:r>
            <a:r>
              <a:rPr sz="3794" spc="-115" dirty="0"/>
              <a:t>ng</a:t>
            </a:r>
            <a:r>
              <a:rPr sz="3794" dirty="0"/>
              <a:t>)</a:t>
            </a:r>
            <a:endParaRPr sz="3794"/>
          </a:p>
        </p:txBody>
      </p:sp>
      <p:sp>
        <p:nvSpPr>
          <p:cNvPr id="3" name="object 3"/>
          <p:cNvSpPr txBox="1"/>
          <p:nvPr/>
        </p:nvSpPr>
        <p:spPr>
          <a:xfrm>
            <a:off x="4082080" y="3481443"/>
            <a:ext cx="2470337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8045" y="3234018"/>
            <a:ext cx="4509807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2034"/>
              </a:lnSpc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S_id, Course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FROM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sz="1765">
              <a:latin typeface="Courier New"/>
              <a:cs typeface="Courier New"/>
            </a:endParaRPr>
          </a:p>
          <a:p>
            <a:pPr marL="2458702">
              <a:lnSpc>
                <a:spcPts val="2034"/>
              </a:lnSpc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&lt;&gt;</a:t>
            </a:r>
            <a:r>
              <a:rPr sz="1765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“Dumpty”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6291" y="3234018"/>
            <a:ext cx="838200" cy="797176"/>
          </a:xfrm>
          <a:prstGeom prst="rect">
            <a:avLst/>
          </a:prstGeom>
        </p:spPr>
        <p:txBody>
          <a:bodyPr vert="horz" wrap="square" lIns="0" tIns="26894" rIns="0" bIns="0" rtlCol="0">
            <a:spAutoFit/>
          </a:bodyPr>
          <a:lstStyle/>
          <a:p>
            <a:pPr marL="11206" marR="4483">
              <a:lnSpc>
                <a:spcPct val="94000"/>
              </a:lnSpc>
              <a:spcBef>
                <a:spcPts val="212"/>
              </a:spcBef>
            </a:pP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SELECT  WHERE </a:t>
            </a:r>
            <a:r>
              <a:rPr sz="1765" spc="-10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ORDER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82016" y="3739627"/>
            <a:ext cx="1790140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4" dirty="0">
                <a:solidFill>
                  <a:srgbClr val="292934"/>
                </a:solidFill>
                <a:latin typeface="Courier New"/>
                <a:cs typeface="Courier New"/>
              </a:rPr>
              <a:t>S_id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9" dirty="0">
                <a:solidFill>
                  <a:srgbClr val="292934"/>
                </a:solidFill>
                <a:latin typeface="Courier New"/>
                <a:cs typeface="Courier New"/>
              </a:rPr>
              <a:t>DESC;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8469" y="1035422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971380" y="1297109"/>
          <a:ext cx="733088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1980289" y="3570246"/>
            <a:ext cx="855009" cy="1071843"/>
            <a:chOff x="364728" y="4046279"/>
            <a:chExt cx="969010" cy="1214755"/>
          </a:xfrm>
        </p:grpSpPr>
        <p:sp>
          <p:nvSpPr>
            <p:cNvPr id="10" name="object 10"/>
            <p:cNvSpPr/>
            <p:nvPr/>
          </p:nvSpPr>
          <p:spPr>
            <a:xfrm>
              <a:off x="378822" y="4542187"/>
              <a:ext cx="941069" cy="704850"/>
            </a:xfrm>
            <a:custGeom>
              <a:avLst/>
              <a:gdLst/>
              <a:ahLst/>
              <a:cxnLst/>
              <a:rect l="l" t="t" r="r" b="b"/>
              <a:pathLst>
                <a:path w="941069" h="704850">
                  <a:moveTo>
                    <a:pt x="0" y="0"/>
                  </a:moveTo>
                  <a:lnTo>
                    <a:pt x="0" y="128945"/>
                  </a:lnTo>
                  <a:lnTo>
                    <a:pt x="9451" y="197274"/>
                  </a:lnTo>
                  <a:lnTo>
                    <a:pt x="37037" y="262989"/>
                  </a:lnTo>
                  <a:lnTo>
                    <a:pt x="81602" y="325327"/>
                  </a:lnTo>
                  <a:lnTo>
                    <a:pt x="109891" y="354991"/>
                  </a:lnTo>
                  <a:lnTo>
                    <a:pt x="141992" y="383524"/>
                  </a:lnTo>
                  <a:lnTo>
                    <a:pt x="177760" y="410831"/>
                  </a:lnTo>
                  <a:lnTo>
                    <a:pt x="217051" y="436817"/>
                  </a:lnTo>
                  <a:lnTo>
                    <a:pt x="259721" y="461385"/>
                  </a:lnTo>
                  <a:lnTo>
                    <a:pt x="305625" y="484441"/>
                  </a:lnTo>
                  <a:lnTo>
                    <a:pt x="354619" y="505889"/>
                  </a:lnTo>
                  <a:lnTo>
                    <a:pt x="406559" y="525633"/>
                  </a:lnTo>
                  <a:lnTo>
                    <a:pt x="461301" y="543578"/>
                  </a:lnTo>
                  <a:lnTo>
                    <a:pt x="518699" y="559629"/>
                  </a:lnTo>
                  <a:lnTo>
                    <a:pt x="578610" y="573690"/>
                  </a:lnTo>
                  <a:lnTo>
                    <a:pt x="640890" y="585666"/>
                  </a:lnTo>
                  <a:lnTo>
                    <a:pt x="705393" y="595461"/>
                  </a:lnTo>
                  <a:lnTo>
                    <a:pt x="705393" y="704670"/>
                  </a:lnTo>
                  <a:lnTo>
                    <a:pt x="940524" y="546287"/>
                  </a:lnTo>
                  <a:lnTo>
                    <a:pt x="705393" y="357306"/>
                  </a:lnTo>
                  <a:lnTo>
                    <a:pt x="705393" y="466516"/>
                  </a:lnTo>
                  <a:lnTo>
                    <a:pt x="640890" y="456721"/>
                  </a:lnTo>
                  <a:lnTo>
                    <a:pt x="578610" y="444745"/>
                  </a:lnTo>
                  <a:lnTo>
                    <a:pt x="518699" y="430684"/>
                  </a:lnTo>
                  <a:lnTo>
                    <a:pt x="461301" y="414633"/>
                  </a:lnTo>
                  <a:lnTo>
                    <a:pt x="406560" y="396688"/>
                  </a:lnTo>
                  <a:lnTo>
                    <a:pt x="354620" y="376944"/>
                  </a:lnTo>
                  <a:lnTo>
                    <a:pt x="305625" y="355496"/>
                  </a:lnTo>
                  <a:lnTo>
                    <a:pt x="259721" y="332440"/>
                  </a:lnTo>
                  <a:lnTo>
                    <a:pt x="217051" y="307872"/>
                  </a:lnTo>
                  <a:lnTo>
                    <a:pt x="177760" y="281886"/>
                  </a:lnTo>
                  <a:lnTo>
                    <a:pt x="141992" y="254579"/>
                  </a:lnTo>
                  <a:lnTo>
                    <a:pt x="109891" y="226046"/>
                  </a:lnTo>
                  <a:lnTo>
                    <a:pt x="81602" y="196382"/>
                  </a:lnTo>
                  <a:lnTo>
                    <a:pt x="57270" y="165683"/>
                  </a:lnTo>
                  <a:lnTo>
                    <a:pt x="21050" y="101561"/>
                  </a:lnTo>
                  <a:lnTo>
                    <a:pt x="2387" y="34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CA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711" y="4060372"/>
              <a:ext cx="941069" cy="546735"/>
            </a:xfrm>
            <a:custGeom>
              <a:avLst/>
              <a:gdLst/>
              <a:ahLst/>
              <a:cxnLst/>
              <a:rect l="l" t="t" r="r" b="b"/>
              <a:pathLst>
                <a:path w="941069" h="546735">
                  <a:moveTo>
                    <a:pt x="940635" y="0"/>
                  </a:moveTo>
                  <a:lnTo>
                    <a:pt x="877566" y="1084"/>
                  </a:lnTo>
                  <a:lnTo>
                    <a:pt x="814781" y="4333"/>
                  </a:lnTo>
                  <a:lnTo>
                    <a:pt x="751256" y="9848"/>
                  </a:lnTo>
                  <a:lnTo>
                    <a:pt x="689454" y="17440"/>
                  </a:lnTo>
                  <a:lnTo>
                    <a:pt x="629494" y="27027"/>
                  </a:lnTo>
                  <a:lnTo>
                    <a:pt x="571496" y="38528"/>
                  </a:lnTo>
                  <a:lnTo>
                    <a:pt x="515581" y="51863"/>
                  </a:lnTo>
                  <a:lnTo>
                    <a:pt x="461869" y="66951"/>
                  </a:lnTo>
                  <a:lnTo>
                    <a:pt x="410479" y="83712"/>
                  </a:lnTo>
                  <a:lnTo>
                    <a:pt x="361532" y="102064"/>
                  </a:lnTo>
                  <a:lnTo>
                    <a:pt x="315148" y="121927"/>
                  </a:lnTo>
                  <a:lnTo>
                    <a:pt x="271446" y="143220"/>
                  </a:lnTo>
                  <a:lnTo>
                    <a:pt x="230548" y="165862"/>
                  </a:lnTo>
                  <a:lnTo>
                    <a:pt x="192572" y="189773"/>
                  </a:lnTo>
                  <a:lnTo>
                    <a:pt x="157640" y="214873"/>
                  </a:lnTo>
                  <a:lnTo>
                    <a:pt x="125871" y="241079"/>
                  </a:lnTo>
                  <a:lnTo>
                    <a:pt x="97385" y="268312"/>
                  </a:lnTo>
                  <a:lnTo>
                    <a:pt x="50743" y="325536"/>
                  </a:lnTo>
                  <a:lnTo>
                    <a:pt x="18675" y="385896"/>
                  </a:lnTo>
                  <a:lnTo>
                    <a:pt x="2141" y="448749"/>
                  </a:lnTo>
                  <a:lnTo>
                    <a:pt x="0" y="480909"/>
                  </a:lnTo>
                  <a:lnTo>
                    <a:pt x="2102" y="513449"/>
                  </a:lnTo>
                  <a:lnTo>
                    <a:pt x="8568" y="546289"/>
                  </a:lnTo>
                  <a:lnTo>
                    <a:pt x="18665" y="515467"/>
                  </a:lnTo>
                  <a:lnTo>
                    <a:pt x="32436" y="485391"/>
                  </a:lnTo>
                  <a:lnTo>
                    <a:pt x="70477" y="427711"/>
                  </a:lnTo>
                  <a:lnTo>
                    <a:pt x="121656" y="373712"/>
                  </a:lnTo>
                  <a:lnTo>
                    <a:pt x="151848" y="348238"/>
                  </a:lnTo>
                  <a:lnTo>
                    <a:pt x="184936" y="323859"/>
                  </a:lnTo>
                  <a:lnTo>
                    <a:pt x="220790" y="300632"/>
                  </a:lnTo>
                  <a:lnTo>
                    <a:pt x="259281" y="278615"/>
                  </a:lnTo>
                  <a:lnTo>
                    <a:pt x="300278" y="257867"/>
                  </a:lnTo>
                  <a:lnTo>
                    <a:pt x="343653" y="238445"/>
                  </a:lnTo>
                  <a:lnTo>
                    <a:pt x="389276" y="220408"/>
                  </a:lnTo>
                  <a:lnTo>
                    <a:pt x="437018" y="203813"/>
                  </a:lnTo>
                  <a:lnTo>
                    <a:pt x="486748" y="188719"/>
                  </a:lnTo>
                  <a:lnTo>
                    <a:pt x="538337" y="175183"/>
                  </a:lnTo>
                  <a:lnTo>
                    <a:pt x="591656" y="163264"/>
                  </a:lnTo>
                  <a:lnTo>
                    <a:pt x="646575" y="153020"/>
                  </a:lnTo>
                  <a:lnTo>
                    <a:pt x="702964" y="144507"/>
                  </a:lnTo>
                  <a:lnTo>
                    <a:pt x="760694" y="137786"/>
                  </a:lnTo>
                  <a:lnTo>
                    <a:pt x="819636" y="132913"/>
                  </a:lnTo>
                  <a:lnTo>
                    <a:pt x="879659" y="129947"/>
                  </a:lnTo>
                  <a:lnTo>
                    <a:pt x="940635" y="128945"/>
                  </a:lnTo>
                  <a:lnTo>
                    <a:pt x="940635" y="0"/>
                  </a:lnTo>
                  <a:close/>
                </a:path>
              </a:pathLst>
            </a:custGeom>
            <a:solidFill>
              <a:srgbClr val="717D8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822" y="4060372"/>
              <a:ext cx="941069" cy="1186815"/>
            </a:xfrm>
            <a:custGeom>
              <a:avLst/>
              <a:gdLst/>
              <a:ahLst/>
              <a:cxnLst/>
              <a:rect l="l" t="t" r="r" b="b"/>
              <a:pathLst>
                <a:path w="941069" h="1186814">
                  <a:moveTo>
                    <a:pt x="0" y="481815"/>
                  </a:moveTo>
                  <a:lnTo>
                    <a:pt x="9452" y="550144"/>
                  </a:lnTo>
                  <a:lnTo>
                    <a:pt x="37037" y="615859"/>
                  </a:lnTo>
                  <a:lnTo>
                    <a:pt x="81603" y="678198"/>
                  </a:lnTo>
                  <a:lnTo>
                    <a:pt x="109891" y="707862"/>
                  </a:lnTo>
                  <a:lnTo>
                    <a:pt x="141992" y="736395"/>
                  </a:lnTo>
                  <a:lnTo>
                    <a:pt x="177760" y="763702"/>
                  </a:lnTo>
                  <a:lnTo>
                    <a:pt x="217051" y="789687"/>
                  </a:lnTo>
                  <a:lnTo>
                    <a:pt x="259721" y="814256"/>
                  </a:lnTo>
                  <a:lnTo>
                    <a:pt x="305625" y="837311"/>
                  </a:lnTo>
                  <a:lnTo>
                    <a:pt x="354620" y="858759"/>
                  </a:lnTo>
                  <a:lnTo>
                    <a:pt x="406560" y="878503"/>
                  </a:lnTo>
                  <a:lnTo>
                    <a:pt x="461301" y="896449"/>
                  </a:lnTo>
                  <a:lnTo>
                    <a:pt x="518699" y="912500"/>
                  </a:lnTo>
                  <a:lnTo>
                    <a:pt x="578610" y="926561"/>
                  </a:lnTo>
                  <a:lnTo>
                    <a:pt x="640890" y="938536"/>
                  </a:lnTo>
                  <a:lnTo>
                    <a:pt x="705393" y="948331"/>
                  </a:lnTo>
                  <a:lnTo>
                    <a:pt x="705393" y="839122"/>
                  </a:lnTo>
                  <a:lnTo>
                    <a:pt x="940524" y="1028103"/>
                  </a:lnTo>
                  <a:lnTo>
                    <a:pt x="705393" y="1186486"/>
                  </a:lnTo>
                  <a:lnTo>
                    <a:pt x="705393" y="1077276"/>
                  </a:lnTo>
                  <a:lnTo>
                    <a:pt x="640890" y="1067481"/>
                  </a:lnTo>
                  <a:lnTo>
                    <a:pt x="578610" y="1055506"/>
                  </a:lnTo>
                  <a:lnTo>
                    <a:pt x="518699" y="1041445"/>
                  </a:lnTo>
                  <a:lnTo>
                    <a:pt x="461301" y="1025394"/>
                  </a:lnTo>
                  <a:lnTo>
                    <a:pt x="406560" y="1007448"/>
                  </a:lnTo>
                  <a:lnTo>
                    <a:pt x="354619" y="987704"/>
                  </a:lnTo>
                  <a:lnTo>
                    <a:pt x="305625" y="966256"/>
                  </a:lnTo>
                  <a:lnTo>
                    <a:pt x="259721" y="943201"/>
                  </a:lnTo>
                  <a:lnTo>
                    <a:pt x="217051" y="918632"/>
                  </a:lnTo>
                  <a:lnTo>
                    <a:pt x="177760" y="892647"/>
                  </a:lnTo>
                  <a:lnTo>
                    <a:pt x="141992" y="865340"/>
                  </a:lnTo>
                  <a:lnTo>
                    <a:pt x="109891" y="836806"/>
                  </a:lnTo>
                  <a:lnTo>
                    <a:pt x="81602" y="807143"/>
                  </a:lnTo>
                  <a:lnTo>
                    <a:pt x="57270" y="776443"/>
                  </a:lnTo>
                  <a:lnTo>
                    <a:pt x="21050" y="712321"/>
                  </a:lnTo>
                  <a:lnTo>
                    <a:pt x="2387" y="645203"/>
                  </a:lnTo>
                  <a:lnTo>
                    <a:pt x="0" y="610760"/>
                  </a:lnTo>
                  <a:lnTo>
                    <a:pt x="0" y="481815"/>
                  </a:lnTo>
                  <a:lnTo>
                    <a:pt x="7919" y="419003"/>
                  </a:lnTo>
                  <a:lnTo>
                    <a:pt x="31017" y="358634"/>
                  </a:lnTo>
                  <a:lnTo>
                    <a:pt x="68302" y="301215"/>
                  </a:lnTo>
                  <a:lnTo>
                    <a:pt x="118782" y="247255"/>
                  </a:lnTo>
                  <a:lnTo>
                    <a:pt x="148661" y="221730"/>
                  </a:lnTo>
                  <a:lnTo>
                    <a:pt x="181466" y="197261"/>
                  </a:lnTo>
                  <a:lnTo>
                    <a:pt x="217075" y="173910"/>
                  </a:lnTo>
                  <a:lnTo>
                    <a:pt x="255363" y="151741"/>
                  </a:lnTo>
                  <a:lnTo>
                    <a:pt x="296206" y="130818"/>
                  </a:lnTo>
                  <a:lnTo>
                    <a:pt x="339481" y="111204"/>
                  </a:lnTo>
                  <a:lnTo>
                    <a:pt x="385063" y="92962"/>
                  </a:lnTo>
                  <a:lnTo>
                    <a:pt x="432828" y="76156"/>
                  </a:lnTo>
                  <a:lnTo>
                    <a:pt x="482653" y="60850"/>
                  </a:lnTo>
                  <a:lnTo>
                    <a:pt x="534414" y="47107"/>
                  </a:lnTo>
                  <a:lnTo>
                    <a:pt x="587986" y="34990"/>
                  </a:lnTo>
                  <a:lnTo>
                    <a:pt x="643246" y="24563"/>
                  </a:lnTo>
                  <a:lnTo>
                    <a:pt x="700070" y="15889"/>
                  </a:lnTo>
                  <a:lnTo>
                    <a:pt x="758333" y="9033"/>
                  </a:lnTo>
                  <a:lnTo>
                    <a:pt x="817913" y="4057"/>
                  </a:lnTo>
                  <a:lnTo>
                    <a:pt x="878685" y="1024"/>
                  </a:lnTo>
                  <a:lnTo>
                    <a:pt x="940524" y="0"/>
                  </a:lnTo>
                  <a:lnTo>
                    <a:pt x="940524" y="128946"/>
                  </a:lnTo>
                  <a:lnTo>
                    <a:pt x="879549" y="129947"/>
                  </a:lnTo>
                  <a:lnTo>
                    <a:pt x="819526" y="132914"/>
                  </a:lnTo>
                  <a:lnTo>
                    <a:pt x="760584" y="137786"/>
                  </a:lnTo>
                  <a:lnTo>
                    <a:pt x="702854" y="144508"/>
                  </a:lnTo>
                  <a:lnTo>
                    <a:pt x="646464" y="153020"/>
                  </a:lnTo>
                  <a:lnTo>
                    <a:pt x="591546" y="163265"/>
                  </a:lnTo>
                  <a:lnTo>
                    <a:pt x="538227" y="175184"/>
                  </a:lnTo>
                  <a:lnTo>
                    <a:pt x="486637" y="188719"/>
                  </a:lnTo>
                  <a:lnTo>
                    <a:pt x="436907" y="203814"/>
                  </a:lnTo>
                  <a:lnTo>
                    <a:pt x="389166" y="220408"/>
                  </a:lnTo>
                  <a:lnTo>
                    <a:pt x="343543" y="238446"/>
                  </a:lnTo>
                  <a:lnTo>
                    <a:pt x="300168" y="257867"/>
                  </a:lnTo>
                  <a:lnTo>
                    <a:pt x="259170" y="278615"/>
                  </a:lnTo>
                  <a:lnTo>
                    <a:pt x="220680" y="300632"/>
                  </a:lnTo>
                  <a:lnTo>
                    <a:pt x="184826" y="323859"/>
                  </a:lnTo>
                  <a:lnTo>
                    <a:pt x="151738" y="348238"/>
                  </a:lnTo>
                  <a:lnTo>
                    <a:pt x="121546" y="373712"/>
                  </a:lnTo>
                  <a:lnTo>
                    <a:pt x="70367" y="427711"/>
                  </a:lnTo>
                  <a:lnTo>
                    <a:pt x="32325" y="485391"/>
                  </a:lnTo>
                  <a:lnTo>
                    <a:pt x="18555" y="515467"/>
                  </a:lnTo>
                  <a:lnTo>
                    <a:pt x="8458" y="546288"/>
                  </a:lnTo>
                </a:path>
              </a:pathLst>
            </a:custGeom>
            <a:ln w="28186">
              <a:solidFill>
                <a:srgbClr val="39435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036901" y="4437317"/>
          <a:ext cx="3242983" cy="1344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1923" y="283317"/>
            <a:ext cx="7724215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01" dirty="0"/>
              <a:t>Aggregation:</a:t>
            </a:r>
            <a:r>
              <a:rPr spc="-224" dirty="0"/>
              <a:t> </a:t>
            </a:r>
            <a:r>
              <a:rPr spc="-88" dirty="0"/>
              <a:t>Order</a:t>
            </a:r>
            <a:r>
              <a:rPr spc="-234" dirty="0"/>
              <a:t> </a:t>
            </a:r>
            <a:r>
              <a:rPr spc="-9" dirty="0"/>
              <a:t>of</a:t>
            </a:r>
            <a:r>
              <a:rPr spc="-304" dirty="0"/>
              <a:t> </a:t>
            </a:r>
            <a:r>
              <a:rPr spc="-93" dirty="0"/>
              <a:t>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12999" y="3043069"/>
            <a:ext cx="8073838" cy="295725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93347" indent="-382141">
              <a:spcBef>
                <a:spcPts val="88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FROM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generates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765">
              <a:latin typeface="Verdana"/>
              <a:cs typeface="Verdana"/>
            </a:endParaRPr>
          </a:p>
          <a:p>
            <a:pPr marL="393347" indent="-382141">
              <a:spcBef>
                <a:spcPts val="1310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WHERE</a:t>
            </a:r>
            <a:r>
              <a:rPr sz="1765" spc="-6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generated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1765">
              <a:latin typeface="Verdana"/>
              <a:cs typeface="Verdana"/>
            </a:endParaRPr>
          </a:p>
          <a:p>
            <a:pPr marL="393347" marR="292489" indent="-382701">
              <a:lnSpc>
                <a:spcPts val="1950"/>
              </a:lnSpc>
              <a:spcBef>
                <a:spcPts val="1434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GROUP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aggregates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by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(note: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sort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result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Verdana"/>
                <a:cs typeface="Verdana"/>
              </a:rPr>
              <a:t>set)</a:t>
            </a:r>
            <a:endParaRPr sz="1765">
              <a:latin typeface="Verdana"/>
              <a:cs typeface="Verdana"/>
            </a:endParaRPr>
          </a:p>
          <a:p>
            <a:pPr marL="393347" marR="253266" indent="-382701">
              <a:lnSpc>
                <a:spcPts val="1862"/>
              </a:lnSpc>
              <a:spcBef>
                <a:spcPts val="1465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C00000"/>
                </a:solidFill>
                <a:latin typeface="Verdana"/>
                <a:cs typeface="Verdana"/>
              </a:rPr>
              <a:t>HAVING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1765">
              <a:latin typeface="Verdana"/>
              <a:cs typeface="Verdana"/>
            </a:endParaRPr>
          </a:p>
          <a:p>
            <a:pPr marL="393347" indent="-382141">
              <a:spcBef>
                <a:spcPts val="1297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SELECT</a:t>
            </a:r>
            <a:r>
              <a:rPr sz="1765" spc="-7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transforms</a:t>
            </a:r>
            <a:r>
              <a:rPr sz="1765" spc="-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765">
              <a:latin typeface="Verdana"/>
              <a:cs typeface="Verdana"/>
            </a:endParaRPr>
          </a:p>
          <a:p>
            <a:pPr marL="393347" indent="-382141">
              <a:spcBef>
                <a:spcPts val="1249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sorts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transformed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765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5240" y="1093044"/>
            <a:ext cx="7115735" cy="1497789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59951" rIns="0" bIns="0" rtlCol="0">
            <a:spAutoFit/>
          </a:bodyPr>
          <a:lstStyle/>
          <a:p>
            <a:pPr marL="792298">
              <a:lnSpc>
                <a:spcPts val="1884"/>
              </a:lnSpc>
              <a:spcBef>
                <a:spcPts val="472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select_list</a:t>
            </a:r>
            <a:endParaRPr sz="1677">
              <a:latin typeface="Courier New"/>
              <a:cs typeface="Courier New"/>
            </a:endParaRPr>
          </a:p>
          <a:p>
            <a:pPr marL="792298">
              <a:lnSpc>
                <a:spcPts val="1809"/>
              </a:lnSpc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677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table_source</a:t>
            </a:r>
            <a:endParaRPr sz="1677">
              <a:latin typeface="Courier New"/>
              <a:cs typeface="Courier New"/>
            </a:endParaRPr>
          </a:p>
          <a:p>
            <a:pPr marL="792298" marR="2462064">
              <a:lnSpc>
                <a:spcPct val="92100"/>
              </a:lnSpc>
              <a:spcBef>
                <a:spcPts val="84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[WHERE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677" spc="-9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[GROUP</a:t>
            </a:r>
            <a:r>
              <a:rPr sz="1677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677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group_by_expression</a:t>
            </a:r>
            <a:r>
              <a:rPr sz="1677" spc="-9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[HAVING</a:t>
            </a:r>
            <a:r>
              <a:rPr sz="1677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677" spc="-9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677">
              <a:latin typeface="Courier New"/>
              <a:cs typeface="Courier New"/>
            </a:endParaRPr>
          </a:p>
          <a:p>
            <a:pPr marL="792298">
              <a:lnSpc>
                <a:spcPts val="1844"/>
              </a:lnSpc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[ORDER</a:t>
            </a:r>
            <a:r>
              <a:rPr sz="1677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dirty="0">
                <a:solidFill>
                  <a:srgbClr val="292934"/>
                </a:solidFill>
                <a:latin typeface="Courier New"/>
                <a:cs typeface="Courier New"/>
              </a:rPr>
              <a:t>order_expression</a:t>
            </a:r>
            <a:r>
              <a:rPr sz="1677" i="1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[ASC</a:t>
            </a:r>
            <a:r>
              <a:rPr sz="1677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|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DESC]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-44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677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5292" y="2821192"/>
            <a:ext cx="2450054" cy="7422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029672" y="2835447"/>
            <a:ext cx="2113990" cy="34228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56590" rIns="0" bIns="0" rtlCol="0">
            <a:spAutoFit/>
          </a:bodyPr>
          <a:lstStyle/>
          <a:p>
            <a:pPr marL="268956">
              <a:spcBef>
                <a:spcPts val="446"/>
              </a:spcBef>
            </a:pP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1853" spc="8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C00000"/>
                </a:solidFill>
                <a:latin typeface="Verdana"/>
                <a:cs typeface="Verdana"/>
              </a:rPr>
              <a:t>matter</a:t>
            </a:r>
            <a:endParaRPr sz="185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8776" y="238494"/>
            <a:ext cx="8012206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62" dirty="0"/>
              <a:t>Recap</a:t>
            </a:r>
            <a:r>
              <a:rPr spc="-176" dirty="0"/>
              <a:t> </a:t>
            </a:r>
            <a:r>
              <a:rPr spc="-35" dirty="0"/>
              <a:t>2:</a:t>
            </a:r>
            <a:r>
              <a:rPr spc="-180" dirty="0"/>
              <a:t> </a:t>
            </a:r>
            <a:r>
              <a:rPr spc="-57" dirty="0"/>
              <a:t>SELECT</a:t>
            </a:r>
            <a:r>
              <a:rPr spc="-172" dirty="0"/>
              <a:t> </a:t>
            </a:r>
            <a:r>
              <a:rPr spc="-44" dirty="0"/>
              <a:t>..</a:t>
            </a:r>
            <a:r>
              <a:rPr spc="-180" dirty="0"/>
              <a:t> </a:t>
            </a:r>
            <a:r>
              <a:rPr spc="-53" dirty="0"/>
              <a:t>FROM</a:t>
            </a:r>
            <a:r>
              <a:rPr spc="-163" dirty="0"/>
              <a:t> </a:t>
            </a:r>
            <a:r>
              <a:rPr spc="-44" dirty="0"/>
              <a:t>..</a:t>
            </a:r>
            <a:r>
              <a:rPr spc="-180" dirty="0"/>
              <a:t> </a:t>
            </a:r>
            <a:r>
              <a:rPr spc="-71" dirty="0"/>
              <a:t>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2951" y="3199503"/>
            <a:ext cx="780769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S_id</a:t>
            </a:r>
            <a:r>
              <a:rPr sz="1677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taking</a:t>
            </a:r>
            <a:r>
              <a:rPr sz="1677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677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Systems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677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4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677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4" dirty="0">
                <a:solidFill>
                  <a:srgbClr val="292934"/>
                </a:solidFill>
                <a:latin typeface="Verdana"/>
                <a:cs typeface="Verdana"/>
              </a:rPr>
              <a:t>Humpty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677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677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677" spc="-44" dirty="0">
                <a:solidFill>
                  <a:srgbClr val="292934"/>
                </a:solidFill>
                <a:latin typeface="Verdana"/>
                <a:cs typeface="Verdana"/>
              </a:rPr>
              <a:t>TA</a:t>
            </a:r>
            <a:endParaRPr sz="1677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40251" y="1019286"/>
            <a:ext cx="1557056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9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500" spc="-4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500" spc="4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63161" y="1281740"/>
          <a:ext cx="733088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4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4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4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4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4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008094" y="4059088"/>
            <a:ext cx="8175812" cy="2182346"/>
          </a:xfrm>
          <a:custGeom>
            <a:avLst/>
            <a:gdLst/>
            <a:ahLst/>
            <a:cxnLst/>
            <a:rect l="l" t="t" r="r" b="b"/>
            <a:pathLst>
              <a:path w="9265920" h="2473325">
                <a:moveTo>
                  <a:pt x="0" y="0"/>
                </a:moveTo>
                <a:lnTo>
                  <a:pt x="9265919" y="0"/>
                </a:lnTo>
                <a:lnTo>
                  <a:pt x="9265919" y="2473234"/>
                </a:lnTo>
                <a:lnTo>
                  <a:pt x="0" y="2473234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BAE65E-381B-AA9F-FBB6-B32DD212BD64}"/>
              </a:ext>
            </a:extLst>
          </p:cNvPr>
          <p:cNvSpPr txBox="1"/>
          <p:nvPr/>
        </p:nvSpPr>
        <p:spPr>
          <a:xfrm>
            <a:off x="2377277" y="4268830"/>
            <a:ext cx="4920193" cy="1314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30">
              <a:spcBef>
                <a:spcPts val="154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58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4" dirty="0" err="1">
                <a:solidFill>
                  <a:srgbClr val="292934"/>
                </a:solidFill>
                <a:latin typeface="Courier New"/>
                <a:cs typeface="Courier New"/>
              </a:rPr>
              <a:t>S_id</a:t>
            </a:r>
            <a:endParaRPr lang="en-US" sz="1588" dirty="0">
              <a:latin typeface="Courier New"/>
              <a:cs typeface="Courier New"/>
            </a:endParaRPr>
          </a:p>
          <a:p>
            <a:pPr marL="85730">
              <a:spcBef>
                <a:spcPts val="22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588" spc="-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9" dirty="0" err="1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lang="en-US" sz="1588" dirty="0">
              <a:latin typeface="Courier New"/>
              <a:cs typeface="Courier New"/>
            </a:endParaRPr>
          </a:p>
          <a:p>
            <a:pPr marL="85730">
              <a:spcBef>
                <a:spcPts val="40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WHERE </a:t>
            </a:r>
            <a:r>
              <a:rPr lang="en-US" sz="1588" spc="4" dirty="0" err="1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= “Minnie” and</a:t>
            </a:r>
            <a:endParaRPr lang="en-US" sz="1588" dirty="0">
              <a:latin typeface="Courier New"/>
              <a:cs typeface="Courier New"/>
            </a:endParaRPr>
          </a:p>
          <a:p>
            <a:r>
              <a:rPr lang="en-US" sz="1588" dirty="0"/>
              <a:t>                  </a:t>
            </a:r>
            <a:r>
              <a:rPr lang="en-US" sz="1588" spc="9" dirty="0">
                <a:solidFill>
                  <a:srgbClr val="292934"/>
                </a:solidFill>
                <a:latin typeface="Courier New"/>
                <a:cs typeface="Courier New"/>
              </a:rPr>
              <a:t>Course = “Database Systems”</a:t>
            </a:r>
            <a:endParaRPr lang="en-US" sz="1588" dirty="0"/>
          </a:p>
          <a:p>
            <a:endParaRPr lang="en-US" sz="1588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8776" y="238494"/>
            <a:ext cx="8012206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62" dirty="0"/>
              <a:t>Recap</a:t>
            </a:r>
            <a:r>
              <a:rPr spc="-176" dirty="0"/>
              <a:t> </a:t>
            </a:r>
            <a:r>
              <a:rPr spc="-35" dirty="0"/>
              <a:t>3:</a:t>
            </a:r>
            <a:r>
              <a:rPr spc="-180" dirty="0"/>
              <a:t> </a:t>
            </a:r>
            <a:r>
              <a:rPr spc="-57" dirty="0"/>
              <a:t>SELECT</a:t>
            </a:r>
            <a:r>
              <a:rPr spc="-172" dirty="0"/>
              <a:t> </a:t>
            </a:r>
            <a:r>
              <a:rPr spc="-44" dirty="0"/>
              <a:t>..</a:t>
            </a:r>
            <a:r>
              <a:rPr spc="-180" dirty="0"/>
              <a:t> </a:t>
            </a:r>
            <a:r>
              <a:rPr spc="-53" dirty="0"/>
              <a:t>FROM</a:t>
            </a:r>
            <a:r>
              <a:rPr spc="-163" dirty="0"/>
              <a:t> </a:t>
            </a:r>
            <a:r>
              <a:rPr spc="-44" dirty="0"/>
              <a:t>..</a:t>
            </a:r>
            <a:r>
              <a:rPr spc="-180" dirty="0"/>
              <a:t> </a:t>
            </a:r>
            <a:r>
              <a:rPr spc="-71" dirty="0"/>
              <a:t>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0529" y="3182470"/>
            <a:ext cx="7687235" cy="568798"/>
          </a:xfrm>
          <a:prstGeom prst="rect">
            <a:avLst/>
          </a:prstGeom>
        </p:spPr>
        <p:txBody>
          <a:bodyPr vert="horz" wrap="square" lIns="0" tIns="560" rIns="0" bIns="0" rtlCol="0">
            <a:spAutoFit/>
          </a:bodyPr>
          <a:lstStyle/>
          <a:p>
            <a:pPr marL="11206" marR="4483">
              <a:lnSpc>
                <a:spcPct val="103800"/>
              </a:lnSpc>
              <a:spcBef>
                <a:spcPts val="4"/>
              </a:spcBef>
            </a:pP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names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TAs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number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 hours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TAs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per </a:t>
            </a:r>
            <a:r>
              <a:rPr sz="1853" spc="-6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week,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rename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hours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“Hours_per_week”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54757" y="1016597"/>
            <a:ext cx="71269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4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sz="15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16194" y="1266371"/>
          <a:ext cx="579399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Two_week_hours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3333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008094" y="4059088"/>
            <a:ext cx="8175812" cy="2167218"/>
          </a:xfrm>
          <a:custGeom>
            <a:avLst/>
            <a:gdLst/>
            <a:ahLst/>
            <a:cxnLst/>
            <a:rect l="l" t="t" r="r" b="b"/>
            <a:pathLst>
              <a:path w="9265920" h="2456179">
                <a:moveTo>
                  <a:pt x="0" y="0"/>
                </a:moveTo>
                <a:lnTo>
                  <a:pt x="9265919" y="0"/>
                </a:lnTo>
                <a:lnTo>
                  <a:pt x="9265919" y="2455817"/>
                </a:lnTo>
                <a:lnTo>
                  <a:pt x="0" y="2455817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422AD-DFE7-D440-0E62-3A0DF6ABE7E0}"/>
              </a:ext>
            </a:extLst>
          </p:cNvPr>
          <p:cNvSpPr txBox="1"/>
          <p:nvPr/>
        </p:nvSpPr>
        <p:spPr>
          <a:xfrm>
            <a:off x="2318599" y="4239491"/>
            <a:ext cx="6143092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30">
              <a:spcBef>
                <a:spcPts val="154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58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4" dirty="0" err="1">
                <a:solidFill>
                  <a:srgbClr val="292934"/>
                </a:solidFill>
                <a:latin typeface="Courier New"/>
                <a:cs typeface="Courier New"/>
              </a:rPr>
              <a:t>TA_id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, </a:t>
            </a:r>
            <a:r>
              <a:rPr lang="en-US" sz="1588" spc="4" dirty="0" err="1">
                <a:solidFill>
                  <a:srgbClr val="292934"/>
                </a:solidFill>
                <a:latin typeface="Courier New"/>
                <a:cs typeface="Courier New"/>
              </a:rPr>
              <a:t>Two_week_hours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 as “</a:t>
            </a:r>
            <a:r>
              <a:rPr lang="en-US" sz="1588" spc="4" dirty="0" err="1">
                <a:solidFill>
                  <a:srgbClr val="292934"/>
                </a:solidFill>
                <a:latin typeface="Courier New"/>
                <a:cs typeface="Courier New"/>
              </a:rPr>
              <a:t>Hours_per_week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”</a:t>
            </a:r>
            <a:endParaRPr lang="en-US" sz="1588" dirty="0">
              <a:latin typeface="Courier New"/>
              <a:cs typeface="Courier New"/>
            </a:endParaRPr>
          </a:p>
          <a:p>
            <a:pPr marL="85730">
              <a:spcBef>
                <a:spcPts val="22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588" spc="-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9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lang="en-US" sz="1588" dirty="0"/>
          </a:p>
          <a:p>
            <a:endParaRPr lang="en-US" sz="1588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8776" y="238494"/>
            <a:ext cx="8012206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62" dirty="0"/>
              <a:t>Recap</a:t>
            </a:r>
            <a:r>
              <a:rPr spc="-176" dirty="0"/>
              <a:t> </a:t>
            </a:r>
            <a:r>
              <a:rPr spc="-35" dirty="0"/>
              <a:t>4:</a:t>
            </a:r>
            <a:r>
              <a:rPr spc="-180" dirty="0"/>
              <a:t> </a:t>
            </a:r>
            <a:r>
              <a:rPr spc="-57" dirty="0"/>
              <a:t>SELECT</a:t>
            </a:r>
            <a:r>
              <a:rPr spc="-172" dirty="0"/>
              <a:t> </a:t>
            </a:r>
            <a:r>
              <a:rPr spc="-44" dirty="0"/>
              <a:t>..</a:t>
            </a:r>
            <a:r>
              <a:rPr spc="-180" dirty="0"/>
              <a:t> </a:t>
            </a:r>
            <a:r>
              <a:rPr spc="-53" dirty="0"/>
              <a:t>FROM</a:t>
            </a:r>
            <a:r>
              <a:rPr spc="-163" dirty="0"/>
              <a:t> </a:t>
            </a:r>
            <a:r>
              <a:rPr spc="-44" dirty="0"/>
              <a:t>..</a:t>
            </a:r>
            <a:r>
              <a:rPr spc="-180" dirty="0"/>
              <a:t> </a:t>
            </a:r>
            <a:r>
              <a:rPr spc="-71" dirty="0"/>
              <a:t>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0529" y="3198608"/>
            <a:ext cx="1531284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853" spc="-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years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54757" y="1016597"/>
            <a:ext cx="71269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4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sz="15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16194" y="1266371"/>
          <a:ext cx="579399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Two_week_hours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3333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008094" y="4059088"/>
            <a:ext cx="8175812" cy="2167218"/>
          </a:xfrm>
          <a:custGeom>
            <a:avLst/>
            <a:gdLst/>
            <a:ahLst/>
            <a:cxnLst/>
            <a:rect l="l" t="t" r="r" b="b"/>
            <a:pathLst>
              <a:path w="9265920" h="2456179">
                <a:moveTo>
                  <a:pt x="0" y="0"/>
                </a:moveTo>
                <a:lnTo>
                  <a:pt x="9265919" y="0"/>
                </a:lnTo>
                <a:lnTo>
                  <a:pt x="9265919" y="2455817"/>
                </a:lnTo>
                <a:lnTo>
                  <a:pt x="0" y="2455817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1FB67-218F-C16D-84E3-D99A6E97F9E6}"/>
              </a:ext>
            </a:extLst>
          </p:cNvPr>
          <p:cNvSpPr txBox="1"/>
          <p:nvPr/>
        </p:nvSpPr>
        <p:spPr>
          <a:xfrm>
            <a:off x="2318599" y="4298169"/>
            <a:ext cx="1616468" cy="1069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30">
              <a:spcBef>
                <a:spcPts val="154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58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Year</a:t>
            </a:r>
            <a:endParaRPr lang="en-US" sz="1588" dirty="0">
              <a:latin typeface="Courier New"/>
              <a:cs typeface="Courier New"/>
            </a:endParaRPr>
          </a:p>
          <a:p>
            <a:pPr marL="85730">
              <a:spcBef>
                <a:spcPts val="22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588" spc="-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9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lang="en-US" sz="1588" dirty="0"/>
          </a:p>
          <a:p>
            <a:endParaRPr lang="en-US" sz="1588" dirty="0"/>
          </a:p>
          <a:p>
            <a:endParaRPr lang="en-US" sz="1588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8776" y="238494"/>
            <a:ext cx="8012206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62" dirty="0"/>
              <a:t>Recap</a:t>
            </a:r>
            <a:r>
              <a:rPr spc="-176" dirty="0"/>
              <a:t> </a:t>
            </a:r>
            <a:r>
              <a:rPr spc="-35" dirty="0"/>
              <a:t>5:</a:t>
            </a:r>
            <a:r>
              <a:rPr spc="-180" dirty="0"/>
              <a:t> </a:t>
            </a:r>
            <a:r>
              <a:rPr spc="-57" dirty="0"/>
              <a:t>SELECT</a:t>
            </a:r>
            <a:r>
              <a:rPr spc="-172" dirty="0"/>
              <a:t> </a:t>
            </a:r>
            <a:r>
              <a:rPr spc="-44" dirty="0"/>
              <a:t>..</a:t>
            </a:r>
            <a:r>
              <a:rPr spc="-180" dirty="0"/>
              <a:t> </a:t>
            </a:r>
            <a:r>
              <a:rPr spc="-53" dirty="0"/>
              <a:t>FROM</a:t>
            </a:r>
            <a:r>
              <a:rPr spc="-163" dirty="0"/>
              <a:t> </a:t>
            </a:r>
            <a:r>
              <a:rPr spc="-44" dirty="0"/>
              <a:t>..</a:t>
            </a:r>
            <a:r>
              <a:rPr spc="-180" dirty="0"/>
              <a:t> </a:t>
            </a:r>
            <a:r>
              <a:rPr spc="-71" dirty="0"/>
              <a:t>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0529" y="3198607"/>
            <a:ext cx="7815543" cy="565996"/>
          </a:xfrm>
          <a:prstGeom prst="rect">
            <a:avLst/>
          </a:prstGeom>
        </p:spPr>
        <p:txBody>
          <a:bodyPr vert="horz" wrap="square" lIns="0" tIns="2801" rIns="0" bIns="0" rtlCol="0">
            <a:spAutoFit/>
          </a:bodyPr>
          <a:lstStyle/>
          <a:p>
            <a:pPr marL="11206" marR="4483">
              <a:lnSpc>
                <a:spcPct val="102899"/>
              </a:lnSpc>
              <a:spcBef>
                <a:spcPts val="22"/>
              </a:spcBef>
            </a:pP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years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TAs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in.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TAs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9" dirty="0">
                <a:solidFill>
                  <a:srgbClr val="292934"/>
                </a:solidFill>
                <a:latin typeface="Verdana"/>
                <a:cs typeface="Verdana"/>
              </a:rPr>
              <a:t>year, </a:t>
            </a:r>
            <a:r>
              <a:rPr sz="1853" spc="-6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once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54757" y="1016597"/>
            <a:ext cx="71269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4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sz="15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16194" y="1266371"/>
          <a:ext cx="579399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Two_week_hours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3333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008094" y="4059088"/>
            <a:ext cx="8175812" cy="2167218"/>
          </a:xfrm>
          <a:custGeom>
            <a:avLst/>
            <a:gdLst/>
            <a:ahLst/>
            <a:cxnLst/>
            <a:rect l="l" t="t" r="r" b="b"/>
            <a:pathLst>
              <a:path w="9265920" h="2456179">
                <a:moveTo>
                  <a:pt x="0" y="0"/>
                </a:moveTo>
                <a:lnTo>
                  <a:pt x="9265919" y="0"/>
                </a:lnTo>
                <a:lnTo>
                  <a:pt x="9265919" y="2455817"/>
                </a:lnTo>
                <a:lnTo>
                  <a:pt x="0" y="2455817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1E3EC4-39CD-172D-DE5C-E35EFE6DF4DF}"/>
              </a:ext>
            </a:extLst>
          </p:cNvPr>
          <p:cNvSpPr txBox="1"/>
          <p:nvPr/>
        </p:nvSpPr>
        <p:spPr>
          <a:xfrm>
            <a:off x="2450625" y="4254161"/>
            <a:ext cx="2712922" cy="1314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30">
              <a:spcBef>
                <a:spcPts val="154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588" dirty="0">
                <a:solidFill>
                  <a:srgbClr val="292934"/>
                </a:solidFill>
                <a:latin typeface="Courier New"/>
                <a:cs typeface="Courier New"/>
              </a:rPr>
              <a:t> distinct 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Year</a:t>
            </a:r>
            <a:endParaRPr lang="en-US" sz="1588" dirty="0">
              <a:latin typeface="Courier New"/>
              <a:cs typeface="Courier New"/>
            </a:endParaRPr>
          </a:p>
          <a:p>
            <a:pPr marL="85730">
              <a:spcBef>
                <a:spcPts val="22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588" spc="-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9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lang="en-US" sz="1588" dirty="0"/>
          </a:p>
          <a:p>
            <a:endParaRPr lang="en-US" sz="1588" dirty="0"/>
          </a:p>
          <a:p>
            <a:endParaRPr lang="en-US" sz="1588" dirty="0"/>
          </a:p>
          <a:p>
            <a:endParaRPr lang="en-US" sz="1588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8776" y="238494"/>
            <a:ext cx="802285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62" dirty="0"/>
              <a:t>Recap</a:t>
            </a:r>
            <a:r>
              <a:rPr spc="-176" dirty="0"/>
              <a:t> </a:t>
            </a:r>
            <a:r>
              <a:rPr spc="-35" dirty="0"/>
              <a:t>6:</a:t>
            </a:r>
            <a:r>
              <a:rPr spc="-180" dirty="0"/>
              <a:t> </a:t>
            </a:r>
            <a:r>
              <a:rPr spc="-57" dirty="0"/>
              <a:t>SELECT</a:t>
            </a:r>
            <a:r>
              <a:rPr spc="-172" dirty="0"/>
              <a:t> </a:t>
            </a:r>
            <a:r>
              <a:rPr spc="-44" dirty="0"/>
              <a:t>..</a:t>
            </a:r>
            <a:r>
              <a:rPr spc="-180" dirty="0"/>
              <a:t> </a:t>
            </a:r>
            <a:r>
              <a:rPr spc="-53" dirty="0"/>
              <a:t>FROM</a:t>
            </a:r>
            <a:r>
              <a:rPr spc="-163" dirty="0"/>
              <a:t> </a:t>
            </a:r>
            <a:r>
              <a:rPr spc="-44" dirty="0"/>
              <a:t>..</a:t>
            </a:r>
            <a:r>
              <a:rPr spc="-163" dirty="0"/>
              <a:t> </a:t>
            </a:r>
            <a:r>
              <a:rPr spc="-57" dirty="0"/>
              <a:t>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0529" y="3074894"/>
            <a:ext cx="7687235" cy="858535"/>
          </a:xfrm>
          <a:prstGeom prst="rect">
            <a:avLst/>
          </a:prstGeom>
        </p:spPr>
        <p:txBody>
          <a:bodyPr vert="horz" wrap="square" lIns="0" tIns="1681" rIns="0" bIns="0" rtlCol="0">
            <a:spAutoFit/>
          </a:bodyPr>
          <a:lstStyle/>
          <a:p>
            <a:pPr marL="11206" marR="4483">
              <a:lnSpc>
                <a:spcPct val="103299"/>
              </a:lnSpc>
              <a:spcBef>
                <a:spcPts val="13"/>
              </a:spcBef>
            </a:pP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names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TAs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number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 hours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6" dirty="0">
                <a:solidFill>
                  <a:srgbClr val="292934"/>
                </a:solidFill>
                <a:latin typeface="Verdana"/>
                <a:cs typeface="Verdana"/>
              </a:rPr>
              <a:t>TAs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per </a:t>
            </a:r>
            <a:r>
              <a:rPr sz="1853" spc="-6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week,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rename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hours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“Hours_per_week”,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then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 result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4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1853" spc="1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53" spc="2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9" dirty="0">
                <a:solidFill>
                  <a:srgbClr val="292934"/>
                </a:solidFill>
                <a:latin typeface="Verdana"/>
                <a:cs typeface="Verdana"/>
              </a:rPr>
              <a:t>then</a:t>
            </a:r>
            <a:r>
              <a:rPr sz="1853" spc="13" dirty="0">
                <a:solidFill>
                  <a:srgbClr val="292934"/>
                </a:solidFill>
                <a:latin typeface="Verdana"/>
                <a:cs typeface="Verdana"/>
              </a:rPr>
              <a:t> Hours_per_week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54757" y="1000460"/>
            <a:ext cx="71269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4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sz="15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16194" y="1251003"/>
          <a:ext cx="5793999" cy="161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940"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Two_week_hours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3333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940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008094" y="4059088"/>
            <a:ext cx="8175812" cy="2228850"/>
          </a:xfrm>
          <a:custGeom>
            <a:avLst/>
            <a:gdLst/>
            <a:ahLst/>
            <a:cxnLst/>
            <a:rect l="l" t="t" r="r" b="b"/>
            <a:pathLst>
              <a:path w="9265920" h="2526029">
                <a:moveTo>
                  <a:pt x="0" y="0"/>
                </a:moveTo>
                <a:lnTo>
                  <a:pt x="9265919" y="0"/>
                </a:lnTo>
                <a:lnTo>
                  <a:pt x="9265919" y="2525487"/>
                </a:lnTo>
                <a:lnTo>
                  <a:pt x="0" y="2525487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77B64-E877-DA92-EC02-84C60891511D}"/>
              </a:ext>
            </a:extLst>
          </p:cNvPr>
          <p:cNvSpPr txBox="1"/>
          <p:nvPr/>
        </p:nvSpPr>
        <p:spPr>
          <a:xfrm>
            <a:off x="2567981" y="4400855"/>
            <a:ext cx="5907386" cy="1314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30">
              <a:spcBef>
                <a:spcPts val="154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58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4" dirty="0" err="1">
                <a:solidFill>
                  <a:srgbClr val="292934"/>
                </a:solidFill>
                <a:latin typeface="Courier New"/>
                <a:cs typeface="Courier New"/>
              </a:rPr>
              <a:t>TA_id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, </a:t>
            </a:r>
            <a:r>
              <a:rPr lang="en-US" sz="1588" spc="4" dirty="0" err="1">
                <a:solidFill>
                  <a:srgbClr val="292934"/>
                </a:solidFill>
                <a:latin typeface="Courier New"/>
                <a:cs typeface="Courier New"/>
              </a:rPr>
              <a:t>Two_week_hours</a:t>
            </a: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 as </a:t>
            </a:r>
            <a:r>
              <a:rPr lang="en-US" sz="1588" spc="9" dirty="0" err="1">
                <a:solidFill>
                  <a:srgbClr val="292934"/>
                </a:solidFill>
                <a:latin typeface="Courier New"/>
                <a:cs typeface="Courier New"/>
              </a:rPr>
              <a:t>Hours_per_week</a:t>
            </a:r>
            <a:endParaRPr lang="en-US" sz="1588" dirty="0">
              <a:latin typeface="Courier New"/>
              <a:cs typeface="Courier New"/>
            </a:endParaRPr>
          </a:p>
          <a:p>
            <a:pPr marL="85730">
              <a:spcBef>
                <a:spcPts val="22"/>
              </a:spcBef>
            </a:pPr>
            <a:r>
              <a:rPr lang="en-US" sz="1588" spc="4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588" spc="-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588" spc="9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</a:p>
          <a:p>
            <a:pPr marL="85730">
              <a:spcBef>
                <a:spcPts val="22"/>
              </a:spcBef>
            </a:pPr>
            <a:r>
              <a:rPr lang="en-US" sz="1588" spc="9" dirty="0">
                <a:solidFill>
                  <a:srgbClr val="292934"/>
                </a:solidFill>
                <a:latin typeface="Courier New"/>
                <a:cs typeface="Courier New"/>
              </a:rPr>
              <a:t>ORDER BY Name, </a:t>
            </a:r>
            <a:r>
              <a:rPr lang="en-US" sz="1588" spc="9" dirty="0" err="1">
                <a:solidFill>
                  <a:srgbClr val="292934"/>
                </a:solidFill>
                <a:latin typeface="Courier New"/>
                <a:cs typeface="Courier New"/>
              </a:rPr>
              <a:t>Hours_per_week</a:t>
            </a:r>
            <a:endParaRPr lang="en-US" sz="1588" dirty="0"/>
          </a:p>
          <a:p>
            <a:endParaRPr lang="en-US" sz="1588" dirty="0"/>
          </a:p>
          <a:p>
            <a:endParaRPr lang="en-US" sz="1588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0588" y="332016"/>
            <a:ext cx="7654738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050047">
              <a:lnSpc>
                <a:spcPct val="100000"/>
              </a:lnSpc>
              <a:spcBef>
                <a:spcPts val="88"/>
              </a:spcBef>
            </a:pPr>
            <a:r>
              <a:rPr spc="-106" dirty="0"/>
              <a:t>Aggregation</a:t>
            </a:r>
            <a:r>
              <a:rPr spc="-172" dirty="0"/>
              <a:t> </a:t>
            </a:r>
            <a:r>
              <a:rPr spc="-101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2263" y="1137620"/>
            <a:ext cx="8108016" cy="463803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97568">
              <a:lnSpc>
                <a:spcPct val="105200"/>
              </a:lnSpc>
              <a:spcBef>
                <a:spcPts val="8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Calculate</a:t>
            </a:r>
            <a:r>
              <a:rPr sz="2030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30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across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entire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030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across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groups</a:t>
            </a:r>
            <a:r>
              <a:rPr sz="2030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2030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2030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030" dirty="0">
              <a:latin typeface="Verdana"/>
              <a:cs typeface="Verdana"/>
            </a:endParaRPr>
          </a:p>
          <a:p>
            <a:pPr>
              <a:spcBef>
                <a:spcPts val="13"/>
              </a:spcBef>
            </a:pPr>
            <a:endParaRPr sz="2338" dirty="0">
              <a:latin typeface="Verdana"/>
              <a:cs typeface="Verdana"/>
            </a:endParaRPr>
          </a:p>
          <a:p>
            <a:pPr marL="11206">
              <a:spcBef>
                <a:spcPts val="4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SQL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uses</a:t>
            </a:r>
            <a:r>
              <a:rPr sz="2030" spc="12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five</a:t>
            </a:r>
            <a:r>
              <a:rPr sz="2030" spc="12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r>
              <a:rPr sz="2030" spc="12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operators:</a:t>
            </a:r>
            <a:endParaRPr sz="2030" dirty="0">
              <a:latin typeface="Verdana"/>
              <a:cs typeface="Verdana"/>
            </a:endParaRPr>
          </a:p>
          <a:p>
            <a:pPr marL="454983" indent="-215164">
              <a:spcBef>
                <a:spcPts val="1531"/>
              </a:spcBef>
              <a:buClr>
                <a:srgbClr val="292934"/>
              </a:buClr>
              <a:buSzPct val="95238"/>
              <a:buFont typeface="Arial MT"/>
              <a:buChar char="•"/>
              <a:tabLst>
                <a:tab pos="454983" algn="l"/>
              </a:tabLst>
            </a:pP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SUM</a:t>
            </a:r>
            <a:r>
              <a:rPr sz="1853" spc="62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produces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sum</a:t>
            </a:r>
            <a:r>
              <a:rPr sz="1853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numerical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1853" dirty="0">
              <a:latin typeface="Verdana"/>
              <a:cs typeface="Verdana"/>
            </a:endParaRPr>
          </a:p>
          <a:p>
            <a:pPr marL="454983" indent="-215164">
              <a:spcBef>
                <a:spcPts val="1566"/>
              </a:spcBef>
              <a:buClr>
                <a:srgbClr val="292934"/>
              </a:buClr>
              <a:buSzPct val="95238"/>
              <a:buFont typeface="Arial MT"/>
              <a:buChar char="•"/>
              <a:tabLst>
                <a:tab pos="454983" algn="l"/>
              </a:tabLst>
            </a:pP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AVG</a:t>
            </a:r>
            <a:r>
              <a:rPr sz="1853" spc="4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produces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numerical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1853" dirty="0">
              <a:latin typeface="Verdana"/>
              <a:cs typeface="Verdana"/>
            </a:endParaRPr>
          </a:p>
          <a:p>
            <a:pPr marL="454983" marR="52110" indent="-215164">
              <a:spcBef>
                <a:spcPts val="1566"/>
              </a:spcBef>
              <a:buClr>
                <a:srgbClr val="292934"/>
              </a:buClr>
              <a:buSzPct val="95238"/>
              <a:buFont typeface="Arial MT"/>
              <a:buChar char="•"/>
              <a:tabLst>
                <a:tab pos="454983" algn="l"/>
              </a:tabLst>
            </a:pP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MIN</a:t>
            </a:r>
            <a:r>
              <a:rPr sz="1853" spc="6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applied</a:t>
            </a:r>
            <a:r>
              <a:rPr sz="1853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numerical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values,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produces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smallest</a:t>
            </a:r>
            <a:r>
              <a:rPr sz="1853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endParaRPr sz="1853" dirty="0">
              <a:latin typeface="Verdana"/>
              <a:cs typeface="Verdana"/>
            </a:endParaRPr>
          </a:p>
          <a:p>
            <a:pPr marL="454983" marR="4483" indent="-215164">
              <a:lnSpc>
                <a:spcPct val="102899"/>
              </a:lnSpc>
              <a:spcBef>
                <a:spcPts val="1504"/>
              </a:spcBef>
              <a:buClr>
                <a:srgbClr val="292934"/>
              </a:buClr>
              <a:buSzPct val="95238"/>
              <a:buFont typeface="Arial MT"/>
              <a:buChar char="•"/>
              <a:tabLst>
                <a:tab pos="454983" algn="l"/>
              </a:tabLst>
            </a:pP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MAX</a:t>
            </a:r>
            <a:r>
              <a:rPr sz="1853" spc="7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applied</a:t>
            </a:r>
            <a:r>
              <a:rPr sz="1853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numerical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values,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produces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largest</a:t>
            </a:r>
            <a:r>
              <a:rPr sz="1853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18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endParaRPr sz="1853" dirty="0">
              <a:latin typeface="Verdana"/>
              <a:cs typeface="Verdana"/>
            </a:endParaRPr>
          </a:p>
          <a:p>
            <a:pPr marL="454983" marR="537911" indent="-215164">
              <a:spcBef>
                <a:spcPts val="1566"/>
              </a:spcBef>
              <a:buClr>
                <a:srgbClr val="292934"/>
              </a:buClr>
              <a:buSzPct val="95238"/>
              <a:buFont typeface="Arial MT"/>
              <a:buChar char="•"/>
              <a:tabLst>
                <a:tab pos="454983" algn="l"/>
              </a:tabLst>
            </a:pP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COUNT</a:t>
            </a:r>
            <a:r>
              <a:rPr sz="1853" spc="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1853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produces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(not</a:t>
            </a:r>
            <a:r>
              <a:rPr sz="1853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necessarily</a:t>
            </a:r>
            <a:r>
              <a:rPr sz="1853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distinct)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1853" spc="2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853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endParaRPr sz="1853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5007" y="252582"/>
            <a:ext cx="3719232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01" dirty="0"/>
              <a:t>Example:</a:t>
            </a:r>
            <a:r>
              <a:rPr spc="-202" dirty="0"/>
              <a:t> </a:t>
            </a:r>
            <a:r>
              <a:rPr spc="-66" dirty="0"/>
              <a:t>SUM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5007" y="940183"/>
            <a:ext cx="3184151" cy="794800"/>
          </a:xfrm>
          <a:prstGeom prst="rect">
            <a:avLst/>
          </a:prstGeom>
        </p:spPr>
        <p:txBody>
          <a:bodyPr vert="horz" wrap="square" lIns="0" tIns="106456" rIns="0" bIns="0" rtlCol="0">
            <a:spAutoFit/>
          </a:bodyPr>
          <a:lstStyle/>
          <a:p>
            <a:pPr marL="11206">
              <a:spcBef>
                <a:spcPts val="83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03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030" spc="13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030">
              <a:latin typeface="Verdana"/>
              <a:cs typeface="Verdana"/>
            </a:endParaRPr>
          </a:p>
          <a:p>
            <a:pPr marL="688638">
              <a:spcBef>
                <a:spcPts val="684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1853" u="sng" spc="-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94661" y="1431664"/>
            <a:ext cx="1741954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59311" y="1431664"/>
            <a:ext cx="1026459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5008" y="4090596"/>
            <a:ext cx="6929157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sum</a:t>
            </a:r>
            <a:r>
              <a:rPr sz="2030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amounts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2030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203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92598" y="1804257"/>
          <a:ext cx="4687981" cy="2147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4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2468274" y="5344028"/>
            <a:ext cx="1420906" cy="550209"/>
            <a:chOff x="917777" y="6056565"/>
            <a:chExt cx="1610360" cy="623570"/>
          </a:xfrm>
        </p:grpSpPr>
        <p:sp>
          <p:nvSpPr>
            <p:cNvPr id="9" name="object 9"/>
            <p:cNvSpPr/>
            <p:nvPr/>
          </p:nvSpPr>
          <p:spPr>
            <a:xfrm>
              <a:off x="917777" y="6347819"/>
              <a:ext cx="1610360" cy="40640"/>
            </a:xfrm>
            <a:custGeom>
              <a:avLst/>
              <a:gdLst/>
              <a:ahLst/>
              <a:cxnLst/>
              <a:rect l="l" t="t" r="r" b="b"/>
              <a:pathLst>
                <a:path w="1610360" h="40639">
                  <a:moveTo>
                    <a:pt x="0" y="0"/>
                  </a:moveTo>
                  <a:lnTo>
                    <a:pt x="1610117" y="0"/>
                  </a:lnTo>
                  <a:lnTo>
                    <a:pt x="1610117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917777" y="6056565"/>
              <a:ext cx="1610360" cy="623570"/>
            </a:xfrm>
            <a:custGeom>
              <a:avLst/>
              <a:gdLst/>
              <a:ahLst/>
              <a:cxnLst/>
              <a:rect l="l" t="t" r="r" b="b"/>
              <a:pathLst>
                <a:path w="1610360" h="623570">
                  <a:moveTo>
                    <a:pt x="6773" y="0"/>
                  </a:moveTo>
                  <a:lnTo>
                    <a:pt x="6773" y="623146"/>
                  </a:lnTo>
                </a:path>
                <a:path w="1610360" h="623570">
                  <a:moveTo>
                    <a:pt x="1603343" y="0"/>
                  </a:moveTo>
                  <a:lnTo>
                    <a:pt x="1603343" y="623146"/>
                  </a:lnTo>
                </a:path>
                <a:path w="1610360" h="623570">
                  <a:moveTo>
                    <a:pt x="0" y="6773"/>
                  </a:moveTo>
                  <a:lnTo>
                    <a:pt x="1610117" y="6773"/>
                  </a:lnTo>
                </a:path>
                <a:path w="1610360" h="623570">
                  <a:moveTo>
                    <a:pt x="0" y="616373"/>
                  </a:moveTo>
                  <a:lnTo>
                    <a:pt x="1610117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74250" y="5350005"/>
            <a:ext cx="1409140" cy="225224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7844" rIns="0" bIns="0" rtlCol="0">
            <a:spAutoFit/>
          </a:bodyPr>
          <a:lstStyle/>
          <a:p>
            <a:pPr marL="121590">
              <a:spcBef>
                <a:spcPts val="62"/>
              </a:spcBef>
            </a:pPr>
            <a:r>
              <a:rPr sz="1412" b="1" spc="-9" dirty="0">
                <a:solidFill>
                  <a:srgbClr val="FFFFFF"/>
                </a:solidFill>
                <a:latin typeface="Arial"/>
                <a:cs typeface="Arial"/>
              </a:rPr>
              <a:t>SUM(amount)</a:t>
            </a:r>
            <a:endParaRPr sz="1412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0227" y="5636875"/>
            <a:ext cx="1396813" cy="205184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L="861217">
              <a:lnSpc>
                <a:spcPts val="1619"/>
              </a:lnSpc>
            </a:pPr>
            <a:r>
              <a:rPr sz="1412" spc="-18" dirty="0">
                <a:solidFill>
                  <a:srgbClr val="292934"/>
                </a:solidFill>
                <a:latin typeface="Verdana"/>
                <a:cs typeface="Verdana"/>
              </a:rPr>
              <a:t>8700</a:t>
            </a:r>
            <a:endParaRPr sz="1412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30999" y="5344028"/>
            <a:ext cx="1420906" cy="550209"/>
            <a:chOff x="5068866" y="6056565"/>
            <a:chExt cx="1610360" cy="623570"/>
          </a:xfrm>
        </p:grpSpPr>
        <p:sp>
          <p:nvSpPr>
            <p:cNvPr id="14" name="object 14"/>
            <p:cNvSpPr/>
            <p:nvPr/>
          </p:nvSpPr>
          <p:spPr>
            <a:xfrm>
              <a:off x="5068866" y="6347819"/>
              <a:ext cx="1610360" cy="40640"/>
            </a:xfrm>
            <a:custGeom>
              <a:avLst/>
              <a:gdLst/>
              <a:ahLst/>
              <a:cxnLst/>
              <a:rect l="l" t="t" r="r" b="b"/>
              <a:pathLst>
                <a:path w="1610360" h="40639">
                  <a:moveTo>
                    <a:pt x="0" y="0"/>
                  </a:moveTo>
                  <a:lnTo>
                    <a:pt x="1610117" y="0"/>
                  </a:lnTo>
                  <a:lnTo>
                    <a:pt x="1610117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5068866" y="6056565"/>
              <a:ext cx="1610360" cy="623570"/>
            </a:xfrm>
            <a:custGeom>
              <a:avLst/>
              <a:gdLst/>
              <a:ahLst/>
              <a:cxnLst/>
              <a:rect l="l" t="t" r="r" b="b"/>
              <a:pathLst>
                <a:path w="1610359" h="623570">
                  <a:moveTo>
                    <a:pt x="6773" y="0"/>
                  </a:moveTo>
                  <a:lnTo>
                    <a:pt x="6773" y="623146"/>
                  </a:lnTo>
                </a:path>
                <a:path w="1610359" h="623570">
                  <a:moveTo>
                    <a:pt x="1603343" y="0"/>
                  </a:moveTo>
                  <a:lnTo>
                    <a:pt x="1603343" y="623146"/>
                  </a:lnTo>
                </a:path>
                <a:path w="1610359" h="623570">
                  <a:moveTo>
                    <a:pt x="0" y="6773"/>
                  </a:moveTo>
                  <a:lnTo>
                    <a:pt x="1610117" y="6773"/>
                  </a:lnTo>
                </a:path>
                <a:path w="1610359" h="623570">
                  <a:moveTo>
                    <a:pt x="0" y="616373"/>
                  </a:moveTo>
                  <a:lnTo>
                    <a:pt x="1610117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36977" y="5350005"/>
            <a:ext cx="1409140" cy="225224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7844" rIns="0" bIns="0" rtlCol="0">
            <a:spAutoFit/>
          </a:bodyPr>
          <a:lstStyle/>
          <a:p>
            <a:pPr algn="ctr">
              <a:spcBef>
                <a:spcPts val="62"/>
              </a:spcBef>
            </a:pPr>
            <a:r>
              <a:rPr sz="1412" b="1" spc="-9" dirty="0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endParaRPr sz="1412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42953" y="5636875"/>
            <a:ext cx="1396813" cy="205184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L="861217">
              <a:lnSpc>
                <a:spcPts val="1619"/>
              </a:lnSpc>
            </a:pPr>
            <a:r>
              <a:rPr sz="1412" spc="-18" dirty="0">
                <a:solidFill>
                  <a:srgbClr val="292934"/>
                </a:solidFill>
                <a:latin typeface="Verdana"/>
                <a:cs typeface="Verdana"/>
              </a:rPr>
              <a:t>8700</a:t>
            </a:r>
            <a:endParaRPr sz="1412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53983" y="4581610"/>
            <a:ext cx="2874309" cy="614119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48745" rIns="0" bIns="0" rtlCol="0">
            <a:spAutoFit/>
          </a:bodyPr>
          <a:lstStyle/>
          <a:p>
            <a:pPr marL="209000" marR="210122">
              <a:lnSpc>
                <a:spcPct val="104000"/>
              </a:lnSpc>
              <a:spcBef>
                <a:spcPts val="383"/>
              </a:spcBef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765" spc="6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SUM(amount)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765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37412" y="4581610"/>
            <a:ext cx="4154581" cy="614119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48745" rIns="0" bIns="0" rtlCol="0">
            <a:spAutoFit/>
          </a:bodyPr>
          <a:lstStyle/>
          <a:p>
            <a:pPr marL="249905" marR="226371">
              <a:lnSpc>
                <a:spcPct val="104000"/>
              </a:lnSpc>
              <a:spcBef>
                <a:spcPts val="383"/>
              </a:spcBef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765" spc="57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SUM(amount)</a:t>
            </a:r>
            <a:r>
              <a:rPr sz="1765" spc="7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765" spc="7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Total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765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765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4590" y="199790"/>
            <a:ext cx="3660401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01" dirty="0"/>
              <a:t>Example:</a:t>
            </a:r>
            <a:r>
              <a:rPr spc="-202" dirty="0"/>
              <a:t> </a:t>
            </a:r>
            <a:r>
              <a:rPr spc="-71" dirty="0"/>
              <a:t>AVG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5009" y="954912"/>
            <a:ext cx="3184151" cy="766700"/>
          </a:xfrm>
          <a:prstGeom prst="rect">
            <a:avLst/>
          </a:prstGeom>
        </p:spPr>
        <p:txBody>
          <a:bodyPr vert="horz" wrap="square" lIns="0" tIns="91328" rIns="0" bIns="0" rtlCol="0">
            <a:spAutoFit/>
          </a:bodyPr>
          <a:lstStyle/>
          <a:p>
            <a:pPr marL="11206">
              <a:spcBef>
                <a:spcPts val="719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03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030" spc="13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030">
              <a:latin typeface="Verdana"/>
              <a:cs typeface="Verdana"/>
            </a:endParaRPr>
          </a:p>
          <a:p>
            <a:pPr marL="688638">
              <a:spcBef>
                <a:spcPts val="582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1853" u="sng" spc="-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94661" y="1418216"/>
            <a:ext cx="1741954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59311" y="1418216"/>
            <a:ext cx="1026459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5009" y="4090596"/>
            <a:ext cx="7423897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amounts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030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203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92598" y="1788887"/>
          <a:ext cx="4687981" cy="2147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4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2468274" y="5344028"/>
            <a:ext cx="3050241" cy="562535"/>
            <a:chOff x="917777" y="6056565"/>
            <a:chExt cx="3456940" cy="637540"/>
          </a:xfrm>
        </p:grpSpPr>
        <p:sp>
          <p:nvSpPr>
            <p:cNvPr id="9" name="object 9"/>
            <p:cNvSpPr/>
            <p:nvPr/>
          </p:nvSpPr>
          <p:spPr>
            <a:xfrm>
              <a:off x="917777" y="6347819"/>
              <a:ext cx="3456940" cy="40640"/>
            </a:xfrm>
            <a:custGeom>
              <a:avLst/>
              <a:gdLst/>
              <a:ahLst/>
              <a:cxnLst/>
              <a:rect l="l" t="t" r="r" b="b"/>
              <a:pathLst>
                <a:path w="3456940" h="40639">
                  <a:moveTo>
                    <a:pt x="0" y="0"/>
                  </a:moveTo>
                  <a:lnTo>
                    <a:pt x="3456344" y="0"/>
                  </a:lnTo>
                  <a:lnTo>
                    <a:pt x="3456344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917777" y="6056565"/>
              <a:ext cx="3456940" cy="637540"/>
            </a:xfrm>
            <a:custGeom>
              <a:avLst/>
              <a:gdLst/>
              <a:ahLst/>
              <a:cxnLst/>
              <a:rect l="l" t="t" r="r" b="b"/>
              <a:pathLst>
                <a:path w="3456940" h="637540">
                  <a:moveTo>
                    <a:pt x="6773" y="0"/>
                  </a:moveTo>
                  <a:lnTo>
                    <a:pt x="6773" y="636964"/>
                  </a:lnTo>
                </a:path>
                <a:path w="3456940" h="637540">
                  <a:moveTo>
                    <a:pt x="3449571" y="0"/>
                  </a:moveTo>
                  <a:lnTo>
                    <a:pt x="3449571" y="636964"/>
                  </a:lnTo>
                </a:path>
                <a:path w="3456940" h="637540">
                  <a:moveTo>
                    <a:pt x="0" y="6773"/>
                  </a:moveTo>
                  <a:lnTo>
                    <a:pt x="3456344" y="6773"/>
                  </a:lnTo>
                </a:path>
                <a:path w="3456940" h="637540">
                  <a:moveTo>
                    <a:pt x="0" y="630190"/>
                  </a:moveTo>
                  <a:lnTo>
                    <a:pt x="3456344" y="630190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74250" y="5350005"/>
            <a:ext cx="3037915" cy="225224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7844" rIns="0" bIns="0" rtlCol="0">
            <a:spAutoFit/>
          </a:bodyPr>
          <a:lstStyle/>
          <a:p>
            <a:pPr marL="948068">
              <a:spcBef>
                <a:spcPts val="62"/>
              </a:spcBef>
            </a:pPr>
            <a:r>
              <a:rPr sz="1412" b="1" spc="-9" dirty="0">
                <a:solidFill>
                  <a:srgbClr val="FFFFFF"/>
                </a:solidFill>
                <a:latin typeface="Arial"/>
                <a:cs typeface="Arial"/>
              </a:rPr>
              <a:t>AVG(amount)</a:t>
            </a:r>
            <a:endParaRPr sz="1412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0226" y="5636876"/>
            <a:ext cx="3026149" cy="218008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L="1192930">
              <a:lnSpc>
                <a:spcPts val="1721"/>
              </a:lnSpc>
            </a:pPr>
            <a:r>
              <a:rPr sz="1500" spc="-9" dirty="0">
                <a:solidFill>
                  <a:srgbClr val="292934"/>
                </a:solidFill>
                <a:latin typeface="Arial MT"/>
                <a:cs typeface="Arial MT"/>
              </a:rPr>
              <a:t>1242.857142857143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38613" y="4581611"/>
            <a:ext cx="3534896" cy="597713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32497" rIns="0" bIns="0" rtlCol="0">
            <a:spAutoFit/>
          </a:bodyPr>
          <a:lstStyle/>
          <a:p>
            <a:pPr marL="224130" marR="855614">
              <a:lnSpc>
                <a:spcPct val="104000"/>
              </a:lnSpc>
              <a:spcBef>
                <a:spcPts val="256"/>
              </a:spcBef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765" spc="6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AVG(amount)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765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765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5008" y="161924"/>
            <a:ext cx="3657040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01" dirty="0"/>
              <a:t>Example:</a:t>
            </a:r>
            <a:r>
              <a:rPr spc="-202" dirty="0"/>
              <a:t> </a:t>
            </a:r>
            <a:r>
              <a:rPr spc="-66" dirty="0"/>
              <a:t>MIN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10"/>
          </p:nvPr>
        </p:nvSpPr>
        <p:spPr>
          <a:xfrm>
            <a:off x="2398059" y="5676165"/>
            <a:ext cx="2420471" cy="186929"/>
          </a:xfrm>
          <a:prstGeom prst="rect">
            <a:avLst/>
          </a:prstGeom>
        </p:spPr>
        <p:txBody>
          <a:bodyPr vert="horz" wrap="square" lIns="0" tIns="2241" rIns="0" bIns="0" rtlCol="0" anchor="ctr">
            <a:spAutoFit/>
          </a:bodyPr>
          <a:lstStyle/>
          <a:p>
            <a:pPr marL="11206">
              <a:spcBef>
                <a:spcPts val="18"/>
              </a:spcBef>
            </a:pPr>
            <a:r>
              <a:rPr dirty="0"/>
              <a:t>©</a:t>
            </a:r>
            <a:r>
              <a:rPr spc="-44" dirty="0"/>
              <a:t> </a:t>
            </a:r>
            <a:r>
              <a:rPr spc="-57" dirty="0"/>
              <a:t>Praphamontripong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xfrm>
            <a:off x="5221941" y="5691627"/>
            <a:ext cx="3630706" cy="15600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1206">
              <a:lnSpc>
                <a:spcPts val="1160"/>
              </a:lnSpc>
            </a:pPr>
            <a:r>
              <a:rPr dirty="0"/>
              <a:t>Fall</a:t>
            </a:r>
            <a:r>
              <a:rPr spc="-31" dirty="0"/>
              <a:t> </a:t>
            </a:r>
            <a:r>
              <a:rPr spc="-18" dirty="0"/>
              <a:t>2023</a:t>
            </a:r>
            <a:r>
              <a:rPr spc="-44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spc="-18" dirty="0"/>
              <a:t>University</a:t>
            </a:r>
            <a:r>
              <a:rPr spc="-35" dirty="0"/>
              <a:t> </a:t>
            </a:r>
            <a:r>
              <a:rPr dirty="0"/>
              <a:t>of</a:t>
            </a:r>
            <a:r>
              <a:rPr spc="-31" dirty="0"/>
              <a:t> </a:t>
            </a:r>
            <a:r>
              <a:rPr spc="-9" dirty="0"/>
              <a:t>Virginia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xfrm>
            <a:off x="9256059" y="5691627"/>
            <a:ext cx="2420471" cy="15600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3619">
              <a:lnSpc>
                <a:spcPts val="1160"/>
              </a:lnSpc>
            </a:pPr>
            <a:fld id="{81D60167-4931-47E6-BA6A-407CBD079E47}" type="slidenum">
              <a:rPr spc="-22" dirty="0"/>
              <a:pPr marL="33619">
                <a:lnSpc>
                  <a:spcPts val="1160"/>
                </a:lnSpc>
              </a:pPr>
              <a:t>76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235008" y="954912"/>
            <a:ext cx="3184151" cy="766700"/>
          </a:xfrm>
          <a:prstGeom prst="rect">
            <a:avLst/>
          </a:prstGeom>
        </p:spPr>
        <p:txBody>
          <a:bodyPr vert="horz" wrap="square" lIns="0" tIns="91328" rIns="0" bIns="0" rtlCol="0">
            <a:spAutoFit/>
          </a:bodyPr>
          <a:lstStyle/>
          <a:p>
            <a:pPr marL="11206">
              <a:spcBef>
                <a:spcPts val="719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03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030" spc="13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030">
              <a:latin typeface="Verdana"/>
              <a:cs typeface="Verdana"/>
            </a:endParaRPr>
          </a:p>
          <a:p>
            <a:pPr marL="688638">
              <a:spcBef>
                <a:spcPts val="582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1853" u="sng" spc="-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94661" y="1418216"/>
            <a:ext cx="1741954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59311" y="1418216"/>
            <a:ext cx="1026459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5008" y="4090596"/>
            <a:ext cx="6067425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12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smallest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amount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2030" spc="12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30" spc="12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2030" spc="13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31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203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92598" y="1788887"/>
          <a:ext cx="4687981" cy="2147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4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2452905" y="5344028"/>
            <a:ext cx="3050241" cy="562535"/>
            <a:chOff x="900359" y="6056565"/>
            <a:chExt cx="3456940" cy="637540"/>
          </a:xfrm>
        </p:grpSpPr>
        <p:sp>
          <p:nvSpPr>
            <p:cNvPr id="9" name="object 9"/>
            <p:cNvSpPr/>
            <p:nvPr/>
          </p:nvSpPr>
          <p:spPr>
            <a:xfrm>
              <a:off x="900359" y="6347819"/>
              <a:ext cx="3456940" cy="40640"/>
            </a:xfrm>
            <a:custGeom>
              <a:avLst/>
              <a:gdLst/>
              <a:ahLst/>
              <a:cxnLst/>
              <a:rect l="l" t="t" r="r" b="b"/>
              <a:pathLst>
                <a:path w="3456940" h="40639">
                  <a:moveTo>
                    <a:pt x="0" y="0"/>
                  </a:moveTo>
                  <a:lnTo>
                    <a:pt x="3456344" y="0"/>
                  </a:lnTo>
                  <a:lnTo>
                    <a:pt x="3456344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900359" y="6056565"/>
              <a:ext cx="3456940" cy="637540"/>
            </a:xfrm>
            <a:custGeom>
              <a:avLst/>
              <a:gdLst/>
              <a:ahLst/>
              <a:cxnLst/>
              <a:rect l="l" t="t" r="r" b="b"/>
              <a:pathLst>
                <a:path w="3456940" h="637540">
                  <a:moveTo>
                    <a:pt x="6773" y="0"/>
                  </a:moveTo>
                  <a:lnTo>
                    <a:pt x="6773" y="636964"/>
                  </a:lnTo>
                </a:path>
                <a:path w="3456940" h="637540">
                  <a:moveTo>
                    <a:pt x="3449571" y="0"/>
                  </a:moveTo>
                  <a:lnTo>
                    <a:pt x="3449571" y="636964"/>
                  </a:lnTo>
                </a:path>
                <a:path w="3456940" h="637540">
                  <a:moveTo>
                    <a:pt x="0" y="6773"/>
                  </a:moveTo>
                  <a:lnTo>
                    <a:pt x="3456344" y="6773"/>
                  </a:lnTo>
                </a:path>
                <a:path w="3456940" h="637540">
                  <a:moveTo>
                    <a:pt x="0" y="630190"/>
                  </a:moveTo>
                  <a:lnTo>
                    <a:pt x="3456344" y="630190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58881" y="5350005"/>
            <a:ext cx="3037915" cy="225224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7844" rIns="0" bIns="0" rtlCol="0">
            <a:spAutoFit/>
          </a:bodyPr>
          <a:lstStyle/>
          <a:p>
            <a:pPr marL="976084">
              <a:spcBef>
                <a:spcPts val="62"/>
              </a:spcBef>
            </a:pPr>
            <a:r>
              <a:rPr sz="1412" b="1" spc="-9" dirty="0">
                <a:solidFill>
                  <a:srgbClr val="FFFFFF"/>
                </a:solidFill>
                <a:latin typeface="Arial"/>
                <a:cs typeface="Arial"/>
              </a:rPr>
              <a:t>min(amount)</a:t>
            </a:r>
            <a:endParaRPr sz="1412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4858" y="5636876"/>
            <a:ext cx="3026149" cy="218008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74523" algn="r">
              <a:lnSpc>
                <a:spcPts val="1721"/>
              </a:lnSpc>
            </a:pPr>
            <a:r>
              <a:rPr sz="1500" spc="-22" dirty="0">
                <a:solidFill>
                  <a:srgbClr val="292934"/>
                </a:solidFill>
                <a:latin typeface="Arial MT"/>
                <a:cs typeface="Arial MT"/>
              </a:rPr>
              <a:t>500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9350" y="4581610"/>
            <a:ext cx="3319743" cy="614119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48745" rIns="0" bIns="0" rtlCol="0">
            <a:spAutoFit/>
          </a:bodyPr>
          <a:lstStyle/>
          <a:p>
            <a:pPr marL="178183" marR="686957">
              <a:lnSpc>
                <a:spcPct val="104000"/>
              </a:lnSpc>
              <a:spcBef>
                <a:spcPts val="383"/>
              </a:spcBef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765" spc="6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MIN(amount)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765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765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6573" y="226008"/>
            <a:ext cx="3725956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01" dirty="0"/>
              <a:t>Example:</a:t>
            </a:r>
            <a:r>
              <a:rPr spc="-212" dirty="0"/>
              <a:t> </a:t>
            </a:r>
            <a:r>
              <a:rPr spc="-71" dirty="0"/>
              <a:t>MAX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9638" y="940183"/>
            <a:ext cx="3184151" cy="794800"/>
          </a:xfrm>
          <a:prstGeom prst="rect">
            <a:avLst/>
          </a:prstGeom>
        </p:spPr>
        <p:txBody>
          <a:bodyPr vert="horz" wrap="square" lIns="0" tIns="106456" rIns="0" bIns="0" rtlCol="0">
            <a:spAutoFit/>
          </a:bodyPr>
          <a:lstStyle/>
          <a:p>
            <a:pPr marL="11206">
              <a:spcBef>
                <a:spcPts val="83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03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030" spc="13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030">
              <a:latin typeface="Verdana"/>
              <a:cs typeface="Verdana"/>
            </a:endParaRPr>
          </a:p>
          <a:p>
            <a:pPr marL="704327">
              <a:spcBef>
                <a:spcPts val="684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1853" u="sng" spc="-9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94661" y="1431664"/>
            <a:ext cx="1741954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59311" y="1431664"/>
            <a:ext cx="1026459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9638" y="4090596"/>
            <a:ext cx="5879726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11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largest</a:t>
            </a:r>
            <a:r>
              <a:rPr sz="2030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amount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2030" spc="11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30" spc="12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2030" spc="12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203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92598" y="1804257"/>
          <a:ext cx="4687981" cy="2147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4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2468274" y="5344028"/>
            <a:ext cx="3050241" cy="562535"/>
            <a:chOff x="917777" y="6056565"/>
            <a:chExt cx="3456940" cy="637540"/>
          </a:xfrm>
        </p:grpSpPr>
        <p:sp>
          <p:nvSpPr>
            <p:cNvPr id="9" name="object 9"/>
            <p:cNvSpPr/>
            <p:nvPr/>
          </p:nvSpPr>
          <p:spPr>
            <a:xfrm>
              <a:off x="917777" y="6347819"/>
              <a:ext cx="3456940" cy="40640"/>
            </a:xfrm>
            <a:custGeom>
              <a:avLst/>
              <a:gdLst/>
              <a:ahLst/>
              <a:cxnLst/>
              <a:rect l="l" t="t" r="r" b="b"/>
              <a:pathLst>
                <a:path w="3456940" h="40639">
                  <a:moveTo>
                    <a:pt x="0" y="0"/>
                  </a:moveTo>
                  <a:lnTo>
                    <a:pt x="3456344" y="0"/>
                  </a:lnTo>
                  <a:lnTo>
                    <a:pt x="3456344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917777" y="6056565"/>
              <a:ext cx="3456940" cy="637540"/>
            </a:xfrm>
            <a:custGeom>
              <a:avLst/>
              <a:gdLst/>
              <a:ahLst/>
              <a:cxnLst/>
              <a:rect l="l" t="t" r="r" b="b"/>
              <a:pathLst>
                <a:path w="3456940" h="637540">
                  <a:moveTo>
                    <a:pt x="6773" y="0"/>
                  </a:moveTo>
                  <a:lnTo>
                    <a:pt x="6773" y="636964"/>
                  </a:lnTo>
                </a:path>
                <a:path w="3456940" h="637540">
                  <a:moveTo>
                    <a:pt x="3449571" y="0"/>
                  </a:moveTo>
                  <a:lnTo>
                    <a:pt x="3449571" y="636964"/>
                  </a:lnTo>
                </a:path>
                <a:path w="3456940" h="637540">
                  <a:moveTo>
                    <a:pt x="0" y="6773"/>
                  </a:moveTo>
                  <a:lnTo>
                    <a:pt x="3456344" y="6773"/>
                  </a:lnTo>
                </a:path>
                <a:path w="3456940" h="637540">
                  <a:moveTo>
                    <a:pt x="0" y="630190"/>
                  </a:moveTo>
                  <a:lnTo>
                    <a:pt x="3456344" y="630190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74250" y="5350005"/>
            <a:ext cx="3037915" cy="225224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7844" rIns="0" bIns="0" rtlCol="0">
            <a:spAutoFit/>
          </a:bodyPr>
          <a:lstStyle/>
          <a:p>
            <a:pPr marL="955352">
              <a:spcBef>
                <a:spcPts val="62"/>
              </a:spcBef>
            </a:pPr>
            <a:r>
              <a:rPr sz="1412" b="1" spc="-9" dirty="0">
                <a:solidFill>
                  <a:srgbClr val="FFFFFF"/>
                </a:solidFill>
                <a:latin typeface="Arial"/>
                <a:cs typeface="Arial"/>
              </a:rPr>
              <a:t>max(amount)</a:t>
            </a:r>
            <a:endParaRPr sz="1412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0226" y="5636876"/>
            <a:ext cx="3026149" cy="218008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74523" algn="r">
              <a:lnSpc>
                <a:spcPts val="1721"/>
              </a:lnSpc>
            </a:pPr>
            <a:r>
              <a:rPr sz="1500" spc="-18" dirty="0">
                <a:solidFill>
                  <a:srgbClr val="292934"/>
                </a:solidFill>
                <a:latin typeface="Arial MT"/>
                <a:cs typeface="Arial MT"/>
              </a:rPr>
              <a:t>2000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46405" y="4581611"/>
            <a:ext cx="3166222" cy="597713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32497" rIns="0" bIns="0" rtlCol="0">
            <a:spAutoFit/>
          </a:bodyPr>
          <a:lstStyle/>
          <a:p>
            <a:pPr marL="316583" marR="395028">
              <a:lnSpc>
                <a:spcPct val="104000"/>
              </a:lnSpc>
              <a:spcBef>
                <a:spcPts val="256"/>
              </a:spcBef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765" spc="6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MAX(amount)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765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765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7325" y="209368"/>
            <a:ext cx="4385422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01" dirty="0"/>
              <a:t>Example:</a:t>
            </a:r>
            <a:r>
              <a:rPr spc="-202" dirty="0"/>
              <a:t> </a:t>
            </a:r>
            <a:r>
              <a:rPr spc="-88" dirty="0"/>
              <a:t>COUNT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50377" y="940183"/>
            <a:ext cx="6135780" cy="794800"/>
          </a:xfrm>
          <a:prstGeom prst="rect">
            <a:avLst/>
          </a:prstGeom>
        </p:spPr>
        <p:txBody>
          <a:bodyPr vert="horz" wrap="square" lIns="0" tIns="106456" rIns="0" bIns="0" rtlCol="0">
            <a:spAutoFit/>
          </a:bodyPr>
          <a:lstStyle/>
          <a:p>
            <a:pPr marL="11206">
              <a:spcBef>
                <a:spcPts val="83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03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030" spc="13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030">
              <a:latin typeface="Verdana"/>
              <a:cs typeface="Verdana"/>
            </a:endParaRPr>
          </a:p>
          <a:p>
            <a:pPr marL="673509">
              <a:spcBef>
                <a:spcPts val="684"/>
              </a:spcBef>
            </a:pPr>
            <a:r>
              <a:rPr sz="1853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1853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1853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853" spc="21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53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1853" spc="21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1853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92598" y="1804257"/>
          <a:ext cx="4687981" cy="2147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4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2468274" y="5374766"/>
            <a:ext cx="1420906" cy="550209"/>
            <a:chOff x="917777" y="6091401"/>
            <a:chExt cx="1610360" cy="623570"/>
          </a:xfrm>
        </p:grpSpPr>
        <p:sp>
          <p:nvSpPr>
            <p:cNvPr id="6" name="object 6"/>
            <p:cNvSpPr/>
            <p:nvPr/>
          </p:nvSpPr>
          <p:spPr>
            <a:xfrm>
              <a:off x="917777" y="6382654"/>
              <a:ext cx="1610360" cy="40640"/>
            </a:xfrm>
            <a:custGeom>
              <a:avLst/>
              <a:gdLst/>
              <a:ahLst/>
              <a:cxnLst/>
              <a:rect l="l" t="t" r="r" b="b"/>
              <a:pathLst>
                <a:path w="1610360" h="40639">
                  <a:moveTo>
                    <a:pt x="0" y="0"/>
                  </a:moveTo>
                  <a:lnTo>
                    <a:pt x="1610117" y="0"/>
                  </a:lnTo>
                  <a:lnTo>
                    <a:pt x="1610117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917777" y="6091401"/>
              <a:ext cx="1610360" cy="623570"/>
            </a:xfrm>
            <a:custGeom>
              <a:avLst/>
              <a:gdLst/>
              <a:ahLst/>
              <a:cxnLst/>
              <a:rect l="l" t="t" r="r" b="b"/>
              <a:pathLst>
                <a:path w="1610360" h="623570">
                  <a:moveTo>
                    <a:pt x="6773" y="0"/>
                  </a:moveTo>
                  <a:lnTo>
                    <a:pt x="6773" y="623146"/>
                  </a:lnTo>
                </a:path>
                <a:path w="1610360" h="623570">
                  <a:moveTo>
                    <a:pt x="1603343" y="0"/>
                  </a:moveTo>
                  <a:lnTo>
                    <a:pt x="1603343" y="623146"/>
                  </a:lnTo>
                </a:path>
                <a:path w="1610360" h="623570">
                  <a:moveTo>
                    <a:pt x="0" y="6773"/>
                  </a:moveTo>
                  <a:lnTo>
                    <a:pt x="1610117" y="6773"/>
                  </a:lnTo>
                </a:path>
                <a:path w="1610360" h="623570">
                  <a:moveTo>
                    <a:pt x="0" y="616373"/>
                  </a:moveTo>
                  <a:lnTo>
                    <a:pt x="1610117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74250" y="5380742"/>
            <a:ext cx="1409140" cy="226922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9525" rIns="0" bIns="0" rtlCol="0">
            <a:spAutoFit/>
          </a:bodyPr>
          <a:lstStyle/>
          <a:p>
            <a:pPr marL="365892">
              <a:spcBef>
                <a:spcPts val="75"/>
              </a:spcBef>
            </a:pPr>
            <a:r>
              <a:rPr sz="1412" b="1" spc="-9" dirty="0">
                <a:solidFill>
                  <a:srgbClr val="FFFFFF"/>
                </a:solidFill>
                <a:latin typeface="Arial"/>
                <a:cs typeface="Arial"/>
              </a:rPr>
              <a:t>count(*)</a:t>
            </a:r>
            <a:endParaRPr sz="1412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0227" y="5667612"/>
            <a:ext cx="1396813" cy="205184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73402" algn="r">
              <a:lnSpc>
                <a:spcPts val="1628"/>
              </a:lnSpc>
            </a:pPr>
            <a:r>
              <a:rPr sz="1412" dirty="0">
                <a:solidFill>
                  <a:srgbClr val="292934"/>
                </a:solidFill>
                <a:latin typeface="Verdana"/>
                <a:cs typeface="Verdana"/>
              </a:rPr>
              <a:t>7</a:t>
            </a:r>
            <a:endParaRPr sz="1412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31000" y="5374766"/>
            <a:ext cx="2138082" cy="550209"/>
            <a:chOff x="5068866" y="6091401"/>
            <a:chExt cx="2423160" cy="623570"/>
          </a:xfrm>
        </p:grpSpPr>
        <p:sp>
          <p:nvSpPr>
            <p:cNvPr id="11" name="object 11"/>
            <p:cNvSpPr/>
            <p:nvPr/>
          </p:nvSpPr>
          <p:spPr>
            <a:xfrm>
              <a:off x="5068866" y="6382654"/>
              <a:ext cx="2423160" cy="40640"/>
            </a:xfrm>
            <a:custGeom>
              <a:avLst/>
              <a:gdLst/>
              <a:ahLst/>
              <a:cxnLst/>
              <a:rect l="l" t="t" r="r" b="b"/>
              <a:pathLst>
                <a:path w="2423160" h="40639">
                  <a:moveTo>
                    <a:pt x="0" y="0"/>
                  </a:moveTo>
                  <a:lnTo>
                    <a:pt x="2422924" y="0"/>
                  </a:lnTo>
                  <a:lnTo>
                    <a:pt x="2422924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068866" y="6091401"/>
              <a:ext cx="2423160" cy="623570"/>
            </a:xfrm>
            <a:custGeom>
              <a:avLst/>
              <a:gdLst/>
              <a:ahLst/>
              <a:cxnLst/>
              <a:rect l="l" t="t" r="r" b="b"/>
              <a:pathLst>
                <a:path w="2423159" h="623570">
                  <a:moveTo>
                    <a:pt x="6773" y="0"/>
                  </a:moveTo>
                  <a:lnTo>
                    <a:pt x="6773" y="623146"/>
                  </a:lnTo>
                </a:path>
                <a:path w="2423159" h="623570">
                  <a:moveTo>
                    <a:pt x="2416151" y="0"/>
                  </a:moveTo>
                  <a:lnTo>
                    <a:pt x="2416151" y="623146"/>
                  </a:lnTo>
                </a:path>
                <a:path w="2423159" h="623570">
                  <a:moveTo>
                    <a:pt x="0" y="6773"/>
                  </a:moveTo>
                  <a:lnTo>
                    <a:pt x="2422924" y="6773"/>
                  </a:lnTo>
                </a:path>
                <a:path w="2423159" h="623570">
                  <a:moveTo>
                    <a:pt x="0" y="616373"/>
                  </a:moveTo>
                  <a:lnTo>
                    <a:pt x="2422924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36977" y="5380742"/>
            <a:ext cx="2126316" cy="226922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9525" rIns="0" bIns="0" rtlCol="0">
            <a:spAutoFit/>
          </a:bodyPr>
          <a:lstStyle/>
          <a:p>
            <a:pPr marL="182105">
              <a:spcBef>
                <a:spcPts val="75"/>
              </a:spcBef>
            </a:pPr>
            <a:r>
              <a:rPr sz="1412" b="1" spc="-9" dirty="0">
                <a:solidFill>
                  <a:srgbClr val="FFFFFF"/>
                </a:solidFill>
                <a:latin typeface="Arial"/>
                <a:cs typeface="Arial"/>
              </a:rPr>
              <a:t>Count(loan_number)</a:t>
            </a:r>
            <a:endParaRPr sz="1412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42953" y="5667612"/>
            <a:ext cx="2113990" cy="205184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73402" algn="r">
              <a:lnSpc>
                <a:spcPts val="1628"/>
              </a:lnSpc>
            </a:pPr>
            <a:r>
              <a:rPr sz="1412" dirty="0">
                <a:solidFill>
                  <a:srgbClr val="292934"/>
                </a:solidFill>
                <a:latin typeface="Verdana"/>
                <a:cs typeface="Verdana"/>
              </a:rPr>
              <a:t>7</a:t>
            </a:r>
            <a:endParaRPr sz="1412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38614" y="4581611"/>
            <a:ext cx="2659156" cy="676275"/>
          </a:xfrm>
          <a:custGeom>
            <a:avLst/>
            <a:gdLst/>
            <a:ahLst/>
            <a:cxnLst/>
            <a:rect l="l" t="t" r="r" b="b"/>
            <a:pathLst>
              <a:path w="3013710" h="766445">
                <a:moveTo>
                  <a:pt x="0" y="0"/>
                </a:moveTo>
                <a:lnTo>
                  <a:pt x="3013165" y="0"/>
                </a:lnTo>
                <a:lnTo>
                  <a:pt x="3013165" y="766348"/>
                </a:lnTo>
                <a:lnTo>
                  <a:pt x="0" y="766348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 txBox="1"/>
          <p:nvPr/>
        </p:nvSpPr>
        <p:spPr>
          <a:xfrm>
            <a:off x="2250377" y="4079838"/>
            <a:ext cx="7145991" cy="11105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030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030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030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030" spc="-40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endParaRPr sz="2030">
              <a:latin typeface="Verdana"/>
              <a:cs typeface="Verdana"/>
            </a:endParaRPr>
          </a:p>
          <a:p>
            <a:pPr marL="212363">
              <a:spcBef>
                <a:spcPts val="1765"/>
              </a:spcBef>
              <a:tabLst>
                <a:tab pos="3736801" algn="l"/>
              </a:tabLst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765" spc="6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count(*)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	SELECT</a:t>
            </a:r>
            <a:r>
              <a:rPr sz="1765" spc="6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count(loan_number)</a:t>
            </a:r>
            <a:endParaRPr sz="1765">
              <a:latin typeface="Courier New"/>
              <a:cs typeface="Courier New"/>
            </a:endParaRPr>
          </a:p>
          <a:p>
            <a:pPr marL="212363">
              <a:spcBef>
                <a:spcPts val="88"/>
              </a:spcBef>
              <a:tabLst>
                <a:tab pos="3736801" algn="l"/>
              </a:tabLst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765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	FROM</a:t>
            </a:r>
            <a:r>
              <a:rPr sz="1765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87695" y="4937434"/>
            <a:ext cx="1117226" cy="735666"/>
          </a:xfrm>
          <a:custGeom>
            <a:avLst/>
            <a:gdLst/>
            <a:ahLst/>
            <a:cxnLst/>
            <a:rect l="l" t="t" r="r" b="b"/>
            <a:pathLst>
              <a:path w="1266189" h="833754">
                <a:moveTo>
                  <a:pt x="1169846" y="258580"/>
                </a:moveTo>
                <a:lnTo>
                  <a:pt x="95794" y="258580"/>
                </a:lnTo>
                <a:lnTo>
                  <a:pt x="58506" y="266108"/>
                </a:lnTo>
                <a:lnTo>
                  <a:pt x="28057" y="286638"/>
                </a:lnTo>
                <a:lnTo>
                  <a:pt x="7527" y="317088"/>
                </a:lnTo>
                <a:lnTo>
                  <a:pt x="0" y="354374"/>
                </a:lnTo>
                <a:lnTo>
                  <a:pt x="0" y="737548"/>
                </a:lnTo>
                <a:lnTo>
                  <a:pt x="7527" y="774836"/>
                </a:lnTo>
                <a:lnTo>
                  <a:pt x="28057" y="805286"/>
                </a:lnTo>
                <a:lnTo>
                  <a:pt x="58506" y="825815"/>
                </a:lnTo>
                <a:lnTo>
                  <a:pt x="95794" y="833343"/>
                </a:lnTo>
                <a:lnTo>
                  <a:pt x="1169846" y="833343"/>
                </a:lnTo>
                <a:lnTo>
                  <a:pt x="1207134" y="825815"/>
                </a:lnTo>
                <a:lnTo>
                  <a:pt x="1237583" y="805286"/>
                </a:lnTo>
                <a:lnTo>
                  <a:pt x="1258113" y="774836"/>
                </a:lnTo>
                <a:lnTo>
                  <a:pt x="1265641" y="737548"/>
                </a:lnTo>
                <a:lnTo>
                  <a:pt x="1265641" y="354374"/>
                </a:lnTo>
                <a:lnTo>
                  <a:pt x="1258113" y="317088"/>
                </a:lnTo>
                <a:lnTo>
                  <a:pt x="1237583" y="286638"/>
                </a:lnTo>
                <a:lnTo>
                  <a:pt x="1207134" y="266108"/>
                </a:lnTo>
                <a:lnTo>
                  <a:pt x="1169846" y="258580"/>
                </a:lnTo>
                <a:close/>
              </a:path>
              <a:path w="1266189" h="833754">
                <a:moveTo>
                  <a:pt x="17261" y="0"/>
                </a:moveTo>
                <a:lnTo>
                  <a:pt x="210939" y="258580"/>
                </a:lnTo>
                <a:lnTo>
                  <a:pt x="527349" y="258580"/>
                </a:lnTo>
                <a:lnTo>
                  <a:pt x="17261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18" name="object 18"/>
          <p:cNvGrpSpPr/>
          <p:nvPr/>
        </p:nvGrpSpPr>
        <p:grpSpPr>
          <a:xfrm>
            <a:off x="5800165" y="4572646"/>
            <a:ext cx="4353485" cy="1346387"/>
            <a:chOff x="4693920" y="5182332"/>
            <a:chExt cx="4933950" cy="1525905"/>
          </a:xfrm>
        </p:grpSpPr>
        <p:sp>
          <p:nvSpPr>
            <p:cNvPr id="19" name="object 19"/>
            <p:cNvSpPr/>
            <p:nvPr/>
          </p:nvSpPr>
          <p:spPr>
            <a:xfrm>
              <a:off x="4704080" y="5192492"/>
              <a:ext cx="4174490" cy="766445"/>
            </a:xfrm>
            <a:custGeom>
              <a:avLst/>
              <a:gdLst/>
              <a:ahLst/>
              <a:cxnLst/>
              <a:rect l="l" t="t" r="r" b="b"/>
              <a:pathLst>
                <a:path w="4174490" h="766445">
                  <a:moveTo>
                    <a:pt x="0" y="0"/>
                  </a:moveTo>
                  <a:lnTo>
                    <a:pt x="4174308" y="0"/>
                  </a:lnTo>
                  <a:lnTo>
                    <a:pt x="4174308" y="766348"/>
                  </a:lnTo>
                  <a:lnTo>
                    <a:pt x="0" y="766348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8019141" y="5537724"/>
              <a:ext cx="1608455" cy="1170305"/>
            </a:xfrm>
            <a:custGeom>
              <a:avLst/>
              <a:gdLst/>
              <a:ahLst/>
              <a:cxnLst/>
              <a:rect l="l" t="t" r="r" b="b"/>
              <a:pathLst>
                <a:path w="1608454" h="1170304">
                  <a:moveTo>
                    <a:pt x="1473680" y="363057"/>
                  </a:moveTo>
                  <a:lnTo>
                    <a:pt x="134501" y="363057"/>
                  </a:lnTo>
                  <a:lnTo>
                    <a:pt x="91988" y="369914"/>
                  </a:lnTo>
                  <a:lnTo>
                    <a:pt x="55066" y="389008"/>
                  </a:lnTo>
                  <a:lnTo>
                    <a:pt x="25950" y="418124"/>
                  </a:lnTo>
                  <a:lnTo>
                    <a:pt x="6856" y="455047"/>
                  </a:lnTo>
                  <a:lnTo>
                    <a:pt x="0" y="497556"/>
                  </a:lnTo>
                  <a:lnTo>
                    <a:pt x="0" y="1035550"/>
                  </a:lnTo>
                  <a:lnTo>
                    <a:pt x="6856" y="1078063"/>
                  </a:lnTo>
                  <a:lnTo>
                    <a:pt x="25950" y="1114986"/>
                  </a:lnTo>
                  <a:lnTo>
                    <a:pt x="55066" y="1144102"/>
                  </a:lnTo>
                  <a:lnTo>
                    <a:pt x="91988" y="1163196"/>
                  </a:lnTo>
                  <a:lnTo>
                    <a:pt x="134501" y="1170053"/>
                  </a:lnTo>
                  <a:lnTo>
                    <a:pt x="1473680" y="1170053"/>
                  </a:lnTo>
                  <a:lnTo>
                    <a:pt x="1516193" y="1163196"/>
                  </a:lnTo>
                  <a:lnTo>
                    <a:pt x="1553115" y="1144102"/>
                  </a:lnTo>
                  <a:lnTo>
                    <a:pt x="1582230" y="1114986"/>
                  </a:lnTo>
                  <a:lnTo>
                    <a:pt x="1601324" y="1078063"/>
                  </a:lnTo>
                  <a:lnTo>
                    <a:pt x="1608181" y="1035550"/>
                  </a:lnTo>
                  <a:lnTo>
                    <a:pt x="1608181" y="497556"/>
                  </a:lnTo>
                  <a:lnTo>
                    <a:pt x="1601324" y="455047"/>
                  </a:lnTo>
                  <a:lnTo>
                    <a:pt x="1582230" y="418124"/>
                  </a:lnTo>
                  <a:lnTo>
                    <a:pt x="1553115" y="389008"/>
                  </a:lnTo>
                  <a:lnTo>
                    <a:pt x="1516193" y="369914"/>
                  </a:lnTo>
                  <a:lnTo>
                    <a:pt x="1473680" y="363057"/>
                  </a:lnTo>
                  <a:close/>
                </a:path>
                <a:path w="1608454" h="1170304">
                  <a:moveTo>
                    <a:pt x="21935" y="0"/>
                  </a:moveTo>
                  <a:lnTo>
                    <a:pt x="268030" y="363057"/>
                  </a:lnTo>
                  <a:lnTo>
                    <a:pt x="670076" y="363057"/>
                  </a:lnTo>
                  <a:lnTo>
                    <a:pt x="21935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587582" y="5179807"/>
            <a:ext cx="53115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9" dirty="0">
                <a:solidFill>
                  <a:srgbClr val="FFFFFF"/>
                </a:solidFill>
                <a:latin typeface="Arial MT"/>
                <a:cs typeface="Arial MT"/>
              </a:rPr>
              <a:t>Count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40594" y="5357308"/>
            <a:ext cx="42582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18" dirty="0">
                <a:solidFill>
                  <a:srgbClr val="FFFFFF"/>
                </a:solidFill>
                <a:latin typeface="Arial MT"/>
                <a:cs typeface="Arial MT"/>
              </a:rPr>
              <a:t>rows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76657" y="5230906"/>
            <a:ext cx="1149724" cy="601816"/>
          </a:xfrm>
          <a:prstGeom prst="rect">
            <a:avLst/>
          </a:prstGeom>
        </p:spPr>
        <p:txBody>
          <a:bodyPr vert="horz" wrap="square" lIns="0" tIns="61072" rIns="0" bIns="0" rtlCol="0">
            <a:spAutoFit/>
          </a:bodyPr>
          <a:lstStyle/>
          <a:p>
            <a:pPr marL="11206" marR="4483" indent="-1681" algn="ctr">
              <a:lnSpc>
                <a:spcPct val="78200"/>
              </a:lnSpc>
              <a:spcBef>
                <a:spcPts val="481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Count</a:t>
            </a:r>
            <a:r>
              <a:rPr sz="1500" spc="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9" dirty="0">
                <a:solidFill>
                  <a:srgbClr val="FFFFFF"/>
                </a:solidFill>
                <a:latin typeface="Arial MT"/>
                <a:cs typeface="Arial MT"/>
              </a:rPr>
              <a:t>values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500" spc="1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500" spc="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9" dirty="0">
                <a:solidFill>
                  <a:srgbClr val="FFFFFF"/>
                </a:solidFill>
                <a:latin typeface="Arial MT"/>
                <a:cs typeface="Arial MT"/>
              </a:rPr>
              <a:t>specified column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6929" y="350562"/>
            <a:ext cx="7654738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89389">
              <a:lnSpc>
                <a:spcPct val="100000"/>
              </a:lnSpc>
              <a:spcBef>
                <a:spcPts val="88"/>
              </a:spcBef>
            </a:pPr>
            <a:r>
              <a:rPr spc="-101" dirty="0"/>
              <a:t>Example:</a:t>
            </a:r>
            <a:r>
              <a:rPr spc="-234" dirty="0"/>
              <a:t> </a:t>
            </a:r>
            <a:r>
              <a:rPr spc="-97" dirty="0"/>
              <a:t>COUNT</a:t>
            </a:r>
            <a:r>
              <a:rPr spc="-224" dirty="0"/>
              <a:t> </a:t>
            </a:r>
            <a:r>
              <a:rPr dirty="0"/>
              <a:t>..</a:t>
            </a:r>
            <a:r>
              <a:rPr spc="-278" dirty="0"/>
              <a:t> </a:t>
            </a:r>
            <a:r>
              <a:rPr spc="-97" dirty="0"/>
              <a:t>DISTINCT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0962" y="940183"/>
            <a:ext cx="6125135" cy="794800"/>
          </a:xfrm>
          <a:prstGeom prst="rect">
            <a:avLst/>
          </a:prstGeom>
        </p:spPr>
        <p:txBody>
          <a:bodyPr vert="horz" wrap="square" lIns="0" tIns="106456" rIns="0" bIns="0" rtlCol="0">
            <a:spAutoFit/>
          </a:bodyPr>
          <a:lstStyle/>
          <a:p>
            <a:pPr marL="11206">
              <a:spcBef>
                <a:spcPts val="83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03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030" spc="13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030">
              <a:latin typeface="Verdana"/>
              <a:cs typeface="Verdana"/>
            </a:endParaRPr>
          </a:p>
          <a:p>
            <a:pPr marL="662863">
              <a:spcBef>
                <a:spcPts val="684"/>
              </a:spcBef>
            </a:pPr>
            <a:r>
              <a:rPr sz="1853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1853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1853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853" spc="21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53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1853" spc="21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0961" y="4079838"/>
            <a:ext cx="7440706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2030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1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030" spc="1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13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Courier New"/>
                <a:cs typeface="Courier New"/>
              </a:rPr>
              <a:t>branch_name</a:t>
            </a:r>
            <a:r>
              <a:rPr sz="2030" spc="-38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endParaRPr sz="203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92598" y="1804257"/>
          <a:ext cx="4687981" cy="2147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4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84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345326" y="5420870"/>
            <a:ext cx="2435038" cy="550209"/>
            <a:chOff x="778436" y="6143653"/>
            <a:chExt cx="2759710" cy="623570"/>
          </a:xfrm>
        </p:grpSpPr>
        <p:sp>
          <p:nvSpPr>
            <p:cNvPr id="7" name="object 7"/>
            <p:cNvSpPr/>
            <p:nvPr/>
          </p:nvSpPr>
          <p:spPr>
            <a:xfrm>
              <a:off x="778436" y="6434907"/>
              <a:ext cx="2759710" cy="40640"/>
            </a:xfrm>
            <a:custGeom>
              <a:avLst/>
              <a:gdLst/>
              <a:ahLst/>
              <a:cxnLst/>
              <a:rect l="l" t="t" r="r" b="b"/>
              <a:pathLst>
                <a:path w="2759710" h="40639">
                  <a:moveTo>
                    <a:pt x="0" y="0"/>
                  </a:moveTo>
                  <a:lnTo>
                    <a:pt x="2759658" y="0"/>
                  </a:lnTo>
                  <a:lnTo>
                    <a:pt x="2759658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778436" y="6143653"/>
              <a:ext cx="2759710" cy="623570"/>
            </a:xfrm>
            <a:custGeom>
              <a:avLst/>
              <a:gdLst/>
              <a:ahLst/>
              <a:cxnLst/>
              <a:rect l="l" t="t" r="r" b="b"/>
              <a:pathLst>
                <a:path w="2759710" h="623570">
                  <a:moveTo>
                    <a:pt x="6773" y="0"/>
                  </a:moveTo>
                  <a:lnTo>
                    <a:pt x="6773" y="623146"/>
                  </a:lnTo>
                </a:path>
                <a:path w="2759710" h="623570">
                  <a:moveTo>
                    <a:pt x="2752885" y="0"/>
                  </a:moveTo>
                  <a:lnTo>
                    <a:pt x="2752885" y="623146"/>
                  </a:lnTo>
                </a:path>
                <a:path w="2759710" h="623570">
                  <a:moveTo>
                    <a:pt x="0" y="6773"/>
                  </a:moveTo>
                  <a:lnTo>
                    <a:pt x="2759658" y="6773"/>
                  </a:lnTo>
                </a:path>
                <a:path w="2759710" h="623570">
                  <a:moveTo>
                    <a:pt x="0" y="616373"/>
                  </a:moveTo>
                  <a:lnTo>
                    <a:pt x="2759658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1303" y="5426848"/>
            <a:ext cx="2423272" cy="226356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965" rIns="0" bIns="0" rtlCol="0">
            <a:spAutoFit/>
          </a:bodyPr>
          <a:lstStyle/>
          <a:p>
            <a:pPr marL="324428">
              <a:spcBef>
                <a:spcPts val="71"/>
              </a:spcBef>
            </a:pPr>
            <a:r>
              <a:rPr sz="1412" b="1" spc="-9" dirty="0">
                <a:solidFill>
                  <a:srgbClr val="FFFFFF"/>
                </a:solidFill>
                <a:latin typeface="Arial"/>
                <a:cs typeface="Arial"/>
              </a:rPr>
              <a:t>count(branch_name)</a:t>
            </a:r>
            <a:endParaRPr sz="1412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7278" y="5713717"/>
            <a:ext cx="2411506" cy="205184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73402" algn="r">
              <a:lnSpc>
                <a:spcPts val="1628"/>
              </a:lnSpc>
            </a:pPr>
            <a:r>
              <a:rPr sz="1412" dirty="0">
                <a:solidFill>
                  <a:srgbClr val="292934"/>
                </a:solidFill>
                <a:latin typeface="Verdana"/>
                <a:cs typeface="Verdana"/>
              </a:rPr>
              <a:t>7</a:t>
            </a:r>
            <a:endParaRPr sz="1412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15632" y="5420870"/>
            <a:ext cx="2998694" cy="550209"/>
            <a:chOff x="5051449" y="6143653"/>
            <a:chExt cx="3398520" cy="623570"/>
          </a:xfrm>
        </p:grpSpPr>
        <p:sp>
          <p:nvSpPr>
            <p:cNvPr id="12" name="object 12"/>
            <p:cNvSpPr/>
            <p:nvPr/>
          </p:nvSpPr>
          <p:spPr>
            <a:xfrm>
              <a:off x="5051449" y="6434907"/>
              <a:ext cx="3398520" cy="40640"/>
            </a:xfrm>
            <a:custGeom>
              <a:avLst/>
              <a:gdLst/>
              <a:ahLst/>
              <a:cxnLst/>
              <a:rect l="l" t="t" r="r" b="b"/>
              <a:pathLst>
                <a:path w="3398520" h="40639">
                  <a:moveTo>
                    <a:pt x="0" y="0"/>
                  </a:moveTo>
                  <a:lnTo>
                    <a:pt x="3398284" y="0"/>
                  </a:lnTo>
                  <a:lnTo>
                    <a:pt x="3398284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5051449" y="6143653"/>
              <a:ext cx="3398520" cy="623570"/>
            </a:xfrm>
            <a:custGeom>
              <a:avLst/>
              <a:gdLst/>
              <a:ahLst/>
              <a:cxnLst/>
              <a:rect l="l" t="t" r="r" b="b"/>
              <a:pathLst>
                <a:path w="3398520" h="623570">
                  <a:moveTo>
                    <a:pt x="6773" y="0"/>
                  </a:moveTo>
                  <a:lnTo>
                    <a:pt x="6773" y="623146"/>
                  </a:lnTo>
                </a:path>
                <a:path w="3398520" h="623570">
                  <a:moveTo>
                    <a:pt x="3391511" y="0"/>
                  </a:moveTo>
                  <a:lnTo>
                    <a:pt x="3391511" y="623146"/>
                  </a:lnTo>
                </a:path>
                <a:path w="3398520" h="623570">
                  <a:moveTo>
                    <a:pt x="0" y="6773"/>
                  </a:moveTo>
                  <a:lnTo>
                    <a:pt x="3398284" y="6773"/>
                  </a:lnTo>
                </a:path>
                <a:path w="3398520" h="623570">
                  <a:moveTo>
                    <a:pt x="0" y="616373"/>
                  </a:moveTo>
                  <a:lnTo>
                    <a:pt x="3398284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21609" y="5426848"/>
            <a:ext cx="2986928" cy="226356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965" rIns="0" bIns="0" rtlCol="0">
            <a:spAutoFit/>
          </a:bodyPr>
          <a:lstStyle/>
          <a:p>
            <a:pPr marL="263352">
              <a:spcBef>
                <a:spcPts val="71"/>
              </a:spcBef>
            </a:pPr>
            <a:r>
              <a:rPr sz="1412" b="1" dirty="0">
                <a:solidFill>
                  <a:srgbClr val="FFFFFF"/>
                </a:solidFill>
                <a:latin typeface="Arial"/>
                <a:cs typeface="Arial"/>
              </a:rPr>
              <a:t>count(distinct</a:t>
            </a:r>
            <a:r>
              <a:rPr sz="1412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12" b="1" spc="-9" dirty="0">
                <a:solidFill>
                  <a:srgbClr val="FFFFFF"/>
                </a:solidFill>
                <a:latin typeface="Arial"/>
                <a:cs typeface="Arial"/>
              </a:rPr>
              <a:t>branch_name)</a:t>
            </a:r>
            <a:endParaRPr sz="1412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27585" y="5713717"/>
            <a:ext cx="2974601" cy="205184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73402" algn="r">
              <a:lnSpc>
                <a:spcPts val="1628"/>
              </a:lnSpc>
            </a:pPr>
            <a:r>
              <a:rPr sz="1412" dirty="0">
                <a:solidFill>
                  <a:srgbClr val="292934"/>
                </a:solidFill>
                <a:latin typeface="Verdana"/>
                <a:cs typeface="Verdana"/>
              </a:rPr>
              <a:t>5</a:t>
            </a:r>
            <a:endParaRPr sz="1412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46618" y="4581611"/>
            <a:ext cx="3534896" cy="603861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86846" rIns="0" bIns="0" rtlCol="0">
            <a:spAutoFit/>
          </a:bodyPr>
          <a:lstStyle/>
          <a:p>
            <a:pPr marL="193312" marR="122151">
              <a:spcBef>
                <a:spcPts val="684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-9" dirty="0">
                <a:solidFill>
                  <a:srgbClr val="292934"/>
                </a:solidFill>
                <a:latin typeface="Courier New"/>
                <a:cs typeface="Courier New"/>
              </a:rPr>
              <a:t>count(branch_name)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677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-18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677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1549" y="4581611"/>
            <a:ext cx="4559674" cy="603861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86846" rIns="0" bIns="0" rtlCol="0">
            <a:spAutoFit/>
          </a:bodyPr>
          <a:lstStyle/>
          <a:p>
            <a:pPr marL="131676" marR="52110">
              <a:spcBef>
                <a:spcPts val="684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677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count(DISTINCT</a:t>
            </a:r>
            <a:r>
              <a:rPr sz="1677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-9" dirty="0">
                <a:solidFill>
                  <a:srgbClr val="292934"/>
                </a:solidFill>
                <a:latin typeface="Courier New"/>
                <a:cs typeface="Courier New"/>
              </a:rPr>
              <a:t>branch_name)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677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-18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677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1923" y="283317"/>
            <a:ext cx="7724215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01" dirty="0"/>
              <a:t>Aggregation:</a:t>
            </a:r>
            <a:r>
              <a:rPr spc="-224" dirty="0"/>
              <a:t> </a:t>
            </a:r>
            <a:r>
              <a:rPr spc="-88" dirty="0"/>
              <a:t>Order</a:t>
            </a:r>
            <a:r>
              <a:rPr spc="-234" dirty="0"/>
              <a:t> </a:t>
            </a:r>
            <a:r>
              <a:rPr spc="-9" dirty="0"/>
              <a:t>of</a:t>
            </a:r>
            <a:r>
              <a:rPr spc="-304" dirty="0"/>
              <a:t> </a:t>
            </a:r>
            <a:r>
              <a:rPr spc="-93" dirty="0"/>
              <a:t>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12999" y="3043069"/>
            <a:ext cx="8073838" cy="295725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93347" indent="-382141">
              <a:spcBef>
                <a:spcPts val="88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FROM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generates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765">
              <a:latin typeface="Verdana"/>
              <a:cs typeface="Verdana"/>
            </a:endParaRPr>
          </a:p>
          <a:p>
            <a:pPr marL="393347" indent="-382141">
              <a:spcBef>
                <a:spcPts val="1310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WHERE</a:t>
            </a:r>
            <a:r>
              <a:rPr sz="1765" spc="-66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generated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1765">
              <a:latin typeface="Verdana"/>
              <a:cs typeface="Verdana"/>
            </a:endParaRPr>
          </a:p>
          <a:p>
            <a:pPr marL="393347" marR="292489" indent="-382701">
              <a:lnSpc>
                <a:spcPts val="1950"/>
              </a:lnSpc>
              <a:spcBef>
                <a:spcPts val="1434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GROUP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aggregates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by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(note: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sort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result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Verdana"/>
                <a:cs typeface="Verdana"/>
              </a:rPr>
              <a:t>set)</a:t>
            </a:r>
            <a:endParaRPr sz="1765">
              <a:latin typeface="Verdana"/>
              <a:cs typeface="Verdana"/>
            </a:endParaRPr>
          </a:p>
          <a:p>
            <a:pPr marL="393347" marR="253266" indent="-382701">
              <a:lnSpc>
                <a:spcPts val="1862"/>
              </a:lnSpc>
              <a:spcBef>
                <a:spcPts val="1465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C00000"/>
                </a:solidFill>
                <a:latin typeface="Verdana"/>
                <a:cs typeface="Verdana"/>
              </a:rPr>
              <a:t>HAVING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1765">
              <a:latin typeface="Verdana"/>
              <a:cs typeface="Verdana"/>
            </a:endParaRPr>
          </a:p>
          <a:p>
            <a:pPr marL="393347" indent="-382141">
              <a:spcBef>
                <a:spcPts val="1297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SELECT</a:t>
            </a:r>
            <a:r>
              <a:rPr sz="1765" spc="-7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transforms</a:t>
            </a:r>
            <a:r>
              <a:rPr sz="1765" spc="-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765">
              <a:latin typeface="Verdana"/>
              <a:cs typeface="Verdana"/>
            </a:endParaRPr>
          </a:p>
          <a:p>
            <a:pPr marL="393347" indent="-382141">
              <a:spcBef>
                <a:spcPts val="1249"/>
              </a:spcBef>
              <a:buAutoNum type="arabicPeriod"/>
              <a:tabLst>
                <a:tab pos="393347" algn="l"/>
              </a:tabLst>
            </a:pP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1765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sorts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65" spc="-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Verdana"/>
                <a:cs typeface="Verdana"/>
              </a:rPr>
              <a:t>transformed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1765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1765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5240" y="1093044"/>
            <a:ext cx="7115735" cy="1497789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59951" rIns="0" bIns="0" rtlCol="0">
            <a:spAutoFit/>
          </a:bodyPr>
          <a:lstStyle/>
          <a:p>
            <a:pPr marL="792298">
              <a:lnSpc>
                <a:spcPts val="1884"/>
              </a:lnSpc>
              <a:spcBef>
                <a:spcPts val="472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select_list</a:t>
            </a:r>
            <a:endParaRPr sz="1677">
              <a:latin typeface="Courier New"/>
              <a:cs typeface="Courier New"/>
            </a:endParaRPr>
          </a:p>
          <a:p>
            <a:pPr marL="792298">
              <a:lnSpc>
                <a:spcPts val="1809"/>
              </a:lnSpc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677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table_source</a:t>
            </a:r>
            <a:endParaRPr sz="1677">
              <a:latin typeface="Courier New"/>
              <a:cs typeface="Courier New"/>
            </a:endParaRPr>
          </a:p>
          <a:p>
            <a:pPr marL="792298" marR="2462064">
              <a:lnSpc>
                <a:spcPct val="92100"/>
              </a:lnSpc>
              <a:spcBef>
                <a:spcPts val="84"/>
              </a:spcBef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[WHERE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677" spc="-9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[GROUP</a:t>
            </a:r>
            <a:r>
              <a:rPr sz="1677" spc="1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677" spc="2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group_by_expression</a:t>
            </a:r>
            <a:r>
              <a:rPr sz="1677" spc="-9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[HAVING</a:t>
            </a:r>
            <a:r>
              <a:rPr sz="1677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spc="-9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677" spc="-9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677">
              <a:latin typeface="Courier New"/>
              <a:cs typeface="Courier New"/>
            </a:endParaRPr>
          </a:p>
          <a:p>
            <a:pPr marL="792298">
              <a:lnSpc>
                <a:spcPts val="1844"/>
              </a:lnSpc>
            </a:pP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[ORDER</a:t>
            </a:r>
            <a:r>
              <a:rPr sz="1677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i="1" dirty="0">
                <a:solidFill>
                  <a:srgbClr val="292934"/>
                </a:solidFill>
                <a:latin typeface="Courier New"/>
                <a:cs typeface="Courier New"/>
              </a:rPr>
              <a:t>order_expression</a:t>
            </a:r>
            <a:r>
              <a:rPr sz="1677" i="1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[ASC</a:t>
            </a:r>
            <a:r>
              <a:rPr sz="1677" spc="2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|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dirty="0">
                <a:solidFill>
                  <a:srgbClr val="292934"/>
                </a:solidFill>
                <a:latin typeface="Courier New"/>
                <a:cs typeface="Courier New"/>
              </a:rPr>
              <a:t>DESC]</a:t>
            </a:r>
            <a:r>
              <a:rPr sz="1677" spc="3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77" spc="-44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677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5292" y="2821192"/>
            <a:ext cx="2450054" cy="7422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029672" y="2835447"/>
            <a:ext cx="2113990" cy="34228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56590" rIns="0" bIns="0" rtlCol="0">
            <a:spAutoFit/>
          </a:bodyPr>
          <a:lstStyle/>
          <a:p>
            <a:pPr marL="268956">
              <a:spcBef>
                <a:spcPts val="446"/>
              </a:spcBef>
            </a:pPr>
            <a:r>
              <a:rPr sz="1853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1853" spc="8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C00000"/>
                </a:solidFill>
                <a:latin typeface="Verdana"/>
                <a:cs typeface="Verdana"/>
              </a:rPr>
              <a:t>matter</a:t>
            </a:r>
            <a:endParaRPr sz="185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200" y="318569"/>
            <a:ext cx="7654738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029315">
              <a:lnSpc>
                <a:spcPct val="100000"/>
              </a:lnSpc>
              <a:spcBef>
                <a:spcPts val="88"/>
              </a:spcBef>
            </a:pPr>
            <a:r>
              <a:rPr spc="-106" dirty="0"/>
              <a:t>Grouping</a:t>
            </a:r>
            <a:r>
              <a:rPr spc="-172" dirty="0"/>
              <a:t> </a:t>
            </a:r>
            <a:r>
              <a:rPr spc="-110" dirty="0"/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51316" y="1092797"/>
            <a:ext cx="7792010" cy="858535"/>
          </a:xfrm>
          <a:prstGeom prst="rect">
            <a:avLst/>
          </a:prstGeom>
        </p:spPr>
        <p:txBody>
          <a:bodyPr vert="horz" wrap="square" lIns="0" tIns="1681" rIns="0" bIns="0" rtlCol="0">
            <a:spAutoFit/>
          </a:bodyPr>
          <a:lstStyle/>
          <a:p>
            <a:pPr marL="25774" marR="4483" indent="-15129">
              <a:lnSpc>
                <a:spcPct val="103299"/>
              </a:lnSpc>
              <a:spcBef>
                <a:spcPts val="13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Several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requires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appear</a:t>
            </a:r>
            <a:r>
              <a:rPr sz="1853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lang="en-US"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lang="en-US"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spc="-9" dirty="0">
                <a:solidFill>
                  <a:srgbClr val="292934"/>
                </a:solidFill>
                <a:latin typeface="Verdana"/>
                <a:cs typeface="Verdana"/>
              </a:rPr>
              <a:t>clause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function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appear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49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53" spc="49">
                <a:solidFill>
                  <a:srgbClr val="292934"/>
                </a:solidFill>
                <a:latin typeface="Verdana"/>
                <a:cs typeface="Verdana"/>
              </a:rPr>
              <a:t>SELECT </a:t>
            </a:r>
            <a:r>
              <a:rPr sz="1853" spc="-9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1853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1296" y="2614496"/>
            <a:ext cx="7529232" cy="985569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121" rIns="0" bIns="0" rtlCol="0">
            <a:spAutoFit/>
          </a:bodyPr>
          <a:lstStyle/>
          <a:p>
            <a:pPr>
              <a:spcBef>
                <a:spcPts val="9"/>
              </a:spcBef>
            </a:pPr>
            <a:endParaRPr sz="1456">
              <a:latin typeface="Times New Roman"/>
              <a:cs typeface="Times New Roman"/>
            </a:endParaRPr>
          </a:p>
          <a:p>
            <a:pPr marL="215725">
              <a:lnSpc>
                <a:spcPts val="2034"/>
              </a:lnSpc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765" spc="8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i="1" dirty="0">
                <a:solidFill>
                  <a:srgbClr val="292934"/>
                </a:solidFill>
                <a:latin typeface="Courier New"/>
                <a:cs typeface="Courier New"/>
              </a:rPr>
              <a:t>column_A,</a:t>
            </a:r>
            <a:r>
              <a:rPr sz="1765" i="1" spc="8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i="1" dirty="0">
                <a:solidFill>
                  <a:srgbClr val="292934"/>
                </a:solidFill>
                <a:latin typeface="Courier New"/>
                <a:cs typeface="Courier New"/>
              </a:rPr>
              <a:t>column_B,</a:t>
            </a:r>
            <a:r>
              <a:rPr sz="1765" i="1" spc="8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i="1" spc="-9" dirty="0">
                <a:solidFill>
                  <a:srgbClr val="292934"/>
                </a:solidFill>
                <a:latin typeface="Courier New"/>
                <a:cs typeface="Courier New"/>
              </a:rPr>
              <a:t>some_aggregation_function</a:t>
            </a:r>
            <a:endParaRPr sz="1765">
              <a:latin typeface="Courier New"/>
              <a:cs typeface="Courier New"/>
            </a:endParaRPr>
          </a:p>
          <a:p>
            <a:pPr marL="215725">
              <a:lnSpc>
                <a:spcPts val="1937"/>
              </a:lnSpc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765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i="1" spc="-9" dirty="0">
                <a:solidFill>
                  <a:srgbClr val="292934"/>
                </a:solidFill>
                <a:latin typeface="Courier New"/>
                <a:cs typeface="Courier New"/>
              </a:rPr>
              <a:t>table_source</a:t>
            </a:r>
            <a:endParaRPr sz="1765">
              <a:latin typeface="Courier New"/>
              <a:cs typeface="Courier New"/>
            </a:endParaRPr>
          </a:p>
          <a:p>
            <a:pPr marL="215725">
              <a:lnSpc>
                <a:spcPts val="2021"/>
              </a:lnSpc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GROUP</a:t>
            </a:r>
            <a:r>
              <a:rPr sz="1765" spc="57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765" spc="6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i="1" dirty="0">
                <a:solidFill>
                  <a:srgbClr val="292934"/>
                </a:solidFill>
                <a:latin typeface="Courier New"/>
                <a:cs typeface="Courier New"/>
              </a:rPr>
              <a:t>column_A,</a:t>
            </a:r>
            <a:r>
              <a:rPr sz="1765" i="1" spc="6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i="1" spc="-9" dirty="0">
                <a:solidFill>
                  <a:srgbClr val="292934"/>
                </a:solidFill>
                <a:latin typeface="Courier New"/>
                <a:cs typeface="Courier New"/>
              </a:rPr>
              <a:t>column_B</a:t>
            </a:r>
            <a:endParaRPr sz="1765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459" y="3014057"/>
            <a:ext cx="408334" cy="3859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23383" y="4339366"/>
            <a:ext cx="838759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75136" y="4339366"/>
            <a:ext cx="6141383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i="1" dirty="0">
                <a:solidFill>
                  <a:srgbClr val="292934"/>
                </a:solidFill>
                <a:latin typeface="Courier New"/>
                <a:cs typeface="Courier New"/>
              </a:rPr>
              <a:t>column_A,</a:t>
            </a:r>
            <a:r>
              <a:rPr sz="1765" i="1" spc="8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i="1" dirty="0">
                <a:solidFill>
                  <a:srgbClr val="292934"/>
                </a:solidFill>
                <a:latin typeface="Courier New"/>
                <a:cs typeface="Courier New"/>
              </a:rPr>
              <a:t>column_B,</a:t>
            </a:r>
            <a:r>
              <a:rPr sz="1765" i="1" spc="9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i="1" spc="-9" dirty="0">
                <a:solidFill>
                  <a:srgbClr val="292934"/>
                </a:solidFill>
                <a:latin typeface="Courier New"/>
                <a:cs typeface="Courier New"/>
              </a:rPr>
              <a:t>some_aggregation_function</a:t>
            </a:r>
            <a:endParaRPr sz="1765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23383" y="4586792"/>
            <a:ext cx="2334185" cy="52806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2021"/>
              </a:lnSpc>
              <a:spcBef>
                <a:spcPts val="88"/>
              </a:spcBef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765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i="1" spc="-9" dirty="0">
                <a:solidFill>
                  <a:srgbClr val="292934"/>
                </a:solidFill>
                <a:latin typeface="Courier New"/>
                <a:cs typeface="Courier New"/>
              </a:rPr>
              <a:t>table_source</a:t>
            </a:r>
            <a:endParaRPr sz="1765">
              <a:latin typeface="Courier New"/>
              <a:cs typeface="Courier New"/>
            </a:endParaRPr>
          </a:p>
          <a:p>
            <a:pPr marL="11206">
              <a:lnSpc>
                <a:spcPts val="2021"/>
              </a:lnSpc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GROUP</a:t>
            </a:r>
            <a:r>
              <a:rPr sz="1765" spc="4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765" spc="4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i="1" spc="-9" dirty="0">
                <a:solidFill>
                  <a:srgbClr val="292934"/>
                </a:solidFill>
                <a:latin typeface="Courier New"/>
                <a:cs typeface="Courier New"/>
              </a:rPr>
              <a:t>column_B</a:t>
            </a:r>
            <a:endParaRPr sz="1765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54409" y="4142338"/>
            <a:ext cx="8202146" cy="1216959"/>
            <a:chOff x="222063" y="4694650"/>
            <a:chExt cx="9295765" cy="1379220"/>
          </a:xfrm>
        </p:grpSpPr>
        <p:sp>
          <p:nvSpPr>
            <p:cNvPr id="10" name="object 10"/>
            <p:cNvSpPr/>
            <p:nvPr/>
          </p:nvSpPr>
          <p:spPr>
            <a:xfrm>
              <a:off x="974632" y="4704810"/>
              <a:ext cx="8533130" cy="1358900"/>
            </a:xfrm>
            <a:custGeom>
              <a:avLst/>
              <a:gdLst/>
              <a:ahLst/>
              <a:cxnLst/>
              <a:rect l="l" t="t" r="r" b="b"/>
              <a:pathLst>
                <a:path w="8533130" h="1358900">
                  <a:moveTo>
                    <a:pt x="0" y="0"/>
                  </a:moveTo>
                  <a:lnTo>
                    <a:pt x="8532793" y="0"/>
                  </a:lnTo>
                  <a:lnTo>
                    <a:pt x="8532793" y="1358535"/>
                  </a:lnTo>
                  <a:lnTo>
                    <a:pt x="0" y="1358535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063" y="5018316"/>
              <a:ext cx="810890" cy="7663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6183" y="237597"/>
            <a:ext cx="7853082" cy="688424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01" dirty="0"/>
              <a:t>Example:</a:t>
            </a:r>
            <a:r>
              <a:rPr spc="-212" dirty="0"/>
              <a:t> </a:t>
            </a:r>
            <a:r>
              <a:rPr spc="-84" dirty="0"/>
              <a:t>SUM</a:t>
            </a:r>
            <a:r>
              <a:rPr spc="-234" dirty="0"/>
              <a:t> </a:t>
            </a:r>
            <a:r>
              <a:rPr spc="-84" dirty="0"/>
              <a:t>with</a:t>
            </a:r>
            <a:r>
              <a:rPr spc="-221" dirty="0"/>
              <a:t> </a:t>
            </a:r>
            <a:r>
              <a:rPr spc="-97" dirty="0"/>
              <a:t>GROUP</a:t>
            </a:r>
            <a:r>
              <a:rPr spc="-216" dirty="0"/>
              <a:t> </a:t>
            </a:r>
            <a:r>
              <a:rPr spc="-22" dirty="0"/>
              <a:t>BY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9639" y="972586"/>
            <a:ext cx="6166596" cy="723513"/>
          </a:xfrm>
          <a:prstGeom prst="rect">
            <a:avLst/>
          </a:prstGeom>
        </p:spPr>
        <p:txBody>
          <a:bodyPr vert="horz" wrap="square" lIns="0" tIns="73959" rIns="0" bIns="0" rtlCol="0">
            <a:spAutoFit/>
          </a:bodyPr>
          <a:lstStyle/>
          <a:p>
            <a:pPr marL="11206">
              <a:spcBef>
                <a:spcPts val="582"/>
              </a:spcBef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03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030" spc="132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030">
              <a:latin typeface="Verdana"/>
              <a:cs typeface="Verdana"/>
            </a:endParaRPr>
          </a:p>
          <a:p>
            <a:pPr marL="704327">
              <a:spcBef>
                <a:spcPts val="449"/>
              </a:spcBef>
            </a:pPr>
            <a:r>
              <a:rPr sz="1853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1853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1853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1853" spc="21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53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1853" spc="216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1853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9638" y="4078044"/>
            <a:ext cx="6576732" cy="570291"/>
          </a:xfrm>
          <a:prstGeom prst="rect">
            <a:avLst/>
          </a:prstGeom>
        </p:spPr>
        <p:txBody>
          <a:bodyPr vert="horz" wrap="square" lIns="0" tIns="31376" rIns="0" bIns="0" rtlCol="0">
            <a:spAutoFit/>
          </a:bodyPr>
          <a:lstStyle/>
          <a:p>
            <a:pPr marL="11206" marR="4483">
              <a:lnSpc>
                <a:spcPts val="2118"/>
              </a:lnSpc>
              <a:spcBef>
                <a:spcPts val="247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sum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amounts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branch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1853" spc="12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1853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92598" y="1773520"/>
          <a:ext cx="4687981" cy="2147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4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73792" y="4483417"/>
          <a:ext cx="3165662" cy="1610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2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SUM(amount)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2800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4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4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161774" y="4812132"/>
            <a:ext cx="4549028" cy="94895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05895" rIns="0" bIns="0" rtlCol="0">
            <a:spAutoFit/>
          </a:bodyPr>
          <a:lstStyle/>
          <a:p>
            <a:pPr marL="209000" marR="118789">
              <a:lnSpc>
                <a:spcPct val="105000"/>
              </a:lnSpc>
              <a:spcBef>
                <a:spcPts val="833"/>
              </a:spcBef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765" spc="8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1765" spc="9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SUM(amount)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765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765">
              <a:latin typeface="Courier New"/>
              <a:cs typeface="Courier New"/>
            </a:endParaRPr>
          </a:p>
          <a:p>
            <a:pPr marL="209000"/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GROUP</a:t>
            </a:r>
            <a:r>
              <a:rPr sz="1765" spc="4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765" spc="4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branch_name;</a:t>
            </a:r>
            <a:endParaRPr sz="1765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2004" y="348421"/>
            <a:ext cx="7654738" cy="628720"/>
          </a:xfrm>
          <a:prstGeom prst="rect">
            <a:avLst/>
          </a:prstGeom>
        </p:spPr>
        <p:txBody>
          <a:bodyPr vert="horz" wrap="square" lIns="0" tIns="71269" rIns="0" bIns="0" rtlCol="0" anchor="ctr">
            <a:spAutoFit/>
          </a:bodyPr>
          <a:lstStyle/>
          <a:p>
            <a:pPr marL="23534">
              <a:lnSpc>
                <a:spcPct val="100000"/>
              </a:lnSpc>
              <a:spcBef>
                <a:spcPts val="88"/>
              </a:spcBef>
            </a:pPr>
            <a:r>
              <a:rPr sz="3618" spc="-115" dirty="0"/>
              <a:t>Grouping,</a:t>
            </a:r>
            <a:r>
              <a:rPr sz="3618" spc="-194" dirty="0"/>
              <a:t> </a:t>
            </a:r>
            <a:r>
              <a:rPr sz="3618" spc="-110" dirty="0"/>
              <a:t>Aggregation,</a:t>
            </a:r>
            <a:r>
              <a:rPr sz="3618" spc="-185" dirty="0"/>
              <a:t> </a:t>
            </a:r>
            <a:r>
              <a:rPr sz="3618" spc="-88" dirty="0"/>
              <a:t>and</a:t>
            </a:r>
            <a:r>
              <a:rPr sz="3618" spc="-199" dirty="0"/>
              <a:t> </a:t>
            </a:r>
            <a:r>
              <a:rPr sz="3618" spc="-75" dirty="0"/>
              <a:t>Null</a:t>
            </a:r>
            <a:endParaRPr sz="3618" dirty="0"/>
          </a:p>
        </p:txBody>
      </p:sp>
      <p:sp>
        <p:nvSpPr>
          <p:cNvPr id="3" name="object 3"/>
          <p:cNvSpPr txBox="1"/>
          <p:nvPr/>
        </p:nvSpPr>
        <p:spPr>
          <a:xfrm>
            <a:off x="2066894" y="1124174"/>
            <a:ext cx="7842997" cy="390148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79602" indent="-268395">
              <a:spcBef>
                <a:spcPts val="88"/>
              </a:spcBef>
              <a:buSzPct val="95652"/>
              <a:buFont typeface="Arial MT"/>
              <a:buChar char="•"/>
              <a:tabLst>
                <a:tab pos="279602" algn="l"/>
              </a:tabLst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030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ignored</a:t>
            </a:r>
            <a:r>
              <a:rPr sz="2030" spc="8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endParaRPr sz="2030" dirty="0">
              <a:latin typeface="Verdana"/>
              <a:cs typeface="Verdana"/>
            </a:endParaRPr>
          </a:p>
          <a:p>
            <a:pPr marL="714973" lvl="1" indent="-275119">
              <a:spcBef>
                <a:spcPts val="1615"/>
              </a:spcBef>
              <a:buSzPct val="95238"/>
              <a:buFont typeface="Arial MT"/>
              <a:buChar char="•"/>
              <a:tabLst>
                <a:tab pos="714973" algn="l"/>
              </a:tabLst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853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contribute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sum,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average,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endParaRPr sz="1853" dirty="0">
              <a:latin typeface="Verdana"/>
              <a:cs typeface="Verdana"/>
            </a:endParaRPr>
          </a:p>
          <a:p>
            <a:pPr marL="714973" lvl="1" indent="-275119">
              <a:spcBef>
                <a:spcPts val="613"/>
              </a:spcBef>
              <a:buSzPct val="95238"/>
              <a:buFont typeface="Arial MT"/>
              <a:buChar char="•"/>
              <a:tabLst>
                <a:tab pos="714973" algn="l"/>
              </a:tabLst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minimum</a:t>
            </a:r>
            <a:r>
              <a:rPr sz="1853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maximum</a:t>
            </a:r>
            <a:r>
              <a:rPr sz="1853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its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endParaRPr sz="1853" dirty="0">
              <a:latin typeface="Verdana"/>
              <a:cs typeface="Verdana"/>
            </a:endParaRPr>
          </a:p>
          <a:p>
            <a:pPr lvl="1">
              <a:spcBef>
                <a:spcPts val="18"/>
              </a:spcBef>
              <a:buClr>
                <a:srgbClr val="292934"/>
              </a:buClr>
              <a:buFont typeface="Arial MT"/>
              <a:buChar char="•"/>
            </a:pPr>
            <a:endParaRPr sz="2647" dirty="0">
              <a:latin typeface="Verdana"/>
              <a:cs typeface="Verdana"/>
            </a:endParaRPr>
          </a:p>
          <a:p>
            <a:pPr marL="279602" indent="-268395">
              <a:buSzPct val="95652"/>
              <a:buFont typeface="Arial MT"/>
              <a:buChar char="•"/>
              <a:tabLst>
                <a:tab pos="279602" algn="l"/>
              </a:tabLst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2030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treated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ordinary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forming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groups</a:t>
            </a:r>
            <a:endParaRPr sz="2030" dirty="0">
              <a:latin typeface="Verdana"/>
              <a:cs typeface="Verdana"/>
            </a:endParaRPr>
          </a:p>
          <a:p>
            <a:pPr marL="714973" lvl="1" indent="-275119">
              <a:spcBef>
                <a:spcPts val="1531"/>
              </a:spcBef>
              <a:buSzPct val="95238"/>
              <a:buFont typeface="Arial MT"/>
              <a:buChar char="•"/>
              <a:tabLst>
                <a:tab pos="714973" algn="l"/>
              </a:tabLst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1853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9" dirty="0">
                <a:solidFill>
                  <a:srgbClr val="292934"/>
                </a:solidFill>
                <a:latin typeface="Verdana"/>
                <a:cs typeface="Verdana"/>
              </a:rPr>
              <a:t>attribute(s)</a:t>
            </a:r>
            <a:endParaRPr sz="1853" dirty="0">
              <a:latin typeface="Verdana"/>
              <a:cs typeface="Verdana"/>
            </a:endParaRPr>
          </a:p>
          <a:p>
            <a:pPr lvl="1">
              <a:spcBef>
                <a:spcPts val="49"/>
              </a:spcBef>
              <a:buClr>
                <a:srgbClr val="292934"/>
              </a:buClr>
              <a:buFont typeface="Arial MT"/>
              <a:buChar char="•"/>
            </a:pPr>
            <a:endParaRPr sz="2603" dirty="0">
              <a:latin typeface="Verdana"/>
              <a:cs typeface="Verdana"/>
            </a:endParaRPr>
          </a:p>
          <a:p>
            <a:pPr marL="280162" marR="140641" indent="-268956">
              <a:lnSpc>
                <a:spcPct val="101699"/>
              </a:lnSpc>
              <a:buSzPct val="95652"/>
              <a:buFont typeface="Arial MT"/>
              <a:buChar char="•"/>
              <a:tabLst>
                <a:tab pos="280162" algn="l"/>
              </a:tabLst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030" spc="13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performing</a:t>
            </a:r>
            <a:r>
              <a:rPr sz="2030" spc="14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030" spc="13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r>
              <a:rPr sz="2030" spc="13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except</a:t>
            </a:r>
            <a:r>
              <a:rPr sz="2030" spc="12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2030" spc="12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over</a:t>
            </a:r>
            <a:r>
              <a:rPr sz="2030" spc="13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an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empty</a:t>
            </a:r>
            <a:r>
              <a:rPr sz="2030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bag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values,</a:t>
            </a:r>
            <a:r>
              <a:rPr sz="203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result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30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18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endParaRPr sz="2030" dirty="0">
              <a:latin typeface="Verdana"/>
              <a:cs typeface="Verdana"/>
            </a:endParaRPr>
          </a:p>
          <a:p>
            <a:pPr marL="714973" lvl="1" indent="-275119">
              <a:spcBef>
                <a:spcPts val="1619"/>
              </a:spcBef>
              <a:buSzPct val="95238"/>
              <a:buFont typeface="Arial MT"/>
              <a:buChar char="•"/>
              <a:tabLst>
                <a:tab pos="714973" algn="l"/>
              </a:tabLst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empty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bag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44" dirty="0">
                <a:solidFill>
                  <a:srgbClr val="292934"/>
                </a:solidFill>
                <a:latin typeface="Verdana"/>
                <a:cs typeface="Verdana"/>
              </a:rPr>
              <a:t>0</a:t>
            </a:r>
            <a:endParaRPr sz="1853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190" y="294264"/>
            <a:ext cx="7654738" cy="734590"/>
          </a:xfrm>
          <a:prstGeom prst="rect">
            <a:avLst/>
          </a:prstGeom>
        </p:spPr>
        <p:txBody>
          <a:bodyPr vert="horz" wrap="square" lIns="0" tIns="56926" rIns="0" bIns="0" rtlCol="0" anchor="ctr">
            <a:spAutoFit/>
          </a:bodyPr>
          <a:lstStyle/>
          <a:p>
            <a:pPr marL="1838983">
              <a:lnSpc>
                <a:spcPct val="100000"/>
              </a:lnSpc>
              <a:spcBef>
                <a:spcPts val="88"/>
              </a:spcBef>
            </a:pPr>
            <a:r>
              <a:rPr spc="-101" dirty="0"/>
              <a:t>HAVING</a:t>
            </a:r>
            <a:r>
              <a:rPr spc="-221" dirty="0"/>
              <a:t> </a:t>
            </a:r>
            <a:r>
              <a:rPr spc="-93" dirty="0"/>
              <a:t>Clauses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6895" y="1046180"/>
            <a:ext cx="7509622" cy="236497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80162" marR="18491" indent="-268956">
              <a:lnSpc>
                <a:spcPct val="105200"/>
              </a:lnSpc>
              <a:spcBef>
                <a:spcPts val="88"/>
              </a:spcBef>
              <a:buSzPct val="95652"/>
              <a:buFont typeface="Arial MT"/>
              <a:buChar char="•"/>
              <a:tabLst>
                <a:tab pos="280162" algn="l"/>
              </a:tabLst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030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30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HAVING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applies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030" spc="7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C00000"/>
                </a:solidFill>
                <a:latin typeface="Verdana"/>
                <a:cs typeface="Verdana"/>
              </a:rPr>
              <a:t>group</a:t>
            </a:r>
            <a:r>
              <a:rPr sz="2030" spc="10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C00000"/>
                </a:solidFill>
                <a:latin typeface="Verdana"/>
                <a:cs typeface="Verdana"/>
              </a:rPr>
              <a:t>being</a:t>
            </a:r>
            <a:r>
              <a:rPr sz="2030" spc="97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C00000"/>
                </a:solidFill>
                <a:latin typeface="Verdana"/>
                <a:cs typeface="Verdana"/>
              </a:rPr>
              <a:t>tested</a:t>
            </a:r>
            <a:r>
              <a:rPr sz="2030" spc="97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C00000"/>
                </a:solidFill>
                <a:latin typeface="Verdana"/>
                <a:cs typeface="Verdana"/>
              </a:rPr>
              <a:t>–</a:t>
            </a:r>
            <a:r>
              <a:rPr sz="2030" spc="97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C00000"/>
                </a:solidFill>
                <a:latin typeface="Verdana"/>
                <a:cs typeface="Verdana"/>
              </a:rPr>
              <a:t>filter</a:t>
            </a:r>
            <a:r>
              <a:rPr sz="2030" spc="88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30" spc="-9" dirty="0">
                <a:solidFill>
                  <a:srgbClr val="C00000"/>
                </a:solidFill>
                <a:latin typeface="Verdana"/>
                <a:cs typeface="Verdana"/>
              </a:rPr>
              <a:t>groups</a:t>
            </a:r>
            <a:endParaRPr sz="2030" dirty="0">
              <a:latin typeface="Verdana"/>
              <a:cs typeface="Verdana"/>
            </a:endParaRPr>
          </a:p>
          <a:p>
            <a:pPr marL="280162" marR="84609" indent="-268956">
              <a:lnSpc>
                <a:spcPct val="101699"/>
              </a:lnSpc>
              <a:spcBef>
                <a:spcPts val="1650"/>
              </a:spcBef>
              <a:buSzPct val="95652"/>
              <a:buFont typeface="Arial MT"/>
              <a:buChar char="•"/>
              <a:tabLst>
                <a:tab pos="280162" algn="l"/>
              </a:tabLst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030" spc="10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22" dirty="0">
                <a:solidFill>
                  <a:srgbClr val="292934"/>
                </a:solidFill>
                <a:latin typeface="Verdana"/>
                <a:cs typeface="Verdana"/>
              </a:rPr>
              <a:t>be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2030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030" spc="10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HAVING</a:t>
            </a:r>
            <a:r>
              <a:rPr sz="2030" spc="1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2030" dirty="0">
              <a:latin typeface="Verdana"/>
              <a:cs typeface="Verdana"/>
            </a:endParaRPr>
          </a:p>
          <a:p>
            <a:pPr marL="280162" marR="4483" indent="-268956">
              <a:lnSpc>
                <a:spcPct val="101699"/>
              </a:lnSpc>
              <a:spcBef>
                <a:spcPts val="1760"/>
              </a:spcBef>
              <a:buSzPct val="95652"/>
              <a:buFont typeface="Arial MT"/>
              <a:buChar char="•"/>
              <a:tabLst>
                <a:tab pos="280162" algn="l"/>
              </a:tabLst>
            </a:pP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But</a:t>
            </a:r>
            <a:r>
              <a:rPr sz="2030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030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those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030" spc="8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030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9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2030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30" spc="9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18" dirty="0">
                <a:solidFill>
                  <a:srgbClr val="292934"/>
                </a:solidFill>
                <a:latin typeface="Verdana"/>
                <a:cs typeface="Verdana"/>
              </a:rPr>
              <a:t>list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030" spc="11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appear</a:t>
            </a:r>
            <a:r>
              <a:rPr sz="2030" spc="12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unaggregated</a:t>
            </a:r>
            <a:r>
              <a:rPr sz="2030" spc="13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030" spc="12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30" spc="128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dirty="0">
                <a:solidFill>
                  <a:srgbClr val="292934"/>
                </a:solidFill>
                <a:latin typeface="Verdana"/>
                <a:cs typeface="Verdana"/>
              </a:rPr>
              <a:t>having</a:t>
            </a:r>
            <a:r>
              <a:rPr sz="2030" spc="13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30" spc="-9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2030" dirty="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43055" y="4944464"/>
          <a:ext cx="3165662" cy="8051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2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SUM(amount)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2800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219639" y="4156038"/>
            <a:ext cx="7371790" cy="570291"/>
          </a:xfrm>
          <a:prstGeom prst="rect">
            <a:avLst/>
          </a:prstGeom>
        </p:spPr>
        <p:txBody>
          <a:bodyPr vert="horz" wrap="square" lIns="0" tIns="31376" rIns="0" bIns="0" rtlCol="0">
            <a:spAutoFit/>
          </a:bodyPr>
          <a:lstStyle/>
          <a:p>
            <a:pPr marL="11206" marR="4483">
              <a:lnSpc>
                <a:spcPts val="2118"/>
              </a:lnSpc>
              <a:spcBef>
                <a:spcPts val="247"/>
              </a:spcBef>
            </a:pP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sum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amounts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1853" spc="4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branch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853" spc="53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has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1853" spc="4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than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1853" spc="62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loan</a:t>
            </a:r>
            <a:r>
              <a:rPr sz="1853" spc="66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853" spc="57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1853" spc="71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53" spc="-22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1853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4197" y="4766025"/>
            <a:ext cx="4579844" cy="1177404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35031" rIns="0" bIns="0" rtlCol="0">
            <a:spAutoFit/>
          </a:bodyPr>
          <a:lstStyle/>
          <a:p>
            <a:pPr marL="193312" marR="164175">
              <a:lnSpc>
                <a:spcPts val="1924"/>
              </a:lnSpc>
              <a:spcBef>
                <a:spcPts val="1063"/>
              </a:spcBef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765" spc="8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1765" spc="93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sum(amount)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765" spc="49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18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765">
              <a:latin typeface="Courier New"/>
              <a:cs typeface="Courier New"/>
            </a:endParaRPr>
          </a:p>
          <a:p>
            <a:pPr marL="193312">
              <a:lnSpc>
                <a:spcPts val="2091"/>
              </a:lnSpc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GROUP</a:t>
            </a:r>
            <a:r>
              <a:rPr sz="1765" spc="4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765" spc="4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9" dirty="0">
                <a:solidFill>
                  <a:srgbClr val="292934"/>
                </a:solidFill>
                <a:latin typeface="Courier New"/>
                <a:cs typeface="Courier New"/>
              </a:rPr>
              <a:t>branch_name</a:t>
            </a:r>
            <a:endParaRPr sz="1765">
              <a:latin typeface="Courier New"/>
              <a:cs typeface="Courier New"/>
            </a:endParaRPr>
          </a:p>
          <a:p>
            <a:pPr marL="193312">
              <a:spcBef>
                <a:spcPts val="84"/>
              </a:spcBef>
            </a:pP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HAVING</a:t>
            </a:r>
            <a:r>
              <a:rPr sz="1765" spc="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COUNT(branch_name)</a:t>
            </a:r>
            <a:r>
              <a:rPr sz="1765" spc="8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dirty="0">
                <a:solidFill>
                  <a:srgbClr val="292934"/>
                </a:solidFill>
                <a:latin typeface="Courier New"/>
                <a:cs typeface="Courier New"/>
              </a:rPr>
              <a:t>&gt;</a:t>
            </a:r>
            <a:r>
              <a:rPr sz="1765" spc="88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765" spc="-22" dirty="0">
                <a:solidFill>
                  <a:srgbClr val="292934"/>
                </a:solidFill>
                <a:latin typeface="Courier New"/>
                <a:cs typeface="Courier New"/>
              </a:rPr>
              <a:t>1;</a:t>
            </a:r>
            <a:endParaRPr sz="1765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9243</TotalTime>
  <Words>6239</Words>
  <Application>Microsoft Macintosh PowerPoint</Application>
  <PresentationFormat>Widescreen</PresentationFormat>
  <Paragraphs>1814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5" baseType="lpstr">
      <vt:lpstr>宋体</vt:lpstr>
      <vt:lpstr>Arial</vt:lpstr>
      <vt:lpstr>Arial MT</vt:lpstr>
      <vt:lpstr>Calibri</vt:lpstr>
      <vt:lpstr>Calibri Light</vt:lpstr>
      <vt:lpstr>Courier New</vt:lpstr>
      <vt:lpstr>HelveticaNeue</vt:lpstr>
      <vt:lpstr>Times New Roman</vt:lpstr>
      <vt:lpstr>Verdana</vt:lpstr>
      <vt:lpstr>Wingdings</vt:lpstr>
      <vt:lpstr>Office Theme</vt:lpstr>
      <vt:lpstr>Study Guide for CSc 4710</vt:lpstr>
      <vt:lpstr>Exam details</vt:lpstr>
      <vt:lpstr>Entity-Relationship Model</vt:lpstr>
      <vt:lpstr>E-R Diagram: Building Blocks</vt:lpstr>
      <vt:lpstr>Entity and Entity Sets</vt:lpstr>
      <vt:lpstr>PowerPoint Presentation</vt:lpstr>
      <vt:lpstr>PowerPoint Presentation</vt:lpstr>
      <vt:lpstr>PowerPoint Presentation</vt:lpstr>
      <vt:lpstr>Super Key – Candidate Key - Primary Key</vt:lpstr>
      <vt:lpstr>Primary Keys</vt:lpstr>
      <vt:lpstr>Primary Keys</vt:lpstr>
      <vt:lpstr>Foreign Keys</vt:lpstr>
      <vt:lpstr>Foreign Keys</vt:lpstr>
      <vt:lpstr>Entity Sets and Attributes</vt:lpstr>
      <vt:lpstr>Attributes</vt:lpstr>
      <vt:lpstr>Relationships</vt:lpstr>
      <vt:lpstr>Binary Relationships</vt:lpstr>
      <vt:lpstr>Cardinality (or Multiplicity)</vt:lpstr>
      <vt:lpstr>Cardinality: One-to-One</vt:lpstr>
      <vt:lpstr>Example</vt:lpstr>
      <vt:lpstr>Cardinality: One-to-Many</vt:lpstr>
      <vt:lpstr>Example</vt:lpstr>
      <vt:lpstr>Cardinality: Many-to-Many</vt:lpstr>
      <vt:lpstr>Example</vt:lpstr>
      <vt:lpstr>Multi-Way Relationships</vt:lpstr>
      <vt:lpstr>Multiway Relationships</vt:lpstr>
      <vt:lpstr>Roles in Relationships</vt:lpstr>
      <vt:lpstr>Roles in Relationships</vt:lpstr>
      <vt:lpstr>Strong and Weak Entity Sets</vt:lpstr>
      <vt:lpstr>Weak Entity Set</vt:lpstr>
      <vt:lpstr>Weak Entity Set</vt:lpstr>
      <vt:lpstr>Weak Entity Set</vt:lpstr>
      <vt:lpstr>Let’s try: Weak Entity Set</vt:lpstr>
      <vt:lpstr>PowerPoint Presentation</vt:lpstr>
      <vt:lpstr>Inheritance in the E/R Model  Subclasses(subentities)</vt:lpstr>
      <vt:lpstr>Inheritance in the E/R Model  Subclasses(subentities)</vt:lpstr>
      <vt:lpstr>E-R Diagrams to Relations</vt:lpstr>
      <vt:lpstr>Strong Entity Set</vt:lpstr>
      <vt:lpstr>Strong Entity Set  with Composite Attribute</vt:lpstr>
      <vt:lpstr>Strong Entity Set  with Multivalued Attribute</vt:lpstr>
      <vt:lpstr>Weak Entity Set</vt:lpstr>
      <vt:lpstr>Let’s try: E-R to Relations (2)</vt:lpstr>
      <vt:lpstr>Relationship Set:  Many-to-One / One-to-Many</vt:lpstr>
      <vt:lpstr>Relationship Set:  Many-to-One / One-to-Many</vt:lpstr>
      <vt:lpstr>Relationship Set: One-to-One</vt:lpstr>
      <vt:lpstr>CREATE TABLE (Entity Set)</vt:lpstr>
      <vt:lpstr>CREATE TABLE (Entity Set)</vt:lpstr>
      <vt:lpstr>CREATE TABLE (One-to-One)</vt:lpstr>
      <vt:lpstr>CREATE TABLE (One-to-One)</vt:lpstr>
      <vt:lpstr>CREATE TABLE (Many-to-Many)</vt:lpstr>
      <vt:lpstr>CREATE TABLE (One-to-Many / Many-to-One)</vt:lpstr>
      <vt:lpstr>CREATE TABLE (One-to-Many / Many-to-One)</vt:lpstr>
      <vt:lpstr>CREATE TABLE (Multi-Way Relations)</vt:lpstr>
      <vt:lpstr>CREATE TABLE (Weak Entity Set)</vt:lpstr>
      <vt:lpstr>ALTER TABLE … ADD/DROP</vt:lpstr>
      <vt:lpstr>INSERT INTO … VALUE</vt:lpstr>
      <vt:lpstr>INSERT INTO … VALUE</vt:lpstr>
      <vt:lpstr>UPDATE … SET ... WHERE</vt:lpstr>
      <vt:lpstr>DELETE FROM … WHERE</vt:lpstr>
      <vt:lpstr>Aggregation: Order of Actions</vt:lpstr>
      <vt:lpstr>SELECT * FROM ...</vt:lpstr>
      <vt:lpstr>SELECT Specific Attribute</vt:lpstr>
      <vt:lpstr>SELECT with WHERE Clause (1)</vt:lpstr>
      <vt:lpstr>Recap 1: SELECT .. FROM .. WHERE</vt:lpstr>
      <vt:lpstr>ORDER BY (Ascending)</vt:lpstr>
      <vt:lpstr>ORDER BY (Descending)</vt:lpstr>
      <vt:lpstr>Aggregation: Order of Actions</vt:lpstr>
      <vt:lpstr>Recap 2: SELECT .. FROM .. WHERE</vt:lpstr>
      <vt:lpstr>Recap 3: SELECT .. FROM .. WHERE</vt:lpstr>
      <vt:lpstr>Recap 4: SELECT .. FROM .. WHERE</vt:lpstr>
      <vt:lpstr>Recap 5: SELECT .. FROM .. WHERE</vt:lpstr>
      <vt:lpstr>Recap 6: SELECT .. FROM .. WHERE</vt:lpstr>
      <vt:lpstr>Aggregation Functions</vt:lpstr>
      <vt:lpstr>Example: SUM</vt:lpstr>
      <vt:lpstr>Example: AVG</vt:lpstr>
      <vt:lpstr>Example: MIN</vt:lpstr>
      <vt:lpstr>Example: MAX</vt:lpstr>
      <vt:lpstr>Example: COUNT</vt:lpstr>
      <vt:lpstr>Example: COUNT .. DISTINCT</vt:lpstr>
      <vt:lpstr>Aggregation: Order of Actions</vt:lpstr>
      <vt:lpstr>Grouping Requirement</vt:lpstr>
      <vt:lpstr>Example: SUM with GROUP BY</vt:lpstr>
      <vt:lpstr>Grouping, Aggregation, and Null</vt:lpstr>
      <vt:lpstr>HAVING Clauses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Guide for CSc 4710</dc:title>
  <dc:creator>Farhan Tanvir</dc:creator>
  <cp:lastModifiedBy>Farhan Tanvir</cp:lastModifiedBy>
  <cp:revision>64</cp:revision>
  <dcterms:created xsi:type="dcterms:W3CDTF">2023-09-30T14:38:59Z</dcterms:created>
  <dcterms:modified xsi:type="dcterms:W3CDTF">2026-02-11T15:10:52Z</dcterms:modified>
</cp:coreProperties>
</file>